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5" r:id="rId1"/>
  </p:sldMasterIdLst>
  <p:notesMasterIdLst>
    <p:notesMasterId r:id="rId58"/>
  </p:notesMasterIdLst>
  <p:handoutMasterIdLst>
    <p:handoutMasterId r:id="rId59"/>
  </p:handoutMasterIdLst>
  <p:sldIdLst>
    <p:sldId id="256" r:id="rId2"/>
    <p:sldId id="282" r:id="rId3"/>
    <p:sldId id="284" r:id="rId4"/>
    <p:sldId id="330" r:id="rId5"/>
    <p:sldId id="358" r:id="rId6"/>
    <p:sldId id="357" r:id="rId7"/>
    <p:sldId id="331" r:id="rId8"/>
    <p:sldId id="310" r:id="rId9"/>
    <p:sldId id="360" r:id="rId10"/>
    <p:sldId id="359" r:id="rId11"/>
    <p:sldId id="361" r:id="rId12"/>
    <p:sldId id="258" r:id="rId13"/>
    <p:sldId id="368" r:id="rId14"/>
    <p:sldId id="259" r:id="rId15"/>
    <p:sldId id="260" r:id="rId16"/>
    <p:sldId id="261" r:id="rId17"/>
    <p:sldId id="362" r:id="rId18"/>
    <p:sldId id="363" r:id="rId19"/>
    <p:sldId id="364" r:id="rId20"/>
    <p:sldId id="336" r:id="rId21"/>
    <p:sldId id="337" r:id="rId22"/>
    <p:sldId id="365" r:id="rId23"/>
    <p:sldId id="366" r:id="rId24"/>
    <p:sldId id="367" r:id="rId25"/>
    <p:sldId id="262" r:id="rId26"/>
    <p:sldId id="263" r:id="rId27"/>
    <p:sldId id="332" r:id="rId28"/>
    <p:sldId id="333" r:id="rId29"/>
    <p:sldId id="334" r:id="rId30"/>
    <p:sldId id="341" r:id="rId31"/>
    <p:sldId id="369" r:id="rId32"/>
    <p:sldId id="380" r:id="rId33"/>
    <p:sldId id="372" r:id="rId34"/>
    <p:sldId id="264" r:id="rId35"/>
    <p:sldId id="387" r:id="rId36"/>
    <p:sldId id="370" r:id="rId37"/>
    <p:sldId id="381" r:id="rId38"/>
    <p:sldId id="267" r:id="rId39"/>
    <p:sldId id="269" r:id="rId40"/>
    <p:sldId id="382" r:id="rId41"/>
    <p:sldId id="268" r:id="rId42"/>
    <p:sldId id="340" r:id="rId43"/>
    <p:sldId id="383" r:id="rId44"/>
    <p:sldId id="371" r:id="rId45"/>
    <p:sldId id="373" r:id="rId46"/>
    <p:sldId id="374" r:id="rId47"/>
    <p:sldId id="376" r:id="rId48"/>
    <p:sldId id="272" r:id="rId49"/>
    <p:sldId id="375" r:id="rId50"/>
    <p:sldId id="377" r:id="rId51"/>
    <p:sldId id="384" r:id="rId52"/>
    <p:sldId id="385" r:id="rId53"/>
    <p:sldId id="386" r:id="rId54"/>
    <p:sldId id="307" r:id="rId55"/>
    <p:sldId id="378" r:id="rId56"/>
    <p:sldId id="379" r:id="rId5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underdarkprime" initials="u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824"/>
    <a:srgbClr val="006533"/>
    <a:srgbClr val="FFDB75"/>
    <a:srgbClr val="990033"/>
    <a:srgbClr val="C00000"/>
    <a:srgbClr val="00B0F0"/>
    <a:srgbClr val="0000CC"/>
    <a:srgbClr val="6699FF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388" autoAdjust="0"/>
    <p:restoredTop sz="96376" autoAdjust="0"/>
  </p:normalViewPr>
  <p:slideViewPr>
    <p:cSldViewPr>
      <p:cViewPr varScale="1">
        <p:scale>
          <a:sx n="130" d="100"/>
          <a:sy n="130" d="100"/>
        </p:scale>
        <p:origin x="592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53792"/>
    </p:cViewPr>
  </p:outlineViewPr>
  <p:notesTextViewPr>
    <p:cViewPr>
      <p:scale>
        <a:sx n="170" d="100"/>
        <a:sy n="170" d="100"/>
      </p:scale>
      <p:origin x="0" y="0"/>
    </p:cViewPr>
  </p:notesTextViewPr>
  <p:sorterViewPr>
    <p:cViewPr>
      <p:scale>
        <a:sx n="66" d="100"/>
        <a:sy n="66" d="100"/>
      </p:scale>
      <p:origin x="0" y="1936"/>
    </p:cViewPr>
  </p:sorterViewPr>
  <p:notesViewPr>
    <p:cSldViewPr>
      <p:cViewPr varScale="1">
        <p:scale>
          <a:sx n="86" d="100"/>
          <a:sy n="86" d="100"/>
        </p:scale>
        <p:origin x="-3126" y="-7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1161B6F1-98F4-4FDF-8FFD-71C9329AF088}" type="datetimeFigureOut">
              <a:rPr lang="en-US"/>
              <a:pPr>
                <a:defRPr/>
              </a:pPr>
              <a:t>5/26/26</a:t>
            </a:fld>
            <a:endParaRPr lang="en-US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DBD74C67-8476-42E1-B446-DA7518EFF7C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3423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813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DF673508-6B96-48C9-B4C2-C72A1D96099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3345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9155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nl-NL" dirty="0"/>
          </a:p>
        </p:txBody>
      </p:sp>
      <p:sp>
        <p:nvSpPr>
          <p:cNvPr id="49156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EE8E8FC-DCCE-4A84-907C-DBB79CE8E41C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873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0179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nl-NL"/>
          </a:p>
        </p:txBody>
      </p:sp>
      <p:sp>
        <p:nvSpPr>
          <p:cNvPr id="50180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1599D68-48AA-42E3-A1A4-301899A3FB6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3993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03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nl-NL"/>
          </a:p>
        </p:txBody>
      </p:sp>
      <p:sp>
        <p:nvSpPr>
          <p:cNvPr id="51204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9F947DB-0A09-4D37-8EE9-DF5F2A737BBC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6243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2227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nl-NL" dirty="0"/>
          </a:p>
        </p:txBody>
      </p:sp>
      <p:sp>
        <p:nvSpPr>
          <p:cNvPr id="52228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B88FD81-4C63-46FF-AFDB-AA22BF6B3684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4178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C29302-595E-C3B4-5C31-FF9277D4E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jdelijke aanduiding voor dia-afbeelding 1">
            <a:extLst>
              <a:ext uri="{FF2B5EF4-FFF2-40B4-BE49-F238E27FC236}">
                <a16:creationId xmlns:a16="http://schemas.microsoft.com/office/drawing/2014/main" id="{35D7C180-5446-9F6B-1528-79BDDAB994D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0179" name="Tijdelijke aanduiding voor notities 2">
            <a:extLst>
              <a:ext uri="{FF2B5EF4-FFF2-40B4-BE49-F238E27FC236}">
                <a16:creationId xmlns:a16="http://schemas.microsoft.com/office/drawing/2014/main" id="{A8D58563-FEAE-6138-BAA9-C247366A59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 marL="228600" indent="-228600">
              <a:defRPr/>
            </a:pPr>
            <a:endParaRPr lang="nl-NL" dirty="0"/>
          </a:p>
        </p:txBody>
      </p:sp>
      <p:sp>
        <p:nvSpPr>
          <p:cNvPr id="53252" name="Tijdelijke aanduiding voor dianummer 3">
            <a:extLst>
              <a:ext uri="{FF2B5EF4-FFF2-40B4-BE49-F238E27FC236}">
                <a16:creationId xmlns:a16="http://schemas.microsoft.com/office/drawing/2014/main" id="{30295037-1904-FF6E-E2E5-D8AE04C7D5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33CC02A-C5B4-4381-8E90-819E87741BFE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7625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6BB2A4-19CC-4E12-4500-AC66AE484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jdelijke aanduiding voor dia-afbeelding 1">
            <a:extLst>
              <a:ext uri="{FF2B5EF4-FFF2-40B4-BE49-F238E27FC236}">
                <a16:creationId xmlns:a16="http://schemas.microsoft.com/office/drawing/2014/main" id="{95EBB201-7B05-D189-0365-5084B4C68FF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0179" name="Tijdelijke aanduiding voor notities 2">
            <a:extLst>
              <a:ext uri="{FF2B5EF4-FFF2-40B4-BE49-F238E27FC236}">
                <a16:creationId xmlns:a16="http://schemas.microsoft.com/office/drawing/2014/main" id="{2E4DC304-F43A-6C27-93A8-88D90ABC4E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 marL="228600" indent="-228600">
              <a:defRPr/>
            </a:pPr>
            <a:endParaRPr lang="nl-NL" dirty="0"/>
          </a:p>
        </p:txBody>
      </p:sp>
      <p:sp>
        <p:nvSpPr>
          <p:cNvPr id="53252" name="Tijdelijke aanduiding voor dianummer 3">
            <a:extLst>
              <a:ext uri="{FF2B5EF4-FFF2-40B4-BE49-F238E27FC236}">
                <a16:creationId xmlns:a16="http://schemas.microsoft.com/office/drawing/2014/main" id="{1AFBFAF0-52EF-667F-44B8-CA2917FD0E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33CC02A-C5B4-4381-8E90-819E87741BFE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4716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071B4-D2DA-3C99-77C3-BCC7FDFF4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jdelijke aanduiding voor dia-afbeelding 1">
            <a:extLst>
              <a:ext uri="{FF2B5EF4-FFF2-40B4-BE49-F238E27FC236}">
                <a16:creationId xmlns:a16="http://schemas.microsoft.com/office/drawing/2014/main" id="{6701C9C0-5F79-CA27-CF4D-6EB0C5B18C1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0179" name="Tijdelijke aanduiding voor notities 2">
            <a:extLst>
              <a:ext uri="{FF2B5EF4-FFF2-40B4-BE49-F238E27FC236}">
                <a16:creationId xmlns:a16="http://schemas.microsoft.com/office/drawing/2014/main" id="{C29C16E5-2FF3-C792-E03C-6B1BFF9486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 marL="228600" indent="-228600">
              <a:defRPr/>
            </a:pPr>
            <a:endParaRPr lang="nl-NL" dirty="0"/>
          </a:p>
        </p:txBody>
      </p:sp>
      <p:sp>
        <p:nvSpPr>
          <p:cNvPr id="53252" name="Tijdelijke aanduiding voor dianummer 3">
            <a:extLst>
              <a:ext uri="{FF2B5EF4-FFF2-40B4-BE49-F238E27FC236}">
                <a16:creationId xmlns:a16="http://schemas.microsoft.com/office/drawing/2014/main" id="{5BBD7747-06D3-51C5-3312-CC1805A2BB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33CC02A-C5B4-4381-8E90-819E87741BFE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0582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4275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nl-NL"/>
          </a:p>
        </p:txBody>
      </p:sp>
      <p:sp>
        <p:nvSpPr>
          <p:cNvPr id="54276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42F927C-2FEA-4FB4-9C01-4AF0D313EF72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1560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199B63-02D6-577A-99B7-CAD88F3A8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jdelijke aanduiding voor dia-afbeelding 1">
            <a:extLst>
              <a:ext uri="{FF2B5EF4-FFF2-40B4-BE49-F238E27FC236}">
                <a16:creationId xmlns:a16="http://schemas.microsoft.com/office/drawing/2014/main" id="{5C2043CA-5DBA-6186-6DFF-491E5ACF620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4275" name="Tijdelijke aanduiding voor notities 2">
            <a:extLst>
              <a:ext uri="{FF2B5EF4-FFF2-40B4-BE49-F238E27FC236}">
                <a16:creationId xmlns:a16="http://schemas.microsoft.com/office/drawing/2014/main" id="{B4C64976-B87B-17A5-EC8C-45E8151E9B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nl-NL"/>
          </a:p>
        </p:txBody>
      </p:sp>
      <p:sp>
        <p:nvSpPr>
          <p:cNvPr id="54276" name="Tijdelijke aanduiding voor dianummer 3">
            <a:extLst>
              <a:ext uri="{FF2B5EF4-FFF2-40B4-BE49-F238E27FC236}">
                <a16:creationId xmlns:a16="http://schemas.microsoft.com/office/drawing/2014/main" id="{7DB40B00-60FD-C64F-972F-4406CDBF56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42F927C-2FEA-4FB4-9C01-4AF0D313EF72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5768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5299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  <p:sp>
        <p:nvSpPr>
          <p:cNvPr id="55300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7591969-9D46-4528-AC66-70104C27002C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2005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6323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nl-NL"/>
          </a:p>
        </p:txBody>
      </p:sp>
      <p:sp>
        <p:nvSpPr>
          <p:cNvPr id="56324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E1726DA-5B8F-4BF6-A85F-E1BC46557EA5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3022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7347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nl-NL"/>
          </a:p>
        </p:txBody>
      </p:sp>
      <p:sp>
        <p:nvSpPr>
          <p:cNvPr id="57348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9EB80CF-F8D1-47DA-9DAD-983177E50778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0143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A52AA-ACE4-386D-DC07-725C3BC97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jdelijke aanduiding voor dia-afbeelding 1">
            <a:extLst>
              <a:ext uri="{FF2B5EF4-FFF2-40B4-BE49-F238E27FC236}">
                <a16:creationId xmlns:a16="http://schemas.microsoft.com/office/drawing/2014/main" id="{B669676B-BF26-542E-F011-CFAB0ED4276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03" name="Tijdelijke aanduiding voor notities 2">
            <a:extLst>
              <a:ext uri="{FF2B5EF4-FFF2-40B4-BE49-F238E27FC236}">
                <a16:creationId xmlns:a16="http://schemas.microsoft.com/office/drawing/2014/main" id="{F90C758A-1B5B-34E0-4802-BE6789FC5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nl-NL"/>
          </a:p>
        </p:txBody>
      </p:sp>
      <p:sp>
        <p:nvSpPr>
          <p:cNvPr id="51204" name="Tijdelijke aanduiding voor dianummer 3">
            <a:extLst>
              <a:ext uri="{FF2B5EF4-FFF2-40B4-BE49-F238E27FC236}">
                <a16:creationId xmlns:a16="http://schemas.microsoft.com/office/drawing/2014/main" id="{96671922-53AF-DF50-2F50-9CBBA0DCC3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9F947DB-0A09-4D37-8EE9-DF5F2A737BBC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9363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8371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nl-NL"/>
          </a:p>
        </p:txBody>
      </p:sp>
      <p:sp>
        <p:nvSpPr>
          <p:cNvPr id="58372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E9D3BC7-0CC4-49CC-8BFA-44F9289217F7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0420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9395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nl-NL"/>
          </a:p>
        </p:txBody>
      </p:sp>
      <p:sp>
        <p:nvSpPr>
          <p:cNvPr id="59396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8981581-F110-4C7B-ADF7-6D52CD799903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10724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0419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nl-NL"/>
          </a:p>
        </p:txBody>
      </p:sp>
      <p:sp>
        <p:nvSpPr>
          <p:cNvPr id="60420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392C315-B1D7-42A1-B349-A41FEBA8C294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8894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0419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nl-NL" dirty="0"/>
          </a:p>
        </p:txBody>
      </p:sp>
      <p:sp>
        <p:nvSpPr>
          <p:cNvPr id="60420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392C315-B1D7-42A1-B349-A41FEBA8C294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89094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0419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nl-NL" dirty="0"/>
          </a:p>
        </p:txBody>
      </p:sp>
      <p:sp>
        <p:nvSpPr>
          <p:cNvPr id="60420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392C315-B1D7-42A1-B349-A41FEBA8C294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13965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0419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nl-NL" dirty="0"/>
          </a:p>
        </p:txBody>
      </p:sp>
      <p:sp>
        <p:nvSpPr>
          <p:cNvPr id="60420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392C315-B1D7-42A1-B349-A41FEBA8C294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67389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BF246-F202-E4B2-FD59-AD01C6AC6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jdelijke aanduiding voor dia-afbeelding 1">
            <a:extLst>
              <a:ext uri="{FF2B5EF4-FFF2-40B4-BE49-F238E27FC236}">
                <a16:creationId xmlns:a16="http://schemas.microsoft.com/office/drawing/2014/main" id="{160F9F30-5EC5-FCBA-FB2A-BA432977D48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0419" name="Tijdelijke aanduiding voor notities 2">
            <a:extLst>
              <a:ext uri="{FF2B5EF4-FFF2-40B4-BE49-F238E27FC236}">
                <a16:creationId xmlns:a16="http://schemas.microsoft.com/office/drawing/2014/main" id="{B5385E86-B98C-0EBD-228E-743BEB366E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nl-NL" dirty="0"/>
          </a:p>
        </p:txBody>
      </p:sp>
      <p:sp>
        <p:nvSpPr>
          <p:cNvPr id="60420" name="Tijdelijke aanduiding voor dianummer 3">
            <a:extLst>
              <a:ext uri="{FF2B5EF4-FFF2-40B4-BE49-F238E27FC236}">
                <a16:creationId xmlns:a16="http://schemas.microsoft.com/office/drawing/2014/main" id="{77DD0EA3-0EF3-B71D-A566-1762B6E6EF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392C315-B1D7-42A1-B349-A41FEBA8C294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8865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6E5879-98F1-3BF4-76DC-6F0DD18F6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jdelijke aanduiding voor dia-afbeelding 1">
            <a:extLst>
              <a:ext uri="{FF2B5EF4-FFF2-40B4-BE49-F238E27FC236}">
                <a16:creationId xmlns:a16="http://schemas.microsoft.com/office/drawing/2014/main" id="{46B7485A-DD3B-6F36-38D5-AAECEB95D6F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0419" name="Tijdelijke aanduiding voor notities 2">
            <a:extLst>
              <a:ext uri="{FF2B5EF4-FFF2-40B4-BE49-F238E27FC236}">
                <a16:creationId xmlns:a16="http://schemas.microsoft.com/office/drawing/2014/main" id="{6FC62801-E84C-D991-663C-8F833DC849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nl-NL" dirty="0"/>
          </a:p>
        </p:txBody>
      </p:sp>
      <p:sp>
        <p:nvSpPr>
          <p:cNvPr id="60420" name="Tijdelijke aanduiding voor dianummer 3">
            <a:extLst>
              <a:ext uri="{FF2B5EF4-FFF2-40B4-BE49-F238E27FC236}">
                <a16:creationId xmlns:a16="http://schemas.microsoft.com/office/drawing/2014/main" id="{13EB004C-35DA-4E89-A5F7-DDE0EFCF2E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392C315-B1D7-42A1-B349-A41FEBA8C294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13370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75AE8-62DE-39AB-F172-6221DA571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jdelijke aanduiding voor dia-afbeelding 1">
            <a:extLst>
              <a:ext uri="{FF2B5EF4-FFF2-40B4-BE49-F238E27FC236}">
                <a16:creationId xmlns:a16="http://schemas.microsoft.com/office/drawing/2014/main" id="{B4590813-8160-CE9F-AB47-6324E14227B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0419" name="Tijdelijke aanduiding voor notities 2">
            <a:extLst>
              <a:ext uri="{FF2B5EF4-FFF2-40B4-BE49-F238E27FC236}">
                <a16:creationId xmlns:a16="http://schemas.microsoft.com/office/drawing/2014/main" id="{F4314327-DAEC-2CD5-7837-ED978A74A9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nl-NL" dirty="0"/>
          </a:p>
        </p:txBody>
      </p:sp>
      <p:sp>
        <p:nvSpPr>
          <p:cNvPr id="60420" name="Tijdelijke aanduiding voor dianummer 3">
            <a:extLst>
              <a:ext uri="{FF2B5EF4-FFF2-40B4-BE49-F238E27FC236}">
                <a16:creationId xmlns:a16="http://schemas.microsoft.com/office/drawing/2014/main" id="{09484D28-88DC-9413-6BF5-D45A618B06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392C315-B1D7-42A1-B349-A41FEBA8C294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60412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0419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nl-NL" dirty="0"/>
          </a:p>
        </p:txBody>
      </p:sp>
      <p:sp>
        <p:nvSpPr>
          <p:cNvPr id="60420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392C315-B1D7-42A1-B349-A41FEBA8C294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19350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44FC8-4379-890D-8BAC-98378E198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jdelijke aanduiding voor dia-afbeelding 1">
            <a:extLst>
              <a:ext uri="{FF2B5EF4-FFF2-40B4-BE49-F238E27FC236}">
                <a16:creationId xmlns:a16="http://schemas.microsoft.com/office/drawing/2014/main" id="{59AF35AC-4A73-83FA-CB46-DA69D9BF420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0419" name="Tijdelijke aanduiding voor notities 2">
            <a:extLst>
              <a:ext uri="{FF2B5EF4-FFF2-40B4-BE49-F238E27FC236}">
                <a16:creationId xmlns:a16="http://schemas.microsoft.com/office/drawing/2014/main" id="{A15EABFC-EC26-F6D6-07A1-B09B24D035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nl-NL" dirty="0"/>
          </a:p>
        </p:txBody>
      </p:sp>
      <p:sp>
        <p:nvSpPr>
          <p:cNvPr id="60420" name="Tijdelijke aanduiding voor dianummer 3">
            <a:extLst>
              <a:ext uri="{FF2B5EF4-FFF2-40B4-BE49-F238E27FC236}">
                <a16:creationId xmlns:a16="http://schemas.microsoft.com/office/drawing/2014/main" id="{A648CECB-6870-49FE-E261-FDEEB98F3C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392C315-B1D7-42A1-B349-A41FEBA8C294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2152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728B2-4F6F-FA78-0F7B-B6F110C4E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jdelijke aanduiding voor dia-afbeelding 1">
            <a:extLst>
              <a:ext uri="{FF2B5EF4-FFF2-40B4-BE49-F238E27FC236}">
                <a16:creationId xmlns:a16="http://schemas.microsoft.com/office/drawing/2014/main" id="{78B10D8C-12B9-F015-2C29-A6DCAB5EE84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0419" name="Tijdelijke aanduiding voor notities 2">
            <a:extLst>
              <a:ext uri="{FF2B5EF4-FFF2-40B4-BE49-F238E27FC236}">
                <a16:creationId xmlns:a16="http://schemas.microsoft.com/office/drawing/2014/main" id="{8CB94FD0-F1AC-6A8D-2F67-664376570D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nl-NL" dirty="0"/>
          </a:p>
        </p:txBody>
      </p:sp>
      <p:sp>
        <p:nvSpPr>
          <p:cNvPr id="60420" name="Tijdelijke aanduiding voor dianummer 3">
            <a:extLst>
              <a:ext uri="{FF2B5EF4-FFF2-40B4-BE49-F238E27FC236}">
                <a16:creationId xmlns:a16="http://schemas.microsoft.com/office/drawing/2014/main" id="{2D0E2167-DBBE-E25F-7F12-8FC52B5563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392C315-B1D7-42A1-B349-A41FEBA8C294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78264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F1CA4-48CD-D8C1-C465-31B46DEDB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jdelijke aanduiding voor dia-afbeelding 1">
            <a:extLst>
              <a:ext uri="{FF2B5EF4-FFF2-40B4-BE49-F238E27FC236}">
                <a16:creationId xmlns:a16="http://schemas.microsoft.com/office/drawing/2014/main" id="{14BEAD6E-7A81-E58D-4A1E-B96925B0DC1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0419" name="Tijdelijke aanduiding voor notities 2">
            <a:extLst>
              <a:ext uri="{FF2B5EF4-FFF2-40B4-BE49-F238E27FC236}">
                <a16:creationId xmlns:a16="http://schemas.microsoft.com/office/drawing/2014/main" id="{42987218-0BB7-FB55-A8AB-DCD8F53A45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nl-NL" dirty="0"/>
          </a:p>
        </p:txBody>
      </p:sp>
      <p:sp>
        <p:nvSpPr>
          <p:cNvPr id="60420" name="Tijdelijke aanduiding voor dianummer 3">
            <a:extLst>
              <a:ext uri="{FF2B5EF4-FFF2-40B4-BE49-F238E27FC236}">
                <a16:creationId xmlns:a16="http://schemas.microsoft.com/office/drawing/2014/main" id="{D549F241-9EA8-5B38-03D3-7DA07D4944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392C315-B1D7-42A1-B349-A41FEBA8C294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4152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2467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62468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8AAAFA5-0B55-4983-9772-519992C14237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2520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4515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nl-NL"/>
          </a:p>
        </p:txBody>
      </p:sp>
      <p:sp>
        <p:nvSpPr>
          <p:cNvPr id="64516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88C7435-DF27-4B62-A861-3BA7B2CA6A16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22255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06D2D-E368-D366-DE85-A59036BC9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ijdelijke aanduiding voor dia-afbeelding 1">
            <a:extLst>
              <a:ext uri="{FF2B5EF4-FFF2-40B4-BE49-F238E27FC236}">
                <a16:creationId xmlns:a16="http://schemas.microsoft.com/office/drawing/2014/main" id="{6344EA56-F589-B4CF-8E59-382D6058231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2467" name="Tijdelijke aanduiding voor notities 2">
            <a:extLst>
              <a:ext uri="{FF2B5EF4-FFF2-40B4-BE49-F238E27FC236}">
                <a16:creationId xmlns:a16="http://schemas.microsoft.com/office/drawing/2014/main" id="{8553AC4B-5CC4-3782-0BED-98031FC96C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62468" name="Tijdelijke aanduiding voor dianummer 3">
            <a:extLst>
              <a:ext uri="{FF2B5EF4-FFF2-40B4-BE49-F238E27FC236}">
                <a16:creationId xmlns:a16="http://schemas.microsoft.com/office/drawing/2014/main" id="{D83017DA-BB75-654E-A86A-46B6A17192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8AAAFA5-0B55-4983-9772-519992C14237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49747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3491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noProof="0" dirty="0"/>
          </a:p>
        </p:txBody>
      </p:sp>
      <p:sp>
        <p:nvSpPr>
          <p:cNvPr id="63492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A4A4EC1-D6A1-40B0-AFD6-C0D9E524B2B0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72872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3491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nl-NL"/>
          </a:p>
        </p:txBody>
      </p:sp>
      <p:sp>
        <p:nvSpPr>
          <p:cNvPr id="63492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A4A4EC1-D6A1-40B0-AFD6-C0D9E524B2B0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45359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AB1CCA-20AD-5149-76FC-4C61AB02D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ijdelijke aanduiding voor dia-afbeelding 1">
            <a:extLst>
              <a:ext uri="{FF2B5EF4-FFF2-40B4-BE49-F238E27FC236}">
                <a16:creationId xmlns:a16="http://schemas.microsoft.com/office/drawing/2014/main" id="{6670FA1C-0014-86BD-A7D5-E8DC47EBFB6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3491" name="Tijdelijke aanduiding voor notities 2">
            <a:extLst>
              <a:ext uri="{FF2B5EF4-FFF2-40B4-BE49-F238E27FC236}">
                <a16:creationId xmlns:a16="http://schemas.microsoft.com/office/drawing/2014/main" id="{D6E42A59-2BFB-C5A9-558F-ECAF0944B5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nl-NL"/>
          </a:p>
        </p:txBody>
      </p:sp>
      <p:sp>
        <p:nvSpPr>
          <p:cNvPr id="63492" name="Tijdelijke aanduiding voor dianummer 3">
            <a:extLst>
              <a:ext uri="{FF2B5EF4-FFF2-40B4-BE49-F238E27FC236}">
                <a16:creationId xmlns:a16="http://schemas.microsoft.com/office/drawing/2014/main" id="{E3045B5F-F37A-70CE-7652-1900D99435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A4A4EC1-D6A1-40B0-AFD6-C0D9E524B2B0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16392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3179ED-796D-B9C6-BC02-34DDF7742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ijdelijke aanduiding voor dia-afbeelding 1">
            <a:extLst>
              <a:ext uri="{FF2B5EF4-FFF2-40B4-BE49-F238E27FC236}">
                <a16:creationId xmlns:a16="http://schemas.microsoft.com/office/drawing/2014/main" id="{8145065A-E750-88AF-D9F3-B5EDCC8856F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4515" name="Tijdelijke aanduiding voor notities 2">
            <a:extLst>
              <a:ext uri="{FF2B5EF4-FFF2-40B4-BE49-F238E27FC236}">
                <a16:creationId xmlns:a16="http://schemas.microsoft.com/office/drawing/2014/main" id="{86BB06CD-BC77-4B23-AAFC-242C6E6226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nl-NL"/>
          </a:p>
        </p:txBody>
      </p:sp>
      <p:sp>
        <p:nvSpPr>
          <p:cNvPr id="64516" name="Tijdelijke aanduiding voor dianummer 3">
            <a:extLst>
              <a:ext uri="{FF2B5EF4-FFF2-40B4-BE49-F238E27FC236}">
                <a16:creationId xmlns:a16="http://schemas.microsoft.com/office/drawing/2014/main" id="{F43CBC86-A86E-3479-01D2-29CA48A461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88C7435-DF27-4B62-A861-3BA7B2CA6A16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81910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75663-D1AD-2BFD-6162-B1E59067A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jdelijke aanduiding voor dia-afbeelding 1">
            <a:extLst>
              <a:ext uri="{FF2B5EF4-FFF2-40B4-BE49-F238E27FC236}">
                <a16:creationId xmlns:a16="http://schemas.microsoft.com/office/drawing/2014/main" id="{AA88B917-05F2-FEB9-1087-8891D91A1C6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6563" name="Tijdelijke aanduiding voor notities 2">
            <a:extLst>
              <a:ext uri="{FF2B5EF4-FFF2-40B4-BE49-F238E27FC236}">
                <a16:creationId xmlns:a16="http://schemas.microsoft.com/office/drawing/2014/main" id="{64272870-673D-647E-34ED-34B60E7D7B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nl-NL" dirty="0"/>
          </a:p>
        </p:txBody>
      </p:sp>
      <p:sp>
        <p:nvSpPr>
          <p:cNvPr id="66564" name="Tijdelijke aanduiding voor dianummer 3">
            <a:extLst>
              <a:ext uri="{FF2B5EF4-FFF2-40B4-BE49-F238E27FC236}">
                <a16:creationId xmlns:a16="http://schemas.microsoft.com/office/drawing/2014/main" id="{49F37B36-8194-84EE-4208-FD821A82C1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8346908-B738-4915-90FE-7A0C4CA4169C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83179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7791C-1B59-5288-B6E9-4BD267362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jdelijke aanduiding voor dia-afbeelding 1">
            <a:extLst>
              <a:ext uri="{FF2B5EF4-FFF2-40B4-BE49-F238E27FC236}">
                <a16:creationId xmlns:a16="http://schemas.microsoft.com/office/drawing/2014/main" id="{B05272E5-4042-4193-8D92-F57131AFEB7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6563" name="Tijdelijke aanduiding voor notities 2">
            <a:extLst>
              <a:ext uri="{FF2B5EF4-FFF2-40B4-BE49-F238E27FC236}">
                <a16:creationId xmlns:a16="http://schemas.microsoft.com/office/drawing/2014/main" id="{18103B33-5375-C99D-43D5-511CF7ACFD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nl-NL" dirty="0"/>
          </a:p>
        </p:txBody>
      </p:sp>
      <p:sp>
        <p:nvSpPr>
          <p:cNvPr id="66564" name="Tijdelijke aanduiding voor dianummer 3">
            <a:extLst>
              <a:ext uri="{FF2B5EF4-FFF2-40B4-BE49-F238E27FC236}">
                <a16:creationId xmlns:a16="http://schemas.microsoft.com/office/drawing/2014/main" id="{50646CB0-5214-2D51-DBEE-9243587547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8346908-B738-4915-90FE-7A0C4CA4169C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29067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2EE16-352B-AAC5-28EC-6598CBB4BD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jdelijke aanduiding voor dia-afbeelding 1">
            <a:extLst>
              <a:ext uri="{FF2B5EF4-FFF2-40B4-BE49-F238E27FC236}">
                <a16:creationId xmlns:a16="http://schemas.microsoft.com/office/drawing/2014/main" id="{FF02996E-36B1-8447-4455-9C6A59679EF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6563" name="Tijdelijke aanduiding voor notities 2">
            <a:extLst>
              <a:ext uri="{FF2B5EF4-FFF2-40B4-BE49-F238E27FC236}">
                <a16:creationId xmlns:a16="http://schemas.microsoft.com/office/drawing/2014/main" id="{31332D4E-FEF1-B167-3330-8A43412E3D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nl-NL" dirty="0"/>
          </a:p>
        </p:txBody>
      </p:sp>
      <p:sp>
        <p:nvSpPr>
          <p:cNvPr id="66564" name="Tijdelijke aanduiding voor dianummer 3">
            <a:extLst>
              <a:ext uri="{FF2B5EF4-FFF2-40B4-BE49-F238E27FC236}">
                <a16:creationId xmlns:a16="http://schemas.microsoft.com/office/drawing/2014/main" id="{663937FF-433C-0F48-E94A-2CC634FA15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8346908-B738-4915-90FE-7A0C4CA4169C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249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6563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nl-NL" dirty="0"/>
          </a:p>
        </p:txBody>
      </p:sp>
      <p:sp>
        <p:nvSpPr>
          <p:cNvPr id="66564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8346908-B738-4915-90FE-7A0C4CA4169C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11424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76BB2-231C-03AF-7303-FAC3DA7FC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jdelijke aanduiding voor dia-afbeelding 1">
            <a:extLst>
              <a:ext uri="{FF2B5EF4-FFF2-40B4-BE49-F238E27FC236}">
                <a16:creationId xmlns:a16="http://schemas.microsoft.com/office/drawing/2014/main" id="{D05D2CFA-1BA4-F96E-75B7-845D1A5C1CD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6563" name="Tijdelijke aanduiding voor notities 2">
            <a:extLst>
              <a:ext uri="{FF2B5EF4-FFF2-40B4-BE49-F238E27FC236}">
                <a16:creationId xmlns:a16="http://schemas.microsoft.com/office/drawing/2014/main" id="{7C892814-B491-E716-E990-EDF3B6E67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nl-NL" dirty="0"/>
          </a:p>
        </p:txBody>
      </p:sp>
      <p:sp>
        <p:nvSpPr>
          <p:cNvPr id="66564" name="Tijdelijke aanduiding voor dianummer 3">
            <a:extLst>
              <a:ext uri="{FF2B5EF4-FFF2-40B4-BE49-F238E27FC236}">
                <a16:creationId xmlns:a16="http://schemas.microsoft.com/office/drawing/2014/main" id="{C642E919-898E-8212-64BB-B6C8987B35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8346908-B738-4915-90FE-7A0C4CA4169C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11757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B1316-FD0D-5A1D-FA35-79D75F48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jdelijke aanduiding voor dia-afbeelding 1">
            <a:extLst>
              <a:ext uri="{FF2B5EF4-FFF2-40B4-BE49-F238E27FC236}">
                <a16:creationId xmlns:a16="http://schemas.microsoft.com/office/drawing/2014/main" id="{51A72E59-6DEE-A149-766B-34CB246B8F4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6563" name="Tijdelijke aanduiding voor notities 2">
            <a:extLst>
              <a:ext uri="{FF2B5EF4-FFF2-40B4-BE49-F238E27FC236}">
                <a16:creationId xmlns:a16="http://schemas.microsoft.com/office/drawing/2014/main" id="{98D2B253-BF4F-8282-6D98-2216A36A8B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nl-NL" dirty="0"/>
          </a:p>
        </p:txBody>
      </p:sp>
      <p:sp>
        <p:nvSpPr>
          <p:cNvPr id="66564" name="Tijdelijke aanduiding voor dianummer 3">
            <a:extLst>
              <a:ext uri="{FF2B5EF4-FFF2-40B4-BE49-F238E27FC236}">
                <a16:creationId xmlns:a16="http://schemas.microsoft.com/office/drawing/2014/main" id="{769E5712-1E1A-F5A2-9159-18BEBB5DD4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8346908-B738-4915-90FE-7A0C4CA4169C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56606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674F43-A4CD-F1E8-8D6F-537F69D31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jdelijke aanduiding voor dia-afbeelding 1">
            <a:extLst>
              <a:ext uri="{FF2B5EF4-FFF2-40B4-BE49-F238E27FC236}">
                <a16:creationId xmlns:a16="http://schemas.microsoft.com/office/drawing/2014/main" id="{FE656357-0D81-6B7B-844C-89E230D2573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6563" name="Tijdelijke aanduiding voor notities 2">
            <a:extLst>
              <a:ext uri="{FF2B5EF4-FFF2-40B4-BE49-F238E27FC236}">
                <a16:creationId xmlns:a16="http://schemas.microsoft.com/office/drawing/2014/main" id="{780F30B0-3495-9B5F-C292-F7E2929636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nl-NL" dirty="0"/>
          </a:p>
        </p:txBody>
      </p:sp>
      <p:sp>
        <p:nvSpPr>
          <p:cNvPr id="66564" name="Tijdelijke aanduiding voor dianummer 3">
            <a:extLst>
              <a:ext uri="{FF2B5EF4-FFF2-40B4-BE49-F238E27FC236}">
                <a16:creationId xmlns:a16="http://schemas.microsoft.com/office/drawing/2014/main" id="{0908AFEA-1CD9-9255-329F-72ECA0DBDD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8346908-B738-4915-90FE-7A0C4CA4169C}" type="slidenum">
              <a:rPr lang="en-US" smtClean="0"/>
              <a:pPr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86100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77119-06C7-2BFC-07B1-5B795FB22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jdelijke aanduiding voor dia-afbeelding 1">
            <a:extLst>
              <a:ext uri="{FF2B5EF4-FFF2-40B4-BE49-F238E27FC236}">
                <a16:creationId xmlns:a16="http://schemas.microsoft.com/office/drawing/2014/main" id="{C334D6EE-DDB1-C3FA-AAE6-6871073465F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6563" name="Tijdelijke aanduiding voor notities 2">
            <a:extLst>
              <a:ext uri="{FF2B5EF4-FFF2-40B4-BE49-F238E27FC236}">
                <a16:creationId xmlns:a16="http://schemas.microsoft.com/office/drawing/2014/main" id="{6B1362A9-88CE-9B20-E3E6-C9BD1C6E33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nl-NL" dirty="0"/>
          </a:p>
        </p:txBody>
      </p:sp>
      <p:sp>
        <p:nvSpPr>
          <p:cNvPr id="66564" name="Tijdelijke aanduiding voor dianummer 3">
            <a:extLst>
              <a:ext uri="{FF2B5EF4-FFF2-40B4-BE49-F238E27FC236}">
                <a16:creationId xmlns:a16="http://schemas.microsoft.com/office/drawing/2014/main" id="{A00587C0-C98D-5E69-0BC9-9B8224345A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8346908-B738-4915-90FE-7A0C4CA4169C}" type="slidenum">
              <a:rPr lang="en-US" smtClean="0"/>
              <a:pPr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27472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56CFD-3902-1311-CEBE-BA8C7A3BD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jdelijke aanduiding voor dia-afbeelding 1">
            <a:extLst>
              <a:ext uri="{FF2B5EF4-FFF2-40B4-BE49-F238E27FC236}">
                <a16:creationId xmlns:a16="http://schemas.microsoft.com/office/drawing/2014/main" id="{B14D2EFD-F4B0-5775-EBC8-B5058CB17E2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6563" name="Tijdelijke aanduiding voor notities 2">
            <a:extLst>
              <a:ext uri="{FF2B5EF4-FFF2-40B4-BE49-F238E27FC236}">
                <a16:creationId xmlns:a16="http://schemas.microsoft.com/office/drawing/2014/main" id="{2272171B-301A-1884-559A-116A48F98B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nl-NL" dirty="0"/>
          </a:p>
        </p:txBody>
      </p:sp>
      <p:sp>
        <p:nvSpPr>
          <p:cNvPr id="66564" name="Tijdelijke aanduiding voor dianummer 3">
            <a:extLst>
              <a:ext uri="{FF2B5EF4-FFF2-40B4-BE49-F238E27FC236}">
                <a16:creationId xmlns:a16="http://schemas.microsoft.com/office/drawing/2014/main" id="{A3600A5E-291A-FB6B-3018-AED4A17A73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8346908-B738-4915-90FE-7A0C4CA4169C}" type="slidenum">
              <a:rPr lang="en-US" smtClean="0"/>
              <a:pPr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8243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/>
          <p:cNvSpPr>
            <a:spLocks noChangeArrowheads="1"/>
          </p:cNvSpPr>
          <p:nvPr/>
        </p:nvSpPr>
        <p:spPr bwMode="auto">
          <a:xfrm>
            <a:off x="609600" y="1219200"/>
            <a:ext cx="7924800" cy="914400"/>
          </a:xfrm>
          <a:custGeom>
            <a:avLst/>
            <a:gdLst/>
            <a:ahLst/>
            <a:cxnLst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nl-NL"/>
          </a:p>
        </p:txBody>
      </p:sp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1981200" y="3962400"/>
            <a:ext cx="65119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nl-NL"/>
          </a:p>
        </p:txBody>
      </p:sp>
      <p:sp>
        <p:nvSpPr>
          <p:cNvPr id="307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7623175" cy="1752600"/>
          </a:xfrm>
        </p:spPr>
        <p:txBody>
          <a:bodyPr/>
          <a:lstStyle>
            <a:lvl1pPr>
              <a:defRPr sz="420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200"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Garamond" pitchFamily="18" charset="0"/>
              </a:defRPr>
            </a:lvl1pPr>
          </a:lstStyle>
          <a:p>
            <a:pPr>
              <a:defRPr/>
            </a:pPr>
            <a:fld id="{7F6F07E9-6B80-445E-A790-39D3062C585A}" type="datetime1">
              <a:rPr lang="en-US"/>
              <a:pPr>
                <a:defRPr/>
              </a:pPr>
              <a:t>5/26/26</a:t>
            </a:fld>
            <a:endParaRPr lang="en-US" alt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3638"/>
            <a:ext cx="2895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Garamond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7C4C95-5111-4739-8858-EE49FB56773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174CF1-175A-4C02-9570-0FB5231111A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3AA115-9240-49DE-8B41-463EB44CD45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219200"/>
            <a:ext cx="4267200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19200"/>
            <a:ext cx="4267200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5D096D-912D-4C38-ACCA-25FCD75EF27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EE29A1-1632-4F81-82D1-AC667E76627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C89BEA-1C58-40DB-8729-2A2D40E07DD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7D2B9E-FE5E-41F6-ABE2-CB97829A13D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ADD3C0-F3BB-489B-A9E6-A2326CE035F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nl-NL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7C44A9-21BB-4B1A-8811-657D97A681F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94CFC9-3740-4B96-ABFB-A100F463CCA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3700" y="277813"/>
            <a:ext cx="2171700" cy="61229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277813"/>
            <a:ext cx="6362700" cy="61229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E3B866-F2A6-4C8B-BA87-0FD437E355D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77813"/>
            <a:ext cx="8534400" cy="78898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28600" y="1219200"/>
            <a:ext cx="426720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19200"/>
            <a:ext cx="426720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AC53DF-6066-46FB-9C49-A876D46FD98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277813"/>
            <a:ext cx="8534400" cy="788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19200"/>
            <a:ext cx="868680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297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4008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+mj-lt"/>
              </a:defRPr>
            </a:lvl1pPr>
          </a:lstStyle>
          <a:p>
            <a:pPr>
              <a:defRPr/>
            </a:pPr>
            <a:fld id="{38FEAF86-4238-40D9-9C64-E4390E2A655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29703" name="Freeform 7"/>
          <p:cNvSpPr>
            <a:spLocks noChangeArrowheads="1"/>
          </p:cNvSpPr>
          <p:nvPr/>
        </p:nvSpPr>
        <p:spPr bwMode="auto">
          <a:xfrm flipV="1">
            <a:off x="228600" y="457200"/>
            <a:ext cx="8382000" cy="609600"/>
          </a:xfrm>
          <a:custGeom>
            <a:avLst/>
            <a:gdLst/>
            <a:ahLst/>
            <a:cxnLst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nl-NL"/>
          </a:p>
        </p:txBody>
      </p:sp>
      <p:sp>
        <p:nvSpPr>
          <p:cNvPr id="29704" name="Line 8"/>
          <p:cNvSpPr>
            <a:spLocks noChangeShapeType="1"/>
          </p:cNvSpPr>
          <p:nvPr/>
        </p:nvSpPr>
        <p:spPr bwMode="auto">
          <a:xfrm>
            <a:off x="228600" y="6477000"/>
            <a:ext cx="86868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nl-N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39" r:id="rId1"/>
    <p:sldLayoutId id="2147483928" r:id="rId2"/>
    <p:sldLayoutId id="2147483929" r:id="rId3"/>
    <p:sldLayoutId id="2147483930" r:id="rId4"/>
    <p:sldLayoutId id="2147483931" r:id="rId5"/>
    <p:sldLayoutId id="2147483932" r:id="rId6"/>
    <p:sldLayoutId id="2147483933" r:id="rId7"/>
    <p:sldLayoutId id="2147483934" r:id="rId8"/>
    <p:sldLayoutId id="2147483935" r:id="rId9"/>
    <p:sldLayoutId id="2147483936" r:id="rId10"/>
    <p:sldLayoutId id="2147483937" r:id="rId11"/>
    <p:sldLayoutId id="2147483938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Garamond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Garamond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Garamond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Garamond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Garamond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Garamond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Garamond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400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charset="2"/>
        <a:buChar char="n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charset="2"/>
        <a:buChar char="q"/>
        <a:defRPr sz="2400">
          <a:solidFill>
            <a:schemeClr val="tx1"/>
          </a:solidFill>
          <a:latin typeface="+mn-lt"/>
        </a:defRPr>
      </a:lvl2pPr>
      <a:lvl3pPr marL="1022350" indent="-35083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charset="2"/>
        <a:buChar char="n"/>
        <a:defRPr sz="2000">
          <a:solidFill>
            <a:schemeClr val="tx1"/>
          </a:solidFill>
          <a:latin typeface="+mn-lt"/>
        </a:defRPr>
      </a:lvl3pPr>
      <a:lvl4pPr marL="1339850" indent="-3159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charset="2"/>
        <a:buChar char="q"/>
        <a:defRPr sz="2000">
          <a:solidFill>
            <a:schemeClr val="tx1"/>
          </a:solidFill>
          <a:latin typeface="+mn-lt"/>
        </a:defRPr>
      </a:lvl4pPr>
      <a:lvl5pPr marL="1681163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charset="2"/>
        <a:buChar char="§"/>
        <a:defRPr sz="2000">
          <a:solidFill>
            <a:schemeClr val="tx1"/>
          </a:solidFill>
          <a:latin typeface="+mn-lt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2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algn="r" eaLnBrk="1" hangingPunct="1"/>
            <a:r>
              <a:rPr lang="en-US" dirty="0"/>
              <a:t>Hoare Logic</a:t>
            </a:r>
            <a:br>
              <a:rPr lang="en-US" dirty="0"/>
            </a:br>
            <a:r>
              <a:rPr lang="en-US" sz="2800" dirty="0"/>
              <a:t>LN chapter 5</a:t>
            </a:r>
            <a:r>
              <a:rPr lang="en-US" sz="2800"/>
              <a:t>, 6.1, 6.2</a:t>
            </a:r>
            <a:endParaRPr lang="en-US" sz="2800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962400"/>
            <a:ext cx="6705600" cy="1752600"/>
          </a:xfrm>
        </p:spPr>
        <p:txBody>
          <a:bodyPr/>
          <a:lstStyle/>
          <a:p>
            <a:pPr algn="r" eaLnBrk="1" hangingPunct="1">
              <a:buFont typeface="Wingdings" charset="2"/>
              <a:buNone/>
            </a:pPr>
            <a:r>
              <a:rPr lang="en-US" sz="1500" i="1"/>
              <a:t>Hoare Logic is used to reason about the correctness of programs. In the end, it reduces a program and its specification to a set of verification conditions.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Overview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n"/>
              <a:defRPr/>
            </a:pPr>
            <a:r>
              <a:rPr lang="en-US"/>
              <a:t>Hoare logic (Ch 5, 6.1)</a:t>
            </a:r>
            <a:endParaRPr lang="en-US" dirty="0"/>
          </a:p>
          <a:p>
            <a:pPr lvl="1">
              <a:buFont typeface="Wingdings" pitchFamily="2" charset="2"/>
              <a:buChar char="q"/>
              <a:defRPr/>
            </a:pPr>
            <a:r>
              <a:rPr lang="en-US" dirty="0"/>
              <a:t>Hoare triple</a:t>
            </a:r>
          </a:p>
          <a:p>
            <a:pPr lvl="1">
              <a:buFont typeface="Wingdings" pitchFamily="2" charset="2"/>
              <a:buChar char="q"/>
              <a:defRPr/>
            </a:pPr>
            <a:r>
              <a:rPr lang="en-US" dirty="0"/>
              <a:t>Rules for basic statements		</a:t>
            </a: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// SEQ, </a:t>
            </a:r>
            <a:r>
              <a:rPr lang="en-US">
                <a:solidFill>
                  <a:schemeClr val="bg2">
                    <a:lumMod val="60000"/>
                    <a:lumOff val="40000"/>
                  </a:schemeClr>
                </a:solidFill>
              </a:rPr>
              <a:t>IF, </a:t>
            </a: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</a:rPr>
              <a:t>ASG</a:t>
            </a:r>
          </a:p>
          <a:p>
            <a:pPr lvl="1">
              <a:buFont typeface="Wingdings" pitchFamily="2" charset="2"/>
              <a:buChar char="q"/>
              <a:defRPr/>
            </a:pPr>
            <a:r>
              <a:rPr lang="en-US" dirty="0"/>
              <a:t>Weakest pre-condition</a:t>
            </a:r>
          </a:p>
          <a:p>
            <a:pPr lvl="1">
              <a:buFont typeface="Wingdings" pitchFamily="2" charset="2"/>
              <a:buChar char="q"/>
              <a:defRPr/>
            </a:pPr>
            <a:r>
              <a:rPr lang="en-US" dirty="0"/>
              <a:t>Example</a:t>
            </a:r>
          </a:p>
          <a:p>
            <a:pPr>
              <a:buFont typeface="Wingdings" pitchFamily="2" charset="2"/>
              <a:buChar char="n"/>
              <a:defRPr/>
            </a:pPr>
            <a:r>
              <a:rPr lang="en-US"/>
              <a:t>Weakest pre-condition (LN 6.2)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0F26A7B-E5AD-4EA3-B365-AE20E2E05E9E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dirty="0"/>
              <a:t>Hoare logic basics</a:t>
            </a:r>
            <a:br>
              <a:rPr lang="en-US" sz="3600" dirty="0"/>
            </a:br>
            <a:r>
              <a:rPr lang="en-US" sz="3600" dirty="0"/>
              <a:t>LN Chapter 5, 6.1</a:t>
            </a:r>
            <a:endParaRPr lang="nl-NL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25FCE9C-C478-4680-9EC0-D9E6B1356693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Hoare logic?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E07DD29-DADE-4342-AADF-963135A71396}" type="slidenum">
              <a:rPr lang="en-US" altLang="en-US" smtClean="0"/>
              <a:pPr>
                <a:defRPr/>
              </a:pPr>
              <a:t>4</a:t>
            </a:fld>
            <a:endParaRPr lang="en-US" alt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B611A88C-4A89-C59B-2C92-21CA9BE833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219200"/>
            <a:ext cx="8686800" cy="5181600"/>
          </a:xfrm>
        </p:spPr>
        <p:txBody>
          <a:bodyPr/>
          <a:lstStyle/>
          <a:p>
            <a:r>
              <a:rPr lang="en-US"/>
              <a:t>We’ve looked at proofs about </a:t>
            </a:r>
            <a:r>
              <a:rPr lang="en-US" b="1"/>
              <a:t>purely functional </a:t>
            </a:r>
            <a:r>
              <a:rPr lang="en-US"/>
              <a:t>programs</a:t>
            </a:r>
          </a:p>
          <a:p>
            <a:pPr lvl="1"/>
            <a:r>
              <a:rPr lang="en-US"/>
              <a:t>e.g., </a:t>
            </a:r>
            <a:r>
              <a:rPr lang="en-US">
                <a:latin typeface="Andale Mono" panose="020B0509000000000004" pitchFamily="49" charset="0"/>
              </a:rPr>
              <a:t>rev </a:t>
            </a:r>
            <a:r>
              <a:rPr lang="en-US"/>
              <a:t>and</a:t>
            </a:r>
            <a:r>
              <a:rPr lang="en-US">
                <a:latin typeface="Andale Mono" panose="020B0509000000000004" pitchFamily="49" charset="0"/>
              </a:rPr>
              <a:t> rv </a:t>
            </a:r>
            <a:r>
              <a:rPr lang="en-US"/>
              <a:t>are purely functional</a:t>
            </a:r>
            <a:endParaRPr lang="en-US">
              <a:latin typeface="Andale Mono" panose="020B0509000000000004" pitchFamily="49" charset="0"/>
            </a:endParaRPr>
          </a:p>
          <a:p>
            <a:pPr lvl="2"/>
            <a:r>
              <a:rPr lang="en-US">
                <a:latin typeface="Andale Mono" panose="020B0509000000000004" pitchFamily="49" charset="0"/>
              </a:rPr>
              <a:t>∀ s :: rev s = rv [] s</a:t>
            </a:r>
          </a:p>
          <a:p>
            <a:pPr lvl="1"/>
            <a:r>
              <a:rPr lang="en-US" b="1"/>
              <a:t>Purely functional </a:t>
            </a:r>
            <a:r>
              <a:rPr lang="en-US"/>
              <a:t>programs only take in an input and return an output; the behavior is not affected by anything else and it does not affect anything else</a:t>
            </a:r>
          </a:p>
          <a:p>
            <a:pPr lvl="2"/>
            <a:r>
              <a:rPr lang="en-US"/>
              <a:t>Thus, we prove properties about it mathematically, as above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/>
              <a:t>Now we reason about </a:t>
            </a:r>
            <a:r>
              <a:rPr lang="en-US" b="1"/>
              <a:t>stateful</a:t>
            </a:r>
            <a:r>
              <a:rPr lang="en-US"/>
              <a:t>/imperative/object oriented programs</a:t>
            </a:r>
          </a:p>
          <a:p>
            <a:pPr lvl="1"/>
            <a:r>
              <a:rPr lang="en-US"/>
              <a:t>These are affected by and affect the state of the memory, etc.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27906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478F98-7F1A-43D9-A2B9-8154C8CAF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F27A1D2C-97BC-779B-5B2D-8CD1F6ABE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Hoare logic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EBA964-6EEF-19A7-1E13-DFCC53D5CE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E07DD29-DADE-4342-AADF-963135A71396}" type="slidenum">
              <a:rPr lang="en-US" altLang="en-US" smtClean="0"/>
              <a:pPr>
                <a:defRPr/>
              </a:pPr>
              <a:t>5</a:t>
            </a:fld>
            <a:endParaRPr lang="en-US" alt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4A01DCBA-2511-E6F2-5155-6863226B1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219200"/>
            <a:ext cx="8686800" cy="5181600"/>
          </a:xfrm>
        </p:spPr>
        <p:txBody>
          <a:bodyPr/>
          <a:lstStyle/>
          <a:p>
            <a:r>
              <a:rPr lang="en-US"/>
              <a:t>Invented by Tony Hoare (1934-2026) in 1969</a:t>
            </a:r>
          </a:p>
          <a:p>
            <a:pPr lvl="1"/>
            <a:r>
              <a:rPr lang="en-US"/>
              <a:t>Influenced by Robert Floyd</a:t>
            </a:r>
            <a:endParaRPr lang="en-US" dirty="0"/>
          </a:p>
          <a:p>
            <a:r>
              <a:rPr lang="en-US"/>
              <a:t>The </a:t>
            </a:r>
            <a:r>
              <a:rPr lang="en-US" b="1"/>
              <a:t>Hoare triple </a:t>
            </a:r>
            <a:r>
              <a:rPr lang="en-US"/>
              <a:t>expresses the effect the program has on state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The triple says: if we are in a state satisfying P, after the program runs, we are in a state satisfying Q.</a:t>
            </a:r>
          </a:p>
        </p:txBody>
      </p:sp>
      <p:pic>
        <p:nvPicPr>
          <p:cNvPr id="6" name="Picture 5" descr="Hoare@Moscow">
            <a:extLst>
              <a:ext uri="{FF2B5EF4-FFF2-40B4-BE49-F238E27FC236}">
                <a16:creationId xmlns:a16="http://schemas.microsoft.com/office/drawing/2014/main" id="{8BE75B48-670B-37BE-949D-50FD63A167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545" t="1016" r="20454" b="60953"/>
          <a:stretch>
            <a:fillRect/>
          </a:stretch>
        </p:blipFill>
        <p:spPr>
          <a:xfrm>
            <a:off x="7152060" y="108895"/>
            <a:ext cx="1676400" cy="1931987"/>
          </a:xfrm>
          <a:prstGeom prst="rect">
            <a:avLst/>
          </a:prstGeom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8C14A1C-0475-BD06-8DAB-EEFD5E291B5B}"/>
              </a:ext>
            </a:extLst>
          </p:cNvPr>
          <p:cNvSpPr/>
          <p:nvPr/>
        </p:nvSpPr>
        <p:spPr>
          <a:xfrm>
            <a:off x="1447800" y="3245216"/>
            <a:ext cx="6705601" cy="1028866"/>
          </a:xfrm>
          <a:prstGeom prst="roundRect">
            <a:avLst>
              <a:gd name="adj" fmla="val 36417"/>
            </a:avLst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A07D30-54BB-338D-CB1D-95B025F3BBBF}"/>
              </a:ext>
            </a:extLst>
          </p:cNvPr>
          <p:cNvSpPr txBox="1"/>
          <p:nvPr/>
        </p:nvSpPr>
        <p:spPr>
          <a:xfrm>
            <a:off x="1927485" y="3512082"/>
            <a:ext cx="58223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/>
              <a:t>{* P *}           </a:t>
            </a:r>
            <a:r>
              <a:rPr lang="en-US" sz="2800">
                <a:latin typeface="Andale Mono" panose="020B0509000000000004" pitchFamily="49" charset="0"/>
              </a:rPr>
              <a:t>program</a:t>
            </a:r>
            <a:r>
              <a:rPr lang="en-US" sz="2800"/>
              <a:t>          {* Q *}</a:t>
            </a:r>
            <a:endParaRPr lang="en-US" sz="2800" dirty="0"/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8094F988-4546-83CC-126F-706ACA09D07F}"/>
              </a:ext>
            </a:extLst>
          </p:cNvPr>
          <p:cNvSpPr/>
          <p:nvPr/>
        </p:nvSpPr>
        <p:spPr>
          <a:xfrm rot="5400000">
            <a:off x="2261944" y="3792825"/>
            <a:ext cx="581514" cy="1600200"/>
          </a:xfrm>
          <a:prstGeom prst="rightBrac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453813-CBDF-8B7E-730A-27A1CFEFF166}"/>
              </a:ext>
            </a:extLst>
          </p:cNvPr>
          <p:cNvSpPr txBox="1"/>
          <p:nvPr/>
        </p:nvSpPr>
        <p:spPr>
          <a:xfrm>
            <a:off x="3733800" y="4853985"/>
            <a:ext cx="19811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program being specified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A6160A6-ECA8-E3A0-A201-595B599682C1}"/>
              </a:ext>
            </a:extLst>
          </p:cNvPr>
          <p:cNvSpPr txBox="1"/>
          <p:nvPr/>
        </p:nvSpPr>
        <p:spPr>
          <a:xfrm>
            <a:off x="1345241" y="4877876"/>
            <a:ext cx="215995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pre-condition</a:t>
            </a:r>
          </a:p>
          <a:p>
            <a:pPr algn="ctr"/>
            <a:r>
              <a:rPr lang="en-US" sz="1200"/>
              <a:t>(a logical statement specifying states)</a:t>
            </a:r>
            <a:endParaRPr lang="en-US" sz="1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0F5B887-FBFD-82A9-E378-7FDE0488AE96}"/>
              </a:ext>
            </a:extLst>
          </p:cNvPr>
          <p:cNvSpPr txBox="1"/>
          <p:nvPr/>
        </p:nvSpPr>
        <p:spPr>
          <a:xfrm>
            <a:off x="5924552" y="4853985"/>
            <a:ext cx="198119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post-condition</a:t>
            </a:r>
          </a:p>
          <a:p>
            <a:pPr algn="ctr"/>
            <a:r>
              <a:rPr lang="en-US" sz="1200"/>
              <a:t>(a logical statement specifying states)</a:t>
            </a:r>
          </a:p>
        </p:txBody>
      </p:sp>
      <p:sp>
        <p:nvSpPr>
          <p:cNvPr id="18" name="Right Brace 17">
            <a:extLst>
              <a:ext uri="{FF2B5EF4-FFF2-40B4-BE49-F238E27FC236}">
                <a16:creationId xmlns:a16="http://schemas.microsoft.com/office/drawing/2014/main" id="{C47C0EB4-CECA-3D71-E54C-4CAAF11F0663}"/>
              </a:ext>
            </a:extLst>
          </p:cNvPr>
          <p:cNvSpPr/>
          <p:nvPr/>
        </p:nvSpPr>
        <p:spPr>
          <a:xfrm rot="5400000">
            <a:off x="4484923" y="3787019"/>
            <a:ext cx="581514" cy="1600200"/>
          </a:xfrm>
          <a:prstGeom prst="rightBrac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ight Brace 18">
            <a:extLst>
              <a:ext uri="{FF2B5EF4-FFF2-40B4-BE49-F238E27FC236}">
                <a16:creationId xmlns:a16="http://schemas.microsoft.com/office/drawing/2014/main" id="{E5978AC4-2C1F-63C6-C7DC-84EF5C77FB54}"/>
              </a:ext>
            </a:extLst>
          </p:cNvPr>
          <p:cNvSpPr/>
          <p:nvPr/>
        </p:nvSpPr>
        <p:spPr>
          <a:xfrm rot="5400000">
            <a:off x="6707902" y="3806590"/>
            <a:ext cx="581514" cy="1600200"/>
          </a:xfrm>
          <a:prstGeom prst="rightBrac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2700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D1E5F-2872-DEB2-AE13-46378F726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F8BBCB5-BED9-6A07-8ED9-339D6FD58902}"/>
              </a:ext>
            </a:extLst>
          </p:cNvPr>
          <p:cNvSpPr/>
          <p:nvPr/>
        </p:nvSpPr>
        <p:spPr>
          <a:xfrm>
            <a:off x="1142999" y="2514600"/>
            <a:ext cx="6705601" cy="1028866"/>
          </a:xfrm>
          <a:prstGeom prst="roundRect">
            <a:avLst>
              <a:gd name="adj" fmla="val 36417"/>
            </a:avLst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46" name="Title 1">
            <a:extLst>
              <a:ext uri="{FF2B5EF4-FFF2-40B4-BE49-F238E27FC236}">
                <a16:creationId xmlns:a16="http://schemas.microsoft.com/office/drawing/2014/main" id="{BFC2CDED-CE9D-7805-3EFB-4A57125FF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Hoare triple</a:t>
            </a:r>
          </a:p>
        </p:txBody>
      </p:sp>
      <p:sp>
        <p:nvSpPr>
          <p:cNvPr id="6147" name="Content Placeholder 2">
            <a:extLst>
              <a:ext uri="{FF2B5EF4-FFF2-40B4-BE49-F238E27FC236}">
                <a16:creationId xmlns:a16="http://schemas.microsoft.com/office/drawing/2014/main" id="{B83AD0F2-2465-99D4-609A-72A9C1B8B5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Example</a:t>
            </a:r>
            <a:r>
              <a:rPr lang="en-US" dirty="0"/>
              <a:t>: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Meaning: </a:t>
            </a:r>
            <a:r>
              <a:rPr lang="en-US"/>
              <a:t>if we are in a state where y</a:t>
            </a:r>
            <a:r>
              <a:rPr lang="en-US">
                <a:sym typeface="Symbol" pitchFamily="16" charset="2"/>
              </a:rPr>
              <a:t>0, then after running </a:t>
            </a:r>
            <a:r>
              <a:rPr lang="en-US"/>
              <a:t>Pr(x,y), we are in a state where return = x/y.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2F5F6D-3EEC-6C7D-807F-F79FD53D76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E07DD29-DADE-4342-AADF-963135A71396}" type="slidenum">
              <a:rPr lang="en-US" altLang="en-US" smtClean="0"/>
              <a:pPr>
                <a:defRPr/>
              </a:pPr>
              <a:t>6</a:t>
            </a:fld>
            <a:endParaRPr lang="en-US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94A7DF-F49E-784E-FDE3-5CB6892F2778}"/>
              </a:ext>
            </a:extLst>
          </p:cNvPr>
          <p:cNvSpPr txBox="1"/>
          <p:nvPr/>
        </p:nvSpPr>
        <p:spPr>
          <a:xfrm>
            <a:off x="1622684" y="2781466"/>
            <a:ext cx="58592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{* y</a:t>
            </a:r>
            <a:r>
              <a:rPr lang="en-US" sz="2800" dirty="0">
                <a:sym typeface="Symbol" pitchFamily="16" charset="2"/>
              </a:rPr>
              <a:t>0</a:t>
            </a:r>
            <a:r>
              <a:rPr lang="en-US" sz="2800" dirty="0"/>
              <a:t> *}    </a:t>
            </a:r>
            <a:r>
              <a:rPr lang="en-US" sz="2800" dirty="0" err="1"/>
              <a:t>Pr</a:t>
            </a:r>
            <a:r>
              <a:rPr lang="en-US" sz="2800" dirty="0"/>
              <a:t>(</a:t>
            </a:r>
            <a:r>
              <a:rPr lang="en-US" sz="2800" dirty="0" err="1"/>
              <a:t>x,y</a:t>
            </a:r>
            <a:r>
              <a:rPr lang="en-US" sz="2800" dirty="0"/>
              <a:t>)    {* return = x/y *}</a:t>
            </a:r>
          </a:p>
        </p:txBody>
      </p:sp>
      <p:sp>
        <p:nvSpPr>
          <p:cNvPr id="3" name="Right Brace 2">
            <a:extLst>
              <a:ext uri="{FF2B5EF4-FFF2-40B4-BE49-F238E27FC236}">
                <a16:creationId xmlns:a16="http://schemas.microsoft.com/office/drawing/2014/main" id="{22B95248-38E3-0937-5A74-B07CC3C5B3F0}"/>
              </a:ext>
            </a:extLst>
          </p:cNvPr>
          <p:cNvSpPr/>
          <p:nvPr/>
        </p:nvSpPr>
        <p:spPr>
          <a:xfrm rot="5400000">
            <a:off x="1957143" y="3062209"/>
            <a:ext cx="581514" cy="1600200"/>
          </a:xfrm>
          <a:prstGeom prst="rightBrac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29FAA67A-4755-823C-89D6-91FBA960BBB9}"/>
              </a:ext>
            </a:extLst>
          </p:cNvPr>
          <p:cNvSpPr/>
          <p:nvPr/>
        </p:nvSpPr>
        <p:spPr>
          <a:xfrm rot="5400000">
            <a:off x="3552336" y="3209602"/>
            <a:ext cx="578828" cy="1308100"/>
          </a:xfrm>
          <a:prstGeom prst="rightBrac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8E3A3A11-D428-2189-AD0A-137BFF0B2A2F}"/>
              </a:ext>
            </a:extLst>
          </p:cNvPr>
          <p:cNvSpPr/>
          <p:nvPr/>
        </p:nvSpPr>
        <p:spPr>
          <a:xfrm rot="5400000">
            <a:off x="5779843" y="2617709"/>
            <a:ext cx="568814" cy="2501900"/>
          </a:xfrm>
          <a:prstGeom prst="rightBrac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56B681-4EEE-AE4A-EB00-7BA2D4E29845}"/>
              </a:ext>
            </a:extLst>
          </p:cNvPr>
          <p:cNvSpPr txBox="1"/>
          <p:nvPr/>
        </p:nvSpPr>
        <p:spPr>
          <a:xfrm>
            <a:off x="2851150" y="4123369"/>
            <a:ext cx="19811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program being specified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3E2D8F-614F-8062-C948-BB70652319F0}"/>
              </a:ext>
            </a:extLst>
          </p:cNvPr>
          <p:cNvSpPr txBox="1"/>
          <p:nvPr/>
        </p:nvSpPr>
        <p:spPr>
          <a:xfrm>
            <a:off x="869951" y="4153066"/>
            <a:ext cx="1981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pre-condition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069D96D-3215-9016-1584-09590E8CF170}"/>
              </a:ext>
            </a:extLst>
          </p:cNvPr>
          <p:cNvSpPr txBox="1"/>
          <p:nvPr/>
        </p:nvSpPr>
        <p:spPr>
          <a:xfrm>
            <a:off x="5619751" y="4123369"/>
            <a:ext cx="1981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post-condition</a:t>
            </a:r>
          </a:p>
        </p:txBody>
      </p:sp>
    </p:spTree>
    <p:extLst>
      <p:ext uri="{BB962C8B-B14F-4D97-AF65-F5344CB8AC3E}">
        <p14:creationId xmlns:p14="http://schemas.microsoft.com/office/powerpoint/2010/main" val="42608091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9FACEEC-2B2D-5F4E-9CBA-B6D8C4A4C7C5}"/>
              </a:ext>
            </a:extLst>
          </p:cNvPr>
          <p:cNvSpPr/>
          <p:nvPr/>
        </p:nvSpPr>
        <p:spPr>
          <a:xfrm>
            <a:off x="2209800" y="1632300"/>
            <a:ext cx="4495801" cy="1028866"/>
          </a:xfrm>
          <a:prstGeom prst="roundRect">
            <a:avLst>
              <a:gd name="adj" fmla="val 36417"/>
            </a:avLst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Partial and total correctness interpretation</a:t>
            </a:r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304800" y="2941598"/>
            <a:ext cx="8382000" cy="3034434"/>
          </a:xfrm>
        </p:spPr>
        <p:txBody>
          <a:bodyPr/>
          <a:lstStyle/>
          <a:p>
            <a:r>
              <a:rPr lang="en-US" sz="2000" b="1" dirty="0"/>
              <a:t>Total correctness interpretation </a:t>
            </a:r>
            <a:r>
              <a:rPr lang="en-US" sz="2000" dirty="0"/>
              <a:t>of Hoare triple: if the program is executed on a state satisfying P, it will </a:t>
            </a:r>
            <a:r>
              <a:rPr lang="en-US" sz="2000" b="1" dirty="0"/>
              <a:t>terminate</a:t>
            </a:r>
            <a:r>
              <a:rPr lang="en-US" sz="2000" dirty="0"/>
              <a:t> in a state satisfying </a:t>
            </a:r>
            <a:r>
              <a:rPr lang="en-US" sz="2000"/>
              <a:t>Q.</a:t>
            </a:r>
            <a:br>
              <a:rPr lang="en-US" sz="2000"/>
            </a:br>
            <a:endParaRPr lang="en-US" sz="2000" dirty="0"/>
          </a:p>
          <a:p>
            <a:r>
              <a:rPr lang="en-US" sz="2000" b="1" dirty="0"/>
              <a:t>Partial correctness interpretation</a:t>
            </a:r>
            <a:r>
              <a:rPr lang="en-US" sz="2000" dirty="0"/>
              <a:t>: if the program is executed on a state satisfying P, and </a:t>
            </a:r>
            <a:r>
              <a:rPr lang="en-US" sz="2000" b="1" dirty="0"/>
              <a:t>if it terminates</a:t>
            </a:r>
            <a:r>
              <a:rPr lang="en-US" sz="2000" dirty="0"/>
              <a:t>, it will terminate in a state satisfying </a:t>
            </a:r>
            <a:r>
              <a:rPr lang="en-US" sz="2000"/>
              <a:t>Q.</a:t>
            </a:r>
            <a:br>
              <a:rPr lang="en-US" sz="2000"/>
            </a:br>
            <a:endParaRPr lang="en-US" sz="2000" dirty="0"/>
          </a:p>
          <a:p>
            <a:r>
              <a:rPr lang="en-US" sz="2000" dirty="0"/>
              <a:t>Partial correctness is of </a:t>
            </a:r>
            <a:r>
              <a:rPr lang="en-US" sz="2000"/>
              <a:t>course weaker, </a:t>
            </a:r>
            <a:r>
              <a:rPr lang="en-US" sz="2000" dirty="0"/>
              <a:t>but on the other hand easier to prove. Useful in situations where we can afford to postpone concerns about termination.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E07DD29-DADE-4342-AADF-963135A71396}" type="slidenum">
              <a:rPr lang="en-US" altLang="en-US" smtClean="0"/>
              <a:pPr>
                <a:defRPr/>
              </a:pPr>
              <a:t>7</a:t>
            </a:fld>
            <a:endParaRPr lang="en-US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28E83C0-9886-774E-9537-6C3833353D00}"/>
              </a:ext>
            </a:extLst>
          </p:cNvPr>
          <p:cNvSpPr txBox="1"/>
          <p:nvPr/>
        </p:nvSpPr>
        <p:spPr>
          <a:xfrm>
            <a:off x="2689485" y="1899166"/>
            <a:ext cx="37063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{* P *}    </a:t>
            </a:r>
            <a:r>
              <a:rPr lang="en-US" sz="2800" dirty="0" err="1"/>
              <a:t>Pr</a:t>
            </a:r>
            <a:r>
              <a:rPr lang="en-US" sz="2800" dirty="0"/>
              <a:t>(x)    {* Q *}</a:t>
            </a:r>
          </a:p>
        </p:txBody>
      </p:sp>
    </p:spTree>
    <p:extLst>
      <p:ext uri="{BB962C8B-B14F-4D97-AF65-F5344CB8AC3E}">
        <p14:creationId xmlns:p14="http://schemas.microsoft.com/office/powerpoint/2010/main" val="6591849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Limitations of Hoare logic</a:t>
            </a:r>
            <a:endParaRPr lang="en-US" dirty="0"/>
          </a:p>
        </p:txBody>
      </p:sp>
      <p:sp>
        <p:nvSpPr>
          <p:cNvPr id="7171" name="Content Placeholder 2"/>
          <p:cNvSpPr>
            <a:spLocks noGrp="1"/>
          </p:cNvSpPr>
          <p:nvPr>
            <p:ph idx="1"/>
          </p:nvPr>
        </p:nvSpPr>
        <p:spPr>
          <a:xfrm>
            <a:off x="228600" y="1524000"/>
            <a:ext cx="8382000" cy="4876800"/>
          </a:xfrm>
        </p:spPr>
        <p:txBody>
          <a:bodyPr/>
          <a:lstStyle/>
          <a:p>
            <a:r>
              <a:rPr lang="en-US" dirty="0"/>
              <a:t>Not every type of behavioral property can (naturally) be captured with Hoare logic.</a:t>
            </a:r>
          </a:p>
          <a:p>
            <a:r>
              <a:rPr lang="en-US" dirty="0"/>
              <a:t>Examples:</a:t>
            </a:r>
          </a:p>
          <a:p>
            <a:pPr lvl="1"/>
            <a:r>
              <a:rPr lang="en-US" dirty="0"/>
              <a:t>If we want to reason about the order in which certain things happen when a program is run.</a:t>
            </a:r>
          </a:p>
          <a:p>
            <a:pPr lvl="2"/>
            <a:r>
              <a:rPr lang="en-US" dirty="0"/>
              <a:t>Alternative: CSP (communicating sequential process)</a:t>
            </a:r>
          </a:p>
          <a:p>
            <a:pPr lvl="1"/>
            <a:r>
              <a:rPr lang="en-US" dirty="0"/>
              <a:t>If we want to reason about how often a state is visited.</a:t>
            </a:r>
          </a:p>
          <a:p>
            <a:pPr lvl="2"/>
            <a:r>
              <a:rPr lang="en-US" dirty="0"/>
              <a:t>Alternative:  temporal logic</a:t>
            </a:r>
          </a:p>
          <a:p>
            <a:pPr lvl="1"/>
            <a:r>
              <a:rPr lang="en-US" dirty="0"/>
              <a:t>If we want to reason about trusting information.</a:t>
            </a:r>
          </a:p>
          <a:p>
            <a:pPr lvl="2"/>
            <a:r>
              <a:rPr lang="en-US" dirty="0"/>
              <a:t>Alternative: logic of belief.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E73FE6-BE92-4C41-A122-5F8B5FAA3523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6FA83-84F1-667C-94D6-AC3D47332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F58D647-9BE9-D5EE-1F68-04B5855F7BA2}"/>
              </a:ext>
            </a:extLst>
          </p:cNvPr>
          <p:cNvSpPr/>
          <p:nvPr/>
        </p:nvSpPr>
        <p:spPr>
          <a:xfrm>
            <a:off x="1458534" y="4813149"/>
            <a:ext cx="6134100" cy="1350121"/>
          </a:xfrm>
          <a:prstGeom prst="roundRect">
            <a:avLst>
              <a:gd name="adj" fmla="val 36417"/>
            </a:avLst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94" name="Rectangle 13">
            <a:extLst>
              <a:ext uri="{FF2B5EF4-FFF2-40B4-BE49-F238E27FC236}">
                <a16:creationId xmlns:a16="http://schemas.microsoft.com/office/drawing/2014/main" id="{900A4CC4-F5F2-5905-3C77-7A9E288EF7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Hoare Logic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3E9DAC2-3B41-F87F-EEF2-1AB28B276E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330923"/>
            <a:ext cx="8686800" cy="4876800"/>
          </a:xfrm>
        </p:spPr>
        <p:txBody>
          <a:bodyPr/>
          <a:lstStyle/>
          <a:p>
            <a:pPr marL="0" indent="0" algn="just">
              <a:buNone/>
            </a:pPr>
            <a:r>
              <a:rPr lang="en-US"/>
              <a:t>Components</a:t>
            </a:r>
          </a:p>
          <a:p>
            <a:pPr algn="just"/>
            <a:r>
              <a:rPr lang="en-US"/>
              <a:t>Basic statement is the Hoare triple</a:t>
            </a:r>
          </a:p>
          <a:p>
            <a:pPr lvl="1" algn="just"/>
            <a:r>
              <a:rPr lang="en-US" sz="2000"/>
              <a:t>{*P*} program {*Q*}</a:t>
            </a:r>
          </a:p>
          <a:p>
            <a:pPr lvl="1" algn="just"/>
            <a:endParaRPr lang="en-US"/>
          </a:p>
          <a:p>
            <a:pPr algn="just"/>
            <a:r>
              <a:rPr lang="en-US"/>
              <a:t>To prove a specific statement, we use </a:t>
            </a:r>
            <a:r>
              <a:rPr lang="en-US" b="1"/>
              <a:t>inference rules</a:t>
            </a:r>
            <a:r>
              <a:rPr lang="en-US"/>
              <a:t>, like the one below</a:t>
            </a:r>
            <a:endParaRPr lang="en-US" b="1"/>
          </a:p>
          <a:p>
            <a:pPr lvl="1" algn="just"/>
            <a:r>
              <a:rPr lang="en-US" sz="2000"/>
              <a:t>It says that if the statements above the line hold, then we can conclude the statements below the line</a:t>
            </a:r>
          </a:p>
        </p:txBody>
      </p:sp>
      <p:sp>
        <p:nvSpPr>
          <p:cNvPr id="15" name="Rectangle 6">
            <a:extLst>
              <a:ext uri="{FF2B5EF4-FFF2-40B4-BE49-F238E27FC236}">
                <a16:creationId xmlns:a16="http://schemas.microsoft.com/office/drawing/2014/main" id="{4337A878-88D6-3641-9E13-CA1E3C39889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B1216C1-D25F-41D2-AABB-A0214D9EB20A}" type="slidenum">
              <a:rPr lang="en-US" altLang="en-US"/>
              <a:pPr>
                <a:defRPr/>
              </a:pPr>
              <a:t>9</a:t>
            </a:fld>
            <a:endParaRPr lang="en-US" altLang="en-US"/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7395F4EC-1753-9BB0-BFD8-BF40A2AFA23D}"/>
              </a:ext>
            </a:extLst>
          </p:cNvPr>
          <p:cNvSpPr txBox="1">
            <a:spLocks noGrp="1"/>
          </p:cNvSpPr>
          <p:nvPr/>
        </p:nvSpPr>
        <p:spPr bwMode="auto">
          <a:xfrm>
            <a:off x="7010400" y="64008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ED48BB55-3626-4665-9789-F008420E3E00}" type="slidenum">
              <a:rPr lang="en-US" altLang="en-US" sz="1200">
                <a:latin typeface="+mj-lt"/>
              </a:rPr>
              <a:pPr algn="r">
                <a:defRPr/>
              </a:pPr>
              <a:t>9</a:t>
            </a:fld>
            <a:endParaRPr lang="en-US" altLang="en-US" sz="1200">
              <a:latin typeface="+mj-lt"/>
            </a:endParaRPr>
          </a:p>
        </p:txBody>
      </p:sp>
      <p:sp>
        <p:nvSpPr>
          <p:cNvPr id="8198" name="Text Box 24">
            <a:extLst>
              <a:ext uri="{FF2B5EF4-FFF2-40B4-BE49-F238E27FC236}">
                <a16:creationId xmlns:a16="http://schemas.microsoft.com/office/drawing/2014/main" id="{E8F6B241-AC4F-F5D5-2B99-C6FDA5A4AC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2266" y="5020270"/>
            <a:ext cx="6079135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dirty="0"/>
              <a:t>    {* </a:t>
            </a:r>
            <a:r>
              <a:rPr lang="en-US" i="1" dirty="0"/>
              <a:t>P</a:t>
            </a:r>
            <a:r>
              <a:rPr lang="en-US" dirty="0"/>
              <a:t> </a:t>
            </a:r>
            <a:r>
              <a:rPr lang="en-US"/>
              <a:t>*}   </a:t>
            </a:r>
            <a:r>
              <a:rPr lang="en-US">
                <a:latin typeface="Andale Mono" panose="020B0509000000000004" pitchFamily="49" charset="0"/>
              </a:rPr>
              <a:t>S</a:t>
            </a:r>
            <a:r>
              <a:rPr lang="en-US"/>
              <a:t>   </a:t>
            </a:r>
            <a:r>
              <a:rPr lang="en-US" dirty="0"/>
              <a:t>{* </a:t>
            </a:r>
            <a:r>
              <a:rPr lang="en-US" i="1" dirty="0"/>
              <a:t>Q</a:t>
            </a:r>
            <a:r>
              <a:rPr lang="en-US" dirty="0"/>
              <a:t> </a:t>
            </a:r>
            <a:r>
              <a:rPr lang="en-US"/>
              <a:t>*}              </a:t>
            </a:r>
            <a:r>
              <a:rPr lang="en-US" dirty="0"/>
              <a:t>{* </a:t>
            </a:r>
            <a:r>
              <a:rPr lang="en-US" i="1" dirty="0"/>
              <a:t>Q</a:t>
            </a:r>
            <a:r>
              <a:rPr lang="en-US" dirty="0"/>
              <a:t> </a:t>
            </a:r>
            <a:r>
              <a:rPr lang="en-US"/>
              <a:t>*}   </a:t>
            </a:r>
            <a:r>
              <a:rPr lang="en-US">
                <a:latin typeface="Andale Mono" panose="020B0509000000000004" pitchFamily="49" charset="0"/>
              </a:rPr>
              <a:t>T</a:t>
            </a:r>
            <a:r>
              <a:rPr lang="en-US"/>
              <a:t>   </a:t>
            </a:r>
            <a:r>
              <a:rPr lang="en-US" dirty="0"/>
              <a:t>{* </a:t>
            </a:r>
            <a:r>
              <a:rPr lang="en-US" i="1" dirty="0"/>
              <a:t>R</a:t>
            </a:r>
            <a:r>
              <a:rPr lang="en-US" dirty="0"/>
              <a:t> *}</a:t>
            </a:r>
          </a:p>
          <a:p>
            <a:r>
              <a:rPr lang="en-US" dirty="0"/>
              <a:t>-----------------------------------------------------------------  </a:t>
            </a:r>
          </a:p>
          <a:p>
            <a:r>
              <a:rPr lang="en-US" dirty="0"/>
              <a:t>                    {* </a:t>
            </a:r>
            <a:r>
              <a:rPr lang="en-US" i="1" dirty="0"/>
              <a:t>P</a:t>
            </a:r>
            <a:r>
              <a:rPr lang="en-US" dirty="0"/>
              <a:t> </a:t>
            </a:r>
            <a:r>
              <a:rPr lang="en-US"/>
              <a:t>*}   </a:t>
            </a:r>
            <a:r>
              <a:rPr lang="en-US">
                <a:latin typeface="Andale Mono" panose="020B0509000000000004" pitchFamily="49" charset="0"/>
              </a:rPr>
              <a:t>S </a:t>
            </a:r>
            <a:r>
              <a:rPr lang="en-US" b="1">
                <a:solidFill>
                  <a:srgbClr val="C00000"/>
                </a:solidFill>
                <a:latin typeface="Andale Mono" panose="020B0509000000000004" pitchFamily="49" charset="0"/>
              </a:rPr>
              <a:t>;</a:t>
            </a:r>
            <a:r>
              <a:rPr lang="en-US">
                <a:latin typeface="Andale Mono" panose="020B0509000000000004" pitchFamily="49" charset="0"/>
              </a:rPr>
              <a:t> T   </a:t>
            </a:r>
            <a:r>
              <a:rPr lang="en-US" dirty="0"/>
              <a:t>{* </a:t>
            </a:r>
            <a:r>
              <a:rPr lang="en-US" i="1" dirty="0"/>
              <a:t>R</a:t>
            </a:r>
            <a:r>
              <a:rPr lang="en-US" dirty="0"/>
              <a:t> *} </a:t>
            </a:r>
          </a:p>
        </p:txBody>
      </p:sp>
    </p:spTree>
    <p:extLst>
      <p:ext uri="{BB962C8B-B14F-4D97-AF65-F5344CB8AC3E}">
        <p14:creationId xmlns:p14="http://schemas.microsoft.com/office/powerpoint/2010/main" val="20356868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9EE92E-640A-55E1-C53F-CE2AC0123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FB227F3-FE73-D60D-D845-E668DE0348B7}"/>
              </a:ext>
            </a:extLst>
          </p:cNvPr>
          <p:cNvSpPr/>
          <p:nvPr/>
        </p:nvSpPr>
        <p:spPr>
          <a:xfrm>
            <a:off x="981395" y="2133600"/>
            <a:ext cx="7086600" cy="1676400"/>
          </a:xfrm>
          <a:prstGeom prst="roundRect">
            <a:avLst>
              <a:gd name="adj" fmla="val 36417"/>
            </a:avLst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94" name="Rectangle 13">
            <a:extLst>
              <a:ext uri="{FF2B5EF4-FFF2-40B4-BE49-F238E27FC236}">
                <a16:creationId xmlns:a16="http://schemas.microsoft.com/office/drawing/2014/main" id="{1AB560AE-B1E8-C929-B244-D59466F191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Sequential decomposition</a:t>
            </a:r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5D642D8-1FE0-8C2F-8367-189EAB1F65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524000"/>
            <a:ext cx="8686800" cy="4876800"/>
          </a:xfrm>
        </p:spPr>
        <p:txBody>
          <a:bodyPr/>
          <a:lstStyle/>
          <a:p>
            <a:pPr algn="just"/>
            <a:r>
              <a:rPr lang="en-US" dirty="0"/>
              <a:t>The first rule is the most important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lvl="1" algn="just"/>
            <a:r>
              <a:rPr lang="en-US" dirty="0"/>
              <a:t>It tells us that if we want to reason about a program consisting of two statements </a:t>
            </a:r>
            <a:r>
              <a:rPr lang="en-US" dirty="0">
                <a:latin typeface="Andale Mono" panose="020B0509000000000004" pitchFamily="49" charset="0"/>
              </a:rPr>
              <a:t>S</a:t>
            </a:r>
            <a:r>
              <a:rPr lang="en-US" dirty="0"/>
              <a:t> and </a:t>
            </a:r>
            <a:r>
              <a:rPr lang="en-US" dirty="0">
                <a:latin typeface="Andale Mono" panose="020B0509000000000004" pitchFamily="49" charset="0"/>
              </a:rPr>
              <a:t>T </a:t>
            </a:r>
            <a:r>
              <a:rPr lang="en-US" dirty="0"/>
              <a:t>in sequence, then we can do this by reasoning about the programs </a:t>
            </a:r>
            <a:r>
              <a:rPr lang="en-US" dirty="0">
                <a:latin typeface="Andale Mono" panose="020B0509000000000004" pitchFamily="49" charset="0"/>
              </a:rPr>
              <a:t>S</a:t>
            </a:r>
            <a:r>
              <a:rPr lang="en-US" dirty="0"/>
              <a:t> and </a:t>
            </a:r>
            <a:r>
              <a:rPr lang="en-US" dirty="0">
                <a:latin typeface="Andale Mono" panose="020B0509000000000004" pitchFamily="49" charset="0"/>
              </a:rPr>
              <a:t>T </a:t>
            </a:r>
            <a:r>
              <a:rPr lang="en-US" dirty="0"/>
              <a:t>separately</a:t>
            </a:r>
          </a:p>
          <a:p>
            <a:pPr lvl="1" algn="just"/>
            <a:r>
              <a:rPr lang="en-US" dirty="0"/>
              <a:t>Thus, we break down a program into its steps and reason one-by-one</a:t>
            </a:r>
          </a:p>
        </p:txBody>
      </p:sp>
      <p:sp>
        <p:nvSpPr>
          <p:cNvPr id="15" name="Rectangle 6">
            <a:extLst>
              <a:ext uri="{FF2B5EF4-FFF2-40B4-BE49-F238E27FC236}">
                <a16:creationId xmlns:a16="http://schemas.microsoft.com/office/drawing/2014/main" id="{A8893232-E0FB-1D4D-EF20-F43C06453DD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B1216C1-D25F-41D2-AABB-A0214D9EB20A}" type="slidenum">
              <a:rPr lang="en-US" altLang="en-US"/>
              <a:pPr>
                <a:defRPr/>
              </a:pPr>
              <a:t>10</a:t>
            </a:fld>
            <a:endParaRPr lang="en-US" altLang="en-US"/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5CFBC9F8-DABB-772A-6C9E-B6FB0A7B2C38}"/>
              </a:ext>
            </a:extLst>
          </p:cNvPr>
          <p:cNvSpPr txBox="1">
            <a:spLocks noGrp="1"/>
          </p:cNvSpPr>
          <p:nvPr/>
        </p:nvSpPr>
        <p:spPr bwMode="auto">
          <a:xfrm>
            <a:off x="7010400" y="64008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ED48BB55-3626-4665-9789-F008420E3E00}" type="slidenum">
              <a:rPr lang="en-US" altLang="en-US" sz="1200">
                <a:latin typeface="+mj-lt"/>
              </a:rPr>
              <a:pPr algn="r">
                <a:defRPr/>
              </a:pPr>
              <a:t>10</a:t>
            </a:fld>
            <a:endParaRPr lang="en-US" altLang="en-US" sz="1200">
              <a:latin typeface="+mj-lt"/>
            </a:endParaRPr>
          </a:p>
        </p:txBody>
      </p:sp>
      <p:sp>
        <p:nvSpPr>
          <p:cNvPr id="8198" name="Text Box 24">
            <a:extLst>
              <a:ext uri="{FF2B5EF4-FFF2-40B4-BE49-F238E27FC236}">
                <a16:creationId xmlns:a16="http://schemas.microsoft.com/office/drawing/2014/main" id="{783FD721-D8B2-CEFD-7049-7CAB334560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3795" y="2371725"/>
            <a:ext cx="70231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dirty="0"/>
              <a:t>    {* </a:t>
            </a:r>
            <a:r>
              <a:rPr lang="en-US" sz="2400" i="1" dirty="0"/>
              <a:t>P</a:t>
            </a:r>
            <a:r>
              <a:rPr lang="en-US" sz="2400" dirty="0"/>
              <a:t> *}   </a:t>
            </a:r>
            <a:r>
              <a:rPr lang="en-US" sz="2400" dirty="0">
                <a:latin typeface="Andale Mono" panose="020B0509000000000004" pitchFamily="49" charset="0"/>
              </a:rPr>
              <a:t>S</a:t>
            </a:r>
            <a:r>
              <a:rPr lang="en-US" sz="2400" dirty="0"/>
              <a:t>   {* </a:t>
            </a:r>
            <a:r>
              <a:rPr lang="en-US" sz="2400" i="1" dirty="0"/>
              <a:t>Q</a:t>
            </a:r>
            <a:r>
              <a:rPr lang="en-US" sz="2400" dirty="0"/>
              <a:t> *}            {* </a:t>
            </a:r>
            <a:r>
              <a:rPr lang="en-US" sz="2400" i="1" dirty="0"/>
              <a:t>Q</a:t>
            </a:r>
            <a:r>
              <a:rPr lang="en-US" sz="2400" dirty="0"/>
              <a:t> *}   </a:t>
            </a:r>
            <a:r>
              <a:rPr lang="en-US" sz="2400" dirty="0">
                <a:latin typeface="Andale Mono" panose="020B0509000000000004" pitchFamily="49" charset="0"/>
              </a:rPr>
              <a:t>T</a:t>
            </a:r>
            <a:r>
              <a:rPr lang="en-US" sz="2400" dirty="0"/>
              <a:t>   {* </a:t>
            </a:r>
            <a:r>
              <a:rPr lang="en-US" sz="2400" i="1" dirty="0"/>
              <a:t>R</a:t>
            </a:r>
            <a:r>
              <a:rPr lang="en-US" sz="2400" dirty="0"/>
              <a:t> *}</a:t>
            </a:r>
          </a:p>
          <a:p>
            <a:r>
              <a:rPr lang="en-US" sz="2400" dirty="0"/>
              <a:t>-----------------------------------------------------------------  </a:t>
            </a:r>
          </a:p>
          <a:p>
            <a:r>
              <a:rPr lang="en-US" sz="2400" dirty="0"/>
              <a:t>                    {* </a:t>
            </a:r>
            <a:r>
              <a:rPr lang="en-US" sz="2400" i="1" dirty="0"/>
              <a:t>P</a:t>
            </a:r>
            <a:r>
              <a:rPr lang="en-US" sz="2400" dirty="0"/>
              <a:t> *}   </a:t>
            </a:r>
            <a:r>
              <a:rPr lang="en-US" sz="2400" dirty="0">
                <a:latin typeface="Andale Mono" panose="020B0509000000000004" pitchFamily="49" charset="0"/>
              </a:rPr>
              <a:t>S </a:t>
            </a:r>
            <a:r>
              <a:rPr lang="en-US" sz="2400" b="1" dirty="0">
                <a:solidFill>
                  <a:srgbClr val="C00000"/>
                </a:solidFill>
                <a:latin typeface="Andale Mono" panose="020B0509000000000004" pitchFamily="49" charset="0"/>
              </a:rPr>
              <a:t>;</a:t>
            </a:r>
            <a:r>
              <a:rPr lang="en-US" sz="2400" dirty="0">
                <a:latin typeface="Andale Mono" panose="020B0509000000000004" pitchFamily="49" charset="0"/>
              </a:rPr>
              <a:t> T </a:t>
            </a:r>
            <a:r>
              <a:rPr lang="en-US" sz="2400" dirty="0"/>
              <a:t>{* </a:t>
            </a:r>
            <a:r>
              <a:rPr lang="en-US" sz="2400" i="1" dirty="0"/>
              <a:t>R</a:t>
            </a:r>
            <a:r>
              <a:rPr lang="en-US" sz="2400" dirty="0"/>
              <a:t> *}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873336-6B99-95A7-1099-6255EB4D9F74}"/>
              </a:ext>
            </a:extLst>
          </p:cNvPr>
          <p:cNvSpPr txBox="1"/>
          <p:nvPr/>
        </p:nvSpPr>
        <p:spPr>
          <a:xfrm>
            <a:off x="8259262" y="2787134"/>
            <a:ext cx="68580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Andale Mono" panose="020B0509000000000004" pitchFamily="49" charset="0"/>
              </a:rPr>
              <a:t>SEQ</a:t>
            </a:r>
          </a:p>
          <a:p>
            <a:r>
              <a:rPr lang="en-US" sz="900">
                <a:latin typeface="Andale Mono" panose="020B0509000000000004" pitchFamily="49" charset="0"/>
              </a:rPr>
              <a:t>(B.1.6)</a:t>
            </a:r>
          </a:p>
        </p:txBody>
      </p:sp>
    </p:spTree>
    <p:extLst>
      <p:ext uri="{BB962C8B-B14F-4D97-AF65-F5344CB8AC3E}">
        <p14:creationId xmlns:p14="http://schemas.microsoft.com/office/powerpoint/2010/main" val="39386237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1D3BE-1336-F137-6DE8-429B2EB85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09AF473-2DDB-2BD7-C17D-48EE410AD402}"/>
              </a:ext>
            </a:extLst>
          </p:cNvPr>
          <p:cNvSpPr/>
          <p:nvPr/>
        </p:nvSpPr>
        <p:spPr>
          <a:xfrm>
            <a:off x="981395" y="2133600"/>
            <a:ext cx="7086600" cy="1676400"/>
          </a:xfrm>
          <a:prstGeom prst="roundRect">
            <a:avLst>
              <a:gd name="adj" fmla="val 36417"/>
            </a:avLst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94" name="Rectangle 13">
            <a:extLst>
              <a:ext uri="{FF2B5EF4-FFF2-40B4-BE49-F238E27FC236}">
                <a16:creationId xmlns:a16="http://schemas.microsoft.com/office/drawing/2014/main" id="{49614844-759B-765F-0915-3150C9A238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Skip</a:t>
            </a:r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B757EA7-4254-7CFE-6AD4-AACDF51CF5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524000"/>
            <a:ext cx="8686800" cy="4876800"/>
          </a:xfrm>
        </p:spPr>
        <p:txBody>
          <a:bodyPr/>
          <a:lstStyle/>
          <a:p>
            <a:pPr algn="just"/>
            <a:r>
              <a:rPr lang="en-US" dirty="0"/>
              <a:t>Here is another basic rule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lvl="1" algn="just"/>
            <a:endParaRPr lang="en-US" dirty="0"/>
          </a:p>
          <a:p>
            <a:pPr lvl="1" algn="just"/>
            <a:r>
              <a:rPr lang="en-US" dirty="0"/>
              <a:t>If P holds before executing </a:t>
            </a:r>
            <a:r>
              <a:rPr lang="en-US" dirty="0">
                <a:latin typeface="Andale Mono" panose="020B0509000000000004" pitchFamily="49" charset="0"/>
              </a:rPr>
              <a:t>skip</a:t>
            </a:r>
            <a:r>
              <a:rPr lang="en-US" dirty="0"/>
              <a:t>, then it still holds afterwards</a:t>
            </a:r>
          </a:p>
        </p:txBody>
      </p:sp>
      <p:sp>
        <p:nvSpPr>
          <p:cNvPr id="15" name="Rectangle 6">
            <a:extLst>
              <a:ext uri="{FF2B5EF4-FFF2-40B4-BE49-F238E27FC236}">
                <a16:creationId xmlns:a16="http://schemas.microsoft.com/office/drawing/2014/main" id="{4DD8FEF3-2498-BD2B-999A-86558C31423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B1216C1-D25F-41D2-AABB-A0214D9EB20A}" type="slidenum">
              <a:rPr lang="en-US" altLang="en-US"/>
              <a:pPr>
                <a:defRPr/>
              </a:pPr>
              <a:t>11</a:t>
            </a:fld>
            <a:endParaRPr lang="en-US" altLang="en-US"/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9F204F25-A33D-4C7E-8AEE-87A4C0474F9F}"/>
              </a:ext>
            </a:extLst>
          </p:cNvPr>
          <p:cNvSpPr txBox="1">
            <a:spLocks noGrp="1"/>
          </p:cNvSpPr>
          <p:nvPr/>
        </p:nvSpPr>
        <p:spPr bwMode="auto">
          <a:xfrm>
            <a:off x="7010400" y="64008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ED48BB55-3626-4665-9789-F008420E3E00}" type="slidenum">
              <a:rPr lang="en-US" altLang="en-US" sz="1200">
                <a:latin typeface="+mj-lt"/>
              </a:rPr>
              <a:pPr algn="r">
                <a:defRPr/>
              </a:pPr>
              <a:t>11</a:t>
            </a:fld>
            <a:endParaRPr lang="en-US" altLang="en-US" sz="1200">
              <a:latin typeface="+mj-lt"/>
            </a:endParaRPr>
          </a:p>
        </p:txBody>
      </p:sp>
      <p:sp>
        <p:nvSpPr>
          <p:cNvPr id="8198" name="Text Box 24">
            <a:extLst>
              <a:ext uri="{FF2B5EF4-FFF2-40B4-BE49-F238E27FC236}">
                <a16:creationId xmlns:a16="http://schemas.microsoft.com/office/drawing/2014/main" id="{6A4CAFF9-FD53-390B-D08F-C70A1BC782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3795" y="2371725"/>
            <a:ext cx="70231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/>
              <a:t>    </a:t>
            </a:r>
            <a:endParaRPr lang="en-US" sz="2400" dirty="0"/>
          </a:p>
          <a:p>
            <a:r>
              <a:rPr lang="en-US" sz="2400" dirty="0"/>
              <a:t>-----------------------------------------------------------------  </a:t>
            </a:r>
          </a:p>
          <a:p>
            <a:r>
              <a:rPr lang="en-US" sz="2400" dirty="0"/>
              <a:t>                    {* </a:t>
            </a:r>
            <a:r>
              <a:rPr lang="en-US" sz="2400" i="1" dirty="0"/>
              <a:t>P</a:t>
            </a:r>
            <a:r>
              <a:rPr lang="en-US" sz="2400" dirty="0"/>
              <a:t> </a:t>
            </a:r>
            <a:r>
              <a:rPr lang="en-US" sz="2400"/>
              <a:t>*}   </a:t>
            </a:r>
            <a:r>
              <a:rPr lang="en-US" sz="2400">
                <a:latin typeface="Andale Mono" panose="020B0509000000000004" pitchFamily="49" charset="0"/>
              </a:rPr>
              <a:t>skip </a:t>
            </a:r>
            <a:r>
              <a:rPr lang="en-US" sz="2400"/>
              <a:t>{* </a:t>
            </a:r>
            <a:r>
              <a:rPr lang="en-US" sz="2400" i="1" dirty="0"/>
              <a:t>P</a:t>
            </a:r>
            <a:r>
              <a:rPr lang="en-US" sz="2400"/>
              <a:t> </a:t>
            </a:r>
            <a:r>
              <a:rPr lang="en-US" sz="2400" dirty="0"/>
              <a:t>*}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463F4A-60CB-8382-77E2-B9C28565738D}"/>
              </a:ext>
            </a:extLst>
          </p:cNvPr>
          <p:cNvSpPr txBox="1"/>
          <p:nvPr/>
        </p:nvSpPr>
        <p:spPr>
          <a:xfrm>
            <a:off x="8259262" y="2787134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Andale Mono" panose="020B0509000000000004" pitchFamily="49" charset="0"/>
              </a:rPr>
              <a:t>SKP</a:t>
            </a:r>
          </a:p>
        </p:txBody>
      </p:sp>
    </p:spTree>
    <p:extLst>
      <p:ext uri="{BB962C8B-B14F-4D97-AF65-F5344CB8AC3E}">
        <p14:creationId xmlns:p14="http://schemas.microsoft.com/office/powerpoint/2010/main" val="40977672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0937A0AA-2EB2-7E43-99E7-F3373334426B}"/>
              </a:ext>
            </a:extLst>
          </p:cNvPr>
          <p:cNvSpPr/>
          <p:nvPr/>
        </p:nvSpPr>
        <p:spPr>
          <a:xfrm>
            <a:off x="1028700" y="1295400"/>
            <a:ext cx="7086600" cy="1371600"/>
          </a:xfrm>
          <a:prstGeom prst="roundRect">
            <a:avLst>
              <a:gd name="adj" fmla="val 36417"/>
            </a:avLst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DE4974E-58B5-4175-B680-63E6172DCB57}" type="slidenum">
              <a:rPr lang="en-US" altLang="en-US"/>
              <a:pPr>
                <a:defRPr/>
              </a:pPr>
              <a:t>12</a:t>
            </a:fld>
            <a:endParaRPr lang="en-US" altLang="en-US"/>
          </a:p>
        </p:txBody>
      </p:sp>
      <p:sp>
        <p:nvSpPr>
          <p:cNvPr id="17" name="Slide Number Placeholder 2"/>
          <p:cNvSpPr txBox="1">
            <a:spLocks noGrp="1"/>
          </p:cNvSpPr>
          <p:nvPr/>
        </p:nvSpPr>
        <p:spPr bwMode="auto">
          <a:xfrm>
            <a:off x="7010400" y="64008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F15348F4-0003-4135-8626-72D3B126B365}" type="slidenum">
              <a:rPr lang="en-US" altLang="en-US" sz="1200">
                <a:latin typeface="+mj-lt"/>
              </a:rPr>
              <a:pPr algn="r">
                <a:defRPr/>
              </a:pPr>
              <a:t>12</a:t>
            </a:fld>
            <a:endParaRPr lang="en-US" altLang="en-US" sz="1200">
              <a:latin typeface="+mj-lt"/>
            </a:endParaRPr>
          </a:p>
        </p:txBody>
      </p:sp>
      <p:sp>
        <p:nvSpPr>
          <p:cNvPr id="922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Inference rule </a:t>
            </a:r>
            <a:r>
              <a:rPr lang="en-US"/>
              <a:t>for if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21" name="Text Box 4"/>
              <p:cNvSpPr txBox="1">
                <a:spLocks noChangeArrowheads="1"/>
              </p:cNvSpPr>
              <p:nvPr/>
            </p:nvSpPr>
            <p:spPr bwMode="auto">
              <a:xfrm>
                <a:off x="1780709" y="3276601"/>
                <a:ext cx="2324995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/>
                  <a:t>{*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dirty="0"/>
                  <a:t> </a:t>
                </a:r>
                <a:r>
                  <a:rPr lang="en-US"/>
                  <a:t>*}   </a:t>
                </a:r>
                <a:r>
                  <a:rPr lang="en-US">
                    <a:latin typeface="Andale Mono" panose="020B0509000000000004" pitchFamily="49" charset="0"/>
                  </a:rPr>
                  <a:t>S</a:t>
                </a:r>
                <a:r>
                  <a:rPr lang="en-US"/>
                  <a:t>   {*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/>
                  <a:t> </a:t>
                </a:r>
                <a:r>
                  <a:rPr lang="en-US" dirty="0"/>
                  <a:t>*}</a:t>
                </a:r>
                <a:endParaRPr lang="en-US" b="1"/>
              </a:p>
            </p:txBody>
          </p:sp>
        </mc:Choice>
        <mc:Fallback xmlns="">
          <p:sp>
            <p:nvSpPr>
              <p:cNvPr id="9221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80709" y="3276601"/>
                <a:ext cx="2324995" cy="369332"/>
              </a:xfrm>
              <a:prstGeom prst="rect">
                <a:avLst/>
              </a:prstGeom>
              <a:blipFill>
                <a:blip r:embed="rId3"/>
                <a:stretch>
                  <a:fillRect l="-2174" t="-13333" r="-1087" b="-20000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22" name="Oval 5"/>
          <p:cNvSpPr>
            <a:spLocks noChangeArrowheads="1"/>
          </p:cNvSpPr>
          <p:nvPr/>
        </p:nvSpPr>
        <p:spPr bwMode="auto">
          <a:xfrm>
            <a:off x="1475909" y="3886201"/>
            <a:ext cx="838200" cy="1828800"/>
          </a:xfrm>
          <a:prstGeom prst="ellipse">
            <a:avLst/>
          </a:prstGeom>
          <a:solidFill>
            <a:schemeClr val="folHlink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23" name="Oval 6"/>
              <p:cNvSpPr>
                <a:spLocks noChangeArrowheads="1"/>
              </p:cNvSpPr>
              <p:nvPr/>
            </p:nvSpPr>
            <p:spPr bwMode="auto">
              <a:xfrm>
                <a:off x="3838109" y="4191001"/>
                <a:ext cx="838200" cy="1219200"/>
              </a:xfrm>
              <a:prstGeom prst="ellipse">
                <a:avLst/>
              </a:pr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9223" name="Oval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38109" y="4191001"/>
                <a:ext cx="838200" cy="1219200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24" name="Line 8"/>
          <p:cNvSpPr>
            <a:spLocks noChangeShapeType="1"/>
          </p:cNvSpPr>
          <p:nvPr/>
        </p:nvSpPr>
        <p:spPr bwMode="auto">
          <a:xfrm>
            <a:off x="790109" y="4495801"/>
            <a:ext cx="2286000" cy="60960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225" name="Text Box 9"/>
          <p:cNvSpPr txBox="1">
            <a:spLocks noChangeArrowheads="1"/>
          </p:cNvSpPr>
          <p:nvPr/>
        </p:nvSpPr>
        <p:spPr bwMode="auto">
          <a:xfrm>
            <a:off x="1780709" y="4267201"/>
            <a:ext cx="32252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990033"/>
                </a:solidFill>
                <a:latin typeface="Andale Mono" panose="020B0509000000000004" pitchFamily="49" charset="0"/>
              </a:rPr>
              <a:t>g</a:t>
            </a:r>
            <a:endParaRPr lang="en-US" b="1">
              <a:solidFill>
                <a:srgbClr val="0000FF"/>
              </a:solidFill>
            </a:endParaRPr>
          </a:p>
        </p:txBody>
      </p:sp>
      <p:sp>
        <p:nvSpPr>
          <p:cNvPr id="9226" name="Text Box 10"/>
          <p:cNvSpPr txBox="1">
            <a:spLocks noChangeArrowheads="1"/>
          </p:cNvSpPr>
          <p:nvPr/>
        </p:nvSpPr>
        <p:spPr bwMode="auto">
          <a:xfrm>
            <a:off x="1628309" y="4953001"/>
            <a:ext cx="48763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990033"/>
                </a:solidFill>
                <a:sym typeface="Symbol" pitchFamily="16" charset="2"/>
              </a:rPr>
              <a:t></a:t>
            </a:r>
            <a:r>
              <a:rPr lang="en-US" b="1">
                <a:solidFill>
                  <a:srgbClr val="990033"/>
                </a:solidFill>
                <a:latin typeface="Andale Mono" panose="020B0509000000000004" pitchFamily="49" charset="0"/>
              </a:rPr>
              <a:t>g</a:t>
            </a:r>
            <a:endParaRPr lang="en-US" b="1">
              <a:solidFill>
                <a:srgbClr val="990033"/>
              </a:solidFill>
            </a:endParaRPr>
          </a:p>
        </p:txBody>
      </p:sp>
      <p:sp>
        <p:nvSpPr>
          <p:cNvPr id="9227" name="Freeform 11"/>
          <p:cNvSpPr>
            <a:spLocks/>
          </p:cNvSpPr>
          <p:nvPr/>
        </p:nvSpPr>
        <p:spPr bwMode="auto">
          <a:xfrm>
            <a:off x="2314109" y="4191001"/>
            <a:ext cx="1524000" cy="304800"/>
          </a:xfrm>
          <a:custGeom>
            <a:avLst/>
            <a:gdLst>
              <a:gd name="T0" fmla="*/ 0 w 960"/>
              <a:gd name="T1" fmla="*/ 2147483647 h 192"/>
              <a:gd name="T2" fmla="*/ 2147483647 w 960"/>
              <a:gd name="T3" fmla="*/ 0 h 192"/>
              <a:gd name="T4" fmla="*/ 2147483647 w 960"/>
              <a:gd name="T5" fmla="*/ 2147483647 h 192"/>
              <a:gd name="T6" fmla="*/ 0 60000 65536"/>
              <a:gd name="T7" fmla="*/ 0 60000 65536"/>
              <a:gd name="T8" fmla="*/ 0 60000 65536"/>
              <a:gd name="T9" fmla="*/ 0 w 960"/>
              <a:gd name="T10" fmla="*/ 0 h 192"/>
              <a:gd name="T11" fmla="*/ 960 w 960"/>
              <a:gd name="T12" fmla="*/ 192 h 19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60" h="192">
                <a:moveTo>
                  <a:pt x="0" y="192"/>
                </a:moveTo>
                <a:cubicBezTo>
                  <a:pt x="112" y="96"/>
                  <a:pt x="224" y="0"/>
                  <a:pt x="384" y="0"/>
                </a:cubicBezTo>
                <a:cubicBezTo>
                  <a:pt x="544" y="0"/>
                  <a:pt x="864" y="152"/>
                  <a:pt x="960" y="192"/>
                </a:cubicBezTo>
              </a:path>
            </a:pathLst>
          </a:custGeom>
          <a:noFill/>
          <a:ln w="57150">
            <a:solidFill>
              <a:schemeClr val="tx2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9228" name="Text Box 12"/>
          <p:cNvSpPr txBox="1">
            <a:spLocks noChangeArrowheads="1"/>
          </p:cNvSpPr>
          <p:nvPr/>
        </p:nvSpPr>
        <p:spPr bwMode="auto">
          <a:xfrm>
            <a:off x="2771309" y="3810001"/>
            <a:ext cx="32252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latin typeface="Andale Mono" panose="020B0509000000000004" pitchFamily="49" charset="0"/>
              </a:rPr>
              <a:t>S</a:t>
            </a:r>
            <a:endParaRPr lang="en-US" baseline="-25000">
              <a:latin typeface="Andale Mono" panose="020B05090000000000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29" name="Text Box 13"/>
              <p:cNvSpPr txBox="1">
                <a:spLocks noChangeArrowheads="1"/>
              </p:cNvSpPr>
              <p:nvPr/>
            </p:nvSpPr>
            <p:spPr bwMode="auto">
              <a:xfrm>
                <a:off x="1704509" y="3886201"/>
                <a:ext cx="397096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9229" name="Text 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04509" y="3886201"/>
                <a:ext cx="39709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30" name="Freeform 15"/>
          <p:cNvSpPr>
            <a:spLocks/>
          </p:cNvSpPr>
          <p:nvPr/>
        </p:nvSpPr>
        <p:spPr bwMode="auto">
          <a:xfrm flipV="1">
            <a:off x="2314109" y="5334001"/>
            <a:ext cx="1752600" cy="304800"/>
          </a:xfrm>
          <a:custGeom>
            <a:avLst/>
            <a:gdLst>
              <a:gd name="T0" fmla="*/ 0 w 960"/>
              <a:gd name="T1" fmla="*/ 2147483647 h 192"/>
              <a:gd name="T2" fmla="*/ 2147483647 w 960"/>
              <a:gd name="T3" fmla="*/ 0 h 192"/>
              <a:gd name="T4" fmla="*/ 2147483647 w 960"/>
              <a:gd name="T5" fmla="*/ 2147483647 h 192"/>
              <a:gd name="T6" fmla="*/ 0 60000 65536"/>
              <a:gd name="T7" fmla="*/ 0 60000 65536"/>
              <a:gd name="T8" fmla="*/ 0 60000 65536"/>
              <a:gd name="T9" fmla="*/ 0 w 960"/>
              <a:gd name="T10" fmla="*/ 0 h 192"/>
              <a:gd name="T11" fmla="*/ 960 w 960"/>
              <a:gd name="T12" fmla="*/ 192 h 19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60" h="192">
                <a:moveTo>
                  <a:pt x="0" y="192"/>
                </a:moveTo>
                <a:cubicBezTo>
                  <a:pt x="112" y="96"/>
                  <a:pt x="224" y="0"/>
                  <a:pt x="384" y="0"/>
                </a:cubicBezTo>
                <a:cubicBezTo>
                  <a:pt x="544" y="0"/>
                  <a:pt x="864" y="152"/>
                  <a:pt x="960" y="192"/>
                </a:cubicBezTo>
              </a:path>
            </a:pathLst>
          </a:custGeom>
          <a:noFill/>
          <a:ln w="57150">
            <a:solidFill>
              <a:schemeClr val="tx2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9231" name="Text Box 16"/>
          <p:cNvSpPr txBox="1">
            <a:spLocks noChangeArrowheads="1"/>
          </p:cNvSpPr>
          <p:nvPr/>
        </p:nvSpPr>
        <p:spPr bwMode="auto">
          <a:xfrm>
            <a:off x="3152309" y="5181601"/>
            <a:ext cx="32573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latin typeface="Andale Mono" panose="020B0509000000000004" pitchFamily="49" charset="0"/>
              </a:rPr>
              <a:t>T</a:t>
            </a:r>
            <a:endParaRPr lang="en-US" baseline="-25000">
              <a:latin typeface="Andale Mono" panose="020B05090000000000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32" name="Text Box 17"/>
              <p:cNvSpPr txBox="1">
                <a:spLocks noChangeArrowheads="1"/>
              </p:cNvSpPr>
              <p:nvPr/>
            </p:nvSpPr>
            <p:spPr bwMode="auto">
              <a:xfrm>
                <a:off x="3304709" y="5638801"/>
                <a:ext cx="2421176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dirty="0"/>
                  <a:t>{*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∧¬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dirty="0"/>
                  <a:t> </a:t>
                </a:r>
                <a:r>
                  <a:rPr lang="en-US"/>
                  <a:t>*}  </a:t>
                </a:r>
                <a:r>
                  <a:rPr lang="en-US">
                    <a:latin typeface="Andale Mono" panose="020B0509000000000004" pitchFamily="49" charset="0"/>
                  </a:rPr>
                  <a:t>T</a:t>
                </a:r>
                <a:r>
                  <a:rPr lang="en-US"/>
                  <a:t>  {*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/>
                  <a:t> </a:t>
                </a:r>
                <a:r>
                  <a:rPr lang="en-US" dirty="0"/>
                  <a:t>*}</a:t>
                </a:r>
                <a:endParaRPr lang="en-US" b="1"/>
              </a:p>
            </p:txBody>
          </p:sp>
        </mc:Choice>
        <mc:Fallback xmlns="">
          <p:sp>
            <p:nvSpPr>
              <p:cNvPr id="9232" name="Text 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04709" y="5638801"/>
                <a:ext cx="2421176" cy="369332"/>
              </a:xfrm>
              <a:prstGeom prst="rect">
                <a:avLst/>
              </a:prstGeom>
              <a:blipFill>
                <a:blip r:embed="rId6"/>
                <a:stretch>
                  <a:fillRect l="-2094" t="-13333" r="-1571" b="-23333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34" name="Text Box 19"/>
              <p:cNvSpPr txBox="1">
                <a:spLocks noChangeArrowheads="1"/>
              </p:cNvSpPr>
              <p:nvPr/>
            </p:nvSpPr>
            <p:spPr bwMode="auto">
              <a:xfrm>
                <a:off x="1292225" y="1524000"/>
                <a:ext cx="6814045" cy="10156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2000" dirty="0"/>
                  <a:t>    </a:t>
                </a:r>
                <a:r>
                  <a:rPr lang="en-US" sz="2000"/>
                  <a:t>{*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/>
                  <a:t>*}   </a:t>
                </a:r>
                <a:r>
                  <a:rPr lang="en-US" sz="2000">
                    <a:latin typeface="Andale Mono" panose="020B0509000000000004" pitchFamily="49" charset="0"/>
                  </a:rPr>
                  <a:t>S</a:t>
                </a:r>
                <a:r>
                  <a:rPr lang="en-US" sz="2000"/>
                  <a:t>   {*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000"/>
                  <a:t> *}             </a:t>
                </a:r>
                <a:r>
                  <a:rPr lang="en-US" sz="2000" dirty="0"/>
                  <a:t>{*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∧¬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/>
                  <a:t>*}  </a:t>
                </a:r>
                <a:r>
                  <a:rPr lang="en-US" sz="2000">
                    <a:latin typeface="Andale Mono" panose="020B0509000000000004" pitchFamily="49" charset="0"/>
                  </a:rPr>
                  <a:t>T</a:t>
                </a:r>
                <a:r>
                  <a:rPr lang="en-US" sz="2000"/>
                  <a:t>  {*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000"/>
                  <a:t> </a:t>
                </a:r>
                <a:r>
                  <a:rPr lang="en-US" sz="2000" dirty="0"/>
                  <a:t>*}</a:t>
                </a:r>
              </a:p>
              <a:p>
                <a:r>
                  <a:rPr lang="en-US" sz="2000" dirty="0"/>
                  <a:t>--------------------------------------------------------------------------  </a:t>
                </a:r>
              </a:p>
              <a:p>
                <a:r>
                  <a:rPr lang="en-US" sz="2000" dirty="0"/>
                  <a:t>                   {*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/>
                  <a:t>*}  </a:t>
                </a:r>
                <a:r>
                  <a:rPr lang="en-US" sz="2000" b="1">
                    <a:solidFill>
                      <a:srgbClr val="0070C0"/>
                    </a:solidFill>
                    <a:latin typeface="Andale Mono" panose="020B0509000000000004" pitchFamily="49" charset="0"/>
                  </a:rPr>
                  <a:t>if</a:t>
                </a:r>
                <a:r>
                  <a:rPr lang="en-US" sz="2000">
                    <a:latin typeface="Andale Mono" panose="020B0509000000000004" pitchFamily="49" charset="0"/>
                  </a:rPr>
                  <a:t> </a:t>
                </a:r>
                <a:r>
                  <a:rPr lang="en-US" sz="2000" b="1">
                    <a:solidFill>
                      <a:srgbClr val="990033"/>
                    </a:solidFill>
                    <a:latin typeface="Andale Mono" panose="020B0509000000000004" pitchFamily="49" charset="0"/>
                  </a:rPr>
                  <a:t>g</a:t>
                </a:r>
                <a:r>
                  <a:rPr lang="en-US" sz="2000">
                    <a:latin typeface="Andale Mono" panose="020B0509000000000004" pitchFamily="49" charset="0"/>
                  </a:rPr>
                  <a:t> </a:t>
                </a:r>
                <a:r>
                  <a:rPr lang="en-US" sz="2000" b="1">
                    <a:solidFill>
                      <a:srgbClr val="0070C0"/>
                    </a:solidFill>
                    <a:latin typeface="Andale Mono" panose="020B0509000000000004" pitchFamily="49" charset="0"/>
                  </a:rPr>
                  <a:t>then</a:t>
                </a:r>
                <a:r>
                  <a:rPr lang="en-US" sz="2000" b="1">
                    <a:latin typeface="Andale Mono" panose="020B0509000000000004" pitchFamily="49" charset="0"/>
                  </a:rPr>
                  <a:t> S </a:t>
                </a:r>
                <a:r>
                  <a:rPr lang="en-US" sz="2000" b="1">
                    <a:solidFill>
                      <a:srgbClr val="0070C0"/>
                    </a:solidFill>
                    <a:latin typeface="Andale Mono" panose="020B0509000000000004" pitchFamily="49" charset="0"/>
                  </a:rPr>
                  <a:t>else</a:t>
                </a:r>
                <a:r>
                  <a:rPr lang="en-US" sz="2000" b="1">
                    <a:latin typeface="Andale Mono" panose="020B0509000000000004" pitchFamily="49" charset="0"/>
                  </a:rPr>
                  <a:t> T </a:t>
                </a:r>
                <a:r>
                  <a:rPr lang="en-US" sz="2000"/>
                  <a:t>{*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000" dirty="0"/>
                  <a:t> *} </a:t>
                </a:r>
              </a:p>
            </p:txBody>
          </p:sp>
        </mc:Choice>
        <mc:Fallback xmlns="">
          <p:sp>
            <p:nvSpPr>
              <p:cNvPr id="9234" name="Text 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92225" y="1524000"/>
                <a:ext cx="6814045" cy="1015663"/>
              </a:xfrm>
              <a:prstGeom prst="rect">
                <a:avLst/>
              </a:prstGeom>
              <a:blipFill>
                <a:blip r:embed="rId7"/>
                <a:stretch>
                  <a:fillRect l="-929" t="-3704" b="-8642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F28AC18-508A-554B-E7F7-DEB5C584B1B2}"/>
              </a:ext>
            </a:extLst>
          </p:cNvPr>
          <p:cNvSpPr/>
          <p:nvPr/>
        </p:nvSpPr>
        <p:spPr>
          <a:xfrm>
            <a:off x="6597839" y="3616503"/>
            <a:ext cx="2317561" cy="1590102"/>
          </a:xfrm>
          <a:prstGeom prst="roundRect">
            <a:avLst>
              <a:gd name="adj" fmla="val 36417"/>
            </a:avLst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0D6210-E3CC-96F6-3F61-73EE92865C2E}"/>
              </a:ext>
            </a:extLst>
          </p:cNvPr>
          <p:cNvSpPr txBox="1"/>
          <p:nvPr/>
        </p:nvSpPr>
        <p:spPr>
          <a:xfrm>
            <a:off x="8229600" y="1787653"/>
            <a:ext cx="68580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Andale Mono" panose="020B0509000000000004" pitchFamily="49" charset="0"/>
              </a:rPr>
              <a:t>IF</a:t>
            </a:r>
          </a:p>
          <a:p>
            <a:r>
              <a:rPr lang="en-US" sz="900">
                <a:latin typeface="Andale Mono" panose="020B0509000000000004" pitchFamily="49" charset="0"/>
              </a:rPr>
              <a:t>(B.1.5)</a:t>
            </a:r>
          </a:p>
          <a:p>
            <a:endParaRPr lang="en-US">
              <a:latin typeface="Andale Mono" panose="020B05090000000000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2C89371-D30C-71B5-4C89-688BAE051894}"/>
                  </a:ext>
                </a:extLst>
              </p:cNvPr>
              <p:cNvSpPr txBox="1"/>
              <p:nvPr/>
            </p:nvSpPr>
            <p:spPr>
              <a:xfrm>
                <a:off x="6787444" y="3735469"/>
                <a:ext cx="1899355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/>
                  <a:t>Mental model:</a:t>
                </a:r>
              </a:p>
              <a:p>
                <a:endParaRPr lang="en-US" sz="100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000"/>
                  <a:t>Sometimes think of </a:t>
                </a:r>
                <a14:m>
                  <m:oMath xmlns:m="http://schemas.openxmlformats.org/officeDocument/2006/math">
                    <m:r>
                      <a:rPr lang="en-US" sz="1000" i="1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1000"/>
                  <a:t> as a </a:t>
                </a:r>
                <a:r>
                  <a:rPr lang="en-US" sz="1000" b="1"/>
                  <a:t>logical statement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en-US" sz="1000" b="1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sz="1000"/>
                  <a:t>Sometimes think of </a:t>
                </a:r>
                <a14:m>
                  <m:oMath xmlns:m="http://schemas.openxmlformats.org/officeDocument/2006/math">
                    <m:r>
                      <a:rPr lang="en-US" sz="1000" i="1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1000"/>
                  <a:t> as the </a:t>
                </a:r>
                <a:r>
                  <a:rPr lang="en-US" sz="1000" b="1"/>
                  <a:t>set of all states satisfying </a:t>
                </a:r>
                <a14:m>
                  <m:oMath xmlns:m="http://schemas.openxmlformats.org/officeDocument/2006/math">
                    <m:r>
                      <a:rPr lang="en-US" sz="1000" b="1" i="1">
                        <a:latin typeface="Cambria Math" panose="02040503050406030204" pitchFamily="18" charset="0"/>
                      </a:rPr>
                      <m:t>𝑷</m:t>
                    </m:r>
                  </m:oMath>
                </a14:m>
                <a:endParaRPr lang="en-US" sz="1000"/>
              </a:p>
              <a:p>
                <a:endParaRPr lang="en-US" sz="100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2C89371-D30C-71B5-4C89-688BAE0518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7444" y="3735469"/>
                <a:ext cx="1899355" cy="147732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FA5C3D-5135-ECA3-0EAB-DAED898A6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6">
            <a:extLst>
              <a:ext uri="{FF2B5EF4-FFF2-40B4-BE49-F238E27FC236}">
                <a16:creationId xmlns:a16="http://schemas.microsoft.com/office/drawing/2014/main" id="{ABC7AB23-1CC9-30ED-0CBE-84F8B17F6D4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DE4974E-58B5-4175-B680-63E6172DCB57}" type="slidenum">
              <a:rPr lang="en-US" altLang="en-US"/>
              <a:pPr>
                <a:defRPr/>
              </a:pPr>
              <a:t>13</a:t>
            </a:fld>
            <a:endParaRPr lang="en-US" altLang="en-US"/>
          </a:p>
        </p:txBody>
      </p:sp>
      <p:sp>
        <p:nvSpPr>
          <p:cNvPr id="17" name="Slide Number Placeholder 2">
            <a:extLst>
              <a:ext uri="{FF2B5EF4-FFF2-40B4-BE49-F238E27FC236}">
                <a16:creationId xmlns:a16="http://schemas.microsoft.com/office/drawing/2014/main" id="{13D003CC-695E-13B6-3C31-D6B0B7F50BDC}"/>
              </a:ext>
            </a:extLst>
          </p:cNvPr>
          <p:cNvSpPr txBox="1">
            <a:spLocks noGrp="1"/>
          </p:cNvSpPr>
          <p:nvPr/>
        </p:nvSpPr>
        <p:spPr bwMode="auto">
          <a:xfrm>
            <a:off x="7010400" y="64008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F15348F4-0003-4135-8626-72D3B126B365}" type="slidenum">
              <a:rPr lang="en-US" altLang="en-US" sz="1200">
                <a:latin typeface="+mj-lt"/>
              </a:rPr>
              <a:pPr algn="r">
                <a:defRPr/>
              </a:pPr>
              <a:t>13</a:t>
            </a:fld>
            <a:endParaRPr lang="en-US" altLang="en-US" sz="1200">
              <a:latin typeface="+mj-lt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DF3137B-0971-3847-91CC-CE21FE8522F0}"/>
              </a:ext>
            </a:extLst>
          </p:cNvPr>
          <p:cNvSpPr/>
          <p:nvPr/>
        </p:nvSpPr>
        <p:spPr>
          <a:xfrm>
            <a:off x="4419600" y="76200"/>
            <a:ext cx="4495800" cy="228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20" name="Rectangle 2">
            <a:extLst>
              <a:ext uri="{FF2B5EF4-FFF2-40B4-BE49-F238E27FC236}">
                <a16:creationId xmlns:a16="http://schemas.microsoft.com/office/drawing/2014/main" id="{550A22EE-00CA-89A2-2915-745517F3C1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Predicates as subsets</a:t>
            </a:r>
            <a:endParaRPr lang="en-US" dirty="0"/>
          </a:p>
        </p:txBody>
      </p:sp>
      <p:sp>
        <p:nvSpPr>
          <p:cNvPr id="9222" name="Oval 5">
            <a:extLst>
              <a:ext uri="{FF2B5EF4-FFF2-40B4-BE49-F238E27FC236}">
                <a16:creationId xmlns:a16="http://schemas.microsoft.com/office/drawing/2014/main" id="{A47DD695-2FDA-6463-9CFC-03A8B4DEA1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404572"/>
            <a:ext cx="838200" cy="914400"/>
          </a:xfrm>
          <a:prstGeom prst="ellipse">
            <a:avLst/>
          </a:prstGeom>
          <a:solidFill>
            <a:schemeClr val="folHlink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23" name="Oval 6">
                <a:extLst>
                  <a:ext uri="{FF2B5EF4-FFF2-40B4-BE49-F238E27FC236}">
                    <a16:creationId xmlns:a16="http://schemas.microsoft.com/office/drawing/2014/main" id="{026C1114-863A-E339-4C3A-A105ED72C7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24800" y="533400"/>
                <a:ext cx="838200" cy="762001"/>
              </a:xfrm>
              <a:prstGeom prst="ellipse">
                <a:avLst/>
              </a:pr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9223" name="Oval 6">
                <a:extLst>
                  <a:ext uri="{FF2B5EF4-FFF2-40B4-BE49-F238E27FC236}">
                    <a16:creationId xmlns:a16="http://schemas.microsoft.com/office/drawing/2014/main" id="{026C1114-863A-E339-4C3A-A105ED72C7A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924800" y="533400"/>
                <a:ext cx="838200" cy="762001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27" name="Freeform 11">
            <a:extLst>
              <a:ext uri="{FF2B5EF4-FFF2-40B4-BE49-F238E27FC236}">
                <a16:creationId xmlns:a16="http://schemas.microsoft.com/office/drawing/2014/main" id="{FF336C34-EA0D-B82F-14BA-FB8ED794C4E6}"/>
              </a:ext>
            </a:extLst>
          </p:cNvPr>
          <p:cNvSpPr>
            <a:spLocks/>
          </p:cNvSpPr>
          <p:nvPr/>
        </p:nvSpPr>
        <p:spPr bwMode="auto">
          <a:xfrm>
            <a:off x="6400800" y="533400"/>
            <a:ext cx="1524000" cy="304800"/>
          </a:xfrm>
          <a:custGeom>
            <a:avLst/>
            <a:gdLst>
              <a:gd name="T0" fmla="*/ 0 w 960"/>
              <a:gd name="T1" fmla="*/ 2147483647 h 192"/>
              <a:gd name="T2" fmla="*/ 2147483647 w 960"/>
              <a:gd name="T3" fmla="*/ 0 h 192"/>
              <a:gd name="T4" fmla="*/ 2147483647 w 960"/>
              <a:gd name="T5" fmla="*/ 2147483647 h 192"/>
              <a:gd name="T6" fmla="*/ 0 60000 65536"/>
              <a:gd name="T7" fmla="*/ 0 60000 65536"/>
              <a:gd name="T8" fmla="*/ 0 60000 65536"/>
              <a:gd name="T9" fmla="*/ 0 w 960"/>
              <a:gd name="T10" fmla="*/ 0 h 192"/>
              <a:gd name="T11" fmla="*/ 960 w 960"/>
              <a:gd name="T12" fmla="*/ 192 h 19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60" h="192">
                <a:moveTo>
                  <a:pt x="0" y="192"/>
                </a:moveTo>
                <a:cubicBezTo>
                  <a:pt x="112" y="96"/>
                  <a:pt x="224" y="0"/>
                  <a:pt x="384" y="0"/>
                </a:cubicBezTo>
                <a:cubicBezTo>
                  <a:pt x="544" y="0"/>
                  <a:pt x="864" y="152"/>
                  <a:pt x="960" y="192"/>
                </a:cubicBezTo>
              </a:path>
            </a:pathLst>
          </a:custGeom>
          <a:noFill/>
          <a:ln w="57150">
            <a:solidFill>
              <a:schemeClr val="tx2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9228" name="Text Box 12">
            <a:extLst>
              <a:ext uri="{FF2B5EF4-FFF2-40B4-BE49-F238E27FC236}">
                <a16:creationId xmlns:a16="http://schemas.microsoft.com/office/drawing/2014/main" id="{17B928FD-FB74-0404-3648-3E80F7AB88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9138" y="164068"/>
            <a:ext cx="32252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dirty="0">
                <a:latin typeface="Andale Mono" panose="020B0509000000000004" pitchFamily="49" charset="0"/>
              </a:rPr>
              <a:t>T</a:t>
            </a:r>
            <a:endParaRPr lang="en-US" baseline="-25000" dirty="0">
              <a:latin typeface="Andale Mono" panose="020B05090000000000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29" name="Text Box 13">
                <a:extLst>
                  <a:ext uri="{FF2B5EF4-FFF2-40B4-BE49-F238E27FC236}">
                    <a16:creationId xmlns:a16="http://schemas.microsoft.com/office/drawing/2014/main" id="{074AEF5C-F687-1998-10FD-8BA5C3ABDA3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83152" y="595453"/>
                <a:ext cx="397096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9229" name="Text Box 13">
                <a:extLst>
                  <a:ext uri="{FF2B5EF4-FFF2-40B4-BE49-F238E27FC236}">
                    <a16:creationId xmlns:a16="http://schemas.microsoft.com/office/drawing/2014/main" id="{074AEF5C-F687-1998-10FD-8BA5C3ABDA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83152" y="595453"/>
                <a:ext cx="39709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3">
                <a:extLst>
                  <a:ext uri="{FF2B5EF4-FFF2-40B4-BE49-F238E27FC236}">
                    <a16:creationId xmlns:a16="http://schemas.microsoft.com/office/drawing/2014/main" id="{AD695E92-4E19-5A55-721E-0BCE2D9FADB4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228600" y="1322040"/>
                <a:ext cx="8686800" cy="4697760"/>
              </a:xfrm>
              <a:prstGeom prst="rect">
                <a:avLst/>
              </a:prstGeom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65000"/>
                  <a:buFont typeface="Wingdings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69925" indent="-325438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60000"/>
                  <a:buFont typeface="Wingdings" charset="2"/>
                  <a:buChar char="q"/>
                  <a:defRPr sz="2400">
                    <a:solidFill>
                      <a:schemeClr val="tx1"/>
                    </a:solidFill>
                    <a:latin typeface="+mn-lt"/>
                  </a:defRPr>
                </a:lvl2pPr>
                <a:lvl3pPr marL="1022350" indent="-350838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65000"/>
                  <a:buFont typeface="Wingdings" charset="2"/>
                  <a:buChar char="n"/>
                  <a:defRPr sz="2000">
                    <a:solidFill>
                      <a:schemeClr val="tx1"/>
                    </a:solidFill>
                    <a:latin typeface="+mn-lt"/>
                  </a:defRPr>
                </a:lvl3pPr>
                <a:lvl4pPr marL="1339850" indent="-315913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charset="2"/>
                  <a:buChar char="q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1681163" indent="-33972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138363" indent="-339725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+mn-lt"/>
                  </a:defRPr>
                </a:lvl6pPr>
                <a:lvl7pPr marL="2595563" indent="-339725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+mn-lt"/>
                  </a:defRPr>
                </a:lvl7pPr>
                <a:lvl8pPr marL="3052763" indent="-339725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+mn-lt"/>
                  </a:defRPr>
                </a:lvl8pPr>
                <a:lvl9pPr marL="3509963" indent="-339725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eaLnBrk="1" hangingPunct="1"/>
                <a:r>
                  <a:rPr lang="en-US" sz="2000" kern="0" dirty="0"/>
                  <a:t>Let </a:t>
                </a:r>
                <a14:m>
                  <m:oMath xmlns:m="http://schemas.openxmlformats.org/officeDocument/2006/math"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sz="2000" kern="0" dirty="0"/>
                  <a:t> denote the set of all possible states.</a:t>
                </a:r>
              </a:p>
              <a:p>
                <a:pPr eaLnBrk="1" hangingPunct="1"/>
                <a:r>
                  <a:rPr lang="en-US" sz="2000" kern="0" dirty="0"/>
                  <a:t>Let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000" b="0" i="1" kern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kern="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d>
                  </m:oMath>
                </a14:m>
                <a:r>
                  <a:rPr lang="en-US" sz="2000" kern="0" dirty="0"/>
                  <a:t> denote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|"/>
                        <m:ctrlPr>
                          <a:rPr lang="en-US" sz="2000" b="0" i="1" kern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kern="0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000" b="0" i="1" kern="0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sz="2000" b="0" i="1" kern="0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</m:d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𝑃𝑠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 }</m:t>
                    </m:r>
                  </m:oMath>
                </a14:m>
                <a:r>
                  <a:rPr lang="en-US" sz="2000" kern="0" dirty="0"/>
                  <a:t>, that is the set of all states where </a:t>
                </a:r>
                <a14:m>
                  <m:oMath xmlns:m="http://schemas.openxmlformats.org/officeDocument/2006/math">
                    <m:r>
                      <a:rPr lang="en-US" sz="2000" i="1" kern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000" kern="0" dirty="0"/>
                  <a:t> holds.</a:t>
                </a:r>
              </a:p>
              <a:p>
                <a:pPr lvl="1" eaLnBrk="1" hangingPunct="1"/>
                <a:r>
                  <a:rPr lang="en-US" sz="2000" kern="0" dirty="0"/>
                  <a:t>This gives a bijection between subsets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000" i="1" ker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ker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d>
                  </m:oMath>
                </a14:m>
                <a:r>
                  <a:rPr lang="en-US" sz="2000" kern="0" dirty="0"/>
                  <a:t> and predicates </a:t>
                </a:r>
                <a14:m>
                  <m:oMath xmlns:m="http://schemas.openxmlformats.org/officeDocument/2006/math">
                    <m:r>
                      <a:rPr lang="en-US" sz="2000" i="1" ker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000" kern="0" dirty="0"/>
                  <a:t>, meaning that we are justified in switching back and forth between the mental representations.</a:t>
                </a:r>
              </a:p>
              <a:p>
                <a:pPr lvl="1" eaLnBrk="1" hangingPunct="1"/>
                <a:r>
                  <a:rPr lang="en-US" sz="2000" kern="0" dirty="0"/>
                  <a:t>We usually let </a:t>
                </a:r>
                <a14:m>
                  <m:oMath xmlns:m="http://schemas.openxmlformats.org/officeDocument/2006/math"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kern="0" dirty="0"/>
                  <a:t>denote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000" i="1" ker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ker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d>
                  </m:oMath>
                </a14:m>
                <a:r>
                  <a:rPr lang="en-US" sz="2000" kern="0" dirty="0"/>
                  <a:t>, unless it’s confusing.</a:t>
                </a:r>
              </a:p>
              <a:p>
                <a:pPr eaLnBrk="1" hangingPunct="1"/>
                <a:r>
                  <a:rPr lang="en-US" sz="2000" kern="0" dirty="0"/>
                  <a:t>If our program is deterministic, a program </a:t>
                </a:r>
                <a:r>
                  <a:rPr lang="en-US" sz="2000" kern="0" dirty="0">
                    <a:latin typeface="Andale Mono" panose="020B0509000000000004" pitchFamily="49" charset="0"/>
                  </a:rPr>
                  <a:t>T</a:t>
                </a:r>
                <a:r>
                  <a:rPr lang="en-US" sz="2000" kern="0" dirty="0"/>
                  <a:t> gives rise to a function</a:t>
                </a:r>
              </a:p>
              <a:p>
                <a:pPr marL="0" indent="0" eaLnBrk="1" hangingPunct="1">
                  <a:buNone/>
                </a:pPr>
                <a:r>
                  <a:rPr lang="en-US" sz="2000" kern="0" dirty="0">
                    <a:latin typeface="Andale Mono" panose="020B0509000000000004" pitchFamily="49" charset="0"/>
                  </a:rPr>
                  <a:t>	T </a:t>
                </a:r>
                <a:r>
                  <a:rPr lang="en-US" sz="2000" kern="0" dirty="0"/>
                  <a:t>: </a:t>
                </a:r>
                <a14:m>
                  <m:oMath xmlns:m="http://schemas.openxmlformats.org/officeDocument/2006/math">
                    <m:r>
                      <a:rPr lang="en-US" sz="2000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𝑊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000" b="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𝑊</m:t>
                    </m:r>
                  </m:oMath>
                </a14:m>
                <a:endParaRPr lang="en-US" sz="2000" kern="0" dirty="0"/>
              </a:p>
              <a:p>
                <a:pPr eaLnBrk="1" hangingPunct="1"/>
                <a:r>
                  <a:rPr lang="en-US" sz="2000" kern="0" dirty="0"/>
                  <a:t>When we draw a picture as above, we illustrate the fact that</a:t>
                </a:r>
              </a:p>
              <a:p>
                <a:pPr marL="344487" lvl="1" indent="0" eaLnBrk="1" hangingPunct="1">
                  <a:buNone/>
                </a:pPr>
                <a:r>
                  <a:rPr lang="en-US" sz="2000" dirty="0"/>
                  <a:t>	{*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000" dirty="0"/>
                  <a:t> *}   </a:t>
                </a:r>
                <a:r>
                  <a:rPr lang="en-US" sz="2000" dirty="0">
                    <a:latin typeface="Andale Mono" panose="020B0509000000000004" pitchFamily="49" charset="0"/>
                  </a:rPr>
                  <a:t>T</a:t>
                </a:r>
                <a:r>
                  <a:rPr lang="en-US" sz="2000" dirty="0"/>
                  <a:t>   {*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000" dirty="0"/>
                  <a:t> *}</a:t>
                </a:r>
              </a:p>
              <a:p>
                <a:pPr marL="344487" lvl="1" indent="0" eaLnBrk="1" hangingPunct="1">
                  <a:buNone/>
                </a:pPr>
                <a:r>
                  <a:rPr lang="en-US" sz="2000" kern="0" dirty="0"/>
                  <a:t>or, equivalently, that </a:t>
                </a:r>
              </a:p>
              <a:p>
                <a:pPr marL="344487" lvl="1" indent="0" eaLnBrk="1" hangingPunct="1">
                  <a:buNone/>
                </a:pPr>
                <a:r>
                  <a:rPr lang="en-US" sz="2000" kern="0" dirty="0"/>
                  <a:t>	</a:t>
                </a:r>
                <a:r>
                  <a:rPr lang="en-US" sz="2000" dirty="0">
                    <a:latin typeface="Andale Mono" panose="020B0509000000000004" pitchFamily="49" charset="0"/>
                  </a:rPr>
                  <a:t> T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endParaRPr lang="en-US" sz="2000" b="0" dirty="0">
                  <a:latin typeface="Andale Mono" panose="020B0509000000000004" pitchFamily="49" charset="0"/>
                </a:endParaRPr>
              </a:p>
              <a:p>
                <a:pPr marL="344487" lvl="1" indent="0" eaLnBrk="1" hangingPunct="1">
                  <a:buNone/>
                </a:pPr>
                <a:r>
                  <a:rPr lang="en-US" sz="2000" kern="0" dirty="0">
                    <a:sym typeface="Symbol" pitchFamily="16" charset="2"/>
                  </a:rPr>
                  <a:t>i.e., that </a:t>
                </a:r>
                <a:r>
                  <a:rPr lang="en-US" sz="2000" dirty="0">
                    <a:latin typeface="Andale Mono" panose="020B0509000000000004" pitchFamily="49" charset="0"/>
                  </a:rPr>
                  <a:t>T</a:t>
                </a:r>
                <a:r>
                  <a:rPr lang="en-US" sz="2000" dirty="0"/>
                  <a:t> takes the states satisfying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000" kern="0" dirty="0">
                    <a:sym typeface="Symbol" pitchFamily="16" charset="2"/>
                  </a:rPr>
                  <a:t> into the states </a:t>
                </a:r>
                <a:r>
                  <a:rPr lang="en-US" sz="2000" kern="0" dirty="0" err="1">
                    <a:sym typeface="Symbol" pitchFamily="16" charset="2"/>
                  </a:rPr>
                  <a:t>satifying</a:t>
                </a:r>
                <a:r>
                  <a:rPr lang="en-US" sz="2000" kern="0" dirty="0">
                    <a:sym typeface="Symbol" pitchFamily="16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kern="0" smtClean="0">
                        <a:latin typeface="Cambria Math" panose="02040503050406030204" pitchFamily="18" charset="0"/>
                        <a:sym typeface="Symbol" pitchFamily="16" charset="2"/>
                      </a:rPr>
                      <m:t>𝑄</m:t>
                    </m:r>
                  </m:oMath>
                </a14:m>
                <a:r>
                  <a:rPr lang="en-US" sz="2000" kern="0" dirty="0">
                    <a:sym typeface="Symbol" pitchFamily="16" charset="2"/>
                  </a:rPr>
                  <a:t>.</a:t>
                </a:r>
              </a:p>
              <a:p>
                <a:pPr marL="344487" lvl="1" indent="0" eaLnBrk="1" hangingPunct="1">
                  <a:buNone/>
                </a:pPr>
                <a:endParaRPr lang="en-US" sz="2000" kern="0" dirty="0">
                  <a:sym typeface="Symbol" pitchFamily="16" charset="2"/>
                </a:endParaRPr>
              </a:p>
            </p:txBody>
          </p:sp>
        </mc:Choice>
        <mc:Fallback>
          <p:sp>
            <p:nvSpPr>
              <p:cNvPr id="8" name="Rectangle 3">
                <a:extLst>
                  <a:ext uri="{FF2B5EF4-FFF2-40B4-BE49-F238E27FC236}">
                    <a16:creationId xmlns:a16="http://schemas.microsoft.com/office/drawing/2014/main" id="{AD695E92-4E19-5A55-721E-0BCE2D9FAD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1322040"/>
                <a:ext cx="8686800" cy="4697760"/>
              </a:xfrm>
              <a:prstGeom prst="rect">
                <a:avLst/>
              </a:prstGeom>
              <a:blipFill>
                <a:blip r:embed="rId5"/>
                <a:stretch>
                  <a:fillRect l="-146" t="-809" r="-1168" b="-16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07427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E0661D2-11BD-AC4F-B3E5-8C3BF6C343E0}"/>
              </a:ext>
            </a:extLst>
          </p:cNvPr>
          <p:cNvSpPr/>
          <p:nvPr/>
        </p:nvSpPr>
        <p:spPr>
          <a:xfrm>
            <a:off x="2514600" y="1257300"/>
            <a:ext cx="3810000" cy="1676400"/>
          </a:xfrm>
          <a:prstGeom prst="roundRect">
            <a:avLst>
              <a:gd name="adj" fmla="val 36417"/>
            </a:avLst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4FF004E-3109-4CCB-801B-359909874D13}" type="slidenum">
              <a:rPr lang="en-US" altLang="en-US"/>
              <a:pPr>
                <a:defRPr/>
              </a:pPr>
              <a:t>14</a:t>
            </a:fld>
            <a:endParaRPr lang="en-US" altLang="en-US"/>
          </a:p>
        </p:txBody>
      </p:sp>
      <p:sp>
        <p:nvSpPr>
          <p:cNvPr id="11" name="Slide Number Placeholder 3"/>
          <p:cNvSpPr txBox="1">
            <a:spLocks noGrp="1"/>
          </p:cNvSpPr>
          <p:nvPr/>
        </p:nvSpPr>
        <p:spPr bwMode="auto">
          <a:xfrm>
            <a:off x="7010400" y="64008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06DFF422-E4C6-459D-9C84-3675C65FFBAB}" type="slidenum">
              <a:rPr lang="en-US" altLang="en-US" sz="1200">
                <a:latin typeface="+mj-lt"/>
              </a:rPr>
              <a:pPr algn="r">
                <a:defRPr/>
              </a:pPr>
              <a:t>14</a:t>
            </a:fld>
            <a:endParaRPr lang="en-US" altLang="en-US" sz="1200">
              <a:latin typeface="+mj-lt"/>
            </a:endParaRPr>
          </a:p>
        </p:txBody>
      </p:sp>
      <p:sp>
        <p:nvSpPr>
          <p:cNvPr id="1024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Inference rule </a:t>
            </a:r>
            <a:r>
              <a:rPr lang="en-US"/>
              <a:t>for assignment</a:t>
            </a:r>
            <a:endParaRPr lang="en-US" dirty="0"/>
          </a:p>
        </p:txBody>
      </p:sp>
      <p:sp>
        <p:nvSpPr>
          <p:cNvPr id="1024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3581400"/>
            <a:ext cx="8686800" cy="2819400"/>
          </a:xfrm>
        </p:spPr>
        <p:txBody>
          <a:bodyPr/>
          <a:lstStyle/>
          <a:p>
            <a:pPr eaLnBrk="1" hangingPunct="1"/>
            <a:r>
              <a:rPr lang="en-US" b="1" dirty="0">
                <a:solidFill>
                  <a:srgbClr val="0000FF"/>
                </a:solidFill>
              </a:rPr>
              <a:t>Idea:</a:t>
            </a:r>
            <a:r>
              <a:rPr lang="en-US" b="1" dirty="0"/>
              <a:t> let’s </a:t>
            </a:r>
            <a:r>
              <a:rPr lang="en-US" dirty="0"/>
              <a:t>first construct a </a:t>
            </a:r>
            <a:r>
              <a:rPr lang="en-US"/>
              <a:t>pre-condition</a:t>
            </a:r>
            <a:r>
              <a:rPr lang="en-US" i="1"/>
              <a:t> W</a:t>
            </a:r>
            <a:r>
              <a:rPr lang="en-US"/>
              <a:t> </a:t>
            </a:r>
            <a:r>
              <a:rPr lang="en-US" dirty="0"/>
              <a:t>that holds before </a:t>
            </a:r>
            <a:r>
              <a:rPr lang="en-US"/>
              <a:t>the assignment </a:t>
            </a:r>
            <a:r>
              <a:rPr lang="en-US" b="1" dirty="0"/>
              <a:t>if and only if </a:t>
            </a:r>
            <a:r>
              <a:rPr lang="en-US" dirty="0"/>
              <a:t>Q holds after the </a:t>
            </a:r>
            <a:r>
              <a:rPr lang="en-US"/>
              <a:t>assignment.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>
                <a:sym typeface="Symbol" pitchFamily="16" charset="2"/>
              </a:rPr>
              <a:t>Then we can equivalently prove  </a:t>
            </a:r>
            <a:r>
              <a:rPr lang="en-US" i="1" dirty="0">
                <a:sym typeface="Symbol" pitchFamily="16" charset="2"/>
              </a:rPr>
              <a:t>P </a:t>
            </a:r>
            <a:r>
              <a:rPr lang="en-US" dirty="0">
                <a:sym typeface="Symbol" pitchFamily="16" charset="2"/>
              </a:rPr>
              <a:t>  </a:t>
            </a:r>
            <a:r>
              <a:rPr lang="en-US" i="1" dirty="0">
                <a:sym typeface="Symbol" pitchFamily="16" charset="2"/>
              </a:rPr>
              <a:t>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2743200" y="1409700"/>
                <a:ext cx="3467100" cy="120015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 algn="ctr">
                  <a:defRPr/>
                </a:pPr>
                <a:r>
                  <a:rPr lang="en-US" sz="2400" dirty="0">
                    <a:solidFill>
                      <a:srgbClr val="C00000"/>
                    </a:solidFill>
                  </a:rPr>
                  <a:t>??</a:t>
                </a:r>
                <a:r>
                  <a:rPr lang="en-US" sz="2400" dirty="0"/>
                  <a:t>  </a:t>
                </a:r>
                <a:r>
                  <a:rPr lang="en-US" sz="2400" dirty="0">
                    <a:sym typeface="Symbol" pitchFamily="18" charset="2"/>
                  </a:rPr>
                  <a:t>    </a:t>
                </a:r>
                <a:br>
                  <a:rPr lang="en-US" sz="2400" dirty="0">
                    <a:sym typeface="Symbol" pitchFamily="18" charset="2"/>
                  </a:rPr>
                </a:br>
                <a:r>
                  <a:rPr lang="en-US" sz="2400" dirty="0">
                    <a:sym typeface="Symbol" pitchFamily="18" charset="2"/>
                  </a:rPr>
                  <a:t>--------------------------------</a:t>
                </a:r>
              </a:p>
              <a:p>
                <a:pPr algn="ctr">
                  <a:defRPr/>
                </a:pPr>
                <a:r>
                  <a:rPr lang="en-US" sz="2400" dirty="0">
                    <a:sym typeface="Symbol" pitchFamily="18" charset="2"/>
                  </a:rPr>
                  <a:t>{*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sym typeface="Symbol" pitchFamily="18" charset="2"/>
                      </a:rPr>
                      <m:t>𝑃</m:t>
                    </m:r>
                  </m:oMath>
                </a14:m>
                <a:r>
                  <a:rPr lang="en-US" sz="2400" dirty="0"/>
                  <a:t> *}   </a:t>
                </a:r>
                <a:r>
                  <a:rPr lang="en-US" sz="2400" dirty="0">
                    <a:solidFill>
                      <a:srgbClr val="0000CC"/>
                    </a:solidFill>
                    <a:latin typeface="Andale Mono" panose="020B0509000000000004" pitchFamily="49" charset="0"/>
                  </a:rPr>
                  <a:t>x:=</a:t>
                </a:r>
                <a:r>
                  <a:rPr lang="en-US" sz="2400" i="1" dirty="0">
                    <a:solidFill>
                      <a:srgbClr val="0000CC"/>
                    </a:solidFill>
                    <a:latin typeface="Andale Mono" panose="020B0509000000000004" pitchFamily="49" charset="0"/>
                  </a:rPr>
                  <a:t>e</a:t>
                </a:r>
                <a:r>
                  <a:rPr lang="en-US" sz="2400" dirty="0">
                    <a:solidFill>
                      <a:srgbClr val="0000CC"/>
                    </a:solidFill>
                    <a:latin typeface="Andale Mono" panose="020B0509000000000004" pitchFamily="49" charset="0"/>
                  </a:rPr>
                  <a:t>  </a:t>
                </a:r>
                <a:r>
                  <a:rPr lang="en-US" sz="2400" dirty="0"/>
                  <a:t>{*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400" dirty="0"/>
                  <a:t> *}</a:t>
                </a:r>
                <a:endParaRPr lang="nl-NL" sz="2400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3200" y="1409700"/>
                <a:ext cx="3467100" cy="1200150"/>
              </a:xfrm>
              <a:prstGeom prst="rect">
                <a:avLst/>
              </a:prstGeom>
              <a:blipFill>
                <a:blip r:embed="rId3"/>
                <a:stretch>
                  <a:fillRect l="-2555" t="-3125" r="-2190" b="-1145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DB43B02-C31C-80BA-EEE5-8A7A620F21E5}"/>
              </a:ext>
            </a:extLst>
          </p:cNvPr>
          <p:cNvSpPr txBox="1"/>
          <p:nvPr/>
        </p:nvSpPr>
        <p:spPr>
          <a:xfrm>
            <a:off x="653580" y="4403883"/>
            <a:ext cx="2013419" cy="46166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endParaRPr 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9F142F-63DF-4F8D-623B-16524801BBFB}"/>
              </a:ext>
            </a:extLst>
          </p:cNvPr>
          <p:cNvSpPr txBox="1"/>
          <p:nvPr/>
        </p:nvSpPr>
        <p:spPr>
          <a:xfrm>
            <a:off x="635682" y="3198167"/>
            <a:ext cx="1878918" cy="46166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endParaRPr lang="en-US" sz="2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19D224-CA24-694B-A574-9DFBCD8C85B2}"/>
              </a:ext>
            </a:extLst>
          </p:cNvPr>
          <p:cNvSpPr txBox="1"/>
          <p:nvPr/>
        </p:nvSpPr>
        <p:spPr>
          <a:xfrm>
            <a:off x="609600" y="1981200"/>
            <a:ext cx="1485133" cy="46166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endParaRPr lang="en-US" sz="2400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9113B06-2A05-4715-9A37-DCD7C047274B}" type="slidenum">
              <a:rPr lang="en-US" altLang="en-US"/>
              <a:pPr>
                <a:defRPr/>
              </a:pPr>
              <a:t>15</a:t>
            </a:fld>
            <a:endParaRPr lang="en-US" altLang="en-US"/>
          </a:p>
        </p:txBody>
      </p:sp>
      <p:sp>
        <p:nvSpPr>
          <p:cNvPr id="4" name="Slide Number Placeholder 3"/>
          <p:cNvSpPr txBox="1">
            <a:spLocks noGrp="1"/>
          </p:cNvSpPr>
          <p:nvPr/>
        </p:nvSpPr>
        <p:spPr bwMode="auto">
          <a:xfrm>
            <a:off x="7010400" y="64008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0E45AF8A-0488-46C8-935B-F11F9604BC4A}" type="slidenum">
              <a:rPr lang="en-US" altLang="en-US" sz="1200">
                <a:latin typeface="+mj-lt"/>
              </a:rPr>
              <a:pPr algn="r">
                <a:defRPr/>
              </a:pPr>
              <a:t>15</a:t>
            </a:fld>
            <a:endParaRPr lang="en-US" altLang="en-US" sz="1200">
              <a:latin typeface="+mj-lt"/>
            </a:endParaRPr>
          </a:p>
        </p:txBody>
      </p:sp>
      <p:sp>
        <p:nvSpPr>
          <p:cNvPr id="1126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Examples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269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228600" y="1524000"/>
                <a:ext cx="8686800" cy="4876800"/>
              </a:xfrm>
            </p:spPr>
            <p:txBody>
              <a:bodyPr/>
              <a:lstStyle/>
              <a:p>
                <a:pPr eaLnBrk="1" hangingPunct="1"/>
                <a:r>
                  <a:rPr lang="en-US" dirty="0">
                    <a:solidFill>
                      <a:srgbClr val="7030A0"/>
                    </a:solidFill>
                  </a:rPr>
                  <a:t>{*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?</m:t>
                    </m:r>
                  </m:oMath>
                </a14:m>
                <a:r>
                  <a:rPr lang="en-US" dirty="0">
                    <a:solidFill>
                      <a:srgbClr val="7030A0"/>
                    </a:solidFill>
                  </a:rPr>
                  <a:t> *} </a:t>
                </a:r>
                <a:r>
                  <a:rPr lang="en-US" dirty="0"/>
                  <a:t> </a:t>
                </a:r>
                <a:r>
                  <a:rPr lang="en-US" b="1" dirty="0">
                    <a:solidFill>
                      <a:srgbClr val="0070C0"/>
                    </a:solidFill>
                    <a:latin typeface="Andale Mono" panose="020B0509000000000004" pitchFamily="49" charset="0"/>
                  </a:rPr>
                  <a:t>x:=10 </a:t>
                </a:r>
                <a:r>
                  <a:rPr lang="en-US" dirty="0"/>
                  <a:t>{* 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US" dirty="0"/>
                  <a:t>*}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 10=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br>
                  <a:rPr lang="en-US" dirty="0"/>
                </a:br>
                <a:endParaRPr lang="en-US" dirty="0"/>
              </a:p>
              <a:p>
                <a:pPr lvl="1" eaLnBrk="1" hangingPunct="1"/>
                <a:endParaRPr lang="en-US" dirty="0"/>
              </a:p>
              <a:p>
                <a:pPr eaLnBrk="1" hangingPunct="1"/>
                <a:r>
                  <a:rPr lang="en-US" dirty="0">
                    <a:solidFill>
                      <a:srgbClr val="7030A0"/>
                    </a:solidFill>
                  </a:rPr>
                  <a:t>{*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?</m:t>
                    </m:r>
                  </m:oMath>
                </a14:m>
                <a:r>
                  <a:rPr lang="en-US" dirty="0">
                    <a:solidFill>
                      <a:srgbClr val="7030A0"/>
                    </a:solidFill>
                  </a:rPr>
                  <a:t> *}</a:t>
                </a:r>
                <a:r>
                  <a:rPr lang="en-US" dirty="0"/>
                  <a:t>	</a:t>
                </a:r>
                <a:r>
                  <a:rPr lang="en-US" b="1" dirty="0">
                    <a:solidFill>
                      <a:srgbClr val="0070C0"/>
                    </a:solidFill>
                    <a:latin typeface="Andale Mono" panose="020B0509000000000004" pitchFamily="49" charset="0"/>
                  </a:rPr>
                  <a:t>x:=</a:t>
                </a:r>
                <a:r>
                  <a:rPr lang="en-US" b="1" dirty="0" err="1">
                    <a:solidFill>
                      <a:srgbClr val="0070C0"/>
                    </a:solidFill>
                    <a:latin typeface="Andale Mono" panose="020B0509000000000004" pitchFamily="49" charset="0"/>
                  </a:rPr>
                  <a:t>x+a</a:t>
                </a:r>
                <a:r>
                  <a:rPr lang="en-US" b="1" dirty="0">
                    <a:solidFill>
                      <a:srgbClr val="0070C0"/>
                    </a:solidFill>
                    <a:latin typeface="Andale Mono" panose="020B0509000000000004" pitchFamily="49" charset="0"/>
                  </a:rPr>
                  <a:t> </a:t>
                </a:r>
                <a:r>
                  <a:rPr lang="en-US" dirty="0"/>
                  <a:t>{* 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*}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dirty="0"/>
              </a:p>
              <a:p>
                <a:pPr eaLnBrk="1" hangingPunct="1"/>
                <a:endParaRPr lang="en-US" dirty="0"/>
              </a:p>
              <a:p>
                <a:pPr eaLnBrk="1" hangingPunct="1"/>
                <a:r>
                  <a:rPr lang="en-US" dirty="0">
                    <a:solidFill>
                      <a:srgbClr val="7030A0"/>
                    </a:solidFill>
                  </a:rPr>
                  <a:t>{*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?</m:t>
                    </m:r>
                  </m:oMath>
                </a14:m>
                <a:r>
                  <a:rPr lang="en-US" dirty="0">
                    <a:solidFill>
                      <a:srgbClr val="7030A0"/>
                    </a:solidFill>
                  </a:rPr>
                  <a:t> *}</a:t>
                </a:r>
                <a:r>
                  <a:rPr lang="en-US" dirty="0"/>
                  <a:t>	</a:t>
                </a:r>
                <a:r>
                  <a:rPr lang="en-US" b="1" dirty="0">
                    <a:solidFill>
                      <a:srgbClr val="0070C0"/>
                    </a:solidFill>
                    <a:latin typeface="Andale Mono" panose="020B0509000000000004" pitchFamily="49" charset="0"/>
                  </a:rPr>
                  <a:t>x:=x+1 </a:t>
                </a:r>
                <a:r>
                  <a:rPr lang="en-US" dirty="0"/>
                  <a:t>{* 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&gt;10</m:t>
                    </m:r>
                  </m:oMath>
                </a14:m>
                <a:r>
                  <a:rPr lang="en-US" dirty="0"/>
                  <a:t> *}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: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+1&gt;10</m:t>
                    </m:r>
                  </m:oMath>
                </a14:m>
                <a:br>
                  <a:rPr lang="en-US" dirty="0"/>
                </a:br>
                <a:endParaRPr lang="en-US" dirty="0"/>
              </a:p>
              <a:p>
                <a:pPr lvl="1" eaLnBrk="1" hangingPunct="1"/>
                <a:endParaRPr lang="en-US" dirty="0"/>
              </a:p>
              <a:p>
                <a:pPr eaLnBrk="1" hangingPunct="1"/>
                <a:r>
                  <a:rPr lang="en-US" dirty="0"/>
                  <a:t>Generally: for  {*P*} x := e {*Q*}, set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 :=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pPr lvl="1" eaLnBrk="1" hangingPunct="1"/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is the statement obtained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by replacing all free occurrences of x by e </a:t>
                </a:r>
              </a:p>
            </p:txBody>
          </p:sp>
        </mc:Choice>
        <mc:Fallback>
          <p:sp>
            <p:nvSpPr>
              <p:cNvPr id="11269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28600" y="1524000"/>
                <a:ext cx="8686800" cy="4876800"/>
              </a:xfrm>
              <a:blipFill>
                <a:blip r:embed="rId3"/>
                <a:stretch>
                  <a:fillRect l="-292" t="-1039" b="-49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6" grpId="0" animBg="1"/>
      <p:bldP spid="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201A9C7-2836-4EF7-AD60-FD3222689919}" type="slidenum">
              <a:rPr lang="en-US" altLang="en-US"/>
              <a:pPr>
                <a:defRPr/>
              </a:pPr>
              <a:t>16</a:t>
            </a:fld>
            <a:endParaRPr lang="en-US" altLang="en-US"/>
          </a:p>
        </p:txBody>
      </p:sp>
      <p:sp>
        <p:nvSpPr>
          <p:cNvPr id="5" name="Slide Number Placeholder 3"/>
          <p:cNvSpPr txBox="1">
            <a:spLocks noGrp="1"/>
          </p:cNvSpPr>
          <p:nvPr/>
        </p:nvSpPr>
        <p:spPr bwMode="auto">
          <a:xfrm>
            <a:off x="7010400" y="64008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18B7B16C-95F9-425B-9572-020BEACFB622}" type="slidenum">
              <a:rPr lang="en-US" altLang="en-US" sz="1200">
                <a:latin typeface="+mj-lt"/>
              </a:rPr>
              <a:pPr algn="r">
                <a:defRPr/>
              </a:pPr>
              <a:t>16</a:t>
            </a:fld>
            <a:endParaRPr lang="en-US" altLang="en-US" sz="1200">
              <a:latin typeface="+mj-lt"/>
            </a:endParaRPr>
          </a:p>
        </p:txBody>
      </p:sp>
      <p:sp>
        <p:nvSpPr>
          <p:cNvPr id="1229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Assignment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293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eaLnBrk="1" hangingPunct="1"/>
                <a:r>
                  <a:rPr lang="en-US"/>
                  <a:t>Theorem: </a:t>
                </a:r>
              </a:p>
              <a:p>
                <a:pPr marL="344487" lvl="1" indent="0" eaLnBrk="1" hangingPunct="1">
                  <a:buNone/>
                </a:pPr>
                <a:r>
                  <a:rPr lang="en-US" i="1"/>
                  <a:t>	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i="1"/>
                  <a:t> </a:t>
                </a:r>
                <a:r>
                  <a:rPr lang="en-US" i="1" dirty="0"/>
                  <a:t>holds after </a:t>
                </a:r>
                <a:r>
                  <a:rPr lang="en-US" b="1" dirty="0">
                    <a:latin typeface="Andale Mono" panose="020B0509000000000004" pitchFamily="49" charset="0"/>
                  </a:rPr>
                  <a:t>x</a:t>
                </a:r>
                <a:r>
                  <a:rPr lang="en-US" b="1">
                    <a:latin typeface="Andale Mono" panose="020B0509000000000004" pitchFamily="49" charset="0"/>
                  </a:rPr>
                  <a:t>:=e </a:t>
                </a:r>
              </a:p>
              <a:p>
                <a:pPr marL="344487" lvl="1" indent="0" eaLnBrk="1" hangingPunct="1">
                  <a:buNone/>
                </a:pPr>
                <a:r>
                  <a:rPr lang="en-US" b="1" i="1">
                    <a:latin typeface="Andale Mono" panose="020B0509000000000004" pitchFamily="49" charset="0"/>
                  </a:rPr>
                  <a:t>		</a:t>
                </a:r>
                <a:r>
                  <a:rPr lang="en-US" i="1"/>
                  <a:t>if and only if</a:t>
                </a:r>
              </a:p>
              <a:p>
                <a:pPr marL="344487" lvl="1" indent="0" eaLnBrk="1" hangingPunct="1">
                  <a:buNone/>
                </a:pPr>
                <a:r>
                  <a:rPr lang="en-US" i="1"/>
                  <a:t>	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i="1" dirty="0"/>
                  <a:t> held </a:t>
                </a:r>
                <a:r>
                  <a:rPr lang="en-US" i="1"/>
                  <a:t>before </a:t>
                </a:r>
                <a:r>
                  <a:rPr lang="en-US" b="1">
                    <a:latin typeface="Andale Mono" panose="020B0509000000000004" pitchFamily="49" charset="0"/>
                  </a:rPr>
                  <a:t>x:=e</a:t>
                </a:r>
                <a:r>
                  <a:rPr lang="en-US" i="1"/>
                  <a:t>.</a:t>
                </a:r>
              </a:p>
            </p:txBody>
          </p:sp>
        </mc:Choice>
        <mc:Fallback xmlns="">
          <p:sp>
            <p:nvSpPr>
              <p:cNvPr id="1229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3"/>
                <a:stretch>
                  <a:fillRect l="-292" t="-9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294" name="Rectangle 4"/>
          <p:cNvSpPr>
            <a:spLocks noChangeArrowheads="1"/>
          </p:cNvSpPr>
          <p:nvPr/>
        </p:nvSpPr>
        <p:spPr bwMode="auto">
          <a:xfrm>
            <a:off x="1066800" y="3733800"/>
            <a:ext cx="63246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DF58D94-60AC-7C34-7814-726C0BF3827A}"/>
              </a:ext>
            </a:extLst>
          </p:cNvPr>
          <p:cNvSpPr/>
          <p:nvPr/>
        </p:nvSpPr>
        <p:spPr>
          <a:xfrm>
            <a:off x="762000" y="3776759"/>
            <a:ext cx="7086600" cy="1676400"/>
          </a:xfrm>
          <a:prstGeom prst="roundRect">
            <a:avLst>
              <a:gd name="adj" fmla="val 36417"/>
            </a:avLst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Box 24">
                <a:extLst>
                  <a:ext uri="{FF2B5EF4-FFF2-40B4-BE49-F238E27FC236}">
                    <a16:creationId xmlns:a16="http://schemas.microsoft.com/office/drawing/2014/main" id="{625AA5D7-D37C-7AAA-370F-353878AE180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20391" y="4351860"/>
                <a:ext cx="7023076" cy="8309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2400" dirty="0"/>
                  <a:t>-----------------------------------------------------------------  </a:t>
                </a:r>
              </a:p>
              <a:p>
                <a:r>
                  <a:rPr lang="en-US" sz="2400" dirty="0"/>
                  <a:t>                    {*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/>
                  <a:t> *} </a:t>
                </a:r>
                <a:r>
                  <a:rPr lang="en-US" sz="2400" b="1" dirty="0">
                    <a:latin typeface="Andale Mono" panose="020B0509000000000004" pitchFamily="49" charset="0"/>
                  </a:rPr>
                  <a:t>x:=e </a:t>
                </a:r>
                <a:r>
                  <a:rPr lang="en-US" sz="2400" dirty="0"/>
                  <a:t>{*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400" dirty="0"/>
                  <a:t> *} </a:t>
                </a:r>
              </a:p>
            </p:txBody>
          </p:sp>
        </mc:Choice>
        <mc:Fallback xmlns="">
          <p:sp>
            <p:nvSpPr>
              <p:cNvPr id="10" name="Text Box 24">
                <a:extLst>
                  <a:ext uri="{FF2B5EF4-FFF2-40B4-BE49-F238E27FC236}">
                    <a16:creationId xmlns:a16="http://schemas.microsoft.com/office/drawing/2014/main" id="{625AA5D7-D37C-7AAA-370F-353878AE18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20391" y="4351860"/>
                <a:ext cx="7023076" cy="830997"/>
              </a:xfrm>
              <a:prstGeom prst="rect">
                <a:avLst/>
              </a:prstGeom>
              <a:blipFill>
                <a:blip r:embed="rId4"/>
                <a:stretch>
                  <a:fillRect l="-1444" t="-5970" b="-16418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8DF3C862-19B3-D50F-78C1-F2DB9FDFFEB7}"/>
              </a:ext>
            </a:extLst>
          </p:cNvPr>
          <p:cNvSpPr txBox="1"/>
          <p:nvPr/>
        </p:nvSpPr>
        <p:spPr>
          <a:xfrm>
            <a:off x="8039867" y="4430293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Andale Mono" panose="020B0509000000000004" pitchFamily="49" charset="0"/>
              </a:rPr>
              <a:t>ASG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AE039-FF9E-E60B-DCA3-74930DC5D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583FD-1398-87E2-E5B1-C29E49F80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More basic rules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D77A19-38AD-ECFC-856D-53602D8829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Pre-condition strengthening: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Post-condition weakening: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CED55F-50FD-DF06-8CBD-87DE7D5946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4174CF1-175A-4C02-9570-0FB5231111A8}" type="slidenum">
              <a:rPr lang="en-US" altLang="en-US" smtClean="0"/>
              <a:pPr>
                <a:defRPr/>
              </a:pPr>
              <a:t>17</a:t>
            </a:fld>
            <a:endParaRPr lang="en-US" alt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43F98B5-BFC8-3D0A-1FDC-8ED944E04E71}"/>
              </a:ext>
            </a:extLst>
          </p:cNvPr>
          <p:cNvSpPr/>
          <p:nvPr/>
        </p:nvSpPr>
        <p:spPr>
          <a:xfrm>
            <a:off x="1447800" y="1828800"/>
            <a:ext cx="5791200" cy="1676400"/>
          </a:xfrm>
          <a:prstGeom prst="roundRect">
            <a:avLst>
              <a:gd name="adj" fmla="val 33495"/>
            </a:avLst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Box 24">
            <a:extLst>
              <a:ext uri="{FF2B5EF4-FFF2-40B4-BE49-F238E27FC236}">
                <a16:creationId xmlns:a16="http://schemas.microsoft.com/office/drawing/2014/main" id="{F9800F3D-AABF-7C2E-1243-A68BD8A9E1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2066836"/>
            <a:ext cx="5381601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dirty="0"/>
              <a:t>    ⊢ </a:t>
            </a:r>
            <a:r>
              <a:rPr lang="en-US" sz="2400" i="1" dirty="0"/>
              <a:t>P </a:t>
            </a:r>
            <a:r>
              <a:rPr lang="en-US" sz="2400" dirty="0"/>
              <a:t>⇒</a:t>
            </a:r>
            <a:r>
              <a:rPr lang="en-US" sz="2400" i="1" dirty="0"/>
              <a:t> Q </a:t>
            </a:r>
            <a:r>
              <a:rPr lang="en-US" sz="2400" dirty="0"/>
              <a:t>  ,   {* </a:t>
            </a:r>
            <a:r>
              <a:rPr lang="en-US" sz="2400" i="1" dirty="0"/>
              <a:t>Q</a:t>
            </a:r>
            <a:r>
              <a:rPr lang="en-US" sz="2400" dirty="0"/>
              <a:t> *}   </a:t>
            </a:r>
            <a:r>
              <a:rPr lang="en-US" sz="2400" i="1" dirty="0"/>
              <a:t>S</a:t>
            </a:r>
            <a:r>
              <a:rPr lang="en-US" sz="2400" dirty="0"/>
              <a:t>   {* </a:t>
            </a:r>
            <a:r>
              <a:rPr lang="en-US" sz="2400" i="1" dirty="0"/>
              <a:t>R</a:t>
            </a:r>
            <a:r>
              <a:rPr lang="en-US" sz="2400" dirty="0"/>
              <a:t> *}</a:t>
            </a:r>
          </a:p>
          <a:p>
            <a:r>
              <a:rPr lang="en-US" sz="2400" dirty="0"/>
              <a:t>-------------------------------------------------  </a:t>
            </a:r>
          </a:p>
          <a:p>
            <a:r>
              <a:rPr lang="en-US" sz="2400" dirty="0"/>
              <a:t>                {* </a:t>
            </a:r>
            <a:r>
              <a:rPr lang="en-US" sz="2400" i="1" dirty="0"/>
              <a:t>P</a:t>
            </a:r>
            <a:r>
              <a:rPr lang="en-US" sz="2400" dirty="0"/>
              <a:t> *}   </a:t>
            </a:r>
            <a:r>
              <a:rPr lang="en-US" sz="2400" i="1" dirty="0"/>
              <a:t>S</a:t>
            </a:r>
            <a:r>
              <a:rPr lang="en-US" sz="2400" dirty="0"/>
              <a:t>   {* </a:t>
            </a:r>
            <a:r>
              <a:rPr lang="en-US" sz="2400" i="1" dirty="0"/>
              <a:t>R</a:t>
            </a:r>
            <a:r>
              <a:rPr lang="en-US" sz="2400" dirty="0"/>
              <a:t> *} 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DD12FC3-F083-3EDC-EC37-6660AB4E135A}"/>
              </a:ext>
            </a:extLst>
          </p:cNvPr>
          <p:cNvSpPr/>
          <p:nvPr/>
        </p:nvSpPr>
        <p:spPr>
          <a:xfrm>
            <a:off x="1469571" y="4486365"/>
            <a:ext cx="5791200" cy="1676400"/>
          </a:xfrm>
          <a:prstGeom prst="roundRect">
            <a:avLst>
              <a:gd name="adj" fmla="val 33495"/>
            </a:avLst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Box 24">
            <a:extLst>
              <a:ext uri="{FF2B5EF4-FFF2-40B4-BE49-F238E27FC236}">
                <a16:creationId xmlns:a16="http://schemas.microsoft.com/office/drawing/2014/main" id="{0442E900-71E3-F736-1B35-781AAABF1C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4371" y="4724401"/>
            <a:ext cx="5381601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dirty="0"/>
              <a:t>    {* </a:t>
            </a:r>
            <a:r>
              <a:rPr lang="en-US" sz="2400" i="1" dirty="0"/>
              <a:t>P</a:t>
            </a:r>
            <a:r>
              <a:rPr lang="en-US" sz="2400" dirty="0"/>
              <a:t> *}   </a:t>
            </a:r>
            <a:r>
              <a:rPr lang="en-US" sz="2400" i="1" dirty="0"/>
              <a:t>S</a:t>
            </a:r>
            <a:r>
              <a:rPr lang="en-US" sz="2400" dirty="0"/>
              <a:t>   {* </a:t>
            </a:r>
            <a:r>
              <a:rPr lang="en-US" sz="2400" i="1" dirty="0"/>
              <a:t>Q</a:t>
            </a:r>
            <a:r>
              <a:rPr lang="en-US" sz="2400" dirty="0"/>
              <a:t> *}  ,   ⊢ </a:t>
            </a:r>
            <a:r>
              <a:rPr lang="en-US" sz="2400" i="1" dirty="0"/>
              <a:t>Q </a:t>
            </a:r>
            <a:r>
              <a:rPr lang="en-US" sz="2400" dirty="0"/>
              <a:t>⇒</a:t>
            </a:r>
            <a:r>
              <a:rPr lang="en-US" sz="2400" i="1" dirty="0"/>
              <a:t> R </a:t>
            </a:r>
            <a:r>
              <a:rPr lang="en-US" sz="2400" dirty="0"/>
              <a:t> </a:t>
            </a:r>
          </a:p>
          <a:p>
            <a:r>
              <a:rPr lang="en-US" sz="2400" dirty="0"/>
              <a:t>-------------------------------------------------  </a:t>
            </a:r>
          </a:p>
          <a:p>
            <a:r>
              <a:rPr lang="en-US" sz="2400" dirty="0"/>
              <a:t>                {* </a:t>
            </a:r>
            <a:r>
              <a:rPr lang="en-US" sz="2400" i="1" dirty="0"/>
              <a:t>P</a:t>
            </a:r>
            <a:r>
              <a:rPr lang="en-US" sz="2400" dirty="0"/>
              <a:t> *}   </a:t>
            </a:r>
            <a:r>
              <a:rPr lang="en-US" sz="2400" i="1" dirty="0"/>
              <a:t>S</a:t>
            </a:r>
            <a:r>
              <a:rPr lang="en-US" sz="2400" dirty="0"/>
              <a:t>   {* </a:t>
            </a:r>
            <a:r>
              <a:rPr lang="en-US" sz="2400" i="1" dirty="0"/>
              <a:t>R</a:t>
            </a:r>
            <a:r>
              <a:rPr lang="en-US" sz="2400" dirty="0"/>
              <a:t> *}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33B986-8C21-8913-272E-C52C397FF952}"/>
              </a:ext>
            </a:extLst>
          </p:cNvPr>
          <p:cNvSpPr txBox="1"/>
          <p:nvPr/>
        </p:nvSpPr>
        <p:spPr>
          <a:xfrm>
            <a:off x="7772400" y="2413084"/>
            <a:ext cx="68580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Andale Mono" panose="020B0509000000000004" pitchFamily="49" charset="0"/>
              </a:rPr>
              <a:t>PRE</a:t>
            </a:r>
          </a:p>
          <a:p>
            <a:r>
              <a:rPr lang="en-US" sz="900">
                <a:latin typeface="Andale Mono" panose="020B0509000000000004" pitchFamily="49" charset="0"/>
              </a:rPr>
              <a:t>(B.1.2)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735A3D-B0DF-0A1C-9DB5-44E1604A4A6C}"/>
              </a:ext>
            </a:extLst>
          </p:cNvPr>
          <p:cNvSpPr txBox="1"/>
          <p:nvPr/>
        </p:nvSpPr>
        <p:spPr>
          <a:xfrm>
            <a:off x="7565570" y="5070649"/>
            <a:ext cx="74022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Andale Mono" panose="020B0509000000000004" pitchFamily="49" charset="0"/>
              </a:rPr>
              <a:t>POST</a:t>
            </a:r>
          </a:p>
          <a:p>
            <a:r>
              <a:rPr lang="en-US" sz="900">
                <a:latin typeface="Andale Mono" panose="020B0509000000000004" pitchFamily="49" charset="0"/>
              </a:rPr>
              <a:t>(B.1.1)</a:t>
            </a:r>
          </a:p>
        </p:txBody>
      </p:sp>
    </p:spTree>
    <p:extLst>
      <p:ext uri="{BB962C8B-B14F-4D97-AF65-F5344CB8AC3E}">
        <p14:creationId xmlns:p14="http://schemas.microsoft.com/office/powerpoint/2010/main" val="261759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4C506-C57B-874F-2139-AC905CFC6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Oval 5">
            <a:extLst>
              <a:ext uri="{FF2B5EF4-FFF2-40B4-BE49-F238E27FC236}">
                <a16:creationId xmlns:a16="http://schemas.microsoft.com/office/drawing/2014/main" id="{A231152A-D2BD-7106-2506-4873CC062A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5004" y="3657600"/>
            <a:ext cx="2015464" cy="2658254"/>
          </a:xfrm>
          <a:prstGeom prst="ellipse">
            <a:avLst/>
          </a:prstGeom>
          <a:solidFill>
            <a:srgbClr val="FFC000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7E51DE-8907-65D0-D3C7-B64DDD2B6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Pre-condition strengthening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0A1395-565E-64D1-05DC-5F919B19F8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Pre-condition strengthening: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pPr marL="0" indent="0">
              <a:buNone/>
            </a:pPr>
            <a:endParaRPr 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7537C6-967F-8CFC-DD6C-6EFE1400A0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4174CF1-175A-4C02-9570-0FB5231111A8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01C8C8E-A301-61D0-2842-4330F88622A5}"/>
              </a:ext>
            </a:extLst>
          </p:cNvPr>
          <p:cNvSpPr/>
          <p:nvPr/>
        </p:nvSpPr>
        <p:spPr>
          <a:xfrm>
            <a:off x="1447800" y="1828800"/>
            <a:ext cx="5791200" cy="1676400"/>
          </a:xfrm>
          <a:prstGeom prst="roundRect">
            <a:avLst>
              <a:gd name="adj" fmla="val 33495"/>
            </a:avLst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Box 24">
            <a:extLst>
              <a:ext uri="{FF2B5EF4-FFF2-40B4-BE49-F238E27FC236}">
                <a16:creationId xmlns:a16="http://schemas.microsoft.com/office/drawing/2014/main" id="{066ABAC7-2280-70B7-2952-B240345D84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2066836"/>
            <a:ext cx="5381601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dirty="0"/>
              <a:t>    ⊢ </a:t>
            </a:r>
            <a:r>
              <a:rPr lang="en-US" sz="2400" i="1" dirty="0"/>
              <a:t>P </a:t>
            </a:r>
            <a:r>
              <a:rPr lang="en-US" sz="2400" dirty="0"/>
              <a:t>⇒</a:t>
            </a:r>
            <a:r>
              <a:rPr lang="en-US" sz="2400" i="1" dirty="0"/>
              <a:t> Q </a:t>
            </a:r>
            <a:r>
              <a:rPr lang="en-US" sz="2400" dirty="0"/>
              <a:t>  ,   {* </a:t>
            </a:r>
            <a:r>
              <a:rPr lang="en-US" sz="2400" i="1" dirty="0"/>
              <a:t>Q</a:t>
            </a:r>
            <a:r>
              <a:rPr lang="en-US" sz="2400" dirty="0"/>
              <a:t> *}   </a:t>
            </a:r>
            <a:r>
              <a:rPr lang="en-US" sz="2400" i="1" dirty="0"/>
              <a:t>S</a:t>
            </a:r>
            <a:r>
              <a:rPr lang="en-US" sz="2400" dirty="0"/>
              <a:t>   {* </a:t>
            </a:r>
            <a:r>
              <a:rPr lang="en-US" sz="2400" i="1" dirty="0"/>
              <a:t>R</a:t>
            </a:r>
            <a:r>
              <a:rPr lang="en-US" sz="2400" dirty="0"/>
              <a:t> *}</a:t>
            </a:r>
          </a:p>
          <a:p>
            <a:r>
              <a:rPr lang="en-US" sz="2400" dirty="0"/>
              <a:t>-------------------------------------------------  </a:t>
            </a:r>
          </a:p>
          <a:p>
            <a:r>
              <a:rPr lang="en-US" sz="2400" dirty="0"/>
              <a:t>                {* </a:t>
            </a:r>
            <a:r>
              <a:rPr lang="en-US" sz="2400" i="1" dirty="0"/>
              <a:t>P</a:t>
            </a:r>
            <a:r>
              <a:rPr lang="en-US" sz="2400" dirty="0"/>
              <a:t> *}   </a:t>
            </a:r>
            <a:r>
              <a:rPr lang="en-US" sz="2400" i="1" dirty="0"/>
              <a:t>S</a:t>
            </a:r>
            <a:r>
              <a:rPr lang="en-US" sz="2400" dirty="0"/>
              <a:t>   {* </a:t>
            </a:r>
            <a:r>
              <a:rPr lang="en-US" sz="2400" i="1" dirty="0"/>
              <a:t>R</a:t>
            </a:r>
            <a:r>
              <a:rPr lang="en-US" sz="2400" dirty="0"/>
              <a:t> *}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199B78-A1F3-6B85-310B-22A188D808ED}"/>
              </a:ext>
            </a:extLst>
          </p:cNvPr>
          <p:cNvSpPr txBox="1"/>
          <p:nvPr/>
        </p:nvSpPr>
        <p:spPr>
          <a:xfrm>
            <a:off x="7772400" y="2413084"/>
            <a:ext cx="68580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Andale Mono" panose="020B0509000000000004" pitchFamily="49" charset="0"/>
              </a:rPr>
              <a:t>PRE</a:t>
            </a:r>
          </a:p>
          <a:p>
            <a:r>
              <a:rPr lang="en-US" sz="900">
                <a:latin typeface="Andale Mono" panose="020B0509000000000004" pitchFamily="49" charset="0"/>
              </a:rPr>
              <a:t>(B.1.2)</a:t>
            </a:r>
          </a:p>
        </p:txBody>
      </p:sp>
      <p:sp>
        <p:nvSpPr>
          <p:cNvPr id="12" name="Oval 5">
            <a:extLst>
              <a:ext uri="{FF2B5EF4-FFF2-40B4-BE49-F238E27FC236}">
                <a16:creationId xmlns:a16="http://schemas.microsoft.com/office/drawing/2014/main" id="{79B344BF-5700-9B3C-875E-33EAAE63D1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4136" y="4238843"/>
            <a:ext cx="838200" cy="1828800"/>
          </a:xfrm>
          <a:prstGeom prst="ellipse">
            <a:avLst/>
          </a:prstGeom>
          <a:solidFill>
            <a:schemeClr val="folHlink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val 6">
                <a:extLst>
                  <a:ext uri="{FF2B5EF4-FFF2-40B4-BE49-F238E27FC236}">
                    <a16:creationId xmlns:a16="http://schemas.microsoft.com/office/drawing/2014/main" id="{67FF818F-3475-4FD4-870F-59F0CCCC8A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66336" y="4543643"/>
                <a:ext cx="838200" cy="1219200"/>
              </a:xfrm>
              <a:prstGeom prst="ellipse">
                <a:avLst/>
              </a:pr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3" name="Oval 6">
                <a:extLst>
                  <a:ext uri="{FF2B5EF4-FFF2-40B4-BE49-F238E27FC236}">
                    <a16:creationId xmlns:a16="http://schemas.microsoft.com/office/drawing/2014/main" id="{67FF818F-3475-4FD4-870F-59F0CCCC8A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66336" y="4543643"/>
                <a:ext cx="838200" cy="1219200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 Box 13">
                <a:extLst>
                  <a:ext uri="{FF2B5EF4-FFF2-40B4-BE49-F238E27FC236}">
                    <a16:creationId xmlns:a16="http://schemas.microsoft.com/office/drawing/2014/main" id="{FA20401A-4277-07A1-7AC4-C4D48FA9888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32736" y="4238843"/>
                <a:ext cx="397096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9" name="Text Box 13">
                <a:extLst>
                  <a:ext uri="{FF2B5EF4-FFF2-40B4-BE49-F238E27FC236}">
                    <a16:creationId xmlns:a16="http://schemas.microsoft.com/office/drawing/2014/main" id="{FA20401A-4277-07A1-7AC4-C4D48FA988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32736" y="4238843"/>
                <a:ext cx="39709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Freeform 15">
            <a:extLst>
              <a:ext uri="{FF2B5EF4-FFF2-40B4-BE49-F238E27FC236}">
                <a16:creationId xmlns:a16="http://schemas.microsoft.com/office/drawing/2014/main" id="{68FF46BA-8C7A-CD22-0559-7F2B90EA4276}"/>
              </a:ext>
            </a:extLst>
          </p:cNvPr>
          <p:cNvSpPr>
            <a:spLocks/>
          </p:cNvSpPr>
          <p:nvPr/>
        </p:nvSpPr>
        <p:spPr bwMode="auto">
          <a:xfrm flipV="1">
            <a:off x="3733800" y="5192486"/>
            <a:ext cx="990600" cy="65314"/>
          </a:xfrm>
          <a:custGeom>
            <a:avLst/>
            <a:gdLst>
              <a:gd name="T0" fmla="*/ 0 w 960"/>
              <a:gd name="T1" fmla="*/ 2147483647 h 192"/>
              <a:gd name="T2" fmla="*/ 2147483647 w 960"/>
              <a:gd name="T3" fmla="*/ 0 h 192"/>
              <a:gd name="T4" fmla="*/ 2147483647 w 960"/>
              <a:gd name="T5" fmla="*/ 2147483647 h 192"/>
              <a:gd name="T6" fmla="*/ 0 60000 65536"/>
              <a:gd name="T7" fmla="*/ 0 60000 65536"/>
              <a:gd name="T8" fmla="*/ 0 60000 65536"/>
              <a:gd name="T9" fmla="*/ 0 w 960"/>
              <a:gd name="T10" fmla="*/ 0 h 192"/>
              <a:gd name="T11" fmla="*/ 960 w 960"/>
              <a:gd name="T12" fmla="*/ 192 h 19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60" h="192">
                <a:moveTo>
                  <a:pt x="0" y="192"/>
                </a:moveTo>
                <a:cubicBezTo>
                  <a:pt x="112" y="96"/>
                  <a:pt x="224" y="0"/>
                  <a:pt x="384" y="0"/>
                </a:cubicBezTo>
                <a:cubicBezTo>
                  <a:pt x="544" y="0"/>
                  <a:pt x="864" y="152"/>
                  <a:pt x="960" y="192"/>
                </a:cubicBezTo>
              </a:path>
            </a:pathLst>
          </a:custGeom>
          <a:noFill/>
          <a:ln w="57150">
            <a:solidFill>
              <a:schemeClr val="tx2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Box 16">
            <a:extLst>
              <a:ext uri="{FF2B5EF4-FFF2-40B4-BE49-F238E27FC236}">
                <a16:creationId xmlns:a16="http://schemas.microsoft.com/office/drawing/2014/main" id="{9C4A8A9E-A400-69CA-D414-AB7A273E8C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0876" y="4856396"/>
            <a:ext cx="32252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latin typeface="Andale Mono" panose="020B0509000000000004" pitchFamily="49" charset="0"/>
              </a:rPr>
              <a:t>S</a:t>
            </a:r>
            <a:endParaRPr lang="en-US" baseline="-25000">
              <a:latin typeface="Andale Mono" panose="020B05090000000000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 Box 13">
                <a:extLst>
                  <a:ext uri="{FF2B5EF4-FFF2-40B4-BE49-F238E27FC236}">
                    <a16:creationId xmlns:a16="http://schemas.microsoft.com/office/drawing/2014/main" id="{FB8B09E9-8EFE-6503-6571-4087915C8E9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16347" y="4054177"/>
                <a:ext cx="411010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5" name="Text Box 13">
                <a:extLst>
                  <a:ext uri="{FF2B5EF4-FFF2-40B4-BE49-F238E27FC236}">
                    <a16:creationId xmlns:a16="http://schemas.microsoft.com/office/drawing/2014/main" id="{FB8B09E9-8EFE-6503-6571-4087915C8E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16347" y="4054177"/>
                <a:ext cx="411010" cy="369332"/>
              </a:xfrm>
              <a:prstGeom prst="rect">
                <a:avLst/>
              </a:prstGeom>
              <a:blipFill>
                <a:blip r:embed="rId4"/>
                <a:stretch>
                  <a:fillRect b="-10000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48233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7D235-6F3A-4054-519B-B19D99456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val 5">
            <a:extLst>
              <a:ext uri="{FF2B5EF4-FFF2-40B4-BE49-F238E27FC236}">
                <a16:creationId xmlns:a16="http://schemas.microsoft.com/office/drawing/2014/main" id="{A30DE2FA-BA9D-8520-80AE-6434C05BFC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1608" y="1336135"/>
            <a:ext cx="2015464" cy="2658254"/>
          </a:xfrm>
          <a:prstGeom prst="ellipse">
            <a:avLst/>
          </a:prstGeom>
          <a:solidFill>
            <a:srgbClr val="FFC000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3C0321-4186-2FF7-787F-2C132D83D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Post-condition weakening picture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87BEA1-B8CD-FEEA-8D5A-E64D027946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4174CF1-175A-4C02-9570-0FB5231111A8}" type="slidenum">
              <a:rPr lang="en-US" altLang="en-US" smtClean="0"/>
              <a:pPr>
                <a:defRPr/>
              </a:pPr>
              <a:t>19</a:t>
            </a:fld>
            <a:endParaRPr lang="en-US" alt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5425E2D-BD7B-2CD4-7F5D-46B93C621C98}"/>
              </a:ext>
            </a:extLst>
          </p:cNvPr>
          <p:cNvSpPr/>
          <p:nvPr/>
        </p:nvSpPr>
        <p:spPr>
          <a:xfrm>
            <a:off x="1469571" y="4486365"/>
            <a:ext cx="5791200" cy="1676400"/>
          </a:xfrm>
          <a:prstGeom prst="roundRect">
            <a:avLst>
              <a:gd name="adj" fmla="val 33495"/>
            </a:avLst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 Box 24">
            <a:extLst>
              <a:ext uri="{FF2B5EF4-FFF2-40B4-BE49-F238E27FC236}">
                <a16:creationId xmlns:a16="http://schemas.microsoft.com/office/drawing/2014/main" id="{BE25D6BB-FD60-A412-CE7E-5E9AA70C4B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74371" y="4724401"/>
            <a:ext cx="5381601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dirty="0"/>
              <a:t>    {* </a:t>
            </a:r>
            <a:r>
              <a:rPr lang="en-US" sz="2400" i="1" dirty="0"/>
              <a:t>P</a:t>
            </a:r>
            <a:r>
              <a:rPr lang="en-US" sz="2400" dirty="0"/>
              <a:t> *}   </a:t>
            </a:r>
            <a:r>
              <a:rPr lang="en-US" sz="2400" i="1" dirty="0"/>
              <a:t>S</a:t>
            </a:r>
            <a:r>
              <a:rPr lang="en-US" sz="2400" dirty="0"/>
              <a:t>   {* </a:t>
            </a:r>
            <a:r>
              <a:rPr lang="en-US" sz="2400" i="1" dirty="0"/>
              <a:t>Q</a:t>
            </a:r>
            <a:r>
              <a:rPr lang="en-US" sz="2400" dirty="0"/>
              <a:t> *}  ,   ⊢ </a:t>
            </a:r>
            <a:r>
              <a:rPr lang="en-US" sz="2400" i="1" dirty="0"/>
              <a:t>Q </a:t>
            </a:r>
            <a:r>
              <a:rPr lang="en-US" sz="2400" dirty="0"/>
              <a:t>⇒</a:t>
            </a:r>
            <a:r>
              <a:rPr lang="en-US" sz="2400" i="1" dirty="0"/>
              <a:t> R </a:t>
            </a:r>
            <a:r>
              <a:rPr lang="en-US" sz="2400" dirty="0"/>
              <a:t> </a:t>
            </a:r>
          </a:p>
          <a:p>
            <a:r>
              <a:rPr lang="en-US" sz="2400" dirty="0"/>
              <a:t>-------------------------------------------------  </a:t>
            </a:r>
          </a:p>
          <a:p>
            <a:r>
              <a:rPr lang="en-US" sz="2400" dirty="0"/>
              <a:t>                {* </a:t>
            </a:r>
            <a:r>
              <a:rPr lang="en-US" sz="2400" i="1" dirty="0"/>
              <a:t>P</a:t>
            </a:r>
            <a:r>
              <a:rPr lang="en-US" sz="2400" dirty="0"/>
              <a:t> *}   </a:t>
            </a:r>
            <a:r>
              <a:rPr lang="en-US" sz="2400" i="1" dirty="0"/>
              <a:t>S</a:t>
            </a:r>
            <a:r>
              <a:rPr lang="en-US" sz="2400" dirty="0"/>
              <a:t>   {* </a:t>
            </a:r>
            <a:r>
              <a:rPr lang="en-US" sz="2400" i="1" dirty="0"/>
              <a:t>R</a:t>
            </a:r>
            <a:r>
              <a:rPr lang="en-US" sz="2400" dirty="0"/>
              <a:t> *}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42E73F6-76EA-7F60-EB3F-AC6E610A8DAE}"/>
              </a:ext>
            </a:extLst>
          </p:cNvPr>
          <p:cNvSpPr txBox="1"/>
          <p:nvPr/>
        </p:nvSpPr>
        <p:spPr>
          <a:xfrm>
            <a:off x="7565570" y="5070649"/>
            <a:ext cx="74022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Andale Mono" panose="020B0509000000000004" pitchFamily="49" charset="0"/>
              </a:rPr>
              <a:t>POST</a:t>
            </a:r>
          </a:p>
          <a:p>
            <a:r>
              <a:rPr lang="en-US" sz="900">
                <a:latin typeface="Andale Mono" panose="020B0509000000000004" pitchFamily="49" charset="0"/>
              </a:rPr>
              <a:t>(B.1.1)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3ACB3A1A-8D5C-41BE-616E-0C621D0838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219200"/>
            <a:ext cx="8686800" cy="5181600"/>
          </a:xfrm>
        </p:spPr>
        <p:txBody>
          <a:bodyPr/>
          <a:lstStyle/>
          <a:p>
            <a:pPr marL="0" indent="0">
              <a:buNone/>
            </a:pPr>
            <a:endParaRPr lang="en-US" b="1"/>
          </a:p>
          <a:p>
            <a:pPr marL="0" indent="0">
              <a:buNone/>
            </a:pPr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Post-condition weakening:</a:t>
            </a:r>
          </a:p>
        </p:txBody>
      </p:sp>
      <p:sp>
        <p:nvSpPr>
          <p:cNvPr id="17" name="Oval 5">
            <a:extLst>
              <a:ext uri="{FF2B5EF4-FFF2-40B4-BE49-F238E27FC236}">
                <a16:creationId xmlns:a16="http://schemas.microsoft.com/office/drawing/2014/main" id="{25B2E495-39AE-49C4-AE19-5B93871C11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6532" y="1800443"/>
            <a:ext cx="838200" cy="1828800"/>
          </a:xfrm>
          <a:prstGeom prst="ellipse">
            <a:avLst/>
          </a:prstGeom>
          <a:solidFill>
            <a:schemeClr val="folHlink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val 6">
                <a:extLst>
                  <a:ext uri="{FF2B5EF4-FFF2-40B4-BE49-F238E27FC236}">
                    <a16:creationId xmlns:a16="http://schemas.microsoft.com/office/drawing/2014/main" id="{BD67271B-F6B1-118D-0ABB-ED5CEB4DF0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1134" y="2115608"/>
                <a:ext cx="838200" cy="1219200"/>
              </a:xfrm>
              <a:prstGeom prst="ellipse">
                <a:avLst/>
              </a:prstGeom>
              <a:solidFill>
                <a:schemeClr val="accent1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8" name="Oval 6">
                <a:extLst>
                  <a:ext uri="{FF2B5EF4-FFF2-40B4-BE49-F238E27FC236}">
                    <a16:creationId xmlns:a16="http://schemas.microsoft.com/office/drawing/2014/main" id="{BD67271B-F6B1-118D-0ABB-ED5CEB4DF0F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41134" y="2115608"/>
                <a:ext cx="838200" cy="1219200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 Box 13">
                <a:extLst>
                  <a:ext uri="{FF2B5EF4-FFF2-40B4-BE49-F238E27FC236}">
                    <a16:creationId xmlns:a16="http://schemas.microsoft.com/office/drawing/2014/main" id="{73CB7858-82B7-23B7-FF20-1DDA87F5830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65132" y="1800443"/>
                <a:ext cx="397096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2" name="Text Box 13">
                <a:extLst>
                  <a:ext uri="{FF2B5EF4-FFF2-40B4-BE49-F238E27FC236}">
                    <a16:creationId xmlns:a16="http://schemas.microsoft.com/office/drawing/2014/main" id="{73CB7858-82B7-23B7-FF20-1DDA87F583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65132" y="1800443"/>
                <a:ext cx="39709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Freeform 15">
            <a:extLst>
              <a:ext uri="{FF2B5EF4-FFF2-40B4-BE49-F238E27FC236}">
                <a16:creationId xmlns:a16="http://schemas.microsoft.com/office/drawing/2014/main" id="{E739776C-C8FB-F7AC-AE0F-73E25CBC1DEA}"/>
              </a:ext>
            </a:extLst>
          </p:cNvPr>
          <p:cNvSpPr>
            <a:spLocks/>
          </p:cNvSpPr>
          <p:nvPr/>
        </p:nvSpPr>
        <p:spPr bwMode="auto">
          <a:xfrm flipV="1">
            <a:off x="3762870" y="2765836"/>
            <a:ext cx="1706400" cy="173891"/>
          </a:xfrm>
          <a:custGeom>
            <a:avLst/>
            <a:gdLst>
              <a:gd name="T0" fmla="*/ 0 w 960"/>
              <a:gd name="T1" fmla="*/ 2147483647 h 192"/>
              <a:gd name="T2" fmla="*/ 2147483647 w 960"/>
              <a:gd name="T3" fmla="*/ 0 h 192"/>
              <a:gd name="T4" fmla="*/ 2147483647 w 960"/>
              <a:gd name="T5" fmla="*/ 2147483647 h 192"/>
              <a:gd name="T6" fmla="*/ 0 60000 65536"/>
              <a:gd name="T7" fmla="*/ 0 60000 65536"/>
              <a:gd name="T8" fmla="*/ 0 60000 65536"/>
              <a:gd name="T9" fmla="*/ 0 w 960"/>
              <a:gd name="T10" fmla="*/ 0 h 192"/>
              <a:gd name="T11" fmla="*/ 960 w 960"/>
              <a:gd name="T12" fmla="*/ 192 h 19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60" h="192">
                <a:moveTo>
                  <a:pt x="0" y="192"/>
                </a:moveTo>
                <a:cubicBezTo>
                  <a:pt x="112" y="96"/>
                  <a:pt x="224" y="0"/>
                  <a:pt x="384" y="0"/>
                </a:cubicBezTo>
                <a:cubicBezTo>
                  <a:pt x="544" y="0"/>
                  <a:pt x="864" y="152"/>
                  <a:pt x="960" y="192"/>
                </a:cubicBezTo>
              </a:path>
            </a:pathLst>
          </a:custGeom>
          <a:noFill/>
          <a:ln w="57150">
            <a:solidFill>
              <a:schemeClr val="tx2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Box 16">
            <a:extLst>
              <a:ext uri="{FF2B5EF4-FFF2-40B4-BE49-F238E27FC236}">
                <a16:creationId xmlns:a16="http://schemas.microsoft.com/office/drawing/2014/main" id="{1A9B6BCA-2059-5EE6-A89B-3775E57E8A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53272" y="2417996"/>
            <a:ext cx="32252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latin typeface="Andale Mono" panose="020B0509000000000004" pitchFamily="49" charset="0"/>
              </a:rPr>
              <a:t>S</a:t>
            </a:r>
            <a:endParaRPr lang="en-US" baseline="-25000">
              <a:latin typeface="Andale Mono" panose="020B05090000000000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 Box 13">
                <a:extLst>
                  <a:ext uri="{FF2B5EF4-FFF2-40B4-BE49-F238E27FC236}">
                    <a16:creationId xmlns:a16="http://schemas.microsoft.com/office/drawing/2014/main" id="{B9BFDE4E-14A7-D82D-E24E-07AA7F073C5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927345" y="1441851"/>
                <a:ext cx="402995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7" name="Text Box 13">
                <a:extLst>
                  <a:ext uri="{FF2B5EF4-FFF2-40B4-BE49-F238E27FC236}">
                    <a16:creationId xmlns:a16="http://schemas.microsoft.com/office/drawing/2014/main" id="{B9BFDE4E-14A7-D82D-E24E-07AA7F073C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27345" y="1441851"/>
                <a:ext cx="40299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641737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F81D4-4ED2-8649-8D2C-732EABD92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PRE + ASG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9708D5-E9AC-0B41-AADB-B01F5F8E68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4174CF1-175A-4C02-9570-0FB5231111A8}" type="slidenum">
              <a:rPr lang="en-US" altLang="en-US" smtClean="0"/>
              <a:pPr>
                <a:defRPr/>
              </a:pPr>
              <a:t>20</a:t>
            </a:fld>
            <a:endParaRPr lang="en-US" altLang="en-US"/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B568F802-E529-77AD-5C97-161F7A2D1E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1404841"/>
            <a:ext cx="63246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5947F7D4-E566-0407-ECF1-5D06ECB4A0A9}"/>
              </a:ext>
            </a:extLst>
          </p:cNvPr>
          <p:cNvSpPr/>
          <p:nvPr/>
        </p:nvSpPr>
        <p:spPr>
          <a:xfrm>
            <a:off x="990600" y="1447800"/>
            <a:ext cx="7086600" cy="1676400"/>
          </a:xfrm>
          <a:prstGeom prst="roundRect">
            <a:avLst>
              <a:gd name="adj" fmla="val 36417"/>
            </a:avLst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Box 24">
                <a:extLst>
                  <a:ext uri="{FF2B5EF4-FFF2-40B4-BE49-F238E27FC236}">
                    <a16:creationId xmlns:a16="http://schemas.microsoft.com/office/drawing/2014/main" id="{FF0BC91C-2C48-878A-6F84-E11408A3746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47800" y="1425945"/>
                <a:ext cx="6180152" cy="193899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r>
                  <a:rPr lang="en-US" sz="2400"/>
                  <a:t>                              ---------------------------------</a:t>
                </a:r>
                <a:endParaRPr lang="en-US" sz="2400" dirty="0"/>
              </a:p>
              <a:p>
                <a:r>
                  <a:rPr lang="en-US" sz="2400"/>
                  <a:t>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⊢ 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 ⇒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/>
                  <a:t>     {*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/>
                  <a:t> *} </a:t>
                </a:r>
                <a:r>
                  <a:rPr lang="en-US" sz="2400" b="1">
                    <a:latin typeface="Andale Mono" panose="020B0509000000000004" pitchFamily="49" charset="0"/>
                  </a:rPr>
                  <a:t>x:=e </a:t>
                </a:r>
                <a:r>
                  <a:rPr lang="en-US" sz="2400"/>
                  <a:t>{*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400" dirty="0"/>
                  <a:t> *}</a:t>
                </a:r>
              </a:p>
              <a:p>
                <a:r>
                  <a:rPr lang="en-US" sz="2400"/>
                  <a:t>----------------------------------------------------</a:t>
                </a:r>
                <a:endParaRPr lang="en-US" sz="2400" dirty="0"/>
              </a:p>
              <a:p>
                <a:r>
                  <a:rPr lang="en-US" sz="2400"/>
                  <a:t>               {*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/>
                  <a:t>*} </a:t>
                </a:r>
                <a:r>
                  <a:rPr lang="en-US" sz="2400" b="1">
                    <a:latin typeface="Andale Mono" panose="020B0509000000000004" pitchFamily="49" charset="0"/>
                  </a:rPr>
                  <a:t>x:=e </a:t>
                </a:r>
                <a:r>
                  <a:rPr lang="en-US" sz="2400"/>
                  <a:t>{*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400" dirty="0"/>
                  <a:t> *}</a:t>
                </a: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13" name="Text Box 24">
                <a:extLst>
                  <a:ext uri="{FF2B5EF4-FFF2-40B4-BE49-F238E27FC236}">
                    <a16:creationId xmlns:a16="http://schemas.microsoft.com/office/drawing/2014/main" id="{FF0BC91C-2C48-878A-6F84-E11408A374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47800" y="1425945"/>
                <a:ext cx="6180152" cy="1938992"/>
              </a:xfrm>
              <a:prstGeom prst="rect">
                <a:avLst/>
              </a:prstGeom>
              <a:blipFill>
                <a:blip r:embed="rId2"/>
                <a:stretch>
                  <a:fillRect l="-1643" t="-2614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0D1EC304-56D1-0CED-0C54-A4716AB2F9C8}"/>
              </a:ext>
            </a:extLst>
          </p:cNvPr>
          <p:cNvSpPr txBox="1"/>
          <p:nvPr/>
        </p:nvSpPr>
        <p:spPr>
          <a:xfrm>
            <a:off x="7162800" y="2235577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Andale Mono" panose="020B0509000000000004" pitchFamily="49" charset="0"/>
              </a:rPr>
              <a:t>PRE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4856707-77DD-3804-A8B3-AF910C1A72F1}"/>
              </a:ext>
            </a:extLst>
          </p:cNvPr>
          <p:cNvSpPr txBox="1"/>
          <p:nvPr/>
        </p:nvSpPr>
        <p:spPr>
          <a:xfrm>
            <a:off x="7353300" y="1491734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Andale Mono" panose="020B0509000000000004" pitchFamily="49" charset="0"/>
              </a:rPr>
              <a:t>ASG</a:t>
            </a:r>
          </a:p>
        </p:txBody>
      </p:sp>
      <p:sp>
        <p:nvSpPr>
          <p:cNvPr id="21" name="Rectangle 4">
            <a:extLst>
              <a:ext uri="{FF2B5EF4-FFF2-40B4-BE49-F238E27FC236}">
                <a16:creationId xmlns:a16="http://schemas.microsoft.com/office/drawing/2014/main" id="{CC74666F-7BAF-1B7A-D246-CB4DD2D03B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4300441"/>
            <a:ext cx="63246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ECF0F35D-427E-5583-C160-0DB326E85212}"/>
              </a:ext>
            </a:extLst>
          </p:cNvPr>
          <p:cNvSpPr/>
          <p:nvPr/>
        </p:nvSpPr>
        <p:spPr>
          <a:xfrm>
            <a:off x="990600" y="4343400"/>
            <a:ext cx="7086600" cy="1676400"/>
          </a:xfrm>
          <a:prstGeom prst="roundRect">
            <a:avLst>
              <a:gd name="adj" fmla="val 36417"/>
            </a:avLst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 Box 24">
                <a:extLst>
                  <a:ext uri="{FF2B5EF4-FFF2-40B4-BE49-F238E27FC236}">
                    <a16:creationId xmlns:a16="http://schemas.microsoft.com/office/drawing/2014/main" id="{B4CE4BAE-87D2-1686-19F1-F3036CC5994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74170" y="4491564"/>
                <a:ext cx="5519460" cy="156966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⊢ 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 ⇒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400"/>
              </a:p>
              <a:p>
                <a:r>
                  <a:rPr lang="en-US" sz="2400"/>
                  <a:t>----------------------------------------------------</a:t>
                </a:r>
                <a:endParaRPr lang="en-US" sz="2400" dirty="0"/>
              </a:p>
              <a:p>
                <a:r>
                  <a:rPr lang="en-US" sz="2400"/>
                  <a:t>               {*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/>
                  <a:t>*} </a:t>
                </a:r>
                <a:r>
                  <a:rPr lang="en-US" sz="2400" b="1">
                    <a:latin typeface="Andale Mono" panose="020B0509000000000004" pitchFamily="49" charset="0"/>
                  </a:rPr>
                  <a:t>x:=e </a:t>
                </a:r>
                <a:r>
                  <a:rPr lang="en-US" sz="2400"/>
                  <a:t>{*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400" dirty="0"/>
                  <a:t> *}</a:t>
                </a: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23" name="Text Box 24">
                <a:extLst>
                  <a:ext uri="{FF2B5EF4-FFF2-40B4-BE49-F238E27FC236}">
                    <a16:creationId xmlns:a16="http://schemas.microsoft.com/office/drawing/2014/main" id="{B4CE4BAE-87D2-1686-19F1-F3036CC599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74170" y="4491564"/>
                <a:ext cx="5519460" cy="1569660"/>
              </a:xfrm>
              <a:prstGeom prst="rect">
                <a:avLst/>
              </a:prstGeom>
              <a:blipFill>
                <a:blip r:embed="rId3"/>
                <a:stretch>
                  <a:fillRect l="-1606" r="-688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Curved Connector 27">
            <a:extLst>
              <a:ext uri="{FF2B5EF4-FFF2-40B4-BE49-F238E27FC236}">
                <a16:creationId xmlns:a16="http://schemas.microsoft.com/office/drawing/2014/main" id="{0AC4135C-BECF-DF8A-21CC-4C2386B5E225}"/>
              </a:ext>
            </a:extLst>
          </p:cNvPr>
          <p:cNvCxnSpPr>
            <a:cxnSpLocks/>
          </p:cNvCxnSpPr>
          <p:nvPr/>
        </p:nvCxnSpPr>
        <p:spPr>
          <a:xfrm rot="16200000" flipH="1">
            <a:off x="3920373" y="3580472"/>
            <a:ext cx="756304" cy="367446"/>
          </a:xfrm>
          <a:prstGeom prst="curvedConnector3">
            <a:avLst>
              <a:gd name="adj1" fmla="val 50000"/>
            </a:avLst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88C735AD-5C4A-4317-19D0-6A61B13D4927}"/>
              </a:ext>
            </a:extLst>
          </p:cNvPr>
          <p:cNvSpPr txBox="1"/>
          <p:nvPr/>
        </p:nvSpPr>
        <p:spPr>
          <a:xfrm>
            <a:off x="4457700" y="3523030"/>
            <a:ext cx="1390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is a proof of</a:t>
            </a:r>
          </a:p>
        </p:txBody>
      </p:sp>
    </p:spTree>
    <p:extLst>
      <p:ext uri="{BB962C8B-B14F-4D97-AF65-F5344CB8AC3E}">
        <p14:creationId xmlns:p14="http://schemas.microsoft.com/office/powerpoint/2010/main" val="1006608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F81D4-4ED2-8649-8D2C-732EABD92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More basic </a:t>
            </a:r>
            <a:r>
              <a:rPr lang="en-US" dirty="0"/>
              <a:t>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867CC2-4D7B-F04D-B355-1DEE912DA5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Conjunction of Hoare triples: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Disjunction of Hoare triples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9708D5-E9AC-0B41-AADB-B01F5F8E68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4174CF1-175A-4C02-9570-0FB5231111A8}" type="slidenum">
              <a:rPr lang="en-US" altLang="en-US" smtClean="0"/>
              <a:pPr>
                <a:defRPr/>
              </a:pPr>
              <a:t>21</a:t>
            </a:fld>
            <a:endParaRPr lang="en-US" alt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CB00FF6-A778-0D47-8A28-75FC709BA4B6}"/>
              </a:ext>
            </a:extLst>
          </p:cNvPr>
          <p:cNvSpPr/>
          <p:nvPr/>
        </p:nvSpPr>
        <p:spPr>
          <a:xfrm>
            <a:off x="1447800" y="1939107"/>
            <a:ext cx="6324600" cy="1413693"/>
          </a:xfrm>
          <a:prstGeom prst="roundRect">
            <a:avLst>
              <a:gd name="adj" fmla="val 23100"/>
            </a:avLst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Box 24">
                <a:extLst>
                  <a:ext uri="{FF2B5EF4-FFF2-40B4-BE49-F238E27FC236}">
                    <a16:creationId xmlns:a16="http://schemas.microsoft.com/office/drawing/2014/main" id="{7EEA4AB3-AD6E-364E-BEA0-2BAD639A6CD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69570" y="2042164"/>
                <a:ext cx="6431429" cy="120032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{*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i="1" baseline="-25000" dirty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400" dirty="0"/>
                  <a:t> *}   </a:t>
                </a:r>
                <a:r>
                  <a:rPr lang="en-US" sz="2400" b="1" dirty="0">
                    <a:latin typeface="Andale Mono" panose="020B0509000000000004" pitchFamily="49" charset="0"/>
                  </a:rPr>
                  <a:t>S</a:t>
                </a:r>
                <a:r>
                  <a:rPr lang="en-US" sz="2400" dirty="0"/>
                  <a:t>   {*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400" i="1" baseline="-25000" dirty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/>
                  <a:t>*}          </a:t>
                </a:r>
                <a:r>
                  <a:rPr lang="en-US" sz="2400" dirty="0"/>
                  <a:t>{*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i="1" baseline="-25000" dirty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2400" dirty="0"/>
                  <a:t> *}   </a:t>
                </a:r>
                <a:r>
                  <a:rPr lang="en-US" sz="2400" b="1" dirty="0">
                    <a:latin typeface="Andale Mono" panose="020B0509000000000004" pitchFamily="49" charset="0"/>
                  </a:rPr>
                  <a:t>S</a:t>
                </a:r>
                <a:r>
                  <a:rPr lang="en-US" sz="2400" dirty="0"/>
                  <a:t>   {*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400" i="1" baseline="-25000" dirty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2400" dirty="0"/>
                  <a:t> *} </a:t>
                </a:r>
              </a:p>
              <a:p>
                <a:r>
                  <a:rPr lang="en-US" sz="2400" dirty="0"/>
                  <a:t>----------------------------------------------------------  </a:t>
                </a:r>
              </a:p>
              <a:p>
                <a:r>
                  <a:rPr lang="en-US" sz="2400" dirty="0"/>
                  <a:t>              {*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i="1" baseline="-25000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lit/>
                      </m:rP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i="1" baseline="-25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*}   </a:t>
                </a:r>
                <a:r>
                  <a:rPr lang="en-US" sz="2400" b="1" dirty="0">
                    <a:latin typeface="Andale Mono" panose="020B0509000000000004" pitchFamily="49" charset="0"/>
                  </a:rPr>
                  <a:t>S</a:t>
                </a:r>
                <a:r>
                  <a:rPr lang="en-US" sz="2400" dirty="0"/>
                  <a:t>   {*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400" i="1" baseline="-25000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400" i="1" baseline="-25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*} </a:t>
                </a:r>
              </a:p>
            </p:txBody>
          </p:sp>
        </mc:Choice>
        <mc:Fallback xmlns="">
          <p:sp>
            <p:nvSpPr>
              <p:cNvPr id="6" name="Text Box 24">
                <a:extLst>
                  <a:ext uri="{FF2B5EF4-FFF2-40B4-BE49-F238E27FC236}">
                    <a16:creationId xmlns:a16="http://schemas.microsoft.com/office/drawing/2014/main" id="{7EEA4AB3-AD6E-364E-BEA0-2BAD639A6C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69570" y="2042164"/>
                <a:ext cx="6431429" cy="1200329"/>
              </a:xfrm>
              <a:prstGeom prst="rect">
                <a:avLst/>
              </a:prstGeom>
              <a:blipFill>
                <a:blip r:embed="rId2"/>
                <a:stretch>
                  <a:fillRect l="-1381" t="-4167" b="-10417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6D76890-DA1D-044E-9A3D-4674C80F68AB}"/>
              </a:ext>
            </a:extLst>
          </p:cNvPr>
          <p:cNvSpPr/>
          <p:nvPr/>
        </p:nvSpPr>
        <p:spPr>
          <a:xfrm>
            <a:off x="1447800" y="4508861"/>
            <a:ext cx="6324600" cy="1413693"/>
          </a:xfrm>
          <a:prstGeom prst="roundRect">
            <a:avLst>
              <a:gd name="adj" fmla="val 23100"/>
            </a:avLst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Box 24">
                <a:extLst>
                  <a:ext uri="{FF2B5EF4-FFF2-40B4-BE49-F238E27FC236}">
                    <a16:creationId xmlns:a16="http://schemas.microsoft.com/office/drawing/2014/main" id="{F9242ACC-44C7-844B-A93B-287673F4808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69570" y="4611918"/>
                <a:ext cx="6431429" cy="120032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{*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i="1" baseline="-25000" dirty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400" dirty="0"/>
                  <a:t> *}   </a:t>
                </a:r>
                <a:r>
                  <a:rPr lang="en-US" sz="2400" b="1" dirty="0">
                    <a:latin typeface="Andale Mono" panose="020B0509000000000004" pitchFamily="49" charset="0"/>
                  </a:rPr>
                  <a:t>S</a:t>
                </a:r>
                <a:r>
                  <a:rPr lang="en-US" sz="2400" dirty="0"/>
                  <a:t>   {*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400" i="1" baseline="-25000" dirty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/>
                  <a:t>*}          </a:t>
                </a:r>
                <a:r>
                  <a:rPr lang="en-US" sz="2400" dirty="0"/>
                  <a:t>{*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i="1" baseline="-25000" dirty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2400" dirty="0"/>
                  <a:t> *}   </a:t>
                </a:r>
                <a:r>
                  <a:rPr lang="en-US" sz="2400" b="1" dirty="0">
                    <a:latin typeface="Andale Mono" panose="020B0509000000000004" pitchFamily="49" charset="0"/>
                  </a:rPr>
                  <a:t>S</a:t>
                </a:r>
                <a:r>
                  <a:rPr lang="en-US" sz="2400" dirty="0"/>
                  <a:t>   {*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400" i="1" baseline="-25000" dirty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2400" dirty="0"/>
                  <a:t> *} </a:t>
                </a:r>
              </a:p>
              <a:p>
                <a:r>
                  <a:rPr lang="en-US" sz="2400" dirty="0"/>
                  <a:t>----------------------------------------------------------  </a:t>
                </a:r>
              </a:p>
              <a:p>
                <a:r>
                  <a:rPr lang="en-US" sz="2400" dirty="0"/>
                  <a:t>              {*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i="1" baseline="-25000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∨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i="1" baseline="-25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*}   </a:t>
                </a:r>
                <a:r>
                  <a:rPr lang="en-US" sz="2400" b="1" dirty="0">
                    <a:latin typeface="Andale Mono" panose="020B0509000000000004" pitchFamily="49" charset="0"/>
                  </a:rPr>
                  <a:t>S</a:t>
                </a:r>
                <a:r>
                  <a:rPr lang="en-US" sz="2400" dirty="0"/>
                  <a:t>   {*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400" i="1" baseline="-25000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∨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400" i="1" baseline="-25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*} </a:t>
                </a:r>
              </a:p>
            </p:txBody>
          </p:sp>
        </mc:Choice>
        <mc:Fallback xmlns="">
          <p:sp>
            <p:nvSpPr>
              <p:cNvPr id="10" name="Text Box 24">
                <a:extLst>
                  <a:ext uri="{FF2B5EF4-FFF2-40B4-BE49-F238E27FC236}">
                    <a16:creationId xmlns:a16="http://schemas.microsoft.com/office/drawing/2014/main" id="{F9242ACC-44C7-844B-A93B-287673F480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69570" y="4611918"/>
                <a:ext cx="6431429" cy="1200329"/>
              </a:xfrm>
              <a:prstGeom prst="rect">
                <a:avLst/>
              </a:prstGeom>
              <a:blipFill>
                <a:blip r:embed="rId3"/>
                <a:stretch>
                  <a:fillRect l="-1381" t="-4211" b="-11579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777777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EC1306-6434-639D-12BD-17E0376FE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39DB8-8E5F-0FC7-60FA-72FA9EE66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Conjunction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C2235C-BAC4-DC88-2B80-B50E641071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Conjunction of Hoare triples: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FE6301-3A00-21DF-1A08-60E0C5A9F3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4174CF1-175A-4C02-9570-0FB5231111A8}" type="slidenum">
              <a:rPr lang="en-US" altLang="en-US" smtClean="0"/>
              <a:pPr>
                <a:defRPr/>
              </a:pPr>
              <a:t>22</a:t>
            </a:fld>
            <a:endParaRPr lang="en-US" alt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D6863E1-ED7C-9394-68EF-F72CBCF597F5}"/>
              </a:ext>
            </a:extLst>
          </p:cNvPr>
          <p:cNvSpPr/>
          <p:nvPr/>
        </p:nvSpPr>
        <p:spPr>
          <a:xfrm>
            <a:off x="1447800" y="1939107"/>
            <a:ext cx="6324600" cy="1413693"/>
          </a:xfrm>
          <a:prstGeom prst="roundRect">
            <a:avLst>
              <a:gd name="adj" fmla="val 23100"/>
            </a:avLst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Box 24">
                <a:extLst>
                  <a:ext uri="{FF2B5EF4-FFF2-40B4-BE49-F238E27FC236}">
                    <a16:creationId xmlns:a16="http://schemas.microsoft.com/office/drawing/2014/main" id="{44177F40-3E24-3290-BD85-2C7ECED1396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69570" y="2042164"/>
                <a:ext cx="6431429" cy="120032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{*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i="1" baseline="-25000" dirty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400" dirty="0"/>
                  <a:t> *}   </a:t>
                </a:r>
                <a:r>
                  <a:rPr lang="en-US" sz="2400" b="1" dirty="0">
                    <a:latin typeface="Andale Mono" panose="020B0509000000000004" pitchFamily="49" charset="0"/>
                  </a:rPr>
                  <a:t>S</a:t>
                </a:r>
                <a:r>
                  <a:rPr lang="en-US" sz="2400" dirty="0"/>
                  <a:t>   {*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400" i="1" baseline="-25000" dirty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/>
                  <a:t>*}          </a:t>
                </a:r>
                <a:r>
                  <a:rPr lang="en-US" sz="2400" dirty="0"/>
                  <a:t>{*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i="1" baseline="-25000" dirty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2400" dirty="0"/>
                  <a:t> *}   </a:t>
                </a:r>
                <a:r>
                  <a:rPr lang="en-US" sz="2400" b="1" dirty="0">
                    <a:latin typeface="Andale Mono" panose="020B0509000000000004" pitchFamily="49" charset="0"/>
                  </a:rPr>
                  <a:t>S</a:t>
                </a:r>
                <a:r>
                  <a:rPr lang="en-US" sz="2400" dirty="0"/>
                  <a:t>   {*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400" i="1" baseline="-25000" dirty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2400" dirty="0"/>
                  <a:t> *} </a:t>
                </a:r>
              </a:p>
              <a:p>
                <a:r>
                  <a:rPr lang="en-US" sz="2400" dirty="0"/>
                  <a:t>----------------------------------------------------------  </a:t>
                </a:r>
              </a:p>
              <a:p>
                <a:r>
                  <a:rPr lang="en-US" sz="2400" dirty="0"/>
                  <a:t>              {*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i="1" baseline="-25000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lit/>
                      </m:rP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i="1" baseline="-25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*}   </a:t>
                </a:r>
                <a:r>
                  <a:rPr lang="en-US" sz="2400" b="1" dirty="0">
                    <a:latin typeface="Andale Mono" panose="020B0509000000000004" pitchFamily="49" charset="0"/>
                  </a:rPr>
                  <a:t>S</a:t>
                </a:r>
                <a:r>
                  <a:rPr lang="en-US" sz="2400" dirty="0"/>
                  <a:t>   {*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400" i="1" baseline="-25000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400" i="1" baseline="-25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*} </a:t>
                </a:r>
              </a:p>
            </p:txBody>
          </p:sp>
        </mc:Choice>
        <mc:Fallback xmlns="">
          <p:sp>
            <p:nvSpPr>
              <p:cNvPr id="6" name="Text Box 24">
                <a:extLst>
                  <a:ext uri="{FF2B5EF4-FFF2-40B4-BE49-F238E27FC236}">
                    <a16:creationId xmlns:a16="http://schemas.microsoft.com/office/drawing/2014/main" id="{44177F40-3E24-3290-BD85-2C7ECED139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69570" y="2042164"/>
                <a:ext cx="6431429" cy="1200329"/>
              </a:xfrm>
              <a:prstGeom prst="rect">
                <a:avLst/>
              </a:prstGeom>
              <a:blipFill>
                <a:blip r:embed="rId2"/>
                <a:stretch>
                  <a:fillRect l="-1381" t="-4167" b="-10417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Oval 5">
            <a:extLst>
              <a:ext uri="{FF2B5EF4-FFF2-40B4-BE49-F238E27FC236}">
                <a16:creationId xmlns:a16="http://schemas.microsoft.com/office/drawing/2014/main" id="{DA7FC054-698C-DD38-8F07-3C8461874A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2774" y="4528037"/>
            <a:ext cx="1209590" cy="1356184"/>
          </a:xfrm>
          <a:prstGeom prst="ellipse">
            <a:avLst/>
          </a:prstGeom>
          <a:solidFill>
            <a:srgbClr val="FFC000">
              <a:alpha val="50000"/>
            </a:srgbClr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8" name="Oval 5">
            <a:extLst>
              <a:ext uri="{FF2B5EF4-FFF2-40B4-BE49-F238E27FC236}">
                <a16:creationId xmlns:a16="http://schemas.microsoft.com/office/drawing/2014/main" id="{7862B060-98A1-CB5D-2ABA-4DFB858782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0827" y="3954553"/>
            <a:ext cx="1221537" cy="1413693"/>
          </a:xfrm>
          <a:prstGeom prst="ellipse">
            <a:avLst/>
          </a:prstGeom>
          <a:solidFill>
            <a:schemeClr val="folHlink">
              <a:alpha val="50000"/>
            </a:schemeClr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Box 13">
                <a:extLst>
                  <a:ext uri="{FF2B5EF4-FFF2-40B4-BE49-F238E27FC236}">
                    <a16:creationId xmlns:a16="http://schemas.microsoft.com/office/drawing/2014/main" id="{BD2D68C2-CDB1-D6EC-1A17-777A1B22C9B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71537" y="4070837"/>
                <a:ext cx="468654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2" name="Text Box 13">
                <a:extLst>
                  <a:ext uri="{FF2B5EF4-FFF2-40B4-BE49-F238E27FC236}">
                    <a16:creationId xmlns:a16="http://schemas.microsoft.com/office/drawing/2014/main" id="{BD2D68C2-CDB1-D6EC-1A17-777A1B22C9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71537" y="4070837"/>
                <a:ext cx="46865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Freeform 15">
            <a:extLst>
              <a:ext uri="{FF2B5EF4-FFF2-40B4-BE49-F238E27FC236}">
                <a16:creationId xmlns:a16="http://schemas.microsoft.com/office/drawing/2014/main" id="{12D50889-839F-F584-AEC7-C4ADAA703FAE}"/>
              </a:ext>
            </a:extLst>
          </p:cNvPr>
          <p:cNvSpPr>
            <a:spLocks/>
          </p:cNvSpPr>
          <p:nvPr/>
        </p:nvSpPr>
        <p:spPr bwMode="auto">
          <a:xfrm flipV="1">
            <a:off x="3981519" y="5594607"/>
            <a:ext cx="990600" cy="65314"/>
          </a:xfrm>
          <a:custGeom>
            <a:avLst/>
            <a:gdLst>
              <a:gd name="T0" fmla="*/ 0 w 960"/>
              <a:gd name="T1" fmla="*/ 2147483647 h 192"/>
              <a:gd name="T2" fmla="*/ 2147483647 w 960"/>
              <a:gd name="T3" fmla="*/ 0 h 192"/>
              <a:gd name="T4" fmla="*/ 2147483647 w 960"/>
              <a:gd name="T5" fmla="*/ 2147483647 h 192"/>
              <a:gd name="T6" fmla="*/ 0 60000 65536"/>
              <a:gd name="T7" fmla="*/ 0 60000 65536"/>
              <a:gd name="T8" fmla="*/ 0 60000 65536"/>
              <a:gd name="T9" fmla="*/ 0 w 960"/>
              <a:gd name="T10" fmla="*/ 0 h 192"/>
              <a:gd name="T11" fmla="*/ 960 w 960"/>
              <a:gd name="T12" fmla="*/ 192 h 19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60" h="192">
                <a:moveTo>
                  <a:pt x="0" y="192"/>
                </a:moveTo>
                <a:cubicBezTo>
                  <a:pt x="112" y="96"/>
                  <a:pt x="224" y="0"/>
                  <a:pt x="384" y="0"/>
                </a:cubicBezTo>
                <a:cubicBezTo>
                  <a:pt x="544" y="0"/>
                  <a:pt x="864" y="152"/>
                  <a:pt x="960" y="192"/>
                </a:cubicBezTo>
              </a:path>
            </a:pathLst>
          </a:custGeom>
          <a:noFill/>
          <a:ln w="57150">
            <a:solidFill>
              <a:schemeClr val="tx2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Box 16">
            <a:extLst>
              <a:ext uri="{FF2B5EF4-FFF2-40B4-BE49-F238E27FC236}">
                <a16:creationId xmlns:a16="http://schemas.microsoft.com/office/drawing/2014/main" id="{CE45E862-F5FA-3948-E423-B0CA2F61DC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9476" y="5257932"/>
            <a:ext cx="32252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latin typeface="Andale Mono" panose="020B0509000000000004" pitchFamily="49" charset="0"/>
              </a:rPr>
              <a:t>S</a:t>
            </a:r>
            <a:endParaRPr lang="en-US" baseline="-25000">
              <a:latin typeface="Andale Mono" panose="020B05090000000000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Box 13">
                <a:extLst>
                  <a:ext uri="{FF2B5EF4-FFF2-40B4-BE49-F238E27FC236}">
                    <a16:creationId xmlns:a16="http://schemas.microsoft.com/office/drawing/2014/main" id="{BB3A50D8-4059-A42D-6E88-8EB60799077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4607" y="5368246"/>
                <a:ext cx="473976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b="0"/>
              </a:p>
            </p:txBody>
          </p:sp>
        </mc:Choice>
        <mc:Fallback xmlns="">
          <p:sp>
            <p:nvSpPr>
              <p:cNvPr id="15" name="Text Box 13">
                <a:extLst>
                  <a:ext uri="{FF2B5EF4-FFF2-40B4-BE49-F238E27FC236}">
                    <a16:creationId xmlns:a16="http://schemas.microsoft.com/office/drawing/2014/main" id="{BB3A50D8-4059-A42D-6E88-8EB6079907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84607" y="5368246"/>
                <a:ext cx="473976" cy="369332"/>
              </a:xfrm>
              <a:prstGeom prst="rect">
                <a:avLst/>
              </a:prstGeom>
              <a:blipFill>
                <a:blip r:embed="rId4"/>
                <a:stretch>
                  <a:fillRect b="-3333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Box 13">
                <a:extLst>
                  <a:ext uri="{FF2B5EF4-FFF2-40B4-BE49-F238E27FC236}">
                    <a16:creationId xmlns:a16="http://schemas.microsoft.com/office/drawing/2014/main" id="{7264EA1E-0F08-D513-C21D-AC9D4152B24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55143" y="4694044"/>
                <a:ext cx="994183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i="1" baseline="-25000" dirty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∧</m:t>
                      </m:r>
                      <m:r>
                        <m:rPr>
                          <m:lit/>
                        </m:rPr>
                        <a:rPr lang="en-US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i="1" baseline="-25000" dirty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6" name="Text Box 13">
                <a:extLst>
                  <a:ext uri="{FF2B5EF4-FFF2-40B4-BE49-F238E27FC236}">
                    <a16:creationId xmlns:a16="http://schemas.microsoft.com/office/drawing/2014/main" id="{7264EA1E-0F08-D513-C21D-AC9D4152B2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55143" y="4694044"/>
                <a:ext cx="994183" cy="369332"/>
              </a:xfrm>
              <a:prstGeom prst="rect">
                <a:avLst/>
              </a:prstGeom>
              <a:blipFill>
                <a:blip r:embed="rId5"/>
                <a:stretch>
                  <a:fillRect b="-20000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Freeform 15">
            <a:extLst>
              <a:ext uri="{FF2B5EF4-FFF2-40B4-BE49-F238E27FC236}">
                <a16:creationId xmlns:a16="http://schemas.microsoft.com/office/drawing/2014/main" id="{C225214A-C413-CFC6-3F90-65CEE6FB3699}"/>
              </a:ext>
            </a:extLst>
          </p:cNvPr>
          <p:cNvSpPr>
            <a:spLocks/>
          </p:cNvSpPr>
          <p:nvPr/>
        </p:nvSpPr>
        <p:spPr bwMode="auto">
          <a:xfrm>
            <a:off x="3981519" y="4393087"/>
            <a:ext cx="990600" cy="65314"/>
          </a:xfrm>
          <a:custGeom>
            <a:avLst/>
            <a:gdLst>
              <a:gd name="T0" fmla="*/ 0 w 960"/>
              <a:gd name="T1" fmla="*/ 2147483647 h 192"/>
              <a:gd name="T2" fmla="*/ 2147483647 w 960"/>
              <a:gd name="T3" fmla="*/ 0 h 192"/>
              <a:gd name="T4" fmla="*/ 2147483647 w 960"/>
              <a:gd name="T5" fmla="*/ 2147483647 h 192"/>
              <a:gd name="T6" fmla="*/ 0 60000 65536"/>
              <a:gd name="T7" fmla="*/ 0 60000 65536"/>
              <a:gd name="T8" fmla="*/ 0 60000 65536"/>
              <a:gd name="T9" fmla="*/ 0 w 960"/>
              <a:gd name="T10" fmla="*/ 0 h 192"/>
              <a:gd name="T11" fmla="*/ 960 w 960"/>
              <a:gd name="T12" fmla="*/ 192 h 19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60" h="192">
                <a:moveTo>
                  <a:pt x="0" y="192"/>
                </a:moveTo>
                <a:cubicBezTo>
                  <a:pt x="112" y="96"/>
                  <a:pt x="224" y="0"/>
                  <a:pt x="384" y="0"/>
                </a:cubicBezTo>
                <a:cubicBezTo>
                  <a:pt x="544" y="0"/>
                  <a:pt x="864" y="152"/>
                  <a:pt x="960" y="192"/>
                </a:cubicBezTo>
              </a:path>
            </a:pathLst>
          </a:custGeom>
          <a:noFill/>
          <a:ln w="57150">
            <a:solidFill>
              <a:schemeClr val="tx2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Box 16">
            <a:extLst>
              <a:ext uri="{FF2B5EF4-FFF2-40B4-BE49-F238E27FC236}">
                <a16:creationId xmlns:a16="http://schemas.microsoft.com/office/drawing/2014/main" id="{0EB9E643-478E-B525-74BF-EA74BB20C2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9476" y="3991098"/>
            <a:ext cx="32252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latin typeface="Andale Mono" panose="020B0509000000000004" pitchFamily="49" charset="0"/>
              </a:rPr>
              <a:t>S</a:t>
            </a:r>
            <a:endParaRPr lang="en-US" baseline="-25000">
              <a:latin typeface="Andale Mono" panose="020B0509000000000004" pitchFamily="49" charset="0"/>
            </a:endParaRPr>
          </a:p>
        </p:txBody>
      </p:sp>
      <p:sp>
        <p:nvSpPr>
          <p:cNvPr id="19" name="Oval 5">
            <a:extLst>
              <a:ext uri="{FF2B5EF4-FFF2-40B4-BE49-F238E27FC236}">
                <a16:creationId xmlns:a16="http://schemas.microsoft.com/office/drawing/2014/main" id="{A9B413E4-7F56-9EDF-51CD-81C767720D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6233" y="4578901"/>
            <a:ext cx="1209590" cy="1356184"/>
          </a:xfrm>
          <a:prstGeom prst="ellipse">
            <a:avLst/>
          </a:prstGeom>
          <a:solidFill>
            <a:srgbClr val="FFC000">
              <a:alpha val="50000"/>
            </a:srgbClr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20" name="Oval 5">
            <a:extLst>
              <a:ext uri="{FF2B5EF4-FFF2-40B4-BE49-F238E27FC236}">
                <a16:creationId xmlns:a16="http://schemas.microsoft.com/office/drawing/2014/main" id="{C70C3CB3-D769-7779-237E-D8E398ED2B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4286" y="4005417"/>
            <a:ext cx="1221537" cy="1413693"/>
          </a:xfrm>
          <a:prstGeom prst="ellipse">
            <a:avLst/>
          </a:prstGeom>
          <a:solidFill>
            <a:schemeClr val="folHlink">
              <a:alpha val="50000"/>
            </a:schemeClr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 Box 13">
                <a:extLst>
                  <a:ext uri="{FF2B5EF4-FFF2-40B4-BE49-F238E27FC236}">
                    <a16:creationId xmlns:a16="http://schemas.microsoft.com/office/drawing/2014/main" id="{BF727C91-AC53-DB09-ECDE-9AA254B37DB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74996" y="4121701"/>
                <a:ext cx="498983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1" name="Text Box 13">
                <a:extLst>
                  <a:ext uri="{FF2B5EF4-FFF2-40B4-BE49-F238E27FC236}">
                    <a16:creationId xmlns:a16="http://schemas.microsoft.com/office/drawing/2014/main" id="{BF727C91-AC53-DB09-ECDE-9AA254B37D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74996" y="4121701"/>
                <a:ext cx="498983" cy="369332"/>
              </a:xfrm>
              <a:prstGeom prst="rect">
                <a:avLst/>
              </a:prstGeom>
              <a:blipFill>
                <a:blip r:embed="rId6"/>
                <a:stretch>
                  <a:fillRect b="-13333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 Box 13">
                <a:extLst>
                  <a:ext uri="{FF2B5EF4-FFF2-40B4-BE49-F238E27FC236}">
                    <a16:creationId xmlns:a16="http://schemas.microsoft.com/office/drawing/2014/main" id="{4EAD0005-E3AF-A82A-3E55-8F170A65CC3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88066" y="5419110"/>
                <a:ext cx="504305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b="0"/>
              </a:p>
            </p:txBody>
          </p:sp>
        </mc:Choice>
        <mc:Fallback xmlns="">
          <p:sp>
            <p:nvSpPr>
              <p:cNvPr id="22" name="Text Box 13">
                <a:extLst>
                  <a:ext uri="{FF2B5EF4-FFF2-40B4-BE49-F238E27FC236}">
                    <a16:creationId xmlns:a16="http://schemas.microsoft.com/office/drawing/2014/main" id="{4EAD0005-E3AF-A82A-3E55-8F170A65CC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88066" y="5419110"/>
                <a:ext cx="504305" cy="369332"/>
              </a:xfrm>
              <a:prstGeom prst="rect">
                <a:avLst/>
              </a:prstGeom>
              <a:blipFill>
                <a:blip r:embed="rId7"/>
                <a:stretch>
                  <a:fillRect b="-6452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 Box 13">
                <a:extLst>
                  <a:ext uri="{FF2B5EF4-FFF2-40B4-BE49-F238E27FC236}">
                    <a16:creationId xmlns:a16="http://schemas.microsoft.com/office/drawing/2014/main" id="{DA37762F-894B-B194-E896-97E00296AB1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58602" y="4744908"/>
                <a:ext cx="1019831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i="1" baseline="-25000" dirty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∧</m:t>
                      </m:r>
                      <m:r>
                        <m:rPr>
                          <m:lit/>
                        </m:rPr>
                        <a:rPr lang="en-US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i="1" baseline="-25000" dirty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3" name="Text Box 13">
                <a:extLst>
                  <a:ext uri="{FF2B5EF4-FFF2-40B4-BE49-F238E27FC236}">
                    <a16:creationId xmlns:a16="http://schemas.microsoft.com/office/drawing/2014/main" id="{DA37762F-894B-B194-E896-97E00296AB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58602" y="4744908"/>
                <a:ext cx="1019831" cy="369332"/>
              </a:xfrm>
              <a:prstGeom prst="rect">
                <a:avLst/>
              </a:prstGeom>
              <a:blipFill>
                <a:blip r:embed="rId8"/>
                <a:stretch>
                  <a:fillRect b="-20000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Freeform 15">
            <a:extLst>
              <a:ext uri="{FF2B5EF4-FFF2-40B4-BE49-F238E27FC236}">
                <a16:creationId xmlns:a16="http://schemas.microsoft.com/office/drawing/2014/main" id="{2A2CFCF8-5FE9-17FD-410D-27F0BA9BDBA8}"/>
              </a:ext>
            </a:extLst>
          </p:cNvPr>
          <p:cNvSpPr>
            <a:spLocks/>
          </p:cNvSpPr>
          <p:nvPr/>
        </p:nvSpPr>
        <p:spPr bwMode="auto">
          <a:xfrm flipV="1">
            <a:off x="3996629" y="4911675"/>
            <a:ext cx="990600" cy="45719"/>
          </a:xfrm>
          <a:custGeom>
            <a:avLst/>
            <a:gdLst>
              <a:gd name="T0" fmla="*/ 0 w 960"/>
              <a:gd name="T1" fmla="*/ 2147483647 h 192"/>
              <a:gd name="T2" fmla="*/ 2147483647 w 960"/>
              <a:gd name="T3" fmla="*/ 0 h 192"/>
              <a:gd name="T4" fmla="*/ 2147483647 w 960"/>
              <a:gd name="T5" fmla="*/ 2147483647 h 192"/>
              <a:gd name="T6" fmla="*/ 0 60000 65536"/>
              <a:gd name="T7" fmla="*/ 0 60000 65536"/>
              <a:gd name="T8" fmla="*/ 0 60000 65536"/>
              <a:gd name="T9" fmla="*/ 0 w 960"/>
              <a:gd name="T10" fmla="*/ 0 h 192"/>
              <a:gd name="T11" fmla="*/ 960 w 960"/>
              <a:gd name="T12" fmla="*/ 192 h 19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60" h="192">
                <a:moveTo>
                  <a:pt x="0" y="192"/>
                </a:moveTo>
                <a:cubicBezTo>
                  <a:pt x="112" y="96"/>
                  <a:pt x="224" y="0"/>
                  <a:pt x="384" y="0"/>
                </a:cubicBezTo>
                <a:cubicBezTo>
                  <a:pt x="544" y="0"/>
                  <a:pt x="864" y="152"/>
                  <a:pt x="960" y="192"/>
                </a:cubicBezTo>
              </a:path>
            </a:pathLst>
          </a:custGeom>
          <a:noFill/>
          <a:ln w="57150">
            <a:solidFill>
              <a:schemeClr val="tx2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Box 16">
            <a:extLst>
              <a:ext uri="{FF2B5EF4-FFF2-40B4-BE49-F238E27FC236}">
                <a16:creationId xmlns:a16="http://schemas.microsoft.com/office/drawing/2014/main" id="{694EE67E-EBE2-3BBD-C700-328EC49821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5670" y="4475595"/>
            <a:ext cx="32252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latin typeface="Andale Mono" panose="020B0509000000000004" pitchFamily="49" charset="0"/>
              </a:rPr>
              <a:t>S</a:t>
            </a:r>
            <a:endParaRPr lang="en-US" baseline="-25000">
              <a:latin typeface="Andale Mono" panose="020B050900000000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28160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2D9BBD-1D36-8A4A-C042-DF2034686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B3D5B-FA96-A93C-CF52-CFAF3980F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Disjunction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C270CC-A922-2E8E-5540-BB504D1FF4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/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Disjunction of Hoare triples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BBE107-169C-8A65-F6DC-F59E3BFDA1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4174CF1-175A-4C02-9570-0FB5231111A8}" type="slidenum">
              <a:rPr lang="en-US" altLang="en-US" smtClean="0"/>
              <a:pPr>
                <a:defRPr/>
              </a:pPr>
              <a:t>23</a:t>
            </a:fld>
            <a:endParaRPr lang="en-US" alt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3041622-FDD7-9563-5F9D-B3ABADCA4CF0}"/>
              </a:ext>
            </a:extLst>
          </p:cNvPr>
          <p:cNvSpPr/>
          <p:nvPr/>
        </p:nvSpPr>
        <p:spPr>
          <a:xfrm>
            <a:off x="1447800" y="4508861"/>
            <a:ext cx="6324600" cy="1413693"/>
          </a:xfrm>
          <a:prstGeom prst="roundRect">
            <a:avLst>
              <a:gd name="adj" fmla="val 23100"/>
            </a:avLst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Box 24">
                <a:extLst>
                  <a:ext uri="{FF2B5EF4-FFF2-40B4-BE49-F238E27FC236}">
                    <a16:creationId xmlns:a16="http://schemas.microsoft.com/office/drawing/2014/main" id="{D7DC781F-F6D0-E903-D8B4-45759698E91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69570" y="4611918"/>
                <a:ext cx="6431429" cy="120032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{*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i="1" baseline="-25000" dirty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400" dirty="0"/>
                  <a:t> *}   </a:t>
                </a:r>
                <a:r>
                  <a:rPr lang="en-US" sz="2400" b="1" dirty="0">
                    <a:latin typeface="Andale Mono" panose="020B0509000000000004" pitchFamily="49" charset="0"/>
                  </a:rPr>
                  <a:t>S</a:t>
                </a:r>
                <a:r>
                  <a:rPr lang="en-US" sz="2400" dirty="0"/>
                  <a:t>   {*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400" i="1" baseline="-25000" dirty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/>
                  <a:t>*}          </a:t>
                </a:r>
                <a:r>
                  <a:rPr lang="en-US" sz="2400" dirty="0"/>
                  <a:t>{*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i="1" baseline="-25000" dirty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2400" dirty="0"/>
                  <a:t> *}   </a:t>
                </a:r>
                <a:r>
                  <a:rPr lang="en-US" sz="2400" b="1" dirty="0">
                    <a:latin typeface="Andale Mono" panose="020B0509000000000004" pitchFamily="49" charset="0"/>
                  </a:rPr>
                  <a:t>S</a:t>
                </a:r>
                <a:r>
                  <a:rPr lang="en-US" sz="2400" dirty="0"/>
                  <a:t>   {*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400" i="1" baseline="-25000" dirty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2400" dirty="0"/>
                  <a:t> *} </a:t>
                </a:r>
              </a:p>
              <a:p>
                <a:r>
                  <a:rPr lang="en-US" sz="2400" dirty="0"/>
                  <a:t>----------------------------------------------------------  </a:t>
                </a:r>
              </a:p>
              <a:p>
                <a:r>
                  <a:rPr lang="en-US" sz="2400" dirty="0"/>
                  <a:t>              {*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i="1" baseline="-25000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∨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i="1" baseline="-25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*}   </a:t>
                </a:r>
                <a:r>
                  <a:rPr lang="en-US" sz="2400" b="1" dirty="0">
                    <a:latin typeface="Andale Mono" panose="020B0509000000000004" pitchFamily="49" charset="0"/>
                  </a:rPr>
                  <a:t>S</a:t>
                </a:r>
                <a:r>
                  <a:rPr lang="en-US" sz="2400" dirty="0"/>
                  <a:t>   {*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400" i="1" baseline="-25000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∨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400" i="1" baseline="-25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*} </a:t>
                </a:r>
              </a:p>
            </p:txBody>
          </p:sp>
        </mc:Choice>
        <mc:Fallback xmlns="">
          <p:sp>
            <p:nvSpPr>
              <p:cNvPr id="10" name="Text Box 24">
                <a:extLst>
                  <a:ext uri="{FF2B5EF4-FFF2-40B4-BE49-F238E27FC236}">
                    <a16:creationId xmlns:a16="http://schemas.microsoft.com/office/drawing/2014/main" id="{D7DC781F-F6D0-E903-D8B4-45759698E9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69570" y="4611918"/>
                <a:ext cx="6431429" cy="1200329"/>
              </a:xfrm>
              <a:prstGeom prst="rect">
                <a:avLst/>
              </a:prstGeom>
              <a:blipFill>
                <a:blip r:embed="rId2"/>
                <a:stretch>
                  <a:fillRect l="-1381" t="-4211" b="-11579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Oval 5">
            <a:extLst>
              <a:ext uri="{FF2B5EF4-FFF2-40B4-BE49-F238E27FC236}">
                <a16:creationId xmlns:a16="http://schemas.microsoft.com/office/drawing/2014/main" id="{A8894E8E-8AAF-2E1C-37CB-3A0DD8E797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4288" y="2111811"/>
            <a:ext cx="1209590" cy="1356184"/>
          </a:xfrm>
          <a:prstGeom prst="ellipse">
            <a:avLst/>
          </a:prstGeom>
          <a:solidFill>
            <a:srgbClr val="FFC000">
              <a:alpha val="50000"/>
            </a:srgbClr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8" name="Oval 5">
            <a:extLst>
              <a:ext uri="{FF2B5EF4-FFF2-40B4-BE49-F238E27FC236}">
                <a16:creationId xmlns:a16="http://schemas.microsoft.com/office/drawing/2014/main" id="{0F5FCAA8-2980-AB08-DBAA-033A9292EE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2341" y="1538327"/>
            <a:ext cx="1221537" cy="1413693"/>
          </a:xfrm>
          <a:prstGeom prst="ellipse">
            <a:avLst/>
          </a:prstGeom>
          <a:solidFill>
            <a:schemeClr val="folHlink">
              <a:alpha val="50000"/>
            </a:schemeClr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Box 13">
                <a:extLst>
                  <a:ext uri="{FF2B5EF4-FFF2-40B4-BE49-F238E27FC236}">
                    <a16:creationId xmlns:a16="http://schemas.microsoft.com/office/drawing/2014/main" id="{D6F105BE-3ACC-6DC1-527E-76F1981AD2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53051" y="1654611"/>
                <a:ext cx="468654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1" name="Text Box 13">
                <a:extLst>
                  <a:ext uri="{FF2B5EF4-FFF2-40B4-BE49-F238E27FC236}">
                    <a16:creationId xmlns:a16="http://schemas.microsoft.com/office/drawing/2014/main" id="{D6F105BE-3ACC-6DC1-527E-76F1981AD2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53051" y="1654611"/>
                <a:ext cx="46865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Freeform 15">
            <a:extLst>
              <a:ext uri="{FF2B5EF4-FFF2-40B4-BE49-F238E27FC236}">
                <a16:creationId xmlns:a16="http://schemas.microsoft.com/office/drawing/2014/main" id="{63A2C593-88E4-BF0D-C6BC-6731F90B2C2E}"/>
              </a:ext>
            </a:extLst>
          </p:cNvPr>
          <p:cNvSpPr>
            <a:spLocks/>
          </p:cNvSpPr>
          <p:nvPr/>
        </p:nvSpPr>
        <p:spPr bwMode="auto">
          <a:xfrm flipV="1">
            <a:off x="3463033" y="3178381"/>
            <a:ext cx="990600" cy="65314"/>
          </a:xfrm>
          <a:custGeom>
            <a:avLst/>
            <a:gdLst>
              <a:gd name="T0" fmla="*/ 0 w 960"/>
              <a:gd name="T1" fmla="*/ 2147483647 h 192"/>
              <a:gd name="T2" fmla="*/ 2147483647 w 960"/>
              <a:gd name="T3" fmla="*/ 0 h 192"/>
              <a:gd name="T4" fmla="*/ 2147483647 w 960"/>
              <a:gd name="T5" fmla="*/ 2147483647 h 192"/>
              <a:gd name="T6" fmla="*/ 0 60000 65536"/>
              <a:gd name="T7" fmla="*/ 0 60000 65536"/>
              <a:gd name="T8" fmla="*/ 0 60000 65536"/>
              <a:gd name="T9" fmla="*/ 0 w 960"/>
              <a:gd name="T10" fmla="*/ 0 h 192"/>
              <a:gd name="T11" fmla="*/ 960 w 960"/>
              <a:gd name="T12" fmla="*/ 192 h 19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60" h="192">
                <a:moveTo>
                  <a:pt x="0" y="192"/>
                </a:moveTo>
                <a:cubicBezTo>
                  <a:pt x="112" y="96"/>
                  <a:pt x="224" y="0"/>
                  <a:pt x="384" y="0"/>
                </a:cubicBezTo>
                <a:cubicBezTo>
                  <a:pt x="544" y="0"/>
                  <a:pt x="864" y="152"/>
                  <a:pt x="960" y="192"/>
                </a:cubicBezTo>
              </a:path>
            </a:pathLst>
          </a:custGeom>
          <a:noFill/>
          <a:ln w="57150">
            <a:solidFill>
              <a:schemeClr val="tx2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Box 16">
            <a:extLst>
              <a:ext uri="{FF2B5EF4-FFF2-40B4-BE49-F238E27FC236}">
                <a16:creationId xmlns:a16="http://schemas.microsoft.com/office/drawing/2014/main" id="{EEADE5FB-1675-AC29-834F-E463A0EB77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0990" y="2841706"/>
            <a:ext cx="32252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latin typeface="Andale Mono" panose="020B0509000000000004" pitchFamily="49" charset="0"/>
              </a:rPr>
              <a:t>S</a:t>
            </a:r>
            <a:endParaRPr lang="en-US" baseline="-25000">
              <a:latin typeface="Andale Mono" panose="020B05090000000000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Box 13">
                <a:extLst>
                  <a:ext uri="{FF2B5EF4-FFF2-40B4-BE49-F238E27FC236}">
                    <a16:creationId xmlns:a16="http://schemas.microsoft.com/office/drawing/2014/main" id="{FEFCD361-34D8-143C-EBEF-4D14B2DACA8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66121" y="2952020"/>
                <a:ext cx="473976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b="0"/>
              </a:p>
            </p:txBody>
          </p:sp>
        </mc:Choice>
        <mc:Fallback xmlns="">
          <p:sp>
            <p:nvSpPr>
              <p:cNvPr id="14" name="Text Box 13">
                <a:extLst>
                  <a:ext uri="{FF2B5EF4-FFF2-40B4-BE49-F238E27FC236}">
                    <a16:creationId xmlns:a16="http://schemas.microsoft.com/office/drawing/2014/main" id="{FEFCD361-34D8-143C-EBEF-4D14B2DACA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66121" y="2952020"/>
                <a:ext cx="473976" cy="369332"/>
              </a:xfrm>
              <a:prstGeom prst="rect">
                <a:avLst/>
              </a:prstGeom>
              <a:blipFill>
                <a:blip r:embed="rId4"/>
                <a:stretch>
                  <a:fillRect b="-3333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Freeform 15">
            <a:extLst>
              <a:ext uri="{FF2B5EF4-FFF2-40B4-BE49-F238E27FC236}">
                <a16:creationId xmlns:a16="http://schemas.microsoft.com/office/drawing/2014/main" id="{4F31893C-91B6-2D40-8284-3C1FB3F0C30A}"/>
              </a:ext>
            </a:extLst>
          </p:cNvPr>
          <p:cNvSpPr>
            <a:spLocks/>
          </p:cNvSpPr>
          <p:nvPr/>
        </p:nvSpPr>
        <p:spPr bwMode="auto">
          <a:xfrm>
            <a:off x="3463033" y="1976861"/>
            <a:ext cx="990600" cy="65314"/>
          </a:xfrm>
          <a:custGeom>
            <a:avLst/>
            <a:gdLst>
              <a:gd name="T0" fmla="*/ 0 w 960"/>
              <a:gd name="T1" fmla="*/ 2147483647 h 192"/>
              <a:gd name="T2" fmla="*/ 2147483647 w 960"/>
              <a:gd name="T3" fmla="*/ 0 h 192"/>
              <a:gd name="T4" fmla="*/ 2147483647 w 960"/>
              <a:gd name="T5" fmla="*/ 2147483647 h 192"/>
              <a:gd name="T6" fmla="*/ 0 60000 65536"/>
              <a:gd name="T7" fmla="*/ 0 60000 65536"/>
              <a:gd name="T8" fmla="*/ 0 60000 65536"/>
              <a:gd name="T9" fmla="*/ 0 w 960"/>
              <a:gd name="T10" fmla="*/ 0 h 192"/>
              <a:gd name="T11" fmla="*/ 960 w 960"/>
              <a:gd name="T12" fmla="*/ 192 h 19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60" h="192">
                <a:moveTo>
                  <a:pt x="0" y="192"/>
                </a:moveTo>
                <a:cubicBezTo>
                  <a:pt x="112" y="96"/>
                  <a:pt x="224" y="0"/>
                  <a:pt x="384" y="0"/>
                </a:cubicBezTo>
                <a:cubicBezTo>
                  <a:pt x="544" y="0"/>
                  <a:pt x="864" y="152"/>
                  <a:pt x="960" y="192"/>
                </a:cubicBezTo>
              </a:path>
            </a:pathLst>
          </a:custGeom>
          <a:noFill/>
          <a:ln w="57150">
            <a:solidFill>
              <a:schemeClr val="tx2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Box 16">
            <a:extLst>
              <a:ext uri="{FF2B5EF4-FFF2-40B4-BE49-F238E27FC236}">
                <a16:creationId xmlns:a16="http://schemas.microsoft.com/office/drawing/2014/main" id="{D0A531D2-1CC8-D316-7223-84AD216378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0990" y="1574872"/>
            <a:ext cx="32252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latin typeface="Andale Mono" panose="020B0509000000000004" pitchFamily="49" charset="0"/>
              </a:rPr>
              <a:t>S</a:t>
            </a:r>
            <a:endParaRPr lang="en-US" baseline="-25000">
              <a:latin typeface="Andale Mono" panose="020B0509000000000004" pitchFamily="49" charset="0"/>
            </a:endParaRPr>
          </a:p>
        </p:txBody>
      </p:sp>
      <p:sp>
        <p:nvSpPr>
          <p:cNvPr id="18" name="Oval 5">
            <a:extLst>
              <a:ext uri="{FF2B5EF4-FFF2-40B4-BE49-F238E27FC236}">
                <a16:creationId xmlns:a16="http://schemas.microsoft.com/office/drawing/2014/main" id="{863EE6E4-F422-25C3-C16A-5F397212FB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7747" y="2162675"/>
            <a:ext cx="1209590" cy="1356184"/>
          </a:xfrm>
          <a:prstGeom prst="ellipse">
            <a:avLst/>
          </a:prstGeom>
          <a:solidFill>
            <a:srgbClr val="FFC000">
              <a:alpha val="50000"/>
            </a:srgbClr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19" name="Oval 5">
            <a:extLst>
              <a:ext uri="{FF2B5EF4-FFF2-40B4-BE49-F238E27FC236}">
                <a16:creationId xmlns:a16="http://schemas.microsoft.com/office/drawing/2014/main" id="{F16A1F93-4AFD-70DE-69E2-3ACB94E72F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1589191"/>
            <a:ext cx="1221537" cy="1413693"/>
          </a:xfrm>
          <a:prstGeom prst="ellipse">
            <a:avLst/>
          </a:prstGeom>
          <a:solidFill>
            <a:schemeClr val="folHlink">
              <a:alpha val="50000"/>
            </a:schemeClr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 Box 13">
                <a:extLst>
                  <a:ext uri="{FF2B5EF4-FFF2-40B4-BE49-F238E27FC236}">
                    <a16:creationId xmlns:a16="http://schemas.microsoft.com/office/drawing/2014/main" id="{D171BC31-C36D-0238-8E44-588DFCB4387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56510" y="1705475"/>
                <a:ext cx="498983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0" name="Text Box 13">
                <a:extLst>
                  <a:ext uri="{FF2B5EF4-FFF2-40B4-BE49-F238E27FC236}">
                    <a16:creationId xmlns:a16="http://schemas.microsoft.com/office/drawing/2014/main" id="{D171BC31-C36D-0238-8E44-588DFCB438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56510" y="1705475"/>
                <a:ext cx="498983" cy="369332"/>
              </a:xfrm>
              <a:prstGeom prst="rect">
                <a:avLst/>
              </a:prstGeom>
              <a:blipFill>
                <a:blip r:embed="rId5"/>
                <a:stretch>
                  <a:fillRect b="-10000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 Box 13">
                <a:extLst>
                  <a:ext uri="{FF2B5EF4-FFF2-40B4-BE49-F238E27FC236}">
                    <a16:creationId xmlns:a16="http://schemas.microsoft.com/office/drawing/2014/main" id="{55C1476B-1B6D-60DD-9E41-A2A9C013CC2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69580" y="3002884"/>
                <a:ext cx="504305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b="0"/>
              </a:p>
            </p:txBody>
          </p:sp>
        </mc:Choice>
        <mc:Fallback xmlns="">
          <p:sp>
            <p:nvSpPr>
              <p:cNvPr id="21" name="Text Box 13">
                <a:extLst>
                  <a:ext uri="{FF2B5EF4-FFF2-40B4-BE49-F238E27FC236}">
                    <a16:creationId xmlns:a16="http://schemas.microsoft.com/office/drawing/2014/main" id="{55C1476B-1B6D-60DD-9E41-A2A9C013CC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69580" y="3002884"/>
                <a:ext cx="504305" cy="369332"/>
              </a:xfrm>
              <a:prstGeom prst="rect">
                <a:avLst/>
              </a:prstGeom>
              <a:blipFill>
                <a:blip r:embed="rId6"/>
                <a:stretch>
                  <a:fillRect b="-10000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 Box 16">
            <a:extLst>
              <a:ext uri="{FF2B5EF4-FFF2-40B4-BE49-F238E27FC236}">
                <a16:creationId xmlns:a16="http://schemas.microsoft.com/office/drawing/2014/main" id="{C14FB2A0-421A-76BC-8325-DEF7E376C6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67184" y="2059369"/>
            <a:ext cx="32252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latin typeface="Andale Mono" panose="020B0509000000000004" pitchFamily="49" charset="0"/>
              </a:rPr>
              <a:t>S</a:t>
            </a:r>
            <a:endParaRPr lang="en-US" baseline="-25000">
              <a:latin typeface="Andale Mono" panose="020B0509000000000004" pitchFamily="49" charset="0"/>
            </a:endParaRPr>
          </a:p>
        </p:txBody>
      </p:sp>
      <p:sp>
        <p:nvSpPr>
          <p:cNvPr id="26" name="Oval 5">
            <a:extLst>
              <a:ext uri="{FF2B5EF4-FFF2-40B4-BE49-F238E27FC236}">
                <a16:creationId xmlns:a16="http://schemas.microsoft.com/office/drawing/2014/main" id="{B05DA84F-7190-91FA-D2A3-247ED21DED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1" y="1291190"/>
            <a:ext cx="1825989" cy="2380364"/>
          </a:xfrm>
          <a:prstGeom prst="ellipse">
            <a:avLst/>
          </a:prstGeom>
          <a:noFill/>
          <a:ln w="34925">
            <a:solidFill>
              <a:schemeClr val="accent5">
                <a:lumMod val="50000"/>
              </a:schemeClr>
            </a:solidFill>
            <a:prstDash val="sysDash"/>
            <a:round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27" name="Oval 5">
            <a:extLst>
              <a:ext uri="{FF2B5EF4-FFF2-40B4-BE49-F238E27FC236}">
                <a16:creationId xmlns:a16="http://schemas.microsoft.com/office/drawing/2014/main" id="{BCF3100C-7B09-22D5-5BBB-204FB3BCD4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1299" y="1328126"/>
            <a:ext cx="1825989" cy="2380364"/>
          </a:xfrm>
          <a:prstGeom prst="ellipse">
            <a:avLst/>
          </a:prstGeom>
          <a:noFill/>
          <a:ln w="34925">
            <a:solidFill>
              <a:schemeClr val="accent5">
                <a:lumMod val="50000"/>
              </a:schemeClr>
            </a:solidFill>
            <a:prstDash val="sysDash"/>
            <a:round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62D6ED9-3353-ACBD-7E2D-9D35EEE5A078}"/>
              </a:ext>
            </a:extLst>
          </p:cNvPr>
          <p:cNvCxnSpPr/>
          <p:nvPr/>
        </p:nvCxnSpPr>
        <p:spPr>
          <a:xfrm>
            <a:off x="3803378" y="2481372"/>
            <a:ext cx="286330" cy="0"/>
          </a:xfrm>
          <a:prstGeom prst="straightConnector1">
            <a:avLst/>
          </a:prstGeom>
          <a:ln w="38100">
            <a:solidFill>
              <a:srgbClr val="00653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 Box 13">
                <a:extLst>
                  <a:ext uri="{FF2B5EF4-FFF2-40B4-BE49-F238E27FC236}">
                    <a16:creationId xmlns:a16="http://schemas.microsoft.com/office/drawing/2014/main" id="{3F7897CA-F37B-E328-624D-FF2C4066622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25770" y="1441742"/>
                <a:ext cx="994182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i="1" baseline="-25000" dirty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∨</m:t>
                      </m:r>
                      <m:r>
                        <m:rPr>
                          <m:lit/>
                        </m:rPr>
                        <a:rPr lang="en-US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i="1" baseline="-25000" dirty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0" name="Text Box 13">
                <a:extLst>
                  <a:ext uri="{FF2B5EF4-FFF2-40B4-BE49-F238E27FC236}">
                    <a16:creationId xmlns:a16="http://schemas.microsoft.com/office/drawing/2014/main" id="{3F7897CA-F37B-E328-624D-FF2C406662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25770" y="1441742"/>
                <a:ext cx="994182" cy="369332"/>
              </a:xfrm>
              <a:prstGeom prst="rect">
                <a:avLst/>
              </a:prstGeom>
              <a:blipFill>
                <a:blip r:embed="rId7"/>
                <a:stretch>
                  <a:fillRect b="-20000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 Box 13">
                <a:extLst>
                  <a:ext uri="{FF2B5EF4-FFF2-40B4-BE49-F238E27FC236}">
                    <a16:creationId xmlns:a16="http://schemas.microsoft.com/office/drawing/2014/main" id="{ADBE7E34-F878-CB05-64EE-6350347F866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638385" y="1388131"/>
                <a:ext cx="1002197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i="1" baseline="-25000" dirty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b="0" i="1" baseline="-2500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∨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i="1" baseline="-25000" dirty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1" name="Text Box 13">
                <a:extLst>
                  <a:ext uri="{FF2B5EF4-FFF2-40B4-BE49-F238E27FC236}">
                    <a16:creationId xmlns:a16="http://schemas.microsoft.com/office/drawing/2014/main" id="{ADBE7E34-F878-CB05-64EE-6350347F86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38385" y="1388131"/>
                <a:ext cx="1002197" cy="369332"/>
              </a:xfrm>
              <a:prstGeom prst="rect">
                <a:avLst/>
              </a:prstGeom>
              <a:blipFill>
                <a:blip r:embed="rId8"/>
                <a:stretch>
                  <a:fillRect b="-23333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645988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C2434-8EAF-2E37-B91E-A972A6239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4">
            <a:extLst>
              <a:ext uri="{FF2B5EF4-FFF2-40B4-BE49-F238E27FC236}">
                <a16:creationId xmlns:a16="http://schemas.microsoft.com/office/drawing/2014/main" id="{A005B4B6-1B4D-2334-95B7-657003A40FD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/>
              <a:t>Weakest pre-condition</a:t>
            </a:r>
            <a:br>
              <a:rPr lang="en-US" sz="3600"/>
            </a:br>
            <a:r>
              <a:rPr lang="en-US" sz="3600"/>
              <a:t>LN Section 6.2</a:t>
            </a:r>
            <a:endParaRPr lang="nl-NL" sz="36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ADEB12-B51D-F8A0-AE0E-9D82116E5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25FCE9C-C478-4680-9EC0-D9E6B1356693}" type="slidenum">
              <a:rPr lang="en-US" altLang="en-US" smtClean="0"/>
              <a:pPr>
                <a:defRPr/>
              </a:pPr>
              <a:t>24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088954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7F69C28-E206-4A17-8481-F412177FF35C}" type="slidenum">
              <a:rPr lang="en-US" altLang="en-US"/>
              <a:pPr>
                <a:defRPr/>
              </a:pPr>
              <a:t>25</a:t>
            </a:fld>
            <a:endParaRPr lang="en-US" altLang="en-US"/>
          </a:p>
        </p:txBody>
      </p:sp>
      <p:sp>
        <p:nvSpPr>
          <p:cNvPr id="4" name="Slide Number Placeholder 3"/>
          <p:cNvSpPr txBox="1">
            <a:spLocks noGrp="1"/>
          </p:cNvSpPr>
          <p:nvPr/>
        </p:nvSpPr>
        <p:spPr bwMode="auto">
          <a:xfrm>
            <a:off x="7010400" y="64008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165CE2A8-E5A3-4232-B216-2E7F87031EB4}" type="slidenum">
              <a:rPr lang="en-US" altLang="en-US" sz="1200">
                <a:latin typeface="+mj-lt"/>
              </a:rPr>
              <a:pPr algn="r">
                <a:defRPr/>
              </a:pPr>
              <a:t>25</a:t>
            </a:fld>
            <a:endParaRPr lang="en-US" altLang="en-US" sz="1200">
              <a:latin typeface="+mj-lt"/>
            </a:endParaRPr>
          </a:p>
        </p:txBody>
      </p:sp>
      <p:sp>
        <p:nvSpPr>
          <p:cNvPr id="1331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How does a proof proceed now 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867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eaLnBrk="1" hangingPunct="1"/>
                <a:r>
                  <a:rPr lang="en-US"/>
                  <a:t>Example:</a:t>
                </a:r>
                <a:br>
                  <a:rPr lang="en-US">
                    <a:solidFill>
                      <a:srgbClr val="0000CC"/>
                    </a:solidFill>
                  </a:rPr>
                </a:br>
                <a:r>
                  <a:rPr lang="en-US">
                    <a:solidFill>
                      <a:srgbClr val="0000CC"/>
                    </a:solidFill>
                  </a:rPr>
                  <a:t>{*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err="1">
                        <a:solidFill>
                          <a:srgbClr val="0000CC"/>
                        </a:solidFill>
                        <a:latin typeface="Cambria Math" panose="02040503050406030204" pitchFamily="18" charset="0"/>
                        <a:sym typeface="Symbol" pitchFamily="16" charset="2"/>
                      </a:rPr>
                      <m:t></m:t>
                    </m:r>
                    <m:r>
                      <a:rPr lang="en-US" i="1" dirty="0" err="1">
                        <a:solidFill>
                          <a:srgbClr val="0000CC"/>
                        </a:solidFill>
                        <a:latin typeface="Cambria Math" panose="02040503050406030204" pitchFamily="18" charset="0"/>
                        <a:sym typeface="Symbol" pitchFamily="16" charset="2"/>
                      </a:rPr>
                      <m:t>𝑦</m:t>
                    </m:r>
                  </m:oMath>
                </a14:m>
                <a:r>
                  <a:rPr lang="en-US" dirty="0">
                    <a:solidFill>
                      <a:srgbClr val="0000CC"/>
                    </a:solidFill>
                    <a:sym typeface="Symbol" pitchFamily="16" charset="2"/>
                  </a:rPr>
                  <a:t> *}</a:t>
                </a:r>
                <a:r>
                  <a:rPr lang="en-US" dirty="0">
                    <a:sym typeface="Symbol" pitchFamily="16" charset="2"/>
                  </a:rPr>
                  <a:t>    </a:t>
                </a:r>
                <a:r>
                  <a:rPr lang="en-US" b="1" dirty="0" err="1">
                    <a:latin typeface="Andale Mono" panose="020B0509000000000004" pitchFamily="49" charset="0"/>
                  </a:rPr>
                  <a:t>tmp</a:t>
                </a:r>
                <a:r>
                  <a:rPr lang="en-US" b="1" dirty="0">
                    <a:latin typeface="Andale Mono" panose="020B0509000000000004" pitchFamily="49" charset="0"/>
                  </a:rPr>
                  <a:t>:= </a:t>
                </a:r>
                <a:r>
                  <a:rPr lang="en-US" b="1">
                    <a:latin typeface="Andale Mono" panose="020B0509000000000004" pitchFamily="49" charset="0"/>
                  </a:rPr>
                  <a:t>x ; </a:t>
                </a:r>
                <a:r>
                  <a:rPr lang="en-US" b="1" dirty="0">
                    <a:latin typeface="Andale Mono" panose="020B0509000000000004" pitchFamily="49" charset="0"/>
                  </a:rPr>
                  <a:t>x:=y ; y:=</a:t>
                </a:r>
                <a:r>
                  <a:rPr lang="en-US" b="1" dirty="0" err="1">
                    <a:latin typeface="Andale Mono" panose="020B0509000000000004" pitchFamily="49" charset="0"/>
                  </a:rPr>
                  <a:t>tmp</a:t>
                </a:r>
                <a:r>
                  <a:rPr lang="en-US" b="1" dirty="0">
                    <a:latin typeface="Andale Mono" panose="020B0509000000000004" pitchFamily="49" charset="0"/>
                  </a:rPr>
                  <a:t>   </a:t>
                </a:r>
                <a:r>
                  <a:rPr lang="en-US" dirty="0">
                    <a:solidFill>
                      <a:srgbClr val="0000CC"/>
                    </a:solidFill>
                  </a:rPr>
                  <a:t>{*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err="1">
                        <a:solidFill>
                          <a:srgbClr val="0000CC"/>
                        </a:solidFill>
                        <a:latin typeface="Cambria Math" panose="02040503050406030204" pitchFamily="18" charset="0"/>
                        <a:sym typeface="Symbol" pitchFamily="16" charset="2"/>
                      </a:rPr>
                      <m:t></m:t>
                    </m:r>
                    <m:r>
                      <a:rPr lang="en-US" i="1" dirty="0" err="1">
                        <a:solidFill>
                          <a:srgbClr val="0000CC"/>
                        </a:solidFill>
                        <a:latin typeface="Cambria Math" panose="02040503050406030204" pitchFamily="18" charset="0"/>
                        <a:sym typeface="Symbol" pitchFamily="16" charset="2"/>
                      </a:rPr>
                      <m:t>𝑦</m:t>
                    </m:r>
                  </m:oMath>
                </a14:m>
                <a:r>
                  <a:rPr lang="en-US" dirty="0">
                    <a:solidFill>
                      <a:srgbClr val="0000CC"/>
                    </a:solidFill>
                    <a:sym typeface="Symbol" pitchFamily="16" charset="2"/>
                  </a:rPr>
                  <a:t> *}</a:t>
                </a:r>
                <a:r>
                  <a:rPr lang="en-US" dirty="0"/>
                  <a:t> </a:t>
                </a:r>
              </a:p>
              <a:p>
                <a:pPr eaLnBrk="1" hangingPunct="1"/>
                <a:endParaRPr lang="en-US" dirty="0"/>
              </a:p>
              <a:p>
                <a:pPr eaLnBrk="1" hangingPunct="1"/>
                <a:r>
                  <a:rPr lang="en-US"/>
                  <a:t>To use the </a:t>
                </a:r>
                <a:r>
                  <a:rPr lang="en-US">
                    <a:latin typeface="Andale Mono" panose="020B0509000000000004" pitchFamily="49" charset="0"/>
                  </a:rPr>
                  <a:t>SEQ</a:t>
                </a:r>
                <a:r>
                  <a:rPr lang="en-US"/>
                  <a:t> rule you need intermediate </a:t>
                </a:r>
                <a:r>
                  <a:rPr lang="en-US" dirty="0"/>
                  <a:t>assertions:</a:t>
                </a:r>
                <a:br>
                  <a:rPr lang="en-US" dirty="0"/>
                </a:br>
                <a:br>
                  <a:rPr lang="en-US" dirty="0"/>
                </a:br>
                <a:r>
                  <a:rPr lang="en-US" dirty="0"/>
                  <a:t> </a:t>
                </a:r>
                <a:r>
                  <a:rPr lang="en-US" dirty="0">
                    <a:solidFill>
                      <a:srgbClr val="0000CC"/>
                    </a:solidFill>
                  </a:rPr>
                  <a:t>{*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err="1">
                        <a:solidFill>
                          <a:srgbClr val="0000CC"/>
                        </a:solidFill>
                        <a:latin typeface="Cambria Math" panose="02040503050406030204" pitchFamily="18" charset="0"/>
                        <a:sym typeface="Symbol" pitchFamily="16" charset="2"/>
                      </a:rPr>
                      <m:t></m:t>
                    </m:r>
                    <m:r>
                      <a:rPr lang="en-US" i="1" dirty="0" err="1">
                        <a:solidFill>
                          <a:srgbClr val="0000CC"/>
                        </a:solidFill>
                        <a:latin typeface="Cambria Math" panose="02040503050406030204" pitchFamily="18" charset="0"/>
                        <a:sym typeface="Symbol" pitchFamily="16" charset="2"/>
                      </a:rPr>
                      <m:t>𝑦</m:t>
                    </m:r>
                  </m:oMath>
                </a14:m>
                <a:r>
                  <a:rPr lang="en-US" dirty="0">
                    <a:solidFill>
                      <a:srgbClr val="0000CC"/>
                    </a:solidFill>
                    <a:sym typeface="Symbol" pitchFamily="16" charset="2"/>
                  </a:rPr>
                  <a:t> </a:t>
                </a:r>
                <a:r>
                  <a:rPr lang="en-US">
                    <a:solidFill>
                      <a:srgbClr val="0000CC"/>
                    </a:solidFill>
                    <a:sym typeface="Symbol" pitchFamily="16" charset="2"/>
                  </a:rPr>
                  <a:t>*}</a:t>
                </a:r>
                <a:r>
                  <a:rPr lang="en-US">
                    <a:sym typeface="Symbol" pitchFamily="16" charset="2"/>
                  </a:rPr>
                  <a:t>  </a:t>
                </a:r>
                <a:r>
                  <a:rPr lang="en-US" b="1">
                    <a:latin typeface="Andale Mono" panose="020B0509000000000004" pitchFamily="49" charset="0"/>
                  </a:rPr>
                  <a:t>tmp</a:t>
                </a:r>
                <a:r>
                  <a:rPr lang="en-US" b="1" dirty="0">
                    <a:latin typeface="Andale Mono" panose="020B0509000000000004" pitchFamily="49" charset="0"/>
                  </a:rPr>
                  <a:t>:= </a:t>
                </a:r>
                <a:r>
                  <a:rPr lang="en-US" b="1">
                    <a:latin typeface="Andale Mono" panose="020B0509000000000004" pitchFamily="49" charset="0"/>
                  </a:rPr>
                  <a:t>x </a:t>
                </a:r>
                <a:r>
                  <a:rPr lang="en-US">
                    <a:solidFill>
                      <a:srgbClr val="CC0000"/>
                    </a:solidFill>
                  </a:rPr>
                  <a:t>{*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CC0000"/>
                        </a:solidFill>
                        <a:latin typeface="Cambria Math" panose="02040503050406030204" pitchFamily="18" charset="0"/>
                      </a:rPr>
                      <m:t>?</m:t>
                    </m:r>
                  </m:oMath>
                </a14:m>
                <a:r>
                  <a:rPr lang="en-US" dirty="0">
                    <a:solidFill>
                      <a:srgbClr val="CC0000"/>
                    </a:solidFill>
                  </a:rPr>
                  <a:t> *}</a:t>
                </a:r>
                <a:r>
                  <a:rPr lang="en-US" dirty="0"/>
                  <a:t> ; </a:t>
                </a:r>
                <a:r>
                  <a:rPr lang="en-US" b="1" dirty="0">
                    <a:latin typeface="Andale Mono" panose="020B0509000000000004" pitchFamily="49" charset="0"/>
                  </a:rPr>
                  <a:t>x:=y </a:t>
                </a:r>
                <a:r>
                  <a:rPr lang="en-US" dirty="0">
                    <a:solidFill>
                      <a:srgbClr val="CC0000"/>
                    </a:solidFill>
                  </a:rPr>
                  <a:t>{*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CC0000"/>
                        </a:solidFill>
                        <a:latin typeface="Cambria Math" panose="02040503050406030204" pitchFamily="18" charset="0"/>
                      </a:rPr>
                      <m:t>?</m:t>
                    </m:r>
                  </m:oMath>
                </a14:m>
                <a:r>
                  <a:rPr lang="en-US" dirty="0">
                    <a:solidFill>
                      <a:srgbClr val="CC0000"/>
                    </a:solidFill>
                  </a:rPr>
                  <a:t> *}</a:t>
                </a:r>
                <a:r>
                  <a:rPr lang="en-US" dirty="0"/>
                  <a:t> ; </a:t>
                </a:r>
                <a:r>
                  <a:rPr lang="en-US" b="1" dirty="0">
                    <a:latin typeface="Andale Mono" panose="020B0509000000000004" pitchFamily="49" charset="0"/>
                  </a:rPr>
                  <a:t>y:=</a:t>
                </a:r>
                <a:r>
                  <a:rPr lang="en-US" b="1" err="1">
                    <a:latin typeface="Andale Mono" panose="020B0509000000000004" pitchFamily="49" charset="0"/>
                  </a:rPr>
                  <a:t>tmp</a:t>
                </a:r>
                <a:r>
                  <a:rPr lang="en-US" b="1">
                    <a:latin typeface="Andale Mono" panose="020B0509000000000004" pitchFamily="49" charset="0"/>
                  </a:rPr>
                  <a:t> </a:t>
                </a:r>
                <a:r>
                  <a:rPr lang="en-US">
                    <a:solidFill>
                      <a:srgbClr val="0000CC"/>
                    </a:solidFill>
                  </a:rPr>
                  <a:t>{*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err="1">
                        <a:solidFill>
                          <a:srgbClr val="0000CC"/>
                        </a:solidFill>
                        <a:latin typeface="Cambria Math" panose="02040503050406030204" pitchFamily="18" charset="0"/>
                        <a:sym typeface="Symbol" pitchFamily="16" charset="2"/>
                      </a:rPr>
                      <m:t></m:t>
                    </m:r>
                    <m:r>
                      <a:rPr lang="en-US" i="1" dirty="0" err="1">
                        <a:solidFill>
                          <a:srgbClr val="0000CC"/>
                        </a:solidFill>
                        <a:latin typeface="Cambria Math" panose="02040503050406030204" pitchFamily="18" charset="0"/>
                        <a:sym typeface="Symbol" pitchFamily="16" charset="2"/>
                      </a:rPr>
                      <m:t>𝑦</m:t>
                    </m:r>
                  </m:oMath>
                </a14:m>
                <a:r>
                  <a:rPr lang="en-US" dirty="0">
                    <a:solidFill>
                      <a:srgbClr val="0000CC"/>
                    </a:solidFill>
                    <a:sym typeface="Symbol" pitchFamily="16" charset="2"/>
                  </a:rPr>
                  <a:t> *}</a:t>
                </a:r>
                <a:r>
                  <a:rPr lang="en-US" dirty="0"/>
                  <a:t> </a:t>
                </a:r>
              </a:p>
              <a:p>
                <a:pPr eaLnBrk="1" hangingPunct="1"/>
                <a:endParaRPr lang="en-US" dirty="0"/>
              </a:p>
              <a:p>
                <a:pPr eaLnBrk="1" hangingPunct="1"/>
                <a:r>
                  <a:rPr lang="en-US"/>
                  <a:t>Inferance rules of Hoare logic tell us how to prove the claim once we have intermediate assertions</a:t>
                </a:r>
              </a:p>
              <a:p>
                <a:pPr eaLnBrk="1" hangingPunct="1"/>
                <a:endParaRPr lang="en-US"/>
              </a:p>
              <a:p>
                <a:pPr eaLnBrk="1" hangingPunct="1"/>
                <a:r>
                  <a:rPr lang="en-US"/>
                  <a:t>But they </a:t>
                </a:r>
                <a:r>
                  <a:rPr lang="en-US" b="1"/>
                  <a:t>do </a:t>
                </a:r>
                <a:r>
                  <a:rPr lang="en-US" b="1" dirty="0"/>
                  <a:t>not</a:t>
                </a:r>
                <a:r>
                  <a:rPr lang="en-US" dirty="0"/>
                  <a:t> tell us how to come up </a:t>
                </a:r>
                <a:r>
                  <a:rPr lang="en-US"/>
                  <a:t>with these intermediate </a:t>
                </a:r>
                <a:r>
                  <a:rPr lang="en-US" dirty="0"/>
                  <a:t>assertions in the </a:t>
                </a:r>
                <a:r>
                  <a:rPr lang="en-US"/>
                  <a:t>first place.</a:t>
                </a:r>
                <a:br>
                  <a:rPr lang="en-US" dirty="0"/>
                </a:br>
                <a:endParaRPr lang="en-US" dirty="0"/>
              </a:p>
            </p:txBody>
          </p:sp>
        </mc:Choice>
        <mc:Fallback xmlns="">
          <p:sp>
            <p:nvSpPr>
              <p:cNvPr id="36867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3"/>
                <a:stretch>
                  <a:fillRect l="-292" t="-978" r="-4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7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1807057-A1F2-5E4E-A465-2640BCBFB11B}"/>
              </a:ext>
            </a:extLst>
          </p:cNvPr>
          <p:cNvSpPr/>
          <p:nvPr/>
        </p:nvSpPr>
        <p:spPr>
          <a:xfrm>
            <a:off x="2362200" y="1828800"/>
            <a:ext cx="4419600" cy="762000"/>
          </a:xfrm>
          <a:prstGeom prst="roundRect">
            <a:avLst>
              <a:gd name="adj" fmla="val 33084"/>
            </a:avLst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DAE3963-BDD3-410C-BBB4-B82CD9BA0223}" type="slidenum">
              <a:rPr lang="en-US" altLang="en-US"/>
              <a:pPr>
                <a:defRPr/>
              </a:pPr>
              <a:t>26</a:t>
            </a:fld>
            <a:endParaRPr lang="en-US" altLang="en-US"/>
          </a:p>
        </p:txBody>
      </p:sp>
      <p:sp>
        <p:nvSpPr>
          <p:cNvPr id="4" name="Slide Number Placeholder 3"/>
          <p:cNvSpPr txBox="1">
            <a:spLocks noGrp="1"/>
          </p:cNvSpPr>
          <p:nvPr/>
        </p:nvSpPr>
        <p:spPr bwMode="auto">
          <a:xfrm>
            <a:off x="7010400" y="64008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84C8C9D8-500C-4D5E-8870-8FE2C411324D}" type="slidenum">
              <a:rPr lang="en-US" altLang="en-US" sz="1200">
                <a:latin typeface="+mj-lt"/>
              </a:rPr>
              <a:pPr algn="r">
                <a:defRPr/>
              </a:pPr>
              <a:t>26</a:t>
            </a:fld>
            <a:endParaRPr lang="en-US" altLang="en-US" sz="1200">
              <a:latin typeface="+mj-lt"/>
            </a:endParaRPr>
          </a:p>
        </p:txBody>
      </p:sp>
      <p:sp>
        <p:nvSpPr>
          <p:cNvPr id="1434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Weakest pre-condition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341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eaLnBrk="1" hangingPunct="1"/>
                <a:r>
                  <a:rPr lang="en-US"/>
                  <a:t>We want a function</a:t>
                </a:r>
                <a:br>
                  <a:rPr lang="en-US" dirty="0"/>
                </a:br>
                <a:br>
                  <a:rPr lang="en-US" dirty="0"/>
                </a:br>
                <a:r>
                  <a:rPr lang="en-US" dirty="0"/>
                  <a:t>	                 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𝒘𝒑</m:t>
                    </m:r>
                  </m:oMath>
                </a14:m>
                <a:r>
                  <a:rPr lang="en-US" dirty="0"/>
                  <a:t> : Stmt </a:t>
                </a:r>
                <a:r>
                  <a:rPr lang="en-US" dirty="0">
                    <a:sym typeface="Symbol" pitchFamily="16" charset="2"/>
                  </a:rPr>
                  <a:t></a:t>
                </a:r>
                <a:r>
                  <a:rPr lang="en-US" dirty="0">
                    <a:sym typeface="Wingdings" charset="2"/>
                  </a:rPr>
                  <a:t> </a:t>
                </a:r>
                <a:r>
                  <a:rPr lang="en-US" dirty="0" err="1">
                    <a:sym typeface="Wingdings" charset="2"/>
                  </a:rPr>
                  <a:t>Pred</a:t>
                </a:r>
                <a:r>
                  <a:rPr lang="en-US" dirty="0">
                    <a:sym typeface="Wingdings" charset="2"/>
                  </a:rPr>
                  <a:t> </a:t>
                </a:r>
                <a:r>
                  <a:rPr lang="en-US" dirty="0">
                    <a:sym typeface="Symbol" pitchFamily="16" charset="2"/>
                  </a:rPr>
                  <a:t></a:t>
                </a:r>
                <a:r>
                  <a:rPr lang="en-US" dirty="0">
                    <a:sym typeface="Wingdings" charset="2"/>
                  </a:rPr>
                  <a:t> </a:t>
                </a:r>
                <a:r>
                  <a:rPr lang="en-US" dirty="0" err="1">
                    <a:sym typeface="Wingdings" charset="2"/>
                  </a:rPr>
                  <a:t>Pred</a:t>
                </a:r>
                <a:br>
                  <a:rPr lang="en-US">
                    <a:sym typeface="Wingdings" charset="2"/>
                  </a:rPr>
                </a:br>
                <a:endParaRPr lang="en-US">
                  <a:sym typeface="Wingdings" charset="2"/>
                </a:endParaRPr>
              </a:p>
              <a:p>
                <a:pPr eaLnBrk="1" hangingPunct="1"/>
                <a:r>
                  <a:rPr lang="en-US">
                    <a:sym typeface="Wingdings" charset="2"/>
                  </a:rPr>
                  <a:t>that takes a program statement and a predicate on states</a:t>
                </a:r>
              </a:p>
              <a:p>
                <a:pPr eaLnBrk="1" hangingPunct="1"/>
                <a:r>
                  <a:rPr lang="en-US">
                    <a:sym typeface="Wingdings" charset="2"/>
                  </a:rPr>
                  <a:t>and returns a predicate on states </a:t>
                </a:r>
              </a:p>
              <a:p>
                <a:pPr marL="0" indent="0" eaLnBrk="1" hangingPunct="1">
                  <a:buNone/>
                </a:pPr>
                <a:r>
                  <a:rPr lang="en-US">
                    <a:sym typeface="Wingdings" charset="2"/>
                  </a:rPr>
                  <a:t>	such that</a:t>
                </a:r>
              </a:p>
              <a:p>
                <a:pPr eaLnBrk="1" hangingPunct="1"/>
                <a:r>
                  <a:rPr lang="en-US">
                    <a:sym typeface="Wingdings" charset="2"/>
                  </a:rPr>
                  <a:t>{*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sym typeface="Wingdings" charset="2"/>
                      </a:rPr>
                      <m:t>𝒘𝒑</m:t>
                    </m:r>
                  </m:oMath>
                </a14:m>
                <a:r>
                  <a:rPr lang="en-US">
                    <a:sym typeface="Wingdings" charset="2"/>
                  </a:rPr>
                  <a:t> </a:t>
                </a:r>
                <a:r>
                  <a:rPr lang="en-US" b="1">
                    <a:latin typeface="Andale Mono" panose="020B0509000000000004" pitchFamily="49" charset="0"/>
                    <a:sym typeface="Wingdings" charset="2"/>
                  </a:rPr>
                  <a:t>S</a:t>
                </a:r>
                <a:r>
                  <a:rPr lang="en-US">
                    <a:sym typeface="Wingdings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sym typeface="Wingdings" charset="2"/>
                      </a:rPr>
                      <m:t>𝑄</m:t>
                    </m:r>
                    <m:r>
                      <a:rPr lang="en-US" i="1">
                        <a:latin typeface="Cambria Math" panose="02040503050406030204" pitchFamily="18" charset="0"/>
                        <a:sym typeface="Wingdings" charset="2"/>
                      </a:rPr>
                      <m:t> </m:t>
                    </m:r>
                  </m:oMath>
                </a14:m>
                <a:r>
                  <a:rPr lang="en-US">
                    <a:sym typeface="Wingdings" charset="2"/>
                  </a:rPr>
                  <a:t>*} </a:t>
                </a:r>
                <a:r>
                  <a:rPr lang="en-US" b="1">
                    <a:latin typeface="Andale Mono" panose="020B0509000000000004" pitchFamily="49" charset="0"/>
                    <a:sym typeface="Wingdings" charset="2"/>
                  </a:rPr>
                  <a:t>S</a:t>
                </a:r>
                <a:r>
                  <a:rPr lang="en-US">
                    <a:sym typeface="Wingdings" charset="2"/>
                  </a:rPr>
                  <a:t> {*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sym typeface="Wingdings" charset="2"/>
                      </a:rPr>
                      <m:t>𝑄</m:t>
                    </m:r>
                  </m:oMath>
                </a14:m>
                <a:r>
                  <a:rPr lang="en-US">
                    <a:sym typeface="Wingdings" charset="2"/>
                  </a:rPr>
                  <a:t> *}</a:t>
                </a:r>
              </a:p>
              <a:p>
                <a:pPr eaLnBrk="1" hangingPunct="1"/>
                <a:r>
                  <a:rPr lang="en-US">
                    <a:sym typeface="Wingdings" charset="2"/>
                  </a:rPr>
                  <a:t>and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sym typeface="Wingdings" charset="2"/>
                      </a:rPr>
                      <m:t>𝒘𝒑</m:t>
                    </m:r>
                  </m:oMath>
                </a14:m>
                <a:r>
                  <a:rPr lang="en-US">
                    <a:sym typeface="Wingdings" charset="2"/>
                  </a:rPr>
                  <a:t> </a:t>
                </a:r>
                <a:r>
                  <a:rPr lang="en-US" b="1">
                    <a:latin typeface="Andale Mono" panose="020B0509000000000004" pitchFamily="49" charset="0"/>
                    <a:sym typeface="Wingdings" charset="2"/>
                  </a:rPr>
                  <a:t>S</a:t>
                </a:r>
                <a:r>
                  <a:rPr lang="en-US">
                    <a:sym typeface="Wingdings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sym typeface="Wingdings" charset="2"/>
                      </a:rPr>
                      <m:t>𝑄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Wingdings" charset="2"/>
                      </a:rPr>
                      <m:t> </m:t>
                    </m:r>
                  </m:oMath>
                </a14:m>
                <a:r>
                  <a:rPr lang="en-US">
                    <a:sym typeface="Wingdings" charset="2"/>
                  </a:rPr>
                  <a:t>is the </a:t>
                </a:r>
                <a:r>
                  <a:rPr lang="en-US" b="1">
                    <a:sym typeface="Wingdings" charset="2"/>
                  </a:rPr>
                  <a:t>weakest</a:t>
                </a:r>
                <a:r>
                  <a:rPr lang="en-US">
                    <a:sym typeface="Wingdings" charset="2"/>
                  </a:rPr>
                  <a:t> pre-condition making the above hold.</a:t>
                </a:r>
              </a:p>
              <a:p>
                <a:pPr eaLnBrk="1" hangingPunct="1"/>
                <a:r>
                  <a:rPr lang="en-US">
                    <a:sym typeface="Wingdings" charset="2"/>
                  </a:rPr>
                  <a:t>Then if {*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sym typeface="Wingdings" charset="2"/>
                      </a:rPr>
                      <m:t>𝑃</m:t>
                    </m:r>
                    <m:r>
                      <a:rPr lang="en-US" i="1">
                        <a:latin typeface="Cambria Math" panose="02040503050406030204" pitchFamily="18" charset="0"/>
                        <a:sym typeface="Wingdings" charset="2"/>
                      </a:rPr>
                      <m:t> </m:t>
                    </m:r>
                  </m:oMath>
                </a14:m>
                <a:r>
                  <a:rPr lang="en-US">
                    <a:sym typeface="Wingdings" charset="2"/>
                  </a:rPr>
                  <a:t>*} </a:t>
                </a:r>
                <a:r>
                  <a:rPr lang="en-US" b="1">
                    <a:latin typeface="Andale Mono" panose="020B0509000000000004" pitchFamily="49" charset="0"/>
                    <a:sym typeface="Wingdings" charset="2"/>
                  </a:rPr>
                  <a:t>S</a:t>
                </a:r>
                <a:r>
                  <a:rPr lang="en-US">
                    <a:sym typeface="Wingdings" charset="2"/>
                  </a:rPr>
                  <a:t> {*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sym typeface="Wingdings" charset="2"/>
                      </a:rPr>
                      <m:t>𝑄</m:t>
                    </m:r>
                  </m:oMath>
                </a14:m>
                <a:r>
                  <a:rPr lang="en-US">
                    <a:sym typeface="Wingdings" charset="2"/>
                  </a:rPr>
                  <a:t> *} held, we would get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sym typeface="Wingdings" charset="2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Wingdings" charset="2"/>
                      </a:rPr>
                      <m:t> ⇒</m:t>
                    </m:r>
                  </m:oMath>
                </a14:m>
                <a:r>
                  <a:rPr lang="en-US" b="1">
                    <a:solidFill>
                      <a:srgbClr val="0070C0"/>
                    </a:solidFill>
                    <a:sym typeface="Wingdings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sym typeface="Wingdings" charset="2"/>
                      </a:rPr>
                      <m:t>𝒘𝒑</m:t>
                    </m:r>
                  </m:oMath>
                </a14:m>
                <a:r>
                  <a:rPr lang="en-US">
                    <a:sym typeface="Wingdings" charset="2"/>
                  </a:rPr>
                  <a:t> </a:t>
                </a:r>
                <a:r>
                  <a:rPr lang="en-US" b="1">
                    <a:latin typeface="Andale Mono" panose="020B0509000000000004" pitchFamily="49" charset="0"/>
                    <a:sym typeface="Wingdings" charset="2"/>
                  </a:rPr>
                  <a:t>S</a:t>
                </a:r>
                <a:r>
                  <a:rPr lang="en-US">
                    <a:sym typeface="Wingdings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sym typeface="Wingdings" charset="2"/>
                      </a:rPr>
                      <m:t>𝑄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Wingdings" charset="2"/>
                      </a:rPr>
                      <m:t>.</m:t>
                    </m:r>
                  </m:oMath>
                </a14:m>
                <a:endParaRPr lang="en-US" b="0">
                  <a:sym typeface="Wingdings" charset="2"/>
                </a:endParaRPr>
              </a:p>
            </p:txBody>
          </p:sp>
        </mc:Choice>
        <mc:Fallback xmlns="">
          <p:sp>
            <p:nvSpPr>
              <p:cNvPr id="1434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3"/>
                <a:stretch>
                  <a:fillRect l="-292" t="-978" r="-1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3CBF92A-0A6E-BC45-AF9B-FFC6BF515B44}"/>
              </a:ext>
            </a:extLst>
          </p:cNvPr>
          <p:cNvSpPr/>
          <p:nvPr/>
        </p:nvSpPr>
        <p:spPr>
          <a:xfrm>
            <a:off x="1828800" y="4267200"/>
            <a:ext cx="4876800" cy="762000"/>
          </a:xfrm>
          <a:prstGeom prst="roundRect">
            <a:avLst>
              <a:gd name="adj" fmla="val 33084"/>
            </a:avLst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5462129-E192-7444-AD4E-EAE1CCBB2BB4}"/>
              </a:ext>
            </a:extLst>
          </p:cNvPr>
          <p:cNvSpPr/>
          <p:nvPr/>
        </p:nvSpPr>
        <p:spPr>
          <a:xfrm>
            <a:off x="685800" y="1828800"/>
            <a:ext cx="7086600" cy="762000"/>
          </a:xfrm>
          <a:prstGeom prst="roundRect">
            <a:avLst>
              <a:gd name="adj" fmla="val 33084"/>
            </a:avLst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94B75B1-77A9-47B9-B8CD-EB7D9FE1C654}" type="slidenum">
              <a:rPr lang="en-US" altLang="en-US"/>
              <a:pPr>
                <a:defRPr/>
              </a:pPr>
              <a:t>27</a:t>
            </a:fld>
            <a:endParaRPr lang="en-US" altLang="en-US"/>
          </a:p>
        </p:txBody>
      </p:sp>
      <p:sp>
        <p:nvSpPr>
          <p:cNvPr id="4" name="Slide Number Placeholder 3"/>
          <p:cNvSpPr txBox="1">
            <a:spLocks noGrp="1"/>
          </p:cNvSpPr>
          <p:nvPr/>
        </p:nvSpPr>
        <p:spPr bwMode="auto">
          <a:xfrm>
            <a:off x="7010400" y="64008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94249AE4-DB88-462B-964C-045F3FE6F1B6}" type="slidenum">
              <a:rPr lang="en-US" altLang="en-US" sz="1200">
                <a:latin typeface="+mj-lt"/>
              </a:rPr>
              <a:pPr algn="r">
                <a:defRPr/>
              </a:pPr>
              <a:t>27</a:t>
            </a:fld>
            <a:endParaRPr lang="en-US" altLang="en-US" sz="1200">
              <a:latin typeface="+mj-lt"/>
            </a:endParaRPr>
          </a:p>
        </p:txBody>
      </p:sp>
      <p:sp>
        <p:nvSpPr>
          <p:cNvPr id="153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Weakest pre-condition</a:t>
            </a:r>
          </a:p>
        </p:txBody>
      </p:sp>
      <p:sp>
        <p:nvSpPr>
          <p:cNvPr id="1536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So we characterize </a:t>
            </a:r>
            <a:r>
              <a:rPr lang="en-US" b="1">
                <a:solidFill>
                  <a:srgbClr val="0070C0"/>
                </a:solidFill>
              </a:rPr>
              <a:t>wp</a:t>
            </a:r>
            <a:r>
              <a:rPr lang="en-US" i="1"/>
              <a:t> </a:t>
            </a:r>
            <a:r>
              <a:rPr lang="en-US" dirty="0"/>
              <a:t>as follows (Def. 6.2.3):</a:t>
            </a:r>
            <a:br>
              <a:rPr lang="en-US" dirty="0"/>
            </a:br>
            <a:br>
              <a:rPr lang="en-US" dirty="0"/>
            </a:br>
            <a:r>
              <a:rPr lang="en-US" dirty="0">
                <a:sym typeface="Symbol" pitchFamily="16" charset="2"/>
              </a:rPr>
              <a:t>         {* </a:t>
            </a:r>
            <a:r>
              <a:rPr lang="en-US" i="1" dirty="0">
                <a:sym typeface="Symbol" pitchFamily="16" charset="2"/>
              </a:rPr>
              <a:t>P</a:t>
            </a:r>
            <a:r>
              <a:rPr lang="en-US" dirty="0">
                <a:sym typeface="Symbol" pitchFamily="16" charset="2"/>
              </a:rPr>
              <a:t> *}  </a:t>
            </a:r>
            <a:r>
              <a:rPr lang="en-US" i="1" dirty="0">
                <a:sym typeface="Symbol" pitchFamily="16" charset="2"/>
              </a:rPr>
              <a:t>S</a:t>
            </a:r>
            <a:r>
              <a:rPr lang="en-US" dirty="0">
                <a:sym typeface="Symbol" pitchFamily="16" charset="2"/>
              </a:rPr>
              <a:t>  {* </a:t>
            </a:r>
            <a:r>
              <a:rPr lang="en-US" i="1" dirty="0">
                <a:sym typeface="Symbol" pitchFamily="16" charset="2"/>
              </a:rPr>
              <a:t>Q</a:t>
            </a:r>
            <a:r>
              <a:rPr lang="en-US" dirty="0">
                <a:sym typeface="Symbol" pitchFamily="16" charset="2"/>
              </a:rPr>
              <a:t>  *}       </a:t>
            </a:r>
            <a:r>
              <a:rPr lang="en-US" b="1" dirty="0">
                <a:solidFill>
                  <a:srgbClr val="C00000"/>
                </a:solidFill>
                <a:sym typeface="Symbol" pitchFamily="16" charset="2"/>
              </a:rPr>
              <a:t> </a:t>
            </a:r>
            <a:r>
              <a:rPr lang="en-US" b="1" dirty="0">
                <a:solidFill>
                  <a:srgbClr val="C00000"/>
                </a:solidFill>
                <a:sym typeface="Symbol"/>
              </a:rPr>
              <a:t> </a:t>
            </a:r>
            <a:r>
              <a:rPr lang="en-US" b="1" dirty="0">
                <a:solidFill>
                  <a:srgbClr val="C00000"/>
                </a:solidFill>
                <a:sym typeface="Symbol" pitchFamily="16" charset="2"/>
              </a:rPr>
              <a:t>     </a:t>
            </a:r>
            <a:r>
              <a:rPr lang="en-US" i="1" dirty="0">
                <a:sym typeface="Symbol" pitchFamily="16" charset="2"/>
              </a:rPr>
              <a:t>P</a:t>
            </a:r>
            <a:r>
              <a:rPr lang="en-US" dirty="0">
                <a:sym typeface="Symbol" pitchFamily="16" charset="2"/>
              </a:rPr>
              <a:t>    </a:t>
            </a:r>
            <a:r>
              <a:rPr lang="en-US" b="1" dirty="0" err="1">
                <a:solidFill>
                  <a:srgbClr val="0070C0"/>
                </a:solidFill>
                <a:sym typeface="Symbol" pitchFamily="16" charset="2"/>
              </a:rPr>
              <a:t>wp</a:t>
            </a:r>
            <a:r>
              <a:rPr lang="en-US" i="1" dirty="0">
                <a:sym typeface="Symbol" pitchFamily="16" charset="2"/>
              </a:rPr>
              <a:t> S Q</a:t>
            </a:r>
            <a:endParaRPr lang="en-US" dirty="0"/>
          </a:p>
          <a:p>
            <a:pPr lvl="1" eaLnBrk="1" hangingPunct="1"/>
            <a:endParaRPr lang="en-US" dirty="0">
              <a:sym typeface="Symbol" pitchFamily="16" charset="2"/>
            </a:endParaRPr>
          </a:p>
          <a:p>
            <a:pPr eaLnBrk="1" hangingPunct="1"/>
            <a:endParaRPr lang="en-US" dirty="0">
              <a:sym typeface="Symbol" pitchFamily="16" charset="2"/>
            </a:endParaRPr>
          </a:p>
          <a:p>
            <a:pPr eaLnBrk="1" hangingPunct="1"/>
            <a:r>
              <a:rPr lang="en-US" i="1" dirty="0">
                <a:sym typeface="Symbol" pitchFamily="16" charset="2"/>
              </a:rPr>
              <a:t>Corollary-1</a:t>
            </a:r>
            <a:r>
              <a:rPr lang="en-US" dirty="0">
                <a:sym typeface="Symbol" pitchFamily="16" charset="2"/>
              </a:rPr>
              <a:t>: </a:t>
            </a:r>
            <a:r>
              <a:rPr lang="en-US">
                <a:sym typeface="Symbol" pitchFamily="16" charset="2"/>
              </a:rPr>
              <a:t>Such a </a:t>
            </a:r>
            <a:r>
              <a:rPr lang="en-US" b="1">
                <a:solidFill>
                  <a:srgbClr val="0070C0"/>
                </a:solidFill>
              </a:rPr>
              <a:t>wp</a:t>
            </a:r>
            <a:r>
              <a:rPr lang="en-US">
                <a:sym typeface="Symbol" pitchFamily="16" charset="2"/>
              </a:rPr>
              <a:t> is a valid pre-condition. That is, you </a:t>
            </a:r>
            <a:r>
              <a:rPr lang="en-US" dirty="0">
                <a:sym typeface="Symbol" pitchFamily="16" charset="2"/>
              </a:rPr>
              <a:t>can prove:  </a:t>
            </a:r>
            <a:br>
              <a:rPr lang="en-US" dirty="0">
                <a:sym typeface="Symbol" pitchFamily="16" charset="2"/>
              </a:rPr>
            </a:br>
            <a:br>
              <a:rPr lang="en-US" dirty="0">
                <a:sym typeface="Symbol" pitchFamily="16" charset="2"/>
              </a:rPr>
            </a:br>
            <a:r>
              <a:rPr lang="en-US" dirty="0">
                <a:sym typeface="Symbol" pitchFamily="16" charset="2"/>
              </a:rPr>
              <a:t>                       {*  </a:t>
            </a:r>
            <a:r>
              <a:rPr lang="en-US" b="1" dirty="0" err="1">
                <a:solidFill>
                  <a:srgbClr val="0070C0"/>
                </a:solidFill>
                <a:sym typeface="Symbol" pitchFamily="16" charset="2"/>
              </a:rPr>
              <a:t>wp</a:t>
            </a:r>
            <a:r>
              <a:rPr lang="en-US" dirty="0">
                <a:sym typeface="Symbol" pitchFamily="16" charset="2"/>
              </a:rPr>
              <a:t> </a:t>
            </a:r>
            <a:r>
              <a:rPr lang="en-US" i="1" dirty="0">
                <a:sym typeface="Symbol" pitchFamily="16" charset="2"/>
              </a:rPr>
              <a:t>S Q</a:t>
            </a:r>
            <a:r>
              <a:rPr lang="en-US" dirty="0">
                <a:sym typeface="Symbol" pitchFamily="16" charset="2"/>
              </a:rPr>
              <a:t> *}    </a:t>
            </a:r>
            <a:r>
              <a:rPr lang="en-US" i="1" dirty="0">
                <a:sym typeface="Symbol" pitchFamily="16" charset="2"/>
              </a:rPr>
              <a:t>S</a:t>
            </a:r>
            <a:r>
              <a:rPr lang="en-US" dirty="0">
                <a:sym typeface="Symbol" pitchFamily="16" charset="2"/>
              </a:rPr>
              <a:t>    {* </a:t>
            </a:r>
            <a:r>
              <a:rPr lang="en-US" i="1" dirty="0">
                <a:sym typeface="Symbol" pitchFamily="16" charset="2"/>
              </a:rPr>
              <a:t>Q</a:t>
            </a:r>
            <a:r>
              <a:rPr lang="en-US" dirty="0">
                <a:sym typeface="Symbol" pitchFamily="16" charset="2"/>
              </a:rPr>
              <a:t> *}</a:t>
            </a:r>
          </a:p>
          <a:p>
            <a:pPr eaLnBrk="1" hangingPunct="1">
              <a:buFont typeface="Wingdings" charset="2"/>
              <a:buNone/>
            </a:pPr>
            <a:endParaRPr lang="en-US" dirty="0">
              <a:sym typeface="Symbol" pitchFamily="16" charset="2"/>
            </a:endParaRPr>
          </a:p>
          <a:p>
            <a:pPr eaLnBrk="1" hangingPunct="1"/>
            <a:r>
              <a:rPr lang="en-US" i="1" dirty="0">
                <a:sym typeface="Symbol" pitchFamily="16" charset="2"/>
              </a:rPr>
              <a:t>Corollary-2 </a:t>
            </a:r>
            <a:r>
              <a:rPr lang="en-US" dirty="0">
                <a:sym typeface="Symbol" pitchFamily="16" charset="2"/>
              </a:rPr>
              <a:t>: </a:t>
            </a:r>
            <a:r>
              <a:rPr lang="en-US" b="1" dirty="0" err="1">
                <a:solidFill>
                  <a:srgbClr val="0070C0"/>
                </a:solidFill>
                <a:sym typeface="Symbol" pitchFamily="16" charset="2"/>
              </a:rPr>
              <a:t>wp</a:t>
            </a:r>
            <a:r>
              <a:rPr lang="en-US" dirty="0">
                <a:sym typeface="Symbol" pitchFamily="16" charset="2"/>
              </a:rPr>
              <a:t> reduces program verification problems to proving implications, for which we already have a “tool” for (Predicate Logic).</a:t>
            </a:r>
          </a:p>
          <a:p>
            <a:pPr lvl="1" eaLnBrk="1" hangingPunct="1"/>
            <a:endParaRPr lang="en-US" dirty="0">
              <a:sym typeface="Symbol" pitchFamily="16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1723793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5462129-E192-7444-AD4E-EAE1CCBB2BB4}"/>
              </a:ext>
            </a:extLst>
          </p:cNvPr>
          <p:cNvSpPr/>
          <p:nvPr/>
        </p:nvSpPr>
        <p:spPr>
          <a:xfrm>
            <a:off x="685800" y="1828800"/>
            <a:ext cx="7086600" cy="762000"/>
          </a:xfrm>
          <a:prstGeom prst="roundRect">
            <a:avLst>
              <a:gd name="adj" fmla="val 33084"/>
            </a:avLst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94B75B1-77A9-47B9-B8CD-EB7D9FE1C654}" type="slidenum">
              <a:rPr lang="en-US" altLang="en-US"/>
              <a:pPr>
                <a:defRPr/>
              </a:pPr>
              <a:t>28</a:t>
            </a:fld>
            <a:endParaRPr lang="en-US" altLang="en-US"/>
          </a:p>
        </p:txBody>
      </p:sp>
      <p:sp>
        <p:nvSpPr>
          <p:cNvPr id="4" name="Slide Number Placeholder 3"/>
          <p:cNvSpPr txBox="1">
            <a:spLocks noGrp="1"/>
          </p:cNvSpPr>
          <p:nvPr/>
        </p:nvSpPr>
        <p:spPr bwMode="auto">
          <a:xfrm>
            <a:off x="7010400" y="64008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94249AE4-DB88-462B-964C-045F3FE6F1B6}" type="slidenum">
              <a:rPr lang="en-US" altLang="en-US" sz="1200">
                <a:latin typeface="+mj-lt"/>
              </a:rPr>
              <a:pPr algn="r">
                <a:defRPr/>
              </a:pPr>
              <a:t>28</a:t>
            </a:fld>
            <a:endParaRPr lang="en-US" altLang="en-US" sz="1200">
              <a:latin typeface="+mj-lt"/>
            </a:endParaRPr>
          </a:p>
        </p:txBody>
      </p:sp>
      <p:sp>
        <p:nvSpPr>
          <p:cNvPr id="153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Weakest pre-condition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365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eaLnBrk="1" hangingPunct="1"/>
                <a:r>
                  <a:rPr lang="en-US" dirty="0"/>
                  <a:t>Again, the characterization of </a:t>
                </a:r>
                <a:r>
                  <a:rPr lang="en-US" dirty="0" err="1"/>
                  <a:t>wp</a:t>
                </a:r>
                <a:r>
                  <a:rPr lang="en-US" dirty="0"/>
                  <a:t>:</a:t>
                </a:r>
                <a:br>
                  <a:rPr lang="en-US" dirty="0"/>
                </a:br>
                <a:br>
                  <a:rPr lang="en-US" dirty="0"/>
                </a:br>
                <a:r>
                  <a:rPr lang="en-US" dirty="0">
                    <a:sym typeface="Symbol" pitchFamily="16" charset="2"/>
                  </a:rPr>
                  <a:t>         {*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Symbol" pitchFamily="16" charset="2"/>
                      </a:rPr>
                      <m:t>𝑃</m:t>
                    </m:r>
                  </m:oMath>
                </a14:m>
                <a:r>
                  <a:rPr lang="en-US" dirty="0">
                    <a:sym typeface="Symbol" pitchFamily="16" charset="2"/>
                  </a:rPr>
                  <a:t> *}  </a:t>
                </a:r>
                <a:r>
                  <a:rPr lang="en-US" b="1" dirty="0">
                    <a:latin typeface="Andale Mono" panose="020B0509000000000004" pitchFamily="49" charset="0"/>
                    <a:sym typeface="Symbol" pitchFamily="16" charset="2"/>
                  </a:rPr>
                  <a:t>S</a:t>
                </a:r>
                <a:r>
                  <a:rPr lang="en-US" dirty="0">
                    <a:sym typeface="Symbol" pitchFamily="16" charset="2"/>
                  </a:rPr>
                  <a:t>  {*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Symbol" pitchFamily="16" charset="2"/>
                      </a:rPr>
                      <m:t>𝑄</m:t>
                    </m:r>
                  </m:oMath>
                </a14:m>
                <a:r>
                  <a:rPr lang="en-US" dirty="0">
                    <a:sym typeface="Symbol" pitchFamily="16" charset="2"/>
                  </a:rPr>
                  <a:t>  *}       </a:t>
                </a:r>
                <a:r>
                  <a:rPr lang="en-US" b="1" dirty="0">
                    <a:solidFill>
                      <a:srgbClr val="C00000"/>
                    </a:solidFill>
                    <a:sym typeface="Symbol" pitchFamily="16" charset="2"/>
                  </a:rPr>
                  <a:t> </a:t>
                </a:r>
                <a:r>
                  <a:rPr lang="en-US" b="1" dirty="0">
                    <a:solidFill>
                      <a:srgbClr val="C00000"/>
                    </a:solidFill>
                    <a:sym typeface="Symbol"/>
                  </a:rPr>
                  <a:t> </a:t>
                </a:r>
                <a:r>
                  <a:rPr lang="en-US" b="1" dirty="0">
                    <a:solidFill>
                      <a:srgbClr val="C00000"/>
                    </a:solidFill>
                    <a:sym typeface="Symbol" pitchFamily="16" charset="2"/>
                  </a:rPr>
                  <a:t>    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Symbol" pitchFamily="16" charset="2"/>
                      </a:rPr>
                      <m:t>𝑃</m:t>
                    </m:r>
                  </m:oMath>
                </a14:m>
                <a:r>
                  <a:rPr lang="en-US" dirty="0">
                    <a:sym typeface="Symbol" pitchFamily="16" charset="2"/>
                  </a:rPr>
                  <a:t>    </a:t>
                </a:r>
                <a:r>
                  <a:rPr lang="en-US" b="1" dirty="0" err="1">
                    <a:solidFill>
                      <a:srgbClr val="0070C0"/>
                    </a:solidFill>
                    <a:sym typeface="Symbol" pitchFamily="16" charset="2"/>
                  </a:rPr>
                  <a:t>wp</a:t>
                </a:r>
                <a:r>
                  <a:rPr lang="en-US" i="1" dirty="0">
                    <a:sym typeface="Symbol" pitchFamily="16" charset="2"/>
                  </a:rPr>
                  <a:t> </a:t>
                </a:r>
                <a:r>
                  <a:rPr lang="en-US" b="1" dirty="0">
                    <a:latin typeface="Andale Mono" panose="020B0509000000000004" pitchFamily="49" charset="0"/>
                    <a:sym typeface="Symbol" pitchFamily="16" charset="2"/>
                  </a:rPr>
                  <a:t>S</a:t>
                </a:r>
                <a:r>
                  <a:rPr lang="en-US" i="1" dirty="0">
                    <a:sym typeface="Symbol" pitchFamily="16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Symbol" pitchFamily="16" charset="2"/>
                      </a:rPr>
                      <m:t>𝑄</m:t>
                    </m:r>
                  </m:oMath>
                </a14:m>
                <a:endParaRPr lang="en-US" dirty="0"/>
              </a:p>
              <a:p>
                <a:pPr lvl="1" eaLnBrk="1" hangingPunct="1"/>
                <a:endParaRPr lang="en-US" dirty="0">
                  <a:sym typeface="Symbol" pitchFamily="16" charset="2"/>
                </a:endParaRPr>
              </a:p>
              <a:p>
                <a:pPr eaLnBrk="1" hangingPunct="1"/>
                <a:endParaRPr lang="en-US" dirty="0">
                  <a:sym typeface="Symbol" pitchFamily="16" charset="2"/>
                </a:endParaRPr>
              </a:p>
              <a:p>
                <a:pPr algn="just" eaLnBrk="1" hangingPunct="1"/>
                <a:r>
                  <a:rPr lang="en-US" i="1" dirty="0">
                    <a:sym typeface="Symbol" pitchFamily="16" charset="2"/>
                  </a:rPr>
                  <a:t>Corollary-3</a:t>
                </a:r>
                <a:r>
                  <a:rPr lang="en-US" dirty="0">
                    <a:sym typeface="Symbol" pitchFamily="16" charset="2"/>
                  </a:rPr>
                  <a:t>: the reduction is complete. That is</a:t>
                </a:r>
                <a:r>
                  <a:rPr lang="en-US">
                    <a:sym typeface="Symbol" pitchFamily="16" charset="2"/>
                  </a:rPr>
                  <a:t>, if either side above is not valid, neither is the other side.</a:t>
                </a:r>
              </a:p>
              <a:p>
                <a:pPr algn="just" eaLnBrk="1" hangingPunct="1"/>
                <a:endParaRPr lang="en-US">
                  <a:sym typeface="Symbol" pitchFamily="16" charset="2"/>
                </a:endParaRPr>
              </a:p>
              <a:p>
                <a:pPr eaLnBrk="1" hangingPunct="1"/>
                <a:r>
                  <a:rPr lang="en-US">
                    <a:sym typeface="Symbol" pitchFamily="16" charset="2"/>
                  </a:rPr>
                  <a:t>In particular: a counterexample invalidating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sym typeface="Symbol" pitchFamily="16" charset="2"/>
                      </a:rPr>
                      <m:t>𝑃</m:t>
                    </m:r>
                  </m:oMath>
                </a14:m>
                <a:r>
                  <a:rPr lang="en-US">
                    <a:sym typeface="Symbol" pitchFamily="16" charset="2"/>
                  </a:rPr>
                  <a:t>    </a:t>
                </a:r>
                <a:r>
                  <a:rPr lang="en-US" b="1">
                    <a:solidFill>
                      <a:srgbClr val="0070C0"/>
                    </a:solidFill>
                    <a:sym typeface="Symbol" pitchFamily="16" charset="2"/>
                  </a:rPr>
                  <a:t>wp</a:t>
                </a:r>
                <a:r>
                  <a:rPr lang="en-US" i="1">
                    <a:sym typeface="Symbol" pitchFamily="16" charset="2"/>
                  </a:rPr>
                  <a:t> </a:t>
                </a:r>
                <a:r>
                  <a:rPr lang="en-US" b="1">
                    <a:latin typeface="Andale Mono" panose="020B0509000000000004" pitchFamily="49" charset="0"/>
                    <a:sym typeface="Symbol" pitchFamily="16" charset="2"/>
                  </a:rPr>
                  <a:t>S</a:t>
                </a:r>
                <a:r>
                  <a:rPr lang="en-US" i="1">
                    <a:sym typeface="Symbol" pitchFamily="16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sym typeface="Symbol" pitchFamily="16" charset="2"/>
                      </a:rPr>
                      <m:t>𝑄</m:t>
                    </m:r>
                  </m:oMath>
                </a14:m>
                <a:r>
                  <a:rPr lang="en-US">
                    <a:sym typeface="Symbol" pitchFamily="16" charset="2"/>
                  </a:rPr>
                  <a:t> is a state satisfying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sym typeface="Symbol" pitchFamily="16" charset="2"/>
                      </a:rPr>
                      <m:t>𝑃</m:t>
                    </m:r>
                  </m:oMath>
                </a14:m>
                <a:r>
                  <a:rPr lang="en-US">
                    <a:sym typeface="Symbol" pitchFamily="16" charset="2"/>
                  </a:rPr>
                  <a:t> that after running </a:t>
                </a:r>
                <a:r>
                  <a:rPr lang="en-US" b="1">
                    <a:latin typeface="Andale Mono" panose="020B0509000000000004" pitchFamily="49" charset="0"/>
                    <a:sym typeface="Symbol" pitchFamily="16" charset="2"/>
                  </a:rPr>
                  <a:t>S</a:t>
                </a:r>
                <a:r>
                  <a:rPr lang="en-US">
                    <a:sym typeface="Symbol" pitchFamily="16" charset="2"/>
                  </a:rPr>
                  <a:t> produces a state </a:t>
                </a:r>
                <a:r>
                  <a:rPr lang="en-US" dirty="0">
                    <a:sym typeface="Symbol" pitchFamily="16" charset="2"/>
                  </a:rPr>
                  <a:t>that is not in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Symbol" pitchFamily="16" charset="2"/>
                      </a:rPr>
                      <m:t>𝑄</m:t>
                    </m:r>
                  </m:oMath>
                </a14:m>
                <a:r>
                  <a:rPr lang="en-US" dirty="0">
                    <a:sym typeface="Symbol" pitchFamily="16" charset="2"/>
                  </a:rPr>
                  <a:t>. Such an input is useful for debugging </a:t>
                </a:r>
                <a:r>
                  <a:rPr lang="en-US" b="1" dirty="0">
                    <a:latin typeface="Andale Mono" panose="020B0509000000000004" pitchFamily="49" charset="0"/>
                    <a:sym typeface="Symbol" pitchFamily="16" charset="2"/>
                  </a:rPr>
                  <a:t>S</a:t>
                </a:r>
                <a:r>
                  <a:rPr lang="en-US" dirty="0">
                    <a:sym typeface="Symbol" pitchFamily="16" charset="2"/>
                  </a:rPr>
                  <a:t>.</a:t>
                </a:r>
              </a:p>
              <a:p>
                <a:pPr lvl="1" eaLnBrk="1" hangingPunct="1"/>
                <a:endParaRPr lang="en-US" dirty="0">
                  <a:sym typeface="Symbol" pitchFamily="16" charset="2"/>
                </a:endParaRPr>
              </a:p>
            </p:txBody>
          </p:sp>
        </mc:Choice>
        <mc:Fallback xmlns="">
          <p:sp>
            <p:nvSpPr>
              <p:cNvPr id="15365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3"/>
                <a:stretch>
                  <a:fillRect l="-292" t="-978" r="-1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60476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5462129-E192-7444-AD4E-EAE1CCBB2BB4}"/>
              </a:ext>
            </a:extLst>
          </p:cNvPr>
          <p:cNvSpPr/>
          <p:nvPr/>
        </p:nvSpPr>
        <p:spPr>
          <a:xfrm>
            <a:off x="762000" y="2438400"/>
            <a:ext cx="7086600" cy="762000"/>
          </a:xfrm>
          <a:prstGeom prst="roundRect">
            <a:avLst>
              <a:gd name="adj" fmla="val 33084"/>
            </a:avLst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94B75B1-77A9-47B9-B8CD-EB7D9FE1C654}" type="slidenum">
              <a:rPr lang="en-US" altLang="en-US"/>
              <a:pPr>
                <a:defRPr/>
              </a:pPr>
              <a:t>29</a:t>
            </a:fld>
            <a:endParaRPr lang="en-US" altLang="en-US"/>
          </a:p>
        </p:txBody>
      </p:sp>
      <p:sp>
        <p:nvSpPr>
          <p:cNvPr id="4" name="Slide Number Placeholder 3"/>
          <p:cNvSpPr txBox="1">
            <a:spLocks noGrp="1"/>
          </p:cNvSpPr>
          <p:nvPr/>
        </p:nvSpPr>
        <p:spPr bwMode="auto">
          <a:xfrm>
            <a:off x="7010400" y="64008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94249AE4-DB88-462B-964C-045F3FE6F1B6}" type="slidenum">
              <a:rPr lang="en-US" altLang="en-US" sz="1200">
                <a:latin typeface="+mj-lt"/>
              </a:rPr>
              <a:pPr algn="r">
                <a:defRPr/>
              </a:pPr>
              <a:t>29</a:t>
            </a:fld>
            <a:endParaRPr lang="en-US" altLang="en-US" sz="1200">
              <a:latin typeface="+mj-lt"/>
            </a:endParaRPr>
          </a:p>
        </p:txBody>
      </p:sp>
      <p:sp>
        <p:nvSpPr>
          <p:cNvPr id="153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But... </a:t>
            </a:r>
          </a:p>
        </p:txBody>
      </p:sp>
      <p:sp>
        <p:nvSpPr>
          <p:cNvPr id="1536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828800"/>
            <a:ext cx="8686800" cy="4572000"/>
          </a:xfrm>
        </p:spPr>
        <p:txBody>
          <a:bodyPr/>
          <a:lstStyle/>
          <a:p>
            <a:pPr eaLnBrk="1" hangingPunct="1"/>
            <a:r>
              <a:rPr lang="en-US" dirty="0"/>
              <a:t>But this characterization is </a:t>
            </a:r>
            <a:r>
              <a:rPr lang="en-US" b="1" dirty="0"/>
              <a:t>not constructive</a:t>
            </a:r>
            <a:r>
              <a:rPr lang="en-US" dirty="0"/>
              <a:t>:</a:t>
            </a:r>
            <a:br>
              <a:rPr lang="en-US" dirty="0"/>
            </a:br>
            <a:br>
              <a:rPr lang="en-US" dirty="0"/>
            </a:br>
            <a:r>
              <a:rPr lang="en-US" dirty="0">
                <a:sym typeface="Symbol" pitchFamily="16" charset="2"/>
              </a:rPr>
              <a:t>         {* </a:t>
            </a:r>
            <a:r>
              <a:rPr lang="en-US" i="1" dirty="0">
                <a:sym typeface="Symbol" pitchFamily="16" charset="2"/>
              </a:rPr>
              <a:t>P</a:t>
            </a:r>
            <a:r>
              <a:rPr lang="en-US" dirty="0">
                <a:sym typeface="Symbol" pitchFamily="16" charset="2"/>
              </a:rPr>
              <a:t> *}  </a:t>
            </a:r>
            <a:r>
              <a:rPr lang="en-US" i="1" dirty="0">
                <a:sym typeface="Symbol" pitchFamily="16" charset="2"/>
              </a:rPr>
              <a:t>S</a:t>
            </a:r>
            <a:r>
              <a:rPr lang="en-US" dirty="0">
                <a:sym typeface="Symbol" pitchFamily="16" charset="2"/>
              </a:rPr>
              <a:t>  {* </a:t>
            </a:r>
            <a:r>
              <a:rPr lang="en-US" i="1" dirty="0">
                <a:sym typeface="Symbol" pitchFamily="16" charset="2"/>
              </a:rPr>
              <a:t>Q</a:t>
            </a:r>
            <a:r>
              <a:rPr lang="en-US" dirty="0">
                <a:sym typeface="Symbol" pitchFamily="16" charset="2"/>
              </a:rPr>
              <a:t>  *}       </a:t>
            </a:r>
            <a:r>
              <a:rPr lang="en-US" b="1" dirty="0">
                <a:solidFill>
                  <a:srgbClr val="C00000"/>
                </a:solidFill>
                <a:sym typeface="Symbol" pitchFamily="16" charset="2"/>
              </a:rPr>
              <a:t> </a:t>
            </a:r>
            <a:r>
              <a:rPr lang="en-US" b="1" dirty="0">
                <a:solidFill>
                  <a:srgbClr val="C00000"/>
                </a:solidFill>
                <a:sym typeface="Symbol"/>
              </a:rPr>
              <a:t> </a:t>
            </a:r>
            <a:r>
              <a:rPr lang="en-US" b="1" dirty="0">
                <a:solidFill>
                  <a:srgbClr val="C00000"/>
                </a:solidFill>
                <a:sym typeface="Symbol" pitchFamily="16" charset="2"/>
              </a:rPr>
              <a:t>     </a:t>
            </a:r>
            <a:r>
              <a:rPr lang="en-US" i="1" dirty="0">
                <a:sym typeface="Symbol" pitchFamily="16" charset="2"/>
              </a:rPr>
              <a:t>P</a:t>
            </a:r>
            <a:r>
              <a:rPr lang="en-US" dirty="0">
                <a:sym typeface="Symbol" pitchFamily="16" charset="2"/>
              </a:rPr>
              <a:t>    </a:t>
            </a:r>
            <a:r>
              <a:rPr lang="en-US" b="1" dirty="0" err="1">
                <a:solidFill>
                  <a:srgbClr val="0070C0"/>
                </a:solidFill>
                <a:sym typeface="Symbol" pitchFamily="16" charset="2"/>
              </a:rPr>
              <a:t>wp</a:t>
            </a:r>
            <a:r>
              <a:rPr lang="en-US" i="1" dirty="0">
                <a:sym typeface="Symbol" pitchFamily="16" charset="2"/>
              </a:rPr>
              <a:t> S Q</a:t>
            </a:r>
            <a:endParaRPr lang="en-US" dirty="0"/>
          </a:p>
          <a:p>
            <a:pPr lvl="1" eaLnBrk="1" hangingPunct="1"/>
            <a:endParaRPr lang="en-US" dirty="0">
              <a:sym typeface="Symbol" pitchFamily="16" charset="2"/>
            </a:endParaRPr>
          </a:p>
          <a:p>
            <a:pPr eaLnBrk="1" hangingPunct="1"/>
            <a:endParaRPr lang="en-US" dirty="0">
              <a:sym typeface="Symbol" pitchFamily="16" charset="2"/>
            </a:endParaRPr>
          </a:p>
          <a:p>
            <a:pPr eaLnBrk="1" hangingPunct="1"/>
            <a:r>
              <a:rPr lang="en-US" dirty="0">
                <a:sym typeface="Symbol" pitchFamily="16" charset="2"/>
              </a:rPr>
              <a:t>That is, it does not tell us how to </a:t>
            </a:r>
            <a:r>
              <a:rPr lang="en-US">
                <a:sym typeface="Symbol" pitchFamily="16" charset="2"/>
              </a:rPr>
              <a:t>actually calculate </a:t>
            </a:r>
            <a:r>
              <a:rPr lang="en-US" b="1">
                <a:solidFill>
                  <a:srgbClr val="0070C0"/>
                </a:solidFill>
                <a:sym typeface="Symbol" pitchFamily="16" charset="2"/>
              </a:rPr>
              <a:t>wp</a:t>
            </a:r>
            <a:r>
              <a:rPr lang="en-US" i="1">
                <a:sym typeface="Symbol" pitchFamily="16" charset="2"/>
              </a:rPr>
              <a:t> S Q</a:t>
            </a:r>
            <a:r>
              <a:rPr lang="en-US">
                <a:sym typeface="Symbol" pitchFamily="16" charset="2"/>
              </a:rPr>
              <a:t>.</a:t>
            </a:r>
          </a:p>
          <a:p>
            <a:pPr eaLnBrk="1" hangingPunct="1"/>
            <a:endParaRPr lang="en-US" dirty="0">
              <a:sym typeface="Symbol" pitchFamily="16" charset="2"/>
            </a:endParaRPr>
          </a:p>
          <a:p>
            <a:pPr eaLnBrk="1" hangingPunct="1"/>
            <a:r>
              <a:rPr lang="en-US" dirty="0">
                <a:sym typeface="Symbol" pitchFamily="16" charset="2"/>
              </a:rPr>
              <a:t>To be actually usable, we need to come up with a constructive definition for </a:t>
            </a:r>
            <a:r>
              <a:rPr lang="en-US" dirty="0" err="1">
                <a:sym typeface="Symbol" pitchFamily="16" charset="2"/>
              </a:rPr>
              <a:t>wp</a:t>
            </a:r>
            <a:r>
              <a:rPr lang="en-US" dirty="0">
                <a:sym typeface="Symbol" pitchFamily="16" charset="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135373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7CE9D2B-9BCB-904F-B5FD-B0C93FDA5F3B}"/>
              </a:ext>
            </a:extLst>
          </p:cNvPr>
          <p:cNvSpPr/>
          <p:nvPr/>
        </p:nvSpPr>
        <p:spPr>
          <a:xfrm>
            <a:off x="1371600" y="5600700"/>
            <a:ext cx="5334000" cy="685800"/>
          </a:xfrm>
          <a:prstGeom prst="roundRect">
            <a:avLst>
              <a:gd name="adj" fmla="val 33084"/>
            </a:avLst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5462129-E192-7444-AD4E-EAE1CCBB2BB4}"/>
              </a:ext>
            </a:extLst>
          </p:cNvPr>
          <p:cNvSpPr/>
          <p:nvPr/>
        </p:nvSpPr>
        <p:spPr>
          <a:xfrm>
            <a:off x="1371600" y="2971800"/>
            <a:ext cx="5334000" cy="685800"/>
          </a:xfrm>
          <a:prstGeom prst="roundRect">
            <a:avLst>
              <a:gd name="adj" fmla="val 33084"/>
            </a:avLst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94B75B1-77A9-47B9-B8CD-EB7D9FE1C654}" type="slidenum">
              <a:rPr lang="en-US" altLang="en-US"/>
              <a:pPr>
                <a:defRPr/>
              </a:pPr>
              <a:t>30</a:t>
            </a:fld>
            <a:endParaRPr lang="en-US" altLang="en-US"/>
          </a:p>
        </p:txBody>
      </p:sp>
      <p:sp>
        <p:nvSpPr>
          <p:cNvPr id="4" name="Slide Number Placeholder 3"/>
          <p:cNvSpPr txBox="1">
            <a:spLocks noGrp="1"/>
          </p:cNvSpPr>
          <p:nvPr/>
        </p:nvSpPr>
        <p:spPr bwMode="auto">
          <a:xfrm>
            <a:off x="7010400" y="64008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94249AE4-DB88-462B-964C-045F3FE6F1B6}" type="slidenum">
              <a:rPr lang="en-US" altLang="en-US" sz="1200">
                <a:latin typeface="+mj-lt"/>
              </a:rPr>
              <a:pPr algn="r">
                <a:defRPr/>
              </a:pPr>
              <a:t>30</a:t>
            </a:fld>
            <a:endParaRPr lang="en-US" altLang="en-US" sz="1200">
              <a:latin typeface="+mj-lt"/>
            </a:endParaRPr>
          </a:p>
        </p:txBody>
      </p:sp>
      <p:sp>
        <p:nvSpPr>
          <p:cNvPr id="153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Some notes before we attempt to define </a:t>
            </a:r>
            <a:r>
              <a:rPr lang="en-US" dirty="0" err="1"/>
              <a:t>wp</a:t>
            </a:r>
            <a:r>
              <a:rPr lang="en-US" dirty="0"/>
              <a:t> </a:t>
            </a:r>
          </a:p>
        </p:txBody>
      </p:sp>
      <p:sp>
        <p:nvSpPr>
          <p:cNvPr id="1536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219200"/>
            <a:ext cx="8686800" cy="5181600"/>
          </a:xfrm>
        </p:spPr>
        <p:txBody>
          <a:bodyPr/>
          <a:lstStyle/>
          <a:p>
            <a:pPr eaLnBrk="1" hangingPunct="1"/>
            <a:r>
              <a:rPr lang="en-US" sz="2000" dirty="0"/>
              <a:t>This is the meta property we want to have: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>
                <a:sym typeface="Symbol" pitchFamily="16" charset="2"/>
              </a:rPr>
              <a:t>                 </a:t>
            </a:r>
            <a:r>
              <a:rPr lang="en-US" sz="2000" i="1" dirty="0">
                <a:sym typeface="Symbol" pitchFamily="16" charset="2"/>
              </a:rPr>
              <a:t>P</a:t>
            </a:r>
            <a:r>
              <a:rPr lang="en-US" sz="2000" dirty="0">
                <a:sym typeface="Symbol" pitchFamily="16" charset="2"/>
              </a:rPr>
              <a:t>    </a:t>
            </a:r>
            <a:r>
              <a:rPr lang="en-US" sz="2000" b="1" dirty="0">
                <a:solidFill>
                  <a:srgbClr val="0070C0"/>
                </a:solidFill>
                <a:sym typeface="Symbol" pitchFamily="16" charset="2"/>
              </a:rPr>
              <a:t>wp</a:t>
            </a:r>
            <a:r>
              <a:rPr lang="en-US" sz="2000" i="1" dirty="0">
                <a:sym typeface="Symbol" pitchFamily="16" charset="2"/>
              </a:rPr>
              <a:t> S Q      </a:t>
            </a:r>
            <a:r>
              <a:rPr lang="en-US" sz="2000" b="1" dirty="0">
                <a:solidFill>
                  <a:srgbClr val="C00000"/>
                </a:solidFill>
                <a:sym typeface="Symbol"/>
              </a:rPr>
              <a:t>       </a:t>
            </a:r>
            <a:r>
              <a:rPr lang="en-US" sz="2000" dirty="0">
                <a:sym typeface="Symbol" pitchFamily="16" charset="2"/>
              </a:rPr>
              <a:t>{* </a:t>
            </a:r>
            <a:r>
              <a:rPr lang="en-US" sz="2000" i="1" dirty="0">
                <a:sym typeface="Symbol" pitchFamily="16" charset="2"/>
              </a:rPr>
              <a:t>P</a:t>
            </a:r>
            <a:r>
              <a:rPr lang="en-US" sz="2000" dirty="0">
                <a:sym typeface="Symbol" pitchFamily="16" charset="2"/>
              </a:rPr>
              <a:t> *}  </a:t>
            </a:r>
            <a:r>
              <a:rPr lang="en-US" sz="2000" i="1" dirty="0">
                <a:sym typeface="Symbol" pitchFamily="16" charset="2"/>
              </a:rPr>
              <a:t>S</a:t>
            </a:r>
            <a:r>
              <a:rPr lang="en-US" sz="2000" dirty="0">
                <a:sym typeface="Symbol" pitchFamily="16" charset="2"/>
              </a:rPr>
              <a:t>  {* </a:t>
            </a:r>
            <a:r>
              <a:rPr lang="en-US" sz="2000" i="1" dirty="0">
                <a:sym typeface="Symbol" pitchFamily="16" charset="2"/>
              </a:rPr>
              <a:t>Q</a:t>
            </a:r>
            <a:r>
              <a:rPr lang="en-US" sz="2000" dirty="0">
                <a:sym typeface="Symbol" pitchFamily="16" charset="2"/>
              </a:rPr>
              <a:t>  *} </a:t>
            </a:r>
            <a:br>
              <a:rPr lang="en-US" sz="2000" dirty="0">
                <a:sym typeface="Symbol" pitchFamily="16" charset="2"/>
              </a:rPr>
            </a:br>
            <a:endParaRPr lang="en-US" sz="2000" dirty="0">
              <a:sym typeface="Symbol" pitchFamily="16" charset="2"/>
            </a:endParaRPr>
          </a:p>
          <a:p>
            <a:pPr eaLnBrk="1" hangingPunct="1"/>
            <a:r>
              <a:rPr lang="en-US" sz="2000" dirty="0">
                <a:sym typeface="Symbol" pitchFamily="16" charset="2"/>
              </a:rPr>
              <a:t>A definition/implementation of </a:t>
            </a:r>
            <a:r>
              <a:rPr lang="en-US" sz="2000" b="1" dirty="0">
                <a:solidFill>
                  <a:srgbClr val="0070C0"/>
                </a:solidFill>
                <a:sym typeface="Symbol" pitchFamily="16" charset="2"/>
              </a:rPr>
              <a:t>wp</a:t>
            </a:r>
            <a:r>
              <a:rPr lang="en-US" sz="2000" dirty="0">
                <a:sym typeface="Symbol" pitchFamily="16" charset="2"/>
              </a:rPr>
              <a:t> should be at least “</a:t>
            </a:r>
            <a:r>
              <a:rPr lang="en-US" sz="2000" b="1" dirty="0">
                <a:sym typeface="Symbol" pitchFamily="16" charset="2"/>
              </a:rPr>
              <a:t>sound</a:t>
            </a:r>
            <a:r>
              <a:rPr lang="en-US" sz="2000" dirty="0">
                <a:sym typeface="Symbol" pitchFamily="16" charset="2"/>
              </a:rPr>
              <a:t>”:</a:t>
            </a:r>
            <a:br>
              <a:rPr lang="en-US" sz="2000" dirty="0">
                <a:sym typeface="Symbol" pitchFamily="16" charset="2"/>
              </a:rPr>
            </a:br>
            <a:br>
              <a:rPr lang="en-US" sz="2000" dirty="0">
                <a:sym typeface="Symbol" pitchFamily="16" charset="2"/>
              </a:rPr>
            </a:br>
            <a:r>
              <a:rPr lang="en-US" sz="2000" dirty="0">
                <a:sym typeface="Symbol" pitchFamily="16" charset="2"/>
              </a:rPr>
              <a:t>               </a:t>
            </a:r>
            <a:r>
              <a:rPr lang="en-US" sz="2000" i="1" dirty="0">
                <a:sym typeface="Symbol" pitchFamily="16" charset="2"/>
              </a:rPr>
              <a:t>P</a:t>
            </a:r>
            <a:r>
              <a:rPr lang="en-US" sz="2000" dirty="0">
                <a:sym typeface="Symbol" pitchFamily="16" charset="2"/>
              </a:rPr>
              <a:t>    </a:t>
            </a:r>
            <a:r>
              <a:rPr lang="en-US" sz="2000" b="1" dirty="0">
                <a:solidFill>
                  <a:srgbClr val="0070C0"/>
                </a:solidFill>
                <a:sym typeface="Symbol" pitchFamily="16" charset="2"/>
              </a:rPr>
              <a:t>wp</a:t>
            </a:r>
            <a:r>
              <a:rPr lang="en-US" sz="2000" i="1" dirty="0">
                <a:sym typeface="Symbol" pitchFamily="16" charset="2"/>
              </a:rPr>
              <a:t> S Q      </a:t>
            </a:r>
            <a:r>
              <a:rPr lang="en-US" sz="2000" b="1" dirty="0">
                <a:solidFill>
                  <a:srgbClr val="C00000"/>
                </a:solidFill>
                <a:sym typeface="Symbol"/>
              </a:rPr>
              <a:t>⇒       </a:t>
            </a:r>
            <a:r>
              <a:rPr lang="en-US" sz="2000" dirty="0">
                <a:sym typeface="Symbol" pitchFamily="16" charset="2"/>
              </a:rPr>
              <a:t>{* </a:t>
            </a:r>
            <a:r>
              <a:rPr lang="en-US" sz="2000" i="1" dirty="0">
                <a:sym typeface="Symbol" pitchFamily="16" charset="2"/>
              </a:rPr>
              <a:t>P</a:t>
            </a:r>
            <a:r>
              <a:rPr lang="en-US" sz="2000" dirty="0">
                <a:sym typeface="Symbol" pitchFamily="16" charset="2"/>
              </a:rPr>
              <a:t> *}  </a:t>
            </a:r>
            <a:r>
              <a:rPr lang="en-US" sz="2000" i="1" dirty="0">
                <a:sym typeface="Symbol" pitchFamily="16" charset="2"/>
              </a:rPr>
              <a:t>S</a:t>
            </a:r>
            <a:r>
              <a:rPr lang="en-US" sz="2000" dirty="0">
                <a:sym typeface="Symbol" pitchFamily="16" charset="2"/>
              </a:rPr>
              <a:t>  {* </a:t>
            </a:r>
            <a:r>
              <a:rPr lang="en-US" sz="2000" i="1" dirty="0">
                <a:sym typeface="Symbol" pitchFamily="16" charset="2"/>
              </a:rPr>
              <a:t>Q</a:t>
            </a:r>
            <a:r>
              <a:rPr lang="en-US" sz="2000" dirty="0">
                <a:sym typeface="Symbol" pitchFamily="16" charset="2"/>
              </a:rPr>
              <a:t>  *}</a:t>
            </a:r>
          </a:p>
          <a:p>
            <a:pPr eaLnBrk="1" hangingPunct="1"/>
            <a:endParaRPr lang="en-US" sz="2000" dirty="0">
              <a:sym typeface="Symbol" pitchFamily="16" charset="2"/>
            </a:endParaRPr>
          </a:p>
          <a:p>
            <a:pPr eaLnBrk="1" hangingPunct="1"/>
            <a:r>
              <a:rPr lang="en-US" sz="2000" dirty="0">
                <a:sym typeface="Symbol" pitchFamily="16" charset="2"/>
              </a:rPr>
              <a:t>It should also be “</a:t>
            </a:r>
            <a:r>
              <a:rPr lang="en-US" sz="2000" b="1" dirty="0">
                <a:sym typeface="Symbol" pitchFamily="16" charset="2"/>
              </a:rPr>
              <a:t>complete</a:t>
            </a:r>
            <a:r>
              <a:rPr lang="en-US" sz="2000" dirty="0">
                <a:sym typeface="Symbol" pitchFamily="16" charset="2"/>
              </a:rPr>
              <a:t>”:</a:t>
            </a:r>
            <a:br>
              <a:rPr lang="en-US" sz="2000" dirty="0">
                <a:sym typeface="Symbol" pitchFamily="16" charset="2"/>
              </a:rPr>
            </a:br>
            <a:br>
              <a:rPr lang="en-US" sz="2000" dirty="0">
                <a:sym typeface="Symbol" pitchFamily="16" charset="2"/>
              </a:rPr>
            </a:br>
            <a:r>
              <a:rPr lang="en-US" sz="2000" dirty="0">
                <a:sym typeface="Symbol" pitchFamily="16" charset="2"/>
              </a:rPr>
              <a:t>               </a:t>
            </a:r>
            <a:r>
              <a:rPr lang="en-US" sz="2000" i="1" dirty="0">
                <a:sym typeface="Symbol" pitchFamily="16" charset="2"/>
              </a:rPr>
              <a:t>P</a:t>
            </a:r>
            <a:r>
              <a:rPr lang="en-US" sz="2000" dirty="0">
                <a:sym typeface="Symbol" pitchFamily="16" charset="2"/>
              </a:rPr>
              <a:t>    </a:t>
            </a:r>
            <a:r>
              <a:rPr lang="en-US" sz="2000" b="1" dirty="0">
                <a:solidFill>
                  <a:srgbClr val="0070C0"/>
                </a:solidFill>
                <a:sym typeface="Symbol" pitchFamily="16" charset="2"/>
              </a:rPr>
              <a:t>wp</a:t>
            </a:r>
            <a:r>
              <a:rPr lang="en-US" sz="2000" i="1" dirty="0">
                <a:sym typeface="Symbol" pitchFamily="16" charset="2"/>
              </a:rPr>
              <a:t> S Q      </a:t>
            </a:r>
            <a:r>
              <a:rPr lang="en-US" sz="2000" b="1" dirty="0">
                <a:solidFill>
                  <a:srgbClr val="C00000"/>
                </a:solidFill>
                <a:sym typeface="Symbol" pitchFamily="16" charset="2"/>
              </a:rPr>
              <a:t>⇐</a:t>
            </a:r>
            <a:r>
              <a:rPr lang="en-US" sz="2000" b="1" dirty="0">
                <a:solidFill>
                  <a:srgbClr val="C00000"/>
                </a:solidFill>
                <a:sym typeface="Symbol"/>
              </a:rPr>
              <a:t>       </a:t>
            </a:r>
            <a:r>
              <a:rPr lang="en-US" sz="2000" dirty="0">
                <a:sym typeface="Symbol" pitchFamily="16" charset="2"/>
              </a:rPr>
              <a:t>{* </a:t>
            </a:r>
            <a:r>
              <a:rPr lang="en-US" sz="2000" i="1" dirty="0">
                <a:sym typeface="Symbol" pitchFamily="16" charset="2"/>
              </a:rPr>
              <a:t>P</a:t>
            </a:r>
            <a:r>
              <a:rPr lang="en-US" sz="2000" dirty="0">
                <a:sym typeface="Symbol" pitchFamily="16" charset="2"/>
              </a:rPr>
              <a:t> *}  </a:t>
            </a:r>
            <a:r>
              <a:rPr lang="en-US" sz="2000" i="1" dirty="0">
                <a:sym typeface="Symbol" pitchFamily="16" charset="2"/>
              </a:rPr>
              <a:t>S</a:t>
            </a:r>
            <a:r>
              <a:rPr lang="en-US" sz="2000" dirty="0">
                <a:sym typeface="Symbol" pitchFamily="16" charset="2"/>
              </a:rPr>
              <a:t>  {* </a:t>
            </a:r>
            <a:r>
              <a:rPr lang="en-US" sz="2000" i="1" dirty="0">
                <a:sym typeface="Symbol" pitchFamily="16" charset="2"/>
              </a:rPr>
              <a:t>Q</a:t>
            </a:r>
            <a:r>
              <a:rPr lang="en-US" sz="2000" dirty="0">
                <a:sym typeface="Symbol" pitchFamily="16" charset="2"/>
              </a:rPr>
              <a:t>  *}</a:t>
            </a:r>
          </a:p>
          <a:p>
            <a:pPr eaLnBrk="1" hangingPunct="1"/>
            <a:endParaRPr lang="en-US" sz="2000" dirty="0">
              <a:sym typeface="Symbol" pitchFamily="16" charset="2"/>
            </a:endParaRPr>
          </a:p>
          <a:p>
            <a:pPr marL="0" indent="0" eaLnBrk="1" hangingPunct="1">
              <a:buNone/>
            </a:pPr>
            <a:r>
              <a:rPr lang="en-US" sz="2000" dirty="0">
                <a:sym typeface="Symbol" pitchFamily="16" charset="2"/>
              </a:rPr>
              <a:t>    Or, Equivalently:</a:t>
            </a:r>
            <a:br>
              <a:rPr lang="en-US" sz="2000" dirty="0">
                <a:sym typeface="Symbol" pitchFamily="16" charset="2"/>
              </a:rPr>
            </a:br>
            <a:endParaRPr lang="en-US" sz="2000" dirty="0">
              <a:sym typeface="Symbol" pitchFamily="16" charset="2"/>
            </a:endParaRPr>
          </a:p>
          <a:p>
            <a:pPr marL="0" indent="0" eaLnBrk="1" hangingPunct="1">
              <a:buNone/>
            </a:pPr>
            <a:r>
              <a:rPr lang="en-US" sz="2000" i="1" dirty="0">
                <a:sym typeface="Symbol" pitchFamily="16" charset="2"/>
              </a:rPr>
              <a:t>                   P</a:t>
            </a:r>
            <a:r>
              <a:rPr lang="en-US" sz="2000" dirty="0">
                <a:sym typeface="Symbol" pitchFamily="16" charset="2"/>
              </a:rPr>
              <a:t>    </a:t>
            </a:r>
            <a:r>
              <a:rPr lang="en-US" sz="2000" b="1" dirty="0">
                <a:solidFill>
                  <a:srgbClr val="0070C0"/>
                </a:solidFill>
                <a:sym typeface="Symbol" pitchFamily="16" charset="2"/>
              </a:rPr>
              <a:t>wp</a:t>
            </a:r>
            <a:r>
              <a:rPr lang="en-US" sz="2000" i="1" dirty="0">
                <a:sym typeface="Symbol" pitchFamily="16" charset="2"/>
              </a:rPr>
              <a:t> S Q      </a:t>
            </a:r>
            <a:r>
              <a:rPr lang="en-US" sz="2000" b="1" dirty="0">
                <a:solidFill>
                  <a:srgbClr val="C00000"/>
                </a:solidFill>
                <a:sym typeface="Symbol"/>
              </a:rPr>
              <a:t>⇒       </a:t>
            </a:r>
            <a:r>
              <a:rPr lang="en-US" sz="2000" dirty="0">
                <a:sym typeface="Symbol" pitchFamily="16" charset="2"/>
              </a:rPr>
              <a:t>{* </a:t>
            </a:r>
            <a:r>
              <a:rPr lang="en-US" sz="2000" i="1" dirty="0">
                <a:sym typeface="Symbol" pitchFamily="16" charset="2"/>
              </a:rPr>
              <a:t>P</a:t>
            </a:r>
            <a:r>
              <a:rPr lang="en-US" sz="2000" dirty="0">
                <a:sym typeface="Symbol" pitchFamily="16" charset="2"/>
              </a:rPr>
              <a:t> *}  </a:t>
            </a:r>
            <a:r>
              <a:rPr lang="en-US" sz="2000" i="1" dirty="0">
                <a:sym typeface="Symbol" pitchFamily="16" charset="2"/>
              </a:rPr>
              <a:t>S</a:t>
            </a:r>
            <a:r>
              <a:rPr lang="en-US" sz="2000" dirty="0">
                <a:sym typeface="Symbol" pitchFamily="16" charset="2"/>
              </a:rPr>
              <a:t>  {* </a:t>
            </a:r>
            <a:r>
              <a:rPr lang="en-US" sz="2000" i="1" dirty="0">
                <a:sym typeface="Symbol" pitchFamily="16" charset="2"/>
              </a:rPr>
              <a:t>Q</a:t>
            </a:r>
            <a:r>
              <a:rPr lang="en-US" sz="2000" dirty="0">
                <a:sym typeface="Symbol" pitchFamily="16" charset="2"/>
              </a:rPr>
              <a:t>  *}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0F6EABA-CC74-D249-AFD0-D840106E661E}"/>
              </a:ext>
            </a:extLst>
          </p:cNvPr>
          <p:cNvCxnSpPr/>
          <p:nvPr/>
        </p:nvCxnSpPr>
        <p:spPr>
          <a:xfrm flipH="1">
            <a:off x="1981200" y="5821117"/>
            <a:ext cx="152400" cy="45720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2578BDB-6572-CA48-A50C-8BB8BF76BB43}"/>
              </a:ext>
            </a:extLst>
          </p:cNvPr>
          <p:cNvCxnSpPr>
            <a:cxnSpLocks/>
          </p:cNvCxnSpPr>
          <p:nvPr/>
        </p:nvCxnSpPr>
        <p:spPr>
          <a:xfrm flipH="1">
            <a:off x="4343400" y="5821117"/>
            <a:ext cx="1905000" cy="428625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6181FB9-3E57-911F-1AB8-F40307A5277F}"/>
              </a:ext>
            </a:extLst>
          </p:cNvPr>
          <p:cNvSpPr/>
          <p:nvPr/>
        </p:nvSpPr>
        <p:spPr>
          <a:xfrm>
            <a:off x="1447800" y="1752600"/>
            <a:ext cx="5334000" cy="685800"/>
          </a:xfrm>
          <a:prstGeom prst="roundRect">
            <a:avLst>
              <a:gd name="adj" fmla="val 33084"/>
            </a:avLst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591FC79-AB9B-E22F-ECE2-379E7BCF7C93}"/>
              </a:ext>
            </a:extLst>
          </p:cNvPr>
          <p:cNvSpPr/>
          <p:nvPr/>
        </p:nvSpPr>
        <p:spPr>
          <a:xfrm>
            <a:off x="1433992" y="4286250"/>
            <a:ext cx="5334000" cy="685800"/>
          </a:xfrm>
          <a:prstGeom prst="roundRect">
            <a:avLst>
              <a:gd name="adj" fmla="val 33084"/>
            </a:avLst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9208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71647-FE07-23F2-80A9-9F1357262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33AEB9E-50C3-77DC-430B-F05ABB8B5230}"/>
              </a:ext>
            </a:extLst>
          </p:cNvPr>
          <p:cNvSpPr/>
          <p:nvPr/>
        </p:nvSpPr>
        <p:spPr>
          <a:xfrm>
            <a:off x="1375525" y="4572000"/>
            <a:ext cx="2482269" cy="685800"/>
          </a:xfrm>
          <a:prstGeom prst="roundRect">
            <a:avLst>
              <a:gd name="adj" fmla="val 33084"/>
            </a:avLst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6EFBB1CD-F875-8EDA-95FF-59D8579D9CBD}"/>
              </a:ext>
            </a:extLst>
          </p:cNvPr>
          <p:cNvSpPr/>
          <p:nvPr/>
        </p:nvSpPr>
        <p:spPr>
          <a:xfrm>
            <a:off x="1447800" y="1752600"/>
            <a:ext cx="5334000" cy="685800"/>
          </a:xfrm>
          <a:prstGeom prst="roundRect">
            <a:avLst>
              <a:gd name="adj" fmla="val 33084"/>
            </a:avLst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62AA562-4ED2-7CED-2170-C9EE6DA6F12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94B75B1-77A9-47B9-B8CD-EB7D9FE1C654}" type="slidenum">
              <a:rPr lang="en-US" altLang="en-US"/>
              <a:pPr>
                <a:defRPr/>
              </a:pPr>
              <a:t>31</a:t>
            </a:fld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A624D9-7914-71C7-7BC2-150EC76B1A76}"/>
              </a:ext>
            </a:extLst>
          </p:cNvPr>
          <p:cNvSpPr txBox="1">
            <a:spLocks noGrp="1"/>
          </p:cNvSpPr>
          <p:nvPr/>
        </p:nvSpPr>
        <p:spPr bwMode="auto">
          <a:xfrm>
            <a:off x="7010400" y="64008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94249AE4-DB88-462B-964C-045F3FE6F1B6}" type="slidenum">
              <a:rPr lang="en-US" altLang="en-US" sz="1200">
                <a:latin typeface="+mj-lt"/>
              </a:rPr>
              <a:pPr algn="r">
                <a:defRPr/>
              </a:pPr>
              <a:t>31</a:t>
            </a:fld>
            <a:endParaRPr lang="en-US" altLang="en-US" sz="1200">
              <a:latin typeface="+mj-lt"/>
            </a:endParaRPr>
          </a:p>
        </p:txBody>
      </p:sp>
      <p:sp>
        <p:nvSpPr>
          <p:cNvPr id="15364" name="Rectangle 2">
            <a:extLst>
              <a:ext uri="{FF2B5EF4-FFF2-40B4-BE49-F238E27FC236}">
                <a16:creationId xmlns:a16="http://schemas.microsoft.com/office/drawing/2014/main" id="{16D7C3E7-F749-4478-B9AA-2F8455F54F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Subset view of wp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365" name="Rectangle 3">
                <a:extLst>
                  <a:ext uri="{FF2B5EF4-FFF2-40B4-BE49-F238E27FC236}">
                    <a16:creationId xmlns:a16="http://schemas.microsoft.com/office/drawing/2014/main" id="{1A10EA02-7550-A03D-A00A-AA84107C196E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228600" y="1219200"/>
                <a:ext cx="8686800" cy="4648200"/>
              </a:xfrm>
            </p:spPr>
            <p:txBody>
              <a:bodyPr/>
              <a:lstStyle/>
              <a:p>
                <a:pPr eaLnBrk="1" hangingPunct="1"/>
                <a:r>
                  <a:rPr lang="en-US" sz="2000" dirty="0"/>
                  <a:t>This is the meta property we want to have:</a:t>
                </a:r>
                <a:br>
                  <a:rPr lang="en-US" sz="2000" dirty="0"/>
                </a:br>
                <a:br>
                  <a:rPr lang="en-US" sz="2000" dirty="0"/>
                </a:br>
                <a:r>
                  <a:rPr lang="en-US" sz="2000" dirty="0">
                    <a:sym typeface="Symbol" pitchFamily="16" charset="2"/>
                  </a:rPr>
                  <a:t>                 </a:t>
                </a:r>
                <a:r>
                  <a:rPr lang="en-US" sz="2000" i="1" dirty="0">
                    <a:sym typeface="Symbol" pitchFamily="16" charset="2"/>
                  </a:rPr>
                  <a:t>P</a:t>
                </a:r>
                <a:r>
                  <a:rPr lang="en-US" sz="2000" dirty="0">
                    <a:sym typeface="Symbol" pitchFamily="16" charset="2"/>
                  </a:rPr>
                  <a:t>    </a:t>
                </a:r>
                <a:r>
                  <a:rPr lang="en-US" sz="2000" b="1" dirty="0">
                    <a:solidFill>
                      <a:srgbClr val="0070C0"/>
                    </a:solidFill>
                    <a:sym typeface="Symbol" pitchFamily="16" charset="2"/>
                  </a:rPr>
                  <a:t>wp</a:t>
                </a:r>
                <a:r>
                  <a:rPr lang="en-US" sz="2000" i="1" dirty="0">
                    <a:sym typeface="Symbol" pitchFamily="16" charset="2"/>
                  </a:rPr>
                  <a:t> S Q      </a:t>
                </a:r>
                <a:r>
                  <a:rPr lang="en-US" sz="2000" b="1" dirty="0">
                    <a:solidFill>
                      <a:srgbClr val="C00000"/>
                    </a:solidFill>
                    <a:sym typeface="Symbol"/>
                  </a:rPr>
                  <a:t>       </a:t>
                </a:r>
                <a:r>
                  <a:rPr lang="en-US" sz="2000" dirty="0">
                    <a:sym typeface="Symbol" pitchFamily="16" charset="2"/>
                  </a:rPr>
                  <a:t>{* </a:t>
                </a:r>
                <a:r>
                  <a:rPr lang="en-US" sz="2000" i="1" dirty="0">
                    <a:sym typeface="Symbol" pitchFamily="16" charset="2"/>
                  </a:rPr>
                  <a:t>P</a:t>
                </a:r>
                <a:r>
                  <a:rPr lang="en-US" sz="2000" dirty="0">
                    <a:sym typeface="Symbol" pitchFamily="16" charset="2"/>
                  </a:rPr>
                  <a:t> *}  </a:t>
                </a:r>
                <a:r>
                  <a:rPr lang="en-US" sz="2000" i="1" dirty="0">
                    <a:sym typeface="Symbol" pitchFamily="16" charset="2"/>
                  </a:rPr>
                  <a:t>S</a:t>
                </a:r>
                <a:r>
                  <a:rPr lang="en-US" sz="2000" dirty="0">
                    <a:sym typeface="Symbol" pitchFamily="16" charset="2"/>
                  </a:rPr>
                  <a:t>  {* </a:t>
                </a:r>
                <a:r>
                  <a:rPr lang="en-US" sz="2000" i="1" dirty="0">
                    <a:sym typeface="Symbol" pitchFamily="16" charset="2"/>
                  </a:rPr>
                  <a:t>Q</a:t>
                </a:r>
                <a:r>
                  <a:rPr lang="en-US" sz="2000" dirty="0">
                    <a:sym typeface="Symbol" pitchFamily="16" charset="2"/>
                  </a:rPr>
                  <a:t>  *} </a:t>
                </a:r>
                <a:br>
                  <a:rPr lang="en-US" sz="2000" dirty="0">
                    <a:sym typeface="Symbol" pitchFamily="16" charset="2"/>
                  </a:rPr>
                </a:br>
                <a:endParaRPr lang="en-US" sz="2000" dirty="0">
                  <a:sym typeface="Symbol" pitchFamily="16" charset="2"/>
                </a:endParaRPr>
              </a:p>
              <a:p>
                <a:pPr eaLnBrk="1" hangingPunct="1"/>
                <a:r>
                  <a:rPr lang="en-US" sz="2000" dirty="0">
                    <a:sym typeface="Symbol" pitchFamily="16" charset="2"/>
                  </a:rPr>
                  <a:t>In terms of subsets, this is equivalently stated as:</a:t>
                </a:r>
              </a:p>
              <a:p>
                <a:pPr marL="1341438" lvl="4" indent="0" eaLnBrk="1" hangingPunct="1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sym typeface="Symbol" pitchFamily="16" charset="2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Symbol" pitchFamily="16" charset="2"/>
                      </a:rPr>
                      <m:t>⊆ </m:t>
                    </m:r>
                  </m:oMath>
                </a14:m>
                <a:r>
                  <a:rPr lang="en-US" b="1" dirty="0">
                    <a:solidFill>
                      <a:srgbClr val="0070C0"/>
                    </a:solidFill>
                    <a:sym typeface="Symbol" pitchFamily="16" charset="2"/>
                  </a:rPr>
                  <a:t>wp</a:t>
                </a:r>
                <a:r>
                  <a:rPr lang="en-US" i="1" dirty="0">
                    <a:sym typeface="Symbol" pitchFamily="16" charset="2"/>
                  </a:rPr>
                  <a:t> S Q            </a:t>
                </a:r>
                <a:r>
                  <a:rPr lang="en-US" b="1" dirty="0">
                    <a:solidFill>
                      <a:srgbClr val="C00000"/>
                    </a:solidFill>
                    <a:sym typeface="Symbol"/>
                  </a:rPr>
                  <a:t>        </a:t>
                </a:r>
                <a:r>
                  <a:rPr lang="en-US" i="1" dirty="0">
                    <a:sym typeface="Symbol" pitchFamily="16" charset="2"/>
                  </a:rPr>
                  <a:t>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sym typeface="Symbol" pitchFamily="16" charset="2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sym typeface="Symbol" pitchFamily="16" charset="2"/>
                          </a:rPr>
                          <m:t>𝑃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sym typeface="Symbol" pitchFamily="16" charset="2"/>
                      </a:rPr>
                      <m:t>⊆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Symbol" pitchFamily="16" charset="2"/>
                      </a:rPr>
                      <m:t>𝑄</m:t>
                    </m:r>
                  </m:oMath>
                </a14:m>
                <a:endParaRPr lang="en-US" dirty="0">
                  <a:sym typeface="Symbol" pitchFamily="16" charset="2"/>
                </a:endParaRPr>
              </a:p>
              <a:p>
                <a:pPr marL="330200" lvl="1" indent="0" eaLnBrk="1" hangingPunct="1">
                  <a:buNone/>
                </a:pPr>
                <a:r>
                  <a:rPr lang="en-US" sz="2000" dirty="0">
                    <a:sym typeface="Symbol" pitchFamily="16" charset="2"/>
                  </a:rPr>
                  <a:t>But notice that the following is true (from logic / basic set theory)</a:t>
                </a:r>
              </a:p>
              <a:p>
                <a:pPr marL="330200" lvl="1" indent="0" eaLnBrk="1" hangingPunct="1">
                  <a:buNone/>
                </a:pPr>
                <a:r>
                  <a:rPr lang="en-US" sz="2000" dirty="0">
                    <a:sym typeface="Symbol" pitchFamily="16" charset="2"/>
                  </a:rPr>
                  <a:t>            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sym typeface="Symbol" pitchFamily="16" charset="2"/>
                      </a:rPr>
                      <m:t>𝑃</m:t>
                    </m:r>
                    <m:r>
                      <a:rPr lang="en-US" sz="2000" i="1">
                        <a:latin typeface="Cambria Math" panose="02040503050406030204" pitchFamily="18" charset="0"/>
                        <a:sym typeface="Symbol" pitchFamily="16" charset="2"/>
                      </a:rPr>
                      <m:t>⊆</m:t>
                    </m:r>
                    <m:sSup>
                      <m:sSupPr>
                        <m:ctrlPr>
                          <a:rPr lang="en-US" sz="2000" i="1" smtClean="0">
                            <a:latin typeface="Cambria Math" panose="02040503050406030204" pitchFamily="18" charset="0"/>
                            <a:sym typeface="Symbol" pitchFamily="16" charset="2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2000" i="1">
                            <a:sym typeface="Symbol" pitchFamily="16" charset="2"/>
                          </a:rPr>
                          <m:t>S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sym typeface="Symbol" pitchFamily="16" charset="2"/>
                          </a:rPr>
                          <m:t>−1</m:t>
                        </m:r>
                      </m:sup>
                    </m:sSup>
                    <m:r>
                      <m:rPr>
                        <m:nor/>
                      </m:rPr>
                      <a:rPr lang="en-US" sz="2000" i="1">
                        <a:sym typeface="Symbol" pitchFamily="16" charset="2"/>
                      </a:rPr>
                      <m:t> 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sym typeface="Symbol" pitchFamily="16" charset="2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sym typeface="Symbol" pitchFamily="16" charset="2"/>
                          </a:rPr>
                          <m:t>𝑄</m:t>
                        </m:r>
                      </m:e>
                    </m:d>
                    <m:r>
                      <a:rPr lang="en-US" sz="2000" b="1" i="0" smtClean="0">
                        <a:latin typeface="Cambria Math" panose="02040503050406030204" pitchFamily="18" charset="0"/>
                        <a:sym typeface="Symbol" pitchFamily="16" charset="2"/>
                      </a:rPr>
                      <m:t>   </m:t>
                    </m:r>
                  </m:oMath>
                </a14:m>
                <a:r>
                  <a:rPr lang="en-US" sz="2000" b="1" dirty="0">
                    <a:solidFill>
                      <a:srgbClr val="C00000"/>
                    </a:solidFill>
                    <a:sym typeface="Symbol"/>
                  </a:rPr>
                  <a:t>                  </a:t>
                </a:r>
                <a:r>
                  <a:rPr lang="en-US" sz="2000" i="1" dirty="0">
                    <a:sym typeface="Symbol" pitchFamily="16" charset="2"/>
                  </a:rPr>
                  <a:t>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sym typeface="Symbol" pitchFamily="16" charset="2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sym typeface="Symbol" pitchFamily="16" charset="2"/>
                          </a:rPr>
                          <m:t>𝑃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sym typeface="Symbol" pitchFamily="16" charset="2"/>
                      </a:rPr>
                      <m:t>⊆</m:t>
                    </m:r>
                    <m:r>
                      <a:rPr lang="en-US" sz="2000" i="1">
                        <a:latin typeface="Cambria Math" panose="02040503050406030204" pitchFamily="18" charset="0"/>
                        <a:sym typeface="Symbol" pitchFamily="16" charset="2"/>
                      </a:rPr>
                      <m:t>𝑄</m:t>
                    </m:r>
                  </m:oMath>
                </a14:m>
                <a:endParaRPr lang="en-US" sz="2000" dirty="0">
                  <a:sym typeface="Symbol" pitchFamily="16" charset="2"/>
                </a:endParaRPr>
              </a:p>
              <a:p>
                <a:pPr marL="330200" lvl="1" indent="0" eaLnBrk="1" hangingPunct="1">
                  <a:buNone/>
                </a:pPr>
                <a:r>
                  <a:rPr lang="en-US" sz="2000" dirty="0">
                    <a:sym typeface="Symbol" pitchFamily="16" charset="2"/>
                  </a:rPr>
                  <a:t>Therefore,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sym typeface="Symbol" pitchFamily="16" charset="2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2000" i="1">
                            <a:sym typeface="Symbol" pitchFamily="16" charset="2"/>
                          </a:rPr>
                          <m:t>S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sym typeface="Symbol" pitchFamily="16" charset="2"/>
                          </a:rPr>
                          <m:t>−1</m:t>
                        </m:r>
                      </m:sup>
                    </m:sSup>
                    <m:r>
                      <m:rPr>
                        <m:nor/>
                      </m:rPr>
                      <a:rPr lang="en-US" sz="2000" i="1">
                        <a:sym typeface="Symbol" pitchFamily="16" charset="2"/>
                      </a:rPr>
                      <m:t> 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sym typeface="Symbol" pitchFamily="16" charset="2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sym typeface="Symbol" pitchFamily="16" charset="2"/>
                          </a:rPr>
                          <m:t>𝑄</m:t>
                        </m:r>
                      </m:e>
                    </m:d>
                  </m:oMath>
                </a14:m>
                <a:r>
                  <a:rPr lang="en-US" sz="2000" dirty="0">
                    <a:sym typeface="Symbol" pitchFamily="16" charset="2"/>
                  </a:rPr>
                  <a:t> has the property we want!</a:t>
                </a:r>
              </a:p>
              <a:p>
                <a:pPr marL="330200" lvl="1" indent="0" eaLnBrk="1" hangingPunct="1">
                  <a:buNone/>
                </a:pPr>
                <a:endParaRPr lang="en-US" sz="2000" dirty="0">
                  <a:sym typeface="Symbol" pitchFamily="16" charset="2"/>
                </a:endParaRPr>
              </a:p>
              <a:p>
                <a:pPr marL="330200" lvl="1" indent="0" eaLnBrk="1" hangingPunct="1">
                  <a:buNone/>
                </a:pPr>
                <a:r>
                  <a:rPr lang="en-US" sz="2000" b="1" dirty="0">
                    <a:solidFill>
                      <a:srgbClr val="0070C0"/>
                    </a:solidFill>
                    <a:sym typeface="Symbol" pitchFamily="16" charset="2"/>
                  </a:rPr>
                  <a:t>              wp</a:t>
                </a:r>
                <a:r>
                  <a:rPr lang="en-US" sz="2000" i="1" dirty="0">
                    <a:sym typeface="Symbol" pitchFamily="16" charset="2"/>
                  </a:rPr>
                  <a:t> S Q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sym typeface="Symbol" pitchFamily="16" charset="2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2000" i="1">
                            <a:sym typeface="Symbol" pitchFamily="16" charset="2"/>
                          </a:rPr>
                          <m:t>S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sym typeface="Symbol" pitchFamily="16" charset="2"/>
                          </a:rPr>
                          <m:t>−1</m:t>
                        </m:r>
                      </m:sup>
                    </m:sSup>
                    <m:r>
                      <m:rPr>
                        <m:nor/>
                      </m:rPr>
                      <a:rPr lang="en-US" sz="2000" i="1">
                        <a:sym typeface="Symbol" pitchFamily="16" charset="2"/>
                      </a:rPr>
                      <m:t> 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sym typeface="Symbol" pitchFamily="16" charset="2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sym typeface="Symbol" pitchFamily="16" charset="2"/>
                          </a:rPr>
                          <m:t>𝑄</m:t>
                        </m:r>
                      </m:e>
                    </m:d>
                  </m:oMath>
                </a14:m>
                <a:endParaRPr lang="en-US" sz="2000" dirty="0">
                  <a:sym typeface="Symbol" pitchFamily="16" charset="2"/>
                </a:endParaRPr>
              </a:p>
              <a:p>
                <a:pPr marL="330200" lvl="1" indent="0" eaLnBrk="1" hangingPunct="1">
                  <a:buNone/>
                </a:pPr>
                <a:endParaRPr lang="en-US" sz="2000" dirty="0">
                  <a:sym typeface="Symbol" pitchFamily="16" charset="2"/>
                </a:endParaRPr>
              </a:p>
              <a:p>
                <a:pPr marL="346075" eaLnBrk="1" hangingPunct="1"/>
                <a:r>
                  <a:rPr lang="en-US" sz="2000" dirty="0">
                    <a:sym typeface="Symbol" pitchFamily="16" charset="2"/>
                  </a:rPr>
                  <a:t>It also matches our intuition: </a:t>
                </a:r>
                <a:r>
                  <a:rPr lang="en-US" sz="2000" b="1" dirty="0">
                    <a:solidFill>
                      <a:srgbClr val="0070C0"/>
                    </a:solidFill>
                    <a:sym typeface="Symbol" pitchFamily="16" charset="2"/>
                  </a:rPr>
                  <a:t>wp</a:t>
                </a:r>
                <a:r>
                  <a:rPr lang="en-US" sz="2000" i="1" dirty="0">
                    <a:sym typeface="Symbol" pitchFamily="16" charset="2"/>
                  </a:rPr>
                  <a:t> S Q </a:t>
                </a:r>
                <a:r>
                  <a:rPr lang="en-US" sz="2000" dirty="0">
                    <a:sym typeface="Symbol" pitchFamily="16" charset="2"/>
                  </a:rPr>
                  <a:t>is the collection of all states that are sent to Q by S.</a:t>
                </a:r>
              </a:p>
              <a:p>
                <a:pPr marL="330200" lvl="1" indent="0" eaLnBrk="1" hangingPunct="1">
                  <a:buNone/>
                </a:pPr>
                <a:endParaRPr lang="en-US" sz="2000" dirty="0">
                  <a:sym typeface="Symbol" pitchFamily="16" charset="2"/>
                </a:endParaRPr>
              </a:p>
              <a:p>
                <a:pPr marL="330200" lvl="1" indent="0" eaLnBrk="1" hangingPunct="1">
                  <a:buNone/>
                </a:pPr>
                <a:endParaRPr lang="en-US" sz="2000" dirty="0">
                  <a:sym typeface="Symbol" pitchFamily="16" charset="2"/>
                </a:endParaRPr>
              </a:p>
            </p:txBody>
          </p:sp>
        </mc:Choice>
        <mc:Fallback>
          <p:sp>
            <p:nvSpPr>
              <p:cNvPr id="15365" name="Rectangle 3">
                <a:extLst>
                  <a:ext uri="{FF2B5EF4-FFF2-40B4-BE49-F238E27FC236}">
                    <a16:creationId xmlns:a16="http://schemas.microsoft.com/office/drawing/2014/main" id="{1A10EA02-7550-A03D-A00A-AA84107C19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28600" y="1219200"/>
                <a:ext cx="8686800" cy="4648200"/>
              </a:xfrm>
              <a:blipFill>
                <a:blip r:embed="rId3"/>
                <a:stretch>
                  <a:fillRect l="-146" t="-817" b="-8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03247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92F937-20CA-D29F-C90D-EF462E828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>
            <a:extLst>
              <a:ext uri="{FF2B5EF4-FFF2-40B4-BE49-F238E27FC236}">
                <a16:creationId xmlns:a16="http://schemas.microsoft.com/office/drawing/2014/main" id="{65CB972D-5713-9229-58C2-99E07F3C993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94B75B1-77A9-47B9-B8CD-EB7D9FE1C654}" type="slidenum">
              <a:rPr lang="en-US" altLang="en-US"/>
              <a:pPr>
                <a:defRPr/>
              </a:pPr>
              <a:t>32</a:t>
            </a:fld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3932D2-429C-4C3A-7A75-71C7117DDA57}"/>
              </a:ext>
            </a:extLst>
          </p:cNvPr>
          <p:cNvSpPr txBox="1">
            <a:spLocks noGrp="1"/>
          </p:cNvSpPr>
          <p:nvPr/>
        </p:nvSpPr>
        <p:spPr bwMode="auto">
          <a:xfrm>
            <a:off x="7010400" y="64008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94249AE4-DB88-462B-964C-045F3FE6F1B6}" type="slidenum">
              <a:rPr lang="en-US" altLang="en-US" sz="1200">
                <a:latin typeface="+mj-lt"/>
              </a:rPr>
              <a:pPr algn="r">
                <a:defRPr/>
              </a:pPr>
              <a:t>32</a:t>
            </a:fld>
            <a:endParaRPr lang="en-US" altLang="en-US" sz="1200">
              <a:latin typeface="+mj-lt"/>
            </a:endParaRPr>
          </a:p>
        </p:txBody>
      </p:sp>
      <p:sp>
        <p:nvSpPr>
          <p:cNvPr id="15364" name="Rectangle 2">
            <a:extLst>
              <a:ext uri="{FF2B5EF4-FFF2-40B4-BE49-F238E27FC236}">
                <a16:creationId xmlns:a16="http://schemas.microsoft.com/office/drawing/2014/main" id="{77E670AF-53ED-DF08-D590-67F54DF2B4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Subset view of wp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365" name="Rectangle 3">
                <a:extLst>
                  <a:ext uri="{FF2B5EF4-FFF2-40B4-BE49-F238E27FC236}">
                    <a16:creationId xmlns:a16="http://schemas.microsoft.com/office/drawing/2014/main" id="{36B196A0-C1F3-0711-B8FE-5E36CFB14D7E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228600" y="1219200"/>
                <a:ext cx="8686800" cy="2514600"/>
              </a:xfrm>
            </p:spPr>
            <p:txBody>
              <a:bodyPr/>
              <a:lstStyle/>
              <a:p>
                <a:pPr eaLnBrk="1" hangingPunct="1"/>
                <a:r>
                  <a:rPr lang="en-US" sz="2000" dirty="0"/>
                  <a:t>Let’s check that if we have</a:t>
                </a:r>
                <a:endParaRPr lang="en-US" sz="2000" dirty="0">
                  <a:sym typeface="Symbol" pitchFamily="16" charset="2"/>
                </a:endParaRPr>
              </a:p>
              <a:p>
                <a:pPr marL="682625" lvl="2" indent="0" eaLnBrk="1" hangingPunct="1">
                  <a:buNone/>
                </a:pPr>
                <a:r>
                  <a:rPr lang="en-US" b="0" dirty="0">
                    <a:sym typeface="Symbol" pitchFamily="16" charset="2"/>
                  </a:rPr>
                  <a:t>(1)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sym typeface="Symbol" pitchFamily="16" charset="2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Symbol" pitchFamily="16" charset="2"/>
                      </a:rPr>
                      <m:t>⊆ </m:t>
                    </m:r>
                  </m:oMath>
                </a14:m>
                <a:r>
                  <a:rPr lang="en-US" b="1" dirty="0">
                    <a:solidFill>
                      <a:srgbClr val="0070C0"/>
                    </a:solidFill>
                    <a:sym typeface="Symbol" pitchFamily="16" charset="2"/>
                  </a:rPr>
                  <a:t>wp</a:t>
                </a:r>
                <a:r>
                  <a:rPr lang="en-US" i="1" dirty="0">
                    <a:sym typeface="Symbol" pitchFamily="16" charset="2"/>
                  </a:rPr>
                  <a:t> S Q            </a:t>
                </a:r>
                <a:r>
                  <a:rPr lang="en-US" b="1" dirty="0">
                    <a:solidFill>
                      <a:srgbClr val="C00000"/>
                    </a:solidFill>
                    <a:sym typeface="Symbol"/>
                  </a:rPr>
                  <a:t>        </a:t>
                </a:r>
                <a:r>
                  <a:rPr lang="en-US" i="1" dirty="0">
                    <a:sym typeface="Symbol" pitchFamily="16" charset="2"/>
                  </a:rPr>
                  <a:t>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sym typeface="Symbol" pitchFamily="16" charset="2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sym typeface="Symbol" pitchFamily="16" charset="2"/>
                          </a:rPr>
                          <m:t>𝑃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sym typeface="Symbol" pitchFamily="16" charset="2"/>
                      </a:rPr>
                      <m:t>⊆</m:t>
                    </m:r>
                    <m:r>
                      <a:rPr lang="en-US" b="0" i="1" smtClean="0">
                        <a:latin typeface="Cambria Math" panose="02040503050406030204" pitchFamily="18" charset="0"/>
                        <a:sym typeface="Symbol" pitchFamily="16" charset="2"/>
                      </a:rPr>
                      <m:t>𝑄</m:t>
                    </m:r>
                  </m:oMath>
                </a14:m>
                <a:r>
                  <a:rPr lang="en-US" dirty="0">
                    <a:sym typeface="Symbol" pitchFamily="16" charset="2"/>
                  </a:rPr>
                  <a:t>       (assumption about wp)</a:t>
                </a:r>
              </a:p>
              <a:p>
                <a:pPr marL="330200" lvl="1" indent="0" eaLnBrk="1" hangingPunct="1">
                  <a:buNone/>
                </a:pPr>
                <a:r>
                  <a:rPr lang="en-US" sz="2000" dirty="0">
                    <a:sym typeface="Symbol" pitchFamily="16" charset="2"/>
                  </a:rPr>
                  <a:t>and</a:t>
                </a:r>
              </a:p>
              <a:p>
                <a:pPr marL="330200" lvl="1" indent="0" eaLnBrk="1" hangingPunct="1">
                  <a:buNone/>
                </a:pPr>
                <a:r>
                  <a:rPr lang="en-US" sz="2000" dirty="0">
                    <a:sym typeface="Symbol" pitchFamily="16" charset="2"/>
                  </a:rPr>
                  <a:t>      (2)  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sym typeface="Symbol" pitchFamily="16" charset="2"/>
                      </a:rPr>
                      <m:t>𝑃</m:t>
                    </m:r>
                    <m:r>
                      <a:rPr lang="en-US" sz="2000" i="1">
                        <a:latin typeface="Cambria Math" panose="02040503050406030204" pitchFamily="18" charset="0"/>
                        <a:sym typeface="Symbol" pitchFamily="16" charset="2"/>
                      </a:rPr>
                      <m:t>⊆</m:t>
                    </m:r>
                    <m:sSup>
                      <m:sSupPr>
                        <m:ctrlPr>
                          <a:rPr lang="en-US" sz="2000" i="1" smtClean="0">
                            <a:latin typeface="Cambria Math" panose="02040503050406030204" pitchFamily="18" charset="0"/>
                            <a:sym typeface="Symbol" pitchFamily="16" charset="2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2000" i="1">
                            <a:sym typeface="Symbol" pitchFamily="16" charset="2"/>
                          </a:rPr>
                          <m:t>S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sym typeface="Symbol" pitchFamily="16" charset="2"/>
                          </a:rPr>
                          <m:t>−1</m:t>
                        </m:r>
                      </m:sup>
                    </m:sSup>
                    <m:r>
                      <m:rPr>
                        <m:nor/>
                      </m:rPr>
                      <a:rPr lang="en-US" sz="2000" i="1">
                        <a:sym typeface="Symbol" pitchFamily="16" charset="2"/>
                      </a:rPr>
                      <m:t> 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sym typeface="Symbol" pitchFamily="16" charset="2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sym typeface="Symbol" pitchFamily="16" charset="2"/>
                          </a:rPr>
                          <m:t>𝑄</m:t>
                        </m:r>
                      </m:e>
                    </m:d>
                    <m:r>
                      <a:rPr lang="en-US" sz="2000" b="1" i="0" smtClean="0">
                        <a:latin typeface="Cambria Math" panose="02040503050406030204" pitchFamily="18" charset="0"/>
                        <a:sym typeface="Symbol" pitchFamily="16" charset="2"/>
                      </a:rPr>
                      <m:t>   </m:t>
                    </m:r>
                  </m:oMath>
                </a14:m>
                <a:r>
                  <a:rPr lang="en-US" sz="2000" b="1" dirty="0">
                    <a:solidFill>
                      <a:srgbClr val="C00000"/>
                    </a:solidFill>
                    <a:sym typeface="Symbol"/>
                  </a:rPr>
                  <a:t>                  </a:t>
                </a:r>
                <a:r>
                  <a:rPr lang="en-US" sz="2000" i="1" dirty="0">
                    <a:sym typeface="Symbol" pitchFamily="16" charset="2"/>
                  </a:rPr>
                  <a:t>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sym typeface="Symbol" pitchFamily="16" charset="2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sym typeface="Symbol" pitchFamily="16" charset="2"/>
                          </a:rPr>
                          <m:t>𝑃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sym typeface="Symbol" pitchFamily="16" charset="2"/>
                      </a:rPr>
                      <m:t>⊆</m:t>
                    </m:r>
                    <m:r>
                      <a:rPr lang="en-US" sz="2000" i="1">
                        <a:latin typeface="Cambria Math" panose="02040503050406030204" pitchFamily="18" charset="0"/>
                        <a:sym typeface="Symbol" pitchFamily="16" charset="2"/>
                      </a:rPr>
                      <m:t>𝑄</m:t>
                    </m:r>
                  </m:oMath>
                </a14:m>
                <a:r>
                  <a:rPr lang="en-US" sz="2000" dirty="0">
                    <a:sym typeface="Symbol" pitchFamily="16" charset="2"/>
                  </a:rPr>
                  <a:t>      (true)</a:t>
                </a:r>
              </a:p>
              <a:p>
                <a:pPr marL="330200" lvl="1" indent="0" eaLnBrk="1" hangingPunct="1">
                  <a:buNone/>
                </a:pPr>
                <a:endParaRPr lang="en-US" sz="2000" dirty="0">
                  <a:sym typeface="Symbol" pitchFamily="16" charset="2"/>
                </a:endParaRPr>
              </a:p>
              <a:p>
                <a:pPr marL="330200" lvl="1" indent="0" eaLnBrk="1" hangingPunct="1">
                  <a:buNone/>
                </a:pPr>
                <a:r>
                  <a:rPr lang="en-US" sz="2000" dirty="0">
                    <a:sym typeface="Symbol" pitchFamily="16" charset="2"/>
                  </a:rPr>
                  <a:t>then </a:t>
                </a:r>
                <a:r>
                  <a:rPr lang="en-US" sz="2000" b="1" dirty="0">
                    <a:solidFill>
                      <a:srgbClr val="0070C0"/>
                    </a:solidFill>
                    <a:sym typeface="Symbol" pitchFamily="16" charset="2"/>
                  </a:rPr>
                  <a:t>wp</a:t>
                </a:r>
                <a:r>
                  <a:rPr lang="en-US" sz="2000" i="1" dirty="0">
                    <a:sym typeface="Symbol" pitchFamily="16" charset="2"/>
                  </a:rPr>
                  <a:t> S Q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sym typeface="Symbol" pitchFamily="16" charset="2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2000" i="1">
                            <a:sym typeface="Symbol" pitchFamily="16" charset="2"/>
                          </a:rPr>
                          <m:t>S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sym typeface="Symbol" pitchFamily="16" charset="2"/>
                          </a:rPr>
                          <m:t>−1</m:t>
                        </m:r>
                      </m:sup>
                    </m:sSup>
                    <m:r>
                      <m:rPr>
                        <m:nor/>
                      </m:rPr>
                      <a:rPr lang="en-US" sz="2000" i="1">
                        <a:sym typeface="Symbol" pitchFamily="16" charset="2"/>
                      </a:rPr>
                      <m:t> 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sym typeface="Symbol" pitchFamily="16" charset="2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sym typeface="Symbol" pitchFamily="16" charset="2"/>
                          </a:rPr>
                          <m:t>𝑄</m:t>
                        </m:r>
                      </m:e>
                    </m:d>
                    <m:r>
                      <a:rPr lang="en-US" sz="2000" b="1">
                        <a:latin typeface="Cambria Math" panose="02040503050406030204" pitchFamily="18" charset="0"/>
                        <a:sym typeface="Symbol" pitchFamily="16" charset="2"/>
                      </a:rPr>
                      <m:t> </m:t>
                    </m:r>
                  </m:oMath>
                </a14:m>
                <a:r>
                  <a:rPr lang="en-US" sz="2000" dirty="0">
                    <a:sym typeface="Symbol" pitchFamily="16" charset="2"/>
                  </a:rPr>
                  <a:t>.</a:t>
                </a:r>
              </a:p>
              <a:p>
                <a:pPr marL="330200" lvl="1" indent="0" eaLnBrk="1" hangingPunct="1">
                  <a:buNone/>
                </a:pPr>
                <a:endParaRPr lang="en-US" sz="2000" dirty="0">
                  <a:sym typeface="Symbol" pitchFamily="16" charset="2"/>
                </a:endParaRPr>
              </a:p>
            </p:txBody>
          </p:sp>
        </mc:Choice>
        <mc:Fallback>
          <p:sp>
            <p:nvSpPr>
              <p:cNvPr id="15365" name="Rectangle 3">
                <a:extLst>
                  <a:ext uri="{FF2B5EF4-FFF2-40B4-BE49-F238E27FC236}">
                    <a16:creationId xmlns:a16="http://schemas.microsoft.com/office/drawing/2014/main" id="{36B196A0-C1F3-0711-B8FE-5E36CFB14D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28600" y="1219200"/>
                <a:ext cx="8686800" cy="2514600"/>
              </a:xfrm>
              <a:blipFill>
                <a:blip r:embed="rId3"/>
                <a:stretch>
                  <a:fillRect l="-146" t="-15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6995416F-3DAD-A8A0-91CC-8D7784BB17A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8600" y="4114800"/>
                <a:ext cx="8686800" cy="25146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65000"/>
                  <a:buFont typeface="Wingdings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69925" indent="-325438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60000"/>
                  <a:buFont typeface="Wingdings" charset="2"/>
                  <a:buChar char="q"/>
                  <a:defRPr sz="2400">
                    <a:solidFill>
                      <a:schemeClr val="tx1"/>
                    </a:solidFill>
                    <a:latin typeface="+mn-lt"/>
                  </a:defRPr>
                </a:lvl2pPr>
                <a:lvl3pPr marL="1022350" indent="-350838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65000"/>
                  <a:buFont typeface="Wingdings" charset="2"/>
                  <a:buChar char="n"/>
                  <a:defRPr sz="2000">
                    <a:solidFill>
                      <a:schemeClr val="tx1"/>
                    </a:solidFill>
                    <a:latin typeface="+mn-lt"/>
                  </a:defRPr>
                </a:lvl3pPr>
                <a:lvl4pPr marL="1339850" indent="-315913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charset="2"/>
                  <a:buChar char="q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1681163" indent="-33972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charset="2"/>
                  <a:buChar char="§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2138363" indent="-339725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+mn-lt"/>
                  </a:defRPr>
                </a:lvl6pPr>
                <a:lvl7pPr marL="2595563" indent="-339725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+mn-lt"/>
                  </a:defRPr>
                </a:lvl7pPr>
                <a:lvl8pPr marL="3052763" indent="-339725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+mn-lt"/>
                  </a:defRPr>
                </a:lvl8pPr>
                <a:lvl9pPr marL="3509963" indent="-339725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itchFamily="2" charset="2"/>
                  <a:buChar char="§"/>
                  <a:defRPr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330200" lvl="1" indent="0" eaLnBrk="1" hangingPunct="1">
                  <a:buNone/>
                </a:pPr>
                <a:r>
                  <a:rPr lang="en-US" sz="2000" i="1" kern="0" dirty="0">
                    <a:sym typeface="Symbol" pitchFamily="16" charset="2"/>
                  </a:rPr>
                  <a:t>Proof. </a:t>
                </a:r>
                <a:r>
                  <a:rPr lang="en-US" sz="2000" kern="0" dirty="0">
                    <a:sym typeface="Symbol" pitchFamily="16" charset="2"/>
                  </a:rPr>
                  <a:t>Putting (1) and (2) together, we get </a:t>
                </a:r>
              </a:p>
              <a:p>
                <a:pPr marL="330200" lvl="1" indent="0" eaLnBrk="1" hangingPunct="1">
                  <a:buNone/>
                </a:pPr>
                <a:r>
                  <a:rPr lang="en-US" sz="2000" i="1" kern="0" dirty="0">
                    <a:sym typeface="Symbol" pitchFamily="16" charset="2"/>
                  </a:rPr>
                  <a:t>	</a:t>
                </a:r>
                <a:r>
                  <a:rPr lang="en-US" sz="2000" dirty="0">
                    <a:sym typeface="Symbol" pitchFamily="16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sym typeface="Symbol" pitchFamily="16" charset="2"/>
                      </a:rPr>
                      <m:t>𝑃</m:t>
                    </m:r>
                    <m:r>
                      <a:rPr lang="en-US" sz="2000" i="1">
                        <a:latin typeface="Cambria Math" panose="02040503050406030204" pitchFamily="18" charset="0"/>
                        <a:sym typeface="Symbol" pitchFamily="16" charset="2"/>
                      </a:rPr>
                      <m:t>⊆ </m:t>
                    </m:r>
                  </m:oMath>
                </a14:m>
                <a:r>
                  <a:rPr lang="en-US" sz="2000" b="1" dirty="0">
                    <a:solidFill>
                      <a:srgbClr val="0070C0"/>
                    </a:solidFill>
                    <a:sym typeface="Symbol" pitchFamily="16" charset="2"/>
                  </a:rPr>
                  <a:t>wp</a:t>
                </a:r>
                <a:r>
                  <a:rPr lang="en-US" sz="2000" i="1" dirty="0">
                    <a:sym typeface="Symbol" pitchFamily="16" charset="2"/>
                  </a:rPr>
                  <a:t> S Q            </a:t>
                </a:r>
                <a:r>
                  <a:rPr lang="en-US" sz="2000" b="1" dirty="0">
                    <a:solidFill>
                      <a:srgbClr val="C00000"/>
                    </a:solidFill>
                    <a:sym typeface="Symbol"/>
                  </a:rPr>
                  <a:t>          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sym typeface="Symbol" pitchFamily="16" charset="2"/>
                      </a:rPr>
                      <m:t>𝑃</m:t>
                    </m:r>
                    <m:r>
                      <a:rPr lang="en-US" sz="2000" i="1">
                        <a:latin typeface="Cambria Math" panose="02040503050406030204" pitchFamily="18" charset="0"/>
                        <a:sym typeface="Symbol" pitchFamily="16" charset="2"/>
                      </a:rPr>
                      <m:t>⊆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sym typeface="Symbol" pitchFamily="16" charset="2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2000" i="1">
                            <a:sym typeface="Symbol" pitchFamily="16" charset="2"/>
                          </a:rPr>
                          <m:t>S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sym typeface="Symbol" pitchFamily="16" charset="2"/>
                          </a:rPr>
                          <m:t>−1</m:t>
                        </m:r>
                      </m:sup>
                    </m:sSup>
                    <m:r>
                      <m:rPr>
                        <m:nor/>
                      </m:rPr>
                      <a:rPr lang="en-US" sz="2000" i="1">
                        <a:sym typeface="Symbol" pitchFamily="16" charset="2"/>
                      </a:rPr>
                      <m:t> 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sym typeface="Symbol" pitchFamily="16" charset="2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sym typeface="Symbol" pitchFamily="16" charset="2"/>
                          </a:rPr>
                          <m:t>𝑄</m:t>
                        </m:r>
                      </m:e>
                    </m:d>
                    <m:r>
                      <a:rPr lang="en-US" sz="2000" b="1">
                        <a:latin typeface="Cambria Math" panose="02040503050406030204" pitchFamily="18" charset="0"/>
                        <a:sym typeface="Symbol" pitchFamily="16" charset="2"/>
                      </a:rPr>
                      <m:t> </m:t>
                    </m:r>
                  </m:oMath>
                </a14:m>
                <a:r>
                  <a:rPr lang="en-US" sz="2000" i="1" kern="0" dirty="0">
                    <a:sym typeface="Symbol" pitchFamily="16" charset="2"/>
                  </a:rPr>
                  <a:t>.</a:t>
                </a:r>
              </a:p>
              <a:p>
                <a:pPr marL="330200" lvl="1" indent="0" eaLnBrk="1" hangingPunct="1">
                  <a:buNone/>
                </a:pPr>
                <a:r>
                  <a:rPr lang="en-US" sz="2000" kern="0" dirty="0">
                    <a:sym typeface="Symbol" pitchFamily="16" charset="2"/>
                  </a:rPr>
                  <a:t>Since </a:t>
                </a:r>
                <a:r>
                  <a:rPr lang="en-US" sz="2000" b="1" dirty="0">
                    <a:solidFill>
                      <a:srgbClr val="0070C0"/>
                    </a:solidFill>
                    <a:sym typeface="Symbol" pitchFamily="16" charset="2"/>
                  </a:rPr>
                  <a:t>wp</a:t>
                </a:r>
                <a:r>
                  <a:rPr lang="en-US" sz="2000" i="1" dirty="0">
                    <a:sym typeface="Symbol" pitchFamily="16" charset="2"/>
                  </a:rPr>
                  <a:t> S Q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sym typeface="Symbol" pitchFamily="16" charset="2"/>
                      </a:rPr>
                      <m:t>⊆ </m:t>
                    </m:r>
                  </m:oMath>
                </a14:m>
                <a:r>
                  <a:rPr lang="en-US" sz="2000" b="1" dirty="0">
                    <a:solidFill>
                      <a:srgbClr val="0070C0"/>
                    </a:solidFill>
                    <a:sym typeface="Symbol" pitchFamily="16" charset="2"/>
                  </a:rPr>
                  <a:t>wp</a:t>
                </a:r>
                <a:r>
                  <a:rPr lang="en-US" sz="2000" i="1" dirty="0">
                    <a:sym typeface="Symbol" pitchFamily="16" charset="2"/>
                  </a:rPr>
                  <a:t> S Q  </a:t>
                </a:r>
                <a:r>
                  <a:rPr lang="en-US" sz="2000" kern="0" dirty="0">
                    <a:sym typeface="Symbol" pitchFamily="16" charset="2"/>
                  </a:rPr>
                  <a:t>we get </a:t>
                </a:r>
                <a:r>
                  <a:rPr lang="en-US" sz="2000" b="1" dirty="0">
                    <a:solidFill>
                      <a:srgbClr val="0070C0"/>
                    </a:solidFill>
                    <a:sym typeface="Symbol" pitchFamily="16" charset="2"/>
                  </a:rPr>
                  <a:t>wp</a:t>
                </a:r>
                <a:r>
                  <a:rPr lang="en-US" sz="2000" i="1" dirty="0">
                    <a:sym typeface="Symbol" pitchFamily="16" charset="2"/>
                  </a:rPr>
                  <a:t> S Q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sym typeface="Symbol" pitchFamily="16" charset="2"/>
                      </a:rPr>
                      <m:t>⊆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sym typeface="Symbol" pitchFamily="16" charset="2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2000" i="1">
                            <a:sym typeface="Symbol" pitchFamily="16" charset="2"/>
                          </a:rPr>
                          <m:t>S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sym typeface="Symbol" pitchFamily="16" charset="2"/>
                          </a:rPr>
                          <m:t>−1</m:t>
                        </m:r>
                      </m:sup>
                    </m:sSup>
                    <m:r>
                      <m:rPr>
                        <m:nor/>
                      </m:rPr>
                      <a:rPr lang="en-US" sz="2000" i="1">
                        <a:sym typeface="Symbol" pitchFamily="16" charset="2"/>
                      </a:rPr>
                      <m:t> 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sym typeface="Symbol" pitchFamily="16" charset="2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sym typeface="Symbol" pitchFamily="16" charset="2"/>
                          </a:rPr>
                          <m:t>𝑄</m:t>
                        </m:r>
                      </m:e>
                    </m:d>
                    <m:r>
                      <a:rPr lang="en-US" sz="2000" b="1">
                        <a:latin typeface="Cambria Math" panose="02040503050406030204" pitchFamily="18" charset="0"/>
                        <a:sym typeface="Symbol" pitchFamily="16" charset="2"/>
                      </a:rPr>
                      <m:t> </m:t>
                    </m:r>
                  </m:oMath>
                </a14:m>
                <a:r>
                  <a:rPr lang="en-US" sz="2000" kern="0" dirty="0">
                    <a:sym typeface="Symbol" pitchFamily="16" charset="2"/>
                  </a:rPr>
                  <a:t>.</a:t>
                </a:r>
              </a:p>
              <a:p>
                <a:pPr marL="330200" lvl="1" indent="0" eaLnBrk="1" hangingPunct="1">
                  <a:buNone/>
                </a:pPr>
                <a:r>
                  <a:rPr lang="en-US" sz="2000" kern="0" dirty="0">
                    <a:sym typeface="Symbol" pitchFamily="16" charset="2"/>
                  </a:rPr>
                  <a:t>Similarly, since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sym typeface="Symbol" pitchFamily="16" charset="2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2000" i="1">
                            <a:sym typeface="Symbol" pitchFamily="16" charset="2"/>
                          </a:rPr>
                          <m:t>S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sym typeface="Symbol" pitchFamily="16" charset="2"/>
                          </a:rPr>
                          <m:t>−1</m:t>
                        </m:r>
                      </m:sup>
                    </m:sSup>
                    <m:r>
                      <m:rPr>
                        <m:nor/>
                      </m:rPr>
                      <a:rPr lang="en-US" sz="2000" i="1">
                        <a:sym typeface="Symbol" pitchFamily="16" charset="2"/>
                      </a:rPr>
                      <m:t> 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sym typeface="Symbol" pitchFamily="16" charset="2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sym typeface="Symbol" pitchFamily="16" charset="2"/>
                          </a:rPr>
                          <m:t>𝑄</m:t>
                        </m:r>
                      </m:e>
                    </m:d>
                    <m:r>
                      <a:rPr lang="en-US" sz="2000" b="1">
                        <a:latin typeface="Cambria Math" panose="02040503050406030204" pitchFamily="18" charset="0"/>
                        <a:sym typeface="Symbol" pitchFamily="16" charset="2"/>
                      </a:rPr>
                      <m:t> </m:t>
                    </m:r>
                    <m:r>
                      <a:rPr lang="en-US" sz="2000" i="1">
                        <a:latin typeface="Cambria Math" panose="02040503050406030204" pitchFamily="18" charset="0"/>
                        <a:sym typeface="Symbol" pitchFamily="16" charset="2"/>
                      </a:rPr>
                      <m:t>⊆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sym typeface="Symbol" pitchFamily="16" charset="2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2000" i="1">
                            <a:sym typeface="Symbol" pitchFamily="16" charset="2"/>
                          </a:rPr>
                          <m:t>S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sym typeface="Symbol" pitchFamily="16" charset="2"/>
                          </a:rPr>
                          <m:t>−1</m:t>
                        </m:r>
                      </m:sup>
                    </m:sSup>
                    <m:r>
                      <m:rPr>
                        <m:nor/>
                      </m:rPr>
                      <a:rPr lang="en-US" sz="2000" i="1">
                        <a:sym typeface="Symbol" pitchFamily="16" charset="2"/>
                      </a:rPr>
                      <m:t> 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sym typeface="Symbol" pitchFamily="16" charset="2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sym typeface="Symbol" pitchFamily="16" charset="2"/>
                          </a:rPr>
                          <m:t>𝑄</m:t>
                        </m:r>
                      </m:e>
                    </m:d>
                    <m:r>
                      <a:rPr lang="en-US" sz="2000" b="1">
                        <a:latin typeface="Cambria Math" panose="02040503050406030204" pitchFamily="18" charset="0"/>
                        <a:sym typeface="Symbol" pitchFamily="16" charset="2"/>
                      </a:rPr>
                      <m:t> </m:t>
                    </m:r>
                    <m:r>
                      <a:rPr lang="en-US" sz="2000" b="1" i="0" smtClean="0">
                        <a:latin typeface="Cambria Math" panose="02040503050406030204" pitchFamily="18" charset="0"/>
                        <a:sym typeface="Symbol" pitchFamily="16" charset="2"/>
                      </a:rPr>
                      <m:t>, </m:t>
                    </m:r>
                  </m:oMath>
                </a14:m>
                <a:r>
                  <a:rPr lang="en-US" sz="2000" kern="0" dirty="0">
                    <a:sym typeface="Symbol" pitchFamily="16" charset="2"/>
                  </a:rPr>
                  <a:t>we get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sym typeface="Symbol" pitchFamily="16" charset="2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2000" i="1">
                            <a:sym typeface="Symbol" pitchFamily="16" charset="2"/>
                          </a:rPr>
                          <m:t>S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sym typeface="Symbol" pitchFamily="16" charset="2"/>
                          </a:rPr>
                          <m:t>−1</m:t>
                        </m:r>
                      </m:sup>
                    </m:sSup>
                    <m:r>
                      <m:rPr>
                        <m:nor/>
                      </m:rPr>
                      <a:rPr lang="en-US" sz="2000" i="1">
                        <a:sym typeface="Symbol" pitchFamily="16" charset="2"/>
                      </a:rPr>
                      <m:t> 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sym typeface="Symbol" pitchFamily="16" charset="2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sym typeface="Symbol" pitchFamily="16" charset="2"/>
                          </a:rPr>
                          <m:t>𝑄</m:t>
                        </m:r>
                      </m:e>
                    </m:d>
                    <m:r>
                      <a:rPr lang="en-US" sz="2000" b="1">
                        <a:latin typeface="Cambria Math" panose="02040503050406030204" pitchFamily="18" charset="0"/>
                        <a:sym typeface="Symbol" pitchFamily="16" charset="2"/>
                      </a:rPr>
                      <m:t> </m:t>
                    </m:r>
                    <m:r>
                      <a:rPr lang="en-US" sz="2000" i="1">
                        <a:latin typeface="Cambria Math" panose="02040503050406030204" pitchFamily="18" charset="0"/>
                        <a:sym typeface="Symbol" pitchFamily="16" charset="2"/>
                      </a:rPr>
                      <m:t>⊆</m:t>
                    </m:r>
                    <m:r>
                      <m:rPr>
                        <m:nor/>
                      </m:rPr>
                      <a:rPr lang="en-US" sz="2000" b="1" dirty="0">
                        <a:solidFill>
                          <a:srgbClr val="0070C0"/>
                        </a:solidFill>
                        <a:sym typeface="Symbol" pitchFamily="16" charset="2"/>
                      </a:rPr>
                      <m:t>wp</m:t>
                    </m:r>
                    <m:r>
                      <m:rPr>
                        <m:nor/>
                      </m:rPr>
                      <a:rPr lang="en-US" sz="2000" i="1" dirty="0">
                        <a:sym typeface="Symbol" pitchFamily="16" charset="2"/>
                      </a:rPr>
                      <m:t> </m:t>
                    </m:r>
                    <m:r>
                      <m:rPr>
                        <m:nor/>
                      </m:rPr>
                      <a:rPr lang="en-US" sz="2000" i="1" dirty="0">
                        <a:sym typeface="Symbol" pitchFamily="16" charset="2"/>
                      </a:rPr>
                      <m:t>S</m:t>
                    </m:r>
                    <m:r>
                      <m:rPr>
                        <m:nor/>
                      </m:rPr>
                      <a:rPr lang="en-US" sz="2000" i="1" dirty="0">
                        <a:sym typeface="Symbol" pitchFamily="16" charset="2"/>
                      </a:rPr>
                      <m:t> </m:t>
                    </m:r>
                    <m:r>
                      <m:rPr>
                        <m:nor/>
                      </m:rPr>
                      <a:rPr lang="en-US" sz="2000" i="1" dirty="0">
                        <a:sym typeface="Symbol" pitchFamily="16" charset="2"/>
                      </a:rPr>
                      <m:t>Q</m:t>
                    </m:r>
                  </m:oMath>
                </a14:m>
                <a:r>
                  <a:rPr lang="en-US" sz="2000" kern="0" dirty="0">
                    <a:sym typeface="Symbol" pitchFamily="16" charset="2"/>
                  </a:rPr>
                  <a:t>.</a:t>
                </a:r>
              </a:p>
              <a:p>
                <a:pPr marL="330200" lvl="1" indent="0" eaLnBrk="1" hangingPunct="1">
                  <a:buNone/>
                </a:pPr>
                <a:r>
                  <a:rPr lang="en-US" sz="2000" kern="0" dirty="0">
                    <a:sym typeface="Symbol" pitchFamily="16" charset="2"/>
                  </a:rPr>
                  <a:t>Thus, </a:t>
                </a:r>
                <a:r>
                  <a:rPr lang="en-US" sz="2000" b="1" dirty="0">
                    <a:solidFill>
                      <a:srgbClr val="0070C0"/>
                    </a:solidFill>
                    <a:sym typeface="Symbol" pitchFamily="16" charset="2"/>
                  </a:rPr>
                  <a:t>wp</a:t>
                </a:r>
                <a:r>
                  <a:rPr lang="en-US" sz="2000" i="1" dirty="0">
                    <a:sym typeface="Symbol" pitchFamily="16" charset="2"/>
                  </a:rPr>
                  <a:t> S Q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sym typeface="Symbol" pitchFamily="16" charset="2"/>
                      </a:rPr>
                      <m:t>=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sym typeface="Symbol" pitchFamily="16" charset="2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2000" i="1">
                            <a:sym typeface="Symbol" pitchFamily="16" charset="2"/>
                          </a:rPr>
                          <m:t>S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sym typeface="Symbol" pitchFamily="16" charset="2"/>
                          </a:rPr>
                          <m:t>−1</m:t>
                        </m:r>
                      </m:sup>
                    </m:sSup>
                    <m:r>
                      <m:rPr>
                        <m:nor/>
                      </m:rPr>
                      <a:rPr lang="en-US" sz="2000" i="1">
                        <a:sym typeface="Symbol" pitchFamily="16" charset="2"/>
                      </a:rPr>
                      <m:t> 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sym typeface="Symbol" pitchFamily="16" charset="2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sym typeface="Symbol" pitchFamily="16" charset="2"/>
                          </a:rPr>
                          <m:t>𝑄</m:t>
                        </m:r>
                      </m:e>
                    </m:d>
                    <m:r>
                      <a:rPr lang="en-US" sz="2000" b="1">
                        <a:latin typeface="Cambria Math" panose="02040503050406030204" pitchFamily="18" charset="0"/>
                        <a:sym typeface="Symbol" pitchFamily="16" charset="2"/>
                      </a:rPr>
                      <m:t> </m:t>
                    </m:r>
                    <m:r>
                      <a:rPr lang="en-US" sz="2000" b="1" i="0" smtClean="0">
                        <a:latin typeface="Cambria Math" panose="02040503050406030204" pitchFamily="18" charset="0"/>
                        <a:sym typeface="Symbol" pitchFamily="16" charset="2"/>
                      </a:rPr>
                      <m:t>.</m:t>
                    </m:r>
                  </m:oMath>
                </a14:m>
                <a:endParaRPr lang="en-US" sz="2000" kern="0" dirty="0">
                  <a:sym typeface="Symbol" pitchFamily="16" charset="2"/>
                </a:endParaRPr>
              </a:p>
            </p:txBody>
          </p:sp>
        </mc:Choice>
        <mc:Fallback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6995416F-3DAD-A8A0-91CC-8D7784BB17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8600" y="4114800"/>
                <a:ext cx="8686800" cy="2514600"/>
              </a:xfrm>
              <a:prstGeom prst="rect">
                <a:avLst/>
              </a:prstGeom>
              <a:blipFill>
                <a:blip r:embed="rId4"/>
                <a:stretch>
                  <a:fillRect t="-1508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72485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413C1-CF4F-68E7-772F-1BE4C02350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>
            <a:extLst>
              <a:ext uri="{FF2B5EF4-FFF2-40B4-BE49-F238E27FC236}">
                <a16:creationId xmlns:a16="http://schemas.microsoft.com/office/drawing/2014/main" id="{DBB6A1A2-A360-7429-97A6-0916973A02E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94B75B1-77A9-47B9-B8CD-EB7D9FE1C654}" type="slidenum">
              <a:rPr lang="en-US" altLang="en-US"/>
              <a:pPr>
                <a:defRPr/>
              </a:pPr>
              <a:t>33</a:t>
            </a:fld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774D29-B407-BAC4-7FCA-8EA3CFAB3E9C}"/>
              </a:ext>
            </a:extLst>
          </p:cNvPr>
          <p:cNvSpPr txBox="1">
            <a:spLocks noGrp="1"/>
          </p:cNvSpPr>
          <p:nvPr/>
        </p:nvSpPr>
        <p:spPr bwMode="auto">
          <a:xfrm>
            <a:off x="7010400" y="64008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94249AE4-DB88-462B-964C-045F3FE6F1B6}" type="slidenum">
              <a:rPr lang="en-US" altLang="en-US" sz="1200">
                <a:latin typeface="+mj-lt"/>
              </a:rPr>
              <a:pPr algn="r">
                <a:defRPr/>
              </a:pPr>
              <a:t>33</a:t>
            </a:fld>
            <a:endParaRPr lang="en-US" altLang="en-US" sz="1200">
              <a:latin typeface="+mj-lt"/>
            </a:endParaRPr>
          </a:p>
        </p:txBody>
      </p:sp>
      <p:sp>
        <p:nvSpPr>
          <p:cNvPr id="15364" name="Rectangle 2">
            <a:extLst>
              <a:ext uri="{FF2B5EF4-FFF2-40B4-BE49-F238E27FC236}">
                <a16:creationId xmlns:a16="http://schemas.microsoft.com/office/drawing/2014/main" id="{D6CFC8CE-9630-A144-4C79-8E8C676701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Deterministic vs. non-deterministic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D031AC-8024-AC41-A4FB-31186A2BE2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219200"/>
            <a:ext cx="8915400" cy="5181600"/>
          </a:xfrm>
        </p:spPr>
        <p:txBody>
          <a:bodyPr/>
          <a:lstStyle/>
          <a:p>
            <a:r>
              <a:rPr lang="en-US" dirty="0"/>
              <a:t>Remember we are assuming that our programs are deterministic. That is, we model a program P as a function </a:t>
            </a:r>
          </a:p>
          <a:p>
            <a:pPr marL="671512" lvl="2" indent="0" algn="ctr">
              <a:buNone/>
            </a:pPr>
            <a:r>
              <a:rPr lang="en-US" dirty="0"/>
              <a:t>P: States → States.</a:t>
            </a:r>
          </a:p>
          <a:p>
            <a:pPr marL="671512" lvl="2" indent="0" algn="ctr">
              <a:buNone/>
            </a:pPr>
            <a:endParaRPr lang="en-US" dirty="0"/>
          </a:p>
          <a:p>
            <a:r>
              <a:rPr lang="en-US" dirty="0"/>
              <a:t>Programs can also be </a:t>
            </a:r>
            <a:r>
              <a:rPr lang="en-US" dirty="0" err="1"/>
              <a:t>nondeterminstic</a:t>
            </a:r>
            <a:r>
              <a:rPr lang="en-US" dirty="0"/>
              <a:t>. Then we model a program P as a function</a:t>
            </a:r>
          </a:p>
          <a:p>
            <a:pPr marL="0" indent="0" algn="ctr">
              <a:buNone/>
            </a:pPr>
            <a:r>
              <a:rPr lang="en-US" sz="2000" dirty="0"/>
              <a:t>P: States → 𝒫 (States)</a:t>
            </a:r>
          </a:p>
          <a:p>
            <a:pPr lvl="1"/>
            <a:r>
              <a:rPr lang="en-US" sz="2000" dirty="0"/>
              <a:t>Here 𝒫 (States) is the </a:t>
            </a:r>
            <a:r>
              <a:rPr lang="en-US" sz="2000" b="1" dirty="0"/>
              <a:t>𝒫</a:t>
            </a:r>
            <a:r>
              <a:rPr lang="en-US" sz="2000" b="1" dirty="0" err="1"/>
              <a:t>owerset</a:t>
            </a:r>
            <a:r>
              <a:rPr lang="en-US" sz="2000" b="1" dirty="0"/>
              <a:t> </a:t>
            </a:r>
            <a:r>
              <a:rPr lang="en-US" sz="2000" dirty="0"/>
              <a:t>of States. That means its elements are subsets of States.</a:t>
            </a:r>
          </a:p>
          <a:p>
            <a:pPr lvl="1"/>
            <a:r>
              <a:rPr lang="en-US" sz="2000" dirty="0"/>
              <a:t>Thus, a nondeterministic program P is one that takes a single state s to a set P s of </a:t>
            </a:r>
            <a:r>
              <a:rPr lang="en-US" sz="2000" i="1" dirty="0"/>
              <a:t>possible states.</a:t>
            </a:r>
            <a:endParaRPr lang="en-US" sz="2000" dirty="0"/>
          </a:p>
          <a:p>
            <a:endParaRPr lang="en-US" dirty="0"/>
          </a:p>
          <a:p>
            <a:r>
              <a:rPr lang="en-US" dirty="0"/>
              <a:t>Proofs of our statements are only slightly more complicated for nondeterministic programs. See the lecture notes.</a:t>
            </a:r>
          </a:p>
        </p:txBody>
      </p:sp>
    </p:spTree>
    <p:extLst>
      <p:ext uri="{BB962C8B-B14F-4D97-AF65-F5344CB8AC3E}">
        <p14:creationId xmlns:p14="http://schemas.microsoft.com/office/powerpoint/2010/main" val="205894654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9B5559E-0213-424B-8452-8B5F6A6B059B}"/>
              </a:ext>
            </a:extLst>
          </p:cNvPr>
          <p:cNvSpPr/>
          <p:nvPr/>
        </p:nvSpPr>
        <p:spPr>
          <a:xfrm>
            <a:off x="914400" y="1987550"/>
            <a:ext cx="7086600" cy="762000"/>
          </a:xfrm>
          <a:prstGeom prst="roundRect">
            <a:avLst>
              <a:gd name="adj" fmla="val 33084"/>
            </a:avLst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94B75B1-77A9-47B9-B8CD-EB7D9FE1C654}" type="slidenum">
              <a:rPr lang="en-US" altLang="en-US"/>
              <a:pPr>
                <a:defRPr/>
              </a:pPr>
              <a:t>34</a:t>
            </a:fld>
            <a:endParaRPr lang="en-US" altLang="en-US"/>
          </a:p>
        </p:txBody>
      </p:sp>
      <p:sp>
        <p:nvSpPr>
          <p:cNvPr id="4" name="Slide Number Placeholder 3"/>
          <p:cNvSpPr txBox="1">
            <a:spLocks noGrp="1"/>
          </p:cNvSpPr>
          <p:nvPr/>
        </p:nvSpPr>
        <p:spPr bwMode="auto">
          <a:xfrm>
            <a:off x="7010400" y="64008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94249AE4-DB88-462B-964C-045F3FE6F1B6}" type="slidenum">
              <a:rPr lang="en-US" altLang="en-US" sz="1200">
                <a:latin typeface="+mj-lt"/>
              </a:rPr>
              <a:pPr algn="r">
                <a:defRPr/>
              </a:pPr>
              <a:t>34</a:t>
            </a:fld>
            <a:endParaRPr lang="en-US" altLang="en-US" sz="1200">
              <a:latin typeface="+mj-lt"/>
            </a:endParaRPr>
          </a:p>
        </p:txBody>
      </p:sp>
      <p:sp>
        <p:nvSpPr>
          <p:cNvPr id="153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Weakest pre-condition of skip</a:t>
            </a: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1066800" y="2057400"/>
            <a:ext cx="60579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800" dirty="0"/>
              <a:t>   	 </a:t>
            </a:r>
            <a:r>
              <a:rPr lang="en-US" sz="2800" b="1" dirty="0">
                <a:solidFill>
                  <a:srgbClr val="0070C0"/>
                </a:solidFill>
              </a:rPr>
              <a:t>wp</a:t>
            </a:r>
            <a:r>
              <a:rPr lang="en-US" sz="2800" dirty="0"/>
              <a:t>   </a:t>
            </a:r>
            <a:r>
              <a:rPr lang="en-US" sz="2800" b="1" dirty="0">
                <a:solidFill>
                  <a:srgbClr val="C00000"/>
                </a:solidFill>
              </a:rPr>
              <a:t>skip</a:t>
            </a:r>
            <a:r>
              <a:rPr lang="en-US" sz="2800" dirty="0"/>
              <a:t>   </a:t>
            </a:r>
            <a:r>
              <a:rPr lang="en-US" sz="2800" i="1" dirty="0"/>
              <a:t>Q</a:t>
            </a:r>
            <a:r>
              <a:rPr lang="en-US" sz="2800" dirty="0"/>
              <a:t>        =         </a:t>
            </a:r>
            <a:r>
              <a:rPr lang="en-US" sz="2800" i="1" dirty="0"/>
              <a:t>Q</a:t>
            </a:r>
            <a:br>
              <a:rPr lang="en-US" sz="2800" i="1" dirty="0"/>
            </a:br>
            <a:br>
              <a:rPr lang="en-US" sz="2800" dirty="0"/>
            </a:br>
            <a:endParaRPr lang="en-US" sz="2800" dirty="0"/>
          </a:p>
          <a:p>
            <a:endParaRPr lang="en-US" sz="2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82E53D1-F32A-682E-99DB-3310E9ECCABC}"/>
                  </a:ext>
                </a:extLst>
              </p:cNvPr>
              <p:cNvSpPr txBox="1"/>
              <p:nvPr/>
            </p:nvSpPr>
            <p:spPr>
              <a:xfrm>
                <a:off x="1807292" y="3659713"/>
                <a:ext cx="4576916" cy="14773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800" i="1" dirty="0"/>
                  <a:t>Proof</a:t>
                </a:r>
                <a:r>
                  <a:rPr lang="en-US" sz="1800" dirty="0"/>
                  <a:t>: As a function, </a:t>
                </a:r>
                <a:r>
                  <a:rPr lang="en-US" sz="1800" b="1" dirty="0">
                    <a:solidFill>
                      <a:srgbClr val="C00000"/>
                    </a:solidFill>
                  </a:rPr>
                  <a:t>skip </a:t>
                </a:r>
                <a:r>
                  <a:rPr lang="en-US" sz="1800" dirty="0"/>
                  <a:t>is the identity. Therefore, </a:t>
                </a:r>
              </a:p>
              <a:p>
                <a:r>
                  <a:rPr lang="en-US" sz="1800" dirty="0">
                    <a:sym typeface="Symbol" pitchFamily="16" charset="2"/>
                  </a:rPr>
                  <a:t>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  <a:sym typeface="Symbol" pitchFamily="16" charset="2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800" b="1">
                            <a:solidFill>
                              <a:srgbClr val="C00000"/>
                            </a:solidFill>
                          </a:rPr>
                          <m:t>skip</m:t>
                        </m:r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  <a:sym typeface="Symbol" pitchFamily="16" charset="2"/>
                          </a:rPr>
                          <m:t>−1</m:t>
                        </m:r>
                      </m:sup>
                    </m:sSup>
                    <m:r>
                      <m:rPr>
                        <m:nor/>
                      </m:rPr>
                      <a:rPr lang="en-US" sz="1800" i="1">
                        <a:sym typeface="Symbol" pitchFamily="16" charset="2"/>
                      </a:rPr>
                      <m:t> 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  <a:sym typeface="Symbol" pitchFamily="16" charset="2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  <a:sym typeface="Symbol" pitchFamily="16" charset="2"/>
                          </a:rPr>
                          <m:t>𝑄</m:t>
                        </m:r>
                      </m:e>
                    </m:d>
                  </m:oMath>
                </a14:m>
                <a:r>
                  <a:rPr lang="en-US" sz="1800" dirty="0"/>
                  <a:t> </a:t>
                </a:r>
              </a:p>
              <a:p>
                <a:r>
                  <a:rPr lang="en-US" sz="1800" dirty="0"/>
                  <a:t>            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 smtClean="0">
                            <a:latin typeface="Cambria Math" panose="02040503050406030204" pitchFamily="18" charset="0"/>
                            <a:sym typeface="Symbol" pitchFamily="16" charset="2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sym typeface="Symbol" pitchFamily="16" charset="2"/>
                          </a:rPr>
                          <m:t>𝑖𝑑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  <a:sym typeface="Symbol" pitchFamily="16" charset="2"/>
                          </a:rPr>
                          <m:t>−1</m:t>
                        </m:r>
                      </m:sup>
                    </m:sSup>
                  </m:oMath>
                </a14:m>
                <a:endParaRPr lang="en-US" sz="1800" b="0" i="1" dirty="0">
                  <a:latin typeface="Cambria Math" panose="02040503050406030204" pitchFamily="18" charset="0"/>
                  <a:sym typeface="Symbol" pitchFamily="16" charset="2"/>
                </a:endParaRPr>
              </a:p>
              <a:p>
                <a:r>
                  <a:rPr lang="en-US" sz="1800" b="0" dirty="0">
                    <a:sym typeface="Symbol" pitchFamily="16" charset="2"/>
                  </a:rPr>
                  <a:t>             </a:t>
                </a:r>
                <a14:m>
                  <m:oMath xmlns:m="http://schemas.openxmlformats.org/officeDocument/2006/math">
                    <m:r>
                      <a:rPr lang="en-US" sz="1800" b="0" i="0" smtClean="0">
                        <a:latin typeface="Cambria Math" panose="02040503050406030204" pitchFamily="18" charset="0"/>
                        <a:sym typeface="Symbol" pitchFamily="16" charset="2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sym typeface="Symbol" pitchFamily="16" charset="2"/>
                      </a:rPr>
                      <m:t>𝑄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sym typeface="Symbol" pitchFamily="16" charset="2"/>
                      </a:rPr>
                      <m:t>.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82E53D1-F32A-682E-99DB-3310E9ECCA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7292" y="3659713"/>
                <a:ext cx="4576916" cy="1477328"/>
              </a:xfrm>
              <a:prstGeom prst="rect">
                <a:avLst/>
              </a:prstGeom>
              <a:blipFill>
                <a:blip r:embed="rId3"/>
                <a:stretch>
                  <a:fillRect l="-1108" t="-1709" b="-17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3013D-CFF3-761B-57E5-3525E1950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6668ADB-03F1-B5C0-9997-A4FBD1861B9E}"/>
              </a:ext>
            </a:extLst>
          </p:cNvPr>
          <p:cNvSpPr/>
          <p:nvPr/>
        </p:nvSpPr>
        <p:spPr>
          <a:xfrm>
            <a:off x="914400" y="1987550"/>
            <a:ext cx="7086600" cy="762000"/>
          </a:xfrm>
          <a:prstGeom prst="roundRect">
            <a:avLst>
              <a:gd name="adj" fmla="val 33084"/>
            </a:avLst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2A4566E-4F5C-DB61-7645-E0ACAB2CD7B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94B75B1-77A9-47B9-B8CD-EB7D9FE1C654}" type="slidenum">
              <a:rPr lang="en-US" altLang="en-US"/>
              <a:pPr>
                <a:defRPr/>
              </a:pPr>
              <a:t>35</a:t>
            </a:fld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17D636-395C-CC67-022F-F4E0E3E124AA}"/>
              </a:ext>
            </a:extLst>
          </p:cNvPr>
          <p:cNvSpPr txBox="1">
            <a:spLocks noGrp="1"/>
          </p:cNvSpPr>
          <p:nvPr/>
        </p:nvSpPr>
        <p:spPr bwMode="auto">
          <a:xfrm>
            <a:off x="7010400" y="64008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94249AE4-DB88-462B-964C-045F3FE6F1B6}" type="slidenum">
              <a:rPr lang="en-US" altLang="en-US" sz="1200">
                <a:latin typeface="+mj-lt"/>
              </a:rPr>
              <a:pPr algn="r">
                <a:defRPr/>
              </a:pPr>
              <a:t>35</a:t>
            </a:fld>
            <a:endParaRPr lang="en-US" altLang="en-US" sz="1200">
              <a:latin typeface="+mj-lt"/>
            </a:endParaRPr>
          </a:p>
        </p:txBody>
      </p:sp>
      <p:sp>
        <p:nvSpPr>
          <p:cNvPr id="15364" name="Rectangle 2">
            <a:extLst>
              <a:ext uri="{FF2B5EF4-FFF2-40B4-BE49-F238E27FC236}">
                <a16:creationId xmlns:a16="http://schemas.microsoft.com/office/drawing/2014/main" id="{42426FB4-C57D-7B15-6C81-FFA0DB1219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Inference rule for skip</a:t>
            </a:r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7663E316-6812-8A82-F96E-8260A676E4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2057400"/>
            <a:ext cx="60579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800" dirty="0"/>
              <a:t>   	 </a:t>
            </a:r>
            <a:r>
              <a:rPr lang="en-US" sz="2800" b="1" dirty="0">
                <a:solidFill>
                  <a:srgbClr val="0070C0"/>
                </a:solidFill>
              </a:rPr>
              <a:t>wp</a:t>
            </a:r>
            <a:r>
              <a:rPr lang="en-US" sz="2800" dirty="0"/>
              <a:t>   </a:t>
            </a:r>
            <a:r>
              <a:rPr lang="en-US" sz="2800" b="1" dirty="0">
                <a:solidFill>
                  <a:srgbClr val="C00000"/>
                </a:solidFill>
              </a:rPr>
              <a:t>skip</a:t>
            </a:r>
            <a:r>
              <a:rPr lang="en-US" sz="2800" dirty="0"/>
              <a:t>   </a:t>
            </a:r>
            <a:r>
              <a:rPr lang="en-US" sz="2800" i="1" dirty="0"/>
              <a:t>Q</a:t>
            </a:r>
            <a:r>
              <a:rPr lang="en-US" sz="2800" dirty="0"/>
              <a:t>        =         </a:t>
            </a:r>
            <a:r>
              <a:rPr lang="en-US" sz="2800" i="1" dirty="0"/>
              <a:t>Q</a:t>
            </a:r>
            <a:br>
              <a:rPr lang="en-US" sz="2800" i="1" dirty="0"/>
            </a:br>
            <a:br>
              <a:rPr lang="en-US" sz="2800" dirty="0"/>
            </a:br>
            <a:endParaRPr lang="en-US" sz="2800" dirty="0"/>
          </a:p>
          <a:p>
            <a:endParaRPr lang="en-US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C82913A-44B7-6DF5-1D24-03D2EA6E4037}"/>
              </a:ext>
            </a:extLst>
          </p:cNvPr>
          <p:cNvSpPr txBox="1"/>
          <p:nvPr/>
        </p:nvSpPr>
        <p:spPr>
          <a:xfrm>
            <a:off x="427275" y="3210238"/>
            <a:ext cx="82894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From the above, we get the following inference rule (if we didn’t know it before).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14190C1-84CA-A0B1-0149-3F57B2858F0A}"/>
              </a:ext>
            </a:extLst>
          </p:cNvPr>
          <p:cNvSpPr/>
          <p:nvPr/>
        </p:nvSpPr>
        <p:spPr>
          <a:xfrm>
            <a:off x="685800" y="4151985"/>
            <a:ext cx="7086600" cy="1676400"/>
          </a:xfrm>
          <a:prstGeom prst="roundRect">
            <a:avLst>
              <a:gd name="adj" fmla="val 36417"/>
            </a:avLst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Box 24">
            <a:extLst>
              <a:ext uri="{FF2B5EF4-FFF2-40B4-BE49-F238E27FC236}">
                <a16:creationId xmlns:a16="http://schemas.microsoft.com/office/drawing/2014/main" id="{764444F6-6130-DBAE-9CD3-A83CCF8722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4390110"/>
            <a:ext cx="70231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dirty="0"/>
              <a:t>    </a:t>
            </a:r>
          </a:p>
          <a:p>
            <a:r>
              <a:rPr lang="en-US" sz="2400" dirty="0"/>
              <a:t>-----------------------------------------------------------------  </a:t>
            </a:r>
          </a:p>
          <a:p>
            <a:r>
              <a:rPr lang="en-US" sz="2400" dirty="0"/>
              <a:t>                    {* </a:t>
            </a:r>
            <a:r>
              <a:rPr lang="en-US" sz="2400" i="1" dirty="0"/>
              <a:t>Q</a:t>
            </a:r>
            <a:r>
              <a:rPr lang="en-US" sz="2400" dirty="0"/>
              <a:t> *}   </a:t>
            </a:r>
            <a:r>
              <a:rPr lang="en-US" sz="2400" dirty="0">
                <a:latin typeface="Andale Mono" panose="020B0509000000000004" pitchFamily="49" charset="0"/>
              </a:rPr>
              <a:t>skip </a:t>
            </a:r>
            <a:r>
              <a:rPr lang="en-US" sz="2400" dirty="0"/>
              <a:t>{* </a:t>
            </a:r>
            <a:r>
              <a:rPr lang="en-US" sz="2400" i="1" dirty="0"/>
              <a:t>Q</a:t>
            </a:r>
            <a:r>
              <a:rPr lang="en-US" sz="2400" dirty="0"/>
              <a:t> *}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E7294E-C500-2574-FF87-93FBEA0DF555}"/>
              </a:ext>
            </a:extLst>
          </p:cNvPr>
          <p:cNvSpPr txBox="1"/>
          <p:nvPr/>
        </p:nvSpPr>
        <p:spPr>
          <a:xfrm>
            <a:off x="7963667" y="4805519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Andale Mono" panose="020B0509000000000004" pitchFamily="49" charset="0"/>
              </a:rPr>
              <a:t>SKP</a:t>
            </a:r>
          </a:p>
        </p:txBody>
      </p:sp>
    </p:spTree>
    <p:extLst>
      <p:ext uri="{BB962C8B-B14F-4D97-AF65-F5344CB8AC3E}">
        <p14:creationId xmlns:p14="http://schemas.microsoft.com/office/powerpoint/2010/main" val="229696757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442F23-33E0-6E2E-D56D-CB755E7BC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BF9F7CD-981B-37FD-2A23-134F8CB128FF}"/>
              </a:ext>
            </a:extLst>
          </p:cNvPr>
          <p:cNvSpPr/>
          <p:nvPr/>
        </p:nvSpPr>
        <p:spPr>
          <a:xfrm>
            <a:off x="914400" y="1987550"/>
            <a:ext cx="7086600" cy="762000"/>
          </a:xfrm>
          <a:prstGeom prst="roundRect">
            <a:avLst>
              <a:gd name="adj" fmla="val 33084"/>
            </a:avLst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99200D7-F2BF-DFF5-1A90-60B5F3C3F29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94B75B1-77A9-47B9-B8CD-EB7D9FE1C654}" type="slidenum">
              <a:rPr lang="en-US" altLang="en-US"/>
              <a:pPr>
                <a:defRPr/>
              </a:pPr>
              <a:t>36</a:t>
            </a:fld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12EC69-D0D8-B082-C7FA-03BE516FF525}"/>
              </a:ext>
            </a:extLst>
          </p:cNvPr>
          <p:cNvSpPr txBox="1">
            <a:spLocks noGrp="1"/>
          </p:cNvSpPr>
          <p:nvPr/>
        </p:nvSpPr>
        <p:spPr bwMode="auto">
          <a:xfrm>
            <a:off x="7010400" y="64008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94249AE4-DB88-462B-964C-045F3FE6F1B6}" type="slidenum">
              <a:rPr lang="en-US" altLang="en-US" sz="1200">
                <a:latin typeface="+mj-lt"/>
              </a:rPr>
              <a:pPr algn="r">
                <a:defRPr/>
              </a:pPr>
              <a:t>36</a:t>
            </a:fld>
            <a:endParaRPr lang="en-US" altLang="en-US" sz="1200">
              <a:latin typeface="+mj-lt"/>
            </a:endParaRPr>
          </a:p>
        </p:txBody>
      </p:sp>
      <p:sp>
        <p:nvSpPr>
          <p:cNvPr id="15364" name="Rectangle 2">
            <a:extLst>
              <a:ext uri="{FF2B5EF4-FFF2-40B4-BE49-F238E27FC236}">
                <a16:creationId xmlns:a16="http://schemas.microsoft.com/office/drawing/2014/main" id="{4F37073B-13B1-82D1-B54B-B90D936EF0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Weakest pre-condition of assignment</a:t>
            </a:r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5AF740DA-2012-33D3-84DC-32B9C139A5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2057400"/>
            <a:ext cx="6057900" cy="16619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800" dirty="0"/>
              <a:t> </a:t>
            </a:r>
            <a:r>
              <a:rPr lang="en-US" sz="2800" b="1" dirty="0"/>
              <a:t>  	</a:t>
            </a:r>
            <a:r>
              <a:rPr lang="en-US" sz="2800" b="1" dirty="0">
                <a:solidFill>
                  <a:srgbClr val="0070C0"/>
                </a:solidFill>
              </a:rPr>
              <a:t>wp</a:t>
            </a:r>
            <a:r>
              <a:rPr lang="en-US" sz="2800" dirty="0"/>
              <a:t>   </a:t>
            </a:r>
            <a:r>
              <a:rPr lang="en-US" sz="2800" b="1" dirty="0">
                <a:solidFill>
                  <a:srgbClr val="C00000"/>
                </a:solidFill>
              </a:rPr>
              <a:t>(x:=</a:t>
            </a:r>
            <a:r>
              <a:rPr lang="en-US" sz="2800" b="1" i="1" dirty="0">
                <a:solidFill>
                  <a:srgbClr val="C00000"/>
                </a:solidFill>
              </a:rPr>
              <a:t>e</a:t>
            </a:r>
            <a:r>
              <a:rPr lang="en-US" sz="2800" b="1" dirty="0">
                <a:solidFill>
                  <a:srgbClr val="C00000"/>
                </a:solidFill>
              </a:rPr>
              <a:t>)   </a:t>
            </a:r>
            <a:r>
              <a:rPr lang="en-US" sz="2800" i="1" dirty="0"/>
              <a:t>Q</a:t>
            </a:r>
            <a:r>
              <a:rPr lang="en-US" sz="2800" dirty="0"/>
              <a:t>     =    </a:t>
            </a:r>
            <a:r>
              <a:rPr lang="en-US" sz="2800" i="1" dirty="0"/>
              <a:t>Q</a:t>
            </a:r>
            <a:r>
              <a:rPr lang="en-US" sz="2800" dirty="0"/>
              <a:t>[</a:t>
            </a:r>
            <a:r>
              <a:rPr lang="en-US" sz="2800" i="1" dirty="0"/>
              <a:t>e</a:t>
            </a:r>
            <a:r>
              <a:rPr lang="en-US" sz="2800" dirty="0"/>
              <a:t>/x]</a:t>
            </a:r>
          </a:p>
          <a:p>
            <a:endParaRPr lang="en-US" sz="2800" dirty="0"/>
          </a:p>
          <a:p>
            <a:r>
              <a:rPr lang="en-US" sz="2800" dirty="0"/>
              <a:t>We already showed this! (slide 16)</a:t>
            </a:r>
          </a:p>
          <a:p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3310DA0-FDA1-ACB5-5450-CC2B9999955B}"/>
                  </a:ext>
                </a:extLst>
              </p:cNvPr>
              <p:cNvSpPr txBox="1"/>
              <p:nvPr/>
            </p:nvSpPr>
            <p:spPr>
              <a:xfrm>
                <a:off x="1238250" y="4044434"/>
                <a:ext cx="6762750" cy="20313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800" i="1" dirty="0"/>
                  <a:t>Proof (in terms the preimage)</a:t>
                </a:r>
                <a:r>
                  <a:rPr lang="en-US" sz="1800" dirty="0"/>
                  <a:t>: We want to show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  <a:sym typeface="Symbol" pitchFamily="16" charset="2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rgbClr val="C00000"/>
                            </a:solidFill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rgbClr val="C00000"/>
                            </a:solidFill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rgbClr val="C00000"/>
                            </a:solidFill>
                          </a:rPr>
                          <m:t>:=</m:t>
                        </m:r>
                        <m:r>
                          <m:rPr>
                            <m:nor/>
                          </m:rPr>
                          <a:rPr lang="en-US" sz="1800" b="1" i="1" dirty="0">
                            <a:solidFill>
                              <a:srgbClr val="C00000"/>
                            </a:solidFill>
                          </a:rPr>
                          <m:t>e</m:t>
                        </m:r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rgbClr val="C00000"/>
                            </a:solidFill>
                          </a:rPr>
                          <m:t>)</m:t>
                        </m:r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  <a:sym typeface="Symbol" pitchFamily="16" charset="2"/>
                          </a:rPr>
                          <m:t>−1</m:t>
                        </m:r>
                      </m:sup>
                    </m:sSup>
                    <m:r>
                      <m:rPr>
                        <m:nor/>
                      </m:rPr>
                      <a:rPr lang="en-US" sz="1800" i="1">
                        <a:sym typeface="Symbol" pitchFamily="16" charset="2"/>
                      </a:rPr>
                      <m:t> </m:t>
                    </m:r>
                  </m:oMath>
                </a14:m>
                <a:r>
                  <a:rPr lang="en-US" sz="1800" dirty="0"/>
                  <a:t>(Q) = </a:t>
                </a:r>
                <a:r>
                  <a:rPr lang="en-US" sz="1800" i="1" dirty="0"/>
                  <a:t>Q</a:t>
                </a:r>
                <a:r>
                  <a:rPr lang="en-US" sz="1800" dirty="0"/>
                  <a:t>[</a:t>
                </a:r>
                <a:r>
                  <a:rPr lang="en-US" sz="1800" i="1" dirty="0"/>
                  <a:t>e</a:t>
                </a:r>
                <a:r>
                  <a:rPr lang="en-US" sz="1800" dirty="0"/>
                  <a:t>/x]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sym typeface="Symbol" pitchFamily="16" charset="2"/>
                      </a:rPr>
                      <m:t>.</m:t>
                    </m:r>
                  </m:oMath>
                </a14:m>
                <a:r>
                  <a:rPr lang="en-US" sz="1800" dirty="0"/>
                  <a:t> For any state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1800" dirty="0"/>
                  <a:t> we have</a:t>
                </a:r>
                <a:br>
                  <a:rPr lang="en-US" sz="1800" dirty="0"/>
                </a:br>
                <a:r>
                  <a:rPr lang="en-US" sz="1800" dirty="0"/>
                  <a:t>            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sz="1800" dirty="0">
                    <a:sym typeface="Symbol" pitchFamily="16" charset="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  <a:sym typeface="Symbol" pitchFamily="16" charset="2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rgbClr val="C00000"/>
                            </a:solidFill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rgbClr val="C00000"/>
                            </a:solidFill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rgbClr val="C00000"/>
                            </a:solidFill>
                          </a:rPr>
                          <m:t>:=</m:t>
                        </m:r>
                        <m:r>
                          <m:rPr>
                            <m:nor/>
                          </m:rPr>
                          <a:rPr lang="en-US" sz="1800" b="1" i="1" dirty="0">
                            <a:solidFill>
                              <a:srgbClr val="C00000"/>
                            </a:solidFill>
                          </a:rPr>
                          <m:t>e</m:t>
                        </m:r>
                        <m:r>
                          <m:rPr>
                            <m:nor/>
                          </m:rPr>
                          <a:rPr lang="en-US" sz="1800" b="1" dirty="0">
                            <a:solidFill>
                              <a:srgbClr val="C00000"/>
                            </a:solidFill>
                          </a:rPr>
                          <m:t>)</m:t>
                        </m:r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  <a:sym typeface="Symbol" pitchFamily="16" charset="2"/>
                          </a:rPr>
                          <m:t>−1</m:t>
                        </m:r>
                      </m:sup>
                    </m:sSup>
                    <m:r>
                      <m:rPr>
                        <m:nor/>
                      </m:rPr>
                      <a:rPr lang="en-US" sz="1800" i="1">
                        <a:sym typeface="Symbol" pitchFamily="16" charset="2"/>
                      </a:rPr>
                      <m:t> </m:t>
                    </m:r>
                  </m:oMath>
                </a14:m>
                <a:r>
                  <a:rPr lang="en-US" sz="1800" dirty="0"/>
                  <a:t>(Q)</a:t>
                </a:r>
              </a:p>
              <a:p>
                <a:r>
                  <a:rPr lang="en-US" sz="1800" b="1" dirty="0">
                    <a:solidFill>
                      <a:srgbClr val="C00000"/>
                    </a:solidFill>
                  </a:rPr>
                  <a:t>     </a:t>
                </a:r>
                <a:r>
                  <a:rPr lang="en-US" sz="1800" dirty="0"/>
                  <a:t>=</a:t>
                </a:r>
                <a:r>
                  <a:rPr lang="en-US" sz="1800" b="1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1" i="0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     </m:t>
                    </m:r>
                    <m:r>
                      <m:rPr>
                        <m:nor/>
                      </m:rPr>
                      <a:rPr lang="en-US" sz="1800" b="1" dirty="0">
                        <a:solidFill>
                          <a:srgbClr val="C00000"/>
                        </a:solidFill>
                      </a:rPr>
                      <m:t>(</m:t>
                    </m:r>
                    <m:r>
                      <m:rPr>
                        <m:nor/>
                      </m:rPr>
                      <a:rPr lang="en-US" sz="1800" b="1" dirty="0">
                        <a:solidFill>
                          <a:srgbClr val="C00000"/>
                        </a:solidFill>
                      </a:rPr>
                      <m:t>x</m:t>
                    </m:r>
                    <m:r>
                      <m:rPr>
                        <m:nor/>
                      </m:rPr>
                      <a:rPr lang="en-US" sz="1800" b="1" dirty="0">
                        <a:solidFill>
                          <a:srgbClr val="C00000"/>
                        </a:solidFill>
                      </a:rPr>
                      <m:t>:=</m:t>
                    </m:r>
                    <m:r>
                      <m:rPr>
                        <m:nor/>
                      </m:rPr>
                      <a:rPr lang="en-US" sz="1800" b="1" i="1" dirty="0">
                        <a:solidFill>
                          <a:srgbClr val="C00000"/>
                        </a:solidFill>
                      </a:rPr>
                      <m:t>e</m:t>
                    </m:r>
                    <m:r>
                      <m:rPr>
                        <m:nor/>
                      </m:rPr>
                      <a:rPr lang="en-US" sz="1800" b="1" dirty="0">
                        <a:solidFill>
                          <a:srgbClr val="C00000"/>
                        </a:solidFill>
                      </a:rPr>
                      <m:t>)</m:t>
                    </m:r>
                  </m:oMath>
                </a14:m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sz="1800" dirty="0"/>
                  <a:t> Q </a:t>
                </a:r>
              </a:p>
              <a:p>
                <a:r>
                  <a:rPr lang="en-US" sz="1800" b="1" dirty="0">
                    <a:solidFill>
                      <a:srgbClr val="C00000"/>
                    </a:solidFill>
                  </a:rPr>
                  <a:t>     </a:t>
                </a:r>
                <a:r>
                  <a:rPr lang="en-US" sz="1800" dirty="0"/>
                  <a:t>=</a:t>
                </a:r>
                <a:r>
                  <a:rPr lang="en-US" sz="1800" b="1" dirty="0">
                    <a:solidFill>
                      <a:srgbClr val="C00000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lang="en-US" sz="1800" b="1" i="0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    </m:t>
                    </m:r>
                    <m:r>
                      <m:rPr>
                        <m:nor/>
                      </m:rPr>
                      <a:rPr lang="en-US" sz="1800" b="1" dirty="0">
                        <a:solidFill>
                          <a:srgbClr val="C00000"/>
                        </a:solidFill>
                      </a:rPr>
                      <m:t>(</m:t>
                    </m:r>
                    <m:r>
                      <m:rPr>
                        <m:nor/>
                      </m:rPr>
                      <a:rPr lang="en-US" sz="1800" b="1" dirty="0">
                        <a:solidFill>
                          <a:srgbClr val="C00000"/>
                        </a:solidFill>
                      </a:rPr>
                      <m:t>x</m:t>
                    </m:r>
                    <m:r>
                      <m:rPr>
                        <m:nor/>
                      </m:rPr>
                      <a:rPr lang="en-US" sz="1800" b="1" dirty="0">
                        <a:solidFill>
                          <a:srgbClr val="C00000"/>
                        </a:solidFill>
                      </a:rPr>
                      <m:t>:=</m:t>
                    </m:r>
                    <m:r>
                      <m:rPr>
                        <m:nor/>
                      </m:rPr>
                      <a:rPr lang="en-US" sz="1800" b="1" i="1" dirty="0">
                        <a:solidFill>
                          <a:srgbClr val="C00000"/>
                        </a:solidFill>
                      </a:rPr>
                      <m:t>e</m:t>
                    </m:r>
                    <m:r>
                      <m:rPr>
                        <m:nor/>
                      </m:rPr>
                      <a:rPr lang="en-US" sz="1800" b="1" dirty="0">
                        <a:solidFill>
                          <a:srgbClr val="C00000"/>
                        </a:solidFill>
                      </a:rPr>
                      <m:t>)</m:t>
                    </m:r>
                  </m:oMath>
                </a14:m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1800" dirty="0"/>
                  <a:t> satisfies Q</a:t>
                </a:r>
              </a:p>
              <a:p>
                <a:r>
                  <a:rPr lang="en-US" sz="1800" dirty="0"/>
                  <a:t>     = </a:t>
                </a:r>
                <a14:m>
                  <m:oMath xmlns:m="http://schemas.openxmlformats.org/officeDocument/2006/math">
                    <m:r>
                      <a:rPr lang="en-US" sz="1800" b="0" i="0" smtClean="0">
                        <a:latin typeface="Cambria Math" panose="02040503050406030204" pitchFamily="18" charset="0"/>
                      </a:rPr>
                      <m:t>       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1800" dirty="0"/>
                  <a:t> satisfies </a:t>
                </a:r>
                <a:r>
                  <a:rPr lang="en-US" sz="1800" i="1" dirty="0"/>
                  <a:t>Q</a:t>
                </a:r>
                <a:r>
                  <a:rPr lang="en-US" sz="1800" dirty="0"/>
                  <a:t>[</a:t>
                </a:r>
                <a:r>
                  <a:rPr lang="en-US" sz="1800" i="1" dirty="0"/>
                  <a:t>e</a:t>
                </a:r>
                <a:r>
                  <a:rPr lang="en-US" sz="1800" dirty="0"/>
                  <a:t>/x] </a:t>
                </a:r>
              </a:p>
              <a:p>
                <a:r>
                  <a:rPr lang="en-US" sz="1800" dirty="0"/>
                  <a:t>     = </a:t>
                </a:r>
                <a14:m>
                  <m:oMath xmlns:m="http://schemas.openxmlformats.org/officeDocument/2006/math">
                    <m:r>
                      <a:rPr lang="en-US" sz="1800" b="0" i="0" smtClean="0">
                        <a:latin typeface="Cambria Math" panose="02040503050406030204" pitchFamily="18" charset="0"/>
                      </a:rPr>
                      <m:t>       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∈ </m:t>
                    </m:r>
                  </m:oMath>
                </a14:m>
                <a:r>
                  <a:rPr lang="en-US" sz="1800" i="1" dirty="0"/>
                  <a:t>Q</a:t>
                </a:r>
                <a:r>
                  <a:rPr lang="en-US" sz="1800" dirty="0"/>
                  <a:t>[</a:t>
                </a:r>
                <a:r>
                  <a:rPr lang="en-US" sz="1800" i="1" dirty="0"/>
                  <a:t>e</a:t>
                </a:r>
                <a:r>
                  <a:rPr lang="en-US" sz="1800" dirty="0"/>
                  <a:t>/x].</a:t>
                </a:r>
                <a:endParaRPr lang="en-US" sz="32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3310DA0-FDA1-ACB5-5450-CC2B999995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8250" y="4044434"/>
                <a:ext cx="6762750" cy="2031325"/>
              </a:xfrm>
              <a:prstGeom prst="rect">
                <a:avLst/>
              </a:prstGeom>
              <a:blipFill>
                <a:blip r:embed="rId3"/>
                <a:stretch>
                  <a:fillRect l="-749" t="-1242" b="-3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88321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EDC2F-4B3F-5AC7-66CD-B0272ABBF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>
            <a:extLst>
              <a:ext uri="{FF2B5EF4-FFF2-40B4-BE49-F238E27FC236}">
                <a16:creationId xmlns:a16="http://schemas.microsoft.com/office/drawing/2014/main" id="{FDCD117E-3B57-DE48-1103-20C362EDC35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94B75B1-77A9-47B9-B8CD-EB7D9FE1C654}" type="slidenum">
              <a:rPr lang="en-US" altLang="en-US"/>
              <a:pPr>
                <a:defRPr/>
              </a:pPr>
              <a:t>37</a:t>
            </a:fld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6F888B-CE72-618C-F31C-F02D9BF24055}"/>
              </a:ext>
            </a:extLst>
          </p:cNvPr>
          <p:cNvSpPr txBox="1">
            <a:spLocks noGrp="1"/>
          </p:cNvSpPr>
          <p:nvPr/>
        </p:nvSpPr>
        <p:spPr bwMode="auto">
          <a:xfrm>
            <a:off x="7010400" y="64008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94249AE4-DB88-462B-964C-045F3FE6F1B6}" type="slidenum">
              <a:rPr lang="en-US" altLang="en-US" sz="1200">
                <a:latin typeface="+mj-lt"/>
              </a:rPr>
              <a:pPr algn="r">
                <a:defRPr/>
              </a:pPr>
              <a:t>37</a:t>
            </a:fld>
            <a:endParaRPr lang="en-US" altLang="en-US" sz="1200">
              <a:latin typeface="+mj-lt"/>
            </a:endParaRPr>
          </a:p>
        </p:txBody>
      </p:sp>
      <p:sp>
        <p:nvSpPr>
          <p:cNvPr id="15364" name="Rectangle 2">
            <a:extLst>
              <a:ext uri="{FF2B5EF4-FFF2-40B4-BE49-F238E27FC236}">
                <a16:creationId xmlns:a16="http://schemas.microsoft.com/office/drawing/2014/main" id="{4017A53A-1DA1-73E0-8CF5-46B8616489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Inference rule for assignment</a:t>
            </a: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CBE78C99-E51F-BCD9-5FDF-1C150C1BA9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219200"/>
            <a:ext cx="8915400" cy="5181600"/>
          </a:xfrm>
        </p:spPr>
        <p:txBody>
          <a:bodyPr/>
          <a:lstStyle/>
          <a:p>
            <a:r>
              <a:rPr lang="en-US" dirty="0"/>
              <a:t>Now, if we didn’t already know the inference rule for assignment, we would be able to assert</a:t>
            </a:r>
          </a:p>
          <a:p>
            <a:endParaRPr lang="en-US" dirty="0"/>
          </a:p>
          <a:p>
            <a:endParaRPr lang="en-US" dirty="0"/>
          </a:p>
          <a:p>
            <a:endParaRPr lang="en-US" sz="2000" dirty="0"/>
          </a:p>
          <a:p>
            <a:endParaRPr lang="en-US" sz="2000" dirty="0"/>
          </a:p>
          <a:p>
            <a:pPr marL="0" indent="0">
              <a:buNone/>
            </a:pPr>
            <a:r>
              <a:rPr lang="en-US" sz="2000" dirty="0"/>
              <a:t>    </a:t>
            </a:r>
          </a:p>
          <a:p>
            <a:pPr marL="0" indent="0">
              <a:buNone/>
            </a:pPr>
            <a:r>
              <a:rPr lang="en-US" dirty="0"/>
              <a:t>    or, equivalently: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541DFB1C-58E7-825E-B1CE-3E5CC1F685F4}"/>
              </a:ext>
            </a:extLst>
          </p:cNvPr>
          <p:cNvSpPr/>
          <p:nvPr/>
        </p:nvSpPr>
        <p:spPr>
          <a:xfrm>
            <a:off x="685800" y="2209800"/>
            <a:ext cx="7086600" cy="1676400"/>
          </a:xfrm>
          <a:prstGeom prst="roundRect">
            <a:avLst>
              <a:gd name="adj" fmla="val 36417"/>
            </a:avLst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 Box 24">
                <a:extLst>
                  <a:ext uri="{FF2B5EF4-FFF2-40B4-BE49-F238E27FC236}">
                    <a16:creationId xmlns:a16="http://schemas.microsoft.com/office/drawing/2014/main" id="{2B21AC1A-A0FA-9F9E-0391-85DAF4F10C6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44191" y="2784901"/>
                <a:ext cx="7023076" cy="8309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2400" dirty="0"/>
                  <a:t>-----------------------------------------------------------------  </a:t>
                </a:r>
              </a:p>
              <a:p>
                <a:r>
                  <a:rPr lang="en-US" sz="2400" dirty="0"/>
                  <a:t>                    {*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/>
                  <a:t> *} </a:t>
                </a:r>
                <a:r>
                  <a:rPr lang="en-US" sz="2400" b="1" dirty="0">
                    <a:latin typeface="Andale Mono" panose="020B0509000000000004" pitchFamily="49" charset="0"/>
                  </a:rPr>
                  <a:t>x:=e </a:t>
                </a:r>
                <a:r>
                  <a:rPr lang="en-US" sz="2400" dirty="0"/>
                  <a:t>{*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400" dirty="0"/>
                  <a:t> *} </a:t>
                </a:r>
              </a:p>
            </p:txBody>
          </p:sp>
        </mc:Choice>
        <mc:Fallback>
          <p:sp>
            <p:nvSpPr>
              <p:cNvPr id="12" name="Text Box 24">
                <a:extLst>
                  <a:ext uri="{FF2B5EF4-FFF2-40B4-BE49-F238E27FC236}">
                    <a16:creationId xmlns:a16="http://schemas.microsoft.com/office/drawing/2014/main" id="{2B21AC1A-A0FA-9F9E-0391-85DAF4F10C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44191" y="2784901"/>
                <a:ext cx="7023076" cy="830997"/>
              </a:xfrm>
              <a:prstGeom prst="rect">
                <a:avLst/>
              </a:prstGeom>
              <a:blipFill>
                <a:blip r:embed="rId3"/>
                <a:stretch>
                  <a:fillRect l="-1264" t="-6061" b="-16667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4BFE2E36-8789-800C-6B4A-861E1F56A0E6}"/>
              </a:ext>
            </a:extLst>
          </p:cNvPr>
          <p:cNvSpPr txBox="1"/>
          <p:nvPr/>
        </p:nvSpPr>
        <p:spPr>
          <a:xfrm>
            <a:off x="7963667" y="2863334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Andale Mono" panose="020B0509000000000004" pitchFamily="49" charset="0"/>
              </a:rPr>
              <a:t>ASG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BE630FB2-D536-B979-6F65-764E7ADFC786}"/>
              </a:ext>
            </a:extLst>
          </p:cNvPr>
          <p:cNvSpPr/>
          <p:nvPr/>
        </p:nvSpPr>
        <p:spPr>
          <a:xfrm>
            <a:off x="844191" y="4724400"/>
            <a:ext cx="7086600" cy="1676400"/>
          </a:xfrm>
          <a:prstGeom prst="roundRect">
            <a:avLst>
              <a:gd name="adj" fmla="val 36417"/>
            </a:avLst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 Box 24">
                <a:extLst>
                  <a:ext uri="{FF2B5EF4-FFF2-40B4-BE49-F238E27FC236}">
                    <a16:creationId xmlns:a16="http://schemas.microsoft.com/office/drawing/2014/main" id="{7337AE0F-AD22-6149-EBA5-4042F7AA556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27761" y="4872564"/>
                <a:ext cx="5519460" cy="156966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⊢ 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 ⇒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400"/>
              </a:p>
              <a:p>
                <a:r>
                  <a:rPr lang="en-US" sz="2400"/>
                  <a:t>----------------------------------------------------</a:t>
                </a:r>
                <a:endParaRPr lang="en-US" sz="2400" dirty="0"/>
              </a:p>
              <a:p>
                <a:r>
                  <a:rPr lang="en-US" sz="2400"/>
                  <a:t>               {*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/>
                  <a:t>*} </a:t>
                </a:r>
                <a:r>
                  <a:rPr lang="en-US" sz="2400" b="1">
                    <a:latin typeface="Andale Mono" panose="020B0509000000000004" pitchFamily="49" charset="0"/>
                  </a:rPr>
                  <a:t>x:=e </a:t>
                </a:r>
                <a:r>
                  <a:rPr lang="en-US" sz="2400"/>
                  <a:t>{*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400" dirty="0"/>
                  <a:t> *}</a:t>
                </a:r>
              </a:p>
              <a:p>
                <a:endParaRPr lang="en-US" sz="2400" dirty="0"/>
              </a:p>
            </p:txBody>
          </p:sp>
        </mc:Choice>
        <mc:Fallback>
          <p:sp>
            <p:nvSpPr>
              <p:cNvPr id="17" name="Text Box 24">
                <a:extLst>
                  <a:ext uri="{FF2B5EF4-FFF2-40B4-BE49-F238E27FC236}">
                    <a16:creationId xmlns:a16="http://schemas.microsoft.com/office/drawing/2014/main" id="{7337AE0F-AD22-6149-EBA5-4042F7AA55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27761" y="4872564"/>
                <a:ext cx="5519460" cy="1569660"/>
              </a:xfrm>
              <a:prstGeom prst="rect">
                <a:avLst/>
              </a:prstGeom>
              <a:blipFill>
                <a:blip r:embed="rId4"/>
                <a:stretch>
                  <a:fillRect l="-1839" r="-690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7656912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A7AD57F2-77A8-5E4D-B0E5-78E7633F8EB5}"/>
              </a:ext>
            </a:extLst>
          </p:cNvPr>
          <p:cNvSpPr/>
          <p:nvPr/>
        </p:nvSpPr>
        <p:spPr>
          <a:xfrm>
            <a:off x="952500" y="1558924"/>
            <a:ext cx="7086600" cy="1196975"/>
          </a:xfrm>
          <a:prstGeom prst="roundRect">
            <a:avLst>
              <a:gd name="adj" fmla="val 33084"/>
            </a:avLst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4EB083C-93FE-4E85-B166-E6093DD54750}" type="slidenum">
              <a:rPr lang="en-US" altLang="en-US"/>
              <a:pPr>
                <a:defRPr/>
              </a:pPr>
              <a:t>38</a:t>
            </a:fld>
            <a:endParaRPr lang="en-US" altLang="en-US"/>
          </a:p>
        </p:txBody>
      </p:sp>
      <p:sp>
        <p:nvSpPr>
          <p:cNvPr id="9" name="Slide Number Placeholder 2"/>
          <p:cNvSpPr txBox="1">
            <a:spLocks noGrp="1"/>
          </p:cNvSpPr>
          <p:nvPr/>
        </p:nvSpPr>
        <p:spPr bwMode="auto">
          <a:xfrm>
            <a:off x="7010400" y="64008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09F33C3B-7060-4F48-9473-B2F6D96FB77D}" type="slidenum">
              <a:rPr lang="en-US" altLang="en-US" sz="1200">
                <a:latin typeface="+mj-lt"/>
              </a:rPr>
              <a:pPr algn="r">
                <a:defRPr/>
              </a:pPr>
              <a:t>38</a:t>
            </a:fld>
            <a:endParaRPr lang="en-US" altLang="en-US" sz="1200">
              <a:latin typeface="+mj-lt"/>
            </a:endParaRPr>
          </a:p>
        </p:txBody>
      </p:sp>
      <p:sp>
        <p:nvSpPr>
          <p:cNvPr id="174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wp of SEQ</a:t>
            </a:r>
          </a:p>
        </p:txBody>
      </p:sp>
      <p:sp>
        <p:nvSpPr>
          <p:cNvPr id="17413" name="Text Box 9"/>
          <p:cNvSpPr txBox="1">
            <a:spLocks noChangeArrowheads="1"/>
          </p:cNvSpPr>
          <p:nvPr/>
        </p:nvSpPr>
        <p:spPr bwMode="auto">
          <a:xfrm>
            <a:off x="1028700" y="1558925"/>
            <a:ext cx="67818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400" dirty="0"/>
              <a:t>    </a:t>
            </a:r>
            <a:br>
              <a:rPr lang="en-US" sz="2400" dirty="0"/>
            </a:br>
            <a:r>
              <a:rPr lang="en-US" sz="2400" b="1" dirty="0">
                <a:solidFill>
                  <a:srgbClr val="0070C0"/>
                </a:solidFill>
              </a:rPr>
              <a:t>wp</a:t>
            </a:r>
            <a:r>
              <a:rPr lang="en-US" sz="2400" dirty="0"/>
              <a:t>  (</a:t>
            </a:r>
            <a:r>
              <a:rPr lang="en-US" sz="2400" i="1" dirty="0"/>
              <a:t>S</a:t>
            </a:r>
            <a:r>
              <a:rPr lang="en-US" sz="2400" baseline="-25000" dirty="0"/>
              <a:t>1</a:t>
            </a:r>
            <a:r>
              <a:rPr lang="en-US" sz="2400" dirty="0"/>
              <a:t> ; </a:t>
            </a:r>
            <a:r>
              <a:rPr lang="en-US" sz="2400" i="1" dirty="0"/>
              <a:t>S</a:t>
            </a:r>
            <a:r>
              <a:rPr lang="en-US" sz="2400" baseline="-25000" dirty="0"/>
              <a:t>2</a:t>
            </a:r>
            <a:r>
              <a:rPr lang="en-US" sz="2400" dirty="0"/>
              <a:t>)   </a:t>
            </a:r>
            <a:r>
              <a:rPr lang="en-US" sz="2400" i="1" dirty="0"/>
              <a:t>Q</a:t>
            </a:r>
            <a:r>
              <a:rPr lang="en-US" sz="2400" dirty="0"/>
              <a:t>    =     </a:t>
            </a:r>
            <a:r>
              <a:rPr lang="en-US" sz="2400" b="1" dirty="0">
                <a:solidFill>
                  <a:srgbClr val="0070C0"/>
                </a:solidFill>
              </a:rPr>
              <a:t>wp</a:t>
            </a:r>
            <a:r>
              <a:rPr lang="en-US" sz="2400" dirty="0"/>
              <a:t>  </a:t>
            </a:r>
            <a:r>
              <a:rPr lang="en-US" sz="2400" i="1" dirty="0"/>
              <a:t>S</a:t>
            </a:r>
            <a:r>
              <a:rPr lang="en-US" sz="2400" baseline="-25000" dirty="0"/>
              <a:t>1</a:t>
            </a:r>
            <a:r>
              <a:rPr lang="en-US" sz="2400" dirty="0"/>
              <a:t>  (</a:t>
            </a:r>
            <a:r>
              <a:rPr lang="en-US" sz="2400" b="1" dirty="0">
                <a:solidFill>
                  <a:srgbClr val="0070C0"/>
                </a:solidFill>
              </a:rPr>
              <a:t>wp</a:t>
            </a:r>
            <a:r>
              <a:rPr lang="en-US" sz="2400" dirty="0"/>
              <a:t>  </a:t>
            </a:r>
            <a:r>
              <a:rPr lang="en-US" sz="2400" i="1" dirty="0"/>
              <a:t>S</a:t>
            </a:r>
            <a:r>
              <a:rPr lang="en-US" sz="2400" baseline="-25000" dirty="0"/>
              <a:t>2</a:t>
            </a:r>
            <a:r>
              <a:rPr lang="en-US" sz="2400" dirty="0"/>
              <a:t>  </a:t>
            </a:r>
            <a:r>
              <a:rPr lang="en-US" sz="2400" i="1" dirty="0"/>
              <a:t>Q</a:t>
            </a:r>
            <a:r>
              <a:rPr lang="en-US" sz="2400" dirty="0"/>
              <a:t>)</a:t>
            </a:r>
          </a:p>
          <a:p>
            <a:pPr algn="ctr"/>
            <a:endParaRPr lang="en-US" sz="2400" dirty="0"/>
          </a:p>
        </p:txBody>
      </p:sp>
      <p:sp>
        <p:nvSpPr>
          <p:cNvPr id="17414" name="Oval 10"/>
          <p:cNvSpPr>
            <a:spLocks noChangeArrowheads="1"/>
          </p:cNvSpPr>
          <p:nvPr/>
        </p:nvSpPr>
        <p:spPr bwMode="auto">
          <a:xfrm>
            <a:off x="6370319" y="4876800"/>
            <a:ext cx="838200" cy="1371600"/>
          </a:xfrm>
          <a:prstGeom prst="ellipse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Q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415" name="Oval 11"/>
              <p:cNvSpPr>
                <a:spLocks noChangeArrowheads="1"/>
              </p:cNvSpPr>
              <p:nvPr/>
            </p:nvSpPr>
            <p:spPr bwMode="auto">
              <a:xfrm>
                <a:off x="4236719" y="5029200"/>
                <a:ext cx="838200" cy="1371600"/>
              </a:xfrm>
              <a:prstGeom prst="ellipse">
                <a:avLst/>
              </a:prstGeom>
              <a:solidFill>
                <a:schemeClr val="folHlink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i="1" dirty="0"/>
                  <a:t>S</a:t>
                </a:r>
                <a:r>
                  <a:rPr lang="en-US" baseline="-25000" dirty="0"/>
                  <a:t>2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dirty="0"/>
                  <a:t> Q</a:t>
                </a:r>
              </a:p>
            </p:txBody>
          </p:sp>
        </mc:Choice>
        <mc:Fallback>
          <p:sp>
            <p:nvSpPr>
              <p:cNvPr id="17415" name="Oval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36719" y="5029200"/>
                <a:ext cx="838200" cy="1371600"/>
              </a:xfrm>
              <a:prstGeom prst="ellipse">
                <a:avLst/>
              </a:prstGeom>
              <a:blipFill>
                <a:blip r:embed="rId3"/>
                <a:stretch>
                  <a:fillRect l="-13433" r="-14925"/>
                </a:stretch>
              </a:blip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417" name="Oval 13"/>
              <p:cNvSpPr>
                <a:spLocks noChangeArrowheads="1"/>
              </p:cNvSpPr>
              <p:nvPr/>
            </p:nvSpPr>
            <p:spPr bwMode="auto">
              <a:xfrm>
                <a:off x="998220" y="5181599"/>
                <a:ext cx="1860550" cy="990600"/>
              </a:xfrm>
              <a:prstGeom prst="ellipse">
                <a:avLst/>
              </a:prstGeom>
              <a:solidFill>
                <a:schemeClr val="folHlink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dirty="0"/>
                  <a:t>  </a:t>
                </a:r>
                <a:r>
                  <a:rPr lang="en-US" i="1" dirty="0"/>
                  <a:t>S</a:t>
                </a:r>
                <a:r>
                  <a:rPr lang="en-US" baseline="-25000" dirty="0"/>
                  <a:t>1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dirty="0"/>
                  <a:t> (</a:t>
                </a:r>
                <a:r>
                  <a:rPr lang="en-US" i="1" dirty="0"/>
                  <a:t>S</a:t>
                </a:r>
                <a:r>
                  <a:rPr lang="en-US" baseline="-25000" dirty="0"/>
                  <a:t>2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dirty="0"/>
                  <a:t> Q)</a:t>
                </a:r>
              </a:p>
            </p:txBody>
          </p:sp>
        </mc:Choice>
        <mc:Fallback>
          <p:sp>
            <p:nvSpPr>
              <p:cNvPr id="17417" name="Oval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98220" y="5181599"/>
                <a:ext cx="1860550" cy="990600"/>
              </a:xfrm>
              <a:prstGeom prst="ellipse">
                <a:avLst/>
              </a:prstGeom>
              <a:blipFill>
                <a:blip r:embed="rId4"/>
                <a:stretch>
                  <a:fillRect r="-2027"/>
                </a:stretch>
              </a:blip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/>
          <p:cNvCxnSpPr>
            <a:cxnSpLocks/>
            <a:stCxn id="17415" idx="6"/>
            <a:endCxn id="17414" idx="2"/>
          </p:cNvCxnSpPr>
          <p:nvPr/>
        </p:nvCxnSpPr>
        <p:spPr>
          <a:xfrm flipV="1">
            <a:off x="5074919" y="5562600"/>
            <a:ext cx="1295400" cy="152400"/>
          </a:xfrm>
          <a:prstGeom prst="straightConnector1">
            <a:avLst/>
          </a:prstGeom>
          <a:ln w="635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cxnSpLocks/>
            <a:stCxn id="17417" idx="6"/>
            <a:endCxn id="17415" idx="2"/>
          </p:cNvCxnSpPr>
          <p:nvPr/>
        </p:nvCxnSpPr>
        <p:spPr>
          <a:xfrm>
            <a:off x="2858770" y="5676899"/>
            <a:ext cx="1377949" cy="38101"/>
          </a:xfrm>
          <a:prstGeom prst="straightConnector1">
            <a:avLst/>
          </a:prstGeom>
          <a:ln w="635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7429" name="TextBox 39"/>
          <p:cNvSpPr txBox="1">
            <a:spLocks noChangeArrowheads="1"/>
          </p:cNvSpPr>
          <p:nvPr/>
        </p:nvSpPr>
        <p:spPr bwMode="auto">
          <a:xfrm>
            <a:off x="5389244" y="5162549"/>
            <a:ext cx="45085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/>
              <a:t>S</a:t>
            </a:r>
            <a:r>
              <a:rPr lang="en-US" sz="2000" baseline="-25000"/>
              <a:t>2</a:t>
            </a:r>
            <a:endParaRPr lang="nl-NL" sz="2000" baseline="-25000"/>
          </a:p>
        </p:txBody>
      </p:sp>
      <p:sp>
        <p:nvSpPr>
          <p:cNvPr id="17430" name="TextBox 40"/>
          <p:cNvSpPr txBox="1">
            <a:spLocks noChangeArrowheads="1"/>
          </p:cNvSpPr>
          <p:nvPr/>
        </p:nvSpPr>
        <p:spPr bwMode="auto">
          <a:xfrm>
            <a:off x="3246119" y="5181600"/>
            <a:ext cx="45085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/>
              <a:t>S</a:t>
            </a:r>
            <a:r>
              <a:rPr lang="en-US" sz="2000" baseline="-25000"/>
              <a:t>1</a:t>
            </a:r>
            <a:endParaRPr lang="nl-NL" sz="2000" baseline="-250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0BF387E-6D86-68FC-4E24-6C454B62EF18}"/>
                  </a:ext>
                </a:extLst>
              </p:cNvPr>
              <p:cNvSpPr txBox="1"/>
              <p:nvPr/>
            </p:nvSpPr>
            <p:spPr>
              <a:xfrm>
                <a:off x="1124337" y="2970074"/>
                <a:ext cx="4576916" cy="17543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i="1" dirty="0"/>
                  <a:t>Proof</a:t>
                </a:r>
                <a:r>
                  <a:rPr lang="en-US" dirty="0"/>
                  <a:t>: We have that </a:t>
                </a:r>
              </a:p>
              <a:p>
                <a:r>
                  <a:rPr lang="en-US" b="1" dirty="0">
                    <a:solidFill>
                      <a:srgbClr val="0070C0"/>
                    </a:solidFill>
                  </a:rPr>
                  <a:t>	wp</a:t>
                </a:r>
                <a:r>
                  <a:rPr lang="en-US" dirty="0"/>
                  <a:t>  (</a:t>
                </a:r>
                <a:r>
                  <a:rPr lang="en-US" i="1" dirty="0"/>
                  <a:t>S</a:t>
                </a:r>
                <a:r>
                  <a:rPr lang="en-US" baseline="-25000" dirty="0"/>
                  <a:t>1</a:t>
                </a:r>
                <a:r>
                  <a:rPr lang="en-US" dirty="0"/>
                  <a:t> ; </a:t>
                </a:r>
                <a:r>
                  <a:rPr lang="en-US" i="1" dirty="0"/>
                  <a:t>S</a:t>
                </a:r>
                <a:r>
                  <a:rPr lang="en-US" baseline="-25000" dirty="0"/>
                  <a:t>2</a:t>
                </a:r>
                <a:r>
                  <a:rPr lang="en-US" dirty="0"/>
                  <a:t>)   </a:t>
                </a:r>
                <a:r>
                  <a:rPr lang="en-US" i="1" dirty="0"/>
                  <a:t>Q</a:t>
                </a:r>
                <a:r>
                  <a:rPr lang="en-US" dirty="0"/>
                  <a:t> </a:t>
                </a:r>
              </a:p>
              <a:p>
                <a:r>
                  <a:rPr lang="en-US" dirty="0"/>
                  <a:t>           = (</a:t>
                </a:r>
                <a:r>
                  <a:rPr lang="en-US" i="1" dirty="0"/>
                  <a:t>S</a:t>
                </a:r>
                <a:r>
                  <a:rPr lang="en-US" baseline="-25000" dirty="0"/>
                  <a:t>1</a:t>
                </a:r>
                <a:r>
                  <a:rPr lang="en-US" dirty="0"/>
                  <a:t> ; </a:t>
                </a:r>
                <a:r>
                  <a:rPr lang="en-US" i="1" dirty="0"/>
                  <a:t>S</a:t>
                </a:r>
                <a:r>
                  <a:rPr lang="en-US" baseline="-25000" dirty="0"/>
                  <a:t>2</a:t>
                </a:r>
                <a:r>
                  <a:rPr lang="en-US" dirty="0"/>
                  <a:t>)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dirty="0"/>
                  <a:t> Q</a:t>
                </a:r>
              </a:p>
              <a:p>
                <a:r>
                  <a:rPr lang="en-US" dirty="0"/>
                  <a:t>           = (</a:t>
                </a:r>
                <a:r>
                  <a:rPr lang="en-US" i="1" dirty="0"/>
                  <a:t>S</a:t>
                </a:r>
                <a:r>
                  <a:rPr lang="en-US" baseline="-25000" dirty="0"/>
                  <a:t>2</a:t>
                </a:r>
                <a:r>
                  <a:rPr lang="en-US" dirty="0"/>
                  <a:t> ∘ </a:t>
                </a:r>
                <a:r>
                  <a:rPr lang="en-US" i="1" dirty="0"/>
                  <a:t>S</a:t>
                </a:r>
                <a:r>
                  <a:rPr lang="en-US" baseline="-25000" dirty="0"/>
                  <a:t>1</a:t>
                </a:r>
                <a:r>
                  <a:rPr lang="en-US" dirty="0"/>
                  <a:t>)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dirty="0"/>
                  <a:t> Q</a:t>
                </a:r>
              </a:p>
              <a:p>
                <a:r>
                  <a:rPr lang="en-US" dirty="0"/>
                  <a:t>           = </a:t>
                </a:r>
                <a:r>
                  <a:rPr lang="en-US" i="1" dirty="0"/>
                  <a:t>S</a:t>
                </a:r>
                <a:r>
                  <a:rPr lang="en-US" baseline="-25000" dirty="0"/>
                  <a:t>1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dirty="0"/>
                  <a:t> (</a:t>
                </a:r>
                <a:r>
                  <a:rPr lang="en-US" i="1" dirty="0"/>
                  <a:t>S</a:t>
                </a:r>
                <a:r>
                  <a:rPr lang="en-US" baseline="-25000" dirty="0"/>
                  <a:t>2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dirty="0"/>
                  <a:t> Q)</a:t>
                </a:r>
              </a:p>
              <a:p>
                <a:r>
                  <a:rPr lang="en-US" dirty="0"/>
                  <a:t>           = </a:t>
                </a:r>
                <a:r>
                  <a:rPr lang="en-US" b="1" dirty="0">
                    <a:solidFill>
                      <a:srgbClr val="0070C0"/>
                    </a:solidFill>
                  </a:rPr>
                  <a:t>wp</a:t>
                </a:r>
                <a:r>
                  <a:rPr lang="en-US" dirty="0"/>
                  <a:t>  </a:t>
                </a:r>
                <a:r>
                  <a:rPr lang="en-US" i="1" dirty="0"/>
                  <a:t>S</a:t>
                </a:r>
                <a:r>
                  <a:rPr lang="en-US" baseline="-25000" dirty="0"/>
                  <a:t>1</a:t>
                </a:r>
                <a:r>
                  <a:rPr lang="en-US" dirty="0"/>
                  <a:t>  (</a:t>
                </a:r>
                <a:r>
                  <a:rPr lang="en-US" b="1" dirty="0">
                    <a:solidFill>
                      <a:srgbClr val="0070C0"/>
                    </a:solidFill>
                  </a:rPr>
                  <a:t>wp</a:t>
                </a:r>
                <a:r>
                  <a:rPr lang="en-US" dirty="0"/>
                  <a:t>  </a:t>
                </a:r>
                <a:r>
                  <a:rPr lang="en-US" i="1" dirty="0"/>
                  <a:t>S</a:t>
                </a:r>
                <a:r>
                  <a:rPr lang="en-US" baseline="-25000" dirty="0"/>
                  <a:t>2</a:t>
                </a:r>
                <a:r>
                  <a:rPr lang="en-US" dirty="0"/>
                  <a:t>  </a:t>
                </a:r>
                <a:r>
                  <a:rPr lang="en-US" i="1" dirty="0"/>
                  <a:t>Q</a:t>
                </a:r>
                <a:r>
                  <a:rPr lang="en-US" dirty="0"/>
                  <a:t>).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0BF387E-6D86-68FC-4E24-6C454B62EF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4337" y="2970074"/>
                <a:ext cx="4576916" cy="1754326"/>
              </a:xfrm>
              <a:prstGeom prst="rect">
                <a:avLst/>
              </a:prstGeom>
              <a:blipFill>
                <a:blip r:embed="rId5"/>
                <a:stretch>
                  <a:fillRect l="-1108" t="-1439" b="-50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Oval 11">
            <a:extLst>
              <a:ext uri="{FF2B5EF4-FFF2-40B4-BE49-F238E27FC236}">
                <a16:creationId xmlns:a16="http://schemas.microsoft.com/office/drawing/2014/main" id="{AF42F2CD-FCC9-64E4-47A9-3D549C219E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5105400"/>
            <a:ext cx="2366963" cy="1637488"/>
          </a:xfrm>
          <a:prstGeom prst="ellipse">
            <a:avLst/>
          </a:prstGeom>
          <a:solidFill>
            <a:srgbClr val="00B050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en-US" dirty="0"/>
          </a:p>
        </p:txBody>
      </p:sp>
      <p:sp>
        <p:nvSpPr>
          <p:cNvPr id="20" name="Oval 10">
            <a:extLst>
              <a:ext uri="{FF2B5EF4-FFF2-40B4-BE49-F238E27FC236}">
                <a16:creationId xmlns:a16="http://schemas.microsoft.com/office/drawing/2014/main" id="{4D02B84E-18DF-3446-09B0-401E193C8E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2039" y="5105400"/>
            <a:ext cx="1698523" cy="1612541"/>
          </a:xfrm>
          <a:prstGeom prst="ellipse">
            <a:avLst/>
          </a:prstGeom>
          <a:solidFill>
            <a:schemeClr val="accent5">
              <a:lumMod val="50000"/>
            </a:schemeClr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Q</a:t>
            </a:r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6EAA5CC-07B3-4191-BCBD-37506C4EB906}" type="slidenum">
              <a:rPr lang="en-US" altLang="en-US"/>
              <a:pPr>
                <a:defRPr/>
              </a:pPr>
              <a:t>39</a:t>
            </a:fld>
            <a:endParaRPr lang="en-US" altLang="en-US"/>
          </a:p>
        </p:txBody>
      </p:sp>
      <p:sp>
        <p:nvSpPr>
          <p:cNvPr id="4" name="Slide Number Placeholder 3"/>
          <p:cNvSpPr txBox="1">
            <a:spLocks noGrp="1"/>
          </p:cNvSpPr>
          <p:nvPr/>
        </p:nvSpPr>
        <p:spPr bwMode="auto">
          <a:xfrm>
            <a:off x="7010400" y="64008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C985B4B3-9B20-4FDA-B015-69B6EE9D4C37}" type="slidenum">
              <a:rPr lang="en-US" altLang="en-US" sz="1200">
                <a:latin typeface="+mj-lt"/>
              </a:rPr>
              <a:pPr algn="r">
                <a:defRPr/>
              </a:pPr>
              <a:t>39</a:t>
            </a:fld>
            <a:endParaRPr lang="en-US" altLang="en-US" sz="1200">
              <a:latin typeface="+mj-lt"/>
            </a:endParaRPr>
          </a:p>
        </p:txBody>
      </p:sp>
      <p:sp>
        <p:nvSpPr>
          <p:cNvPr id="194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Post condition weakening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BF0894C-5B4B-1728-02F5-E79A57CB99C8}"/>
              </a:ext>
            </a:extLst>
          </p:cNvPr>
          <p:cNvSpPr/>
          <p:nvPr/>
        </p:nvSpPr>
        <p:spPr>
          <a:xfrm>
            <a:off x="297426" y="1154652"/>
            <a:ext cx="8458200" cy="1196975"/>
          </a:xfrm>
          <a:prstGeom prst="roundRect">
            <a:avLst>
              <a:gd name="adj" fmla="val 33084"/>
            </a:avLst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 Box 9">
            <a:extLst>
              <a:ext uri="{FF2B5EF4-FFF2-40B4-BE49-F238E27FC236}">
                <a16:creationId xmlns:a16="http://schemas.microsoft.com/office/drawing/2014/main" id="{CEB8CE47-07C6-EEB0-A43D-3B50508C1C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0381" y="1338148"/>
            <a:ext cx="7632290" cy="4154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    </a:t>
            </a:r>
            <a:br>
              <a:rPr lang="en-US" sz="2000" dirty="0"/>
            </a:br>
            <a:r>
              <a:rPr lang="en-US" sz="2000" dirty="0"/>
              <a:t>(</a:t>
            </a:r>
            <a:r>
              <a:rPr lang="en-US" sz="2000" i="1" dirty="0"/>
              <a:t>Q </a:t>
            </a:r>
            <a:r>
              <a:rPr lang="en-US" sz="2000" dirty="0"/>
              <a:t>⟹</a:t>
            </a:r>
            <a:r>
              <a:rPr lang="en-US" sz="2000" i="1" dirty="0"/>
              <a:t> Q’ </a:t>
            </a:r>
            <a:r>
              <a:rPr lang="en-US" sz="2000" dirty="0"/>
              <a:t>)</a:t>
            </a:r>
            <a:r>
              <a:rPr lang="en-US" sz="2000" i="1" dirty="0"/>
              <a:t>        </a:t>
            </a:r>
            <a:r>
              <a:rPr lang="en-US" sz="2000" dirty="0"/>
              <a:t>⟹</a:t>
            </a:r>
            <a:r>
              <a:rPr lang="en-US" sz="2000" i="1" dirty="0"/>
              <a:t>       </a:t>
            </a:r>
            <a:r>
              <a:rPr lang="en-US" sz="2000" dirty="0"/>
              <a:t>(</a:t>
            </a:r>
            <a:r>
              <a:rPr lang="en-US" sz="2000" b="1" dirty="0">
                <a:solidFill>
                  <a:srgbClr val="0070C0"/>
                </a:solidFill>
              </a:rPr>
              <a:t>wp</a:t>
            </a:r>
            <a:r>
              <a:rPr lang="en-US" sz="2000" dirty="0"/>
              <a:t> </a:t>
            </a:r>
            <a:r>
              <a:rPr lang="en-US" sz="2000" i="1" dirty="0"/>
              <a:t>S</a:t>
            </a:r>
            <a:r>
              <a:rPr lang="en-US" sz="2000" dirty="0"/>
              <a:t> </a:t>
            </a:r>
            <a:r>
              <a:rPr lang="en-US" sz="2000" i="1" dirty="0"/>
              <a:t>Q </a:t>
            </a:r>
            <a:r>
              <a:rPr lang="en-US" sz="2000" dirty="0"/>
              <a:t>⟹ </a:t>
            </a:r>
            <a:r>
              <a:rPr lang="en-US" sz="2000" b="1" dirty="0">
                <a:solidFill>
                  <a:srgbClr val="0070C0"/>
                </a:solidFill>
              </a:rPr>
              <a:t>wp</a:t>
            </a:r>
            <a:r>
              <a:rPr lang="en-US" sz="2000" dirty="0"/>
              <a:t> </a:t>
            </a:r>
            <a:r>
              <a:rPr lang="en-US" sz="2000" i="1" dirty="0"/>
              <a:t>S</a:t>
            </a:r>
            <a:r>
              <a:rPr lang="en-US" sz="2000" dirty="0"/>
              <a:t> </a:t>
            </a:r>
            <a:r>
              <a:rPr lang="en-US" sz="2000" i="1" dirty="0"/>
              <a:t>Q’</a:t>
            </a:r>
            <a:r>
              <a:rPr lang="en-US" sz="2000" dirty="0"/>
              <a:t>)</a:t>
            </a:r>
          </a:p>
          <a:p>
            <a:pPr algn="ctr"/>
            <a:endParaRPr lang="en-US" sz="2000" i="1" dirty="0"/>
          </a:p>
          <a:p>
            <a:pPr algn="ctr"/>
            <a:endParaRPr lang="en-US" sz="2000" i="1" dirty="0"/>
          </a:p>
          <a:p>
            <a:r>
              <a:rPr lang="en-US" i="1" dirty="0"/>
              <a:t>Proof: </a:t>
            </a:r>
            <a:r>
              <a:rPr lang="en-US" dirty="0"/>
              <a:t>We want to show</a:t>
            </a:r>
          </a:p>
          <a:p>
            <a:pPr algn="ctr"/>
            <a:r>
              <a:rPr lang="en-US" i="1" dirty="0"/>
              <a:t>Q </a:t>
            </a:r>
            <a:r>
              <a:rPr lang="en-US" dirty="0"/>
              <a:t>⊆</a:t>
            </a:r>
            <a:r>
              <a:rPr lang="en-US" i="1" dirty="0"/>
              <a:t> Q’         </a:t>
            </a:r>
            <a:r>
              <a:rPr lang="en-US" dirty="0"/>
              <a:t>⟹</a:t>
            </a:r>
            <a:r>
              <a:rPr lang="en-US" i="1" dirty="0"/>
              <a:t>       </a:t>
            </a:r>
            <a:r>
              <a:rPr lang="en-US" b="1" dirty="0">
                <a:solidFill>
                  <a:srgbClr val="0070C0"/>
                </a:solidFill>
              </a:rPr>
              <a:t>wp</a:t>
            </a:r>
            <a:r>
              <a:rPr lang="en-US" dirty="0"/>
              <a:t> </a:t>
            </a:r>
            <a:r>
              <a:rPr lang="en-US" i="1" dirty="0"/>
              <a:t>S</a:t>
            </a:r>
            <a:r>
              <a:rPr lang="en-US" dirty="0"/>
              <a:t> </a:t>
            </a:r>
            <a:r>
              <a:rPr lang="en-US" i="1" dirty="0"/>
              <a:t>Q </a:t>
            </a:r>
            <a:r>
              <a:rPr lang="en-US" dirty="0"/>
              <a:t>⊆ </a:t>
            </a:r>
            <a:r>
              <a:rPr lang="en-US" b="1" dirty="0">
                <a:solidFill>
                  <a:srgbClr val="0070C0"/>
                </a:solidFill>
              </a:rPr>
              <a:t>wp</a:t>
            </a:r>
            <a:r>
              <a:rPr lang="en-US" dirty="0"/>
              <a:t> </a:t>
            </a:r>
            <a:r>
              <a:rPr lang="en-US" i="1" dirty="0"/>
              <a:t>S</a:t>
            </a:r>
            <a:r>
              <a:rPr lang="en-US" dirty="0"/>
              <a:t> </a:t>
            </a:r>
            <a:r>
              <a:rPr lang="en-US" i="1" dirty="0"/>
              <a:t>Q’</a:t>
            </a:r>
          </a:p>
          <a:p>
            <a:r>
              <a:rPr lang="en-US" dirty="0"/>
              <a:t>or equivalently, </a:t>
            </a:r>
          </a:p>
          <a:p>
            <a:pPr algn="ctr"/>
            <a:r>
              <a:rPr lang="en-US" i="1" dirty="0"/>
              <a:t>Q </a:t>
            </a:r>
            <a:r>
              <a:rPr lang="en-US" dirty="0"/>
              <a:t>⊆</a:t>
            </a:r>
            <a:r>
              <a:rPr lang="en-US" i="1" dirty="0"/>
              <a:t> Q’   </a:t>
            </a:r>
            <a:r>
              <a:rPr lang="en-US" dirty="0"/>
              <a:t>⟹</a:t>
            </a:r>
            <a:r>
              <a:rPr lang="en-US" i="1" dirty="0"/>
              <a:t>       S</a:t>
            </a:r>
            <a:r>
              <a:rPr lang="en-US" dirty="0"/>
              <a:t>⁻¹ </a:t>
            </a:r>
            <a:r>
              <a:rPr lang="en-US" i="1" dirty="0"/>
              <a:t>Q </a:t>
            </a:r>
            <a:r>
              <a:rPr lang="en-US" dirty="0"/>
              <a:t>⊆ </a:t>
            </a:r>
            <a:r>
              <a:rPr lang="en-US" i="1" dirty="0"/>
              <a:t>S</a:t>
            </a:r>
            <a:r>
              <a:rPr lang="en-US" dirty="0"/>
              <a:t>⁻¹ </a:t>
            </a:r>
            <a:r>
              <a:rPr lang="en-US" i="1" dirty="0"/>
              <a:t>Q’.</a:t>
            </a:r>
          </a:p>
          <a:p>
            <a:r>
              <a:rPr lang="en-US" dirty="0"/>
              <a:t>Suppose </a:t>
            </a:r>
            <a:r>
              <a:rPr lang="en-US" i="1" dirty="0"/>
              <a:t>Q </a:t>
            </a:r>
            <a:r>
              <a:rPr lang="en-US" dirty="0"/>
              <a:t>⊆</a:t>
            </a:r>
            <a:r>
              <a:rPr lang="en-US" i="1" dirty="0"/>
              <a:t> Q’ . </a:t>
            </a:r>
            <a:r>
              <a:rPr lang="en-US" dirty="0"/>
              <a:t>Consider s ∈ </a:t>
            </a:r>
            <a:r>
              <a:rPr lang="en-US" i="1" dirty="0"/>
              <a:t>S</a:t>
            </a:r>
            <a:r>
              <a:rPr lang="en-US" dirty="0"/>
              <a:t>⁻¹ </a:t>
            </a:r>
            <a:r>
              <a:rPr lang="en-US" i="1" dirty="0"/>
              <a:t>Q </a:t>
            </a:r>
            <a:r>
              <a:rPr lang="en-US" dirty="0"/>
              <a:t>with the goal of showing s ∈ S⁻¹ Q’. </a:t>
            </a:r>
          </a:p>
          <a:p>
            <a:r>
              <a:rPr lang="en-US" dirty="0"/>
              <a:t>	 s ∈ </a:t>
            </a:r>
            <a:r>
              <a:rPr lang="en-US" i="1" dirty="0"/>
              <a:t>S</a:t>
            </a:r>
            <a:r>
              <a:rPr lang="en-US" dirty="0"/>
              <a:t>⁻¹ </a:t>
            </a:r>
            <a:r>
              <a:rPr lang="en-US" i="1" dirty="0"/>
              <a:t>Q</a:t>
            </a:r>
          </a:p>
          <a:p>
            <a:r>
              <a:rPr lang="en-US" i="1" dirty="0"/>
              <a:t>        =	</a:t>
            </a:r>
            <a:r>
              <a:rPr lang="en-US" dirty="0"/>
              <a:t> S s ∈ Q</a:t>
            </a:r>
          </a:p>
          <a:p>
            <a:r>
              <a:rPr lang="en-US" dirty="0"/>
              <a:t>       ⟹	 S s ∈ Q’.</a:t>
            </a:r>
          </a:p>
          <a:p>
            <a:r>
              <a:rPr lang="en-US" dirty="0"/>
              <a:t>        =	 s ∈ </a:t>
            </a:r>
            <a:r>
              <a:rPr lang="en-US" i="1" dirty="0"/>
              <a:t>S</a:t>
            </a:r>
            <a:r>
              <a:rPr lang="en-US" dirty="0"/>
              <a:t>⁻¹ </a:t>
            </a:r>
            <a:r>
              <a:rPr lang="en-US" i="1" dirty="0"/>
              <a:t>Q’. </a:t>
            </a:r>
            <a:endParaRPr lang="en-US" sz="2000" dirty="0"/>
          </a:p>
          <a:p>
            <a:endParaRPr lang="en-US" sz="2000" dirty="0"/>
          </a:p>
        </p:txBody>
      </p:sp>
      <p:sp>
        <p:nvSpPr>
          <p:cNvPr id="12" name="Oval 10">
            <a:extLst>
              <a:ext uri="{FF2B5EF4-FFF2-40B4-BE49-F238E27FC236}">
                <a16:creationId xmlns:a16="http://schemas.microsoft.com/office/drawing/2014/main" id="{EB956E9E-9AF1-5BB7-E748-9F81EC9CED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5723" y="5495309"/>
            <a:ext cx="838200" cy="1002942"/>
          </a:xfrm>
          <a:prstGeom prst="ellipse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/>
              <a:t>Q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Oval 11">
                <a:extLst>
                  <a:ext uri="{FF2B5EF4-FFF2-40B4-BE49-F238E27FC236}">
                    <a16:creationId xmlns:a16="http://schemas.microsoft.com/office/drawing/2014/main" id="{6C412497-B8DD-2DC0-DCB3-0D6BED77B7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9000" y="5367992"/>
                <a:ext cx="838200" cy="1185208"/>
              </a:xfrm>
              <a:prstGeom prst="ellipse">
                <a:avLst/>
              </a:prstGeom>
              <a:solidFill>
                <a:schemeClr val="folHlink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i="1" dirty="0"/>
                  <a:t>S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dirty="0"/>
                  <a:t> Q</a:t>
                </a:r>
              </a:p>
            </p:txBody>
          </p:sp>
        </mc:Choice>
        <mc:Fallback>
          <p:sp>
            <p:nvSpPr>
              <p:cNvPr id="13" name="Oval 11">
                <a:extLst>
                  <a:ext uri="{FF2B5EF4-FFF2-40B4-BE49-F238E27FC236}">
                    <a16:creationId xmlns:a16="http://schemas.microsoft.com/office/drawing/2014/main" id="{6C412497-B8DD-2DC0-DCB3-0D6BED77B7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29000" y="5367992"/>
                <a:ext cx="838200" cy="1185208"/>
              </a:xfrm>
              <a:prstGeom prst="ellipse">
                <a:avLst/>
              </a:prstGeom>
              <a:blipFill>
                <a:blip r:embed="rId3"/>
                <a:stretch>
                  <a:fillRect l="-7576" r="-7576"/>
                </a:stretch>
              </a:blip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DA38ECD-CC3D-D59B-C1B5-68B608A63C47}"/>
              </a:ext>
            </a:extLst>
          </p:cNvPr>
          <p:cNvCxnSpPr>
            <a:cxnSpLocks/>
            <a:stCxn id="13" idx="6"/>
          </p:cNvCxnSpPr>
          <p:nvPr/>
        </p:nvCxnSpPr>
        <p:spPr>
          <a:xfrm>
            <a:off x="4267200" y="5960596"/>
            <a:ext cx="1474839" cy="74305"/>
          </a:xfrm>
          <a:prstGeom prst="straightConnector1">
            <a:avLst/>
          </a:prstGeom>
          <a:ln w="635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5" name="TextBox 39">
            <a:extLst>
              <a:ext uri="{FF2B5EF4-FFF2-40B4-BE49-F238E27FC236}">
                <a16:creationId xmlns:a16="http://schemas.microsoft.com/office/drawing/2014/main" id="{15D7F5D0-591F-9BF2-F57D-A268A71F98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2221" y="5566236"/>
            <a:ext cx="35618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dirty="0"/>
              <a:t>S</a:t>
            </a:r>
            <a:endParaRPr lang="nl-NL" sz="2000" baseline="-25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06CB3A2-1F87-6A6C-4A8F-7A69767FB418}"/>
              </a:ext>
            </a:extLst>
          </p:cNvPr>
          <p:cNvSpPr txBox="1"/>
          <p:nvPr/>
        </p:nvSpPr>
        <p:spPr>
          <a:xfrm>
            <a:off x="6858000" y="5495309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Q’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D62C3E4-544C-01E3-12E8-CDA903C91EAD}"/>
              </a:ext>
            </a:extLst>
          </p:cNvPr>
          <p:cNvSpPr txBox="1"/>
          <p:nvPr/>
        </p:nvSpPr>
        <p:spPr>
          <a:xfrm>
            <a:off x="2354788" y="5396959"/>
            <a:ext cx="8726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/>
              <a:t>S</a:t>
            </a:r>
            <a:r>
              <a:rPr lang="en-US" dirty="0"/>
              <a:t>⁻¹ </a:t>
            </a:r>
            <a:r>
              <a:rPr lang="en-US" i="1" dirty="0"/>
              <a:t>Q’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314424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F96D0-DC12-73E5-6474-11AD63CC1D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7076511F-DA7A-6FBD-686F-6837D6A370F4}"/>
              </a:ext>
            </a:extLst>
          </p:cNvPr>
          <p:cNvSpPr/>
          <p:nvPr/>
        </p:nvSpPr>
        <p:spPr>
          <a:xfrm>
            <a:off x="1025014" y="1185672"/>
            <a:ext cx="7086600" cy="1196975"/>
          </a:xfrm>
          <a:prstGeom prst="roundRect">
            <a:avLst>
              <a:gd name="adj" fmla="val 33084"/>
            </a:avLst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6">
            <a:extLst>
              <a:ext uri="{FF2B5EF4-FFF2-40B4-BE49-F238E27FC236}">
                <a16:creationId xmlns:a16="http://schemas.microsoft.com/office/drawing/2014/main" id="{5DA40967-D4E5-5304-B3C8-D93A867C6E6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4EB083C-93FE-4E85-B166-E6093DD54750}" type="slidenum">
              <a:rPr lang="en-US" altLang="en-US"/>
              <a:pPr>
                <a:defRPr/>
              </a:pPr>
              <a:t>40</a:t>
            </a:fld>
            <a:endParaRPr lang="en-US" altLang="en-US"/>
          </a:p>
        </p:txBody>
      </p:sp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72B651A-F07A-F92F-0C2B-51CA48EC7FAF}"/>
              </a:ext>
            </a:extLst>
          </p:cNvPr>
          <p:cNvSpPr txBox="1">
            <a:spLocks noGrp="1"/>
          </p:cNvSpPr>
          <p:nvPr/>
        </p:nvSpPr>
        <p:spPr bwMode="auto">
          <a:xfrm>
            <a:off x="7010400" y="64008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09F33C3B-7060-4F48-9473-B2F6D96FB77D}" type="slidenum">
              <a:rPr lang="en-US" altLang="en-US" sz="1200">
                <a:latin typeface="+mj-lt"/>
              </a:rPr>
              <a:pPr algn="r">
                <a:defRPr/>
              </a:pPr>
              <a:t>40</a:t>
            </a:fld>
            <a:endParaRPr lang="en-US" altLang="en-US" sz="1200">
              <a:latin typeface="+mj-lt"/>
            </a:endParaRPr>
          </a:p>
        </p:txBody>
      </p:sp>
      <p:sp>
        <p:nvSpPr>
          <p:cNvPr id="17412" name="Rectangle 2">
            <a:extLst>
              <a:ext uri="{FF2B5EF4-FFF2-40B4-BE49-F238E27FC236}">
                <a16:creationId xmlns:a16="http://schemas.microsoft.com/office/drawing/2014/main" id="{87960EF6-CA25-9B31-1E55-24C8E77AF4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SEQ and weakening</a:t>
            </a:r>
          </a:p>
        </p:txBody>
      </p:sp>
      <p:sp>
        <p:nvSpPr>
          <p:cNvPr id="17413" name="Text Box 9">
            <a:extLst>
              <a:ext uri="{FF2B5EF4-FFF2-40B4-BE49-F238E27FC236}">
                <a16:creationId xmlns:a16="http://schemas.microsoft.com/office/drawing/2014/main" id="{8CC2E339-A39A-C02A-181B-393A80DC4E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5014" y="1020266"/>
            <a:ext cx="6781800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400" dirty="0"/>
              <a:t>    </a:t>
            </a:r>
            <a:br>
              <a:rPr lang="en-US" sz="2400" dirty="0"/>
            </a:br>
            <a:r>
              <a:rPr lang="en-US" sz="2400" b="1" dirty="0">
                <a:solidFill>
                  <a:srgbClr val="0070C0"/>
                </a:solidFill>
              </a:rPr>
              <a:t>wp</a:t>
            </a:r>
            <a:r>
              <a:rPr lang="en-US" sz="2400" dirty="0"/>
              <a:t>  (</a:t>
            </a:r>
            <a:r>
              <a:rPr lang="en-US" sz="2400" i="1" dirty="0"/>
              <a:t>S</a:t>
            </a:r>
            <a:r>
              <a:rPr lang="en-US" sz="2400" baseline="-25000" dirty="0"/>
              <a:t>1</a:t>
            </a:r>
            <a:r>
              <a:rPr lang="en-US" sz="2400" dirty="0"/>
              <a:t> ; </a:t>
            </a:r>
            <a:r>
              <a:rPr lang="en-US" sz="2400" i="1" dirty="0"/>
              <a:t>S</a:t>
            </a:r>
            <a:r>
              <a:rPr lang="en-US" sz="2400" baseline="-25000" dirty="0"/>
              <a:t>2</a:t>
            </a:r>
            <a:r>
              <a:rPr lang="en-US" sz="2400" dirty="0"/>
              <a:t>)   </a:t>
            </a:r>
            <a:r>
              <a:rPr lang="en-US" sz="2400" i="1" dirty="0"/>
              <a:t>R</a:t>
            </a:r>
            <a:r>
              <a:rPr lang="en-US" sz="2400" dirty="0"/>
              <a:t>    =     </a:t>
            </a:r>
            <a:r>
              <a:rPr lang="en-US" sz="2400" b="1" dirty="0">
                <a:solidFill>
                  <a:srgbClr val="0070C0"/>
                </a:solidFill>
              </a:rPr>
              <a:t>wp</a:t>
            </a:r>
            <a:r>
              <a:rPr lang="en-US" sz="2400" dirty="0"/>
              <a:t>  </a:t>
            </a:r>
            <a:r>
              <a:rPr lang="en-US" sz="2400" i="1" dirty="0"/>
              <a:t>S</a:t>
            </a:r>
            <a:r>
              <a:rPr lang="en-US" sz="2400" baseline="-25000" dirty="0"/>
              <a:t>1</a:t>
            </a:r>
            <a:r>
              <a:rPr lang="en-US" sz="2400" dirty="0"/>
              <a:t>  (</a:t>
            </a:r>
            <a:r>
              <a:rPr lang="en-US" sz="2400" b="1" dirty="0">
                <a:solidFill>
                  <a:srgbClr val="0070C0"/>
                </a:solidFill>
              </a:rPr>
              <a:t>wp</a:t>
            </a:r>
            <a:r>
              <a:rPr lang="en-US" sz="2400" dirty="0"/>
              <a:t>  </a:t>
            </a:r>
            <a:r>
              <a:rPr lang="en-US" sz="2400" i="1" dirty="0"/>
              <a:t>S</a:t>
            </a:r>
            <a:r>
              <a:rPr lang="en-US" sz="2400" baseline="-25000" dirty="0"/>
              <a:t>2</a:t>
            </a:r>
            <a:r>
              <a:rPr lang="en-US" sz="2400" dirty="0"/>
              <a:t>  </a:t>
            </a:r>
            <a:r>
              <a:rPr lang="en-US" sz="2400" i="1" dirty="0"/>
              <a:t>R</a:t>
            </a:r>
            <a:r>
              <a:rPr lang="en-US" sz="2400" dirty="0"/>
              <a:t>)</a:t>
            </a:r>
          </a:p>
          <a:p>
            <a:pPr algn="ctr"/>
            <a:r>
              <a:rPr lang="en-US" sz="2400" dirty="0"/>
              <a:t>(</a:t>
            </a:r>
            <a:r>
              <a:rPr lang="en-US" sz="2400" i="1" dirty="0"/>
              <a:t>Q </a:t>
            </a:r>
            <a:r>
              <a:rPr lang="en-US" sz="2400" dirty="0"/>
              <a:t>⟹</a:t>
            </a:r>
            <a:r>
              <a:rPr lang="en-US" sz="2400" i="1" dirty="0"/>
              <a:t> Q’ </a:t>
            </a:r>
            <a:r>
              <a:rPr lang="en-US" sz="2400" dirty="0"/>
              <a:t>)</a:t>
            </a:r>
            <a:r>
              <a:rPr lang="en-US" sz="2400" i="1" dirty="0"/>
              <a:t>        </a:t>
            </a:r>
            <a:r>
              <a:rPr lang="en-US" sz="2400" dirty="0"/>
              <a:t>⟹</a:t>
            </a:r>
            <a:r>
              <a:rPr lang="en-US" sz="2400" i="1" dirty="0"/>
              <a:t>       </a:t>
            </a:r>
            <a:r>
              <a:rPr lang="en-US" sz="2400" dirty="0"/>
              <a:t>(</a:t>
            </a:r>
            <a:r>
              <a:rPr lang="en-US" sz="2400" b="1" dirty="0">
                <a:solidFill>
                  <a:srgbClr val="0070C0"/>
                </a:solidFill>
              </a:rPr>
              <a:t>wp</a:t>
            </a:r>
            <a:r>
              <a:rPr lang="en-US" sz="2400" dirty="0"/>
              <a:t> </a:t>
            </a:r>
            <a:r>
              <a:rPr lang="en-US" sz="2400" i="1" dirty="0"/>
              <a:t>S</a:t>
            </a:r>
            <a:r>
              <a:rPr lang="en-US" sz="2400" dirty="0"/>
              <a:t> </a:t>
            </a:r>
            <a:r>
              <a:rPr lang="en-US" sz="2400" i="1" dirty="0"/>
              <a:t>Q </a:t>
            </a:r>
            <a:r>
              <a:rPr lang="en-US" sz="2400" dirty="0"/>
              <a:t>⟹ </a:t>
            </a:r>
            <a:r>
              <a:rPr lang="en-US" sz="2400" b="1" dirty="0">
                <a:solidFill>
                  <a:srgbClr val="0070C0"/>
                </a:solidFill>
              </a:rPr>
              <a:t>wp</a:t>
            </a:r>
            <a:r>
              <a:rPr lang="en-US" sz="2400" dirty="0"/>
              <a:t> </a:t>
            </a:r>
            <a:r>
              <a:rPr lang="en-US" sz="2400" i="1" dirty="0"/>
              <a:t>S</a:t>
            </a:r>
            <a:r>
              <a:rPr lang="en-US" sz="2400" dirty="0"/>
              <a:t> </a:t>
            </a:r>
            <a:r>
              <a:rPr lang="en-US" sz="2400" i="1" dirty="0"/>
              <a:t>Q’</a:t>
            </a:r>
            <a:r>
              <a:rPr lang="en-US" sz="2400" dirty="0"/>
              <a:t>)</a:t>
            </a:r>
          </a:p>
          <a:p>
            <a:pPr algn="ctr"/>
            <a:endParaRPr lang="en-US" sz="2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3630A98-CA02-9538-AC49-D7A585C9674A}"/>
              </a:ext>
            </a:extLst>
          </p:cNvPr>
          <p:cNvSpPr txBox="1"/>
          <p:nvPr/>
        </p:nvSpPr>
        <p:spPr>
          <a:xfrm>
            <a:off x="235207" y="2601170"/>
            <a:ext cx="842133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Pretend we don’t already know the inference rule below.</a:t>
            </a:r>
          </a:p>
          <a:p>
            <a:r>
              <a:rPr lang="en-US" dirty="0"/>
              <a:t>Consider P, S, Q, T, R satisfying its hypotheses.</a:t>
            </a:r>
          </a:p>
          <a:p>
            <a:r>
              <a:rPr lang="en-US" dirty="0"/>
              <a:t>Then Q ⟹ </a:t>
            </a:r>
            <a:r>
              <a:rPr lang="en-US" b="1" dirty="0">
                <a:solidFill>
                  <a:srgbClr val="0070C0"/>
                </a:solidFill>
              </a:rPr>
              <a:t>wp</a:t>
            </a:r>
            <a:r>
              <a:rPr lang="en-US" dirty="0"/>
              <a:t>  </a:t>
            </a:r>
            <a:r>
              <a:rPr lang="en-US" i="1" dirty="0"/>
              <a:t>S</a:t>
            </a:r>
            <a:r>
              <a:rPr lang="en-US" baseline="-25000" dirty="0"/>
              <a:t>2</a:t>
            </a:r>
            <a:r>
              <a:rPr lang="en-US" dirty="0"/>
              <a:t>  </a:t>
            </a:r>
            <a:r>
              <a:rPr lang="en-US" i="1" dirty="0"/>
              <a:t>R </a:t>
            </a:r>
            <a:r>
              <a:rPr lang="en-US" dirty="0"/>
              <a:t>so </a:t>
            </a:r>
            <a:r>
              <a:rPr lang="en-US" b="1" dirty="0">
                <a:solidFill>
                  <a:srgbClr val="0070C0"/>
                </a:solidFill>
              </a:rPr>
              <a:t>wp</a:t>
            </a:r>
            <a:r>
              <a:rPr lang="en-US" dirty="0"/>
              <a:t> </a:t>
            </a:r>
            <a:r>
              <a:rPr lang="en-US" i="1" dirty="0"/>
              <a:t>S</a:t>
            </a:r>
            <a:r>
              <a:rPr lang="en-US" baseline="-25000" dirty="0"/>
              <a:t>1</a:t>
            </a:r>
            <a:r>
              <a:rPr lang="en-US" dirty="0"/>
              <a:t> </a:t>
            </a:r>
            <a:r>
              <a:rPr lang="en-US" i="1" dirty="0"/>
              <a:t>Q </a:t>
            </a:r>
            <a:r>
              <a:rPr lang="en-US" dirty="0"/>
              <a:t>⟹ </a:t>
            </a:r>
            <a:r>
              <a:rPr lang="en-US" b="1" dirty="0">
                <a:solidFill>
                  <a:srgbClr val="0070C0"/>
                </a:solidFill>
              </a:rPr>
              <a:t>wp </a:t>
            </a:r>
            <a:r>
              <a:rPr lang="en-US" i="1" dirty="0"/>
              <a:t>S</a:t>
            </a:r>
            <a:r>
              <a:rPr lang="en-US" baseline="-25000" dirty="0"/>
              <a:t>1</a:t>
            </a:r>
            <a:r>
              <a:rPr lang="en-US" dirty="0"/>
              <a:t>  (</a:t>
            </a:r>
            <a:r>
              <a:rPr lang="en-US" b="1" dirty="0">
                <a:solidFill>
                  <a:srgbClr val="0070C0"/>
                </a:solidFill>
              </a:rPr>
              <a:t>wp</a:t>
            </a:r>
            <a:r>
              <a:rPr lang="en-US" dirty="0"/>
              <a:t>  </a:t>
            </a:r>
            <a:r>
              <a:rPr lang="en-US" i="1" dirty="0"/>
              <a:t>S</a:t>
            </a:r>
            <a:r>
              <a:rPr lang="en-US" baseline="-25000" dirty="0"/>
              <a:t>2</a:t>
            </a:r>
            <a:r>
              <a:rPr lang="en-US" dirty="0"/>
              <a:t>  </a:t>
            </a:r>
            <a:r>
              <a:rPr lang="en-US" i="1" dirty="0"/>
              <a:t>R</a:t>
            </a:r>
            <a:r>
              <a:rPr lang="en-US" dirty="0"/>
              <a:t>) (by weakening).</a:t>
            </a:r>
          </a:p>
          <a:p>
            <a:r>
              <a:rPr lang="en-US" dirty="0"/>
              <a:t>But P ⟹</a:t>
            </a:r>
            <a:r>
              <a:rPr lang="en-US" b="1" dirty="0">
                <a:solidFill>
                  <a:srgbClr val="0070C0"/>
                </a:solidFill>
              </a:rPr>
              <a:t> wp</a:t>
            </a:r>
            <a:r>
              <a:rPr lang="en-US" dirty="0"/>
              <a:t> </a:t>
            </a:r>
            <a:r>
              <a:rPr lang="en-US" i="1" dirty="0"/>
              <a:t>S</a:t>
            </a:r>
            <a:r>
              <a:rPr lang="en-US" baseline="-25000" dirty="0"/>
              <a:t>1</a:t>
            </a:r>
            <a:r>
              <a:rPr lang="en-US" dirty="0"/>
              <a:t> </a:t>
            </a:r>
            <a:r>
              <a:rPr lang="en-US" i="1" dirty="0"/>
              <a:t>Q</a:t>
            </a:r>
            <a:r>
              <a:rPr lang="en-US" dirty="0"/>
              <a:t> ⟹ </a:t>
            </a:r>
            <a:r>
              <a:rPr lang="en-US" b="1" dirty="0">
                <a:solidFill>
                  <a:srgbClr val="0070C0"/>
                </a:solidFill>
              </a:rPr>
              <a:t>wp </a:t>
            </a:r>
            <a:r>
              <a:rPr lang="en-US" i="1" dirty="0"/>
              <a:t>S</a:t>
            </a:r>
            <a:r>
              <a:rPr lang="en-US" baseline="-25000" dirty="0"/>
              <a:t>1</a:t>
            </a:r>
            <a:r>
              <a:rPr lang="en-US" dirty="0"/>
              <a:t>  (</a:t>
            </a:r>
            <a:r>
              <a:rPr lang="en-US" b="1" dirty="0">
                <a:solidFill>
                  <a:srgbClr val="0070C0"/>
                </a:solidFill>
              </a:rPr>
              <a:t>wp</a:t>
            </a:r>
            <a:r>
              <a:rPr lang="en-US" dirty="0"/>
              <a:t>  </a:t>
            </a:r>
            <a:r>
              <a:rPr lang="en-US" i="1" dirty="0"/>
              <a:t>S</a:t>
            </a:r>
            <a:r>
              <a:rPr lang="en-US" baseline="-25000" dirty="0"/>
              <a:t>2</a:t>
            </a:r>
            <a:r>
              <a:rPr lang="en-US" dirty="0"/>
              <a:t>  </a:t>
            </a:r>
            <a:r>
              <a:rPr lang="en-US" i="1" dirty="0"/>
              <a:t>R</a:t>
            </a:r>
            <a:r>
              <a:rPr lang="en-US" dirty="0"/>
              <a:t>) = </a:t>
            </a:r>
            <a:r>
              <a:rPr lang="en-US" b="1" dirty="0">
                <a:solidFill>
                  <a:srgbClr val="0070C0"/>
                </a:solidFill>
              </a:rPr>
              <a:t>wp</a:t>
            </a:r>
            <a:r>
              <a:rPr lang="en-US" dirty="0"/>
              <a:t>  (</a:t>
            </a:r>
            <a:r>
              <a:rPr lang="en-US" i="1" dirty="0"/>
              <a:t>S</a:t>
            </a:r>
            <a:r>
              <a:rPr lang="en-US" baseline="-25000" dirty="0"/>
              <a:t>1</a:t>
            </a:r>
            <a:r>
              <a:rPr lang="en-US" dirty="0"/>
              <a:t> ; </a:t>
            </a:r>
            <a:r>
              <a:rPr lang="en-US" i="1" dirty="0"/>
              <a:t>S</a:t>
            </a:r>
            <a:r>
              <a:rPr lang="en-US" baseline="-25000" dirty="0"/>
              <a:t>2</a:t>
            </a:r>
            <a:r>
              <a:rPr lang="en-US" dirty="0"/>
              <a:t>)   </a:t>
            </a:r>
            <a:r>
              <a:rPr lang="en-US" i="1" dirty="0"/>
              <a:t>R.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/>
              <a:t>Therefore, if we didn’t already know the inference rule SEQ, we could conclude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824C645-31B4-490F-BDD6-55DC33AA92CF}"/>
              </a:ext>
            </a:extLst>
          </p:cNvPr>
          <p:cNvSpPr/>
          <p:nvPr/>
        </p:nvSpPr>
        <p:spPr>
          <a:xfrm>
            <a:off x="902572" y="4724400"/>
            <a:ext cx="7086600" cy="1676400"/>
          </a:xfrm>
          <a:prstGeom prst="roundRect">
            <a:avLst>
              <a:gd name="adj" fmla="val 36417"/>
            </a:avLst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Box 24">
            <a:extLst>
              <a:ext uri="{FF2B5EF4-FFF2-40B4-BE49-F238E27FC236}">
                <a16:creationId xmlns:a16="http://schemas.microsoft.com/office/drawing/2014/main" id="{6E378D66-9974-1F71-86D6-0A5FEB1228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4972" y="4962525"/>
            <a:ext cx="70231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dirty="0"/>
              <a:t>    {* </a:t>
            </a:r>
            <a:r>
              <a:rPr lang="en-US" sz="2400" i="1" dirty="0"/>
              <a:t>P</a:t>
            </a:r>
            <a:r>
              <a:rPr lang="en-US" sz="2400" dirty="0"/>
              <a:t> *}   </a:t>
            </a:r>
            <a:r>
              <a:rPr lang="en-US" sz="2400" dirty="0">
                <a:latin typeface="Andale Mono" panose="020B0509000000000004" pitchFamily="49" charset="0"/>
              </a:rPr>
              <a:t>S</a:t>
            </a:r>
            <a:r>
              <a:rPr lang="en-US" sz="2400" dirty="0"/>
              <a:t>   {* </a:t>
            </a:r>
            <a:r>
              <a:rPr lang="en-US" sz="2400" i="1" dirty="0"/>
              <a:t>Q</a:t>
            </a:r>
            <a:r>
              <a:rPr lang="en-US" sz="2400" dirty="0"/>
              <a:t> *}            {* </a:t>
            </a:r>
            <a:r>
              <a:rPr lang="en-US" sz="2400" i="1" dirty="0"/>
              <a:t>Q</a:t>
            </a:r>
            <a:r>
              <a:rPr lang="en-US" sz="2400" dirty="0"/>
              <a:t> *}   </a:t>
            </a:r>
            <a:r>
              <a:rPr lang="en-US" sz="2400" dirty="0">
                <a:latin typeface="Andale Mono" panose="020B0509000000000004" pitchFamily="49" charset="0"/>
              </a:rPr>
              <a:t>T</a:t>
            </a:r>
            <a:r>
              <a:rPr lang="en-US" sz="2400" dirty="0"/>
              <a:t>   {* </a:t>
            </a:r>
            <a:r>
              <a:rPr lang="en-US" sz="2400" i="1" dirty="0"/>
              <a:t>R</a:t>
            </a:r>
            <a:r>
              <a:rPr lang="en-US" sz="2400" dirty="0"/>
              <a:t> *}</a:t>
            </a:r>
          </a:p>
          <a:p>
            <a:r>
              <a:rPr lang="en-US" sz="2400" dirty="0"/>
              <a:t>-----------------------------------------------------------------  </a:t>
            </a:r>
          </a:p>
          <a:p>
            <a:r>
              <a:rPr lang="en-US" sz="2400" dirty="0"/>
              <a:t>                    {* </a:t>
            </a:r>
            <a:r>
              <a:rPr lang="en-US" sz="2400" i="1" dirty="0"/>
              <a:t>P</a:t>
            </a:r>
            <a:r>
              <a:rPr lang="en-US" sz="2400" dirty="0"/>
              <a:t> *}   </a:t>
            </a:r>
            <a:r>
              <a:rPr lang="en-US" sz="2400" dirty="0">
                <a:latin typeface="Andale Mono" panose="020B0509000000000004" pitchFamily="49" charset="0"/>
              </a:rPr>
              <a:t>S </a:t>
            </a:r>
            <a:r>
              <a:rPr lang="en-US" sz="2400" b="1" dirty="0">
                <a:solidFill>
                  <a:srgbClr val="C00000"/>
                </a:solidFill>
                <a:latin typeface="Andale Mono" panose="020B0509000000000004" pitchFamily="49" charset="0"/>
              </a:rPr>
              <a:t>;</a:t>
            </a:r>
            <a:r>
              <a:rPr lang="en-US" sz="2400" dirty="0">
                <a:latin typeface="Andale Mono" panose="020B0509000000000004" pitchFamily="49" charset="0"/>
              </a:rPr>
              <a:t> T </a:t>
            </a:r>
            <a:r>
              <a:rPr lang="en-US" sz="2400" dirty="0"/>
              <a:t>{* </a:t>
            </a:r>
            <a:r>
              <a:rPr lang="en-US" sz="2400" i="1" dirty="0"/>
              <a:t>R</a:t>
            </a:r>
            <a:r>
              <a:rPr lang="en-US" sz="2400" dirty="0"/>
              <a:t> *}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5DDAA7-BE0A-3E18-B9A2-945B18054C2E}"/>
              </a:ext>
            </a:extLst>
          </p:cNvPr>
          <p:cNvSpPr txBox="1"/>
          <p:nvPr/>
        </p:nvSpPr>
        <p:spPr>
          <a:xfrm>
            <a:off x="8180439" y="5377934"/>
            <a:ext cx="68580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Andale Mono" panose="020B0509000000000004" pitchFamily="49" charset="0"/>
              </a:rPr>
              <a:t>SEQ</a:t>
            </a:r>
          </a:p>
          <a:p>
            <a:r>
              <a:rPr lang="en-US" sz="900">
                <a:latin typeface="Andale Mono" panose="020B0509000000000004" pitchFamily="49" charset="0"/>
              </a:rPr>
              <a:t>(B.1.6)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313D82-91A6-A4AA-5CAC-E3487892545E}"/>
              </a:ext>
            </a:extLst>
          </p:cNvPr>
          <p:cNvSpPr txBox="1"/>
          <p:nvPr/>
        </p:nvSpPr>
        <p:spPr>
          <a:xfrm rot="16200000">
            <a:off x="267997" y="1563451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Recall:</a:t>
            </a:r>
          </a:p>
        </p:txBody>
      </p:sp>
    </p:spTree>
    <p:extLst>
      <p:ext uri="{BB962C8B-B14F-4D97-AF65-F5344CB8AC3E}">
        <p14:creationId xmlns:p14="http://schemas.microsoft.com/office/powerpoint/2010/main" val="309106874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95ED4D65-90BB-4F4B-8476-2D3D5395AA64}"/>
              </a:ext>
            </a:extLst>
          </p:cNvPr>
          <p:cNvSpPr/>
          <p:nvPr/>
        </p:nvSpPr>
        <p:spPr>
          <a:xfrm>
            <a:off x="304800" y="1306512"/>
            <a:ext cx="8458200" cy="1196975"/>
          </a:xfrm>
          <a:prstGeom prst="roundRect">
            <a:avLst>
              <a:gd name="adj" fmla="val 33084"/>
            </a:avLst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CDAA6B-A73A-4D75-B649-32B045574DF9}" type="slidenum">
              <a:rPr lang="en-US" altLang="en-US"/>
              <a:pPr>
                <a:defRPr/>
              </a:pPr>
              <a:t>41</a:t>
            </a:fld>
            <a:endParaRPr lang="en-US" altLang="en-US"/>
          </a:p>
        </p:txBody>
      </p:sp>
      <p:sp>
        <p:nvSpPr>
          <p:cNvPr id="9" name="Slide Number Placeholder 2"/>
          <p:cNvSpPr txBox="1">
            <a:spLocks noGrp="1"/>
          </p:cNvSpPr>
          <p:nvPr/>
        </p:nvSpPr>
        <p:spPr bwMode="auto">
          <a:xfrm>
            <a:off x="7010400" y="64008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554DAFB5-21FD-4E15-AB4B-540EB192066B}" type="slidenum">
              <a:rPr lang="en-US" altLang="en-US" sz="1200">
                <a:latin typeface="+mj-lt"/>
              </a:rPr>
              <a:pPr algn="r">
                <a:defRPr/>
              </a:pPr>
              <a:t>41</a:t>
            </a:fld>
            <a:endParaRPr lang="en-US" altLang="en-US" sz="1200">
              <a:latin typeface="+mj-lt"/>
            </a:endParaRPr>
          </a:p>
        </p:txBody>
      </p:sp>
      <p:sp>
        <p:nvSpPr>
          <p:cNvPr id="1843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wp of IF</a:t>
            </a:r>
          </a:p>
        </p:txBody>
      </p:sp>
      <p:sp>
        <p:nvSpPr>
          <p:cNvPr id="18437" name="Text Box 9"/>
          <p:cNvSpPr txBox="1">
            <a:spLocks noChangeArrowheads="1"/>
          </p:cNvSpPr>
          <p:nvPr/>
        </p:nvSpPr>
        <p:spPr bwMode="auto">
          <a:xfrm>
            <a:off x="152400" y="1371600"/>
            <a:ext cx="8839200" cy="101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000" dirty="0"/>
              <a:t>    </a:t>
            </a:r>
            <a:br>
              <a:rPr lang="en-US" sz="2000" dirty="0"/>
            </a:br>
            <a:r>
              <a:rPr lang="en-US" sz="2000" b="1" dirty="0">
                <a:solidFill>
                  <a:srgbClr val="0070C0"/>
                </a:solidFill>
              </a:rPr>
              <a:t>wp</a:t>
            </a:r>
            <a:r>
              <a:rPr lang="en-US" sz="2000" dirty="0"/>
              <a:t> (</a:t>
            </a:r>
            <a:r>
              <a:rPr lang="en-US" sz="2000" b="1" dirty="0"/>
              <a:t>if</a:t>
            </a:r>
            <a:r>
              <a:rPr lang="en-US" sz="2000" dirty="0"/>
              <a:t> </a:t>
            </a:r>
            <a:r>
              <a:rPr lang="en-US" sz="2000" i="1" dirty="0"/>
              <a:t>g</a:t>
            </a:r>
            <a:r>
              <a:rPr lang="en-US" sz="2000" dirty="0"/>
              <a:t> </a:t>
            </a:r>
            <a:r>
              <a:rPr lang="en-US" sz="2000" b="1" dirty="0"/>
              <a:t>then</a:t>
            </a:r>
            <a:r>
              <a:rPr lang="en-US" sz="2000" dirty="0"/>
              <a:t> </a:t>
            </a:r>
            <a:r>
              <a:rPr lang="en-US" sz="2000" i="1" dirty="0"/>
              <a:t>S</a:t>
            </a:r>
            <a:r>
              <a:rPr lang="en-US" sz="2000" baseline="-25000" dirty="0"/>
              <a:t>1</a:t>
            </a:r>
            <a:r>
              <a:rPr lang="en-US" sz="2000" dirty="0"/>
              <a:t> </a:t>
            </a:r>
            <a:r>
              <a:rPr lang="en-US" sz="2000" b="1" dirty="0"/>
              <a:t>else</a:t>
            </a:r>
            <a:r>
              <a:rPr lang="en-US" sz="2000" dirty="0"/>
              <a:t> </a:t>
            </a:r>
            <a:r>
              <a:rPr lang="en-US" sz="2000" i="1" dirty="0"/>
              <a:t>S</a:t>
            </a:r>
            <a:r>
              <a:rPr lang="en-US" sz="2000" baseline="-25000" dirty="0"/>
              <a:t>2</a:t>
            </a:r>
            <a:r>
              <a:rPr lang="en-US" sz="2000" dirty="0"/>
              <a:t>) </a:t>
            </a:r>
            <a:r>
              <a:rPr lang="en-US" sz="2000" i="1" dirty="0"/>
              <a:t>Q</a:t>
            </a:r>
            <a:r>
              <a:rPr lang="en-US" sz="2000" dirty="0"/>
              <a:t>    =    (</a:t>
            </a:r>
            <a:r>
              <a:rPr lang="en-US" sz="2000" i="1" dirty="0"/>
              <a:t>g</a:t>
            </a:r>
            <a:r>
              <a:rPr lang="en-US" sz="2000" dirty="0"/>
              <a:t> ∧</a:t>
            </a:r>
            <a:r>
              <a:rPr lang="en-US" sz="2000" dirty="0">
                <a:sym typeface="Symbol" pitchFamily="16" charset="2"/>
              </a:rPr>
              <a:t> </a:t>
            </a:r>
            <a:r>
              <a:rPr lang="en-US" sz="2000" b="1" dirty="0">
                <a:solidFill>
                  <a:srgbClr val="0070C0"/>
                </a:solidFill>
              </a:rPr>
              <a:t>wp</a:t>
            </a:r>
            <a:r>
              <a:rPr lang="en-US" sz="2000" dirty="0"/>
              <a:t> </a:t>
            </a:r>
            <a:r>
              <a:rPr lang="en-US" sz="2000" i="1" dirty="0"/>
              <a:t>S</a:t>
            </a:r>
            <a:r>
              <a:rPr lang="en-US" sz="2000" baseline="-25000" dirty="0"/>
              <a:t>1</a:t>
            </a:r>
            <a:r>
              <a:rPr lang="en-US" sz="2000" dirty="0"/>
              <a:t> </a:t>
            </a:r>
            <a:r>
              <a:rPr lang="en-US" sz="2000" i="1" dirty="0"/>
              <a:t>Q</a:t>
            </a:r>
            <a:r>
              <a:rPr lang="en-US" sz="2000" dirty="0"/>
              <a:t>) ∨ (</a:t>
            </a:r>
            <a:r>
              <a:rPr lang="en-US" sz="2000" dirty="0">
                <a:sym typeface="Symbol" pitchFamily="16" charset="2"/>
              </a:rPr>
              <a:t></a:t>
            </a:r>
            <a:r>
              <a:rPr lang="en-US" sz="2000" i="1" dirty="0">
                <a:sym typeface="Symbol" pitchFamily="16" charset="2"/>
              </a:rPr>
              <a:t>g</a:t>
            </a:r>
            <a:r>
              <a:rPr lang="en-US" sz="2000" dirty="0">
                <a:sym typeface="Symbol" pitchFamily="16" charset="2"/>
              </a:rPr>
              <a:t> </a:t>
            </a:r>
            <a:r>
              <a:rPr lang="en-US" sz="2000" dirty="0"/>
              <a:t>∧</a:t>
            </a:r>
            <a:r>
              <a:rPr lang="en-US" sz="2000" dirty="0">
                <a:sym typeface="Symbol" pitchFamily="16" charset="2"/>
              </a:rPr>
              <a:t> </a:t>
            </a:r>
            <a:r>
              <a:rPr lang="en-US" sz="2000" b="1" dirty="0">
                <a:solidFill>
                  <a:srgbClr val="0070C0"/>
                </a:solidFill>
                <a:sym typeface="Symbol" pitchFamily="16" charset="2"/>
              </a:rPr>
              <a:t>wp</a:t>
            </a:r>
            <a:r>
              <a:rPr lang="en-US" sz="2000" dirty="0"/>
              <a:t> </a:t>
            </a:r>
            <a:r>
              <a:rPr lang="en-US" sz="2000" i="1" dirty="0"/>
              <a:t>S</a:t>
            </a:r>
            <a:r>
              <a:rPr lang="en-US" sz="2000" baseline="-25000" dirty="0"/>
              <a:t>2</a:t>
            </a:r>
            <a:r>
              <a:rPr lang="en-US" sz="2000" dirty="0"/>
              <a:t> </a:t>
            </a:r>
            <a:r>
              <a:rPr lang="en-US" sz="2000" i="1" dirty="0"/>
              <a:t>Q</a:t>
            </a:r>
            <a:r>
              <a:rPr lang="en-US" sz="2000" dirty="0"/>
              <a:t>)</a:t>
            </a:r>
          </a:p>
          <a:p>
            <a:pPr algn="ctr"/>
            <a:endParaRPr lang="en-US" sz="2000" dirty="0"/>
          </a:p>
        </p:txBody>
      </p:sp>
      <p:sp>
        <p:nvSpPr>
          <p:cNvPr id="18438" name="Oval 10"/>
          <p:cNvSpPr>
            <a:spLocks noChangeArrowheads="1"/>
          </p:cNvSpPr>
          <p:nvPr/>
        </p:nvSpPr>
        <p:spPr bwMode="auto">
          <a:xfrm>
            <a:off x="8177784" y="3828415"/>
            <a:ext cx="838200" cy="1371600"/>
          </a:xfrm>
          <a:prstGeom prst="ellipse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/>
              <a:t>Q</a:t>
            </a:r>
          </a:p>
        </p:txBody>
      </p:sp>
      <p:sp>
        <p:nvSpPr>
          <p:cNvPr id="41997" name="Oval 13"/>
          <p:cNvSpPr>
            <a:spLocks noChangeArrowheads="1"/>
          </p:cNvSpPr>
          <p:nvPr/>
        </p:nvSpPr>
        <p:spPr bwMode="auto">
          <a:xfrm>
            <a:off x="5175249" y="2784951"/>
            <a:ext cx="1593850" cy="2703513"/>
          </a:xfrm>
          <a:prstGeom prst="ellipse">
            <a:avLst/>
          </a:prstGeom>
          <a:solidFill>
            <a:schemeClr val="folHlink">
              <a:alpha val="61000"/>
            </a:schemeClr>
          </a:solidFill>
          <a:ln w="19050">
            <a:solidFill>
              <a:schemeClr val="accent1">
                <a:lumMod val="50000"/>
              </a:schemeClr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 dirty="0"/>
          </a:p>
        </p:txBody>
      </p:sp>
      <p:cxnSp>
        <p:nvCxnSpPr>
          <p:cNvPr id="11" name="Straight Arrow Connector 10"/>
          <p:cNvCxnSpPr>
            <a:cxnSpLocks/>
            <a:endCxn id="18438" idx="3"/>
          </p:cNvCxnSpPr>
          <p:nvPr/>
        </p:nvCxnSpPr>
        <p:spPr>
          <a:xfrm flipV="1">
            <a:off x="6614669" y="4999149"/>
            <a:ext cx="1685867" cy="13771"/>
          </a:xfrm>
          <a:prstGeom prst="straightConnector1">
            <a:avLst/>
          </a:prstGeom>
          <a:ln w="635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cxnSpLocks/>
            <a:stCxn id="41997" idx="6"/>
            <a:endCxn id="18438" idx="1"/>
          </p:cNvCxnSpPr>
          <p:nvPr/>
        </p:nvCxnSpPr>
        <p:spPr>
          <a:xfrm flipV="1">
            <a:off x="6769099" y="4029281"/>
            <a:ext cx="1531437" cy="107427"/>
          </a:xfrm>
          <a:prstGeom prst="straightConnector1">
            <a:avLst/>
          </a:prstGeom>
          <a:ln w="635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8445" name="TextBox 39"/>
          <p:cNvSpPr txBox="1">
            <a:spLocks noChangeArrowheads="1"/>
          </p:cNvSpPr>
          <p:nvPr/>
        </p:nvSpPr>
        <p:spPr bwMode="auto">
          <a:xfrm>
            <a:off x="7263384" y="4971415"/>
            <a:ext cx="45085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/>
              <a:t>S</a:t>
            </a:r>
            <a:r>
              <a:rPr lang="en-US" sz="2000" baseline="-25000"/>
              <a:t>2</a:t>
            </a:r>
            <a:endParaRPr lang="nl-NL" sz="2000" baseline="-25000"/>
          </a:p>
        </p:txBody>
      </p:sp>
      <p:sp>
        <p:nvSpPr>
          <p:cNvPr id="18446" name="TextBox 40"/>
          <p:cNvSpPr txBox="1">
            <a:spLocks noChangeArrowheads="1"/>
          </p:cNvSpPr>
          <p:nvPr/>
        </p:nvSpPr>
        <p:spPr bwMode="auto">
          <a:xfrm>
            <a:off x="7339584" y="3447415"/>
            <a:ext cx="45085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/>
              <a:t>S</a:t>
            </a:r>
            <a:r>
              <a:rPr lang="en-US" sz="2000" baseline="-25000"/>
              <a:t>1</a:t>
            </a:r>
            <a:endParaRPr lang="nl-NL" sz="2000" baseline="-25000"/>
          </a:p>
        </p:txBody>
      </p:sp>
      <p:cxnSp>
        <p:nvCxnSpPr>
          <p:cNvPr id="43" name="Straight Connector 42"/>
          <p:cNvCxnSpPr>
            <a:cxnSpLocks/>
          </p:cNvCxnSpPr>
          <p:nvPr/>
        </p:nvCxnSpPr>
        <p:spPr>
          <a:xfrm flipH="1">
            <a:off x="4769751" y="4204316"/>
            <a:ext cx="2493633" cy="952710"/>
          </a:xfrm>
          <a:prstGeom prst="line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48" name="TextBox 43"/>
          <p:cNvSpPr txBox="1">
            <a:spLocks noChangeArrowheads="1"/>
          </p:cNvSpPr>
          <p:nvPr/>
        </p:nvSpPr>
        <p:spPr bwMode="auto">
          <a:xfrm>
            <a:off x="4830842" y="4505803"/>
            <a:ext cx="3270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</a:rPr>
              <a:t>g</a:t>
            </a:r>
            <a:endParaRPr lang="nl-NL" sz="2000" dirty="0">
              <a:solidFill>
                <a:srgbClr val="C00000"/>
              </a:solidFill>
            </a:endParaRPr>
          </a:p>
        </p:txBody>
      </p:sp>
      <p:sp>
        <p:nvSpPr>
          <p:cNvPr id="18449" name="TextBox 44"/>
          <p:cNvSpPr txBox="1">
            <a:spLocks noChangeArrowheads="1"/>
          </p:cNvSpPr>
          <p:nvPr/>
        </p:nvSpPr>
        <p:spPr bwMode="auto">
          <a:xfrm>
            <a:off x="4963809" y="5006034"/>
            <a:ext cx="519113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  <a:sym typeface="Symbol" pitchFamily="16" charset="2"/>
              </a:rPr>
              <a:t></a:t>
            </a:r>
            <a:r>
              <a:rPr lang="en-US" sz="2000" dirty="0">
                <a:solidFill>
                  <a:srgbClr val="C00000"/>
                </a:solidFill>
              </a:rPr>
              <a:t>g</a:t>
            </a:r>
            <a:endParaRPr lang="nl-NL" sz="200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6161902-3188-6CB7-30A4-A5DCC250A178}"/>
                  </a:ext>
                </a:extLst>
              </p:cNvPr>
              <p:cNvSpPr txBox="1"/>
              <p:nvPr/>
            </p:nvSpPr>
            <p:spPr>
              <a:xfrm>
                <a:off x="414908" y="2692400"/>
                <a:ext cx="4791076" cy="48013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i="1" dirty="0"/>
                  <a:t>Proof: </a:t>
                </a:r>
                <a:r>
                  <a:rPr lang="en-US" dirty="0"/>
                  <a:t>As a function, </a:t>
                </a:r>
                <a:r>
                  <a:rPr lang="en-US" b="1" dirty="0"/>
                  <a:t>if</a:t>
                </a:r>
                <a:r>
                  <a:rPr lang="en-US" dirty="0"/>
                  <a:t> </a:t>
                </a:r>
                <a:r>
                  <a:rPr lang="en-US" i="1" dirty="0"/>
                  <a:t>g</a:t>
                </a:r>
                <a:r>
                  <a:rPr lang="en-US" dirty="0"/>
                  <a:t> </a:t>
                </a:r>
                <a:r>
                  <a:rPr lang="en-US" b="1" dirty="0"/>
                  <a:t>then</a:t>
                </a:r>
                <a:r>
                  <a:rPr lang="en-US" dirty="0"/>
                  <a:t> </a:t>
                </a:r>
                <a:r>
                  <a:rPr lang="en-US" i="1" dirty="0"/>
                  <a:t>S</a:t>
                </a:r>
                <a:r>
                  <a:rPr lang="en-US" baseline="-25000" dirty="0"/>
                  <a:t>1</a:t>
                </a:r>
                <a:r>
                  <a:rPr lang="en-US" dirty="0"/>
                  <a:t> </a:t>
                </a:r>
                <a:r>
                  <a:rPr lang="en-US" b="1" dirty="0"/>
                  <a:t>else</a:t>
                </a:r>
                <a:r>
                  <a:rPr lang="en-US" dirty="0"/>
                  <a:t> </a:t>
                </a:r>
                <a:r>
                  <a:rPr lang="en-US" i="1" dirty="0"/>
                  <a:t>S</a:t>
                </a:r>
                <a:r>
                  <a:rPr lang="en-US" baseline="-25000" dirty="0"/>
                  <a:t>2</a:t>
                </a:r>
                <a:r>
                  <a:rPr lang="en-US" i="1" baseline="-25000" dirty="0"/>
                  <a:t> </a:t>
                </a:r>
                <a:r>
                  <a:rPr lang="en-US" dirty="0"/>
                  <a:t>does the following to a state s:</a:t>
                </a:r>
              </a:p>
              <a:p>
                <a:endParaRPr lang="en-US" dirty="0"/>
              </a:p>
              <a:p>
                <a:r>
                  <a:rPr lang="en-US" dirty="0"/>
                  <a:t>  (</a:t>
                </a:r>
                <a:r>
                  <a:rPr lang="en-US" b="1" dirty="0"/>
                  <a:t>if</a:t>
                </a:r>
                <a:r>
                  <a:rPr lang="en-US" dirty="0"/>
                  <a:t> </a:t>
                </a:r>
                <a:r>
                  <a:rPr lang="en-US" i="1" dirty="0"/>
                  <a:t>g</a:t>
                </a:r>
                <a:r>
                  <a:rPr lang="en-US" dirty="0"/>
                  <a:t> </a:t>
                </a:r>
                <a:r>
                  <a:rPr lang="en-US" b="1" dirty="0"/>
                  <a:t>then</a:t>
                </a:r>
                <a:r>
                  <a:rPr lang="en-US" dirty="0"/>
                  <a:t> </a:t>
                </a:r>
                <a:r>
                  <a:rPr lang="en-US" i="1" dirty="0"/>
                  <a:t>S</a:t>
                </a:r>
                <a:r>
                  <a:rPr lang="en-US" baseline="-25000" dirty="0"/>
                  <a:t>1</a:t>
                </a:r>
                <a:r>
                  <a:rPr lang="en-US" dirty="0"/>
                  <a:t> </a:t>
                </a:r>
                <a:r>
                  <a:rPr lang="en-US" b="1" dirty="0"/>
                  <a:t>else</a:t>
                </a:r>
                <a:r>
                  <a:rPr lang="en-US" dirty="0"/>
                  <a:t> </a:t>
                </a:r>
                <a:r>
                  <a:rPr lang="en-US" i="1" dirty="0"/>
                  <a:t>S</a:t>
                </a:r>
                <a:r>
                  <a:rPr lang="en-US" baseline="-25000" dirty="0"/>
                  <a:t>2</a:t>
                </a:r>
                <a:r>
                  <a:rPr lang="en-US" dirty="0"/>
                  <a:t>) s   =</a:t>
                </a:r>
              </a:p>
              <a:p>
                <a:endParaRPr lang="en-US" dirty="0"/>
              </a:p>
              <a:p>
                <a:r>
                  <a:rPr lang="en-US" dirty="0"/>
                  <a:t>So</a:t>
                </a:r>
              </a:p>
              <a:p>
                <a:r>
                  <a:rPr lang="en-US" dirty="0"/>
                  <a:t>	(</a:t>
                </a:r>
                <a:r>
                  <a:rPr lang="en-US" b="1" dirty="0"/>
                  <a:t>if</a:t>
                </a:r>
                <a:r>
                  <a:rPr lang="en-US" dirty="0"/>
                  <a:t>  </a:t>
                </a:r>
                <a:r>
                  <a:rPr lang="en-US" i="1" dirty="0"/>
                  <a:t>g</a:t>
                </a:r>
                <a:r>
                  <a:rPr lang="en-US" dirty="0"/>
                  <a:t>  </a:t>
                </a:r>
                <a:r>
                  <a:rPr lang="en-US" b="1" dirty="0"/>
                  <a:t>then</a:t>
                </a:r>
                <a:r>
                  <a:rPr lang="en-US" dirty="0"/>
                  <a:t>  </a:t>
                </a:r>
                <a:r>
                  <a:rPr lang="en-US" i="1" dirty="0"/>
                  <a:t>S</a:t>
                </a:r>
                <a:r>
                  <a:rPr lang="en-US" baseline="-25000" dirty="0"/>
                  <a:t>1</a:t>
                </a:r>
                <a:r>
                  <a:rPr lang="en-US" dirty="0"/>
                  <a:t> </a:t>
                </a:r>
                <a:r>
                  <a:rPr lang="en-US" b="1" dirty="0"/>
                  <a:t>else</a:t>
                </a:r>
                <a:r>
                  <a:rPr lang="en-US" dirty="0"/>
                  <a:t> </a:t>
                </a:r>
                <a:r>
                  <a:rPr lang="en-US" i="1" dirty="0"/>
                  <a:t>S</a:t>
                </a:r>
                <a:r>
                  <a:rPr lang="en-US" baseline="-25000" dirty="0"/>
                  <a:t>2</a:t>
                </a:r>
                <a:r>
                  <a:rPr lang="en-US" dirty="0"/>
                  <a:t>) ⁻¹ Q</a:t>
                </a:r>
              </a:p>
              <a:p>
                <a:endParaRPr lang="en-US" dirty="0"/>
              </a:p>
              <a:p>
                <a:r>
                  <a:rPr lang="en-US" dirty="0"/>
                  <a:t>     = 	    </a:t>
                </a:r>
                <a:r>
                  <a:rPr lang="en-US" i="1" dirty="0"/>
                  <a:t>S</a:t>
                </a:r>
                <a:r>
                  <a:rPr lang="en-US" baseline="-25000" dirty="0"/>
                  <a:t>1</a:t>
                </a:r>
                <a:r>
                  <a:rPr lang="en-US" dirty="0"/>
                  <a:t>    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i="1" dirty="0"/>
                  <a:t>         </a:t>
                </a:r>
                <a:r>
                  <a:rPr lang="en-US" dirty="0"/>
                  <a:t>⁻¹ Q</a:t>
                </a:r>
                <a:endParaRPr lang="en-US" i="1" dirty="0"/>
              </a:p>
              <a:p>
                <a:r>
                  <a:rPr lang="en-US" i="1" dirty="0"/>
                  <a:t>	    S</a:t>
                </a:r>
                <a:r>
                  <a:rPr lang="en-US" baseline="-25000" dirty="0"/>
                  <a:t>2 </a:t>
                </a:r>
                <a:r>
                  <a:rPr lang="en-US" dirty="0"/>
                  <a:t>   on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acc>
                  </m:oMath>
                </a14:m>
                <a:endParaRPr lang="en-US" dirty="0"/>
              </a:p>
              <a:p>
                <a:r>
                  <a:rPr lang="en-US" dirty="0"/>
                  <a:t>    </a:t>
                </a:r>
              </a:p>
              <a:p>
                <a:r>
                  <a:rPr lang="en-US" dirty="0"/>
                  <a:t>     =       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∩ </m:t>
                    </m:r>
                  </m:oMath>
                </a14:m>
                <a:r>
                  <a:rPr lang="en-US" i="1" dirty="0"/>
                  <a:t>S</a:t>
                </a:r>
                <a:r>
                  <a:rPr lang="en-US" baseline="-25000" dirty="0"/>
                  <a:t>1</a:t>
                </a:r>
                <a:r>
                  <a:rPr lang="en-US" dirty="0"/>
                  <a:t> ⁻¹ Q)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∪</m:t>
                    </m:r>
                  </m:oMath>
                </a14:m>
                <a:r>
                  <a:rPr lang="en-US" dirty="0"/>
                  <a:t> 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∩ </m:t>
                    </m:r>
                  </m:oMath>
                </a14:m>
                <a:r>
                  <a:rPr lang="en-US" i="1" dirty="0"/>
                  <a:t>S</a:t>
                </a:r>
                <a:r>
                  <a:rPr lang="en-US" baseline="-25000" dirty="0"/>
                  <a:t>2</a:t>
                </a:r>
                <a:r>
                  <a:rPr lang="en-US" dirty="0"/>
                  <a:t> ⁻¹ Q)</a:t>
                </a:r>
              </a:p>
              <a:p>
                <a:r>
                  <a:rPr lang="en-US" dirty="0"/>
                  <a:t>     =       (</a:t>
                </a:r>
                <a:r>
                  <a:rPr lang="en-US" i="1" dirty="0"/>
                  <a:t>g</a:t>
                </a:r>
                <a:r>
                  <a:rPr lang="en-US" dirty="0"/>
                  <a:t> ∧</a:t>
                </a:r>
                <a:r>
                  <a:rPr lang="en-US" dirty="0">
                    <a:sym typeface="Symbol" pitchFamily="16" charset="2"/>
                  </a:rPr>
                  <a:t> </a:t>
                </a:r>
                <a:r>
                  <a:rPr lang="en-US" b="1" dirty="0">
                    <a:solidFill>
                      <a:srgbClr val="0070C0"/>
                    </a:solidFill>
                  </a:rPr>
                  <a:t>wp</a:t>
                </a:r>
                <a:r>
                  <a:rPr lang="en-US" dirty="0"/>
                  <a:t>  </a:t>
                </a:r>
                <a:r>
                  <a:rPr lang="en-US" i="1" dirty="0"/>
                  <a:t>S</a:t>
                </a:r>
                <a:r>
                  <a:rPr lang="en-US" baseline="-25000" dirty="0"/>
                  <a:t>1</a:t>
                </a:r>
                <a:r>
                  <a:rPr lang="en-US" dirty="0"/>
                  <a:t> </a:t>
                </a:r>
                <a:r>
                  <a:rPr lang="en-US" i="1" dirty="0"/>
                  <a:t>Q</a:t>
                </a:r>
                <a:r>
                  <a:rPr lang="en-US" dirty="0"/>
                  <a:t>) ∨  (</a:t>
                </a:r>
                <a:r>
                  <a:rPr lang="en-US" dirty="0">
                    <a:sym typeface="Symbol" pitchFamily="16" charset="2"/>
                  </a:rPr>
                  <a:t></a:t>
                </a:r>
                <a:r>
                  <a:rPr lang="en-US" i="1" dirty="0">
                    <a:sym typeface="Symbol" pitchFamily="16" charset="2"/>
                  </a:rPr>
                  <a:t>g</a:t>
                </a:r>
                <a:r>
                  <a:rPr lang="en-US" dirty="0">
                    <a:sym typeface="Symbol" pitchFamily="16" charset="2"/>
                  </a:rPr>
                  <a:t> </a:t>
                </a:r>
                <a:r>
                  <a:rPr lang="en-US" dirty="0"/>
                  <a:t>∧</a:t>
                </a:r>
                <a:r>
                  <a:rPr lang="en-US" dirty="0">
                    <a:sym typeface="Symbol" pitchFamily="16" charset="2"/>
                  </a:rPr>
                  <a:t> </a:t>
                </a:r>
                <a:r>
                  <a:rPr lang="en-US" b="1" dirty="0">
                    <a:solidFill>
                      <a:srgbClr val="0070C0"/>
                    </a:solidFill>
                    <a:sym typeface="Symbol" pitchFamily="16" charset="2"/>
                  </a:rPr>
                  <a:t>wp</a:t>
                </a:r>
                <a:r>
                  <a:rPr lang="en-US" dirty="0"/>
                  <a:t>  </a:t>
                </a:r>
                <a:r>
                  <a:rPr lang="en-US" i="1" dirty="0"/>
                  <a:t>S</a:t>
                </a:r>
                <a:r>
                  <a:rPr lang="en-US" baseline="-25000" dirty="0"/>
                  <a:t>2</a:t>
                </a:r>
                <a:r>
                  <a:rPr lang="en-US" dirty="0"/>
                  <a:t>  </a:t>
                </a:r>
                <a:r>
                  <a:rPr lang="en-US" i="1" dirty="0"/>
                  <a:t>Q</a:t>
                </a:r>
                <a:r>
                  <a:rPr lang="en-US" dirty="0"/>
                  <a:t>).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b="1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6161902-3188-6CB7-30A4-A5DCC250A1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908" y="2692400"/>
                <a:ext cx="4791076" cy="4801314"/>
              </a:xfrm>
              <a:prstGeom prst="rect">
                <a:avLst/>
              </a:prstGeom>
              <a:blipFill>
                <a:blip r:embed="rId3"/>
                <a:stretch>
                  <a:fillRect l="-1058" t="-7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ouble Brace 2">
            <a:extLst>
              <a:ext uri="{FF2B5EF4-FFF2-40B4-BE49-F238E27FC236}">
                <a16:creationId xmlns:a16="http://schemas.microsoft.com/office/drawing/2014/main" id="{12D13AA2-B100-8F64-A5F0-68C2DD3485D5}"/>
              </a:ext>
            </a:extLst>
          </p:cNvPr>
          <p:cNvSpPr/>
          <p:nvPr/>
        </p:nvSpPr>
        <p:spPr>
          <a:xfrm>
            <a:off x="3447033" y="3357119"/>
            <a:ext cx="1676400" cy="770572"/>
          </a:xfrm>
          <a:prstGeom prst="bracePair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92344A-7AD5-83E3-A292-816C87D4450F}"/>
              </a:ext>
            </a:extLst>
          </p:cNvPr>
          <p:cNvSpPr txBox="1"/>
          <p:nvPr/>
        </p:nvSpPr>
        <p:spPr>
          <a:xfrm>
            <a:off x="3491484" y="3357119"/>
            <a:ext cx="15621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S</a:t>
            </a:r>
            <a:r>
              <a:rPr lang="en-US" baseline="-25000" dirty="0"/>
              <a:t>1</a:t>
            </a:r>
            <a:r>
              <a:rPr lang="en-US" dirty="0"/>
              <a:t>(s)  if s</a:t>
            </a:r>
            <a:r>
              <a:rPr lang="en-US" i="1" dirty="0"/>
              <a:t> </a:t>
            </a:r>
            <a:r>
              <a:rPr lang="en-US" dirty="0"/>
              <a:t>∈</a:t>
            </a:r>
            <a:r>
              <a:rPr lang="en-US" i="1" dirty="0"/>
              <a:t> g</a:t>
            </a:r>
          </a:p>
          <a:p>
            <a:r>
              <a:rPr lang="en-US" i="1" dirty="0"/>
              <a:t>S</a:t>
            </a:r>
            <a:r>
              <a:rPr lang="en-US" baseline="-25000" dirty="0"/>
              <a:t>2</a:t>
            </a:r>
            <a:r>
              <a:rPr lang="en-US" dirty="0"/>
              <a:t>(s)  o/w</a:t>
            </a:r>
          </a:p>
        </p:txBody>
      </p:sp>
      <p:sp>
        <p:nvSpPr>
          <p:cNvPr id="6" name="Double Brace 5">
            <a:extLst>
              <a:ext uri="{FF2B5EF4-FFF2-40B4-BE49-F238E27FC236}">
                <a16:creationId xmlns:a16="http://schemas.microsoft.com/office/drawing/2014/main" id="{A2E00B03-F02D-CDFB-D3A2-77F15BB53A26}"/>
              </a:ext>
            </a:extLst>
          </p:cNvPr>
          <p:cNvSpPr/>
          <p:nvPr/>
        </p:nvSpPr>
        <p:spPr>
          <a:xfrm>
            <a:off x="1429766" y="4851147"/>
            <a:ext cx="1676400" cy="770572"/>
          </a:xfrm>
          <a:prstGeom prst="bracePair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C3629AD-2351-D4D2-8DE4-9E94AF3BC9E9}"/>
              </a:ext>
            </a:extLst>
          </p:cNvPr>
          <p:cNvSpPr txBox="1"/>
          <p:nvPr/>
        </p:nvSpPr>
        <p:spPr>
          <a:xfrm>
            <a:off x="5370321" y="3747096"/>
            <a:ext cx="152044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/>
              <a:t>g</a:t>
            </a:r>
            <a:r>
              <a:rPr lang="en-US" sz="1400" dirty="0"/>
              <a:t> ∧</a:t>
            </a:r>
            <a:r>
              <a:rPr lang="en-US" sz="1400" dirty="0">
                <a:sym typeface="Symbol" pitchFamily="16" charset="2"/>
              </a:rPr>
              <a:t> </a:t>
            </a:r>
            <a:r>
              <a:rPr lang="en-US" sz="1400" b="1" dirty="0">
                <a:solidFill>
                  <a:srgbClr val="0070C0"/>
                </a:solidFill>
              </a:rPr>
              <a:t>wp</a:t>
            </a:r>
            <a:r>
              <a:rPr lang="en-US" sz="1400" dirty="0"/>
              <a:t>  </a:t>
            </a:r>
            <a:r>
              <a:rPr lang="en-US" sz="1400" i="1" dirty="0"/>
              <a:t>S</a:t>
            </a:r>
            <a:r>
              <a:rPr lang="en-US" sz="1400" baseline="-25000" dirty="0"/>
              <a:t>1</a:t>
            </a:r>
            <a:r>
              <a:rPr lang="en-US" sz="1400" dirty="0"/>
              <a:t> </a:t>
            </a:r>
            <a:r>
              <a:rPr lang="en-US" sz="1400" i="1" dirty="0"/>
              <a:t>Q</a:t>
            </a:r>
            <a:endParaRPr lang="en-US" sz="1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83AFBA8-5ED7-03BE-A873-BC21BE4AD379}"/>
              </a:ext>
            </a:extLst>
          </p:cNvPr>
          <p:cNvSpPr txBox="1"/>
          <p:nvPr/>
        </p:nvSpPr>
        <p:spPr>
          <a:xfrm>
            <a:off x="5417424" y="4890439"/>
            <a:ext cx="152044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ym typeface="Symbol" pitchFamily="16" charset="2"/>
              </a:rPr>
              <a:t></a:t>
            </a:r>
            <a:r>
              <a:rPr lang="en-US" sz="1200" i="1" dirty="0">
                <a:sym typeface="Symbol" pitchFamily="16" charset="2"/>
              </a:rPr>
              <a:t>g</a:t>
            </a:r>
            <a:r>
              <a:rPr lang="en-US" sz="1200" dirty="0">
                <a:sym typeface="Symbol" pitchFamily="16" charset="2"/>
              </a:rPr>
              <a:t> </a:t>
            </a:r>
            <a:r>
              <a:rPr lang="en-US" sz="1200" dirty="0"/>
              <a:t>∧</a:t>
            </a:r>
            <a:r>
              <a:rPr lang="en-US" sz="1200" dirty="0">
                <a:sym typeface="Symbol" pitchFamily="16" charset="2"/>
              </a:rPr>
              <a:t> </a:t>
            </a:r>
            <a:r>
              <a:rPr lang="en-US" sz="1200" b="1" dirty="0">
                <a:solidFill>
                  <a:srgbClr val="0070C0"/>
                </a:solidFill>
                <a:sym typeface="Symbol" pitchFamily="16" charset="2"/>
              </a:rPr>
              <a:t>wp</a:t>
            </a:r>
            <a:r>
              <a:rPr lang="en-US" sz="1200" dirty="0"/>
              <a:t>  </a:t>
            </a:r>
            <a:r>
              <a:rPr lang="en-US" sz="1200" i="1" dirty="0"/>
              <a:t>S</a:t>
            </a:r>
            <a:r>
              <a:rPr lang="en-US" sz="1200" baseline="-25000" dirty="0"/>
              <a:t>2</a:t>
            </a:r>
            <a:r>
              <a:rPr lang="en-US" sz="1200" dirty="0"/>
              <a:t> </a:t>
            </a:r>
            <a:r>
              <a:rPr lang="en-US" sz="1200" i="1" dirty="0"/>
              <a:t>Q</a:t>
            </a:r>
            <a:endParaRPr lang="en-US" sz="1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DF590047-E584-BD4C-A5A3-BEBA665CDE6A}"/>
              </a:ext>
            </a:extLst>
          </p:cNvPr>
          <p:cNvSpPr/>
          <p:nvPr/>
        </p:nvSpPr>
        <p:spPr>
          <a:xfrm>
            <a:off x="3886200" y="3733800"/>
            <a:ext cx="4953000" cy="1196975"/>
          </a:xfrm>
          <a:prstGeom prst="roundRect">
            <a:avLst>
              <a:gd name="adj" fmla="val 33084"/>
            </a:avLst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2B40E385-A43D-7D4D-AAA0-9FB1BE285D4B}"/>
              </a:ext>
            </a:extLst>
          </p:cNvPr>
          <p:cNvSpPr/>
          <p:nvPr/>
        </p:nvSpPr>
        <p:spPr>
          <a:xfrm>
            <a:off x="228600" y="1865223"/>
            <a:ext cx="8458200" cy="1196975"/>
          </a:xfrm>
          <a:prstGeom prst="roundRect">
            <a:avLst>
              <a:gd name="adj" fmla="val 33084"/>
            </a:avLst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CDAA6B-A73A-4D75-B649-32B045574DF9}" type="slidenum">
              <a:rPr lang="en-US" altLang="en-US"/>
              <a:pPr>
                <a:defRPr/>
              </a:pPr>
              <a:t>42</a:t>
            </a:fld>
            <a:endParaRPr lang="en-US" altLang="en-US"/>
          </a:p>
        </p:txBody>
      </p:sp>
      <p:sp>
        <p:nvSpPr>
          <p:cNvPr id="9" name="Slide Number Placeholder 2"/>
          <p:cNvSpPr txBox="1">
            <a:spLocks noGrp="1"/>
          </p:cNvSpPr>
          <p:nvPr/>
        </p:nvSpPr>
        <p:spPr bwMode="auto">
          <a:xfrm>
            <a:off x="7010400" y="64008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554DAFB5-21FD-4E15-AB4B-540EB192066B}" type="slidenum">
              <a:rPr lang="en-US" altLang="en-US" sz="1200">
                <a:latin typeface="+mj-lt"/>
              </a:rPr>
              <a:pPr algn="r">
                <a:defRPr/>
              </a:pPr>
              <a:t>42</a:t>
            </a:fld>
            <a:endParaRPr lang="en-US" altLang="en-US" sz="1200">
              <a:latin typeface="+mj-lt"/>
            </a:endParaRPr>
          </a:p>
        </p:txBody>
      </p:sp>
      <p:sp>
        <p:nvSpPr>
          <p:cNvPr id="1843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Alternative formulation of </a:t>
            </a:r>
            <a:r>
              <a:rPr lang="en-US" dirty="0" err="1"/>
              <a:t>wp</a:t>
            </a:r>
            <a:r>
              <a:rPr lang="en-US" dirty="0"/>
              <a:t> IF</a:t>
            </a:r>
          </a:p>
        </p:txBody>
      </p:sp>
      <p:sp>
        <p:nvSpPr>
          <p:cNvPr id="18437" name="Text Box 9"/>
          <p:cNvSpPr txBox="1">
            <a:spLocks noChangeArrowheads="1"/>
          </p:cNvSpPr>
          <p:nvPr/>
        </p:nvSpPr>
        <p:spPr bwMode="auto">
          <a:xfrm>
            <a:off x="76200" y="1930311"/>
            <a:ext cx="88392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000" dirty="0"/>
              <a:t> </a:t>
            </a:r>
            <a:br>
              <a:rPr lang="en-US" sz="2000" dirty="0"/>
            </a:br>
            <a:r>
              <a:rPr lang="en-US" sz="2000" b="1" dirty="0">
                <a:solidFill>
                  <a:srgbClr val="0070C0"/>
                </a:solidFill>
              </a:rPr>
              <a:t>wp</a:t>
            </a:r>
            <a:r>
              <a:rPr lang="en-US" sz="2000" dirty="0"/>
              <a:t> (</a:t>
            </a:r>
            <a:r>
              <a:rPr lang="en-US" sz="2000" b="1" dirty="0"/>
              <a:t>if</a:t>
            </a:r>
            <a:r>
              <a:rPr lang="en-US" sz="2000" dirty="0"/>
              <a:t> </a:t>
            </a:r>
            <a:r>
              <a:rPr lang="en-US" sz="2000" i="1" dirty="0"/>
              <a:t>g</a:t>
            </a:r>
            <a:r>
              <a:rPr lang="en-US" sz="2000" dirty="0"/>
              <a:t> </a:t>
            </a:r>
            <a:r>
              <a:rPr lang="en-US" sz="2000" b="1" dirty="0"/>
              <a:t>then</a:t>
            </a:r>
            <a:r>
              <a:rPr lang="en-US" sz="2000" dirty="0"/>
              <a:t> </a:t>
            </a:r>
            <a:r>
              <a:rPr lang="en-US" sz="2000" i="1" dirty="0"/>
              <a:t>S</a:t>
            </a:r>
            <a:r>
              <a:rPr lang="en-US" sz="2000" baseline="-25000" dirty="0"/>
              <a:t>1</a:t>
            </a:r>
            <a:r>
              <a:rPr lang="en-US" sz="2000" dirty="0"/>
              <a:t> </a:t>
            </a:r>
            <a:r>
              <a:rPr lang="en-US" sz="2000" b="1" dirty="0"/>
              <a:t>else</a:t>
            </a:r>
            <a:r>
              <a:rPr lang="en-US" sz="2000" dirty="0"/>
              <a:t> </a:t>
            </a:r>
            <a:r>
              <a:rPr lang="en-US" sz="2000" i="1" dirty="0"/>
              <a:t>S</a:t>
            </a:r>
            <a:r>
              <a:rPr lang="en-US" sz="2000" baseline="-25000" dirty="0"/>
              <a:t>2</a:t>
            </a:r>
            <a:r>
              <a:rPr lang="en-US" sz="2000" dirty="0"/>
              <a:t>) </a:t>
            </a:r>
            <a:r>
              <a:rPr lang="en-US" sz="2000" i="1" dirty="0"/>
              <a:t>Q</a:t>
            </a:r>
            <a:r>
              <a:rPr lang="en-US" sz="2000" dirty="0"/>
              <a:t>    =    (</a:t>
            </a:r>
            <a:r>
              <a:rPr lang="en-US" sz="2000" i="1" dirty="0"/>
              <a:t>g</a:t>
            </a:r>
            <a:r>
              <a:rPr lang="en-US" sz="2000" dirty="0"/>
              <a:t> ∧</a:t>
            </a:r>
            <a:r>
              <a:rPr lang="en-US" sz="2000" dirty="0">
                <a:sym typeface="Symbol" pitchFamily="16" charset="2"/>
              </a:rPr>
              <a:t> </a:t>
            </a:r>
            <a:r>
              <a:rPr lang="en-US" sz="2000" b="1" dirty="0">
                <a:solidFill>
                  <a:srgbClr val="0070C0"/>
                </a:solidFill>
              </a:rPr>
              <a:t>wp</a:t>
            </a:r>
            <a:r>
              <a:rPr lang="en-US" sz="2000" dirty="0"/>
              <a:t> </a:t>
            </a:r>
            <a:r>
              <a:rPr lang="en-US" sz="2000" i="1" dirty="0"/>
              <a:t>S</a:t>
            </a:r>
            <a:r>
              <a:rPr lang="en-US" sz="2000" baseline="-25000" dirty="0"/>
              <a:t>1</a:t>
            </a:r>
            <a:r>
              <a:rPr lang="en-US" sz="2000" dirty="0"/>
              <a:t> </a:t>
            </a:r>
            <a:r>
              <a:rPr lang="en-US" sz="2000" i="1" dirty="0"/>
              <a:t>Q</a:t>
            </a:r>
            <a:r>
              <a:rPr lang="en-US" sz="2000" dirty="0"/>
              <a:t>) ∨ (</a:t>
            </a:r>
            <a:r>
              <a:rPr lang="en-US" sz="2000" dirty="0">
                <a:sym typeface="Symbol" pitchFamily="16" charset="2"/>
              </a:rPr>
              <a:t></a:t>
            </a:r>
            <a:r>
              <a:rPr lang="en-US" sz="2000" i="1" dirty="0">
                <a:sym typeface="Symbol" pitchFamily="16" charset="2"/>
              </a:rPr>
              <a:t>g</a:t>
            </a:r>
            <a:r>
              <a:rPr lang="en-US" sz="2000" dirty="0">
                <a:sym typeface="Symbol" pitchFamily="16" charset="2"/>
              </a:rPr>
              <a:t> </a:t>
            </a:r>
            <a:r>
              <a:rPr lang="en-US" sz="2000" dirty="0"/>
              <a:t>∧</a:t>
            </a:r>
            <a:r>
              <a:rPr lang="en-US" sz="2000" dirty="0">
                <a:sym typeface="Symbol" pitchFamily="16" charset="2"/>
              </a:rPr>
              <a:t> </a:t>
            </a:r>
            <a:r>
              <a:rPr lang="en-US" sz="2000" b="1" dirty="0">
                <a:solidFill>
                  <a:srgbClr val="0070C0"/>
                </a:solidFill>
                <a:sym typeface="Symbol" pitchFamily="16" charset="2"/>
              </a:rPr>
              <a:t>wp</a:t>
            </a:r>
            <a:r>
              <a:rPr lang="en-US" sz="2000" dirty="0"/>
              <a:t> </a:t>
            </a:r>
            <a:r>
              <a:rPr lang="en-US" sz="2000" i="1" dirty="0"/>
              <a:t>S</a:t>
            </a:r>
            <a:r>
              <a:rPr lang="en-US" sz="2000" baseline="-25000" dirty="0"/>
              <a:t>2</a:t>
            </a:r>
            <a:r>
              <a:rPr lang="en-US" sz="2000" dirty="0"/>
              <a:t> </a:t>
            </a:r>
            <a:r>
              <a:rPr lang="en-US" sz="2000" i="1" dirty="0"/>
              <a:t>Q</a:t>
            </a:r>
            <a:r>
              <a:rPr lang="en-US" sz="2000" dirty="0"/>
              <a:t>)</a:t>
            </a:r>
          </a:p>
        </p:txBody>
      </p:sp>
      <p:sp>
        <p:nvSpPr>
          <p:cNvPr id="47" name="TextBox 46"/>
          <p:cNvSpPr txBox="1">
            <a:spLocks noChangeArrowheads="1"/>
          </p:cNvSpPr>
          <p:nvPr/>
        </p:nvSpPr>
        <p:spPr bwMode="auto">
          <a:xfrm>
            <a:off x="3886200" y="4132233"/>
            <a:ext cx="50292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(g </a:t>
            </a:r>
            <a:r>
              <a:rPr lang="en-US" sz="2000" b="1" dirty="0">
                <a:solidFill>
                  <a:srgbClr val="C00000"/>
                </a:solidFill>
                <a:sym typeface="Symbol" pitchFamily="16" charset="2"/>
              </a:rPr>
              <a:t></a:t>
            </a:r>
            <a:r>
              <a:rPr lang="en-US" sz="2000" dirty="0"/>
              <a:t> </a:t>
            </a:r>
            <a:r>
              <a:rPr lang="en-US" sz="2000" b="1" dirty="0">
                <a:solidFill>
                  <a:srgbClr val="0070C0"/>
                </a:solidFill>
              </a:rPr>
              <a:t>wp</a:t>
            </a:r>
            <a:r>
              <a:rPr lang="en-US" sz="2000" dirty="0"/>
              <a:t> S</a:t>
            </a:r>
            <a:r>
              <a:rPr lang="en-US" sz="2000" baseline="-25000" dirty="0"/>
              <a:t>1</a:t>
            </a:r>
            <a:r>
              <a:rPr lang="en-US" sz="2000" dirty="0"/>
              <a:t> Q) ∧ (</a:t>
            </a:r>
            <a:r>
              <a:rPr lang="en-US" sz="2000" dirty="0">
                <a:sym typeface="Symbol" pitchFamily="16" charset="2"/>
              </a:rPr>
              <a:t>g </a:t>
            </a:r>
            <a:r>
              <a:rPr lang="en-US" sz="2000" b="1" dirty="0">
                <a:solidFill>
                  <a:srgbClr val="C00000"/>
                </a:solidFill>
                <a:sym typeface="Symbol" pitchFamily="16" charset="2"/>
              </a:rPr>
              <a:t></a:t>
            </a:r>
            <a:r>
              <a:rPr lang="en-US" sz="2000" dirty="0">
                <a:sym typeface="Symbol" pitchFamily="16" charset="2"/>
              </a:rPr>
              <a:t> </a:t>
            </a:r>
            <a:r>
              <a:rPr lang="en-US" sz="2000" b="1" dirty="0">
                <a:solidFill>
                  <a:srgbClr val="0070C0"/>
                </a:solidFill>
                <a:sym typeface="Symbol" pitchFamily="16" charset="2"/>
              </a:rPr>
              <a:t>wp</a:t>
            </a:r>
            <a:r>
              <a:rPr lang="en-US" sz="2000" dirty="0">
                <a:sym typeface="Symbol" pitchFamily="16" charset="2"/>
              </a:rPr>
              <a:t> S</a:t>
            </a:r>
            <a:r>
              <a:rPr lang="en-US" sz="2000" baseline="-25000" dirty="0">
                <a:sym typeface="Symbol" pitchFamily="16" charset="2"/>
              </a:rPr>
              <a:t>2</a:t>
            </a:r>
            <a:r>
              <a:rPr lang="en-US" sz="2000" dirty="0">
                <a:sym typeface="Symbol" pitchFamily="16" charset="2"/>
              </a:rPr>
              <a:t> Q)</a:t>
            </a:r>
            <a:endParaRPr lang="nl-NL" sz="2000" dirty="0"/>
          </a:p>
        </p:txBody>
      </p:sp>
      <p:sp>
        <p:nvSpPr>
          <p:cNvPr id="48" name="TextBox 47"/>
          <p:cNvSpPr txBox="1">
            <a:spLocks noChangeArrowheads="1"/>
          </p:cNvSpPr>
          <p:nvPr/>
        </p:nvSpPr>
        <p:spPr bwMode="auto">
          <a:xfrm>
            <a:off x="3733800" y="5091768"/>
            <a:ext cx="51816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/>
            <a:r>
              <a:rPr lang="en-US" dirty="0"/>
              <a:t>This formulation for the </a:t>
            </a:r>
            <a:r>
              <a:rPr lang="en-US" b="1" dirty="0" err="1"/>
              <a:t>wp</a:t>
            </a:r>
            <a:r>
              <a:rPr lang="en-US" dirty="0"/>
              <a:t> of if-then-else is more convenient for working out proofs. E.g. in a deductive proof its conjunctive form would translate to proving two goals.</a:t>
            </a:r>
            <a:endParaRPr lang="nl-NL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3C1A8B2-D72F-5F46-B997-423898664405}"/>
              </a:ext>
            </a:extLst>
          </p:cNvPr>
          <p:cNvSpPr txBox="1"/>
          <p:nvPr/>
        </p:nvSpPr>
        <p:spPr>
          <a:xfrm>
            <a:off x="4038600" y="3160078"/>
            <a:ext cx="3642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=</a:t>
            </a:r>
          </a:p>
        </p:txBody>
      </p:sp>
    </p:spTree>
    <p:extLst>
      <p:ext uri="{BB962C8B-B14F-4D97-AF65-F5344CB8AC3E}">
        <p14:creationId xmlns:p14="http://schemas.microsoft.com/office/powerpoint/2010/main" val="253339519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3C4B48-114E-1032-42FA-3D69F76B5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1F129E96-2C80-7662-71E9-4DA36C5692AD}"/>
              </a:ext>
            </a:extLst>
          </p:cNvPr>
          <p:cNvSpPr/>
          <p:nvPr/>
        </p:nvSpPr>
        <p:spPr>
          <a:xfrm>
            <a:off x="256868" y="1295400"/>
            <a:ext cx="8458200" cy="1196975"/>
          </a:xfrm>
          <a:prstGeom prst="roundRect">
            <a:avLst>
              <a:gd name="adj" fmla="val 33084"/>
            </a:avLst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6">
            <a:extLst>
              <a:ext uri="{FF2B5EF4-FFF2-40B4-BE49-F238E27FC236}">
                <a16:creationId xmlns:a16="http://schemas.microsoft.com/office/drawing/2014/main" id="{F6856129-283C-A605-4899-BA2E6516BF2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CDAA6B-A73A-4D75-B649-32B045574DF9}" type="slidenum">
              <a:rPr lang="en-US" altLang="en-US"/>
              <a:pPr>
                <a:defRPr/>
              </a:pPr>
              <a:t>43</a:t>
            </a:fld>
            <a:endParaRPr lang="en-US" altLang="en-US"/>
          </a:p>
        </p:txBody>
      </p:sp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3940A8A7-66CC-3921-5945-283A1C4247A2}"/>
              </a:ext>
            </a:extLst>
          </p:cNvPr>
          <p:cNvSpPr txBox="1">
            <a:spLocks noGrp="1"/>
          </p:cNvSpPr>
          <p:nvPr/>
        </p:nvSpPr>
        <p:spPr bwMode="auto">
          <a:xfrm>
            <a:off x="7010400" y="64008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554DAFB5-21FD-4E15-AB4B-540EB192066B}" type="slidenum">
              <a:rPr lang="en-US" altLang="en-US" sz="1200">
                <a:latin typeface="+mj-lt"/>
              </a:rPr>
              <a:pPr algn="r">
                <a:defRPr/>
              </a:pPr>
              <a:t>43</a:t>
            </a:fld>
            <a:endParaRPr lang="en-US" altLang="en-US" sz="1200">
              <a:latin typeface="+mj-lt"/>
            </a:endParaRPr>
          </a:p>
        </p:txBody>
      </p:sp>
      <p:sp>
        <p:nvSpPr>
          <p:cNvPr id="18436" name="Rectangle 2">
            <a:extLst>
              <a:ext uri="{FF2B5EF4-FFF2-40B4-BE49-F238E27FC236}">
                <a16:creationId xmlns:a16="http://schemas.microsoft.com/office/drawing/2014/main" id="{C1B29C8E-128B-D88B-05CA-F2BC3EE616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Inference rule for IF</a:t>
            </a:r>
          </a:p>
        </p:txBody>
      </p:sp>
      <p:sp>
        <p:nvSpPr>
          <p:cNvPr id="18437" name="Text Box 9">
            <a:extLst>
              <a:ext uri="{FF2B5EF4-FFF2-40B4-BE49-F238E27FC236}">
                <a16:creationId xmlns:a16="http://schemas.microsoft.com/office/drawing/2014/main" id="{1EFB08F7-C5AA-F716-A83B-C96C2C19B3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147" y="1389917"/>
            <a:ext cx="88392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000" dirty="0"/>
              <a:t> </a:t>
            </a:r>
            <a:br>
              <a:rPr lang="en-US" sz="2000" dirty="0"/>
            </a:br>
            <a:r>
              <a:rPr lang="en-US" sz="2000" b="1" dirty="0">
                <a:solidFill>
                  <a:srgbClr val="0070C0"/>
                </a:solidFill>
              </a:rPr>
              <a:t>wp</a:t>
            </a:r>
            <a:r>
              <a:rPr lang="en-US" sz="2000" dirty="0"/>
              <a:t> (</a:t>
            </a:r>
            <a:r>
              <a:rPr lang="en-US" sz="2000" b="1" dirty="0"/>
              <a:t>if</a:t>
            </a:r>
            <a:r>
              <a:rPr lang="en-US" sz="2000" dirty="0"/>
              <a:t> </a:t>
            </a:r>
            <a:r>
              <a:rPr lang="en-US" sz="2000" i="1" dirty="0"/>
              <a:t>g</a:t>
            </a:r>
            <a:r>
              <a:rPr lang="en-US" sz="2000" dirty="0"/>
              <a:t> </a:t>
            </a:r>
            <a:r>
              <a:rPr lang="en-US" sz="2000" b="1" dirty="0"/>
              <a:t>then</a:t>
            </a:r>
            <a:r>
              <a:rPr lang="en-US" sz="2000" dirty="0"/>
              <a:t> </a:t>
            </a:r>
            <a:r>
              <a:rPr lang="en-US" sz="2000" i="1" dirty="0"/>
              <a:t>S</a:t>
            </a:r>
            <a:r>
              <a:rPr lang="en-US" sz="2000" baseline="-25000" dirty="0"/>
              <a:t>1</a:t>
            </a:r>
            <a:r>
              <a:rPr lang="en-US" sz="2000" dirty="0"/>
              <a:t> </a:t>
            </a:r>
            <a:r>
              <a:rPr lang="en-US" sz="2000" b="1" dirty="0"/>
              <a:t>else</a:t>
            </a:r>
            <a:r>
              <a:rPr lang="en-US" sz="2000" dirty="0"/>
              <a:t> </a:t>
            </a:r>
            <a:r>
              <a:rPr lang="en-US" sz="2000" i="1" dirty="0"/>
              <a:t>S</a:t>
            </a:r>
            <a:r>
              <a:rPr lang="en-US" sz="2000" baseline="-25000" dirty="0"/>
              <a:t>2</a:t>
            </a:r>
            <a:r>
              <a:rPr lang="en-US" sz="2000" dirty="0"/>
              <a:t>) </a:t>
            </a:r>
            <a:r>
              <a:rPr lang="en-US" sz="2000" i="1" dirty="0"/>
              <a:t>Q</a:t>
            </a:r>
            <a:r>
              <a:rPr lang="en-US" sz="2000" dirty="0"/>
              <a:t>    =    (</a:t>
            </a:r>
            <a:r>
              <a:rPr lang="en-US" sz="2000" i="1" dirty="0"/>
              <a:t>g</a:t>
            </a:r>
            <a:r>
              <a:rPr lang="en-US" sz="2000" dirty="0"/>
              <a:t> ∧</a:t>
            </a:r>
            <a:r>
              <a:rPr lang="en-US" sz="2000" dirty="0">
                <a:sym typeface="Symbol" pitchFamily="16" charset="2"/>
              </a:rPr>
              <a:t> </a:t>
            </a:r>
            <a:r>
              <a:rPr lang="en-US" sz="2000" b="1" dirty="0">
                <a:solidFill>
                  <a:srgbClr val="0070C0"/>
                </a:solidFill>
              </a:rPr>
              <a:t>wp</a:t>
            </a:r>
            <a:r>
              <a:rPr lang="en-US" sz="2000" dirty="0"/>
              <a:t> </a:t>
            </a:r>
            <a:r>
              <a:rPr lang="en-US" sz="2000" i="1" dirty="0"/>
              <a:t>S</a:t>
            </a:r>
            <a:r>
              <a:rPr lang="en-US" sz="2000" baseline="-25000" dirty="0"/>
              <a:t>1</a:t>
            </a:r>
            <a:r>
              <a:rPr lang="en-US" sz="2000" dirty="0"/>
              <a:t> </a:t>
            </a:r>
            <a:r>
              <a:rPr lang="en-US" sz="2000" i="1" dirty="0"/>
              <a:t>Q</a:t>
            </a:r>
            <a:r>
              <a:rPr lang="en-US" sz="2000" dirty="0"/>
              <a:t>) ∨ (</a:t>
            </a:r>
            <a:r>
              <a:rPr lang="en-US" sz="2000" dirty="0">
                <a:sym typeface="Symbol" pitchFamily="16" charset="2"/>
              </a:rPr>
              <a:t></a:t>
            </a:r>
            <a:r>
              <a:rPr lang="en-US" sz="2000" i="1" dirty="0">
                <a:sym typeface="Symbol" pitchFamily="16" charset="2"/>
              </a:rPr>
              <a:t>g</a:t>
            </a:r>
            <a:r>
              <a:rPr lang="en-US" sz="2000" dirty="0">
                <a:sym typeface="Symbol" pitchFamily="16" charset="2"/>
              </a:rPr>
              <a:t> </a:t>
            </a:r>
            <a:r>
              <a:rPr lang="en-US" sz="2000" dirty="0"/>
              <a:t>∧</a:t>
            </a:r>
            <a:r>
              <a:rPr lang="en-US" sz="2000" dirty="0">
                <a:sym typeface="Symbol" pitchFamily="16" charset="2"/>
              </a:rPr>
              <a:t> </a:t>
            </a:r>
            <a:r>
              <a:rPr lang="en-US" sz="2000" b="1" dirty="0">
                <a:solidFill>
                  <a:srgbClr val="0070C0"/>
                </a:solidFill>
                <a:sym typeface="Symbol" pitchFamily="16" charset="2"/>
              </a:rPr>
              <a:t>wp</a:t>
            </a:r>
            <a:r>
              <a:rPr lang="en-US" sz="2000" dirty="0"/>
              <a:t> </a:t>
            </a:r>
            <a:r>
              <a:rPr lang="en-US" sz="2000" i="1" dirty="0"/>
              <a:t>S</a:t>
            </a:r>
            <a:r>
              <a:rPr lang="en-US" sz="2000" baseline="-25000" dirty="0"/>
              <a:t>2</a:t>
            </a:r>
            <a:r>
              <a:rPr lang="en-US" sz="2000" dirty="0"/>
              <a:t> </a:t>
            </a:r>
            <a:r>
              <a:rPr lang="en-US" sz="2000" i="1" dirty="0"/>
              <a:t>Q</a:t>
            </a:r>
            <a:r>
              <a:rPr lang="en-US" sz="2000" dirty="0"/>
              <a:t>)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088C57AD-38AC-01D9-931F-61DE91E9DE9B}"/>
              </a:ext>
            </a:extLst>
          </p:cNvPr>
          <p:cNvSpPr/>
          <p:nvPr/>
        </p:nvSpPr>
        <p:spPr>
          <a:xfrm>
            <a:off x="838200" y="4800600"/>
            <a:ext cx="7086600" cy="1371600"/>
          </a:xfrm>
          <a:prstGeom prst="roundRect">
            <a:avLst>
              <a:gd name="adj" fmla="val 36417"/>
            </a:avLst>
          </a:prstGeom>
          <a:solidFill>
            <a:srgbClr val="FFC000">
              <a:alpha val="25000"/>
            </a:srgb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Box 19">
                <a:extLst>
                  <a:ext uri="{FF2B5EF4-FFF2-40B4-BE49-F238E27FC236}">
                    <a16:creationId xmlns:a16="http://schemas.microsoft.com/office/drawing/2014/main" id="{C26701D5-6064-DED8-CC2E-269B569CABC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01725" y="5029200"/>
                <a:ext cx="6814045" cy="10156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US" sz="2000" dirty="0"/>
                  <a:t>    {*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sz="2000" dirty="0"/>
                  <a:t> *}   </a:t>
                </a:r>
                <a:r>
                  <a:rPr lang="en-US" sz="2000" dirty="0">
                    <a:latin typeface="Andale Mono" panose="020B0509000000000004" pitchFamily="49" charset="0"/>
                  </a:rPr>
                  <a:t>S</a:t>
                </a:r>
                <a:r>
                  <a:rPr lang="en-US" sz="2000" dirty="0"/>
                  <a:t>   {*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000" dirty="0"/>
                  <a:t> *}             {*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∧¬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sz="2000" dirty="0"/>
                  <a:t> *}  </a:t>
                </a:r>
                <a:r>
                  <a:rPr lang="en-US" sz="2000" dirty="0">
                    <a:latin typeface="Andale Mono" panose="020B0509000000000004" pitchFamily="49" charset="0"/>
                  </a:rPr>
                  <a:t>T</a:t>
                </a:r>
                <a:r>
                  <a:rPr lang="en-US" sz="2000" dirty="0"/>
                  <a:t>  {*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000" dirty="0"/>
                  <a:t> *}</a:t>
                </a:r>
              </a:p>
              <a:p>
                <a:r>
                  <a:rPr lang="en-US" sz="2000" dirty="0"/>
                  <a:t>--------------------------------------------------------------------------  </a:t>
                </a:r>
              </a:p>
              <a:p>
                <a:r>
                  <a:rPr lang="en-US" sz="2000" dirty="0"/>
                  <a:t>                   {*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000" dirty="0"/>
                  <a:t> *}  </a:t>
                </a:r>
                <a:r>
                  <a:rPr lang="en-US" sz="2000" b="1" dirty="0">
                    <a:solidFill>
                      <a:srgbClr val="0070C0"/>
                    </a:solidFill>
                    <a:latin typeface="Andale Mono" panose="020B0509000000000004" pitchFamily="49" charset="0"/>
                  </a:rPr>
                  <a:t>if</a:t>
                </a:r>
                <a:r>
                  <a:rPr lang="en-US" sz="2000" dirty="0">
                    <a:latin typeface="Andale Mono" panose="020B0509000000000004" pitchFamily="49" charset="0"/>
                  </a:rPr>
                  <a:t> </a:t>
                </a:r>
                <a:r>
                  <a:rPr lang="en-US" sz="2000" b="1" dirty="0">
                    <a:solidFill>
                      <a:srgbClr val="990033"/>
                    </a:solidFill>
                    <a:latin typeface="Andale Mono" panose="020B0509000000000004" pitchFamily="49" charset="0"/>
                  </a:rPr>
                  <a:t>g</a:t>
                </a:r>
                <a:r>
                  <a:rPr lang="en-US" sz="2000" dirty="0">
                    <a:latin typeface="Andale Mono" panose="020B0509000000000004" pitchFamily="49" charset="0"/>
                  </a:rPr>
                  <a:t> </a:t>
                </a:r>
                <a:r>
                  <a:rPr lang="en-US" sz="2000" b="1" dirty="0">
                    <a:solidFill>
                      <a:srgbClr val="0070C0"/>
                    </a:solidFill>
                    <a:latin typeface="Andale Mono" panose="020B0509000000000004" pitchFamily="49" charset="0"/>
                  </a:rPr>
                  <a:t>then</a:t>
                </a:r>
                <a:r>
                  <a:rPr lang="en-US" sz="2000" b="1" dirty="0">
                    <a:latin typeface="Andale Mono" panose="020B0509000000000004" pitchFamily="49" charset="0"/>
                  </a:rPr>
                  <a:t> S </a:t>
                </a:r>
                <a:r>
                  <a:rPr lang="en-US" sz="2000" b="1" dirty="0">
                    <a:solidFill>
                      <a:srgbClr val="0070C0"/>
                    </a:solidFill>
                    <a:latin typeface="Andale Mono" panose="020B0509000000000004" pitchFamily="49" charset="0"/>
                  </a:rPr>
                  <a:t>else</a:t>
                </a:r>
                <a:r>
                  <a:rPr lang="en-US" sz="2000" b="1" dirty="0">
                    <a:latin typeface="Andale Mono" panose="020B0509000000000004" pitchFamily="49" charset="0"/>
                  </a:rPr>
                  <a:t> T </a:t>
                </a:r>
                <a:r>
                  <a:rPr lang="en-US" sz="2000" dirty="0"/>
                  <a:t>{*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000" dirty="0"/>
                  <a:t> *} </a:t>
                </a:r>
              </a:p>
            </p:txBody>
          </p:sp>
        </mc:Choice>
        <mc:Fallback>
          <p:sp>
            <p:nvSpPr>
              <p:cNvPr id="4" name="Text Box 19">
                <a:extLst>
                  <a:ext uri="{FF2B5EF4-FFF2-40B4-BE49-F238E27FC236}">
                    <a16:creationId xmlns:a16="http://schemas.microsoft.com/office/drawing/2014/main" id="{C26701D5-6064-DED8-CC2E-269B569CAB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01725" y="5029200"/>
                <a:ext cx="6814045" cy="1015663"/>
              </a:xfrm>
              <a:prstGeom prst="rect">
                <a:avLst/>
              </a:prstGeom>
              <a:blipFill>
                <a:blip r:embed="rId3"/>
                <a:stretch>
                  <a:fillRect l="-929" t="-3704" b="-8642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BB410383-F250-3E90-0FFA-5F640D0CA452}"/>
              </a:ext>
            </a:extLst>
          </p:cNvPr>
          <p:cNvSpPr txBox="1"/>
          <p:nvPr/>
        </p:nvSpPr>
        <p:spPr>
          <a:xfrm>
            <a:off x="8039100" y="5292853"/>
            <a:ext cx="68580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Andale Mono" panose="020B0509000000000004" pitchFamily="49" charset="0"/>
              </a:rPr>
              <a:t>IF</a:t>
            </a:r>
          </a:p>
          <a:p>
            <a:r>
              <a:rPr lang="en-US" sz="900">
                <a:latin typeface="Andale Mono" panose="020B0509000000000004" pitchFamily="49" charset="0"/>
              </a:rPr>
              <a:t>(B.1.5)</a:t>
            </a:r>
          </a:p>
          <a:p>
            <a:endParaRPr lang="en-US">
              <a:latin typeface="Andale Mono" panose="020B0509000000000004" pitchFamily="49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E1E6063-0606-BC47-B58B-7159E28EC226}"/>
                  </a:ext>
                </a:extLst>
              </p:cNvPr>
              <p:cNvSpPr txBox="1"/>
              <p:nvPr/>
            </p:nvSpPr>
            <p:spPr>
              <a:xfrm>
                <a:off x="584447" y="2657864"/>
                <a:ext cx="7848600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Consider the hypotheses of the inference rule below. Then</a:t>
                </a:r>
              </a:p>
              <a:p>
                <a:r>
                  <a:rPr lang="en-US" dirty="0"/>
                  <a:t>	P ∧ g ⟹ </a:t>
                </a:r>
                <a:r>
                  <a:rPr lang="en-US" b="1" dirty="0">
                    <a:solidFill>
                      <a:srgbClr val="0070C0"/>
                    </a:solidFill>
                  </a:rPr>
                  <a:t>wp</a:t>
                </a:r>
                <a:r>
                  <a:rPr lang="en-US" dirty="0"/>
                  <a:t> </a:t>
                </a:r>
                <a:r>
                  <a:rPr lang="en-US" dirty="0">
                    <a:latin typeface="Andale Mono" panose="020B0509000000000004" pitchFamily="49" charset="0"/>
                  </a:rPr>
                  <a:t>S</a:t>
                </a:r>
                <a:r>
                  <a:rPr lang="en-US" dirty="0"/>
                  <a:t> </a:t>
                </a:r>
                <a:r>
                  <a:rPr lang="en-US" i="1" dirty="0"/>
                  <a:t>Q </a:t>
                </a:r>
                <a:r>
                  <a:rPr lang="en-US" dirty="0"/>
                  <a:t>and P ∧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¬ </m:t>
                    </m:r>
                  </m:oMath>
                </a14:m>
                <a:r>
                  <a:rPr lang="en-US" dirty="0"/>
                  <a:t>g ⟹ </a:t>
                </a:r>
                <a:r>
                  <a:rPr lang="en-US" b="1" dirty="0">
                    <a:solidFill>
                      <a:srgbClr val="0070C0"/>
                    </a:solidFill>
                  </a:rPr>
                  <a:t>wp</a:t>
                </a:r>
                <a:r>
                  <a:rPr lang="en-US" dirty="0"/>
                  <a:t> </a:t>
                </a:r>
                <a:r>
                  <a:rPr lang="en-US" dirty="0">
                    <a:latin typeface="Andale Mono" panose="020B0509000000000004" pitchFamily="49" charset="0"/>
                  </a:rPr>
                  <a:t>T</a:t>
                </a:r>
                <a:r>
                  <a:rPr lang="en-US" dirty="0"/>
                  <a:t> </a:t>
                </a:r>
                <a:r>
                  <a:rPr lang="en-US" i="1" dirty="0"/>
                  <a:t>Q.</a:t>
                </a:r>
              </a:p>
              <a:p>
                <a:r>
                  <a:rPr lang="en-US" dirty="0"/>
                  <a:t>We have</a:t>
                </a:r>
              </a:p>
              <a:p>
                <a:r>
                  <a:rPr lang="en-US" dirty="0"/>
                  <a:t>	P = P ∧ (g ∨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¬ </m:t>
                    </m:r>
                  </m:oMath>
                </a14:m>
                <a:r>
                  <a:rPr lang="en-US" dirty="0"/>
                  <a:t>g)			(law of excluded middle)</a:t>
                </a:r>
              </a:p>
              <a:p>
                <a:r>
                  <a:rPr lang="en-US" dirty="0"/>
                  <a:t>                  = (P ∧ g ∧ g) ∨ (P ∧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¬ </m:t>
                    </m:r>
                  </m:oMath>
                </a14:m>
                <a:r>
                  <a:rPr lang="en-US" dirty="0"/>
                  <a:t>g ∧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¬ </m:t>
                    </m:r>
                  </m:oMath>
                </a14:m>
                <a:r>
                  <a:rPr lang="en-US" dirty="0"/>
                  <a:t>g) 	</a:t>
                </a:r>
              </a:p>
              <a:p>
                <a:r>
                  <a:rPr lang="en-US" dirty="0"/>
                  <a:t>	 ⟹ ((</a:t>
                </a:r>
                <a:r>
                  <a:rPr lang="en-US" b="1" dirty="0">
                    <a:solidFill>
                      <a:srgbClr val="0070C0"/>
                    </a:solidFill>
                  </a:rPr>
                  <a:t>wp</a:t>
                </a:r>
                <a:r>
                  <a:rPr lang="en-US" dirty="0"/>
                  <a:t> </a:t>
                </a:r>
                <a:r>
                  <a:rPr lang="en-US" dirty="0">
                    <a:latin typeface="Andale Mono" panose="020B0509000000000004" pitchFamily="49" charset="0"/>
                  </a:rPr>
                  <a:t>S</a:t>
                </a:r>
                <a:r>
                  <a:rPr lang="en-US" dirty="0"/>
                  <a:t> </a:t>
                </a:r>
                <a:r>
                  <a:rPr lang="en-US" i="1" dirty="0"/>
                  <a:t>Q</a:t>
                </a:r>
                <a:r>
                  <a:rPr lang="en-US" dirty="0"/>
                  <a:t>) ∧ g) ∨ (</a:t>
                </a:r>
                <a:r>
                  <a:rPr lang="en-US" b="1" dirty="0">
                    <a:solidFill>
                      <a:srgbClr val="0070C0"/>
                    </a:solidFill>
                  </a:rPr>
                  <a:t>wp</a:t>
                </a:r>
                <a:r>
                  <a:rPr lang="en-US" dirty="0"/>
                  <a:t> </a:t>
                </a:r>
                <a:r>
                  <a:rPr lang="en-US" dirty="0">
                    <a:latin typeface="Andale Mono" panose="020B0509000000000004" pitchFamily="49" charset="0"/>
                  </a:rPr>
                  <a:t>T</a:t>
                </a:r>
                <a:r>
                  <a:rPr lang="en-US" dirty="0"/>
                  <a:t> </a:t>
                </a:r>
                <a:r>
                  <a:rPr lang="en-US" i="1" dirty="0"/>
                  <a:t>Q </a:t>
                </a:r>
                <a:r>
                  <a:rPr lang="en-US" dirty="0"/>
                  <a:t>∧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¬ </m:t>
                    </m:r>
                  </m:oMath>
                </a14:m>
                <a:r>
                  <a:rPr lang="en-US" dirty="0"/>
                  <a:t>g) </a:t>
                </a:r>
              </a:p>
              <a:p>
                <a:r>
                  <a:rPr lang="en-US" dirty="0"/>
                  <a:t>So we get the rule again: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E1E6063-0606-BC47-B58B-7159E28EC2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447" y="2657864"/>
                <a:ext cx="7848600" cy="2031325"/>
              </a:xfrm>
              <a:prstGeom prst="rect">
                <a:avLst/>
              </a:prstGeom>
              <a:blipFill>
                <a:blip r:embed="rId4"/>
                <a:stretch>
                  <a:fillRect l="-809" t="-1242" b="-3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384804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D29531-C141-BAAC-0A69-E0DCBB134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53EFA2-19D2-9E2E-D15B-62A743F3706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6EAA5CC-07B3-4191-BCBD-37506C4EB906}" type="slidenum">
              <a:rPr lang="en-US" altLang="en-US"/>
              <a:pPr>
                <a:defRPr/>
              </a:pPr>
              <a:t>44</a:t>
            </a:fld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C889EEB-A1E2-3415-1E4E-E47BDFA09C08}"/>
              </a:ext>
            </a:extLst>
          </p:cNvPr>
          <p:cNvSpPr/>
          <p:nvPr/>
        </p:nvSpPr>
        <p:spPr>
          <a:xfrm>
            <a:off x="6553200" y="2667000"/>
            <a:ext cx="762000" cy="838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nl-NL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E9A8D4-2324-5655-B491-26D406FAAB16}"/>
              </a:ext>
            </a:extLst>
          </p:cNvPr>
          <p:cNvSpPr/>
          <p:nvPr/>
        </p:nvSpPr>
        <p:spPr>
          <a:xfrm>
            <a:off x="3124200" y="2667000"/>
            <a:ext cx="3352800" cy="838200"/>
          </a:xfrm>
          <a:prstGeom prst="rect">
            <a:avLst/>
          </a:prstGeom>
          <a:solidFill>
            <a:srgbClr val="FFDB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6F41B9-3196-EADE-C9A0-B8E9E8C2F5F0}"/>
              </a:ext>
            </a:extLst>
          </p:cNvPr>
          <p:cNvSpPr txBox="1">
            <a:spLocks noGrp="1"/>
          </p:cNvSpPr>
          <p:nvPr/>
        </p:nvSpPr>
        <p:spPr bwMode="auto">
          <a:xfrm>
            <a:off x="7010400" y="6400800"/>
            <a:ext cx="2133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/>
          <a:lstStyle/>
          <a:p>
            <a:pPr algn="r">
              <a:defRPr/>
            </a:pPr>
            <a:fld id="{C985B4B3-9B20-4FDA-B015-69B6EE9D4C37}" type="slidenum">
              <a:rPr lang="en-US" altLang="en-US" sz="1200">
                <a:latin typeface="+mj-lt"/>
              </a:rPr>
              <a:pPr algn="r">
                <a:defRPr/>
              </a:pPr>
              <a:t>44</a:t>
            </a:fld>
            <a:endParaRPr lang="en-US" altLang="en-US" sz="1200">
              <a:latin typeface="+mj-lt"/>
            </a:endParaRPr>
          </a:p>
        </p:txBody>
      </p:sp>
      <p:sp>
        <p:nvSpPr>
          <p:cNvPr id="19462" name="Rectangle 2">
            <a:extLst>
              <a:ext uri="{FF2B5EF4-FFF2-40B4-BE49-F238E27FC236}">
                <a16:creationId xmlns:a16="http://schemas.microsoft.com/office/drawing/2014/main" id="{5C1CC340-D9BD-C1BE-5D05-737CED11F8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How does a proof proceed now ?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86B20A64-97F2-4F6B-34E1-F5DB27B23D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Char char="n"/>
              <a:defRPr/>
            </a:pPr>
            <a:r>
              <a:rPr lang="en-US" dirty="0">
                <a:solidFill>
                  <a:srgbClr val="0000CC"/>
                </a:solidFill>
              </a:rPr>
              <a:t>{* </a:t>
            </a:r>
            <a:r>
              <a:rPr lang="en-US" dirty="0" err="1">
                <a:solidFill>
                  <a:srgbClr val="0000CC"/>
                </a:solidFill>
              </a:rPr>
              <a:t>x</a:t>
            </a:r>
            <a:r>
              <a:rPr lang="en-US" dirty="0" err="1">
                <a:solidFill>
                  <a:srgbClr val="0000CC"/>
                </a:solidFill>
                <a:sym typeface="Symbol" pitchFamily="18" charset="2"/>
              </a:rPr>
              <a:t>y</a:t>
            </a:r>
            <a:r>
              <a:rPr lang="en-US" dirty="0">
                <a:solidFill>
                  <a:srgbClr val="0000CC"/>
                </a:solidFill>
                <a:sym typeface="Symbol" pitchFamily="18" charset="2"/>
              </a:rPr>
              <a:t> *}</a:t>
            </a:r>
            <a:r>
              <a:rPr lang="en-US" dirty="0">
                <a:sym typeface="Symbol" pitchFamily="18" charset="2"/>
              </a:rPr>
              <a:t>    </a:t>
            </a:r>
            <a:r>
              <a:rPr lang="en-US" dirty="0" err="1"/>
              <a:t>tmp</a:t>
            </a:r>
            <a:r>
              <a:rPr lang="en-US" dirty="0"/>
              <a:t>:= x  ; x:=y ; y:=</a:t>
            </a:r>
            <a:r>
              <a:rPr lang="en-US" dirty="0" err="1"/>
              <a:t>tmp</a:t>
            </a:r>
            <a:r>
              <a:rPr lang="en-US" dirty="0"/>
              <a:t>   </a:t>
            </a:r>
            <a:r>
              <a:rPr lang="en-US" dirty="0">
                <a:solidFill>
                  <a:srgbClr val="0000CC"/>
                </a:solidFill>
              </a:rPr>
              <a:t>{* </a:t>
            </a:r>
            <a:r>
              <a:rPr lang="en-US" dirty="0" err="1">
                <a:solidFill>
                  <a:srgbClr val="0000CC"/>
                </a:solidFill>
              </a:rPr>
              <a:t>x</a:t>
            </a:r>
            <a:r>
              <a:rPr lang="en-US" dirty="0" err="1">
                <a:solidFill>
                  <a:srgbClr val="0000CC"/>
                </a:solidFill>
                <a:sym typeface="Symbol" pitchFamily="18" charset="2"/>
              </a:rPr>
              <a:t>y</a:t>
            </a:r>
            <a:r>
              <a:rPr lang="en-US" dirty="0">
                <a:solidFill>
                  <a:srgbClr val="0000CC"/>
                </a:solidFill>
                <a:sym typeface="Symbol" pitchFamily="18" charset="2"/>
              </a:rPr>
              <a:t> *}</a:t>
            </a:r>
            <a:r>
              <a:rPr lang="en-US" dirty="0"/>
              <a:t> </a:t>
            </a:r>
          </a:p>
          <a:p>
            <a:pPr eaLnBrk="1" hangingPunct="1">
              <a:buFont typeface="Wingdings" pitchFamily="2" charset="2"/>
              <a:buChar char="n"/>
              <a:defRPr/>
            </a:pPr>
            <a:endParaRPr lang="en-US" dirty="0"/>
          </a:p>
          <a:p>
            <a:pPr marL="457200" indent="-457200" eaLnBrk="1" hangingPunct="1">
              <a:buFont typeface="+mj-lt"/>
              <a:buAutoNum type="arabicPeriod"/>
              <a:defRPr/>
            </a:pPr>
            <a:r>
              <a:rPr lang="en-US" dirty="0"/>
              <a:t>Calculate: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	W     =     </a:t>
            </a:r>
            <a:r>
              <a:rPr lang="en-US" dirty="0" err="1"/>
              <a:t>wp</a:t>
            </a:r>
            <a:r>
              <a:rPr lang="en-US" dirty="0"/>
              <a:t>   (</a:t>
            </a:r>
            <a:r>
              <a:rPr lang="en-US" dirty="0" err="1"/>
              <a:t>tmp</a:t>
            </a:r>
            <a:r>
              <a:rPr lang="en-US" dirty="0"/>
              <a:t>:= x ; x:=y ; y:=</a:t>
            </a:r>
            <a:r>
              <a:rPr lang="en-US" dirty="0" err="1"/>
              <a:t>tmp</a:t>
            </a:r>
            <a:r>
              <a:rPr lang="en-US" dirty="0"/>
              <a:t>)   </a:t>
            </a:r>
            <a:r>
              <a:rPr lang="en-US" dirty="0">
                <a:solidFill>
                  <a:srgbClr val="0000CC"/>
                </a:solidFill>
              </a:rPr>
              <a:t> </a:t>
            </a:r>
            <a:r>
              <a:rPr lang="en-US" dirty="0" err="1">
                <a:solidFill>
                  <a:srgbClr val="0000CC"/>
                </a:solidFill>
              </a:rPr>
              <a:t>x</a:t>
            </a:r>
            <a:r>
              <a:rPr lang="en-US" dirty="0" err="1">
                <a:solidFill>
                  <a:srgbClr val="0000CC"/>
                </a:solidFill>
                <a:sym typeface="Symbol" pitchFamily="18" charset="2"/>
              </a:rPr>
              <a:t>y</a:t>
            </a:r>
            <a:r>
              <a:rPr lang="en-US" dirty="0">
                <a:solidFill>
                  <a:srgbClr val="0000CC"/>
                </a:solidFill>
                <a:sym typeface="Symbol" pitchFamily="18" charset="2"/>
              </a:rPr>
              <a:t> </a:t>
            </a:r>
            <a:r>
              <a:rPr lang="en-US" dirty="0"/>
              <a:t> </a:t>
            </a:r>
          </a:p>
          <a:p>
            <a:pPr marL="457200" indent="-457200" eaLnBrk="1" hangingPunct="1">
              <a:buFont typeface="+mj-lt"/>
              <a:buAutoNum type="arabicPeriod"/>
              <a:defRPr/>
            </a:pPr>
            <a:endParaRPr lang="en-US" dirty="0"/>
          </a:p>
          <a:p>
            <a:pPr marL="457200" indent="-457200" eaLnBrk="1" hangingPunct="1">
              <a:buFont typeface="+mj-lt"/>
              <a:buAutoNum type="arabicPeriod"/>
              <a:defRPr/>
            </a:pPr>
            <a:r>
              <a:rPr lang="en-US" dirty="0"/>
              <a:t>Then prove: 	</a:t>
            </a:r>
            <a:r>
              <a:rPr lang="en-US" dirty="0" err="1">
                <a:solidFill>
                  <a:srgbClr val="0000CC"/>
                </a:solidFill>
              </a:rPr>
              <a:t>x</a:t>
            </a:r>
            <a:r>
              <a:rPr lang="en-US" dirty="0" err="1">
                <a:solidFill>
                  <a:srgbClr val="0000CC"/>
                </a:solidFill>
                <a:sym typeface="Symbol" pitchFamily="18" charset="2"/>
              </a:rPr>
              <a:t>y</a:t>
            </a:r>
            <a:r>
              <a:rPr lang="en-US" dirty="0">
                <a:solidFill>
                  <a:srgbClr val="0000CC"/>
                </a:solidFill>
                <a:sym typeface="Symbol" pitchFamily="18" charset="2"/>
              </a:rPr>
              <a:t> </a:t>
            </a:r>
            <a:r>
              <a:rPr lang="en-US" dirty="0">
                <a:solidFill>
                  <a:srgbClr val="0000CC"/>
                </a:solidFill>
                <a:sym typeface="Symbol"/>
              </a:rPr>
              <a:t>  W</a:t>
            </a:r>
            <a:br>
              <a:rPr lang="en-US" dirty="0"/>
            </a:br>
            <a:endParaRPr lang="en-US" dirty="0"/>
          </a:p>
          <a:p>
            <a:pPr eaLnBrk="1" hangingPunct="1">
              <a:buFont typeface="Wingdings" pitchFamily="2" charset="2"/>
              <a:buChar char="n"/>
              <a:defRPr/>
            </a:pPr>
            <a:r>
              <a:rPr lang="en-US" dirty="0"/>
              <a:t>We </a:t>
            </a:r>
            <a:r>
              <a:rPr lang="en-US" u="sng" dirty="0"/>
              <a:t>calculate</a:t>
            </a:r>
            <a:r>
              <a:rPr lang="en-US" dirty="0"/>
              <a:t> the intermediate assertions, rather than manually figuring them out!</a:t>
            </a:r>
          </a:p>
        </p:txBody>
      </p:sp>
    </p:spTree>
    <p:extLst>
      <p:ext uri="{BB962C8B-B14F-4D97-AF65-F5344CB8AC3E}">
        <p14:creationId xmlns:p14="http://schemas.microsoft.com/office/powerpoint/2010/main" val="2370864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7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7BBDA1-9364-809D-429D-83A8AF3AE0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6">
            <a:extLst>
              <a:ext uri="{FF2B5EF4-FFF2-40B4-BE49-F238E27FC236}">
                <a16:creationId xmlns:a16="http://schemas.microsoft.com/office/drawing/2014/main" id="{0FDAA7D5-88B1-B203-506A-F89EC7C8801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B4010ED-B659-46B3-B334-93D918D94912}" type="slidenum">
              <a:rPr lang="en-US" altLang="en-US"/>
              <a:pPr>
                <a:defRPr/>
              </a:pPr>
              <a:t>45</a:t>
            </a:fld>
            <a:endParaRPr lang="en-US" altLang="en-US"/>
          </a:p>
        </p:txBody>
      </p:sp>
      <p:sp>
        <p:nvSpPr>
          <p:cNvPr id="21507" name="Rectangle 5">
            <a:extLst>
              <a:ext uri="{FF2B5EF4-FFF2-40B4-BE49-F238E27FC236}">
                <a16:creationId xmlns:a16="http://schemas.microsoft.com/office/drawing/2014/main" id="{8A05F3FC-4985-7D03-B460-5B81FC661F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5105400"/>
            <a:ext cx="762000" cy="381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21508" name="Rectangle 6">
            <a:extLst>
              <a:ext uri="{FF2B5EF4-FFF2-40B4-BE49-F238E27FC236}">
                <a16:creationId xmlns:a16="http://schemas.microsoft.com/office/drawing/2014/main" id="{68F42A26-F98F-E84B-8969-9FDBF69DB3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794828"/>
            <a:ext cx="914400" cy="43932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21509" name="Rectangle 2">
            <a:extLst>
              <a:ext uri="{FF2B5EF4-FFF2-40B4-BE49-F238E27FC236}">
                <a16:creationId xmlns:a16="http://schemas.microsoft.com/office/drawing/2014/main" id="{AD9570B3-E9E0-8DAE-D534-24E641A44B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</a:t>
            </a:r>
          </a:p>
        </p:txBody>
      </p:sp>
      <p:sp>
        <p:nvSpPr>
          <p:cNvPr id="21510" name="TextBox 4">
            <a:extLst>
              <a:ext uri="{FF2B5EF4-FFF2-40B4-BE49-F238E27FC236}">
                <a16:creationId xmlns:a16="http://schemas.microsoft.com/office/drawing/2014/main" id="{6369F945-09C7-858E-28AA-C82498F932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752600"/>
            <a:ext cx="86868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 dirty="0"/>
              <a:t>{*  x &gt; 0 </a:t>
            </a:r>
            <a:r>
              <a:rPr lang="en-US" sz="2400" dirty="0">
                <a:sym typeface="Symbol" pitchFamily="16" charset="2"/>
              </a:rPr>
              <a:t>*}</a:t>
            </a:r>
            <a:endParaRPr lang="nl-NL" sz="2400" dirty="0"/>
          </a:p>
          <a:p>
            <a:r>
              <a:rPr lang="en-US" sz="2400" dirty="0"/>
              <a:t>      </a:t>
            </a:r>
          </a:p>
          <a:p>
            <a:endParaRPr lang="en-US" sz="2400" dirty="0">
              <a:sym typeface="Symbol" pitchFamily="16" charset="2"/>
            </a:endParaRPr>
          </a:p>
          <a:p>
            <a:r>
              <a:rPr lang="en-US" sz="2400" dirty="0">
                <a:sym typeface="Symbol" pitchFamily="16" charset="2"/>
              </a:rPr>
              <a:t>     y := -1 - x;</a:t>
            </a:r>
            <a:br>
              <a:rPr lang="en-US" sz="2400" dirty="0">
                <a:sym typeface="Symbol" pitchFamily="16" charset="2"/>
              </a:rPr>
            </a:br>
            <a:endParaRPr lang="en-US" sz="2400" dirty="0">
              <a:sym typeface="Symbol" pitchFamily="16" charset="2"/>
            </a:endParaRPr>
          </a:p>
          <a:p>
            <a:endParaRPr lang="en-US" sz="2400" dirty="0">
              <a:sym typeface="Symbol" pitchFamily="16" charset="2"/>
            </a:endParaRPr>
          </a:p>
          <a:p>
            <a:r>
              <a:rPr lang="en-US" sz="2400" dirty="0">
                <a:sym typeface="Symbol" pitchFamily="16" charset="2"/>
              </a:rPr>
              <a:t>     z := x * y</a:t>
            </a:r>
          </a:p>
          <a:p>
            <a:br>
              <a:rPr lang="en-US" sz="2400" dirty="0">
                <a:sym typeface="Symbol" pitchFamily="16" charset="2"/>
              </a:rPr>
            </a:br>
            <a:endParaRPr lang="en-US" sz="2400" dirty="0">
              <a:sym typeface="Symbol" pitchFamily="16" charset="2"/>
            </a:endParaRPr>
          </a:p>
          <a:p>
            <a:r>
              <a:rPr lang="en-US" sz="2400" dirty="0">
                <a:sym typeface="Symbol" pitchFamily="16" charset="2"/>
              </a:rPr>
              <a:t>{* </a:t>
            </a:r>
            <a:r>
              <a:rPr lang="en-US" sz="2400" dirty="0"/>
              <a:t>z &lt; 0</a:t>
            </a:r>
            <a:r>
              <a:rPr lang="en-US" sz="2400" dirty="0">
                <a:sym typeface="Symbol" pitchFamily="16" charset="2"/>
              </a:rPr>
              <a:t> *} </a:t>
            </a:r>
            <a:endParaRPr lang="nl-NL" sz="2400" dirty="0">
              <a:sym typeface="Symbol" pitchFamily="16" charset="2"/>
            </a:endParaRPr>
          </a:p>
        </p:txBody>
      </p:sp>
      <p:sp>
        <p:nvSpPr>
          <p:cNvPr id="32775" name="Text Box 7">
            <a:extLst>
              <a:ext uri="{FF2B5EF4-FFF2-40B4-BE49-F238E27FC236}">
                <a16:creationId xmlns:a16="http://schemas.microsoft.com/office/drawing/2014/main" id="{6F732D9A-81F6-E615-CF78-9ED7F56FBF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4343400"/>
            <a:ext cx="1303562" cy="461665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dirty="0"/>
              <a:t>x * y &lt; 0</a:t>
            </a:r>
            <a:endParaRPr lang="en-US" sz="2400" dirty="0">
              <a:sym typeface="Symbol" pitchFamily="16" charset="2"/>
            </a:endParaRPr>
          </a:p>
        </p:txBody>
      </p:sp>
      <p:sp>
        <p:nvSpPr>
          <p:cNvPr id="32776" name="Freeform 8">
            <a:extLst>
              <a:ext uri="{FF2B5EF4-FFF2-40B4-BE49-F238E27FC236}">
                <a16:creationId xmlns:a16="http://schemas.microsoft.com/office/drawing/2014/main" id="{A67A839E-D023-3996-B514-DEEF15B38830}"/>
              </a:ext>
            </a:extLst>
          </p:cNvPr>
          <p:cNvSpPr>
            <a:spLocks/>
          </p:cNvSpPr>
          <p:nvPr/>
        </p:nvSpPr>
        <p:spPr bwMode="auto">
          <a:xfrm>
            <a:off x="914400" y="3771900"/>
            <a:ext cx="3276600" cy="800100"/>
          </a:xfrm>
          <a:custGeom>
            <a:avLst/>
            <a:gdLst>
              <a:gd name="T0" fmla="*/ 2147483647 w 2064"/>
              <a:gd name="T1" fmla="*/ 2147483647 h 552"/>
              <a:gd name="T2" fmla="*/ 2147483647 w 2064"/>
              <a:gd name="T3" fmla="*/ 2147483647 h 552"/>
              <a:gd name="T4" fmla="*/ 0 w 2064"/>
              <a:gd name="T5" fmla="*/ 2147483647 h 552"/>
              <a:gd name="T6" fmla="*/ 0 60000 65536"/>
              <a:gd name="T7" fmla="*/ 0 60000 65536"/>
              <a:gd name="T8" fmla="*/ 0 60000 65536"/>
              <a:gd name="T9" fmla="*/ 0 w 2064"/>
              <a:gd name="T10" fmla="*/ 0 h 552"/>
              <a:gd name="T11" fmla="*/ 2064 w 2064"/>
              <a:gd name="T12" fmla="*/ 552 h 55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64" h="552">
                <a:moveTo>
                  <a:pt x="2064" y="552"/>
                </a:moveTo>
                <a:cubicBezTo>
                  <a:pt x="1708" y="348"/>
                  <a:pt x="1352" y="144"/>
                  <a:pt x="1008" y="72"/>
                </a:cubicBezTo>
                <a:cubicBezTo>
                  <a:pt x="664" y="0"/>
                  <a:pt x="216" y="96"/>
                  <a:pt x="0" y="120"/>
                </a:cubicBezTo>
              </a:path>
            </a:pathLst>
          </a:custGeom>
          <a:noFill/>
          <a:ln w="19050">
            <a:solidFill>
              <a:schemeClr val="hlink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2777" name="Oval 9">
            <a:extLst>
              <a:ext uri="{FF2B5EF4-FFF2-40B4-BE49-F238E27FC236}">
                <a16:creationId xmlns:a16="http://schemas.microsoft.com/office/drawing/2014/main" id="{70B0738E-3D25-AD1D-FDFB-13A5221EC9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5105398"/>
            <a:ext cx="304800" cy="432854"/>
          </a:xfrm>
          <a:prstGeom prst="ellipse">
            <a:avLst/>
          </a:prstGeom>
          <a:noFill/>
          <a:ln w="28575">
            <a:solidFill>
              <a:srgbClr val="990033"/>
            </a:solidFill>
            <a:round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32778" name="Oval 10">
            <a:extLst>
              <a:ext uri="{FF2B5EF4-FFF2-40B4-BE49-F238E27FC236}">
                <a16:creationId xmlns:a16="http://schemas.microsoft.com/office/drawing/2014/main" id="{A7C12C0D-DBC9-5E6C-978C-045FDF5ED6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6032" y="4191000"/>
            <a:ext cx="813619" cy="800100"/>
          </a:xfrm>
          <a:prstGeom prst="ellipse">
            <a:avLst/>
          </a:prstGeom>
          <a:noFill/>
          <a:ln w="28575">
            <a:solidFill>
              <a:srgbClr val="990033"/>
            </a:solidFill>
            <a:round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32779" name="Text Box 11">
            <a:extLst>
              <a:ext uri="{FF2B5EF4-FFF2-40B4-BE49-F238E27FC236}">
                <a16:creationId xmlns:a16="http://schemas.microsoft.com/office/drawing/2014/main" id="{A21E05FE-6165-E739-312E-9C9995B27C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3238" y="3276600"/>
            <a:ext cx="2124299" cy="461665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dirty="0"/>
              <a:t>x * (-1 – x) &lt; 0</a:t>
            </a:r>
            <a:endParaRPr lang="en-US" sz="2400" dirty="0">
              <a:sym typeface="Symbol" pitchFamily="16" charset="2"/>
            </a:endParaRPr>
          </a:p>
        </p:txBody>
      </p:sp>
      <p:sp>
        <p:nvSpPr>
          <p:cNvPr id="32780" name="Freeform 12">
            <a:extLst>
              <a:ext uri="{FF2B5EF4-FFF2-40B4-BE49-F238E27FC236}">
                <a16:creationId xmlns:a16="http://schemas.microsoft.com/office/drawing/2014/main" id="{939BC98F-C90E-C259-931C-7202F2A8CF98}"/>
              </a:ext>
            </a:extLst>
          </p:cNvPr>
          <p:cNvSpPr>
            <a:spLocks/>
          </p:cNvSpPr>
          <p:nvPr/>
        </p:nvSpPr>
        <p:spPr bwMode="auto">
          <a:xfrm>
            <a:off x="914400" y="2590800"/>
            <a:ext cx="3276600" cy="800100"/>
          </a:xfrm>
          <a:custGeom>
            <a:avLst/>
            <a:gdLst>
              <a:gd name="T0" fmla="*/ 2147483647 w 2064"/>
              <a:gd name="T1" fmla="*/ 2147483647 h 552"/>
              <a:gd name="T2" fmla="*/ 2147483647 w 2064"/>
              <a:gd name="T3" fmla="*/ 2147483647 h 552"/>
              <a:gd name="T4" fmla="*/ 0 w 2064"/>
              <a:gd name="T5" fmla="*/ 2147483647 h 552"/>
              <a:gd name="T6" fmla="*/ 0 60000 65536"/>
              <a:gd name="T7" fmla="*/ 0 60000 65536"/>
              <a:gd name="T8" fmla="*/ 0 60000 65536"/>
              <a:gd name="T9" fmla="*/ 0 w 2064"/>
              <a:gd name="T10" fmla="*/ 0 h 552"/>
              <a:gd name="T11" fmla="*/ 2064 w 2064"/>
              <a:gd name="T12" fmla="*/ 552 h 55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64" h="552">
                <a:moveTo>
                  <a:pt x="2064" y="552"/>
                </a:moveTo>
                <a:cubicBezTo>
                  <a:pt x="1708" y="348"/>
                  <a:pt x="1352" y="144"/>
                  <a:pt x="1008" y="72"/>
                </a:cubicBezTo>
                <a:cubicBezTo>
                  <a:pt x="664" y="0"/>
                  <a:pt x="216" y="96"/>
                  <a:pt x="0" y="120"/>
                </a:cubicBezTo>
              </a:path>
            </a:pathLst>
          </a:custGeom>
          <a:noFill/>
          <a:ln w="19050">
            <a:solidFill>
              <a:schemeClr val="hlink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2781" name="Oval 13">
            <a:extLst>
              <a:ext uri="{FF2B5EF4-FFF2-40B4-BE49-F238E27FC236}">
                <a16:creationId xmlns:a16="http://schemas.microsoft.com/office/drawing/2014/main" id="{093F9770-CD22-B129-0498-33A296BC38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4429124"/>
            <a:ext cx="381000" cy="447675"/>
          </a:xfrm>
          <a:prstGeom prst="ellips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32782" name="Oval 14">
            <a:extLst>
              <a:ext uri="{FF2B5EF4-FFF2-40B4-BE49-F238E27FC236}">
                <a16:creationId xmlns:a16="http://schemas.microsoft.com/office/drawing/2014/main" id="{B690AE98-D444-5504-68E2-E72E4128E0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2" y="3252256"/>
            <a:ext cx="838198" cy="643468"/>
          </a:xfrm>
          <a:prstGeom prst="ellips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32785" name="Text Box 17">
            <a:extLst>
              <a:ext uri="{FF2B5EF4-FFF2-40B4-BE49-F238E27FC236}">
                <a16:creationId xmlns:a16="http://schemas.microsoft.com/office/drawing/2014/main" id="{A25DCFC0-2526-5E25-D823-C0A8D7E404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5943600"/>
            <a:ext cx="3779838" cy="519113"/>
          </a:xfrm>
          <a:prstGeom prst="rect">
            <a:avLst/>
          </a:prstGeom>
          <a:solidFill>
            <a:srgbClr val="0000CC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 dirty="0" err="1">
                <a:solidFill>
                  <a:schemeClr val="bg1"/>
                </a:solidFill>
              </a:rPr>
              <a:t>wp</a:t>
            </a:r>
            <a:r>
              <a:rPr lang="en-US" sz="2800" dirty="0">
                <a:solidFill>
                  <a:schemeClr val="bg1"/>
                </a:solidFill>
              </a:rPr>
              <a:t>  (x:=e)  Q  =  Q[e/x]</a:t>
            </a:r>
          </a:p>
        </p:txBody>
      </p:sp>
      <p:sp>
        <p:nvSpPr>
          <p:cNvPr id="12" name="Bent Arrow 11">
            <a:extLst>
              <a:ext uri="{FF2B5EF4-FFF2-40B4-BE49-F238E27FC236}">
                <a16:creationId xmlns:a16="http://schemas.microsoft.com/office/drawing/2014/main" id="{486D31F2-7778-BB1D-9FED-489FDDFB21A9}"/>
              </a:ext>
            </a:extLst>
          </p:cNvPr>
          <p:cNvSpPr/>
          <p:nvPr/>
        </p:nvSpPr>
        <p:spPr>
          <a:xfrm rot="5400000">
            <a:off x="3207742" y="545003"/>
            <a:ext cx="1312765" cy="3854150"/>
          </a:xfrm>
          <a:prstGeom prst="bentArrow">
            <a:avLst>
              <a:gd name="adj1" fmla="val 25000"/>
              <a:gd name="adj2" fmla="val 27125"/>
              <a:gd name="adj3" fmla="val 25000"/>
              <a:gd name="adj4" fmla="val 46654"/>
            </a:avLst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0812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5" grpId="0" animBg="1"/>
      <p:bldP spid="32776" grpId="0" animBg="1"/>
      <p:bldP spid="32777" grpId="0" animBg="1"/>
      <p:bldP spid="32777" grpId="1" animBg="1"/>
      <p:bldP spid="32778" grpId="0" animBg="1"/>
      <p:bldP spid="32778" grpId="1" animBg="1"/>
      <p:bldP spid="32779" grpId="0" animBg="1"/>
      <p:bldP spid="32780" grpId="0" animBg="1"/>
      <p:bldP spid="32781" grpId="0" animBg="1"/>
      <p:bldP spid="32782" grpId="0" animBg="1"/>
      <p:bldP spid="32782" grpId="1" animBg="1"/>
      <p:bldP spid="32785" grpId="0" animBg="1"/>
      <p:bldP spid="12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6C553-78EA-CA86-3337-3777BB955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6">
            <a:extLst>
              <a:ext uri="{FF2B5EF4-FFF2-40B4-BE49-F238E27FC236}">
                <a16:creationId xmlns:a16="http://schemas.microsoft.com/office/drawing/2014/main" id="{210109A3-C5C4-4873-D485-2A4C1E5D3EA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B4010ED-B659-46B3-B334-93D918D94912}" type="slidenum">
              <a:rPr lang="en-US" altLang="en-US"/>
              <a:pPr>
                <a:defRPr/>
              </a:pPr>
              <a:t>46</a:t>
            </a:fld>
            <a:endParaRPr lang="en-US" altLang="en-US"/>
          </a:p>
        </p:txBody>
      </p:sp>
      <p:sp>
        <p:nvSpPr>
          <p:cNvPr id="21509" name="Rectangle 2">
            <a:extLst>
              <a:ext uri="{FF2B5EF4-FFF2-40B4-BE49-F238E27FC236}">
                <a16:creationId xmlns:a16="http://schemas.microsoft.com/office/drawing/2014/main" id="{D2CB6A12-3D80-D651-5B09-6B26B46AEA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B5DC17-7ACA-ABA5-EC2E-FFA7AA97A02E}"/>
              </a:ext>
            </a:extLst>
          </p:cNvPr>
          <p:cNvSpPr txBox="1"/>
          <p:nvPr/>
        </p:nvSpPr>
        <p:spPr>
          <a:xfrm>
            <a:off x="983226" y="1573160"/>
            <a:ext cx="73225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 err="1"/>
              <a:t>Thm</a:t>
            </a:r>
            <a:r>
              <a:rPr lang="en-US" sz="2000" dirty="0"/>
              <a:t>. x &gt; 0 implies x * (-1 – x) &lt; 0.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F9E25A-5E24-6DB9-8B22-39CE6FDBE017}"/>
              </a:ext>
            </a:extLst>
          </p:cNvPr>
          <p:cNvSpPr txBox="1"/>
          <p:nvPr/>
        </p:nvSpPr>
        <p:spPr>
          <a:xfrm>
            <a:off x="1516626" y="2057400"/>
            <a:ext cx="732257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Proof</a:t>
            </a:r>
            <a:r>
              <a:rPr lang="en-US" sz="2000" dirty="0"/>
              <a:t>.   x &gt; 0</a:t>
            </a:r>
          </a:p>
          <a:p>
            <a:r>
              <a:rPr lang="en-US" sz="2000" dirty="0"/>
              <a:t>⟹         1 + x &gt; 0</a:t>
            </a:r>
          </a:p>
          <a:p>
            <a:r>
              <a:rPr lang="en-US" sz="2000" dirty="0"/>
              <a:t>⟹       -(1 + x) &lt; 0</a:t>
            </a:r>
          </a:p>
          <a:p>
            <a:r>
              <a:rPr lang="en-US" sz="2000" dirty="0"/>
              <a:t>⟹       -1 - x &lt; 0.</a:t>
            </a:r>
          </a:p>
          <a:p>
            <a:r>
              <a:rPr lang="en-US" sz="2000" dirty="0"/>
              <a:t>Since x &gt; 0 and -1 - x &lt; 0, the product x * (-1 – x) &lt; 0.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266785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055DF-93A2-F336-D458-3D06DE32A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6">
            <a:extLst>
              <a:ext uri="{FF2B5EF4-FFF2-40B4-BE49-F238E27FC236}">
                <a16:creationId xmlns:a16="http://schemas.microsoft.com/office/drawing/2014/main" id="{2B348EDB-DC77-5739-E03D-81E7F5341E0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B4010ED-B659-46B3-B334-93D918D94912}" type="slidenum">
              <a:rPr lang="en-US" altLang="en-US"/>
              <a:pPr>
                <a:defRPr/>
              </a:pPr>
              <a:t>47</a:t>
            </a:fld>
            <a:endParaRPr lang="en-US" altLang="en-US"/>
          </a:p>
        </p:txBody>
      </p:sp>
      <p:sp>
        <p:nvSpPr>
          <p:cNvPr id="21509" name="Rectangle 2">
            <a:extLst>
              <a:ext uri="{FF2B5EF4-FFF2-40B4-BE49-F238E27FC236}">
                <a16:creationId xmlns:a16="http://schemas.microsoft.com/office/drawing/2014/main" id="{ABB896A4-E8AA-2481-0399-7690391B9A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932252-720D-29DA-6801-FE24C7AF38E7}"/>
              </a:ext>
            </a:extLst>
          </p:cNvPr>
          <p:cNvSpPr txBox="1"/>
          <p:nvPr/>
        </p:nvSpPr>
        <p:spPr>
          <a:xfrm>
            <a:off x="304800" y="1225421"/>
            <a:ext cx="876300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ndale Mono" panose="020B0509000000000004" pitchFamily="49" charset="0"/>
              </a:rPr>
              <a:t>PROOF top</a:t>
            </a:r>
          </a:p>
          <a:p>
            <a:r>
              <a:rPr lang="en-US" sz="1600" dirty="0">
                <a:latin typeface="Andale Mono" panose="020B0509000000000004" pitchFamily="49" charset="0"/>
              </a:rPr>
              <a:t>[A:] x &gt; 0</a:t>
            </a:r>
          </a:p>
          <a:p>
            <a:r>
              <a:rPr lang="en-US" sz="1600" dirty="0">
                <a:latin typeface="Andale Mono" panose="020B0509000000000004" pitchFamily="49" charset="0"/>
              </a:rPr>
              <a:t>[G:] wp (y := −1−x; z := </a:t>
            </a:r>
            <a:r>
              <a:rPr lang="en-US" sz="1600" dirty="0" err="1">
                <a:latin typeface="Andale Mono" panose="020B0509000000000004" pitchFamily="49" charset="0"/>
              </a:rPr>
              <a:t>x∗y</a:t>
            </a:r>
            <a:r>
              <a:rPr lang="en-US" sz="1600" dirty="0">
                <a:latin typeface="Andale Mono" panose="020B0509000000000004" pitchFamily="49" charset="0"/>
              </a:rPr>
              <a:t>) (z &lt; 0)</a:t>
            </a:r>
          </a:p>
          <a:p>
            <a:r>
              <a:rPr lang="en-US" sz="1600" dirty="0">
                <a:latin typeface="Andale Mono" panose="020B0509000000000004" pitchFamily="49" charset="0"/>
              </a:rPr>
              <a:t>BEGIN--------------------------------------------------------------</a:t>
            </a:r>
          </a:p>
          <a:p>
            <a:r>
              <a:rPr lang="en-US" sz="1600" dirty="0">
                <a:latin typeface="Andale Mono" panose="020B0509000000000004" pitchFamily="49" charset="0"/>
              </a:rPr>
              <a:t>1. </a:t>
            </a:r>
            <a:r>
              <a:rPr lang="en-US" sz="1600" dirty="0">
                <a:solidFill>
                  <a:srgbClr val="0070C0"/>
                </a:solidFill>
                <a:latin typeface="Andale Mono" panose="020B0509000000000004" pitchFamily="49" charset="0"/>
              </a:rPr>
              <a:t>{ sub } </a:t>
            </a:r>
            <a:r>
              <a:rPr lang="en-US" sz="1600" dirty="0">
                <a:latin typeface="Andale Mono" panose="020B0509000000000004" pitchFamily="49" charset="0"/>
              </a:rPr>
              <a:t>(wp (y := −1−x; z := </a:t>
            </a:r>
            <a:r>
              <a:rPr lang="en-US" sz="1600" dirty="0" err="1">
                <a:latin typeface="Andale Mono" panose="020B0509000000000004" pitchFamily="49" charset="0"/>
              </a:rPr>
              <a:t>x∗y</a:t>
            </a:r>
            <a:r>
              <a:rPr lang="en-US" sz="1600" dirty="0">
                <a:latin typeface="Andale Mono" panose="020B0509000000000004" pitchFamily="49" charset="0"/>
              </a:rPr>
              <a:t>) (z &lt; 0)) = (x ∗ (−1 − x) &lt; 0)</a:t>
            </a:r>
          </a:p>
          <a:p>
            <a:r>
              <a:rPr lang="en-US" sz="1600" dirty="0">
                <a:latin typeface="Andale Mono" panose="020B0509000000000004" pitchFamily="49" charset="0"/>
              </a:rPr>
              <a:t>     EQUATIONAL PROOF sub -----------------------------------------</a:t>
            </a:r>
          </a:p>
          <a:p>
            <a:r>
              <a:rPr lang="en-US" sz="1600" dirty="0">
                <a:latin typeface="Andale Mono" panose="020B0509000000000004" pitchFamily="49" charset="0"/>
              </a:rPr>
              <a:t>     wp (y := −1−x; z := </a:t>
            </a:r>
            <a:r>
              <a:rPr lang="en-US" sz="1600" dirty="0" err="1">
                <a:latin typeface="Andale Mono" panose="020B0509000000000004" pitchFamily="49" charset="0"/>
              </a:rPr>
              <a:t>x∗y</a:t>
            </a:r>
            <a:r>
              <a:rPr lang="en-US" sz="1600" dirty="0">
                <a:latin typeface="Andale Mono" panose="020B0509000000000004" pitchFamily="49" charset="0"/>
              </a:rPr>
              <a:t>) (z &lt; 0)</a:t>
            </a:r>
          </a:p>
          <a:p>
            <a:r>
              <a:rPr lang="en-US" sz="1600" dirty="0">
                <a:latin typeface="Andale Mono" panose="020B0509000000000004" pitchFamily="49" charset="0"/>
              </a:rPr>
              <a:t>     =</a:t>
            </a:r>
            <a:r>
              <a:rPr lang="en-US" sz="1600" dirty="0">
                <a:solidFill>
                  <a:srgbClr val="0070C0"/>
                </a:solidFill>
                <a:latin typeface="Andale Mono" panose="020B0509000000000004" pitchFamily="49" charset="0"/>
              </a:rPr>
              <a:t> {wp formula for sequence}</a:t>
            </a:r>
            <a:endParaRPr lang="en-US" sz="1600" dirty="0">
              <a:latin typeface="Andale Mono" panose="020B0509000000000004" pitchFamily="49" charset="0"/>
            </a:endParaRPr>
          </a:p>
          <a:p>
            <a:r>
              <a:rPr lang="en-US" sz="1600" dirty="0">
                <a:latin typeface="Andale Mono" panose="020B0509000000000004" pitchFamily="49" charset="0"/>
              </a:rPr>
              <a:t>     wp (y := −1−x) (wp (z := </a:t>
            </a:r>
            <a:r>
              <a:rPr lang="en-US" sz="1600" dirty="0" err="1">
                <a:latin typeface="Andale Mono" panose="020B0509000000000004" pitchFamily="49" charset="0"/>
              </a:rPr>
              <a:t>x∗y</a:t>
            </a:r>
            <a:r>
              <a:rPr lang="en-US" sz="1600" dirty="0">
                <a:latin typeface="Andale Mono" panose="020B0509000000000004" pitchFamily="49" charset="0"/>
              </a:rPr>
              <a:t>) (z &lt; 0))</a:t>
            </a:r>
          </a:p>
          <a:p>
            <a:r>
              <a:rPr lang="en-US" sz="1600" dirty="0">
                <a:latin typeface="Andale Mono" panose="020B0509000000000004" pitchFamily="49" charset="0"/>
              </a:rPr>
              <a:t>     = </a:t>
            </a:r>
            <a:r>
              <a:rPr lang="en-US" sz="1600" dirty="0">
                <a:solidFill>
                  <a:srgbClr val="0070C0"/>
                </a:solidFill>
                <a:latin typeface="Andale Mono" panose="020B0509000000000004" pitchFamily="49" charset="0"/>
              </a:rPr>
              <a:t>{wp formula for assignment}</a:t>
            </a:r>
            <a:endParaRPr lang="en-US" sz="1600" dirty="0">
              <a:latin typeface="Andale Mono" panose="020B0509000000000004" pitchFamily="49" charset="0"/>
            </a:endParaRPr>
          </a:p>
          <a:p>
            <a:r>
              <a:rPr lang="en-US" sz="1600" dirty="0">
                <a:latin typeface="Andale Mono" panose="020B0509000000000004" pitchFamily="49" charset="0"/>
              </a:rPr>
              <a:t>     wp (y := −1−x) (x*y &lt; 0)</a:t>
            </a:r>
          </a:p>
          <a:p>
            <a:r>
              <a:rPr lang="en-US" sz="1600" dirty="0">
                <a:latin typeface="Andale Mono" panose="020B0509000000000004" pitchFamily="49" charset="0"/>
              </a:rPr>
              <a:t>     = </a:t>
            </a:r>
            <a:r>
              <a:rPr lang="en-US" sz="1600" dirty="0">
                <a:solidFill>
                  <a:srgbClr val="0070C0"/>
                </a:solidFill>
                <a:latin typeface="Andale Mono" panose="020B0509000000000004" pitchFamily="49" charset="0"/>
              </a:rPr>
              <a:t>{wp formula for assignment}</a:t>
            </a:r>
            <a:endParaRPr lang="en-US" sz="1600" dirty="0">
              <a:latin typeface="Andale Mono" panose="020B0509000000000004" pitchFamily="49" charset="0"/>
            </a:endParaRPr>
          </a:p>
          <a:p>
            <a:r>
              <a:rPr lang="en-US" sz="1600" dirty="0">
                <a:latin typeface="Andale Mono" panose="020B0509000000000004" pitchFamily="49" charset="0"/>
              </a:rPr>
              <a:t>     x * (−1 − x) &lt; 0</a:t>
            </a:r>
          </a:p>
          <a:p>
            <a:r>
              <a:rPr lang="en-US" sz="1600" dirty="0">
                <a:latin typeface="Andale Mono" panose="020B0509000000000004" pitchFamily="49" charset="0"/>
              </a:rPr>
              <a:t>     END ----------------------------------------------------------</a:t>
            </a:r>
          </a:p>
          <a:p>
            <a:r>
              <a:rPr lang="en-US" sz="1600" dirty="0">
                <a:latin typeface="Andale Mono" panose="020B0509000000000004" pitchFamily="49" charset="0"/>
              </a:rPr>
              <a:t>2. </a:t>
            </a:r>
            <a:r>
              <a:rPr lang="en-US" sz="1600" dirty="0">
                <a:solidFill>
                  <a:srgbClr val="0070C0"/>
                </a:solidFill>
                <a:latin typeface="Andale Mono" panose="020B0509000000000004" pitchFamily="49" charset="0"/>
              </a:rPr>
              <a:t>{follows from A }</a:t>
            </a:r>
            <a:r>
              <a:rPr lang="en-US" sz="1600" dirty="0">
                <a:latin typeface="Andale Mono" panose="020B0509000000000004" pitchFamily="49" charset="0"/>
              </a:rPr>
              <a:t> 1 + x &gt; 0</a:t>
            </a:r>
          </a:p>
          <a:p>
            <a:r>
              <a:rPr lang="en-US" sz="1600" dirty="0">
                <a:latin typeface="Andale Mono" panose="020B0509000000000004" pitchFamily="49" charset="0"/>
              </a:rPr>
              <a:t>3. </a:t>
            </a:r>
            <a:r>
              <a:rPr lang="en-US" sz="1600" dirty="0">
                <a:solidFill>
                  <a:srgbClr val="0070C0"/>
                </a:solidFill>
                <a:latin typeface="Andale Mono" panose="020B0509000000000004" pitchFamily="49" charset="0"/>
              </a:rPr>
              <a:t>{follows from 2 } </a:t>
            </a:r>
            <a:r>
              <a:rPr lang="en-US" sz="1600" dirty="0">
                <a:latin typeface="Andale Mono" panose="020B0509000000000004" pitchFamily="49" charset="0"/>
              </a:rPr>
              <a:t>-(1 + x) &lt; 0</a:t>
            </a:r>
          </a:p>
          <a:p>
            <a:r>
              <a:rPr lang="en-US" sz="1600" dirty="0">
                <a:latin typeface="Andale Mono" panose="020B0509000000000004" pitchFamily="49" charset="0"/>
              </a:rPr>
              <a:t>4. </a:t>
            </a:r>
            <a:r>
              <a:rPr lang="en-US" sz="1600" dirty="0">
                <a:solidFill>
                  <a:srgbClr val="0070C0"/>
                </a:solidFill>
                <a:latin typeface="Andale Mono" panose="020B0509000000000004" pitchFamily="49" charset="0"/>
              </a:rPr>
              <a:t>{follows from 3 } </a:t>
            </a:r>
            <a:r>
              <a:rPr lang="en-US" sz="1600" dirty="0">
                <a:latin typeface="Andale Mono" panose="020B0509000000000004" pitchFamily="49" charset="0"/>
              </a:rPr>
              <a:t>-1 - x &lt; 0</a:t>
            </a:r>
          </a:p>
          <a:p>
            <a:r>
              <a:rPr lang="en-US" sz="1600" dirty="0">
                <a:latin typeface="Andale Mono" panose="020B0509000000000004" pitchFamily="49" charset="0"/>
              </a:rPr>
              <a:t>6. </a:t>
            </a:r>
            <a:r>
              <a:rPr lang="en-US" sz="1600" dirty="0">
                <a:solidFill>
                  <a:srgbClr val="0070C0"/>
                </a:solidFill>
                <a:latin typeface="Andale Mono" panose="020B0509000000000004" pitchFamily="49" charset="0"/>
              </a:rPr>
              <a:t>{follows from A,3 } </a:t>
            </a:r>
            <a:r>
              <a:rPr lang="en-US" sz="1600" dirty="0">
                <a:latin typeface="Andale Mono" panose="020B0509000000000004" pitchFamily="49" charset="0"/>
              </a:rPr>
              <a:t>x ∗ (−1 − x) &lt; 0</a:t>
            </a:r>
          </a:p>
          <a:p>
            <a:r>
              <a:rPr lang="en-US" sz="1600" dirty="0">
                <a:latin typeface="Andale Mono" panose="020B0509000000000004" pitchFamily="49" charset="0"/>
              </a:rPr>
              <a:t>7. </a:t>
            </a:r>
            <a:r>
              <a:rPr lang="en-US" sz="1600" dirty="0">
                <a:solidFill>
                  <a:srgbClr val="0070C0"/>
                </a:solidFill>
                <a:latin typeface="Andale Mono" panose="020B0509000000000004" pitchFamily="49" charset="0"/>
              </a:rPr>
              <a:t>{rewrite 6 with 1 } </a:t>
            </a:r>
            <a:r>
              <a:rPr lang="en-US" sz="1600" dirty="0">
                <a:latin typeface="Andale Mono" panose="020B0509000000000004" pitchFamily="49" charset="0"/>
              </a:rPr>
              <a:t>wp (y := −1−x; z := </a:t>
            </a:r>
            <a:r>
              <a:rPr lang="en-US" sz="1600" dirty="0" err="1">
                <a:latin typeface="Andale Mono" panose="020B0509000000000004" pitchFamily="49" charset="0"/>
              </a:rPr>
              <a:t>x∗y</a:t>
            </a:r>
            <a:r>
              <a:rPr lang="en-US" sz="1600" dirty="0">
                <a:latin typeface="Andale Mono" panose="020B0509000000000004" pitchFamily="49" charset="0"/>
              </a:rPr>
              <a:t>) (z &lt; 0)) </a:t>
            </a:r>
            <a:endParaRPr lang="en-US" sz="1600" dirty="0">
              <a:solidFill>
                <a:srgbClr val="0070C0"/>
              </a:solidFill>
              <a:latin typeface="Andale Mono" panose="020B0509000000000004" pitchFamily="49" charset="0"/>
            </a:endParaRPr>
          </a:p>
          <a:p>
            <a:r>
              <a:rPr lang="en-US" sz="1600" dirty="0">
                <a:latin typeface="Andale Mono" panose="020B0509000000000004" pitchFamily="49" charset="0"/>
              </a:rPr>
              <a:t>END----------------------------------------------------------------</a:t>
            </a:r>
          </a:p>
        </p:txBody>
      </p:sp>
    </p:spTree>
    <p:extLst>
      <p:ext uri="{BB962C8B-B14F-4D97-AF65-F5344CB8AC3E}">
        <p14:creationId xmlns:p14="http://schemas.microsoft.com/office/powerpoint/2010/main" val="104783799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B4010ED-B659-46B3-B334-93D918D94912}" type="slidenum">
              <a:rPr lang="en-US" altLang="en-US"/>
              <a:pPr>
                <a:defRPr/>
              </a:pPr>
              <a:t>48</a:t>
            </a:fld>
            <a:endParaRPr lang="en-US" altLang="en-US"/>
          </a:p>
        </p:txBody>
      </p:sp>
      <p:sp>
        <p:nvSpPr>
          <p:cNvPr id="21507" name="Rectangle 5"/>
          <p:cNvSpPr>
            <a:spLocks noChangeArrowheads="1"/>
          </p:cNvSpPr>
          <p:nvPr/>
        </p:nvSpPr>
        <p:spPr bwMode="auto">
          <a:xfrm>
            <a:off x="609600" y="5105400"/>
            <a:ext cx="4267200" cy="381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21508" name="Rectangle 6"/>
          <p:cNvSpPr>
            <a:spLocks noChangeArrowheads="1"/>
          </p:cNvSpPr>
          <p:nvPr/>
        </p:nvSpPr>
        <p:spPr bwMode="auto">
          <a:xfrm>
            <a:off x="609600" y="1794828"/>
            <a:ext cx="6781800" cy="43932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215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</a:t>
            </a:r>
          </a:p>
        </p:txBody>
      </p:sp>
      <p:sp>
        <p:nvSpPr>
          <p:cNvPr id="21510" name="TextBox 4"/>
          <p:cNvSpPr txBox="1">
            <a:spLocks noChangeArrowheads="1"/>
          </p:cNvSpPr>
          <p:nvPr/>
        </p:nvSpPr>
        <p:spPr bwMode="auto">
          <a:xfrm>
            <a:off x="304800" y="1752600"/>
            <a:ext cx="86868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 dirty="0"/>
              <a:t>{*  0</a:t>
            </a:r>
            <a:r>
              <a:rPr lang="en-US" sz="2400" dirty="0">
                <a:sym typeface="Symbol" pitchFamily="16" charset="2"/>
              </a:rPr>
              <a:t>i  /\ ¬found /\  (f</a:t>
            </a:r>
            <a:r>
              <a:rPr lang="en-US" sz="2400" dirty="0"/>
              <a:t>ound   =  (</a:t>
            </a:r>
            <a:r>
              <a:rPr lang="en-US" sz="2400" dirty="0">
                <a:sym typeface="Symbol" pitchFamily="16" charset="2"/>
              </a:rPr>
              <a:t>k : 0k&lt;</a:t>
            </a:r>
            <a:r>
              <a:rPr lang="en-US" sz="2400" dirty="0" err="1">
                <a:sym typeface="Symbol" pitchFamily="16" charset="2"/>
              </a:rPr>
              <a:t>i</a:t>
            </a:r>
            <a:r>
              <a:rPr lang="en-US" sz="2400" dirty="0">
                <a:sym typeface="Symbol" pitchFamily="16" charset="2"/>
              </a:rPr>
              <a:t> :  a[k]=x))  *}</a:t>
            </a:r>
            <a:endParaRPr lang="nl-NL" sz="2400" dirty="0"/>
          </a:p>
          <a:p>
            <a:r>
              <a:rPr lang="en-US" sz="2400" dirty="0"/>
              <a:t>      </a:t>
            </a:r>
          </a:p>
          <a:p>
            <a:endParaRPr lang="en-US" sz="2400" dirty="0">
              <a:sym typeface="Symbol" pitchFamily="16" charset="2"/>
            </a:endParaRPr>
          </a:p>
          <a:p>
            <a:r>
              <a:rPr lang="en-US" sz="2400" dirty="0">
                <a:sym typeface="Symbol" pitchFamily="16" charset="2"/>
              </a:rPr>
              <a:t>     found :=  a[</a:t>
            </a:r>
            <a:r>
              <a:rPr lang="en-US" sz="2400" dirty="0" err="1">
                <a:sym typeface="Symbol" pitchFamily="16" charset="2"/>
              </a:rPr>
              <a:t>i</a:t>
            </a:r>
            <a:r>
              <a:rPr lang="en-US" sz="2400" dirty="0">
                <a:sym typeface="Symbol" pitchFamily="16" charset="2"/>
              </a:rPr>
              <a:t>]=x ;</a:t>
            </a:r>
            <a:br>
              <a:rPr lang="en-US" sz="2400" dirty="0">
                <a:sym typeface="Symbol" pitchFamily="16" charset="2"/>
              </a:rPr>
            </a:br>
            <a:endParaRPr lang="en-US" sz="2400" dirty="0">
              <a:sym typeface="Symbol" pitchFamily="16" charset="2"/>
            </a:endParaRPr>
          </a:p>
          <a:p>
            <a:endParaRPr lang="en-US" sz="2400" dirty="0">
              <a:sym typeface="Symbol" pitchFamily="16" charset="2"/>
            </a:endParaRPr>
          </a:p>
          <a:p>
            <a:r>
              <a:rPr lang="en-US" sz="2400" dirty="0">
                <a:sym typeface="Symbol" pitchFamily="16" charset="2"/>
              </a:rPr>
              <a:t>     </a:t>
            </a:r>
            <a:r>
              <a:rPr lang="en-US" sz="2400" dirty="0" err="1">
                <a:sym typeface="Symbol" pitchFamily="16" charset="2"/>
              </a:rPr>
              <a:t>i</a:t>
            </a:r>
            <a:r>
              <a:rPr lang="en-US" sz="2400" dirty="0">
                <a:sym typeface="Symbol" pitchFamily="16" charset="2"/>
              </a:rPr>
              <a:t>:=i+1</a:t>
            </a:r>
          </a:p>
          <a:p>
            <a:br>
              <a:rPr lang="en-US" sz="2400" dirty="0">
                <a:sym typeface="Symbol" pitchFamily="16" charset="2"/>
              </a:rPr>
            </a:br>
            <a:endParaRPr lang="en-US" sz="2400" dirty="0">
              <a:sym typeface="Symbol" pitchFamily="16" charset="2"/>
            </a:endParaRPr>
          </a:p>
          <a:p>
            <a:r>
              <a:rPr lang="en-US" sz="2400" dirty="0">
                <a:sym typeface="Symbol" pitchFamily="16" charset="2"/>
              </a:rPr>
              <a:t>{* </a:t>
            </a:r>
            <a:r>
              <a:rPr lang="en-US" sz="2400" dirty="0"/>
              <a:t>found   =  (</a:t>
            </a:r>
            <a:r>
              <a:rPr lang="en-US" sz="2400" dirty="0">
                <a:sym typeface="Symbol" pitchFamily="16" charset="2"/>
              </a:rPr>
              <a:t>k : 0k&lt;</a:t>
            </a:r>
            <a:r>
              <a:rPr lang="en-US" sz="2400" dirty="0" err="1">
                <a:sym typeface="Symbol" pitchFamily="16" charset="2"/>
              </a:rPr>
              <a:t>i</a:t>
            </a:r>
            <a:r>
              <a:rPr lang="en-US" sz="2400" dirty="0">
                <a:sym typeface="Symbol" pitchFamily="16" charset="2"/>
              </a:rPr>
              <a:t> :  a[k]=x)  *} </a:t>
            </a:r>
            <a:endParaRPr lang="nl-NL" sz="2400" dirty="0">
              <a:sym typeface="Symbol" pitchFamily="16" charset="2"/>
            </a:endParaRPr>
          </a:p>
        </p:txBody>
      </p:sp>
      <p:sp>
        <p:nvSpPr>
          <p:cNvPr id="32775" name="Text Box 7"/>
          <p:cNvSpPr txBox="1">
            <a:spLocks noChangeArrowheads="1"/>
          </p:cNvSpPr>
          <p:nvPr/>
        </p:nvSpPr>
        <p:spPr bwMode="auto">
          <a:xfrm>
            <a:off x="4267200" y="4343400"/>
            <a:ext cx="4570413" cy="466725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/>
              <a:t>found   =  (</a:t>
            </a:r>
            <a:r>
              <a:rPr lang="en-US" sz="2400">
                <a:sym typeface="Symbol" pitchFamily="16" charset="2"/>
              </a:rPr>
              <a:t>k : 0k&lt;i+1 :  a[k]=x)</a:t>
            </a:r>
          </a:p>
        </p:txBody>
      </p:sp>
      <p:sp>
        <p:nvSpPr>
          <p:cNvPr id="32776" name="Freeform 8"/>
          <p:cNvSpPr>
            <a:spLocks/>
          </p:cNvSpPr>
          <p:nvPr/>
        </p:nvSpPr>
        <p:spPr bwMode="auto">
          <a:xfrm>
            <a:off x="914400" y="3771900"/>
            <a:ext cx="3276600" cy="800100"/>
          </a:xfrm>
          <a:custGeom>
            <a:avLst/>
            <a:gdLst>
              <a:gd name="T0" fmla="*/ 2147483647 w 2064"/>
              <a:gd name="T1" fmla="*/ 2147483647 h 552"/>
              <a:gd name="T2" fmla="*/ 2147483647 w 2064"/>
              <a:gd name="T3" fmla="*/ 2147483647 h 552"/>
              <a:gd name="T4" fmla="*/ 0 w 2064"/>
              <a:gd name="T5" fmla="*/ 2147483647 h 552"/>
              <a:gd name="T6" fmla="*/ 0 60000 65536"/>
              <a:gd name="T7" fmla="*/ 0 60000 65536"/>
              <a:gd name="T8" fmla="*/ 0 60000 65536"/>
              <a:gd name="T9" fmla="*/ 0 w 2064"/>
              <a:gd name="T10" fmla="*/ 0 h 552"/>
              <a:gd name="T11" fmla="*/ 2064 w 2064"/>
              <a:gd name="T12" fmla="*/ 552 h 55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64" h="552">
                <a:moveTo>
                  <a:pt x="2064" y="552"/>
                </a:moveTo>
                <a:cubicBezTo>
                  <a:pt x="1708" y="348"/>
                  <a:pt x="1352" y="144"/>
                  <a:pt x="1008" y="72"/>
                </a:cubicBezTo>
                <a:cubicBezTo>
                  <a:pt x="664" y="0"/>
                  <a:pt x="216" y="96"/>
                  <a:pt x="0" y="120"/>
                </a:cubicBezTo>
              </a:path>
            </a:pathLst>
          </a:custGeom>
          <a:noFill/>
          <a:ln w="19050">
            <a:solidFill>
              <a:schemeClr val="hlink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2777" name="Oval 9"/>
          <p:cNvSpPr>
            <a:spLocks noChangeArrowheads="1"/>
          </p:cNvSpPr>
          <p:nvPr/>
        </p:nvSpPr>
        <p:spPr bwMode="auto">
          <a:xfrm>
            <a:off x="3048000" y="4953000"/>
            <a:ext cx="685800" cy="838200"/>
          </a:xfrm>
          <a:prstGeom prst="ellipse">
            <a:avLst/>
          </a:prstGeom>
          <a:noFill/>
          <a:ln w="28575">
            <a:solidFill>
              <a:srgbClr val="990033"/>
            </a:solidFill>
            <a:round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32778" name="Oval 10"/>
          <p:cNvSpPr>
            <a:spLocks noChangeArrowheads="1"/>
          </p:cNvSpPr>
          <p:nvPr/>
        </p:nvSpPr>
        <p:spPr bwMode="auto">
          <a:xfrm>
            <a:off x="6781800" y="4191000"/>
            <a:ext cx="914400" cy="838200"/>
          </a:xfrm>
          <a:prstGeom prst="ellipse">
            <a:avLst/>
          </a:prstGeom>
          <a:noFill/>
          <a:ln w="28575">
            <a:solidFill>
              <a:srgbClr val="990033"/>
            </a:solidFill>
            <a:round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32779" name="Text Box 11"/>
          <p:cNvSpPr txBox="1">
            <a:spLocks noChangeArrowheads="1"/>
          </p:cNvSpPr>
          <p:nvPr/>
        </p:nvSpPr>
        <p:spPr bwMode="auto">
          <a:xfrm>
            <a:off x="4313238" y="3276600"/>
            <a:ext cx="4830762" cy="466725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dirty="0"/>
              <a:t>(a[</a:t>
            </a:r>
            <a:r>
              <a:rPr lang="en-US" sz="2400" dirty="0" err="1"/>
              <a:t>i</a:t>
            </a:r>
            <a:r>
              <a:rPr lang="en-US" sz="2400" dirty="0"/>
              <a:t>]=x)    =  (</a:t>
            </a:r>
            <a:r>
              <a:rPr lang="en-US" sz="2400" dirty="0">
                <a:sym typeface="Symbol" pitchFamily="16" charset="2"/>
              </a:rPr>
              <a:t>k : 0k&lt;i+1 :  a[k]=x)</a:t>
            </a:r>
          </a:p>
        </p:txBody>
      </p:sp>
      <p:sp>
        <p:nvSpPr>
          <p:cNvPr id="32780" name="Freeform 12"/>
          <p:cNvSpPr>
            <a:spLocks/>
          </p:cNvSpPr>
          <p:nvPr/>
        </p:nvSpPr>
        <p:spPr bwMode="auto">
          <a:xfrm>
            <a:off x="914400" y="2590800"/>
            <a:ext cx="3276600" cy="800100"/>
          </a:xfrm>
          <a:custGeom>
            <a:avLst/>
            <a:gdLst>
              <a:gd name="T0" fmla="*/ 2147483647 w 2064"/>
              <a:gd name="T1" fmla="*/ 2147483647 h 552"/>
              <a:gd name="T2" fmla="*/ 2147483647 w 2064"/>
              <a:gd name="T3" fmla="*/ 2147483647 h 552"/>
              <a:gd name="T4" fmla="*/ 0 w 2064"/>
              <a:gd name="T5" fmla="*/ 2147483647 h 552"/>
              <a:gd name="T6" fmla="*/ 0 60000 65536"/>
              <a:gd name="T7" fmla="*/ 0 60000 65536"/>
              <a:gd name="T8" fmla="*/ 0 60000 65536"/>
              <a:gd name="T9" fmla="*/ 0 w 2064"/>
              <a:gd name="T10" fmla="*/ 0 h 552"/>
              <a:gd name="T11" fmla="*/ 2064 w 2064"/>
              <a:gd name="T12" fmla="*/ 552 h 55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64" h="552">
                <a:moveTo>
                  <a:pt x="2064" y="552"/>
                </a:moveTo>
                <a:cubicBezTo>
                  <a:pt x="1708" y="348"/>
                  <a:pt x="1352" y="144"/>
                  <a:pt x="1008" y="72"/>
                </a:cubicBezTo>
                <a:cubicBezTo>
                  <a:pt x="664" y="0"/>
                  <a:pt x="216" y="96"/>
                  <a:pt x="0" y="120"/>
                </a:cubicBezTo>
              </a:path>
            </a:pathLst>
          </a:custGeom>
          <a:noFill/>
          <a:ln w="19050">
            <a:solidFill>
              <a:schemeClr val="hlink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2781" name="Oval 13"/>
          <p:cNvSpPr>
            <a:spLocks noChangeArrowheads="1"/>
          </p:cNvSpPr>
          <p:nvPr/>
        </p:nvSpPr>
        <p:spPr bwMode="auto">
          <a:xfrm>
            <a:off x="4114800" y="4191000"/>
            <a:ext cx="1143000" cy="838200"/>
          </a:xfrm>
          <a:prstGeom prst="ellips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32782" name="Oval 14"/>
          <p:cNvSpPr>
            <a:spLocks noChangeArrowheads="1"/>
          </p:cNvSpPr>
          <p:nvPr/>
        </p:nvSpPr>
        <p:spPr bwMode="auto">
          <a:xfrm>
            <a:off x="4038600" y="3048000"/>
            <a:ext cx="1524000" cy="838200"/>
          </a:xfrm>
          <a:prstGeom prst="ellips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32785" name="Text Box 17"/>
          <p:cNvSpPr txBox="1">
            <a:spLocks noChangeArrowheads="1"/>
          </p:cNvSpPr>
          <p:nvPr/>
        </p:nvSpPr>
        <p:spPr bwMode="auto">
          <a:xfrm>
            <a:off x="5181600" y="5943600"/>
            <a:ext cx="3779838" cy="519113"/>
          </a:xfrm>
          <a:prstGeom prst="rect">
            <a:avLst/>
          </a:prstGeom>
          <a:solidFill>
            <a:srgbClr val="0000CC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 dirty="0" err="1">
                <a:solidFill>
                  <a:schemeClr val="bg1"/>
                </a:solidFill>
              </a:rPr>
              <a:t>wp</a:t>
            </a:r>
            <a:r>
              <a:rPr lang="en-US" sz="2800" dirty="0">
                <a:solidFill>
                  <a:schemeClr val="bg1"/>
                </a:solidFill>
              </a:rPr>
              <a:t>  (x:=e)  Q  =  Q[e/x]</a:t>
            </a:r>
          </a:p>
        </p:txBody>
      </p:sp>
      <p:sp>
        <p:nvSpPr>
          <p:cNvPr id="32786" name="AutoShape 18"/>
          <p:cNvSpPr>
            <a:spLocks/>
          </p:cNvSpPr>
          <p:nvPr/>
        </p:nvSpPr>
        <p:spPr bwMode="auto">
          <a:xfrm rot="5400000">
            <a:off x="3822173" y="-697972"/>
            <a:ext cx="432854" cy="6400800"/>
          </a:xfrm>
          <a:prstGeom prst="rightBrace">
            <a:avLst>
              <a:gd name="adj1" fmla="val 119444"/>
              <a:gd name="adj2" fmla="val 22249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32787" name="Text Box 19"/>
          <p:cNvSpPr txBox="1">
            <a:spLocks noChangeArrowheads="1"/>
          </p:cNvSpPr>
          <p:nvPr/>
        </p:nvSpPr>
        <p:spPr bwMode="auto">
          <a:xfrm rot="5400000">
            <a:off x="5559425" y="2746375"/>
            <a:ext cx="585788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200">
                <a:sym typeface="Symbol" pitchFamily="16" charset="2"/>
              </a:rPr>
              <a:t>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5" grpId="0" animBg="1"/>
      <p:bldP spid="32776" grpId="0" animBg="1"/>
      <p:bldP spid="32777" grpId="0" animBg="1"/>
      <p:bldP spid="32777" grpId="1" animBg="1"/>
      <p:bldP spid="32778" grpId="0" animBg="1"/>
      <p:bldP spid="32778" grpId="1" animBg="1"/>
      <p:bldP spid="32779" grpId="0" animBg="1"/>
      <p:bldP spid="32780" grpId="0" animBg="1"/>
      <p:bldP spid="32781" grpId="0" animBg="1"/>
      <p:bldP spid="32782" grpId="0" animBg="1"/>
      <p:bldP spid="32782" grpId="1" animBg="1"/>
      <p:bldP spid="32785" grpId="0" animBg="1"/>
      <p:bldP spid="32786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215D5-0A2A-B56B-44A8-F9FF1AA97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6">
            <a:extLst>
              <a:ext uri="{FF2B5EF4-FFF2-40B4-BE49-F238E27FC236}">
                <a16:creationId xmlns:a16="http://schemas.microsoft.com/office/drawing/2014/main" id="{B92456FB-01D3-3572-95D6-C7DA4BD1DED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B4010ED-B659-46B3-B334-93D918D94912}" type="slidenum">
              <a:rPr lang="en-US" altLang="en-US"/>
              <a:pPr>
                <a:defRPr/>
              </a:pPr>
              <a:t>49</a:t>
            </a:fld>
            <a:endParaRPr lang="en-US" altLang="en-US"/>
          </a:p>
        </p:txBody>
      </p:sp>
      <p:sp>
        <p:nvSpPr>
          <p:cNvPr id="21509" name="Rectangle 2">
            <a:extLst>
              <a:ext uri="{FF2B5EF4-FFF2-40B4-BE49-F238E27FC236}">
                <a16:creationId xmlns:a16="http://schemas.microsoft.com/office/drawing/2014/main" id="{2BD2D734-E4EF-C480-A04F-7EF8874AFD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</a:t>
            </a:r>
          </a:p>
        </p:txBody>
      </p:sp>
      <p:sp>
        <p:nvSpPr>
          <p:cNvPr id="21510" name="TextBox 4">
            <a:extLst>
              <a:ext uri="{FF2B5EF4-FFF2-40B4-BE49-F238E27FC236}">
                <a16:creationId xmlns:a16="http://schemas.microsoft.com/office/drawing/2014/main" id="{F6481800-2751-2F47-287C-91F1D51E27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752600"/>
            <a:ext cx="86868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 b="1" i="1" dirty="0" err="1"/>
              <a:t>Thm</a:t>
            </a:r>
            <a:r>
              <a:rPr lang="en-US" sz="2400" dirty="0"/>
              <a:t>. Suppose 0</a:t>
            </a:r>
            <a:r>
              <a:rPr lang="en-US" sz="2400" dirty="0">
                <a:sym typeface="Symbol" pitchFamily="16" charset="2"/>
              </a:rPr>
              <a:t>i ∧ ¬found ∧ (f</a:t>
            </a:r>
            <a:r>
              <a:rPr lang="en-US" sz="2400" dirty="0"/>
              <a:t>ound = (</a:t>
            </a:r>
            <a:r>
              <a:rPr lang="en-US" sz="2400" dirty="0">
                <a:sym typeface="Symbol" pitchFamily="16" charset="2"/>
              </a:rPr>
              <a:t>k : 0k&lt;</a:t>
            </a:r>
            <a:r>
              <a:rPr lang="en-US" sz="2400" dirty="0" err="1">
                <a:sym typeface="Symbol" pitchFamily="16" charset="2"/>
              </a:rPr>
              <a:t>i</a:t>
            </a:r>
            <a:r>
              <a:rPr lang="en-US" sz="2400" dirty="0">
                <a:sym typeface="Symbol" pitchFamily="16" charset="2"/>
              </a:rPr>
              <a:t> :  a[k]=x)). Then</a:t>
            </a:r>
            <a:r>
              <a:rPr lang="en-US" sz="2400" dirty="0"/>
              <a:t> (a[</a:t>
            </a:r>
            <a:r>
              <a:rPr lang="en-US" sz="2400" dirty="0" err="1"/>
              <a:t>i</a:t>
            </a:r>
            <a:r>
              <a:rPr lang="en-US" sz="2400" dirty="0"/>
              <a:t>]=x) = (</a:t>
            </a:r>
            <a:r>
              <a:rPr lang="en-US" sz="2400" dirty="0">
                <a:sym typeface="Symbol" pitchFamily="16" charset="2"/>
              </a:rPr>
              <a:t>k : 0k&lt;i+1 :  a[k]=x).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14C56B-F63C-A410-9E9E-B305BA9F98C9}"/>
              </a:ext>
            </a:extLst>
          </p:cNvPr>
          <p:cNvSpPr txBox="1"/>
          <p:nvPr/>
        </p:nvSpPr>
        <p:spPr>
          <a:xfrm>
            <a:off x="457200" y="3429000"/>
            <a:ext cx="8686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Proof</a:t>
            </a:r>
            <a:r>
              <a:rPr lang="en-US" sz="2000" dirty="0"/>
              <a:t>. We have</a:t>
            </a:r>
          </a:p>
          <a:p>
            <a:r>
              <a:rPr lang="en-US" sz="2000" dirty="0"/>
              <a:t>	(</a:t>
            </a:r>
            <a:r>
              <a:rPr lang="en-US" sz="2000" dirty="0">
                <a:sym typeface="Symbol" pitchFamily="16" charset="2"/>
              </a:rPr>
              <a:t>k : 0k&lt;i+1 :  a[k]=x)   =   </a:t>
            </a:r>
            <a:r>
              <a:rPr lang="en-US" sz="2000" dirty="0"/>
              <a:t>(</a:t>
            </a:r>
            <a:r>
              <a:rPr lang="en-US" sz="2000" dirty="0">
                <a:sym typeface="Symbol" pitchFamily="16" charset="2"/>
              </a:rPr>
              <a:t>k : 0k&lt;</a:t>
            </a:r>
            <a:r>
              <a:rPr lang="en-US" sz="2000" dirty="0" err="1">
                <a:sym typeface="Symbol" pitchFamily="16" charset="2"/>
              </a:rPr>
              <a:t>i</a:t>
            </a:r>
            <a:r>
              <a:rPr lang="en-US" sz="2000" dirty="0">
                <a:sym typeface="Symbol" pitchFamily="16" charset="2"/>
              </a:rPr>
              <a:t> :  a[k]=x) ∨ </a:t>
            </a:r>
            <a:r>
              <a:rPr lang="en-US" sz="2000" dirty="0"/>
              <a:t>a[</a:t>
            </a:r>
            <a:r>
              <a:rPr lang="en-US" sz="2000" dirty="0" err="1"/>
              <a:t>i</a:t>
            </a:r>
            <a:r>
              <a:rPr lang="en-US" sz="2000" dirty="0"/>
              <a:t>]=x    (A.4.11.2)</a:t>
            </a:r>
          </a:p>
          <a:p>
            <a:r>
              <a:rPr lang="en-US" sz="2000" dirty="0"/>
              <a:t>                                                    = found </a:t>
            </a:r>
            <a:r>
              <a:rPr lang="en-US" sz="2000" dirty="0">
                <a:sym typeface="Symbol" pitchFamily="16" charset="2"/>
              </a:rPr>
              <a:t>∨ </a:t>
            </a:r>
            <a:r>
              <a:rPr lang="en-US" sz="2000" dirty="0"/>
              <a:t>a[</a:t>
            </a:r>
            <a:r>
              <a:rPr lang="en-US" sz="2000" dirty="0" err="1"/>
              <a:t>i</a:t>
            </a:r>
            <a:r>
              <a:rPr lang="en-US" sz="2000" dirty="0"/>
              <a:t>]=x</a:t>
            </a:r>
          </a:p>
          <a:p>
            <a:r>
              <a:rPr lang="en-US" sz="2000" dirty="0"/>
              <a:t>                                                    = false </a:t>
            </a:r>
            <a:r>
              <a:rPr lang="en-US" sz="2000" dirty="0">
                <a:sym typeface="Symbol" pitchFamily="16" charset="2"/>
              </a:rPr>
              <a:t>∨ </a:t>
            </a:r>
            <a:r>
              <a:rPr lang="en-US" sz="2000" dirty="0"/>
              <a:t>a[</a:t>
            </a:r>
            <a:r>
              <a:rPr lang="en-US" sz="2000" dirty="0" err="1"/>
              <a:t>i</a:t>
            </a:r>
            <a:r>
              <a:rPr lang="en-US" sz="2000" dirty="0"/>
              <a:t>]=x</a:t>
            </a:r>
          </a:p>
          <a:p>
            <a:r>
              <a:rPr lang="en-US" sz="2000" dirty="0"/>
              <a:t>                                                    = a[</a:t>
            </a:r>
            <a:r>
              <a:rPr lang="en-US" sz="2000" dirty="0" err="1"/>
              <a:t>i</a:t>
            </a:r>
            <a:r>
              <a:rPr lang="en-US" sz="2000" dirty="0"/>
              <a:t>]=x.</a:t>
            </a:r>
          </a:p>
        </p:txBody>
      </p:sp>
    </p:spTree>
    <p:extLst>
      <p:ext uri="{BB962C8B-B14F-4D97-AF65-F5344CB8AC3E}">
        <p14:creationId xmlns:p14="http://schemas.microsoft.com/office/powerpoint/2010/main" val="3742638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D1824-051F-1E64-0C5E-301B70781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6">
            <a:extLst>
              <a:ext uri="{FF2B5EF4-FFF2-40B4-BE49-F238E27FC236}">
                <a16:creationId xmlns:a16="http://schemas.microsoft.com/office/drawing/2014/main" id="{9618B410-DABE-A733-A166-699848E980D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B4010ED-B659-46B3-B334-93D918D94912}" type="slidenum">
              <a:rPr lang="en-US" altLang="en-US"/>
              <a:pPr>
                <a:defRPr/>
              </a:pPr>
              <a:t>50</a:t>
            </a:fld>
            <a:endParaRPr lang="en-US" altLang="en-US"/>
          </a:p>
        </p:txBody>
      </p:sp>
      <p:sp>
        <p:nvSpPr>
          <p:cNvPr id="21509" name="Rectangle 2">
            <a:extLst>
              <a:ext uri="{FF2B5EF4-FFF2-40B4-BE49-F238E27FC236}">
                <a16:creationId xmlns:a16="http://schemas.microsoft.com/office/drawing/2014/main" id="{C20ABC53-2960-3C74-BEE3-3E9D1F995A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492EF37-3110-C8BB-3292-0DD75936237F}"/>
              </a:ext>
            </a:extLst>
          </p:cNvPr>
          <p:cNvSpPr txBox="1"/>
          <p:nvPr/>
        </p:nvSpPr>
        <p:spPr>
          <a:xfrm>
            <a:off x="190500" y="1066800"/>
            <a:ext cx="8763000" cy="5678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Andale Mono" panose="020B0509000000000004" pitchFamily="49" charset="0"/>
              </a:rPr>
              <a:t>PROOF top</a:t>
            </a:r>
          </a:p>
          <a:p>
            <a:r>
              <a:rPr lang="en-US" sz="1100" dirty="0">
                <a:latin typeface="Andale Mono" panose="020B0509000000000004" pitchFamily="49" charset="0"/>
              </a:rPr>
              <a:t>[A:] 0 </a:t>
            </a:r>
            <a:r>
              <a:rPr lang="en-US" sz="1100" dirty="0">
                <a:latin typeface="Andale Mono" panose="020B0509000000000004" pitchFamily="49" charset="0"/>
                <a:sym typeface="Symbol" pitchFamily="16" charset="2"/>
              </a:rPr>
              <a:t> </a:t>
            </a:r>
            <a:r>
              <a:rPr lang="en-US" sz="1100" dirty="0" err="1">
                <a:latin typeface="Andale Mono" panose="020B0509000000000004" pitchFamily="49" charset="0"/>
                <a:sym typeface="Symbol" pitchFamily="16" charset="2"/>
              </a:rPr>
              <a:t>i</a:t>
            </a:r>
            <a:r>
              <a:rPr lang="en-US" sz="1100" dirty="0">
                <a:latin typeface="Andale Mono" panose="020B0509000000000004" pitchFamily="49" charset="0"/>
                <a:sym typeface="Symbol" pitchFamily="16" charset="2"/>
              </a:rPr>
              <a:t> ∧ ¬found ∧ (f</a:t>
            </a:r>
            <a:r>
              <a:rPr lang="en-US" sz="1100" dirty="0">
                <a:latin typeface="Andale Mono" panose="020B0509000000000004" pitchFamily="49" charset="0"/>
              </a:rPr>
              <a:t>ound   =  (</a:t>
            </a:r>
            <a:r>
              <a:rPr lang="en-US" sz="1100" dirty="0">
                <a:latin typeface="Andale Mono" panose="020B0509000000000004" pitchFamily="49" charset="0"/>
                <a:sym typeface="Symbol" pitchFamily="16" charset="2"/>
              </a:rPr>
              <a:t>k : 0  k &lt; </a:t>
            </a:r>
            <a:r>
              <a:rPr lang="en-US" sz="1100" dirty="0" err="1">
                <a:latin typeface="Andale Mono" panose="020B0509000000000004" pitchFamily="49" charset="0"/>
                <a:sym typeface="Symbol" pitchFamily="16" charset="2"/>
              </a:rPr>
              <a:t>i</a:t>
            </a:r>
            <a:r>
              <a:rPr lang="en-US" sz="1100" dirty="0">
                <a:latin typeface="Andale Mono" panose="020B0509000000000004" pitchFamily="49" charset="0"/>
                <a:sym typeface="Symbol" pitchFamily="16" charset="2"/>
              </a:rPr>
              <a:t> :  a[k]=x)) </a:t>
            </a:r>
          </a:p>
          <a:p>
            <a:r>
              <a:rPr lang="en-US" sz="1100" dirty="0">
                <a:latin typeface="Andale Mono" panose="020B0509000000000004" pitchFamily="49" charset="0"/>
              </a:rPr>
              <a:t>[G:] wp (</a:t>
            </a:r>
            <a:r>
              <a:rPr lang="en-US" sz="1100" dirty="0">
                <a:latin typeface="Andale Mono" panose="020B0509000000000004" pitchFamily="49" charset="0"/>
                <a:sym typeface="Symbol" pitchFamily="16" charset="2"/>
              </a:rPr>
              <a:t>found := a[</a:t>
            </a:r>
            <a:r>
              <a:rPr lang="en-US" sz="1100" dirty="0" err="1">
                <a:latin typeface="Andale Mono" panose="020B0509000000000004" pitchFamily="49" charset="0"/>
                <a:sym typeface="Symbol" pitchFamily="16" charset="2"/>
              </a:rPr>
              <a:t>i</a:t>
            </a:r>
            <a:r>
              <a:rPr lang="en-US" sz="1100" dirty="0">
                <a:latin typeface="Andale Mono" panose="020B0509000000000004" pitchFamily="49" charset="0"/>
                <a:sym typeface="Symbol" pitchFamily="16" charset="2"/>
              </a:rPr>
              <a:t>]=x ; </a:t>
            </a:r>
            <a:r>
              <a:rPr lang="en-US" sz="1100" dirty="0" err="1">
                <a:latin typeface="Andale Mono" panose="020B0509000000000004" pitchFamily="49" charset="0"/>
                <a:sym typeface="Symbol" pitchFamily="16" charset="2"/>
              </a:rPr>
              <a:t>i</a:t>
            </a:r>
            <a:r>
              <a:rPr lang="en-US" sz="1100" dirty="0">
                <a:latin typeface="Andale Mono" panose="020B0509000000000004" pitchFamily="49" charset="0"/>
                <a:sym typeface="Symbol" pitchFamily="16" charset="2"/>
              </a:rPr>
              <a:t>:=i+1</a:t>
            </a:r>
            <a:r>
              <a:rPr lang="en-US" sz="1100" dirty="0">
                <a:latin typeface="Andale Mono" panose="020B0509000000000004" pitchFamily="49" charset="0"/>
              </a:rPr>
              <a:t>) (found = (</a:t>
            </a:r>
            <a:r>
              <a:rPr lang="en-US" sz="1100" dirty="0">
                <a:latin typeface="Andale Mono" panose="020B0509000000000004" pitchFamily="49" charset="0"/>
                <a:sym typeface="Symbol" pitchFamily="16" charset="2"/>
              </a:rPr>
              <a:t></a:t>
            </a:r>
            <a:r>
              <a:rPr lang="en-US" sz="1100" dirty="0">
                <a:latin typeface="Andale Mono" panose="020B0509000000000004" pitchFamily="49" charset="0"/>
              </a:rPr>
              <a:t>k : 0</a:t>
            </a:r>
            <a:r>
              <a:rPr lang="en-US" sz="1100" dirty="0">
                <a:latin typeface="Andale Mono" panose="020B0509000000000004" pitchFamily="49" charset="0"/>
                <a:sym typeface="Symbol" pitchFamily="16" charset="2"/>
              </a:rPr>
              <a:t></a:t>
            </a:r>
            <a:r>
              <a:rPr lang="en-US" sz="1100" dirty="0">
                <a:latin typeface="Andale Mono" panose="020B0509000000000004" pitchFamily="49" charset="0"/>
              </a:rPr>
              <a:t>k&lt;</a:t>
            </a:r>
            <a:r>
              <a:rPr lang="en-US" sz="1100" dirty="0" err="1">
                <a:latin typeface="Andale Mono" panose="020B0509000000000004" pitchFamily="49" charset="0"/>
              </a:rPr>
              <a:t>i</a:t>
            </a:r>
            <a:r>
              <a:rPr lang="en-US" sz="1100" dirty="0">
                <a:latin typeface="Andale Mono" panose="020B0509000000000004" pitchFamily="49" charset="0"/>
              </a:rPr>
              <a:t> : a[k]=x))</a:t>
            </a:r>
          </a:p>
          <a:p>
            <a:r>
              <a:rPr lang="en-US" sz="1100" dirty="0">
                <a:latin typeface="Andale Mono" panose="020B0509000000000004" pitchFamily="49" charset="0"/>
              </a:rPr>
              <a:t>BEGIN--------------------------------------------------------------------------------------</a:t>
            </a:r>
            <a:r>
              <a:rPr lang="en-US" sz="1100" dirty="0">
                <a:latin typeface="Andale Mono" panose="020B0509000000000004" pitchFamily="49" charset="0"/>
                <a:sym typeface="Symbol" pitchFamily="16" charset="2"/>
              </a:rPr>
              <a:t>---------</a:t>
            </a:r>
            <a:endParaRPr lang="en-US" sz="1100" dirty="0">
              <a:latin typeface="Andale Mono" panose="020B0509000000000004" pitchFamily="49" charset="0"/>
            </a:endParaRPr>
          </a:p>
          <a:p>
            <a:r>
              <a:rPr lang="en-US" sz="1100" dirty="0">
                <a:latin typeface="Andale Mono" panose="020B0509000000000004" pitchFamily="49" charset="0"/>
              </a:rPr>
              <a:t>1.  </a:t>
            </a:r>
            <a:r>
              <a:rPr lang="en-US" sz="1100" dirty="0">
                <a:solidFill>
                  <a:srgbClr val="0070C0"/>
                </a:solidFill>
                <a:latin typeface="Andale Mono" panose="020B0509000000000004" pitchFamily="49" charset="0"/>
              </a:rPr>
              <a:t>{sub1} </a:t>
            </a:r>
            <a:r>
              <a:rPr lang="en-US" sz="1100" dirty="0">
                <a:latin typeface="Andale Mono" panose="020B0509000000000004" pitchFamily="49" charset="0"/>
              </a:rPr>
              <a:t>wp (</a:t>
            </a:r>
            <a:r>
              <a:rPr lang="en-US" sz="1100" dirty="0">
                <a:latin typeface="Andale Mono" panose="020B0509000000000004" pitchFamily="49" charset="0"/>
                <a:sym typeface="Symbol" pitchFamily="16" charset="2"/>
              </a:rPr>
              <a:t>found:=a[</a:t>
            </a:r>
            <a:r>
              <a:rPr lang="en-US" sz="1100" dirty="0" err="1">
                <a:latin typeface="Andale Mono" panose="020B0509000000000004" pitchFamily="49" charset="0"/>
                <a:sym typeface="Symbol" pitchFamily="16" charset="2"/>
              </a:rPr>
              <a:t>i</a:t>
            </a:r>
            <a:r>
              <a:rPr lang="en-US" sz="1100" dirty="0">
                <a:latin typeface="Andale Mono" panose="020B0509000000000004" pitchFamily="49" charset="0"/>
                <a:sym typeface="Symbol" pitchFamily="16" charset="2"/>
              </a:rPr>
              <a:t>]=x ; </a:t>
            </a:r>
            <a:r>
              <a:rPr lang="en-US" sz="1100" dirty="0" err="1">
                <a:latin typeface="Andale Mono" panose="020B0509000000000004" pitchFamily="49" charset="0"/>
                <a:sym typeface="Symbol" pitchFamily="16" charset="2"/>
              </a:rPr>
              <a:t>i</a:t>
            </a:r>
            <a:r>
              <a:rPr lang="en-US" sz="1100" dirty="0">
                <a:latin typeface="Andale Mono" panose="020B0509000000000004" pitchFamily="49" charset="0"/>
                <a:sym typeface="Symbol" pitchFamily="16" charset="2"/>
              </a:rPr>
              <a:t>:=i+1</a:t>
            </a:r>
            <a:r>
              <a:rPr lang="en-US" sz="1100" dirty="0">
                <a:latin typeface="Andale Mono" panose="020B0509000000000004" pitchFamily="49" charset="0"/>
              </a:rPr>
              <a:t>) (found = (</a:t>
            </a:r>
            <a:r>
              <a:rPr lang="en-US" sz="1100" dirty="0">
                <a:latin typeface="Andale Mono" panose="020B0509000000000004" pitchFamily="49" charset="0"/>
                <a:sym typeface="Symbol" pitchFamily="16" charset="2"/>
              </a:rPr>
              <a:t></a:t>
            </a:r>
            <a:r>
              <a:rPr lang="en-US" sz="1100" dirty="0">
                <a:latin typeface="Andale Mono" panose="020B0509000000000004" pitchFamily="49" charset="0"/>
              </a:rPr>
              <a:t>k:0</a:t>
            </a:r>
            <a:r>
              <a:rPr lang="en-US" sz="1100" dirty="0">
                <a:latin typeface="Andale Mono" panose="020B0509000000000004" pitchFamily="49" charset="0"/>
                <a:sym typeface="Symbol" pitchFamily="16" charset="2"/>
              </a:rPr>
              <a:t></a:t>
            </a:r>
            <a:r>
              <a:rPr lang="en-US" sz="1100" dirty="0">
                <a:latin typeface="Andale Mono" panose="020B0509000000000004" pitchFamily="49" charset="0"/>
              </a:rPr>
              <a:t>k&lt;</a:t>
            </a:r>
            <a:r>
              <a:rPr lang="en-US" sz="1100" dirty="0" err="1">
                <a:latin typeface="Andale Mono" panose="020B0509000000000004" pitchFamily="49" charset="0"/>
              </a:rPr>
              <a:t>i:a</a:t>
            </a:r>
            <a:r>
              <a:rPr lang="en-US" sz="1100" dirty="0">
                <a:latin typeface="Andale Mono" panose="020B0509000000000004" pitchFamily="49" charset="0"/>
              </a:rPr>
              <a:t>[k]=x)) = ((a[</a:t>
            </a:r>
            <a:r>
              <a:rPr lang="en-US" sz="1100" dirty="0" err="1">
                <a:latin typeface="Andale Mono" panose="020B0509000000000004" pitchFamily="49" charset="0"/>
              </a:rPr>
              <a:t>i</a:t>
            </a:r>
            <a:r>
              <a:rPr lang="en-US" sz="1100" dirty="0">
                <a:latin typeface="Andale Mono" panose="020B0509000000000004" pitchFamily="49" charset="0"/>
              </a:rPr>
              <a:t>]=x) = (</a:t>
            </a:r>
            <a:r>
              <a:rPr lang="en-US" sz="1100" dirty="0">
                <a:latin typeface="Andale Mono" panose="020B0509000000000004" pitchFamily="49" charset="0"/>
                <a:sym typeface="Symbol" pitchFamily="16" charset="2"/>
              </a:rPr>
              <a:t></a:t>
            </a:r>
            <a:r>
              <a:rPr lang="en-US" sz="1100" dirty="0">
                <a:latin typeface="Andale Mono" panose="020B0509000000000004" pitchFamily="49" charset="0"/>
              </a:rPr>
              <a:t>k:0</a:t>
            </a:r>
            <a:r>
              <a:rPr lang="en-US" sz="1100" dirty="0">
                <a:latin typeface="Andale Mono" panose="020B0509000000000004" pitchFamily="49" charset="0"/>
                <a:sym typeface="Symbol" pitchFamily="16" charset="2"/>
              </a:rPr>
              <a:t></a:t>
            </a:r>
            <a:r>
              <a:rPr lang="en-US" sz="1100" dirty="0">
                <a:latin typeface="Andale Mono" panose="020B0509000000000004" pitchFamily="49" charset="0"/>
              </a:rPr>
              <a:t>k&lt;i+1: a[k]=x))</a:t>
            </a:r>
          </a:p>
          <a:p>
            <a:r>
              <a:rPr lang="en-US" sz="1100" dirty="0">
                <a:latin typeface="Andale Mono" panose="020B0509000000000004" pitchFamily="49" charset="0"/>
              </a:rPr>
              <a:t>     EQUATIONAL PROOF sub1 ----------------------------------------------------------------</a:t>
            </a:r>
            <a:r>
              <a:rPr lang="en-US" sz="1100" dirty="0">
                <a:latin typeface="Andale Mono" panose="020B0509000000000004" pitchFamily="49" charset="0"/>
                <a:sym typeface="Symbol" pitchFamily="16" charset="2"/>
              </a:rPr>
              <a:t>---------</a:t>
            </a:r>
            <a:endParaRPr lang="en-US" sz="1100" dirty="0">
              <a:latin typeface="Andale Mono" panose="020B0509000000000004" pitchFamily="49" charset="0"/>
            </a:endParaRPr>
          </a:p>
          <a:p>
            <a:r>
              <a:rPr lang="en-US" sz="1100" dirty="0">
                <a:latin typeface="Andale Mono" panose="020B0509000000000004" pitchFamily="49" charset="0"/>
              </a:rPr>
              <a:t>     wp (</a:t>
            </a:r>
            <a:r>
              <a:rPr lang="en-US" sz="1100" dirty="0">
                <a:latin typeface="Andale Mono" panose="020B0509000000000004" pitchFamily="49" charset="0"/>
                <a:sym typeface="Symbol" pitchFamily="16" charset="2"/>
              </a:rPr>
              <a:t>found := a[</a:t>
            </a:r>
            <a:r>
              <a:rPr lang="en-US" sz="1100" dirty="0" err="1">
                <a:latin typeface="Andale Mono" panose="020B0509000000000004" pitchFamily="49" charset="0"/>
                <a:sym typeface="Symbol" pitchFamily="16" charset="2"/>
              </a:rPr>
              <a:t>i</a:t>
            </a:r>
            <a:r>
              <a:rPr lang="en-US" sz="1100" dirty="0">
                <a:latin typeface="Andale Mono" panose="020B0509000000000004" pitchFamily="49" charset="0"/>
                <a:sym typeface="Symbol" pitchFamily="16" charset="2"/>
              </a:rPr>
              <a:t>]=x ; </a:t>
            </a:r>
            <a:r>
              <a:rPr lang="en-US" sz="1100" dirty="0" err="1">
                <a:latin typeface="Andale Mono" panose="020B0509000000000004" pitchFamily="49" charset="0"/>
                <a:sym typeface="Symbol" pitchFamily="16" charset="2"/>
              </a:rPr>
              <a:t>i</a:t>
            </a:r>
            <a:r>
              <a:rPr lang="en-US" sz="1100" dirty="0">
                <a:latin typeface="Andale Mono" panose="020B0509000000000004" pitchFamily="49" charset="0"/>
                <a:sym typeface="Symbol" pitchFamily="16" charset="2"/>
              </a:rPr>
              <a:t>:=i+1</a:t>
            </a:r>
            <a:r>
              <a:rPr lang="en-US" sz="1100" dirty="0">
                <a:latin typeface="Andale Mono" panose="020B0509000000000004" pitchFamily="49" charset="0"/>
              </a:rPr>
              <a:t>) (found = (</a:t>
            </a:r>
            <a:r>
              <a:rPr lang="en-US" sz="1100" dirty="0">
                <a:latin typeface="Andale Mono" panose="020B0509000000000004" pitchFamily="49" charset="0"/>
                <a:sym typeface="Symbol" pitchFamily="16" charset="2"/>
              </a:rPr>
              <a:t></a:t>
            </a:r>
            <a:r>
              <a:rPr lang="en-US" sz="1100" dirty="0">
                <a:latin typeface="Andale Mono" panose="020B0509000000000004" pitchFamily="49" charset="0"/>
              </a:rPr>
              <a:t>k : 0</a:t>
            </a:r>
            <a:r>
              <a:rPr lang="en-US" sz="1100" dirty="0">
                <a:latin typeface="Andale Mono" panose="020B0509000000000004" pitchFamily="49" charset="0"/>
                <a:sym typeface="Symbol" pitchFamily="16" charset="2"/>
              </a:rPr>
              <a:t></a:t>
            </a:r>
            <a:r>
              <a:rPr lang="en-US" sz="1100" dirty="0">
                <a:latin typeface="Andale Mono" panose="020B0509000000000004" pitchFamily="49" charset="0"/>
              </a:rPr>
              <a:t>k&lt;</a:t>
            </a:r>
            <a:r>
              <a:rPr lang="en-US" sz="1100" dirty="0" err="1">
                <a:latin typeface="Andale Mono" panose="020B0509000000000004" pitchFamily="49" charset="0"/>
              </a:rPr>
              <a:t>i</a:t>
            </a:r>
            <a:r>
              <a:rPr lang="en-US" sz="1100" dirty="0">
                <a:latin typeface="Andale Mono" panose="020B0509000000000004" pitchFamily="49" charset="0"/>
              </a:rPr>
              <a:t> : a[k]=x))</a:t>
            </a:r>
          </a:p>
          <a:p>
            <a:r>
              <a:rPr lang="en-US" sz="1100" dirty="0">
                <a:latin typeface="Andale Mono" panose="020B0509000000000004" pitchFamily="49" charset="0"/>
              </a:rPr>
              <a:t>     =</a:t>
            </a:r>
            <a:r>
              <a:rPr lang="en-US" sz="1100" dirty="0">
                <a:solidFill>
                  <a:srgbClr val="0070C0"/>
                </a:solidFill>
                <a:latin typeface="Andale Mono" panose="020B0509000000000004" pitchFamily="49" charset="0"/>
              </a:rPr>
              <a:t> {wp formula for sequence}</a:t>
            </a:r>
            <a:endParaRPr lang="en-US" sz="1100" dirty="0">
              <a:latin typeface="Andale Mono" panose="020B0509000000000004" pitchFamily="49" charset="0"/>
            </a:endParaRPr>
          </a:p>
          <a:p>
            <a:r>
              <a:rPr lang="en-US" sz="1100" dirty="0">
                <a:latin typeface="Andale Mono" panose="020B0509000000000004" pitchFamily="49" charset="0"/>
              </a:rPr>
              <a:t>     wp (</a:t>
            </a:r>
            <a:r>
              <a:rPr lang="en-US" sz="1100" dirty="0">
                <a:latin typeface="Andale Mono" panose="020B0509000000000004" pitchFamily="49" charset="0"/>
                <a:sym typeface="Symbol" pitchFamily="16" charset="2"/>
              </a:rPr>
              <a:t>found := a[</a:t>
            </a:r>
            <a:r>
              <a:rPr lang="en-US" sz="1100" dirty="0" err="1">
                <a:latin typeface="Andale Mono" panose="020B0509000000000004" pitchFamily="49" charset="0"/>
                <a:sym typeface="Symbol" pitchFamily="16" charset="2"/>
              </a:rPr>
              <a:t>i</a:t>
            </a:r>
            <a:r>
              <a:rPr lang="en-US" sz="1100" dirty="0">
                <a:latin typeface="Andale Mono" panose="020B0509000000000004" pitchFamily="49" charset="0"/>
                <a:sym typeface="Symbol" pitchFamily="16" charset="2"/>
              </a:rPr>
              <a:t>]=x</a:t>
            </a:r>
            <a:r>
              <a:rPr lang="en-US" sz="1100" dirty="0">
                <a:latin typeface="Andale Mono" panose="020B0509000000000004" pitchFamily="49" charset="0"/>
              </a:rPr>
              <a:t>) (wp (</a:t>
            </a:r>
            <a:r>
              <a:rPr lang="en-US" sz="1100" dirty="0" err="1">
                <a:latin typeface="Andale Mono" panose="020B0509000000000004" pitchFamily="49" charset="0"/>
                <a:sym typeface="Symbol" pitchFamily="16" charset="2"/>
              </a:rPr>
              <a:t>i</a:t>
            </a:r>
            <a:r>
              <a:rPr lang="en-US" sz="1100" dirty="0">
                <a:latin typeface="Andale Mono" panose="020B0509000000000004" pitchFamily="49" charset="0"/>
                <a:sym typeface="Symbol" pitchFamily="16" charset="2"/>
              </a:rPr>
              <a:t>:=i+1</a:t>
            </a:r>
            <a:r>
              <a:rPr lang="en-US" sz="1100" dirty="0">
                <a:latin typeface="Andale Mono" panose="020B0509000000000004" pitchFamily="49" charset="0"/>
              </a:rPr>
              <a:t>) (found = (</a:t>
            </a:r>
            <a:r>
              <a:rPr lang="en-US" sz="1100" dirty="0">
                <a:latin typeface="Andale Mono" panose="020B0509000000000004" pitchFamily="49" charset="0"/>
                <a:sym typeface="Symbol" pitchFamily="16" charset="2"/>
              </a:rPr>
              <a:t></a:t>
            </a:r>
            <a:r>
              <a:rPr lang="en-US" sz="1100" dirty="0">
                <a:latin typeface="Andale Mono" panose="020B0509000000000004" pitchFamily="49" charset="0"/>
              </a:rPr>
              <a:t>k : 0</a:t>
            </a:r>
            <a:r>
              <a:rPr lang="en-US" sz="1100" dirty="0">
                <a:latin typeface="Andale Mono" panose="020B0509000000000004" pitchFamily="49" charset="0"/>
                <a:sym typeface="Symbol" pitchFamily="16" charset="2"/>
              </a:rPr>
              <a:t></a:t>
            </a:r>
            <a:r>
              <a:rPr lang="en-US" sz="1100" dirty="0">
                <a:latin typeface="Andale Mono" panose="020B0509000000000004" pitchFamily="49" charset="0"/>
              </a:rPr>
              <a:t>k&lt;</a:t>
            </a:r>
            <a:r>
              <a:rPr lang="en-US" sz="1100" dirty="0" err="1">
                <a:latin typeface="Andale Mono" panose="020B0509000000000004" pitchFamily="49" charset="0"/>
              </a:rPr>
              <a:t>i</a:t>
            </a:r>
            <a:r>
              <a:rPr lang="en-US" sz="1100" dirty="0">
                <a:latin typeface="Andale Mono" panose="020B0509000000000004" pitchFamily="49" charset="0"/>
              </a:rPr>
              <a:t> : a[k]=x)))</a:t>
            </a:r>
          </a:p>
          <a:p>
            <a:r>
              <a:rPr lang="en-US" sz="1100" dirty="0">
                <a:latin typeface="Andale Mono" panose="020B0509000000000004" pitchFamily="49" charset="0"/>
              </a:rPr>
              <a:t>     = </a:t>
            </a:r>
            <a:r>
              <a:rPr lang="en-US" sz="1100" dirty="0">
                <a:solidFill>
                  <a:srgbClr val="0070C0"/>
                </a:solidFill>
                <a:latin typeface="Andale Mono" panose="020B0509000000000004" pitchFamily="49" charset="0"/>
              </a:rPr>
              <a:t>{wp formula for assignment}</a:t>
            </a:r>
            <a:endParaRPr lang="en-US" sz="1100" dirty="0">
              <a:latin typeface="Andale Mono" panose="020B0509000000000004" pitchFamily="49" charset="0"/>
            </a:endParaRPr>
          </a:p>
          <a:p>
            <a:r>
              <a:rPr lang="en-US" sz="1100" dirty="0">
                <a:latin typeface="Andale Mono" panose="020B0509000000000004" pitchFamily="49" charset="0"/>
              </a:rPr>
              <a:t>     wp (</a:t>
            </a:r>
            <a:r>
              <a:rPr lang="en-US" sz="1100" dirty="0">
                <a:latin typeface="Andale Mono" panose="020B0509000000000004" pitchFamily="49" charset="0"/>
                <a:sym typeface="Symbol" pitchFamily="16" charset="2"/>
              </a:rPr>
              <a:t>found := a[</a:t>
            </a:r>
            <a:r>
              <a:rPr lang="en-US" sz="1100" dirty="0" err="1">
                <a:latin typeface="Andale Mono" panose="020B0509000000000004" pitchFamily="49" charset="0"/>
                <a:sym typeface="Symbol" pitchFamily="16" charset="2"/>
              </a:rPr>
              <a:t>i</a:t>
            </a:r>
            <a:r>
              <a:rPr lang="en-US" sz="1100" dirty="0">
                <a:latin typeface="Andale Mono" panose="020B0509000000000004" pitchFamily="49" charset="0"/>
                <a:sym typeface="Symbol" pitchFamily="16" charset="2"/>
              </a:rPr>
              <a:t>]=x</a:t>
            </a:r>
            <a:r>
              <a:rPr lang="en-US" sz="1100" dirty="0">
                <a:latin typeface="Andale Mono" panose="020B0509000000000004" pitchFamily="49" charset="0"/>
              </a:rPr>
              <a:t>) (found = (</a:t>
            </a:r>
            <a:r>
              <a:rPr lang="en-US" sz="1100" dirty="0">
                <a:latin typeface="Andale Mono" panose="020B0509000000000004" pitchFamily="49" charset="0"/>
                <a:sym typeface="Symbol" pitchFamily="16" charset="2"/>
              </a:rPr>
              <a:t></a:t>
            </a:r>
            <a:r>
              <a:rPr lang="en-US" sz="1100" dirty="0">
                <a:latin typeface="Andale Mono" panose="020B0509000000000004" pitchFamily="49" charset="0"/>
              </a:rPr>
              <a:t>k : 0</a:t>
            </a:r>
            <a:r>
              <a:rPr lang="en-US" sz="1100" dirty="0">
                <a:latin typeface="Andale Mono" panose="020B0509000000000004" pitchFamily="49" charset="0"/>
                <a:sym typeface="Symbol" pitchFamily="16" charset="2"/>
              </a:rPr>
              <a:t></a:t>
            </a:r>
            <a:r>
              <a:rPr lang="en-US" sz="1100" dirty="0">
                <a:latin typeface="Andale Mono" panose="020B0509000000000004" pitchFamily="49" charset="0"/>
              </a:rPr>
              <a:t>k&lt;i+1 : a[k]=x))</a:t>
            </a:r>
          </a:p>
          <a:p>
            <a:r>
              <a:rPr lang="en-US" sz="1100" dirty="0">
                <a:latin typeface="Andale Mono" panose="020B0509000000000004" pitchFamily="49" charset="0"/>
              </a:rPr>
              <a:t>     = </a:t>
            </a:r>
            <a:r>
              <a:rPr lang="en-US" sz="1100" dirty="0">
                <a:solidFill>
                  <a:srgbClr val="0070C0"/>
                </a:solidFill>
                <a:latin typeface="Andale Mono" panose="020B0509000000000004" pitchFamily="49" charset="0"/>
              </a:rPr>
              <a:t>{wp formula for assignment}</a:t>
            </a:r>
            <a:endParaRPr lang="en-US" sz="1100" dirty="0">
              <a:latin typeface="Andale Mono" panose="020B0509000000000004" pitchFamily="49" charset="0"/>
            </a:endParaRPr>
          </a:p>
          <a:p>
            <a:r>
              <a:rPr lang="en-US" sz="1100" dirty="0">
                <a:latin typeface="Andale Mono" panose="020B0509000000000004" pitchFamily="49" charset="0"/>
              </a:rPr>
              <a:t>     (</a:t>
            </a:r>
            <a:r>
              <a:rPr lang="en-US" sz="1100" dirty="0">
                <a:latin typeface="Andale Mono" panose="020B0509000000000004" pitchFamily="49" charset="0"/>
                <a:sym typeface="Symbol" pitchFamily="16" charset="2"/>
              </a:rPr>
              <a:t>a[</a:t>
            </a:r>
            <a:r>
              <a:rPr lang="en-US" sz="1100" dirty="0" err="1">
                <a:latin typeface="Andale Mono" panose="020B0509000000000004" pitchFamily="49" charset="0"/>
                <a:sym typeface="Symbol" pitchFamily="16" charset="2"/>
              </a:rPr>
              <a:t>i</a:t>
            </a:r>
            <a:r>
              <a:rPr lang="en-US" sz="1100" dirty="0">
                <a:latin typeface="Andale Mono" panose="020B0509000000000004" pitchFamily="49" charset="0"/>
                <a:sym typeface="Symbol" pitchFamily="16" charset="2"/>
              </a:rPr>
              <a:t>]=x)</a:t>
            </a:r>
            <a:r>
              <a:rPr lang="en-US" sz="1100" dirty="0">
                <a:latin typeface="Andale Mono" panose="020B0509000000000004" pitchFamily="49" charset="0"/>
              </a:rPr>
              <a:t> = (</a:t>
            </a:r>
            <a:r>
              <a:rPr lang="en-US" sz="1100" dirty="0">
                <a:latin typeface="Andale Mono" panose="020B0509000000000004" pitchFamily="49" charset="0"/>
                <a:sym typeface="Symbol" pitchFamily="16" charset="2"/>
              </a:rPr>
              <a:t></a:t>
            </a:r>
            <a:r>
              <a:rPr lang="en-US" sz="1100" dirty="0">
                <a:latin typeface="Andale Mono" panose="020B0509000000000004" pitchFamily="49" charset="0"/>
              </a:rPr>
              <a:t>k : 0</a:t>
            </a:r>
            <a:r>
              <a:rPr lang="en-US" sz="1100" dirty="0">
                <a:latin typeface="Andale Mono" panose="020B0509000000000004" pitchFamily="49" charset="0"/>
                <a:sym typeface="Symbol" pitchFamily="16" charset="2"/>
              </a:rPr>
              <a:t></a:t>
            </a:r>
            <a:r>
              <a:rPr lang="en-US" sz="1100" dirty="0">
                <a:latin typeface="Andale Mono" panose="020B0509000000000004" pitchFamily="49" charset="0"/>
              </a:rPr>
              <a:t>k&lt;i+1 : a[k]=x)</a:t>
            </a:r>
          </a:p>
          <a:p>
            <a:r>
              <a:rPr lang="en-US" sz="1100" dirty="0">
                <a:latin typeface="Andale Mono" panose="020B0509000000000004" pitchFamily="49" charset="0"/>
              </a:rPr>
              <a:t>     END ----------------------------------------------------------------------------------</a:t>
            </a:r>
            <a:r>
              <a:rPr lang="en-US" sz="1100" dirty="0">
                <a:latin typeface="Andale Mono" panose="020B0509000000000004" pitchFamily="49" charset="0"/>
                <a:sym typeface="Symbol" pitchFamily="16" charset="2"/>
              </a:rPr>
              <a:t>---------</a:t>
            </a:r>
            <a:endParaRPr lang="en-US" sz="1100" dirty="0">
              <a:latin typeface="Andale Mono" panose="020B0509000000000004" pitchFamily="49" charset="0"/>
            </a:endParaRPr>
          </a:p>
          <a:p>
            <a:r>
              <a:rPr lang="en-US" sz="1100" dirty="0">
                <a:latin typeface="Andale Mono" panose="020B0509000000000004" pitchFamily="49" charset="0"/>
              </a:rPr>
              <a:t>2.  </a:t>
            </a:r>
            <a:r>
              <a:rPr lang="en-US" sz="1100" dirty="0">
                <a:solidFill>
                  <a:srgbClr val="0070C0"/>
                </a:solidFill>
                <a:latin typeface="Andale Mono" panose="020B0509000000000004" pitchFamily="49" charset="0"/>
              </a:rPr>
              <a:t>{</a:t>
            </a:r>
            <a:r>
              <a:rPr lang="en-US" sz="1100" dirty="0">
                <a:solidFill>
                  <a:srgbClr val="0070C0"/>
                </a:solidFill>
                <a:latin typeface="Andale Mono" panose="020B0509000000000004" pitchFamily="49" charset="0"/>
                <a:sym typeface="Symbol" pitchFamily="16" charset="2"/>
              </a:rPr>
              <a:t>∧ elimination</a:t>
            </a:r>
            <a:r>
              <a:rPr lang="en-US" sz="1100" dirty="0">
                <a:solidFill>
                  <a:srgbClr val="0070C0"/>
                </a:solidFill>
                <a:latin typeface="Andale Mono" panose="020B0509000000000004" pitchFamily="49" charset="0"/>
              </a:rPr>
              <a:t> from A } </a:t>
            </a:r>
            <a:r>
              <a:rPr lang="en-US" sz="1100" dirty="0">
                <a:latin typeface="Andale Mono" panose="020B0509000000000004" pitchFamily="49" charset="0"/>
                <a:sym typeface="Symbol" pitchFamily="16" charset="2"/>
              </a:rPr>
              <a:t>¬found </a:t>
            </a:r>
          </a:p>
          <a:p>
            <a:r>
              <a:rPr lang="en-US" sz="1100" dirty="0">
                <a:latin typeface="Andale Mono" panose="020B0509000000000004" pitchFamily="49" charset="0"/>
                <a:sym typeface="Symbol" pitchFamily="16" charset="2"/>
              </a:rPr>
              <a:t>3.  </a:t>
            </a:r>
            <a:r>
              <a:rPr lang="en-US" sz="1100" dirty="0">
                <a:solidFill>
                  <a:srgbClr val="0070C0"/>
                </a:solidFill>
                <a:latin typeface="Andale Mono" panose="020B0509000000000004" pitchFamily="49" charset="0"/>
              </a:rPr>
              <a:t>{</a:t>
            </a:r>
            <a:r>
              <a:rPr lang="en-US" sz="1100" dirty="0">
                <a:solidFill>
                  <a:srgbClr val="0070C0"/>
                </a:solidFill>
                <a:latin typeface="Andale Mono" panose="020B0509000000000004" pitchFamily="49" charset="0"/>
                <a:sym typeface="Symbol" pitchFamily="16" charset="2"/>
              </a:rPr>
              <a:t>∧ elimination</a:t>
            </a:r>
            <a:r>
              <a:rPr lang="en-US" sz="1100" dirty="0">
                <a:solidFill>
                  <a:srgbClr val="0070C0"/>
                </a:solidFill>
                <a:latin typeface="Andale Mono" panose="020B0509000000000004" pitchFamily="49" charset="0"/>
              </a:rPr>
              <a:t> from A } </a:t>
            </a:r>
            <a:r>
              <a:rPr lang="en-US" sz="1100" dirty="0">
                <a:latin typeface="Andale Mono" panose="020B0509000000000004" pitchFamily="49" charset="0"/>
                <a:sym typeface="Symbol" pitchFamily="16" charset="2"/>
              </a:rPr>
              <a:t>f</a:t>
            </a:r>
            <a:r>
              <a:rPr lang="en-US" sz="1100" dirty="0">
                <a:latin typeface="Andale Mono" panose="020B0509000000000004" pitchFamily="49" charset="0"/>
              </a:rPr>
              <a:t>ound   =  (</a:t>
            </a:r>
            <a:r>
              <a:rPr lang="en-US" sz="1100" dirty="0">
                <a:latin typeface="Andale Mono" panose="020B0509000000000004" pitchFamily="49" charset="0"/>
                <a:sym typeface="Symbol" pitchFamily="16" charset="2"/>
              </a:rPr>
              <a:t>k : 0  k &lt; </a:t>
            </a:r>
            <a:r>
              <a:rPr lang="en-US" sz="1100" dirty="0" err="1">
                <a:latin typeface="Andale Mono" panose="020B0509000000000004" pitchFamily="49" charset="0"/>
                <a:sym typeface="Symbol" pitchFamily="16" charset="2"/>
              </a:rPr>
              <a:t>i</a:t>
            </a:r>
            <a:r>
              <a:rPr lang="en-US" sz="1100" dirty="0">
                <a:latin typeface="Andale Mono" panose="020B0509000000000004" pitchFamily="49" charset="0"/>
                <a:sym typeface="Symbol" pitchFamily="16" charset="2"/>
              </a:rPr>
              <a:t> :  a[k]=x))</a:t>
            </a:r>
          </a:p>
          <a:p>
            <a:r>
              <a:rPr lang="en-US" sz="1100" dirty="0">
                <a:latin typeface="Andale Mono" panose="020B0509000000000004" pitchFamily="49" charset="0"/>
                <a:sym typeface="Symbol" pitchFamily="16" charset="2"/>
              </a:rPr>
              <a:t>4.  </a:t>
            </a:r>
            <a:r>
              <a:rPr lang="en-US" sz="1100" dirty="0">
                <a:solidFill>
                  <a:srgbClr val="0070C0"/>
                </a:solidFill>
                <a:latin typeface="Andale Mono" panose="020B0509000000000004" pitchFamily="49" charset="0"/>
              </a:rPr>
              <a:t>{</a:t>
            </a:r>
            <a:r>
              <a:rPr lang="en-US" sz="1100" dirty="0">
                <a:solidFill>
                  <a:srgbClr val="0070C0"/>
                </a:solidFill>
                <a:latin typeface="Andale Mono" panose="020B0509000000000004" pitchFamily="49" charset="0"/>
                <a:sym typeface="Symbol" pitchFamily="16" charset="2"/>
              </a:rPr>
              <a:t>rewriting 3 in 2</a:t>
            </a:r>
            <a:r>
              <a:rPr lang="en-US" sz="1100" dirty="0">
                <a:solidFill>
                  <a:srgbClr val="0070C0"/>
                </a:solidFill>
                <a:latin typeface="Andale Mono" panose="020B0509000000000004" pitchFamily="49" charset="0"/>
              </a:rPr>
              <a:t>} </a:t>
            </a:r>
            <a:r>
              <a:rPr lang="en-US" sz="1100" dirty="0">
                <a:latin typeface="Andale Mono" panose="020B0509000000000004" pitchFamily="49" charset="0"/>
                <a:sym typeface="Symbol" pitchFamily="16" charset="2"/>
              </a:rPr>
              <a:t>¬</a:t>
            </a:r>
            <a:r>
              <a:rPr lang="en-US" sz="1100" dirty="0">
                <a:latin typeface="Andale Mono" panose="020B0509000000000004" pitchFamily="49" charset="0"/>
              </a:rPr>
              <a:t>(</a:t>
            </a:r>
            <a:r>
              <a:rPr lang="en-US" sz="1100" dirty="0">
                <a:latin typeface="Andale Mono" panose="020B0509000000000004" pitchFamily="49" charset="0"/>
                <a:sym typeface="Symbol" pitchFamily="16" charset="2"/>
              </a:rPr>
              <a:t>k : 0  k &lt; </a:t>
            </a:r>
            <a:r>
              <a:rPr lang="en-US" sz="1100" dirty="0" err="1">
                <a:latin typeface="Andale Mono" panose="020B0509000000000004" pitchFamily="49" charset="0"/>
                <a:sym typeface="Symbol" pitchFamily="16" charset="2"/>
              </a:rPr>
              <a:t>i</a:t>
            </a:r>
            <a:r>
              <a:rPr lang="en-US" sz="1100" dirty="0">
                <a:latin typeface="Andale Mono" panose="020B0509000000000004" pitchFamily="49" charset="0"/>
                <a:sym typeface="Symbol" pitchFamily="16" charset="2"/>
              </a:rPr>
              <a:t> :  a[k]=x)</a:t>
            </a:r>
          </a:p>
          <a:p>
            <a:r>
              <a:rPr lang="en-US" sz="1100" dirty="0">
                <a:latin typeface="Andale Mono" panose="020B0509000000000004" pitchFamily="49" charset="0"/>
                <a:sym typeface="Symbol" pitchFamily="16" charset="2"/>
              </a:rPr>
              <a:t>5.  </a:t>
            </a:r>
            <a:r>
              <a:rPr lang="en-US" sz="1100" dirty="0">
                <a:solidFill>
                  <a:srgbClr val="0070C0"/>
                </a:solidFill>
                <a:latin typeface="Andale Mono" panose="020B0509000000000004" pitchFamily="49" charset="0"/>
              </a:rPr>
              <a:t>{∨</a:t>
            </a:r>
            <a:r>
              <a:rPr lang="en-US" sz="1100" dirty="0">
                <a:solidFill>
                  <a:srgbClr val="0070C0"/>
                </a:solidFill>
                <a:latin typeface="Andale Mono" panose="020B0509000000000004" pitchFamily="49" charset="0"/>
                <a:sym typeface="Symbol" pitchFamily="16" charset="2"/>
              </a:rPr>
              <a:t> introduction</a:t>
            </a:r>
            <a:r>
              <a:rPr lang="en-US" sz="1100" dirty="0">
                <a:solidFill>
                  <a:srgbClr val="0070C0"/>
                </a:solidFill>
                <a:latin typeface="Andale Mono" panose="020B0509000000000004" pitchFamily="49" charset="0"/>
              </a:rPr>
              <a:t> } </a:t>
            </a:r>
            <a:r>
              <a:rPr lang="en-US" sz="1100" dirty="0">
                <a:latin typeface="Andale Mono" panose="020B0509000000000004" pitchFamily="49" charset="0"/>
                <a:sym typeface="Symbol" pitchFamily="16" charset="2"/>
              </a:rPr>
              <a:t>(a</a:t>
            </a:r>
            <a:r>
              <a:rPr lang="en-US" sz="1100" dirty="0">
                <a:latin typeface="Andale Mono" panose="020B0509000000000004" pitchFamily="49" charset="0"/>
              </a:rPr>
              <a:t>[</a:t>
            </a:r>
            <a:r>
              <a:rPr lang="en-US" sz="1100" dirty="0" err="1">
                <a:latin typeface="Andale Mono" panose="020B0509000000000004" pitchFamily="49" charset="0"/>
              </a:rPr>
              <a:t>i</a:t>
            </a:r>
            <a:r>
              <a:rPr lang="en-US" sz="1100" dirty="0">
                <a:latin typeface="Andale Mono" panose="020B0509000000000004" pitchFamily="49" charset="0"/>
              </a:rPr>
              <a:t>]=x)</a:t>
            </a:r>
            <a:r>
              <a:rPr lang="en-US" sz="1100" dirty="0">
                <a:latin typeface="Andale Mono" panose="020B0509000000000004" pitchFamily="49" charset="0"/>
                <a:sym typeface="Symbol" pitchFamily="16" charset="2"/>
              </a:rPr>
              <a:t> ⟹ (</a:t>
            </a:r>
            <a:r>
              <a:rPr lang="en-US" sz="1100" dirty="0">
                <a:latin typeface="Andale Mono" panose="020B0509000000000004" pitchFamily="49" charset="0"/>
              </a:rPr>
              <a:t>k : 0</a:t>
            </a:r>
            <a:r>
              <a:rPr lang="en-US" sz="1100" dirty="0">
                <a:latin typeface="Andale Mono" panose="020B0509000000000004" pitchFamily="49" charset="0"/>
                <a:sym typeface="Symbol" pitchFamily="16" charset="2"/>
              </a:rPr>
              <a:t></a:t>
            </a:r>
            <a:r>
              <a:rPr lang="en-US" sz="1100" dirty="0">
                <a:latin typeface="Andale Mono" panose="020B0509000000000004" pitchFamily="49" charset="0"/>
              </a:rPr>
              <a:t>k&lt;</a:t>
            </a:r>
            <a:r>
              <a:rPr lang="en-US" sz="1100" dirty="0" err="1">
                <a:latin typeface="Andale Mono" panose="020B0509000000000004" pitchFamily="49" charset="0"/>
              </a:rPr>
              <a:t>i</a:t>
            </a:r>
            <a:r>
              <a:rPr lang="en-US" sz="1100" dirty="0">
                <a:latin typeface="Andale Mono" panose="020B0509000000000004" pitchFamily="49" charset="0"/>
              </a:rPr>
              <a:t> : a[k]=x) ∨ </a:t>
            </a:r>
            <a:r>
              <a:rPr lang="en-US" sz="1100" dirty="0">
                <a:latin typeface="Andale Mono" panose="020B0509000000000004" pitchFamily="49" charset="0"/>
                <a:sym typeface="Symbol" pitchFamily="16" charset="2"/>
              </a:rPr>
              <a:t>(a</a:t>
            </a:r>
            <a:r>
              <a:rPr lang="en-US" sz="1100" dirty="0">
                <a:latin typeface="Andale Mono" panose="020B0509000000000004" pitchFamily="49" charset="0"/>
              </a:rPr>
              <a:t>[</a:t>
            </a:r>
            <a:r>
              <a:rPr lang="en-US" sz="1100" dirty="0" err="1">
                <a:latin typeface="Andale Mono" panose="020B0509000000000004" pitchFamily="49" charset="0"/>
              </a:rPr>
              <a:t>i</a:t>
            </a:r>
            <a:r>
              <a:rPr lang="en-US" sz="1100" dirty="0">
                <a:latin typeface="Andale Mono" panose="020B0509000000000004" pitchFamily="49" charset="0"/>
              </a:rPr>
              <a:t>]=x)</a:t>
            </a:r>
          </a:p>
          <a:p>
            <a:r>
              <a:rPr lang="en-US" sz="1100" dirty="0">
                <a:latin typeface="Andale Mono" panose="020B0509000000000004" pitchFamily="49" charset="0"/>
                <a:sym typeface="Symbol" pitchFamily="16" charset="2"/>
              </a:rPr>
              <a:t>6.  </a:t>
            </a:r>
            <a:r>
              <a:rPr lang="en-US" sz="1100" dirty="0">
                <a:solidFill>
                  <a:srgbClr val="0070C0"/>
                </a:solidFill>
                <a:latin typeface="Andale Mono" panose="020B0509000000000004" pitchFamily="49" charset="0"/>
              </a:rPr>
              <a:t>{∨</a:t>
            </a:r>
            <a:r>
              <a:rPr lang="en-US" sz="1100" dirty="0">
                <a:solidFill>
                  <a:srgbClr val="0070C0"/>
                </a:solidFill>
                <a:latin typeface="Andale Mono" panose="020B0509000000000004" pitchFamily="49" charset="0"/>
                <a:sym typeface="Symbol" pitchFamily="16" charset="2"/>
              </a:rPr>
              <a:t> elimination</a:t>
            </a:r>
            <a:r>
              <a:rPr lang="en-US" sz="1100" dirty="0">
                <a:solidFill>
                  <a:srgbClr val="0070C0"/>
                </a:solidFill>
                <a:latin typeface="Andale Mono" panose="020B0509000000000004" pitchFamily="49" charset="0"/>
              </a:rPr>
              <a:t> from 4 } </a:t>
            </a:r>
            <a:r>
              <a:rPr lang="en-US" sz="1100" dirty="0">
                <a:latin typeface="Andale Mono" panose="020B0509000000000004" pitchFamily="49" charset="0"/>
                <a:sym typeface="Symbol" pitchFamily="16" charset="2"/>
              </a:rPr>
              <a:t>(</a:t>
            </a:r>
            <a:r>
              <a:rPr lang="en-US" sz="1100" dirty="0">
                <a:latin typeface="Andale Mono" panose="020B0509000000000004" pitchFamily="49" charset="0"/>
              </a:rPr>
              <a:t>k : 0</a:t>
            </a:r>
            <a:r>
              <a:rPr lang="en-US" sz="1100" dirty="0">
                <a:latin typeface="Andale Mono" panose="020B0509000000000004" pitchFamily="49" charset="0"/>
                <a:sym typeface="Symbol" pitchFamily="16" charset="2"/>
              </a:rPr>
              <a:t></a:t>
            </a:r>
            <a:r>
              <a:rPr lang="en-US" sz="1100" dirty="0">
                <a:latin typeface="Andale Mono" panose="020B0509000000000004" pitchFamily="49" charset="0"/>
              </a:rPr>
              <a:t>k&lt;</a:t>
            </a:r>
            <a:r>
              <a:rPr lang="en-US" sz="1100" dirty="0" err="1">
                <a:latin typeface="Andale Mono" panose="020B0509000000000004" pitchFamily="49" charset="0"/>
              </a:rPr>
              <a:t>i</a:t>
            </a:r>
            <a:r>
              <a:rPr lang="en-US" sz="1100" dirty="0">
                <a:latin typeface="Andale Mono" panose="020B0509000000000004" pitchFamily="49" charset="0"/>
              </a:rPr>
              <a:t> : a[k]=x) ∨ </a:t>
            </a:r>
            <a:r>
              <a:rPr lang="en-US" sz="1100" dirty="0">
                <a:latin typeface="Andale Mono" panose="020B0509000000000004" pitchFamily="49" charset="0"/>
                <a:sym typeface="Symbol" pitchFamily="16" charset="2"/>
              </a:rPr>
              <a:t>(a</a:t>
            </a:r>
            <a:r>
              <a:rPr lang="en-US" sz="1100" dirty="0">
                <a:latin typeface="Andale Mono" panose="020B0509000000000004" pitchFamily="49" charset="0"/>
              </a:rPr>
              <a:t>[</a:t>
            </a:r>
            <a:r>
              <a:rPr lang="en-US" sz="1100" dirty="0" err="1">
                <a:latin typeface="Andale Mono" panose="020B0509000000000004" pitchFamily="49" charset="0"/>
              </a:rPr>
              <a:t>i</a:t>
            </a:r>
            <a:r>
              <a:rPr lang="en-US" sz="1100" dirty="0">
                <a:latin typeface="Andale Mono" panose="020B0509000000000004" pitchFamily="49" charset="0"/>
              </a:rPr>
              <a:t>]=x) </a:t>
            </a:r>
            <a:r>
              <a:rPr lang="en-US" sz="1100" dirty="0">
                <a:latin typeface="Andale Mono" panose="020B0509000000000004" pitchFamily="49" charset="0"/>
                <a:sym typeface="Symbol" pitchFamily="16" charset="2"/>
              </a:rPr>
              <a:t>⟹ (a</a:t>
            </a:r>
            <a:r>
              <a:rPr lang="en-US" sz="1100" dirty="0">
                <a:latin typeface="Andale Mono" panose="020B0509000000000004" pitchFamily="49" charset="0"/>
              </a:rPr>
              <a:t>[</a:t>
            </a:r>
            <a:r>
              <a:rPr lang="en-US" sz="1100" dirty="0" err="1">
                <a:latin typeface="Andale Mono" panose="020B0509000000000004" pitchFamily="49" charset="0"/>
              </a:rPr>
              <a:t>i</a:t>
            </a:r>
            <a:r>
              <a:rPr lang="en-US" sz="1100" dirty="0">
                <a:latin typeface="Andale Mono" panose="020B0509000000000004" pitchFamily="49" charset="0"/>
              </a:rPr>
              <a:t>]=x)</a:t>
            </a:r>
            <a:r>
              <a:rPr lang="en-US" sz="1100" dirty="0">
                <a:latin typeface="Andale Mono" panose="020B0509000000000004" pitchFamily="49" charset="0"/>
                <a:sym typeface="Symbol" pitchFamily="16" charset="2"/>
              </a:rPr>
              <a:t> </a:t>
            </a:r>
          </a:p>
          <a:p>
            <a:r>
              <a:rPr lang="en-US" sz="1100" dirty="0">
                <a:latin typeface="Andale Mono" panose="020B0509000000000004" pitchFamily="49" charset="0"/>
                <a:sym typeface="Symbol" pitchFamily="16" charset="2"/>
              </a:rPr>
              <a:t>7.  </a:t>
            </a:r>
            <a:r>
              <a:rPr lang="en-US" sz="1100" dirty="0">
                <a:solidFill>
                  <a:srgbClr val="0070C0"/>
                </a:solidFill>
                <a:latin typeface="Andale Mono" panose="020B0509000000000004" pitchFamily="49" charset="0"/>
              </a:rPr>
              <a:t>{def of = from 5,6} </a:t>
            </a:r>
            <a:r>
              <a:rPr lang="en-US" sz="1100" dirty="0">
                <a:latin typeface="Andale Mono" panose="020B0509000000000004" pitchFamily="49" charset="0"/>
                <a:sym typeface="Symbol" pitchFamily="16" charset="2"/>
              </a:rPr>
              <a:t>(a</a:t>
            </a:r>
            <a:r>
              <a:rPr lang="en-US" sz="1100" dirty="0">
                <a:latin typeface="Andale Mono" panose="020B0509000000000004" pitchFamily="49" charset="0"/>
              </a:rPr>
              <a:t>[</a:t>
            </a:r>
            <a:r>
              <a:rPr lang="en-US" sz="1100" dirty="0" err="1">
                <a:latin typeface="Andale Mono" panose="020B0509000000000004" pitchFamily="49" charset="0"/>
              </a:rPr>
              <a:t>i</a:t>
            </a:r>
            <a:r>
              <a:rPr lang="en-US" sz="1100" dirty="0">
                <a:latin typeface="Andale Mono" panose="020B0509000000000004" pitchFamily="49" charset="0"/>
              </a:rPr>
              <a:t>]=x)</a:t>
            </a:r>
            <a:r>
              <a:rPr lang="en-US" sz="1100" dirty="0">
                <a:latin typeface="Andale Mono" panose="020B0509000000000004" pitchFamily="49" charset="0"/>
                <a:sym typeface="Symbol" pitchFamily="16" charset="2"/>
              </a:rPr>
              <a:t> = (</a:t>
            </a:r>
            <a:r>
              <a:rPr lang="en-US" sz="1100" dirty="0">
                <a:latin typeface="Andale Mono" panose="020B0509000000000004" pitchFamily="49" charset="0"/>
              </a:rPr>
              <a:t>k : 0</a:t>
            </a:r>
            <a:r>
              <a:rPr lang="en-US" sz="1100" dirty="0">
                <a:latin typeface="Andale Mono" panose="020B0509000000000004" pitchFamily="49" charset="0"/>
                <a:sym typeface="Symbol" pitchFamily="16" charset="2"/>
              </a:rPr>
              <a:t></a:t>
            </a:r>
            <a:r>
              <a:rPr lang="en-US" sz="1100" dirty="0">
                <a:latin typeface="Andale Mono" panose="020B0509000000000004" pitchFamily="49" charset="0"/>
              </a:rPr>
              <a:t>k&lt;</a:t>
            </a:r>
            <a:r>
              <a:rPr lang="en-US" sz="1100" dirty="0" err="1">
                <a:latin typeface="Andale Mono" panose="020B0509000000000004" pitchFamily="49" charset="0"/>
              </a:rPr>
              <a:t>i</a:t>
            </a:r>
            <a:r>
              <a:rPr lang="en-US" sz="1100" dirty="0">
                <a:latin typeface="Andale Mono" panose="020B0509000000000004" pitchFamily="49" charset="0"/>
              </a:rPr>
              <a:t> : a[k]=x) ∨ </a:t>
            </a:r>
            <a:r>
              <a:rPr lang="en-US" sz="1100" dirty="0">
                <a:latin typeface="Andale Mono" panose="020B0509000000000004" pitchFamily="49" charset="0"/>
                <a:sym typeface="Symbol" pitchFamily="16" charset="2"/>
              </a:rPr>
              <a:t>(a</a:t>
            </a:r>
            <a:r>
              <a:rPr lang="en-US" sz="1100" dirty="0">
                <a:latin typeface="Andale Mono" panose="020B0509000000000004" pitchFamily="49" charset="0"/>
              </a:rPr>
              <a:t>[</a:t>
            </a:r>
            <a:r>
              <a:rPr lang="en-US" sz="1100" dirty="0" err="1">
                <a:latin typeface="Andale Mono" panose="020B0509000000000004" pitchFamily="49" charset="0"/>
              </a:rPr>
              <a:t>i</a:t>
            </a:r>
            <a:r>
              <a:rPr lang="en-US" sz="1100" dirty="0">
                <a:latin typeface="Andale Mono" panose="020B0509000000000004" pitchFamily="49" charset="0"/>
              </a:rPr>
              <a:t>]=x)</a:t>
            </a:r>
            <a:endParaRPr lang="en-US" sz="1100" dirty="0">
              <a:latin typeface="Andale Mono" panose="020B0509000000000004" pitchFamily="49" charset="0"/>
              <a:sym typeface="Symbol" pitchFamily="16" charset="2"/>
            </a:endParaRPr>
          </a:p>
          <a:p>
            <a:r>
              <a:rPr lang="en-US" sz="1100" dirty="0">
                <a:latin typeface="Andale Mono" panose="020B0509000000000004" pitchFamily="49" charset="0"/>
                <a:sym typeface="Symbol" pitchFamily="16" charset="2"/>
              </a:rPr>
              <a:t>8.  </a:t>
            </a:r>
            <a:r>
              <a:rPr lang="en-US" sz="1100" dirty="0">
                <a:solidFill>
                  <a:srgbClr val="0070C0"/>
                </a:solidFill>
                <a:latin typeface="Andale Mono" panose="020B0509000000000004" pitchFamily="49" charset="0"/>
              </a:rPr>
              <a:t>{</a:t>
            </a:r>
            <a:r>
              <a:rPr lang="en-US" sz="1100" dirty="0">
                <a:solidFill>
                  <a:srgbClr val="0070C0"/>
                </a:solidFill>
                <a:latin typeface="Andale Mono" panose="020B0509000000000004" pitchFamily="49" charset="0"/>
                <a:sym typeface="Symbol" pitchFamily="16" charset="2"/>
              </a:rPr>
              <a:t>sub2</a:t>
            </a:r>
            <a:r>
              <a:rPr lang="en-US" sz="1100" dirty="0">
                <a:solidFill>
                  <a:srgbClr val="0070C0"/>
                </a:solidFill>
                <a:latin typeface="Andale Mono" panose="020B0509000000000004" pitchFamily="49" charset="0"/>
              </a:rPr>
              <a:t>}</a:t>
            </a:r>
            <a:r>
              <a:rPr lang="en-US" sz="1100" dirty="0">
                <a:latin typeface="Andale Mono" panose="020B0509000000000004" pitchFamily="49" charset="0"/>
                <a:sym typeface="Symbol" pitchFamily="16" charset="2"/>
              </a:rPr>
              <a:t> (a</a:t>
            </a:r>
            <a:r>
              <a:rPr lang="en-US" sz="1100" dirty="0">
                <a:latin typeface="Andale Mono" panose="020B0509000000000004" pitchFamily="49" charset="0"/>
              </a:rPr>
              <a:t>[</a:t>
            </a:r>
            <a:r>
              <a:rPr lang="en-US" sz="1100" dirty="0" err="1">
                <a:latin typeface="Andale Mono" panose="020B0509000000000004" pitchFamily="49" charset="0"/>
              </a:rPr>
              <a:t>i</a:t>
            </a:r>
            <a:r>
              <a:rPr lang="en-US" sz="1100" dirty="0">
                <a:latin typeface="Andale Mono" panose="020B0509000000000004" pitchFamily="49" charset="0"/>
              </a:rPr>
              <a:t>]=x) = </a:t>
            </a:r>
            <a:r>
              <a:rPr lang="en-US" sz="1100" dirty="0">
                <a:latin typeface="Andale Mono" panose="020B0509000000000004" pitchFamily="49" charset="0"/>
                <a:sym typeface="Symbol" pitchFamily="16" charset="2"/>
              </a:rPr>
              <a:t>(</a:t>
            </a:r>
            <a:r>
              <a:rPr lang="en-US" sz="1100" dirty="0">
                <a:latin typeface="Andale Mono" panose="020B0509000000000004" pitchFamily="49" charset="0"/>
              </a:rPr>
              <a:t>k : 0</a:t>
            </a:r>
            <a:r>
              <a:rPr lang="en-US" sz="1100" dirty="0">
                <a:latin typeface="Andale Mono" panose="020B0509000000000004" pitchFamily="49" charset="0"/>
                <a:sym typeface="Symbol" pitchFamily="16" charset="2"/>
              </a:rPr>
              <a:t></a:t>
            </a:r>
            <a:r>
              <a:rPr lang="en-US" sz="1100" dirty="0">
                <a:latin typeface="Andale Mono" panose="020B0509000000000004" pitchFamily="49" charset="0"/>
              </a:rPr>
              <a:t>k&lt;i+1 : a[k]=x) </a:t>
            </a:r>
            <a:endParaRPr lang="en-US" sz="1100" dirty="0">
              <a:latin typeface="Andale Mono" panose="020B0509000000000004" pitchFamily="49" charset="0"/>
              <a:sym typeface="Symbol" pitchFamily="16" charset="2"/>
            </a:endParaRPr>
          </a:p>
          <a:p>
            <a:r>
              <a:rPr lang="en-US" sz="1100" dirty="0">
                <a:latin typeface="Andale Mono" panose="020B0509000000000004" pitchFamily="49" charset="0"/>
                <a:sym typeface="Symbol" pitchFamily="16" charset="2"/>
              </a:rPr>
              <a:t>     EQUATIONAL PROOF sub2 --------------------------------------------------------------------------</a:t>
            </a:r>
          </a:p>
          <a:p>
            <a:r>
              <a:rPr lang="en-US" sz="1100" dirty="0">
                <a:latin typeface="Andale Mono" panose="020B0509000000000004" pitchFamily="49" charset="0"/>
                <a:sym typeface="Symbol" pitchFamily="16" charset="2"/>
              </a:rPr>
              <a:t>     a</a:t>
            </a:r>
            <a:r>
              <a:rPr lang="en-US" sz="1100" dirty="0">
                <a:latin typeface="Andale Mono" panose="020B0509000000000004" pitchFamily="49" charset="0"/>
              </a:rPr>
              <a:t>[</a:t>
            </a:r>
            <a:r>
              <a:rPr lang="en-US" sz="1100" dirty="0" err="1">
                <a:latin typeface="Andale Mono" panose="020B0509000000000004" pitchFamily="49" charset="0"/>
              </a:rPr>
              <a:t>i</a:t>
            </a:r>
            <a:r>
              <a:rPr lang="en-US" sz="1100" dirty="0">
                <a:latin typeface="Andale Mono" panose="020B0509000000000004" pitchFamily="49" charset="0"/>
              </a:rPr>
              <a:t>]=x</a:t>
            </a:r>
          </a:p>
          <a:p>
            <a:r>
              <a:rPr lang="en-US" sz="1100" dirty="0">
                <a:latin typeface="Andale Mono" panose="020B0509000000000004" pitchFamily="49" charset="0"/>
              </a:rPr>
              <a:t>     = </a:t>
            </a:r>
            <a:r>
              <a:rPr lang="en-US" sz="1100" dirty="0">
                <a:solidFill>
                  <a:srgbClr val="0070C0"/>
                </a:solidFill>
                <a:latin typeface="Andale Mono" panose="020B0509000000000004" pitchFamily="49" charset="0"/>
              </a:rPr>
              <a:t>{</a:t>
            </a:r>
            <a:r>
              <a:rPr lang="en-US" sz="1100" dirty="0">
                <a:solidFill>
                  <a:srgbClr val="0070C0"/>
                </a:solidFill>
                <a:latin typeface="Andale Mono" panose="020B0509000000000004" pitchFamily="49" charset="0"/>
                <a:sym typeface="Symbol" pitchFamily="16" charset="2"/>
              </a:rPr>
              <a:t>7} </a:t>
            </a:r>
          </a:p>
          <a:p>
            <a:r>
              <a:rPr lang="en-US" sz="1100" dirty="0">
                <a:latin typeface="Andale Mono" panose="020B0509000000000004" pitchFamily="49" charset="0"/>
                <a:sym typeface="Symbol" pitchFamily="16" charset="2"/>
              </a:rPr>
              <a:t>     (</a:t>
            </a:r>
            <a:r>
              <a:rPr lang="en-US" sz="1100" dirty="0">
                <a:latin typeface="Andale Mono" panose="020B0509000000000004" pitchFamily="49" charset="0"/>
              </a:rPr>
              <a:t>k : 0</a:t>
            </a:r>
            <a:r>
              <a:rPr lang="en-US" sz="1100" dirty="0">
                <a:latin typeface="Andale Mono" panose="020B0509000000000004" pitchFamily="49" charset="0"/>
                <a:sym typeface="Symbol" pitchFamily="16" charset="2"/>
              </a:rPr>
              <a:t></a:t>
            </a:r>
            <a:r>
              <a:rPr lang="en-US" sz="1100" dirty="0">
                <a:latin typeface="Andale Mono" panose="020B0509000000000004" pitchFamily="49" charset="0"/>
              </a:rPr>
              <a:t>k&lt;</a:t>
            </a:r>
            <a:r>
              <a:rPr lang="en-US" sz="1100" dirty="0" err="1">
                <a:latin typeface="Andale Mono" panose="020B0509000000000004" pitchFamily="49" charset="0"/>
              </a:rPr>
              <a:t>i</a:t>
            </a:r>
            <a:r>
              <a:rPr lang="en-US" sz="1100" dirty="0">
                <a:latin typeface="Andale Mono" panose="020B0509000000000004" pitchFamily="49" charset="0"/>
              </a:rPr>
              <a:t> : a[k]=x) ∨ </a:t>
            </a:r>
            <a:r>
              <a:rPr lang="en-US" sz="1100" dirty="0">
                <a:latin typeface="Andale Mono" panose="020B0509000000000004" pitchFamily="49" charset="0"/>
                <a:sym typeface="Symbol" pitchFamily="16" charset="2"/>
              </a:rPr>
              <a:t>(a</a:t>
            </a:r>
            <a:r>
              <a:rPr lang="en-US" sz="1100" dirty="0">
                <a:latin typeface="Andale Mono" panose="020B0509000000000004" pitchFamily="49" charset="0"/>
              </a:rPr>
              <a:t>[</a:t>
            </a:r>
            <a:r>
              <a:rPr lang="en-US" sz="1100" dirty="0" err="1">
                <a:latin typeface="Andale Mono" panose="020B0509000000000004" pitchFamily="49" charset="0"/>
              </a:rPr>
              <a:t>i</a:t>
            </a:r>
            <a:r>
              <a:rPr lang="en-US" sz="1100" dirty="0">
                <a:latin typeface="Andale Mono" panose="020B0509000000000004" pitchFamily="49" charset="0"/>
              </a:rPr>
              <a:t>]=x)</a:t>
            </a:r>
          </a:p>
          <a:p>
            <a:r>
              <a:rPr lang="en-US" sz="1100" dirty="0">
                <a:latin typeface="Andale Mono" panose="020B0509000000000004" pitchFamily="49" charset="0"/>
                <a:sym typeface="Symbol" pitchFamily="16" charset="2"/>
              </a:rPr>
              <a:t>     = </a:t>
            </a:r>
            <a:r>
              <a:rPr lang="en-US" sz="1100" dirty="0">
                <a:solidFill>
                  <a:srgbClr val="0070C0"/>
                </a:solidFill>
                <a:latin typeface="Andale Mono" panose="020B0509000000000004" pitchFamily="49" charset="0"/>
              </a:rPr>
              <a:t>{</a:t>
            </a:r>
            <a:r>
              <a:rPr lang="en-US" sz="1100" dirty="0">
                <a:solidFill>
                  <a:srgbClr val="0070C0"/>
                </a:solidFill>
                <a:latin typeface="Andale Mono" panose="020B0509000000000004" pitchFamily="49" charset="0"/>
                <a:sym typeface="Symbol" pitchFamily="16" charset="2"/>
              </a:rPr>
              <a:t>singleton domain} </a:t>
            </a:r>
          </a:p>
          <a:p>
            <a:r>
              <a:rPr lang="en-US" sz="1100" dirty="0">
                <a:latin typeface="Andale Mono" panose="020B0509000000000004" pitchFamily="49" charset="0"/>
                <a:sym typeface="Symbol" pitchFamily="16" charset="2"/>
              </a:rPr>
              <a:t>     (</a:t>
            </a:r>
            <a:r>
              <a:rPr lang="en-US" sz="1100" dirty="0">
                <a:latin typeface="Andale Mono" panose="020B0509000000000004" pitchFamily="49" charset="0"/>
              </a:rPr>
              <a:t>k : 0</a:t>
            </a:r>
            <a:r>
              <a:rPr lang="en-US" sz="1100" dirty="0">
                <a:latin typeface="Andale Mono" panose="020B0509000000000004" pitchFamily="49" charset="0"/>
                <a:sym typeface="Symbol" pitchFamily="16" charset="2"/>
              </a:rPr>
              <a:t></a:t>
            </a:r>
            <a:r>
              <a:rPr lang="en-US" sz="1100" dirty="0">
                <a:latin typeface="Andale Mono" panose="020B0509000000000004" pitchFamily="49" charset="0"/>
              </a:rPr>
              <a:t>k&lt;</a:t>
            </a:r>
            <a:r>
              <a:rPr lang="en-US" sz="1100" dirty="0" err="1">
                <a:latin typeface="Andale Mono" panose="020B0509000000000004" pitchFamily="49" charset="0"/>
              </a:rPr>
              <a:t>i</a:t>
            </a:r>
            <a:r>
              <a:rPr lang="en-US" sz="1100" dirty="0">
                <a:latin typeface="Andale Mono" panose="020B0509000000000004" pitchFamily="49" charset="0"/>
              </a:rPr>
              <a:t> : a[k]=x) ∨ </a:t>
            </a:r>
            <a:r>
              <a:rPr lang="en-US" sz="1100" dirty="0">
                <a:latin typeface="Andale Mono" panose="020B0509000000000004" pitchFamily="49" charset="0"/>
                <a:sym typeface="Symbol" pitchFamily="16" charset="2"/>
              </a:rPr>
              <a:t>(</a:t>
            </a:r>
            <a:r>
              <a:rPr lang="en-US" sz="1100" dirty="0">
                <a:latin typeface="Andale Mono" panose="020B0509000000000004" pitchFamily="49" charset="0"/>
              </a:rPr>
              <a:t>k : </a:t>
            </a:r>
            <a:r>
              <a:rPr lang="en-US" sz="1100" dirty="0" err="1">
                <a:latin typeface="Andale Mono" panose="020B0509000000000004" pitchFamily="49" charset="0"/>
              </a:rPr>
              <a:t>i</a:t>
            </a:r>
            <a:r>
              <a:rPr lang="en-US" sz="1100" dirty="0" err="1">
                <a:latin typeface="Andale Mono" panose="020B0509000000000004" pitchFamily="49" charset="0"/>
                <a:sym typeface="Symbol" pitchFamily="16" charset="2"/>
              </a:rPr>
              <a:t></a:t>
            </a:r>
            <a:r>
              <a:rPr lang="en-US" sz="1100" dirty="0" err="1">
                <a:latin typeface="Andale Mono" panose="020B0509000000000004" pitchFamily="49" charset="0"/>
              </a:rPr>
              <a:t>k</a:t>
            </a:r>
            <a:r>
              <a:rPr lang="en-US" sz="1100" dirty="0">
                <a:latin typeface="Andale Mono" panose="020B0509000000000004" pitchFamily="49" charset="0"/>
              </a:rPr>
              <a:t>&lt;</a:t>
            </a:r>
            <a:r>
              <a:rPr lang="en-US" sz="1100" dirty="0" err="1">
                <a:latin typeface="Andale Mono" panose="020B0509000000000004" pitchFamily="49" charset="0"/>
              </a:rPr>
              <a:t>i</a:t>
            </a:r>
            <a:r>
              <a:rPr lang="en-US" sz="1100" dirty="0">
                <a:latin typeface="Andale Mono" panose="020B0509000000000004" pitchFamily="49" charset="0"/>
              </a:rPr>
              <a:t> : a[k]=x)</a:t>
            </a:r>
          </a:p>
          <a:p>
            <a:r>
              <a:rPr lang="en-US" sz="1100" dirty="0">
                <a:latin typeface="Andale Mono" panose="020B0509000000000004" pitchFamily="49" charset="0"/>
              </a:rPr>
              <a:t>     = </a:t>
            </a:r>
            <a:r>
              <a:rPr lang="en-US" sz="1100" dirty="0">
                <a:solidFill>
                  <a:srgbClr val="0070C0"/>
                </a:solidFill>
                <a:latin typeface="Andale Mono" panose="020B0509000000000004" pitchFamily="49" charset="0"/>
              </a:rPr>
              <a:t>{</a:t>
            </a:r>
            <a:r>
              <a:rPr lang="en-US" sz="1100" dirty="0">
                <a:solidFill>
                  <a:srgbClr val="0070C0"/>
                </a:solidFill>
                <a:latin typeface="Andale Mono" panose="020B0509000000000004" pitchFamily="49" charset="0"/>
                <a:sym typeface="Symbol" pitchFamily="16" charset="2"/>
              </a:rPr>
              <a:t>domain split}</a:t>
            </a:r>
            <a:endParaRPr lang="en-US" sz="1100" dirty="0">
              <a:latin typeface="Andale Mono" panose="020B0509000000000004" pitchFamily="49" charset="0"/>
              <a:sym typeface="Symbol" pitchFamily="16" charset="2"/>
            </a:endParaRPr>
          </a:p>
          <a:p>
            <a:r>
              <a:rPr lang="en-US" sz="1100" dirty="0">
                <a:latin typeface="Andale Mono" panose="020B0509000000000004" pitchFamily="49" charset="0"/>
                <a:sym typeface="Symbol" pitchFamily="16" charset="2"/>
              </a:rPr>
              <a:t>     (</a:t>
            </a:r>
            <a:r>
              <a:rPr lang="en-US" sz="1100" dirty="0">
                <a:latin typeface="Andale Mono" panose="020B0509000000000004" pitchFamily="49" charset="0"/>
              </a:rPr>
              <a:t>k : 0</a:t>
            </a:r>
            <a:r>
              <a:rPr lang="en-US" sz="1100" dirty="0">
                <a:latin typeface="Andale Mono" panose="020B0509000000000004" pitchFamily="49" charset="0"/>
                <a:sym typeface="Symbol" pitchFamily="16" charset="2"/>
              </a:rPr>
              <a:t></a:t>
            </a:r>
            <a:r>
              <a:rPr lang="en-US" sz="1100" dirty="0">
                <a:latin typeface="Andale Mono" panose="020B0509000000000004" pitchFamily="49" charset="0"/>
              </a:rPr>
              <a:t>k&lt;i+1 : a[k]=x)</a:t>
            </a:r>
          </a:p>
          <a:p>
            <a:r>
              <a:rPr lang="en-US" sz="1100" dirty="0">
                <a:latin typeface="Andale Mono" panose="020B0509000000000004" pitchFamily="49" charset="0"/>
                <a:sym typeface="Symbol" pitchFamily="16" charset="2"/>
              </a:rPr>
              <a:t>     END---------------------------------------------------------------------------------------------</a:t>
            </a:r>
          </a:p>
          <a:p>
            <a:r>
              <a:rPr lang="en-US" sz="1100" dirty="0">
                <a:latin typeface="Andale Mono" panose="020B0509000000000004" pitchFamily="49" charset="0"/>
                <a:sym typeface="Symbol" pitchFamily="16" charset="2"/>
              </a:rPr>
              <a:t>10. </a:t>
            </a:r>
            <a:r>
              <a:rPr lang="en-US" sz="1100" dirty="0">
                <a:solidFill>
                  <a:srgbClr val="0070C0"/>
                </a:solidFill>
                <a:latin typeface="Andale Mono" panose="020B0509000000000004" pitchFamily="49" charset="0"/>
              </a:rPr>
              <a:t>{rewrite 1 in 8} </a:t>
            </a:r>
            <a:r>
              <a:rPr lang="en-US" sz="1100" dirty="0">
                <a:latin typeface="Andale Mono" panose="020B0509000000000004" pitchFamily="49" charset="0"/>
              </a:rPr>
              <a:t>wp (</a:t>
            </a:r>
            <a:r>
              <a:rPr lang="en-US" sz="1100" dirty="0">
                <a:latin typeface="Andale Mono" panose="020B0509000000000004" pitchFamily="49" charset="0"/>
                <a:sym typeface="Symbol" pitchFamily="16" charset="2"/>
              </a:rPr>
              <a:t>found := a[</a:t>
            </a:r>
            <a:r>
              <a:rPr lang="en-US" sz="1100" dirty="0" err="1">
                <a:latin typeface="Andale Mono" panose="020B0509000000000004" pitchFamily="49" charset="0"/>
                <a:sym typeface="Symbol" pitchFamily="16" charset="2"/>
              </a:rPr>
              <a:t>i</a:t>
            </a:r>
            <a:r>
              <a:rPr lang="en-US" sz="1100" dirty="0">
                <a:latin typeface="Andale Mono" panose="020B0509000000000004" pitchFamily="49" charset="0"/>
                <a:sym typeface="Symbol" pitchFamily="16" charset="2"/>
              </a:rPr>
              <a:t>]=x ; </a:t>
            </a:r>
            <a:r>
              <a:rPr lang="en-US" sz="1100" dirty="0" err="1">
                <a:latin typeface="Andale Mono" panose="020B0509000000000004" pitchFamily="49" charset="0"/>
                <a:sym typeface="Symbol" pitchFamily="16" charset="2"/>
              </a:rPr>
              <a:t>i</a:t>
            </a:r>
            <a:r>
              <a:rPr lang="en-US" sz="1100" dirty="0">
                <a:latin typeface="Andale Mono" panose="020B0509000000000004" pitchFamily="49" charset="0"/>
                <a:sym typeface="Symbol" pitchFamily="16" charset="2"/>
              </a:rPr>
              <a:t>:=i+1</a:t>
            </a:r>
            <a:r>
              <a:rPr lang="en-US" sz="1100" dirty="0">
                <a:latin typeface="Andale Mono" panose="020B0509000000000004" pitchFamily="49" charset="0"/>
              </a:rPr>
              <a:t>) (found = (</a:t>
            </a:r>
            <a:r>
              <a:rPr lang="en-US" sz="1100" dirty="0">
                <a:latin typeface="Andale Mono" panose="020B0509000000000004" pitchFamily="49" charset="0"/>
                <a:sym typeface="Symbol" pitchFamily="16" charset="2"/>
              </a:rPr>
              <a:t></a:t>
            </a:r>
            <a:r>
              <a:rPr lang="en-US" sz="1100" dirty="0">
                <a:latin typeface="Andale Mono" panose="020B0509000000000004" pitchFamily="49" charset="0"/>
              </a:rPr>
              <a:t>k : 0</a:t>
            </a:r>
            <a:r>
              <a:rPr lang="en-US" sz="1100" dirty="0">
                <a:latin typeface="Andale Mono" panose="020B0509000000000004" pitchFamily="49" charset="0"/>
                <a:sym typeface="Symbol" pitchFamily="16" charset="2"/>
              </a:rPr>
              <a:t></a:t>
            </a:r>
            <a:r>
              <a:rPr lang="en-US" sz="1100" dirty="0">
                <a:latin typeface="Andale Mono" panose="020B0509000000000004" pitchFamily="49" charset="0"/>
              </a:rPr>
              <a:t>k&lt;</a:t>
            </a:r>
            <a:r>
              <a:rPr lang="en-US" sz="1100" dirty="0" err="1">
                <a:latin typeface="Andale Mono" panose="020B0509000000000004" pitchFamily="49" charset="0"/>
              </a:rPr>
              <a:t>i</a:t>
            </a:r>
            <a:r>
              <a:rPr lang="en-US" sz="1100" dirty="0">
                <a:latin typeface="Andale Mono" panose="020B0509000000000004" pitchFamily="49" charset="0"/>
              </a:rPr>
              <a:t> : a[k]=x))</a:t>
            </a:r>
          </a:p>
          <a:p>
            <a:r>
              <a:rPr lang="en-US" sz="1100" dirty="0">
                <a:latin typeface="Andale Mono" panose="020B0509000000000004" pitchFamily="49" charset="0"/>
                <a:sym typeface="Symbol" pitchFamily="16" charset="2"/>
              </a:rPr>
              <a:t>END--------------------------------------------------------------------------------------------------</a:t>
            </a:r>
          </a:p>
        </p:txBody>
      </p:sp>
    </p:spTree>
    <p:extLst>
      <p:ext uri="{BB962C8B-B14F-4D97-AF65-F5344CB8AC3E}">
        <p14:creationId xmlns:p14="http://schemas.microsoft.com/office/powerpoint/2010/main" val="116028944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59735-7981-C803-A754-83AA83633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6">
            <a:extLst>
              <a:ext uri="{FF2B5EF4-FFF2-40B4-BE49-F238E27FC236}">
                <a16:creationId xmlns:a16="http://schemas.microsoft.com/office/drawing/2014/main" id="{1EABDB53-F2B0-7F87-67A7-2799A21439F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B4010ED-B659-46B3-B334-93D918D94912}" type="slidenum">
              <a:rPr lang="en-US" altLang="en-US"/>
              <a:pPr>
                <a:defRPr/>
              </a:pPr>
              <a:t>51</a:t>
            </a:fld>
            <a:endParaRPr lang="en-US" altLang="en-US"/>
          </a:p>
        </p:txBody>
      </p:sp>
      <p:sp>
        <p:nvSpPr>
          <p:cNvPr id="21507" name="Rectangle 5">
            <a:extLst>
              <a:ext uri="{FF2B5EF4-FFF2-40B4-BE49-F238E27FC236}">
                <a16:creationId xmlns:a16="http://schemas.microsoft.com/office/drawing/2014/main" id="{9841613B-72A8-5440-B5DE-A8E426BB65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5105400"/>
            <a:ext cx="1447800" cy="381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21508" name="Rectangle 6">
            <a:extLst>
              <a:ext uri="{FF2B5EF4-FFF2-40B4-BE49-F238E27FC236}">
                <a16:creationId xmlns:a16="http://schemas.microsoft.com/office/drawing/2014/main" id="{2CADE33E-F04E-5AD3-35B6-C4E283609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794828"/>
            <a:ext cx="1981200" cy="43932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21509" name="Rectangle 2">
            <a:extLst>
              <a:ext uri="{FF2B5EF4-FFF2-40B4-BE49-F238E27FC236}">
                <a16:creationId xmlns:a16="http://schemas.microsoft.com/office/drawing/2014/main" id="{C56A09B2-51F1-47F0-F02A-46F52DCB74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3</a:t>
            </a:r>
          </a:p>
        </p:txBody>
      </p:sp>
      <p:sp>
        <p:nvSpPr>
          <p:cNvPr id="21510" name="TextBox 4">
            <a:extLst>
              <a:ext uri="{FF2B5EF4-FFF2-40B4-BE49-F238E27FC236}">
                <a16:creationId xmlns:a16="http://schemas.microsoft.com/office/drawing/2014/main" id="{D618A35E-18FD-6A6A-A22A-F31A28A711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720501"/>
            <a:ext cx="86868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 dirty="0"/>
              <a:t>{* odd x ∧ odd y </a:t>
            </a:r>
            <a:r>
              <a:rPr lang="en-US" sz="2400" dirty="0">
                <a:sym typeface="Symbol" pitchFamily="16" charset="2"/>
              </a:rPr>
              <a:t>*}</a:t>
            </a:r>
            <a:endParaRPr lang="nl-NL" sz="2400" dirty="0"/>
          </a:p>
          <a:p>
            <a:r>
              <a:rPr lang="en-US" sz="2400" dirty="0"/>
              <a:t>      </a:t>
            </a:r>
          </a:p>
          <a:p>
            <a:endParaRPr lang="en-US" sz="2400" dirty="0">
              <a:sym typeface="Symbol" pitchFamily="16" charset="2"/>
            </a:endParaRPr>
          </a:p>
          <a:p>
            <a:r>
              <a:rPr lang="en-US" sz="2400" dirty="0">
                <a:sym typeface="Symbol" pitchFamily="16" charset="2"/>
              </a:rPr>
              <a:t>     </a:t>
            </a:r>
            <a:r>
              <a:rPr lang="en-US" sz="2400" dirty="0"/>
              <a:t>y := y+1;</a:t>
            </a:r>
          </a:p>
          <a:p>
            <a:endParaRPr lang="en-US" sz="2400" dirty="0">
              <a:sym typeface="Symbol" pitchFamily="16" charset="2"/>
            </a:endParaRPr>
          </a:p>
          <a:p>
            <a:endParaRPr lang="en-US" sz="2400" dirty="0">
              <a:sym typeface="Symbol" pitchFamily="16" charset="2"/>
            </a:endParaRPr>
          </a:p>
          <a:p>
            <a:r>
              <a:rPr lang="en-US" sz="2400" dirty="0">
                <a:sym typeface="Symbol" pitchFamily="16" charset="2"/>
              </a:rPr>
              <a:t>     </a:t>
            </a:r>
            <a:r>
              <a:rPr lang="en-US" sz="2400" dirty="0"/>
              <a:t>if x&gt;y then x:=x-y else skip</a:t>
            </a:r>
          </a:p>
          <a:p>
            <a:br>
              <a:rPr lang="en-US" sz="2400" dirty="0">
                <a:sym typeface="Symbol" pitchFamily="16" charset="2"/>
              </a:rPr>
            </a:br>
            <a:endParaRPr lang="en-US" sz="2400" dirty="0">
              <a:sym typeface="Symbol" pitchFamily="16" charset="2"/>
            </a:endParaRPr>
          </a:p>
          <a:p>
            <a:r>
              <a:rPr lang="en-US" sz="2400" dirty="0">
                <a:sym typeface="Symbol" pitchFamily="16" charset="2"/>
              </a:rPr>
              <a:t>{* </a:t>
            </a:r>
            <a:r>
              <a:rPr lang="en-US" sz="2400" dirty="0"/>
              <a:t>odd (</a:t>
            </a:r>
            <a:r>
              <a:rPr lang="en-US" sz="2400" dirty="0" err="1"/>
              <a:t>x+y</a:t>
            </a:r>
            <a:r>
              <a:rPr lang="en-US" sz="2400" dirty="0"/>
              <a:t>)</a:t>
            </a:r>
            <a:r>
              <a:rPr lang="en-US" sz="2400" dirty="0">
                <a:sym typeface="Symbol" pitchFamily="16" charset="2"/>
              </a:rPr>
              <a:t> *} </a:t>
            </a:r>
            <a:endParaRPr lang="nl-NL" sz="2400" dirty="0">
              <a:sym typeface="Symbol" pitchFamily="16" charset="2"/>
            </a:endParaRPr>
          </a:p>
        </p:txBody>
      </p:sp>
      <p:sp>
        <p:nvSpPr>
          <p:cNvPr id="32777" name="Oval 9">
            <a:extLst>
              <a:ext uri="{FF2B5EF4-FFF2-40B4-BE49-F238E27FC236}">
                <a16:creationId xmlns:a16="http://schemas.microsoft.com/office/drawing/2014/main" id="{F1B99B06-885A-CF1C-4AAC-163FF7FAC8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7899" y="3806546"/>
            <a:ext cx="877887" cy="838200"/>
          </a:xfrm>
          <a:prstGeom prst="ellipse">
            <a:avLst/>
          </a:prstGeom>
          <a:noFill/>
          <a:ln w="28575">
            <a:solidFill>
              <a:srgbClr val="990033"/>
            </a:solidFill>
            <a:round/>
            <a:headEnd/>
            <a:tailEnd/>
          </a:ln>
        </p:spPr>
        <p:txBody>
          <a:bodyPr wrap="none" anchor="ctr"/>
          <a:lstStyle/>
          <a:p>
            <a:endParaRPr lang="nl-NL" dirty="0"/>
          </a:p>
        </p:txBody>
      </p:sp>
      <p:sp>
        <p:nvSpPr>
          <p:cNvPr id="32778" name="Oval 10">
            <a:extLst>
              <a:ext uri="{FF2B5EF4-FFF2-40B4-BE49-F238E27FC236}">
                <a16:creationId xmlns:a16="http://schemas.microsoft.com/office/drawing/2014/main" id="{9F358C17-2C35-002D-3832-C822E7F4AB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6426" y="3796487"/>
            <a:ext cx="914400" cy="838200"/>
          </a:xfrm>
          <a:prstGeom prst="ellipse">
            <a:avLst/>
          </a:prstGeom>
          <a:noFill/>
          <a:ln w="28575">
            <a:solidFill>
              <a:srgbClr val="990033"/>
            </a:solidFill>
            <a:round/>
            <a:headEnd/>
            <a:tailEnd/>
          </a:ln>
        </p:spPr>
        <p:txBody>
          <a:bodyPr wrap="none" anchor="ctr"/>
          <a:lstStyle/>
          <a:p>
            <a:endParaRPr lang="nl-NL"/>
          </a:p>
        </p:txBody>
      </p:sp>
      <p:sp>
        <p:nvSpPr>
          <p:cNvPr id="32779" name="Text Box 11">
            <a:extLst>
              <a:ext uri="{FF2B5EF4-FFF2-40B4-BE49-F238E27FC236}">
                <a16:creationId xmlns:a16="http://schemas.microsoft.com/office/drawing/2014/main" id="{C657F4E4-226F-4097-EA47-9231A2297C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26717" y="3273137"/>
            <a:ext cx="5437707" cy="461665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400" dirty="0"/>
              <a:t>((x &gt; y) ∧ odd x) ∨ ((x ≤ y) ∧ odd (</a:t>
            </a:r>
            <a:r>
              <a:rPr lang="en-US" sz="2400" dirty="0" err="1"/>
              <a:t>x+y</a:t>
            </a:r>
            <a:r>
              <a:rPr lang="en-US" sz="2400" dirty="0"/>
              <a:t>)) </a:t>
            </a:r>
            <a:endParaRPr lang="en-US" sz="2400" dirty="0">
              <a:sym typeface="Symbol" pitchFamily="16" charset="2"/>
            </a:endParaRPr>
          </a:p>
        </p:txBody>
      </p:sp>
      <p:sp>
        <p:nvSpPr>
          <p:cNvPr id="32785" name="Text Box 17">
            <a:extLst>
              <a:ext uri="{FF2B5EF4-FFF2-40B4-BE49-F238E27FC236}">
                <a16:creationId xmlns:a16="http://schemas.microsoft.com/office/drawing/2014/main" id="{B32720CE-C6A8-8305-E2F2-A3F2375053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3894" y="5766852"/>
            <a:ext cx="5437706" cy="584775"/>
          </a:xfrm>
          <a:prstGeom prst="rect">
            <a:avLst/>
          </a:prstGeom>
          <a:solidFill>
            <a:srgbClr val="0000CC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/>
            <a:r>
              <a:rPr lang="en-US" sz="1600" dirty="0">
                <a:solidFill>
                  <a:schemeClr val="bg1"/>
                </a:solidFill>
              </a:rPr>
              <a:t>wp  (x:=e)  Q  =  Q[e/x]</a:t>
            </a:r>
          </a:p>
          <a:p>
            <a:pPr algn="r"/>
            <a:r>
              <a:rPr lang="en-US" sz="1600" b="1" dirty="0">
                <a:solidFill>
                  <a:schemeClr val="bg1"/>
                </a:solidFill>
              </a:rPr>
              <a:t>wp</a:t>
            </a:r>
            <a:r>
              <a:rPr lang="en-US" sz="1600" dirty="0">
                <a:solidFill>
                  <a:schemeClr val="bg1"/>
                </a:solidFill>
              </a:rPr>
              <a:t> (</a:t>
            </a:r>
            <a:r>
              <a:rPr lang="en-US" sz="1600" b="1" dirty="0">
                <a:solidFill>
                  <a:schemeClr val="bg1"/>
                </a:solidFill>
              </a:rPr>
              <a:t>if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i="1" dirty="0">
                <a:solidFill>
                  <a:schemeClr val="bg1"/>
                </a:solidFill>
              </a:rPr>
              <a:t>g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b="1" dirty="0">
                <a:solidFill>
                  <a:schemeClr val="bg1"/>
                </a:solidFill>
              </a:rPr>
              <a:t>then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>
                <a:solidFill>
                  <a:schemeClr val="bg1"/>
                </a:solidFill>
                <a:latin typeface="Andale Mono" panose="020B0509000000000004" pitchFamily="49" charset="0"/>
              </a:rPr>
              <a:t>S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b="1" dirty="0">
                <a:solidFill>
                  <a:schemeClr val="bg1"/>
                </a:solidFill>
              </a:rPr>
              <a:t>else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>
                <a:solidFill>
                  <a:schemeClr val="bg1"/>
                </a:solidFill>
                <a:latin typeface="Andale Mono" panose="020B0509000000000004" pitchFamily="49" charset="0"/>
              </a:rPr>
              <a:t>T</a:t>
            </a:r>
            <a:r>
              <a:rPr lang="en-US" sz="1600" dirty="0">
                <a:solidFill>
                  <a:schemeClr val="bg1"/>
                </a:solidFill>
              </a:rPr>
              <a:t>) </a:t>
            </a:r>
            <a:r>
              <a:rPr lang="en-US" sz="1600" i="1" dirty="0">
                <a:solidFill>
                  <a:schemeClr val="bg1"/>
                </a:solidFill>
              </a:rPr>
              <a:t>Q</a:t>
            </a:r>
            <a:r>
              <a:rPr lang="en-US" sz="1600" dirty="0">
                <a:solidFill>
                  <a:schemeClr val="bg1"/>
                </a:solidFill>
              </a:rPr>
              <a:t> = (</a:t>
            </a:r>
            <a:r>
              <a:rPr lang="en-US" sz="1600" i="1" dirty="0">
                <a:solidFill>
                  <a:schemeClr val="bg1"/>
                </a:solidFill>
              </a:rPr>
              <a:t>g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b="1" dirty="0">
                <a:solidFill>
                  <a:schemeClr val="bg1"/>
                </a:solidFill>
              </a:rPr>
              <a:t>/\</a:t>
            </a:r>
            <a:r>
              <a:rPr lang="en-US" sz="1600" dirty="0">
                <a:solidFill>
                  <a:schemeClr val="bg1"/>
                </a:solidFill>
                <a:sym typeface="Symbol" pitchFamily="16" charset="2"/>
              </a:rPr>
              <a:t> </a:t>
            </a:r>
            <a:r>
              <a:rPr lang="en-US" sz="1600" b="1" dirty="0">
                <a:solidFill>
                  <a:schemeClr val="bg1"/>
                </a:solidFill>
              </a:rPr>
              <a:t>wp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>
                <a:solidFill>
                  <a:schemeClr val="bg1"/>
                </a:solidFill>
                <a:latin typeface="Andale Mono" panose="020B0509000000000004" pitchFamily="49" charset="0"/>
              </a:rPr>
              <a:t>S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i="1" dirty="0">
                <a:solidFill>
                  <a:schemeClr val="bg1"/>
                </a:solidFill>
              </a:rPr>
              <a:t>Q</a:t>
            </a:r>
            <a:r>
              <a:rPr lang="en-US" sz="1600" dirty="0">
                <a:solidFill>
                  <a:schemeClr val="bg1"/>
                </a:solidFill>
              </a:rPr>
              <a:t>) \/ (</a:t>
            </a:r>
            <a:r>
              <a:rPr lang="en-US" sz="1600" dirty="0">
                <a:solidFill>
                  <a:schemeClr val="bg1"/>
                </a:solidFill>
                <a:sym typeface="Symbol" pitchFamily="16" charset="2"/>
              </a:rPr>
              <a:t></a:t>
            </a:r>
            <a:r>
              <a:rPr lang="en-US" sz="1600" i="1" dirty="0">
                <a:solidFill>
                  <a:schemeClr val="bg1"/>
                </a:solidFill>
                <a:sym typeface="Symbol" pitchFamily="16" charset="2"/>
              </a:rPr>
              <a:t>g</a:t>
            </a:r>
            <a:r>
              <a:rPr lang="en-US" sz="1600" dirty="0">
                <a:solidFill>
                  <a:schemeClr val="bg1"/>
                </a:solidFill>
                <a:sym typeface="Symbol" pitchFamily="16" charset="2"/>
              </a:rPr>
              <a:t> </a:t>
            </a:r>
            <a:r>
              <a:rPr lang="en-US" sz="1600" b="1" dirty="0">
                <a:solidFill>
                  <a:schemeClr val="bg1"/>
                </a:solidFill>
                <a:sym typeface="Symbol" pitchFamily="16" charset="2"/>
              </a:rPr>
              <a:t>/\</a:t>
            </a:r>
            <a:r>
              <a:rPr lang="en-US" sz="1600" dirty="0">
                <a:solidFill>
                  <a:schemeClr val="bg1"/>
                </a:solidFill>
                <a:sym typeface="Symbol" pitchFamily="16" charset="2"/>
              </a:rPr>
              <a:t> </a:t>
            </a:r>
            <a:r>
              <a:rPr lang="en-US" sz="1600" b="1" dirty="0">
                <a:solidFill>
                  <a:schemeClr val="bg1"/>
                </a:solidFill>
                <a:sym typeface="Symbol" pitchFamily="16" charset="2"/>
              </a:rPr>
              <a:t>wp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>
                <a:solidFill>
                  <a:schemeClr val="bg1"/>
                </a:solidFill>
                <a:latin typeface="Andale Mono" panose="020B0509000000000004" pitchFamily="49" charset="0"/>
              </a:rPr>
              <a:t>T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i="1" dirty="0">
                <a:solidFill>
                  <a:schemeClr val="bg1"/>
                </a:solidFill>
              </a:rPr>
              <a:t>Q</a:t>
            </a:r>
            <a:r>
              <a:rPr lang="en-US" sz="1600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32787" name="Text Box 19">
            <a:extLst>
              <a:ext uri="{FF2B5EF4-FFF2-40B4-BE49-F238E27FC236}">
                <a16:creationId xmlns:a16="http://schemas.microsoft.com/office/drawing/2014/main" id="{7550192B-F9C4-DCD3-9003-0E8F62C33A01}"/>
              </a:ext>
            </a:extLst>
          </p:cNvPr>
          <p:cNvSpPr txBox="1">
            <a:spLocks noChangeArrowheads="1"/>
          </p:cNvSpPr>
          <p:nvPr/>
        </p:nvSpPr>
        <p:spPr bwMode="auto">
          <a:xfrm rot="2229068">
            <a:off x="2855975" y="1750130"/>
            <a:ext cx="585788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200" dirty="0">
                <a:sym typeface="Symbol" pitchFamily="16" charset="2"/>
              </a:rPr>
              <a:t></a:t>
            </a:r>
          </a:p>
        </p:txBody>
      </p:sp>
      <p:sp>
        <p:nvSpPr>
          <p:cNvPr id="2" name="Text Box 7">
            <a:extLst>
              <a:ext uri="{FF2B5EF4-FFF2-40B4-BE49-F238E27FC236}">
                <a16:creationId xmlns:a16="http://schemas.microsoft.com/office/drawing/2014/main" id="{9C83A3B2-0CBC-F2C4-EB8B-8EAC3FBB19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9462" y="5106173"/>
            <a:ext cx="3552576" cy="461665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dirty="0"/>
              <a:t>odd ((x – y) + y)) = odd x</a:t>
            </a:r>
            <a:endParaRPr lang="en-US" sz="2400" dirty="0">
              <a:sym typeface="Symbol" pitchFamily="16" charset="2"/>
            </a:endParaRPr>
          </a:p>
        </p:txBody>
      </p:sp>
      <p:sp>
        <p:nvSpPr>
          <p:cNvPr id="4" name="Text Box 7">
            <a:extLst>
              <a:ext uri="{FF2B5EF4-FFF2-40B4-BE49-F238E27FC236}">
                <a16:creationId xmlns:a16="http://schemas.microsoft.com/office/drawing/2014/main" id="{724F7E5B-99B6-8F06-640D-0E0F3CD396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8885" y="4333025"/>
            <a:ext cx="1476686" cy="461665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dirty="0"/>
              <a:t>odd (</a:t>
            </a:r>
            <a:r>
              <a:rPr lang="en-US" sz="2400" dirty="0" err="1"/>
              <a:t>x+y</a:t>
            </a:r>
            <a:r>
              <a:rPr lang="en-US" sz="2400" dirty="0"/>
              <a:t>)</a:t>
            </a:r>
            <a:endParaRPr lang="en-US" sz="2400" dirty="0">
              <a:sym typeface="Symbol" pitchFamily="16" charset="2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7446753-BFC7-FDCC-4ED7-DA3F9AB8CD82}"/>
              </a:ext>
            </a:extLst>
          </p:cNvPr>
          <p:cNvCxnSpPr/>
          <p:nvPr/>
        </p:nvCxnSpPr>
        <p:spPr>
          <a:xfrm flipH="1" flipV="1">
            <a:off x="2895600" y="4644746"/>
            <a:ext cx="230186" cy="384454"/>
          </a:xfrm>
          <a:prstGeom prst="straightConnector1">
            <a:avLst/>
          </a:prstGeom>
          <a:ln w="41275"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1853F57-39CD-CBCB-3845-D1B9663ED1C3}"/>
              </a:ext>
            </a:extLst>
          </p:cNvPr>
          <p:cNvCxnSpPr>
            <a:cxnSpLocks/>
          </p:cNvCxnSpPr>
          <p:nvPr/>
        </p:nvCxnSpPr>
        <p:spPr>
          <a:xfrm flipH="1" flipV="1">
            <a:off x="4686299" y="4452519"/>
            <a:ext cx="230186" cy="110342"/>
          </a:xfrm>
          <a:prstGeom prst="straightConnector1">
            <a:avLst/>
          </a:prstGeom>
          <a:ln w="41275"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D99F6E0-FCED-4C40-672C-F094727866A6}"/>
              </a:ext>
            </a:extLst>
          </p:cNvPr>
          <p:cNvCxnSpPr>
            <a:cxnSpLocks/>
          </p:cNvCxnSpPr>
          <p:nvPr/>
        </p:nvCxnSpPr>
        <p:spPr>
          <a:xfrm flipH="1">
            <a:off x="2087333" y="3477547"/>
            <a:ext cx="1593620" cy="0"/>
          </a:xfrm>
          <a:prstGeom prst="straightConnector1">
            <a:avLst/>
          </a:prstGeom>
          <a:ln w="41275"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Box 11">
            <a:extLst>
              <a:ext uri="{FF2B5EF4-FFF2-40B4-BE49-F238E27FC236}">
                <a16:creationId xmlns:a16="http://schemas.microsoft.com/office/drawing/2014/main" id="{717B0748-C5B5-E3E7-1FFA-3CC99621B3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9039" y="2369205"/>
            <a:ext cx="6947416" cy="461665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400" dirty="0"/>
              <a:t>((x &gt; y+1) ∧ odd x) ∨ ((x ≤ y+1) ∧ odd (x+y+1)) </a:t>
            </a:r>
            <a:endParaRPr lang="en-US" sz="2400" dirty="0">
              <a:sym typeface="Symbol" pitchFamily="16" charset="2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02443C9-CE41-8832-E8FC-10D88EB75461}"/>
              </a:ext>
            </a:extLst>
          </p:cNvPr>
          <p:cNvCxnSpPr>
            <a:cxnSpLocks/>
          </p:cNvCxnSpPr>
          <p:nvPr/>
        </p:nvCxnSpPr>
        <p:spPr>
          <a:xfrm flipH="1">
            <a:off x="1999332" y="2593013"/>
            <a:ext cx="559403" cy="0"/>
          </a:xfrm>
          <a:prstGeom prst="straightConnector1">
            <a:avLst/>
          </a:prstGeom>
          <a:ln w="41275"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9347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7" grpId="0" animBg="1"/>
      <p:bldP spid="32778" grpId="0" animBg="1"/>
      <p:bldP spid="32779" grpId="0" animBg="1"/>
      <p:bldP spid="32785" grpId="0" animBg="1"/>
      <p:bldP spid="32787" grpId="0"/>
      <p:bldP spid="2" grpId="0" animBg="1"/>
      <p:bldP spid="4" grpId="0" animBg="1"/>
      <p:bldP spid="11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A0059-4945-D46D-1ABA-FFE91D6F8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6">
            <a:extLst>
              <a:ext uri="{FF2B5EF4-FFF2-40B4-BE49-F238E27FC236}">
                <a16:creationId xmlns:a16="http://schemas.microsoft.com/office/drawing/2014/main" id="{5E8148C1-CF59-A20C-116B-0A1F5858F6B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B4010ED-B659-46B3-B334-93D918D94912}" type="slidenum">
              <a:rPr lang="en-US" altLang="en-US"/>
              <a:pPr>
                <a:defRPr/>
              </a:pPr>
              <a:t>52</a:t>
            </a:fld>
            <a:endParaRPr lang="en-US" altLang="en-US"/>
          </a:p>
        </p:txBody>
      </p:sp>
      <p:sp>
        <p:nvSpPr>
          <p:cNvPr id="21509" name="Rectangle 2">
            <a:extLst>
              <a:ext uri="{FF2B5EF4-FFF2-40B4-BE49-F238E27FC236}">
                <a16:creationId xmlns:a16="http://schemas.microsoft.com/office/drawing/2014/main" id="{AF3D74B3-4D08-9545-CF46-DA3F740F50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3</a:t>
            </a:r>
          </a:p>
        </p:txBody>
      </p:sp>
      <p:sp>
        <p:nvSpPr>
          <p:cNvPr id="21510" name="TextBox 4">
            <a:extLst>
              <a:ext uri="{FF2B5EF4-FFF2-40B4-BE49-F238E27FC236}">
                <a16:creationId xmlns:a16="http://schemas.microsoft.com/office/drawing/2014/main" id="{C92FA00F-3FF1-6482-4AE5-751D1BFEFA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1720501"/>
            <a:ext cx="8991600" cy="35086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dirty="0"/>
              <a:t>Let’s check that </a:t>
            </a:r>
          </a:p>
          <a:p>
            <a:endParaRPr lang="en-US" dirty="0"/>
          </a:p>
          <a:p>
            <a:r>
              <a:rPr lang="en-US" dirty="0"/>
              <a:t>	odd x ∧ odd y ⟹ ((x &gt; y+1) ∧ odd x) ∨ ((x ≤ y+1) ∧ odd (x+y+1)).</a:t>
            </a:r>
          </a:p>
          <a:p>
            <a:endParaRPr lang="en-US" dirty="0">
              <a:sym typeface="Symbol" pitchFamily="16" charset="2"/>
            </a:endParaRPr>
          </a:p>
          <a:p>
            <a:r>
              <a:rPr lang="en-US" dirty="0">
                <a:sym typeface="Symbol" pitchFamily="16" charset="2"/>
              </a:rPr>
              <a:t>We have </a:t>
            </a:r>
          </a:p>
          <a:p>
            <a:endParaRPr lang="en-US" dirty="0">
              <a:sym typeface="Symbol" pitchFamily="16" charset="2"/>
            </a:endParaRPr>
          </a:p>
          <a:p>
            <a:r>
              <a:rPr lang="en-US" dirty="0"/>
              <a:t>	odd x ∧ odd y</a:t>
            </a:r>
          </a:p>
          <a:p>
            <a:r>
              <a:rPr lang="en-US" dirty="0"/>
              <a:t>	= 	</a:t>
            </a:r>
            <a:r>
              <a:rPr lang="en-US" dirty="0">
                <a:solidFill>
                  <a:srgbClr val="0070C0"/>
                </a:solidFill>
              </a:rPr>
              <a:t>{law of excluded middle}</a:t>
            </a:r>
          </a:p>
          <a:p>
            <a:r>
              <a:rPr lang="en-US" dirty="0"/>
              <a:t>	((x &gt; y+1) ∧ (odd x ∧ odd y)) ∨ ((x ≤ y+1) v (odd x ∧ odd y))</a:t>
            </a:r>
          </a:p>
          <a:p>
            <a:r>
              <a:rPr lang="en-US" dirty="0"/>
              <a:t>	⟹ 	</a:t>
            </a:r>
            <a:r>
              <a:rPr lang="en-US" dirty="0">
                <a:solidFill>
                  <a:srgbClr val="0070C0"/>
                </a:solidFill>
              </a:rPr>
              <a:t>{since odd x ∧ odd y implies odd x and odd (x+y+1)}</a:t>
            </a:r>
          </a:p>
          <a:p>
            <a:r>
              <a:rPr lang="en-US" dirty="0"/>
              <a:t>	((x &gt; y+1) ∧ (odd x)) ∨ ((x ≤ y+1) ∧ (odd (x+y+1)).</a:t>
            </a:r>
            <a:endParaRPr lang="en-US" dirty="0">
              <a:sym typeface="Symbol" pitchFamily="16" charset="2"/>
            </a:endParaRPr>
          </a:p>
          <a:p>
            <a:r>
              <a:rPr lang="en-US" dirty="0">
                <a:sym typeface="Symbol" pitchFamily="16" charset="2"/>
              </a:rPr>
              <a:t>     </a:t>
            </a:r>
            <a:endParaRPr lang="nl-NL" dirty="0">
              <a:sym typeface="Symbol" pitchFamily="16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09997252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2DCB3-790A-F7EE-171B-2DC293E83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6">
            <a:extLst>
              <a:ext uri="{FF2B5EF4-FFF2-40B4-BE49-F238E27FC236}">
                <a16:creationId xmlns:a16="http://schemas.microsoft.com/office/drawing/2014/main" id="{8862C4E8-C7D5-E944-B753-EF1349FC744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B4010ED-B659-46B3-B334-93D918D94912}" type="slidenum">
              <a:rPr lang="en-US" altLang="en-US"/>
              <a:pPr>
                <a:defRPr/>
              </a:pPr>
              <a:t>53</a:t>
            </a:fld>
            <a:endParaRPr lang="en-US" altLang="en-US"/>
          </a:p>
        </p:txBody>
      </p:sp>
      <p:sp>
        <p:nvSpPr>
          <p:cNvPr id="21509" name="Rectangle 2">
            <a:extLst>
              <a:ext uri="{FF2B5EF4-FFF2-40B4-BE49-F238E27FC236}">
                <a16:creationId xmlns:a16="http://schemas.microsoft.com/office/drawing/2014/main" id="{791897C5-13DC-F3B6-A78A-730FB2B31F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C425131-5417-0569-9518-7D26176CCFB5}"/>
              </a:ext>
            </a:extLst>
          </p:cNvPr>
          <p:cNvSpPr txBox="1"/>
          <p:nvPr/>
        </p:nvSpPr>
        <p:spPr>
          <a:xfrm>
            <a:off x="190500" y="1120200"/>
            <a:ext cx="758190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Andale Mono" panose="020B0509000000000004" pitchFamily="49" charset="0"/>
              </a:rPr>
              <a:t>PROOF top</a:t>
            </a:r>
          </a:p>
          <a:p>
            <a:r>
              <a:rPr lang="en-US" sz="800" dirty="0">
                <a:latin typeface="Andale Mono" panose="020B0509000000000004" pitchFamily="49" charset="0"/>
              </a:rPr>
              <a:t>[A:] odd x</a:t>
            </a:r>
            <a:r>
              <a:rPr lang="en-US" sz="800" dirty="0">
                <a:latin typeface="Andale Mono" panose="020B0509000000000004" pitchFamily="49" charset="0"/>
                <a:sym typeface="Symbol" pitchFamily="16" charset="2"/>
              </a:rPr>
              <a:t> ∧ odd y</a:t>
            </a:r>
          </a:p>
          <a:p>
            <a:r>
              <a:rPr lang="en-US" sz="800" dirty="0">
                <a:latin typeface="Andale Mono" panose="020B0509000000000004" pitchFamily="49" charset="0"/>
              </a:rPr>
              <a:t>[G:] wp (</a:t>
            </a:r>
            <a:r>
              <a:rPr lang="en-US" sz="800" dirty="0">
                <a:latin typeface="Andale Mono" panose="020B0509000000000004" pitchFamily="49" charset="0"/>
                <a:sym typeface="Symbol" pitchFamily="16" charset="2"/>
              </a:rPr>
              <a:t>y := y + 1; if x&gt;y then x:=x-y else skip</a:t>
            </a:r>
            <a:r>
              <a:rPr lang="en-US" sz="800" dirty="0">
                <a:latin typeface="Andale Mono" panose="020B0509000000000004" pitchFamily="49" charset="0"/>
              </a:rPr>
              <a:t>) (odd (</a:t>
            </a:r>
            <a:r>
              <a:rPr lang="en-US" sz="800" dirty="0" err="1">
                <a:latin typeface="Andale Mono" panose="020B0509000000000004" pitchFamily="49" charset="0"/>
              </a:rPr>
              <a:t>x+y</a:t>
            </a:r>
            <a:r>
              <a:rPr lang="en-US" sz="800" dirty="0">
                <a:latin typeface="Andale Mono" panose="020B0509000000000004" pitchFamily="49" charset="0"/>
              </a:rPr>
              <a:t>))</a:t>
            </a:r>
          </a:p>
          <a:p>
            <a:r>
              <a:rPr lang="en-US" sz="800" dirty="0">
                <a:latin typeface="Andale Mono" panose="020B0509000000000004" pitchFamily="49" charset="0"/>
              </a:rPr>
              <a:t>BEGIN------------------------------------------------------------------------------------------------------------------</a:t>
            </a:r>
          </a:p>
          <a:p>
            <a:r>
              <a:rPr lang="en-US" sz="800" dirty="0">
                <a:latin typeface="Andale Mono" panose="020B0509000000000004" pitchFamily="49" charset="0"/>
              </a:rPr>
              <a:t>1.  </a:t>
            </a:r>
            <a:r>
              <a:rPr lang="en-US" sz="800" dirty="0">
                <a:solidFill>
                  <a:srgbClr val="0070C0"/>
                </a:solidFill>
                <a:latin typeface="Andale Mono" panose="020B0509000000000004" pitchFamily="49" charset="0"/>
              </a:rPr>
              <a:t>{sub1} </a:t>
            </a:r>
            <a:r>
              <a:rPr lang="en-US" sz="800" dirty="0">
                <a:latin typeface="Andale Mono" panose="020B0509000000000004" pitchFamily="49" charset="0"/>
              </a:rPr>
              <a:t>wp (</a:t>
            </a:r>
            <a:r>
              <a:rPr lang="en-US" sz="800" dirty="0">
                <a:latin typeface="Andale Mono" panose="020B0509000000000004" pitchFamily="49" charset="0"/>
                <a:sym typeface="Symbol" pitchFamily="16" charset="2"/>
              </a:rPr>
              <a:t>y := y + 1; if x&gt;y then x:=x-y else skip</a:t>
            </a:r>
            <a:r>
              <a:rPr lang="en-US" sz="800" dirty="0">
                <a:latin typeface="Andale Mono" panose="020B0509000000000004" pitchFamily="49" charset="0"/>
              </a:rPr>
              <a:t>) (odd (</a:t>
            </a:r>
            <a:r>
              <a:rPr lang="en-US" sz="800" dirty="0" err="1">
                <a:latin typeface="Andale Mono" panose="020B0509000000000004" pitchFamily="49" charset="0"/>
              </a:rPr>
              <a:t>x+y</a:t>
            </a:r>
            <a:r>
              <a:rPr lang="en-US" sz="800" dirty="0">
                <a:latin typeface="Andale Mono" panose="020B0509000000000004" pitchFamily="49" charset="0"/>
              </a:rPr>
              <a:t>)) = ((x &gt; y+1) ∧ odd x) ∨ ((x ≤ y+1) </a:t>
            </a:r>
            <a:r>
              <a:rPr lang="en-US" sz="800" dirty="0"/>
              <a:t>∧</a:t>
            </a:r>
            <a:r>
              <a:rPr lang="en-US" sz="800" dirty="0">
                <a:latin typeface="Andale Mono" panose="020B0509000000000004" pitchFamily="49" charset="0"/>
              </a:rPr>
              <a:t> odd (x+y+1)).</a:t>
            </a:r>
          </a:p>
          <a:p>
            <a:r>
              <a:rPr lang="en-US" sz="800" dirty="0">
                <a:latin typeface="Andale Mono" panose="020B0509000000000004" pitchFamily="49" charset="0"/>
              </a:rPr>
              <a:t>     EQUATIONAL PROOF sub1 --------------------------------------------------------------------------------------------</a:t>
            </a:r>
          </a:p>
          <a:p>
            <a:r>
              <a:rPr lang="en-US" sz="800" dirty="0">
                <a:latin typeface="Andale Mono" panose="020B0509000000000004" pitchFamily="49" charset="0"/>
              </a:rPr>
              <a:t>     wp (</a:t>
            </a:r>
            <a:r>
              <a:rPr lang="en-US" sz="800" dirty="0">
                <a:latin typeface="Andale Mono" panose="020B0509000000000004" pitchFamily="49" charset="0"/>
                <a:sym typeface="Symbol" pitchFamily="16" charset="2"/>
              </a:rPr>
              <a:t>y := y + 1; if x&gt;y then x:=x-y else skip</a:t>
            </a:r>
            <a:r>
              <a:rPr lang="en-US" sz="800" dirty="0">
                <a:latin typeface="Andale Mono" panose="020B0509000000000004" pitchFamily="49" charset="0"/>
              </a:rPr>
              <a:t>) (odd (</a:t>
            </a:r>
            <a:r>
              <a:rPr lang="en-US" sz="800" dirty="0" err="1">
                <a:latin typeface="Andale Mono" panose="020B0509000000000004" pitchFamily="49" charset="0"/>
              </a:rPr>
              <a:t>x+y</a:t>
            </a:r>
            <a:r>
              <a:rPr lang="en-US" sz="800" dirty="0">
                <a:latin typeface="Andale Mono" panose="020B0509000000000004" pitchFamily="49" charset="0"/>
              </a:rPr>
              <a:t>)) </a:t>
            </a:r>
          </a:p>
          <a:p>
            <a:r>
              <a:rPr lang="en-US" sz="800" dirty="0">
                <a:latin typeface="Andale Mono" panose="020B0509000000000004" pitchFamily="49" charset="0"/>
              </a:rPr>
              <a:t>     =</a:t>
            </a:r>
            <a:r>
              <a:rPr lang="en-US" sz="800" dirty="0">
                <a:solidFill>
                  <a:srgbClr val="0070C0"/>
                </a:solidFill>
                <a:latin typeface="Andale Mono" panose="020B0509000000000004" pitchFamily="49" charset="0"/>
              </a:rPr>
              <a:t> {wp formula for sequence}</a:t>
            </a:r>
            <a:endParaRPr lang="en-US" sz="800" dirty="0">
              <a:latin typeface="Andale Mono" panose="020B0509000000000004" pitchFamily="49" charset="0"/>
            </a:endParaRPr>
          </a:p>
          <a:p>
            <a:r>
              <a:rPr lang="en-US" sz="800" dirty="0">
                <a:latin typeface="Andale Mono" panose="020B0509000000000004" pitchFamily="49" charset="0"/>
              </a:rPr>
              <a:t>     wp (</a:t>
            </a:r>
            <a:r>
              <a:rPr lang="en-US" sz="800" dirty="0">
                <a:latin typeface="Andale Mono" panose="020B0509000000000004" pitchFamily="49" charset="0"/>
                <a:sym typeface="Symbol" pitchFamily="16" charset="2"/>
              </a:rPr>
              <a:t>y := y + 1</a:t>
            </a:r>
            <a:r>
              <a:rPr lang="en-US" sz="800" dirty="0">
                <a:latin typeface="Andale Mono" panose="020B0509000000000004" pitchFamily="49" charset="0"/>
              </a:rPr>
              <a:t>) (wp (</a:t>
            </a:r>
            <a:r>
              <a:rPr lang="en-US" sz="800" dirty="0">
                <a:latin typeface="Andale Mono" panose="020B0509000000000004" pitchFamily="49" charset="0"/>
                <a:sym typeface="Symbol" pitchFamily="16" charset="2"/>
              </a:rPr>
              <a:t>if x&gt;y then x:=x-y else skip</a:t>
            </a:r>
            <a:r>
              <a:rPr lang="en-US" sz="800" dirty="0">
                <a:latin typeface="Andale Mono" panose="020B0509000000000004" pitchFamily="49" charset="0"/>
              </a:rPr>
              <a:t>) (odd (</a:t>
            </a:r>
            <a:r>
              <a:rPr lang="en-US" sz="800" dirty="0" err="1">
                <a:latin typeface="Andale Mono" panose="020B0509000000000004" pitchFamily="49" charset="0"/>
              </a:rPr>
              <a:t>x+y</a:t>
            </a:r>
            <a:r>
              <a:rPr lang="en-US" sz="800" dirty="0">
                <a:latin typeface="Andale Mono" panose="020B0509000000000004" pitchFamily="49" charset="0"/>
              </a:rPr>
              <a:t>))</a:t>
            </a:r>
          </a:p>
          <a:p>
            <a:r>
              <a:rPr lang="en-US" sz="800" dirty="0">
                <a:latin typeface="Andale Mono" panose="020B0509000000000004" pitchFamily="49" charset="0"/>
              </a:rPr>
              <a:t>     = </a:t>
            </a:r>
            <a:r>
              <a:rPr lang="en-US" sz="800" dirty="0">
                <a:solidFill>
                  <a:srgbClr val="0070C0"/>
                </a:solidFill>
                <a:latin typeface="Andale Mono" panose="020B0509000000000004" pitchFamily="49" charset="0"/>
              </a:rPr>
              <a:t>{wp formula for if-then-else}</a:t>
            </a:r>
            <a:endParaRPr lang="en-US" sz="800" dirty="0">
              <a:latin typeface="Andale Mono" panose="020B0509000000000004" pitchFamily="49" charset="0"/>
            </a:endParaRPr>
          </a:p>
          <a:p>
            <a:r>
              <a:rPr lang="en-US" sz="800" dirty="0">
                <a:latin typeface="Andale Mono" panose="020B0509000000000004" pitchFamily="49" charset="0"/>
              </a:rPr>
              <a:t>     wp (</a:t>
            </a:r>
            <a:r>
              <a:rPr lang="en-US" sz="800" dirty="0">
                <a:latin typeface="Andale Mono" panose="020B0509000000000004" pitchFamily="49" charset="0"/>
                <a:sym typeface="Symbol" pitchFamily="16" charset="2"/>
              </a:rPr>
              <a:t>y := y + 1</a:t>
            </a:r>
            <a:r>
              <a:rPr lang="en-US" sz="800" dirty="0">
                <a:latin typeface="Andale Mono" panose="020B0509000000000004" pitchFamily="49" charset="0"/>
              </a:rPr>
              <a:t>) (x &gt; y ∧ wp (</a:t>
            </a:r>
            <a:r>
              <a:rPr lang="en-US" sz="800" dirty="0">
                <a:latin typeface="Andale Mono" panose="020B0509000000000004" pitchFamily="49" charset="0"/>
                <a:sym typeface="Symbol" pitchFamily="16" charset="2"/>
              </a:rPr>
              <a:t>x:=x-y</a:t>
            </a:r>
            <a:r>
              <a:rPr lang="en-US" sz="800" dirty="0">
                <a:latin typeface="Andale Mono" panose="020B0509000000000004" pitchFamily="49" charset="0"/>
              </a:rPr>
              <a:t>) (odd (</a:t>
            </a:r>
            <a:r>
              <a:rPr lang="en-US" sz="800" dirty="0" err="1">
                <a:latin typeface="Andale Mono" panose="020B0509000000000004" pitchFamily="49" charset="0"/>
              </a:rPr>
              <a:t>x+y</a:t>
            </a:r>
            <a:r>
              <a:rPr lang="en-US" sz="800" dirty="0">
                <a:latin typeface="Andale Mono" panose="020B0509000000000004" pitchFamily="49" charset="0"/>
              </a:rPr>
              <a:t>)) ∨ (x ≤ y ∧ wp (</a:t>
            </a:r>
            <a:r>
              <a:rPr lang="en-US" sz="800" dirty="0">
                <a:latin typeface="Andale Mono" panose="020B0509000000000004" pitchFamily="49" charset="0"/>
                <a:sym typeface="Symbol" pitchFamily="16" charset="2"/>
              </a:rPr>
              <a:t>skip</a:t>
            </a:r>
            <a:r>
              <a:rPr lang="en-US" sz="800" dirty="0">
                <a:latin typeface="Andale Mono" panose="020B0509000000000004" pitchFamily="49" charset="0"/>
              </a:rPr>
              <a:t>) (odd (</a:t>
            </a:r>
            <a:r>
              <a:rPr lang="en-US" sz="800" dirty="0" err="1">
                <a:latin typeface="Andale Mono" panose="020B0509000000000004" pitchFamily="49" charset="0"/>
              </a:rPr>
              <a:t>x+y</a:t>
            </a:r>
            <a:r>
              <a:rPr lang="en-US" sz="800" dirty="0">
                <a:latin typeface="Andale Mono" panose="020B0509000000000004" pitchFamily="49" charset="0"/>
              </a:rPr>
              <a:t>))))</a:t>
            </a:r>
          </a:p>
          <a:p>
            <a:r>
              <a:rPr lang="en-US" sz="800" dirty="0">
                <a:latin typeface="Andale Mono" panose="020B0509000000000004" pitchFamily="49" charset="0"/>
              </a:rPr>
              <a:t>     = </a:t>
            </a:r>
            <a:r>
              <a:rPr lang="en-US" sz="800" dirty="0">
                <a:solidFill>
                  <a:srgbClr val="0070C0"/>
                </a:solidFill>
                <a:latin typeface="Andale Mono" panose="020B0509000000000004" pitchFamily="49" charset="0"/>
              </a:rPr>
              <a:t>{wp formula for assignment}</a:t>
            </a:r>
            <a:endParaRPr lang="en-US" sz="800" dirty="0">
              <a:latin typeface="Andale Mono" panose="020B0509000000000004" pitchFamily="49" charset="0"/>
            </a:endParaRPr>
          </a:p>
          <a:p>
            <a:r>
              <a:rPr lang="en-US" sz="800" dirty="0">
                <a:latin typeface="Andale Mono" panose="020B0509000000000004" pitchFamily="49" charset="0"/>
              </a:rPr>
              <a:t>     wp (</a:t>
            </a:r>
            <a:r>
              <a:rPr lang="en-US" sz="800" dirty="0">
                <a:latin typeface="Andale Mono" panose="020B0509000000000004" pitchFamily="49" charset="0"/>
                <a:sym typeface="Symbol" pitchFamily="16" charset="2"/>
              </a:rPr>
              <a:t>y := y + 1</a:t>
            </a:r>
            <a:r>
              <a:rPr lang="en-US" sz="800" dirty="0">
                <a:latin typeface="Andale Mono" panose="020B0509000000000004" pitchFamily="49" charset="0"/>
              </a:rPr>
              <a:t>) (x &gt; y ∧ odd (</a:t>
            </a:r>
            <a:r>
              <a:rPr lang="en-US" sz="800" dirty="0" err="1">
                <a:latin typeface="Andale Mono" panose="020B0509000000000004" pitchFamily="49" charset="0"/>
              </a:rPr>
              <a:t>x-y+y</a:t>
            </a:r>
            <a:r>
              <a:rPr lang="en-US" sz="800" dirty="0">
                <a:latin typeface="Andale Mono" panose="020B0509000000000004" pitchFamily="49" charset="0"/>
              </a:rPr>
              <a:t>)) ∨ (¬(x &gt; y) ∧ wp (</a:t>
            </a:r>
            <a:r>
              <a:rPr lang="en-US" sz="800" dirty="0">
                <a:latin typeface="Andale Mono" panose="020B0509000000000004" pitchFamily="49" charset="0"/>
                <a:sym typeface="Symbol" pitchFamily="16" charset="2"/>
              </a:rPr>
              <a:t>skip</a:t>
            </a:r>
            <a:r>
              <a:rPr lang="en-US" sz="800" dirty="0">
                <a:latin typeface="Andale Mono" panose="020B0509000000000004" pitchFamily="49" charset="0"/>
              </a:rPr>
              <a:t>) (odd (</a:t>
            </a:r>
            <a:r>
              <a:rPr lang="en-US" sz="800" dirty="0" err="1">
                <a:latin typeface="Andale Mono" panose="020B0509000000000004" pitchFamily="49" charset="0"/>
              </a:rPr>
              <a:t>x+y</a:t>
            </a:r>
            <a:r>
              <a:rPr lang="en-US" sz="800" dirty="0">
                <a:latin typeface="Andale Mono" panose="020B0509000000000004" pitchFamily="49" charset="0"/>
              </a:rPr>
              <a:t>))))</a:t>
            </a:r>
          </a:p>
          <a:p>
            <a:r>
              <a:rPr lang="en-US" sz="800" dirty="0">
                <a:latin typeface="Andale Mono" panose="020B0509000000000004" pitchFamily="49" charset="0"/>
              </a:rPr>
              <a:t>     = </a:t>
            </a:r>
            <a:r>
              <a:rPr lang="en-US" sz="800" dirty="0">
                <a:solidFill>
                  <a:srgbClr val="0070C0"/>
                </a:solidFill>
                <a:latin typeface="Andale Mono" panose="020B0509000000000004" pitchFamily="49" charset="0"/>
              </a:rPr>
              <a:t>{wp formula for skip}</a:t>
            </a:r>
            <a:endParaRPr lang="en-US" sz="800" dirty="0">
              <a:latin typeface="Andale Mono" panose="020B0509000000000004" pitchFamily="49" charset="0"/>
            </a:endParaRPr>
          </a:p>
          <a:p>
            <a:r>
              <a:rPr lang="en-US" sz="800" dirty="0">
                <a:latin typeface="Andale Mono" panose="020B0509000000000004" pitchFamily="49" charset="0"/>
              </a:rPr>
              <a:t>     wp (</a:t>
            </a:r>
            <a:r>
              <a:rPr lang="en-US" sz="800" dirty="0">
                <a:latin typeface="Andale Mono" panose="020B0509000000000004" pitchFamily="49" charset="0"/>
                <a:sym typeface="Symbol" pitchFamily="16" charset="2"/>
              </a:rPr>
              <a:t>y := y + 1</a:t>
            </a:r>
            <a:r>
              <a:rPr lang="en-US" sz="800" dirty="0">
                <a:latin typeface="Andale Mono" panose="020B0509000000000004" pitchFamily="49" charset="0"/>
              </a:rPr>
              <a:t>) (x &gt; y ∧ odd (</a:t>
            </a:r>
            <a:r>
              <a:rPr lang="en-US" sz="800" dirty="0" err="1">
                <a:latin typeface="Andale Mono" panose="020B0509000000000004" pitchFamily="49" charset="0"/>
              </a:rPr>
              <a:t>x-y+y</a:t>
            </a:r>
            <a:r>
              <a:rPr lang="en-US" sz="800" dirty="0">
                <a:latin typeface="Andale Mono" panose="020B0509000000000004" pitchFamily="49" charset="0"/>
              </a:rPr>
              <a:t>)) ∨ (¬(x &gt; y) ∧ odd (</a:t>
            </a:r>
            <a:r>
              <a:rPr lang="en-US" sz="800" dirty="0" err="1">
                <a:latin typeface="Andale Mono" panose="020B0509000000000004" pitchFamily="49" charset="0"/>
              </a:rPr>
              <a:t>x+y</a:t>
            </a:r>
            <a:r>
              <a:rPr lang="en-US" sz="800" dirty="0">
                <a:latin typeface="Andale Mono" panose="020B0509000000000004" pitchFamily="49" charset="0"/>
              </a:rPr>
              <a:t>)))</a:t>
            </a:r>
          </a:p>
          <a:p>
            <a:r>
              <a:rPr lang="en-US" sz="800" dirty="0">
                <a:latin typeface="Andale Mono" panose="020B0509000000000004" pitchFamily="49" charset="0"/>
              </a:rPr>
              <a:t>     = </a:t>
            </a:r>
            <a:r>
              <a:rPr lang="en-US" sz="800" dirty="0">
                <a:solidFill>
                  <a:srgbClr val="0070C0"/>
                </a:solidFill>
                <a:latin typeface="Andale Mono" panose="020B0509000000000004" pitchFamily="49" charset="0"/>
              </a:rPr>
              <a:t>{wp formula for assignment}</a:t>
            </a:r>
            <a:endParaRPr lang="en-US" sz="800" dirty="0">
              <a:latin typeface="Andale Mono" panose="020B0509000000000004" pitchFamily="49" charset="0"/>
            </a:endParaRPr>
          </a:p>
          <a:p>
            <a:r>
              <a:rPr lang="en-US" sz="800" dirty="0">
                <a:latin typeface="Andale Mono" panose="020B0509000000000004" pitchFamily="49" charset="0"/>
              </a:rPr>
              <a:t>     x &gt; y+1 ∧ odd (x-(y+1)+(y+1)) ∨ ¬(x &gt; (y+1)) ∧ odd (x+(y+1))</a:t>
            </a:r>
          </a:p>
          <a:p>
            <a:r>
              <a:rPr lang="en-US" sz="800" dirty="0">
                <a:latin typeface="Andale Mono" panose="020B0509000000000004" pitchFamily="49" charset="0"/>
              </a:rPr>
              <a:t>     = </a:t>
            </a:r>
            <a:r>
              <a:rPr lang="en-US" sz="800" dirty="0">
                <a:solidFill>
                  <a:srgbClr val="0070C0"/>
                </a:solidFill>
                <a:latin typeface="Andale Mono" panose="020B0509000000000004" pitchFamily="49" charset="0"/>
              </a:rPr>
              <a:t>{trivial}</a:t>
            </a:r>
            <a:endParaRPr lang="en-US" sz="800" dirty="0">
              <a:latin typeface="Andale Mono" panose="020B0509000000000004" pitchFamily="49" charset="0"/>
            </a:endParaRPr>
          </a:p>
          <a:p>
            <a:r>
              <a:rPr lang="en-US" sz="800" dirty="0">
                <a:latin typeface="Andale Mono" panose="020B0509000000000004" pitchFamily="49" charset="0"/>
              </a:rPr>
              <a:t>     (x &gt; y+1 ∧ odd x) ∨ (x ≤ y+1) ∧ odd (x+y+1))</a:t>
            </a:r>
          </a:p>
          <a:p>
            <a:r>
              <a:rPr lang="en-US" sz="800" dirty="0">
                <a:latin typeface="Andale Mono" panose="020B0509000000000004" pitchFamily="49" charset="0"/>
              </a:rPr>
              <a:t>     END ----------------------------------------------------------------------------------</a:t>
            </a:r>
            <a:r>
              <a:rPr lang="en-US" sz="800" dirty="0">
                <a:latin typeface="Andale Mono" panose="020B0509000000000004" pitchFamily="49" charset="0"/>
                <a:sym typeface="Symbol" pitchFamily="16" charset="2"/>
              </a:rPr>
              <a:t>----------------</a:t>
            </a:r>
            <a:r>
              <a:rPr lang="en-US" sz="800" dirty="0">
                <a:latin typeface="Andale Mono" panose="020B0509000000000004" pitchFamily="49" charset="0"/>
              </a:rPr>
              <a:t>------------</a:t>
            </a:r>
          </a:p>
          <a:p>
            <a:pPr marL="228600" indent="-228600">
              <a:buAutoNum type="arabicPeriod" startAt="2"/>
            </a:pPr>
            <a:r>
              <a:rPr lang="en-US" sz="800" dirty="0">
                <a:solidFill>
                  <a:srgbClr val="0070C0"/>
                </a:solidFill>
                <a:latin typeface="Andale Mono" panose="020B0509000000000004" pitchFamily="49" charset="0"/>
              </a:rPr>
              <a:t>{</a:t>
            </a:r>
            <a:r>
              <a:rPr lang="en-US" sz="800" dirty="0">
                <a:solidFill>
                  <a:srgbClr val="0070C0"/>
                </a:solidFill>
                <a:latin typeface="Andale Mono" panose="020B0509000000000004" pitchFamily="49" charset="0"/>
                <a:sym typeface="Symbol" pitchFamily="16" charset="2"/>
              </a:rPr>
              <a:t>law of excluded middle</a:t>
            </a:r>
            <a:r>
              <a:rPr lang="en-US" sz="800" dirty="0">
                <a:solidFill>
                  <a:srgbClr val="0070C0"/>
                </a:solidFill>
                <a:latin typeface="Andale Mono" panose="020B0509000000000004" pitchFamily="49" charset="0"/>
              </a:rPr>
              <a:t>} </a:t>
            </a:r>
            <a:r>
              <a:rPr lang="en-US" sz="800" dirty="0">
                <a:latin typeface="Andale Mono" panose="020B0509000000000004" pitchFamily="49" charset="0"/>
              </a:rPr>
              <a:t>(x &gt; y+1) ∨ (x ≤ y+1)</a:t>
            </a:r>
          </a:p>
          <a:p>
            <a:pPr marL="228600" indent="-228600">
              <a:buFontTx/>
              <a:buAutoNum type="arabicPeriod" startAt="2"/>
            </a:pPr>
            <a:r>
              <a:rPr lang="en-US" sz="800" dirty="0">
                <a:solidFill>
                  <a:srgbClr val="0070C0"/>
                </a:solidFill>
                <a:latin typeface="Andale Mono" panose="020B0509000000000004" pitchFamily="49" charset="0"/>
              </a:rPr>
              <a:t>{∧ elimination from A} </a:t>
            </a:r>
            <a:r>
              <a:rPr lang="en-US" sz="800" dirty="0">
                <a:latin typeface="Andale Mono" panose="020B0509000000000004" pitchFamily="49" charset="0"/>
              </a:rPr>
              <a:t>odd x</a:t>
            </a:r>
          </a:p>
          <a:p>
            <a:pPr marL="228600" indent="-228600">
              <a:buFontTx/>
              <a:buAutoNum type="arabicPeriod" startAt="2"/>
            </a:pPr>
            <a:r>
              <a:rPr lang="en-US" sz="800" dirty="0">
                <a:solidFill>
                  <a:srgbClr val="0070C0"/>
                </a:solidFill>
                <a:latin typeface="Andale Mono" panose="020B0509000000000004" pitchFamily="49" charset="0"/>
              </a:rPr>
              <a:t>{∧ elimination from A} </a:t>
            </a:r>
            <a:r>
              <a:rPr lang="en-US" sz="800" dirty="0">
                <a:latin typeface="Andale Mono" panose="020B0509000000000004" pitchFamily="49" charset="0"/>
              </a:rPr>
              <a:t>odd y</a:t>
            </a:r>
          </a:p>
          <a:p>
            <a:pPr marL="228600" indent="-228600">
              <a:buFontTx/>
              <a:buAutoNum type="arabicPeriod" startAt="2"/>
            </a:pPr>
            <a:r>
              <a:rPr lang="en-US" sz="800" dirty="0">
                <a:solidFill>
                  <a:srgbClr val="0070C0"/>
                </a:solidFill>
                <a:latin typeface="Andale Mono" panose="020B0509000000000004" pitchFamily="49" charset="0"/>
              </a:rPr>
              <a:t>{trivial from 3,4} </a:t>
            </a:r>
            <a:r>
              <a:rPr lang="en-US" sz="800" dirty="0">
                <a:latin typeface="Andale Mono" panose="020B0509000000000004" pitchFamily="49" charset="0"/>
              </a:rPr>
              <a:t>odd (x + y + 1)</a:t>
            </a:r>
          </a:p>
          <a:p>
            <a:pPr marL="228600" indent="-228600">
              <a:buFontTx/>
              <a:buAutoNum type="arabicPeriod" startAt="2"/>
            </a:pPr>
            <a:r>
              <a:rPr lang="en-US" sz="800" dirty="0">
                <a:solidFill>
                  <a:srgbClr val="0070C0"/>
                </a:solidFill>
                <a:latin typeface="Andale Mono" panose="020B0509000000000004" pitchFamily="49" charset="0"/>
              </a:rPr>
              <a:t>{sub2} </a:t>
            </a:r>
            <a:r>
              <a:rPr lang="en-US" sz="800" dirty="0">
                <a:latin typeface="Andale Mono" panose="020B0509000000000004" pitchFamily="49" charset="0"/>
              </a:rPr>
              <a:t>(x &gt; y+1) ⟹ (x &gt; y+1 ∧ odd x) ∨ (x ≤ y+1) ∧ odd (x+y+1))</a:t>
            </a:r>
          </a:p>
          <a:p>
            <a:r>
              <a:rPr lang="en-US" sz="800" dirty="0">
                <a:latin typeface="Andale Mono" panose="020B0509000000000004" pitchFamily="49" charset="0"/>
              </a:rPr>
              <a:t>     PROOF sub2 -------------------------------------------------------------------------------------------------------</a:t>
            </a:r>
          </a:p>
          <a:p>
            <a:r>
              <a:rPr lang="en-US" sz="800" dirty="0">
                <a:latin typeface="Andale Mono" panose="020B0509000000000004" pitchFamily="49" charset="0"/>
              </a:rPr>
              <a:t>     [A:] x &gt; y+1</a:t>
            </a:r>
          </a:p>
          <a:p>
            <a:r>
              <a:rPr lang="en-US" sz="800" dirty="0">
                <a:latin typeface="Andale Mono" panose="020B0509000000000004" pitchFamily="49" charset="0"/>
              </a:rPr>
              <a:t>     [G:] (x &gt; y+1 ∧ odd x) ∨ (x ≤ y+1 ∧ odd (x+y+1))</a:t>
            </a:r>
          </a:p>
          <a:p>
            <a:r>
              <a:rPr lang="en-US" sz="800" dirty="0">
                <a:latin typeface="Andale Mono" panose="020B0509000000000004" pitchFamily="49" charset="0"/>
              </a:rPr>
              <a:t>     BEGIN-------------------------------------------------------------------------------------------------------------</a:t>
            </a:r>
          </a:p>
          <a:p>
            <a:r>
              <a:rPr lang="en-US" sz="800" dirty="0">
                <a:latin typeface="Andale Mono" panose="020B0509000000000004" pitchFamily="49" charset="0"/>
              </a:rPr>
              <a:t>     1. </a:t>
            </a:r>
            <a:r>
              <a:rPr lang="en-US" sz="800" dirty="0">
                <a:solidFill>
                  <a:srgbClr val="0070C0"/>
                </a:solidFill>
                <a:latin typeface="Andale Mono" panose="020B0509000000000004" pitchFamily="49" charset="0"/>
              </a:rPr>
              <a:t>{∧ introduction from A,3} </a:t>
            </a:r>
            <a:r>
              <a:rPr lang="en-US" sz="800" dirty="0">
                <a:latin typeface="Andale Mono" panose="020B0509000000000004" pitchFamily="49" charset="0"/>
              </a:rPr>
              <a:t>x &gt; y+1 ∧ odd x</a:t>
            </a:r>
          </a:p>
          <a:p>
            <a:r>
              <a:rPr lang="en-US" sz="800" dirty="0">
                <a:latin typeface="Andale Mono" panose="020B0509000000000004" pitchFamily="49" charset="0"/>
              </a:rPr>
              <a:t>     2. </a:t>
            </a:r>
            <a:r>
              <a:rPr lang="en-US" sz="800" dirty="0">
                <a:solidFill>
                  <a:srgbClr val="0070C0"/>
                </a:solidFill>
                <a:latin typeface="Andale Mono" panose="020B0509000000000004" pitchFamily="49" charset="0"/>
              </a:rPr>
              <a:t>{∨ introduction from 1} </a:t>
            </a:r>
            <a:r>
              <a:rPr lang="en-US" sz="800" dirty="0">
                <a:latin typeface="Andale Mono" panose="020B0509000000000004" pitchFamily="49" charset="0"/>
              </a:rPr>
              <a:t>(x &gt; y+1 ∧ odd x) ∨ (x ≤ y+1 ∧ odd (x+y+1))</a:t>
            </a:r>
          </a:p>
          <a:p>
            <a:r>
              <a:rPr lang="en-US" sz="800" dirty="0">
                <a:latin typeface="Andale Mono" panose="020B0509000000000004" pitchFamily="49" charset="0"/>
              </a:rPr>
              <a:t>     END---------------------------------------------------------------------------------------------------------------</a:t>
            </a:r>
          </a:p>
          <a:p>
            <a:r>
              <a:rPr lang="en-US" sz="800" dirty="0">
                <a:solidFill>
                  <a:srgbClr val="0070C0"/>
                </a:solidFill>
                <a:latin typeface="Andale Mono" panose="020B0509000000000004" pitchFamily="49" charset="0"/>
              </a:rPr>
              <a:t>7. {sub3} </a:t>
            </a:r>
            <a:r>
              <a:rPr lang="en-US" sz="800" dirty="0">
                <a:latin typeface="Andale Mono" panose="020B0509000000000004" pitchFamily="49" charset="0"/>
              </a:rPr>
              <a:t>(x ≤ y+1) ⟹ (x &gt; y+1 ∧ odd x) ∨ (x ≤ y+1) ∧ odd (x+y+1))</a:t>
            </a:r>
          </a:p>
          <a:p>
            <a:r>
              <a:rPr lang="en-US" sz="800" dirty="0">
                <a:latin typeface="Andale Mono" panose="020B0509000000000004" pitchFamily="49" charset="0"/>
              </a:rPr>
              <a:t>     PROOF sub3</a:t>
            </a:r>
          </a:p>
          <a:p>
            <a:r>
              <a:rPr lang="en-US" sz="800" dirty="0">
                <a:latin typeface="Andale Mono" panose="020B0509000000000004" pitchFamily="49" charset="0"/>
              </a:rPr>
              <a:t>     [A:] x ≤ y+1</a:t>
            </a:r>
          </a:p>
          <a:p>
            <a:r>
              <a:rPr lang="en-US" sz="800" dirty="0">
                <a:latin typeface="Andale Mono" panose="020B0509000000000004" pitchFamily="49" charset="0"/>
              </a:rPr>
              <a:t>     [G:] (x &gt; y+1 ∧ odd x) ∨ (x ≤ y+1 ∧ odd (x+y+1))</a:t>
            </a:r>
          </a:p>
          <a:p>
            <a:r>
              <a:rPr lang="en-US" sz="800" dirty="0">
                <a:latin typeface="Andale Mono" panose="020B0509000000000004" pitchFamily="49" charset="0"/>
              </a:rPr>
              <a:t>     BEGIN-------------------------------------------------------------------------------------------------------------</a:t>
            </a:r>
          </a:p>
          <a:p>
            <a:r>
              <a:rPr lang="en-US" sz="800" dirty="0">
                <a:latin typeface="Andale Mono" panose="020B0509000000000004" pitchFamily="49" charset="0"/>
              </a:rPr>
              <a:t>     1. </a:t>
            </a:r>
            <a:r>
              <a:rPr lang="en-US" sz="800" dirty="0">
                <a:solidFill>
                  <a:srgbClr val="0070C0"/>
                </a:solidFill>
                <a:latin typeface="Andale Mono" panose="020B0509000000000004" pitchFamily="49" charset="0"/>
              </a:rPr>
              <a:t>{∧ introduction from A,5} </a:t>
            </a:r>
            <a:r>
              <a:rPr lang="en-US" sz="800" dirty="0">
                <a:latin typeface="Andale Mono" panose="020B0509000000000004" pitchFamily="49" charset="0"/>
              </a:rPr>
              <a:t>(x ≤ y+1) ∧ odd (x+y+1))</a:t>
            </a:r>
          </a:p>
          <a:p>
            <a:r>
              <a:rPr lang="en-US" sz="800" dirty="0">
                <a:latin typeface="Andale Mono" panose="020B0509000000000004" pitchFamily="49" charset="0"/>
              </a:rPr>
              <a:t>     2. </a:t>
            </a:r>
            <a:r>
              <a:rPr lang="en-US" sz="800" dirty="0">
                <a:solidFill>
                  <a:srgbClr val="0070C0"/>
                </a:solidFill>
                <a:latin typeface="Andale Mono" panose="020B0509000000000004" pitchFamily="49" charset="0"/>
              </a:rPr>
              <a:t>{∨ introduction from 1} </a:t>
            </a:r>
            <a:r>
              <a:rPr lang="en-US" sz="800" dirty="0">
                <a:latin typeface="Andale Mono" panose="020B0509000000000004" pitchFamily="49" charset="0"/>
              </a:rPr>
              <a:t>(x &gt; y+1 ∧ odd x) ∨ (x ≤ y+1) ∧ odd (x+y+1))</a:t>
            </a:r>
          </a:p>
          <a:p>
            <a:r>
              <a:rPr lang="en-US" sz="800" dirty="0">
                <a:latin typeface="Andale Mono" panose="020B0509000000000004" pitchFamily="49" charset="0"/>
              </a:rPr>
              <a:t>     END---------------------------------------------------------------------------------------------------------------</a:t>
            </a:r>
          </a:p>
          <a:p>
            <a:r>
              <a:rPr lang="en-US" sz="800" dirty="0">
                <a:latin typeface="Andale Mono" panose="020B0509000000000004" pitchFamily="49" charset="0"/>
                <a:sym typeface="Symbol" pitchFamily="16" charset="2"/>
              </a:rPr>
              <a:t>8. </a:t>
            </a:r>
            <a:r>
              <a:rPr lang="en-US" sz="800" dirty="0">
                <a:solidFill>
                  <a:srgbClr val="0070C0"/>
                </a:solidFill>
                <a:latin typeface="Andale Mono" panose="020B0509000000000004" pitchFamily="49" charset="0"/>
              </a:rPr>
              <a:t>{case split on 2,6,7} </a:t>
            </a:r>
            <a:r>
              <a:rPr lang="en-US" sz="800" dirty="0">
                <a:latin typeface="Andale Mono" panose="020B0509000000000004" pitchFamily="49" charset="0"/>
              </a:rPr>
              <a:t>(x &gt; y+1 ∧ odd x) ∨ (x ≤ y+1) ∧ odd (x+y+1))</a:t>
            </a:r>
          </a:p>
          <a:p>
            <a:r>
              <a:rPr lang="en-US" sz="800" dirty="0">
                <a:latin typeface="Andale Mono" panose="020B0509000000000004" pitchFamily="49" charset="0"/>
                <a:sym typeface="Symbol" pitchFamily="16" charset="2"/>
              </a:rPr>
              <a:t>9. </a:t>
            </a:r>
            <a:r>
              <a:rPr lang="en-US" sz="800" dirty="0">
                <a:solidFill>
                  <a:srgbClr val="0070C0"/>
                </a:solidFill>
                <a:latin typeface="Andale Mono" panose="020B0509000000000004" pitchFamily="49" charset="0"/>
              </a:rPr>
              <a:t>{rewriting 1 in 8} </a:t>
            </a:r>
            <a:r>
              <a:rPr lang="en-US" sz="800" dirty="0">
                <a:latin typeface="Andale Mono" panose="020B0509000000000004" pitchFamily="49" charset="0"/>
              </a:rPr>
              <a:t>wp (</a:t>
            </a:r>
            <a:r>
              <a:rPr lang="en-US" sz="800" dirty="0">
                <a:latin typeface="Andale Mono" panose="020B0509000000000004" pitchFamily="49" charset="0"/>
                <a:sym typeface="Symbol" pitchFamily="16" charset="2"/>
              </a:rPr>
              <a:t>y := y + 1; if x&gt;y then x:=x-y else skip</a:t>
            </a:r>
            <a:r>
              <a:rPr lang="en-US" sz="800" dirty="0">
                <a:latin typeface="Andale Mono" panose="020B0509000000000004" pitchFamily="49" charset="0"/>
              </a:rPr>
              <a:t>) (odd (</a:t>
            </a:r>
            <a:r>
              <a:rPr lang="en-US" sz="800" dirty="0" err="1">
                <a:latin typeface="Andale Mono" panose="020B0509000000000004" pitchFamily="49" charset="0"/>
              </a:rPr>
              <a:t>x+y</a:t>
            </a:r>
            <a:r>
              <a:rPr lang="en-US" sz="800" dirty="0">
                <a:latin typeface="Andale Mono" panose="020B0509000000000004" pitchFamily="49" charset="0"/>
              </a:rPr>
              <a:t>))</a:t>
            </a:r>
            <a:endParaRPr lang="en-US" sz="800" dirty="0">
              <a:latin typeface="Andale Mono" panose="020B0509000000000004" pitchFamily="49" charset="0"/>
              <a:sym typeface="Symbol" pitchFamily="16" charset="2"/>
            </a:endParaRPr>
          </a:p>
          <a:p>
            <a:r>
              <a:rPr lang="en-US" sz="800" dirty="0">
                <a:latin typeface="Andale Mono" panose="020B0509000000000004" pitchFamily="49" charset="0"/>
                <a:sym typeface="Symbol" pitchFamily="16" charset="2"/>
              </a:rPr>
              <a:t>END--------------------------------------------------------------------------------------------------------</a:t>
            </a:r>
            <a:r>
              <a:rPr lang="en-US" sz="800" dirty="0">
                <a:latin typeface="Andale Mono" panose="020B0509000000000004" pitchFamily="49" charset="0"/>
              </a:rPr>
              <a:t>------------</a:t>
            </a:r>
            <a:endParaRPr lang="en-US" sz="800" dirty="0">
              <a:latin typeface="Andale Mono" panose="020B0509000000000004" pitchFamily="49" charset="0"/>
              <a:sym typeface="Symbol" pitchFamily="16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22648779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notes about the verification approach</a:t>
            </a:r>
          </a:p>
        </p:txBody>
      </p:sp>
      <p:sp>
        <p:nvSpPr>
          <p:cNvPr id="2355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our training, we prove </a:t>
            </a:r>
            <a:r>
              <a:rPr lang="en-US" i="1" dirty="0">
                <a:sym typeface="Symbol" pitchFamily="16" charset="2"/>
              </a:rPr>
              <a:t>P</a:t>
            </a:r>
            <a:r>
              <a:rPr lang="en-US" dirty="0">
                <a:sym typeface="Symbol" pitchFamily="16" charset="2"/>
              </a:rPr>
              <a:t>  W by hand.</a:t>
            </a:r>
          </a:p>
          <a:p>
            <a:r>
              <a:rPr lang="en-US" dirty="0">
                <a:sym typeface="Symbol" pitchFamily="16" charset="2"/>
              </a:rPr>
              <a:t>In practice, to some degree this can be automatically checked using e.g. a SAT solver. With a SAT solver we instead check if:</a:t>
            </a:r>
            <a:br>
              <a:rPr lang="en-US" dirty="0">
                <a:sym typeface="Symbol" pitchFamily="16" charset="2"/>
              </a:rPr>
            </a:br>
            <a:br>
              <a:rPr lang="en-US" dirty="0">
                <a:sym typeface="Symbol" pitchFamily="16" charset="2"/>
              </a:rPr>
            </a:br>
            <a:r>
              <a:rPr lang="en-US" dirty="0">
                <a:sym typeface="Symbol" pitchFamily="16" charset="2"/>
              </a:rPr>
              <a:t>	</a:t>
            </a:r>
            <a:r>
              <a:rPr lang="en-US" b="1" dirty="0">
                <a:solidFill>
                  <a:srgbClr val="C00000"/>
                </a:solidFill>
                <a:sym typeface="Symbol" pitchFamily="16" charset="2"/>
              </a:rPr>
              <a:t></a:t>
            </a:r>
            <a:r>
              <a:rPr lang="en-US" dirty="0">
                <a:sym typeface="Symbol" pitchFamily="16" charset="2"/>
              </a:rPr>
              <a:t>(</a:t>
            </a:r>
            <a:r>
              <a:rPr lang="en-US" i="1" dirty="0">
                <a:sym typeface="Symbol" pitchFamily="16" charset="2"/>
              </a:rPr>
              <a:t>P </a:t>
            </a:r>
            <a:r>
              <a:rPr lang="en-US" dirty="0">
                <a:sym typeface="Symbol" pitchFamily="16" charset="2"/>
              </a:rPr>
              <a:t> </a:t>
            </a:r>
            <a:r>
              <a:rPr lang="en-US" i="1" dirty="0">
                <a:sym typeface="Symbol" pitchFamily="16" charset="2"/>
              </a:rPr>
              <a:t>W</a:t>
            </a:r>
            <a:r>
              <a:rPr lang="en-US" dirty="0">
                <a:sym typeface="Symbol" pitchFamily="16" charset="2"/>
              </a:rPr>
              <a:t>)   is </a:t>
            </a:r>
            <a:r>
              <a:rPr lang="en-US" dirty="0">
                <a:solidFill>
                  <a:srgbClr val="C00000"/>
                </a:solidFill>
                <a:sym typeface="Symbol" pitchFamily="16" charset="2"/>
              </a:rPr>
              <a:t>satisfiable</a:t>
            </a:r>
            <a:br>
              <a:rPr lang="en-US" dirty="0">
                <a:sym typeface="Symbol" pitchFamily="16" charset="2"/>
              </a:rPr>
            </a:br>
            <a:br>
              <a:rPr lang="en-US" dirty="0">
                <a:sym typeface="Symbol" pitchFamily="16" charset="2"/>
              </a:rPr>
            </a:br>
            <a:r>
              <a:rPr lang="en-US" dirty="0">
                <a:sym typeface="Symbol" pitchFamily="16" charset="2"/>
              </a:rPr>
              <a:t>If it is, then </a:t>
            </a:r>
            <a:r>
              <a:rPr lang="en-US" i="1" dirty="0">
                <a:sym typeface="Symbol" pitchFamily="16" charset="2"/>
              </a:rPr>
              <a:t>P</a:t>
            </a:r>
            <a:r>
              <a:rPr lang="en-US" dirty="0">
                <a:sym typeface="Symbol" pitchFamily="16" charset="2"/>
              </a:rPr>
              <a:t>  </a:t>
            </a:r>
            <a:r>
              <a:rPr lang="en-US" i="1" dirty="0">
                <a:sym typeface="Symbol" pitchFamily="16" charset="2"/>
              </a:rPr>
              <a:t>W</a:t>
            </a:r>
            <a:r>
              <a:rPr lang="en-US" dirty="0">
                <a:sym typeface="Symbol" pitchFamily="16" charset="2"/>
              </a:rPr>
              <a:t> is </a:t>
            </a:r>
            <a:r>
              <a:rPr lang="en-US" b="1" dirty="0">
                <a:sym typeface="Symbol" pitchFamily="16" charset="2"/>
              </a:rPr>
              <a:t>not</a:t>
            </a:r>
            <a:r>
              <a:rPr lang="en-US" dirty="0">
                <a:sym typeface="Symbol" pitchFamily="16" charset="2"/>
              </a:rPr>
              <a:t> valid. Otherwise </a:t>
            </a:r>
            <a:r>
              <a:rPr lang="en-US" i="1" dirty="0">
                <a:sym typeface="Symbol" pitchFamily="16" charset="2"/>
              </a:rPr>
              <a:t>P</a:t>
            </a:r>
            <a:r>
              <a:rPr lang="en-US" dirty="0">
                <a:sym typeface="Symbol" pitchFamily="16" charset="2"/>
              </a:rPr>
              <a:t>  </a:t>
            </a:r>
            <a:r>
              <a:rPr lang="en-US" i="1" dirty="0">
                <a:sym typeface="Symbol" pitchFamily="16" charset="2"/>
              </a:rPr>
              <a:t>W</a:t>
            </a:r>
            <a:r>
              <a:rPr lang="en-US" dirty="0">
                <a:sym typeface="Symbol" pitchFamily="16" charset="2"/>
              </a:rPr>
              <a:t> is valid.</a:t>
            </a:r>
          </a:p>
          <a:p>
            <a:endParaRPr lang="en-US" dirty="0">
              <a:sym typeface="Symbol" pitchFamily="16" charset="2"/>
            </a:endParaRPr>
          </a:p>
          <a:p>
            <a:r>
              <a:rPr lang="en-US" dirty="0">
                <a:sym typeface="Symbol" pitchFamily="16" charset="2"/>
              </a:rPr>
              <a:t>If the definition of wp is also “complete” (in addition to being “sound”), the witness of the satisfiability of (</a:t>
            </a:r>
            <a:r>
              <a:rPr lang="en-US" i="1" dirty="0">
                <a:sym typeface="Symbol" pitchFamily="16" charset="2"/>
              </a:rPr>
              <a:t>P </a:t>
            </a:r>
            <a:r>
              <a:rPr lang="en-US" dirty="0">
                <a:sym typeface="Symbol" pitchFamily="16" charset="2"/>
              </a:rPr>
              <a:t> </a:t>
            </a:r>
            <a:r>
              <a:rPr lang="en-US" i="1" dirty="0">
                <a:sym typeface="Symbol" pitchFamily="16" charset="2"/>
              </a:rPr>
              <a:t>W</a:t>
            </a:r>
            <a:r>
              <a:rPr lang="en-US" dirty="0">
                <a:sym typeface="Symbol" pitchFamily="16" charset="2"/>
              </a:rPr>
              <a:t>) is essentially an input that will expose a bug in the program </a:t>
            </a:r>
            <a:r>
              <a:rPr lang="en-US" dirty="0">
                <a:sym typeface="Wingdings" charset="2"/>
              </a:rPr>
              <a:t>  useful for debugging.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0E9AAC2-5438-40C2-831E-F4CC55BE814D}" type="slidenum">
              <a:rPr lang="en-US" altLang="en-US" smtClean="0"/>
              <a:pPr>
                <a:defRPr/>
              </a:pPr>
              <a:t>54</a:t>
            </a:fld>
            <a:endParaRPr lang="en-US" alt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7CEEF-0FFB-5F03-FBC3-2DC28DC30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>
            <a:extLst>
              <a:ext uri="{FF2B5EF4-FFF2-40B4-BE49-F238E27FC236}">
                <a16:creationId xmlns:a16="http://schemas.microsoft.com/office/drawing/2014/main" id="{B1ADC5E0-CFA9-8227-0BAB-A2DA1347A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3C534D-4F36-0239-929F-91294DB43B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0E9AAC2-5438-40C2-831E-F4CC55BE814D}" type="slidenum">
              <a:rPr lang="en-US" altLang="en-US" smtClean="0"/>
              <a:pPr>
                <a:defRPr/>
              </a:pPr>
              <a:t>55</a:t>
            </a:fld>
            <a:endParaRPr lang="en-US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70BA16-C2D1-CDF7-7D4A-6718FB58A5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33600"/>
            <a:ext cx="7772400" cy="1910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09380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96E62-A09F-2430-DB80-D8CCA7A42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>
            <a:extLst>
              <a:ext uri="{FF2B5EF4-FFF2-40B4-BE49-F238E27FC236}">
                <a16:creationId xmlns:a16="http://schemas.microsoft.com/office/drawing/2014/main" id="{89648628-908F-0314-1938-95D707CB2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246C66-242B-71EC-54FF-8DC7E97F3B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0E9AAC2-5438-40C2-831E-F4CC55BE814D}" type="slidenum">
              <a:rPr lang="en-US" altLang="en-US" smtClean="0"/>
              <a:pPr>
                <a:defRPr/>
              </a:pPr>
              <a:t>56</a:t>
            </a:fld>
            <a:endParaRPr lang="en-US" alt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B33BBC3-43DF-2151-D2F9-6E11F1C30D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65232"/>
            <a:ext cx="7772400" cy="2927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7679170"/>
      </p:ext>
    </p:extLst>
  </p:cSld>
  <p:clrMapOvr>
    <a:masterClrMapping/>
  </p:clrMapOvr>
</p:sld>
</file>

<file path=ppt/theme/theme1.xml><?xml version="1.0" encoding="utf-8"?>
<a:theme xmlns:a="http://schemas.openxmlformats.org/drawingml/2006/main" name="Edge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Edge">
      <a:majorFont>
        <a:latin typeface="Garamond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-thema">
  <a:themeElements>
    <a:clrScheme name="Kanto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to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Edge</Template>
  <TotalTime>9223</TotalTime>
  <Words>6206</Words>
  <Application>Microsoft Macintosh PowerPoint</Application>
  <PresentationFormat>On-screen Show (4:3)</PresentationFormat>
  <Paragraphs>781</Paragraphs>
  <Slides>56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3" baseType="lpstr">
      <vt:lpstr>Andale Mono</vt:lpstr>
      <vt:lpstr>Arial</vt:lpstr>
      <vt:lpstr>Cambria Math</vt:lpstr>
      <vt:lpstr>Garamond</vt:lpstr>
      <vt:lpstr>Symbol</vt:lpstr>
      <vt:lpstr>Wingdings</vt:lpstr>
      <vt:lpstr>Edge</vt:lpstr>
      <vt:lpstr>Hoare Logic LN chapter 5, 6.1, 6.2</vt:lpstr>
      <vt:lpstr>Overview</vt:lpstr>
      <vt:lpstr>Hoare logic basics LN Chapter 5, 6.1</vt:lpstr>
      <vt:lpstr>Why Hoare logic?</vt:lpstr>
      <vt:lpstr>Hoare logic</vt:lpstr>
      <vt:lpstr>Hoare triple</vt:lpstr>
      <vt:lpstr>Partial and total correctness interpretation</vt:lpstr>
      <vt:lpstr>Limitations of Hoare logic</vt:lpstr>
      <vt:lpstr>Hoare Logic</vt:lpstr>
      <vt:lpstr>Sequential decomposition</vt:lpstr>
      <vt:lpstr>Skip</vt:lpstr>
      <vt:lpstr>Inference rule for if</vt:lpstr>
      <vt:lpstr>Predicates as subsets</vt:lpstr>
      <vt:lpstr>Inference rule for assignment</vt:lpstr>
      <vt:lpstr>Examples</vt:lpstr>
      <vt:lpstr>Assignment</vt:lpstr>
      <vt:lpstr>More basic rules</vt:lpstr>
      <vt:lpstr>Pre-condition strengthening picture</vt:lpstr>
      <vt:lpstr>Post-condition weakening picture</vt:lpstr>
      <vt:lpstr>PRE + ASG</vt:lpstr>
      <vt:lpstr>More basic rules</vt:lpstr>
      <vt:lpstr>Conjunction picture</vt:lpstr>
      <vt:lpstr>Disjunction picture</vt:lpstr>
      <vt:lpstr>Weakest pre-condition LN Section 6.2</vt:lpstr>
      <vt:lpstr>How does a proof proceed now ?</vt:lpstr>
      <vt:lpstr>Weakest pre-condition</vt:lpstr>
      <vt:lpstr>Weakest pre-condition</vt:lpstr>
      <vt:lpstr>Weakest pre-condition</vt:lpstr>
      <vt:lpstr>But... </vt:lpstr>
      <vt:lpstr>Some notes before we attempt to define wp </vt:lpstr>
      <vt:lpstr>Subset view of wp</vt:lpstr>
      <vt:lpstr>Subset view of wp</vt:lpstr>
      <vt:lpstr>Deterministic vs. non-deterministic</vt:lpstr>
      <vt:lpstr>Weakest pre-condition of skip</vt:lpstr>
      <vt:lpstr>Inference rule for skip</vt:lpstr>
      <vt:lpstr>Weakest pre-condition of assignment</vt:lpstr>
      <vt:lpstr>Inference rule for assignment</vt:lpstr>
      <vt:lpstr>wp of SEQ</vt:lpstr>
      <vt:lpstr>Post condition weakening</vt:lpstr>
      <vt:lpstr>SEQ and weakening</vt:lpstr>
      <vt:lpstr>wp of IF</vt:lpstr>
      <vt:lpstr>Alternative formulation of wp IF</vt:lpstr>
      <vt:lpstr>Inference rule for IF</vt:lpstr>
      <vt:lpstr>How does a proof proceed now ?</vt:lpstr>
      <vt:lpstr>Example 1</vt:lpstr>
      <vt:lpstr>Example 1</vt:lpstr>
      <vt:lpstr>Example 1</vt:lpstr>
      <vt:lpstr>Example 2</vt:lpstr>
      <vt:lpstr>Example 2</vt:lpstr>
      <vt:lpstr>Example 2</vt:lpstr>
      <vt:lpstr>Example 3</vt:lpstr>
      <vt:lpstr>Example 3</vt:lpstr>
      <vt:lpstr>Example 3</vt:lpstr>
      <vt:lpstr>Some notes about the verification approach</vt:lpstr>
      <vt:lpstr>Questions</vt:lpstr>
      <vt:lpstr>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underdark</dc:creator>
  <cp:lastModifiedBy>Paige North</cp:lastModifiedBy>
  <cp:revision>346</cp:revision>
  <cp:lastPrinted>2026-05-26T10:22:26Z</cp:lastPrinted>
  <dcterms:created xsi:type="dcterms:W3CDTF">1601-01-01T00:00:00Z</dcterms:created>
  <dcterms:modified xsi:type="dcterms:W3CDTF">2026-05-28T06:37:19Z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