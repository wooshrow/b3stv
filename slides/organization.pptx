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</p:sldMasterIdLst>
  <p:notesMasterIdLst>
    <p:notesMasterId r:id="rId19"/>
  </p:notesMasterIdLst>
  <p:sldIdLst>
    <p:sldId id="256" r:id="rId2"/>
    <p:sldId id="268" r:id="rId3"/>
    <p:sldId id="293" r:id="rId4"/>
    <p:sldId id="258" r:id="rId5"/>
    <p:sldId id="294" r:id="rId6"/>
    <p:sldId id="257" r:id="rId7"/>
    <p:sldId id="262" r:id="rId8"/>
    <p:sldId id="295" r:id="rId9"/>
    <p:sldId id="265" r:id="rId10"/>
    <p:sldId id="259" r:id="rId11"/>
    <p:sldId id="299" r:id="rId12"/>
    <p:sldId id="301" r:id="rId13"/>
    <p:sldId id="302" r:id="rId14"/>
    <p:sldId id="267" r:id="rId15"/>
    <p:sldId id="296" r:id="rId16"/>
    <p:sldId id="300" r:id="rId17"/>
    <p:sldId id="266" r:id="rId18"/>
  </p:sldIdLst>
  <p:sldSz cx="9144000" cy="6858000" type="screen4x3"/>
  <p:notesSz cx="6858000" cy="9144000"/>
  <p:defaultTextStyle>
    <a:defPPr>
      <a:defRPr lang="nl-NL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7D39"/>
    <a:srgbClr val="66FF99"/>
    <a:srgbClr val="2C7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09"/>
    <p:restoredTop sz="95921"/>
  </p:normalViewPr>
  <p:slideViewPr>
    <p:cSldViewPr>
      <p:cViewPr varScale="1">
        <p:scale>
          <a:sx n="115" d="100"/>
          <a:sy n="115" d="100"/>
        </p:scale>
        <p:origin x="1960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3EC34A1-5443-44A8-88D2-246837724D01}" type="datetimeFigureOut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7AC6AEDA-79BC-4026-AFE2-A01F7314EB6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496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68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7641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5464309C-8A48-4271-9598-6602FE4B7978}" type="slidenum">
              <a:rPr lang="en-US" smtClean="0">
                <a:latin typeface="Arial" charset="0"/>
                <a:cs typeface="Arial" charset="0"/>
              </a:rPr>
              <a:pPr/>
              <a:t>4</a:t>
            </a:fld>
            <a:endParaRPr 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827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dirty="0"/>
              <a:t>Blue: in the scope</a:t>
            </a:r>
          </a:p>
          <a:p>
            <a:pPr eaLnBrk="1" hangingPunct="1"/>
            <a:r>
              <a:rPr lang="en-US" dirty="0"/>
              <a:t>Gray: to some degree, optionally in the scope through optional parts in our project</a:t>
            </a:r>
          </a:p>
        </p:txBody>
      </p:sp>
      <p:sp>
        <p:nvSpPr>
          <p:cNvPr id="4198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265C69E3-1446-4DDD-B07E-98453506F366}" type="slidenum">
              <a:rPr lang="en-US" smtClean="0">
                <a:latin typeface="Arial" charset="0"/>
                <a:cs typeface="Arial" charset="0"/>
              </a:rPr>
              <a:pPr/>
              <a:t>5</a:t>
            </a:fld>
            <a:endParaRPr 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4736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6472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project hours available. Assuming 8 weeks</a:t>
            </a:r>
          </a:p>
          <a:p>
            <a:r>
              <a:rPr lang="en-US" dirty="0"/>
              <a:t>Team of 3: 8*3*4 = 96h</a:t>
            </a:r>
          </a:p>
          <a:p>
            <a:r>
              <a:rPr lang="en-US" dirty="0"/>
              <a:t>Team of 3: 64h</a:t>
            </a:r>
          </a:p>
          <a:p>
            <a:r>
              <a:rPr lang="en-US" dirty="0"/>
              <a:t>Assumption of Testing Project load: 80h (30h Iteration 1 and 50h Iteration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9157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637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833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0174"/>
            <a:ext cx="7772400" cy="2357454"/>
          </a:xfrm>
          <a:noFill/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42"/>
            <a:ext cx="6400800" cy="1785950"/>
          </a:xfrm>
        </p:spPr>
        <p:txBody>
          <a:bodyPr/>
          <a:lstStyle>
            <a:lvl1pPr marL="0" indent="0" algn="ctr">
              <a:buNone/>
              <a:defRPr i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4FF0A8-FB9C-4D81-B907-D266B9FA3B2F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C9FBB0-071F-433C-B97D-A58DFE67BE3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58E58B-BAB8-4CFB-B084-F8A3286B809E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ECC56C-10AF-4189-8868-B5974C26FA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A44B3E-5380-41B7-8856-4153A7170575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3F9095-49E7-48DE-ADA5-52931A8F45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F39C7A-03D5-4A4B-9B26-9BBA699A3AE2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1204C8-A80F-4CCB-8B6C-82F4EE9A700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DC3CD9-CD42-4E6B-9E28-BD370FEE9B38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718920-7B03-4DCA-AC23-7A60B8DFE4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D2ADD8-253F-4C41-8E5C-6B9A4F5EF9B0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F7AE2A-31F0-4256-BC7F-419A910BFF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AE5F06-23C4-42FB-B66B-8CB5117706EE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42A964-7D3F-43D6-A96D-555DF8B4CCD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66F29A-EDA1-4580-AFE0-3E9F01672C5E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BDD070-92ED-4F7A-8B16-1AF319836E9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AFC46B-211E-4DFD-AB3C-9B1EA85DB781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B1F382-E1E7-45F1-988C-37872C54124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1B55EC-3008-4528-86EE-5FF30A4E8CB3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0C5B17-068B-4575-A26D-E9C29CCC4A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F1BD75-D256-4C64-A0D6-88191BBEEC4D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DB2BA-436C-48CC-9650-F53DC9EA2A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0A9FB8FA-C4DD-43EC-99FD-B266CF3F1D61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8208434B-BC40-430B-805B-51E4737B719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ooshrow/b3stv" TargetMode="External"/><Relationship Id="rId2" Type="http://schemas.openxmlformats.org/officeDocument/2006/relationships/hyperlink" Target="https://wooshrow.github.io/b3stv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685800" y="1500188"/>
            <a:ext cx="7772400" cy="2357437"/>
          </a:xfrm>
        </p:spPr>
        <p:txBody>
          <a:bodyPr/>
          <a:lstStyle/>
          <a:p>
            <a:pPr eaLnBrk="1" hangingPunct="1"/>
            <a:r>
              <a:rPr lang="en-US" dirty="0"/>
              <a:t>About the Course Software Testing &amp; Verification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38"/>
            <a:ext cx="6400800" cy="1785937"/>
          </a:xfrm>
        </p:spPr>
        <p:txBody>
          <a:bodyPr rtlCol="0">
            <a:normAutofit fontScale="92500"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Course Software Testing &amp; Verification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2025/26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600" dirty="0"/>
              <a:t>Wishnu Prasetya </a:t>
            </a:r>
            <a:r>
              <a:rPr lang="en-US" sz="2800" dirty="0"/>
              <a:t>&amp; Paige North</a:t>
            </a:r>
            <a:endParaRPr lang="en-US" sz="2600" dirty="0"/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4AAC50-3433-3242-AB46-65D4BFE21DB1}"/>
              </a:ext>
            </a:extLst>
          </p:cNvPr>
          <p:cNvSpPr/>
          <p:nvPr/>
        </p:nvSpPr>
        <p:spPr>
          <a:xfrm>
            <a:off x="418294" y="2046685"/>
            <a:ext cx="8259957" cy="1886371"/>
          </a:xfrm>
          <a:prstGeom prst="roundRect">
            <a:avLst>
              <a:gd name="adj" fmla="val 20929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4000" dirty="0"/>
              <a:t>Why do we care?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3568" y="2276872"/>
            <a:ext cx="8003232" cy="3849291"/>
          </a:xfrm>
        </p:spPr>
        <p:txBody>
          <a:bodyPr/>
          <a:lstStyle/>
          <a:p>
            <a:pPr marL="514350" indent="-514350" eaLnBrk="1" hangingPunct="1">
              <a:buFont typeface="+mj-lt"/>
              <a:buAutoNum type="arabicPeriod"/>
              <a:defRPr/>
            </a:pPr>
            <a:r>
              <a:rPr lang="en-US" sz="2800" dirty="0"/>
              <a:t>Because we want to deliver quality products!</a:t>
            </a:r>
          </a:p>
          <a:p>
            <a:pPr marL="514350" indent="-514350" eaLnBrk="1" hangingPunct="1">
              <a:buFont typeface="+mj-lt"/>
              <a:buAutoNum type="arabicPeriod"/>
              <a:defRPr/>
            </a:pPr>
            <a:r>
              <a:rPr lang="en-US" sz="2800" dirty="0"/>
              <a:t>Because poor quality, including software bugs, may have real consequences</a:t>
            </a:r>
          </a:p>
          <a:p>
            <a:pPr marL="0" indent="0" algn="ctr" eaLnBrk="1" hangingPunct="1">
              <a:buNone/>
              <a:defRPr/>
            </a:pPr>
            <a:endParaRPr lang="en-US" sz="2400" dirty="0"/>
          </a:p>
          <a:p>
            <a:pPr eaLnBrk="1" hangingPunct="1">
              <a:defRPr/>
            </a:pPr>
            <a:r>
              <a:rPr lang="en-US" sz="2400" dirty="0"/>
              <a:t>e.g. some errors in the software of UK Inland Revenue is rumored to cause tax-credit over-payment of 3.45 billions USD. (Charette</a:t>
            </a:r>
            <a:r>
              <a:rPr lang="nl-NL" sz="2400" cap="all" dirty="0"/>
              <a:t>, </a:t>
            </a:r>
            <a:r>
              <a:rPr lang="nl-NL" sz="2400" i="1" dirty="0"/>
              <a:t>Why Software Fails</a:t>
            </a:r>
            <a:r>
              <a:rPr lang="nl-NL" sz="2400" dirty="0"/>
              <a:t>. IEEE Spectrum, 2005)</a:t>
            </a:r>
          </a:p>
          <a:p>
            <a:pPr eaLnBrk="1" hangingPunct="1">
              <a:defRPr/>
            </a:pPr>
            <a:r>
              <a:rPr lang="nl-NL" sz="2400" dirty="0"/>
              <a:t>Uber </a:t>
            </a:r>
            <a:r>
              <a:rPr lang="nl-NL" sz="2400" dirty="0" err="1"/>
              <a:t>self-driving</a:t>
            </a:r>
            <a:r>
              <a:rPr lang="nl-NL" sz="2400" dirty="0"/>
              <a:t> accident 2018</a:t>
            </a:r>
          </a:p>
          <a:p>
            <a:pPr marL="514350" indent="-514350" eaLnBrk="1" hangingPunct="1">
              <a:buFont typeface="+mj-lt"/>
              <a:buAutoNum type="arabicPeriod"/>
              <a:defRPr/>
            </a:pP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34B907-F5C1-49BA-8E02-3F6692BA4A5B}" type="slidenum">
              <a:rPr lang="en-US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59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498178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sz="4000" dirty="0"/>
              <a:t>Invested effort in quality assurance (QA)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83568" y="6165304"/>
            <a:ext cx="51892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World Quality Report, 2020/21. 1750 mostly CIOs, 32 countries</a:t>
            </a:r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D78B659F-F633-344C-AA4C-54D52FC6C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9" y="2422300"/>
            <a:ext cx="6549642" cy="3398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4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B4C336C-30D2-0C4C-B8B0-A75A35001A47}"/>
              </a:ext>
            </a:extLst>
          </p:cNvPr>
          <p:cNvSpPr/>
          <p:nvPr/>
        </p:nvSpPr>
        <p:spPr>
          <a:xfrm>
            <a:off x="2845122" y="4327828"/>
            <a:ext cx="3078441" cy="4826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Unit Test</a:t>
            </a:r>
          </a:p>
        </p:txBody>
      </p:sp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eaLnBrk="1" hangingPunct="1"/>
            <a:r>
              <a:rPr lang="en-US" sz="3200" dirty="0"/>
              <a:t>The project management aspect of quality assurance is non-trivial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485A9F-5763-4D94-8DD3-0072715F4902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4101" name="TextBox 5"/>
          <p:cNvSpPr txBox="1">
            <a:spLocks noChangeArrowheads="1"/>
          </p:cNvSpPr>
          <p:nvPr/>
        </p:nvSpPr>
        <p:spPr bwMode="auto">
          <a:xfrm>
            <a:off x="1878037" y="5527218"/>
            <a:ext cx="473373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 dirty="0"/>
              <a:t>A typical testing project approach called “V-model”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8500" y="2243554"/>
            <a:ext cx="1857375" cy="642937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4467415" y="2955742"/>
            <a:ext cx="2662195" cy="1961430"/>
          </a:xfrm>
          <a:prstGeom prst="roundRect">
            <a:avLst>
              <a:gd name="adj" fmla="val 10667"/>
            </a:avLst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5" name="TextBox 9"/>
          <p:cNvSpPr txBox="1">
            <a:spLocks noChangeArrowheads="1"/>
          </p:cNvSpPr>
          <p:nvPr/>
        </p:nvSpPr>
        <p:spPr bwMode="auto">
          <a:xfrm>
            <a:off x="6298165" y="4933740"/>
            <a:ext cx="1357312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developers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A182416-9E4C-6543-8A5F-8DDE02CEECCD}"/>
              </a:ext>
            </a:extLst>
          </p:cNvPr>
          <p:cNvSpPr/>
          <p:nvPr/>
        </p:nvSpPr>
        <p:spPr>
          <a:xfrm>
            <a:off x="1491194" y="2326908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Requirement Analysis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60E53F1-A6D9-9642-B16B-386D9817C038}"/>
              </a:ext>
            </a:extLst>
          </p:cNvPr>
          <p:cNvSpPr/>
          <p:nvPr/>
        </p:nvSpPr>
        <p:spPr>
          <a:xfrm>
            <a:off x="1873141" y="2989750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Architecture Design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4615284-18C0-A843-9DD0-7CC7304CE272}"/>
              </a:ext>
            </a:extLst>
          </p:cNvPr>
          <p:cNvSpPr/>
          <p:nvPr/>
        </p:nvSpPr>
        <p:spPr>
          <a:xfrm>
            <a:off x="2227628" y="3603817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Detailed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6FBB765-5763-A34C-85B6-7AABF72CA7F6}"/>
              </a:ext>
            </a:extLst>
          </p:cNvPr>
          <p:cNvSpPr/>
          <p:nvPr/>
        </p:nvSpPr>
        <p:spPr>
          <a:xfrm>
            <a:off x="2680670" y="4217884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Implementation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55D633A-4370-AC4E-9C39-A9EA98575F82}"/>
              </a:ext>
            </a:extLst>
          </p:cNvPr>
          <p:cNvSpPr/>
          <p:nvPr/>
        </p:nvSpPr>
        <p:spPr>
          <a:xfrm>
            <a:off x="4683107" y="3629982"/>
            <a:ext cx="1615058" cy="4826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Integration Test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9F63C2B-9361-F542-B34E-6C5DFEC92DB1}"/>
              </a:ext>
            </a:extLst>
          </p:cNvPr>
          <p:cNvSpPr/>
          <p:nvPr/>
        </p:nvSpPr>
        <p:spPr>
          <a:xfrm>
            <a:off x="5229815" y="3044795"/>
            <a:ext cx="1615058" cy="4826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Test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5DAE45C-F0F8-9043-9B32-9F4AE37CC409}"/>
              </a:ext>
            </a:extLst>
          </p:cNvPr>
          <p:cNvSpPr/>
          <p:nvPr/>
        </p:nvSpPr>
        <p:spPr>
          <a:xfrm>
            <a:off x="5791954" y="2357049"/>
            <a:ext cx="1615058" cy="4826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Acceptance Test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A8DCA7-C7B6-3046-BBA9-CD1734404513}"/>
              </a:ext>
            </a:extLst>
          </p:cNvPr>
          <p:cNvCxnSpPr/>
          <p:nvPr/>
        </p:nvCxnSpPr>
        <p:spPr>
          <a:xfrm>
            <a:off x="1075626" y="2410726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0D9AAAF-05B9-0748-B9AC-301EE19AEC55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>
            <a:off x="3106252" y="2568245"/>
            <a:ext cx="2685702" cy="301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4E1E964-C709-F140-A2CC-105E28C0F723}"/>
              </a:ext>
            </a:extLst>
          </p:cNvPr>
          <p:cNvCxnSpPr>
            <a:cxnSpLocks/>
          </p:cNvCxnSpPr>
          <p:nvPr/>
        </p:nvCxnSpPr>
        <p:spPr>
          <a:xfrm flipV="1">
            <a:off x="6401628" y="2438781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F81890E-35BF-8840-A14A-A313BE3246D4}"/>
              </a:ext>
            </a:extLst>
          </p:cNvPr>
          <p:cNvSpPr/>
          <p:nvPr/>
        </p:nvSpPr>
        <p:spPr>
          <a:xfrm>
            <a:off x="539552" y="1925108"/>
            <a:ext cx="8147248" cy="3285264"/>
          </a:xfrm>
          <a:prstGeom prst="roundRect">
            <a:avLst>
              <a:gd name="adj" fmla="val 13801"/>
            </a:avLst>
          </a:prstGeom>
          <a:solidFill>
            <a:schemeClr val="accent5">
              <a:lumMod val="60000"/>
              <a:lumOff val="40000"/>
              <a:alpha val="2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691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E36E3FC-3FE7-3743-8B43-B05927D62FC1}"/>
              </a:ext>
            </a:extLst>
          </p:cNvPr>
          <p:cNvSpPr/>
          <p:nvPr/>
        </p:nvSpPr>
        <p:spPr>
          <a:xfrm>
            <a:off x="457200" y="2636912"/>
            <a:ext cx="8147248" cy="2565184"/>
          </a:xfrm>
          <a:prstGeom prst="roundRect">
            <a:avLst>
              <a:gd name="adj" fmla="val 13801"/>
            </a:avLst>
          </a:prstGeom>
          <a:solidFill>
            <a:schemeClr val="accent5">
              <a:lumMod val="60000"/>
              <a:lumOff val="40000"/>
              <a:alpha val="2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70" name="Title 3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074242"/>
          </a:xfrm>
        </p:spPr>
        <p:txBody>
          <a:bodyPr/>
          <a:lstStyle/>
          <a:p>
            <a:pPr eaLnBrk="1" hangingPunct="1"/>
            <a:r>
              <a:rPr lang="en-US" sz="4000" dirty="0"/>
              <a:t>In this course we will focus on the technical foundation of software verification </a:t>
            </a:r>
          </a:p>
        </p:txBody>
      </p:sp>
      <p:sp>
        <p:nvSpPr>
          <p:cNvPr id="7171" name="Content Placeholder 4"/>
          <p:cNvSpPr>
            <a:spLocks noGrp="1"/>
          </p:cNvSpPr>
          <p:nvPr>
            <p:ph idx="1"/>
          </p:nvPr>
        </p:nvSpPr>
        <p:spPr>
          <a:xfrm>
            <a:off x="899592" y="2780928"/>
            <a:ext cx="7416824" cy="3057203"/>
          </a:xfrm>
        </p:spPr>
        <p:txBody>
          <a:bodyPr/>
          <a:lstStyle/>
          <a:p>
            <a:pPr eaLnBrk="1" hangingPunct="1"/>
            <a:r>
              <a:rPr lang="en-US" sz="2800" dirty="0"/>
              <a:t>How to specify what constitutes “correct” behavior?</a:t>
            </a:r>
          </a:p>
          <a:p>
            <a:pPr eaLnBrk="1" hangingPunct="1"/>
            <a:r>
              <a:rPr lang="en-US" sz="2800" dirty="0"/>
              <a:t>How to verify the correctness of a program?</a:t>
            </a:r>
          </a:p>
          <a:p>
            <a:pPr eaLnBrk="1" hangingPunct="1"/>
            <a:r>
              <a:rPr lang="en-US" sz="2800" dirty="0"/>
              <a:t>What constitute good tests ? When have we tested enough?</a:t>
            </a:r>
          </a:p>
          <a:p>
            <a:pPr eaLnBrk="1" hangingPunct="1"/>
            <a:r>
              <a:rPr lang="en-US" sz="2800" dirty="0"/>
              <a:t>Can we automate these steps?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763E96-9CF8-45D5-8FD7-8E7F3186A573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942BD8-D9EE-2B4B-8416-92B5B798B41D}"/>
              </a:ext>
            </a:extLst>
          </p:cNvPr>
          <p:cNvSpPr/>
          <p:nvPr/>
        </p:nvSpPr>
        <p:spPr>
          <a:xfrm>
            <a:off x="457200" y="5256320"/>
            <a:ext cx="8147248" cy="581811"/>
          </a:xfrm>
          <a:prstGeom prst="roundRect">
            <a:avLst>
              <a:gd name="adj" fmla="val 42551"/>
            </a:avLst>
          </a:prstGeom>
          <a:solidFill>
            <a:schemeClr val="bg2">
              <a:lumMod val="50000"/>
              <a:alpha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616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(top level) Learning Goals</a:t>
            </a:r>
          </a:p>
        </p:txBody>
      </p:sp>
      <p:sp>
        <p:nvSpPr>
          <p:cNvPr id="3075" name="Content Placeholder 2"/>
          <p:cNvSpPr>
            <a:spLocks noGrp="1"/>
          </p:cNvSpPr>
          <p:nvPr>
            <p:ph idx="1"/>
          </p:nvPr>
        </p:nvSpPr>
        <p:spPr>
          <a:xfrm>
            <a:off x="457200" y="1962348"/>
            <a:ext cx="8229600" cy="3849291"/>
          </a:xfrm>
        </p:spPr>
        <p:txBody>
          <a:bodyPr/>
          <a:lstStyle/>
          <a:p>
            <a:pPr eaLnBrk="1" hangingPunct="1"/>
            <a:r>
              <a:rPr lang="en-US" sz="2800" b="1" dirty="0"/>
              <a:t>Know</a:t>
            </a:r>
            <a:r>
              <a:rPr lang="en-US" sz="2800" dirty="0"/>
              <a:t> a selected set of basic concepts, theories, techniques, and technologies of </a:t>
            </a:r>
            <a:r>
              <a:rPr lang="en-US" sz="2800" i="1" dirty="0"/>
              <a:t>Software Testing </a:t>
            </a:r>
            <a:r>
              <a:rPr lang="en-US" sz="2800" dirty="0"/>
              <a:t>and </a:t>
            </a:r>
            <a:r>
              <a:rPr lang="en-US" sz="2800" i="1" dirty="0"/>
              <a:t>Software Verification </a:t>
            </a:r>
            <a:br>
              <a:rPr lang="en-US" sz="2800" i="1" dirty="0"/>
            </a:br>
            <a:r>
              <a:rPr lang="en-US" sz="2800" dirty="0">
                <a:sym typeface="Wingdings" pitchFamily="2" charset="2"/>
              </a:rPr>
              <a:t>They </a:t>
            </a:r>
            <a:r>
              <a:rPr lang="en-US" sz="2800" dirty="0"/>
              <a:t>represent two complementary approaches towards software correctness : </a:t>
            </a:r>
            <a:r>
              <a:rPr lang="en-US" sz="2800" i="1" dirty="0"/>
              <a:t>pragmatism</a:t>
            </a:r>
            <a:r>
              <a:rPr lang="en-US" sz="2800" dirty="0"/>
              <a:t> vs </a:t>
            </a:r>
            <a:r>
              <a:rPr lang="en-US" sz="2800" i="1" dirty="0"/>
              <a:t>completeness</a:t>
            </a:r>
            <a:r>
              <a:rPr lang="en-US" sz="2800" dirty="0"/>
              <a:t>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b="1" dirty="0"/>
              <a:t>Able to relate </a:t>
            </a:r>
            <a:r>
              <a:rPr lang="en-US" sz="2800" dirty="0"/>
              <a:t>these theories and techniques to real problems.</a:t>
            </a:r>
          </a:p>
          <a:p>
            <a:pPr eaLnBrk="1" hangingPunct="1"/>
            <a:endParaRPr lang="en-US" sz="2800" dirty="0"/>
          </a:p>
          <a:p>
            <a:pPr eaLnBrk="1" hangingPunct="1"/>
            <a:endParaRPr lang="en-US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E26C1C-0F2B-4D97-B534-1181B4D91CA8}" type="slidenum">
              <a:rPr lang="en-US"/>
              <a:pPr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Not in scope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457200" y="1916832"/>
            <a:ext cx="8229600" cy="4209331"/>
          </a:xfrm>
        </p:spPr>
        <p:txBody>
          <a:bodyPr/>
          <a:lstStyle/>
          <a:p>
            <a:r>
              <a:rPr lang="en-US" sz="2400" dirty="0"/>
              <a:t> Project management aspects of quality assurance (QA) in a large project </a:t>
            </a:r>
            <a:endParaRPr lang="en-US" sz="2400" dirty="0">
              <a:sym typeface="Wingdings"/>
            </a:endParaRPr>
          </a:p>
          <a:p>
            <a:pPr lvl="1"/>
            <a:r>
              <a:rPr lang="en-US" sz="2000" dirty="0">
                <a:sym typeface="Wingdings"/>
              </a:rPr>
              <a:t>covered in Software Project (bachelor).</a:t>
            </a:r>
          </a:p>
          <a:p>
            <a:endParaRPr lang="en-US" sz="2400" dirty="0">
              <a:sym typeface="Wingdings"/>
            </a:endParaRPr>
          </a:p>
          <a:p>
            <a:r>
              <a:rPr lang="en-US" sz="2400" dirty="0">
                <a:sym typeface="Wingdings"/>
              </a:rPr>
              <a:t>Automated verification algorithms </a:t>
            </a:r>
          </a:p>
          <a:p>
            <a:pPr lvl="1"/>
            <a:r>
              <a:rPr lang="en-US" sz="2000" dirty="0">
                <a:sym typeface="Wingdings"/>
              </a:rPr>
              <a:t>covered in the Program Semantic &amp; Verification course (master).</a:t>
            </a:r>
          </a:p>
          <a:p>
            <a:pPr lvl="1"/>
            <a:r>
              <a:rPr lang="en-US" sz="2000" dirty="0">
                <a:sym typeface="Wingdings"/>
              </a:rPr>
              <a:t>see also the “materials”-tab in the website: automated testing, theorem provers, proof assistants, CBMC (bounded model checker for C/C++).</a:t>
            </a: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5E5EFF8-18BE-4881-96AD-44D5B8574184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42BA6-CBAA-974F-9EA1-926883AE6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Pre-requisite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A192-57C8-0D46-BE49-F23ECCFD55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/>
          <a:lstStyle/>
          <a:p>
            <a:r>
              <a:rPr lang="en-US" sz="2800" dirty="0"/>
              <a:t>C#</a:t>
            </a:r>
          </a:p>
          <a:p>
            <a:r>
              <a:rPr lang="en-US" sz="2800" dirty="0"/>
              <a:t>Working with IDE</a:t>
            </a:r>
          </a:p>
          <a:p>
            <a:r>
              <a:rPr lang="en-US" sz="2800" dirty="0"/>
              <a:t>The “software verification” part will go into the mathematical foundation of verification. You will need background in:</a:t>
            </a:r>
          </a:p>
          <a:p>
            <a:pPr lvl="1"/>
            <a:r>
              <a:rPr lang="en-US" dirty="0"/>
              <a:t>Set theory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Predicate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CC667-6DAC-204E-A1BF-59FC60CF1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036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Sites &amp; Materials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507288" cy="4708525"/>
          </a:xfrm>
        </p:spPr>
        <p:txBody>
          <a:bodyPr/>
          <a:lstStyle/>
          <a:p>
            <a:r>
              <a:rPr lang="en-US" sz="2400" dirty="0">
                <a:highlight>
                  <a:srgbClr val="FFFF00"/>
                </a:highlight>
              </a:rPr>
              <a:t>Website</a:t>
            </a:r>
            <a:r>
              <a:rPr lang="en-US" sz="2400" dirty="0"/>
              <a:t> is for now hosted in </a:t>
            </a:r>
            <a:r>
              <a:rPr lang="en-US" sz="2400" dirty="0" err="1"/>
              <a:t>github</a:t>
            </a:r>
            <a:r>
              <a:rPr lang="en-US" sz="2400" dirty="0"/>
              <a:t>:</a:t>
            </a:r>
            <a:br>
              <a:rPr lang="en-US" sz="2400" dirty="0"/>
            </a:br>
            <a:r>
              <a:rPr lang="en-US" sz="2400" dirty="0">
                <a:hlinkClick r:id="rId2"/>
              </a:rPr>
              <a:t>https://wooshrow.github.io/b3stv/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https://github.com/wooshrow/b3stv</a:t>
            </a:r>
            <a:endParaRPr lang="en-US" sz="2400" dirty="0"/>
          </a:p>
          <a:p>
            <a:r>
              <a:rPr lang="en-US" sz="2400" dirty="0"/>
              <a:t>Books:</a:t>
            </a:r>
          </a:p>
          <a:p>
            <a:pPr lvl="1"/>
            <a:r>
              <a:rPr lang="en-US" sz="2400" dirty="0"/>
              <a:t>Paul Ammann and Jeff Offutt, Introduction to Software Testing, </a:t>
            </a:r>
            <a:r>
              <a:rPr lang="en-US" sz="2400" b="1" dirty="0"/>
              <a:t>1</a:t>
            </a:r>
            <a:r>
              <a:rPr lang="en-US" sz="2400" b="1" baseline="30000" dirty="0"/>
              <a:t>st</a:t>
            </a:r>
            <a:r>
              <a:rPr lang="en-US" sz="2400" b="1" dirty="0"/>
              <a:t> edition</a:t>
            </a:r>
            <a:r>
              <a:rPr lang="en-US" sz="2400" dirty="0"/>
              <a:t>, Cambridge University Press, Cambridge, UK, ISBN 0-52188-038-1, 2008. 2</a:t>
            </a:r>
            <a:r>
              <a:rPr lang="en-US" sz="2400" baseline="30000" dirty="0"/>
              <a:t>nd</a:t>
            </a:r>
            <a:r>
              <a:rPr lang="en-US" sz="2400" dirty="0"/>
              <a:t> Ed is also ok, if you can’t get 1</a:t>
            </a:r>
            <a:r>
              <a:rPr lang="en-US" sz="2400" baseline="30000" dirty="0"/>
              <a:t>st</a:t>
            </a:r>
            <a:r>
              <a:rPr lang="en-US" sz="2400" dirty="0"/>
              <a:t> anymore.</a:t>
            </a:r>
          </a:p>
          <a:p>
            <a:pPr lvl="1"/>
            <a:r>
              <a:rPr lang="en-US" sz="2400" dirty="0"/>
              <a:t>Lecture Notes (can be obtained from the website), for the program verification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Project &amp; assignment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800" dirty="0"/>
              <a:t>Software testing </a:t>
            </a:r>
            <a:r>
              <a:rPr lang="en-US" sz="2800" dirty="0" err="1"/>
              <a:t>Quizz</a:t>
            </a:r>
            <a:r>
              <a:rPr lang="en-US" sz="2800" dirty="0"/>
              <a:t> (3x): you can redo them as many times as you want, BUT each has a closing date.</a:t>
            </a:r>
          </a:p>
          <a:p>
            <a:pPr eaLnBrk="1" hangingPunct="1"/>
            <a:r>
              <a:rPr lang="en-US" sz="2800" dirty="0"/>
              <a:t>Writing formal specifications (3x): via MS-Team.</a:t>
            </a:r>
          </a:p>
          <a:p>
            <a:pPr eaLnBrk="1" hangingPunct="1"/>
            <a:r>
              <a:rPr lang="en-US" sz="2800" dirty="0"/>
              <a:t>Testing </a:t>
            </a:r>
            <a:r>
              <a:rPr lang="en-US" sz="2800" b="1" dirty="0"/>
              <a:t>Project</a:t>
            </a:r>
          </a:p>
          <a:p>
            <a:pPr eaLnBrk="1" hangingPunct="1"/>
            <a:r>
              <a:rPr lang="en-US" sz="2800" dirty="0"/>
              <a:t>Proving program correctness </a:t>
            </a:r>
            <a:r>
              <a:rPr lang="en-US" sz="2800" b="1" dirty="0"/>
              <a:t>assignment </a:t>
            </a:r>
            <a:r>
              <a:rPr lang="en-US" sz="2800" dirty="0"/>
              <a:t>(3x)</a:t>
            </a:r>
            <a:endParaRPr lang="en-US" sz="2800" u="sng" dirty="0"/>
          </a:p>
          <a:p>
            <a:pPr marL="0" indent="0" eaLnBrk="1" hangingPunct="1">
              <a:buNone/>
            </a:pP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90BF8A-544C-45EE-A3A7-EDCB3F02D58C}" type="slidenum">
              <a:rPr lang="en-US"/>
              <a:pPr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/>
          <a:lstStyle/>
          <a:p>
            <a:pPr eaLnBrk="1" hangingPunct="1"/>
            <a:r>
              <a:rPr lang="en-US" dirty="0"/>
              <a:t>Grading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251520" y="1196752"/>
            <a:ext cx="8640960" cy="5328592"/>
          </a:xfrm>
        </p:spPr>
        <p:txBody>
          <a:bodyPr/>
          <a:lstStyle/>
          <a:p>
            <a:pPr marL="342900" lvl="1" indent="-342900" eaLnBrk="1" hangingPunct="1">
              <a:buFont typeface="Arial" charset="0"/>
              <a:buChar char="•"/>
            </a:pPr>
            <a:r>
              <a:rPr lang="en-US" sz="2000" dirty="0"/>
              <a:t>In total </a:t>
            </a:r>
            <a:r>
              <a:rPr lang="en-US" sz="2000" b="1" dirty="0"/>
              <a:t>12 components</a:t>
            </a:r>
            <a:r>
              <a:rPr lang="en-US" sz="2000" dirty="0"/>
              <a:t>: quizzes (3), formal specifications (3), </a:t>
            </a:r>
            <a:r>
              <a:rPr lang="en-US" sz="2000" dirty="0">
                <a:solidFill>
                  <a:srgbClr val="C00000"/>
                </a:solidFill>
              </a:rPr>
              <a:t>project</a:t>
            </a:r>
            <a:r>
              <a:rPr lang="en-US" sz="2000" dirty="0"/>
              <a:t>, proof assignments (3), 2x </a:t>
            </a:r>
            <a:r>
              <a:rPr lang="en-US" sz="2000" dirty="0">
                <a:solidFill>
                  <a:srgbClr val="C00000"/>
                </a:solidFill>
              </a:rPr>
              <a:t>exams</a:t>
            </a:r>
            <a:r>
              <a:rPr lang="en-US" sz="2000" dirty="0"/>
              <a:t>. </a:t>
            </a:r>
          </a:p>
          <a:p>
            <a:pPr marL="342900" lvl="1" indent="-342900" eaLnBrk="1" hangingPunct="1">
              <a:buFont typeface="Arial" charset="0"/>
              <a:buChar char="•"/>
            </a:pPr>
            <a:r>
              <a:rPr lang="en-US" sz="2000" b="1" dirty="0"/>
              <a:t>Criteria to pass the course</a:t>
            </a:r>
            <a:r>
              <a:rPr lang="en-US" sz="2000" dirty="0"/>
              <a:t>:</a:t>
            </a:r>
          </a:p>
          <a:p>
            <a:pPr marL="857250" lvl="2" indent="-457200" eaLnBrk="1" hangingPunct="1">
              <a:buFont typeface="+mj-lt"/>
              <a:buAutoNum type="arabicPeriod"/>
            </a:pPr>
            <a:r>
              <a:rPr lang="en-US" sz="2000" dirty="0"/>
              <a:t>You do all exams and projects.</a:t>
            </a:r>
          </a:p>
          <a:p>
            <a:pPr marL="857250" lvl="2" indent="-457200" eaLnBrk="1" hangingPunct="1">
              <a:buFont typeface="+mj-lt"/>
              <a:buAutoNum type="arabicPeriod"/>
            </a:pPr>
            <a:r>
              <a:rPr lang="en-US" sz="2000" dirty="0"/>
              <a:t>The average of your exams should be ≥ 5.0.</a:t>
            </a:r>
          </a:p>
          <a:p>
            <a:pPr marL="857250" lvl="2" indent="-457200" eaLnBrk="1" hangingPunct="1">
              <a:buFont typeface="+mj-lt"/>
              <a:buAutoNum type="arabicPeriod"/>
            </a:pPr>
            <a:r>
              <a:rPr lang="en-US" sz="2000" dirty="0"/>
              <a:t>Your score (see below) should be ≥ 6</a:t>
            </a:r>
          </a:p>
          <a:p>
            <a:pPr marL="342900" lvl="1" indent="-342900" eaLnBrk="1" hangingPunct="1">
              <a:buFont typeface="Arial" charset="0"/>
              <a:buChar char="•"/>
            </a:pPr>
            <a:r>
              <a:rPr lang="en-US" sz="2000" i="1" dirty="0"/>
              <a:t>score = </a:t>
            </a:r>
            <a:r>
              <a:rPr lang="en-US" sz="2000" b="1" i="1" dirty="0"/>
              <a:t>if </a:t>
            </a:r>
            <a:r>
              <a:rPr lang="en-US" sz="2000" dirty="0"/>
              <a:t>5.0 ≤ </a:t>
            </a:r>
            <a:r>
              <a:rPr lang="en-US" sz="2000" i="1" dirty="0"/>
              <a:t>raw </a:t>
            </a:r>
            <a:r>
              <a:rPr lang="en-US" sz="2000" dirty="0"/>
              <a:t>≤ 6.0 </a:t>
            </a:r>
            <a:r>
              <a:rPr lang="en-US" sz="2000" b="1" i="1" dirty="0"/>
              <a:t>then </a:t>
            </a:r>
            <a:r>
              <a:rPr lang="en-US" sz="2000" i="1" dirty="0"/>
              <a:t>raw rounded to the closest int</a:t>
            </a:r>
            <a:r>
              <a:rPr lang="en-US" sz="2000" dirty="0"/>
              <a:t> </a:t>
            </a:r>
            <a:br>
              <a:rPr lang="en-US" sz="2000" dirty="0"/>
            </a:br>
            <a:r>
              <a:rPr lang="en-US" sz="2000" dirty="0"/>
              <a:t>            </a:t>
            </a:r>
            <a:r>
              <a:rPr lang="en-US" sz="2000" b="1" i="1" dirty="0"/>
              <a:t>else </a:t>
            </a:r>
            <a:r>
              <a:rPr lang="en-US" sz="2000" i="1" dirty="0"/>
              <a:t>raw rounded to the closest 0.1   </a:t>
            </a:r>
          </a:p>
          <a:p>
            <a:pPr eaLnBrk="1" hangingPunct="1"/>
            <a:r>
              <a:rPr lang="en-US" sz="2000" i="1" dirty="0"/>
              <a:t>raw</a:t>
            </a:r>
            <a:r>
              <a:rPr lang="en-US" sz="2000" dirty="0"/>
              <a:t>  =   0.025 *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formal specifications</a:t>
            </a:r>
            <a:br>
              <a:rPr lang="en-US" sz="2000" dirty="0"/>
            </a:br>
            <a:r>
              <a:rPr lang="en-US" sz="2000" dirty="0"/>
              <a:t>           + 0.225 *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proof assignments</a:t>
            </a:r>
            <a:br>
              <a:rPr lang="en-US" sz="2000" dirty="0"/>
            </a:br>
            <a:r>
              <a:rPr lang="en-US" sz="2000" dirty="0"/>
              <a:t>           + 0.25 *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testing project</a:t>
            </a:r>
            <a:br>
              <a:rPr lang="en-US" sz="2000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	 </a:t>
            </a:r>
            <a:r>
              <a:rPr lang="en-US" sz="2000" dirty="0"/>
              <a:t>+ 0.25 * exam-1 + 0,25 * exam-2</a:t>
            </a:r>
            <a:br>
              <a:rPr lang="en-US" sz="2000" dirty="0"/>
            </a:br>
            <a:r>
              <a:rPr lang="en-US" sz="2000" dirty="0"/>
              <a:t>Your </a:t>
            </a:r>
            <a:r>
              <a:rPr lang="en-US" sz="2000" i="1" dirty="0"/>
              <a:t>final</a:t>
            </a:r>
            <a:r>
              <a:rPr lang="en-US" sz="2000" dirty="0"/>
              <a:t> score  = “score” (above), except if you didn’t meet criteria 1 or 2 above; then your final score would either NVD or AANV.</a:t>
            </a:r>
          </a:p>
          <a:p>
            <a:pPr eaLnBrk="1" hangingPunct="1"/>
            <a:r>
              <a:rPr lang="en-US" sz="2000" dirty="0" err="1"/>
              <a:t>Resit</a:t>
            </a:r>
            <a:r>
              <a:rPr lang="en-US" sz="2000" dirty="0"/>
              <a:t>: only if you fail and (4.0 </a:t>
            </a:r>
            <a:r>
              <a:rPr lang="en-US" sz="2000" dirty="0">
                <a:sym typeface="Symbol"/>
              </a:rPr>
              <a:t> </a:t>
            </a:r>
            <a:r>
              <a:rPr lang="en-US" sz="2000" i="1" dirty="0">
                <a:sym typeface="Symbol"/>
              </a:rPr>
              <a:t>raw</a:t>
            </a:r>
            <a:r>
              <a:rPr lang="en-US" sz="2000" dirty="0">
                <a:sym typeface="Symbol"/>
              </a:rPr>
              <a:t> or </a:t>
            </a:r>
            <a:r>
              <a:rPr lang="en-US" sz="2000" i="1" dirty="0">
                <a:sym typeface="Symbol"/>
              </a:rPr>
              <a:t>final</a:t>
            </a:r>
            <a:r>
              <a:rPr lang="en-US" sz="2000" dirty="0">
                <a:sym typeface="Symbol"/>
              </a:rPr>
              <a:t>=AANV)</a:t>
            </a: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85CDD2-746A-4886-8C6F-F5767081CEAF}" type="slidenum">
              <a:rPr lang="en-US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75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AI (</a:t>
            </a:r>
            <a:r>
              <a:rPr lang="en-US" dirty="0" err="1"/>
              <a:t>ChatGPT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88840"/>
            <a:ext cx="8229600" cy="4137323"/>
          </a:xfrm>
        </p:spPr>
        <p:txBody>
          <a:bodyPr/>
          <a:lstStyle/>
          <a:p>
            <a:r>
              <a:rPr lang="en-US" sz="2400" dirty="0">
                <a:highlight>
                  <a:srgbClr val="FFFF00"/>
                </a:highlight>
              </a:rPr>
              <a:t>is NOT allowed</a:t>
            </a:r>
            <a:r>
              <a:rPr lang="en-US" sz="2400" dirty="0"/>
              <a:t>! This includes for writing the code for the STV project.</a:t>
            </a:r>
          </a:p>
          <a:p>
            <a:r>
              <a:rPr lang="en-US" sz="2400" dirty="0"/>
              <a:t>Exception: you can use them to help you writing tests. Keep in mind that you own the end responsibility, so do check what AI recommends you.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Your Rider IDE has support for copilot AI. 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>
                <a:highlight>
                  <a:srgbClr val="FFFF00"/>
                </a:highlight>
              </a:rPr>
              <a:t>Mark the code that is generated by AI</a:t>
            </a:r>
            <a:r>
              <a:rPr lang="en-US" sz="2400" dirty="0"/>
              <a:t>. And specifically add a statement that you have checked the generated code yourself (next slide).</a:t>
            </a:r>
          </a:p>
          <a:p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18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76147-9983-C781-3563-F7EE6676A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Mark and inspect your AI-generated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0478D3-FEDA-F16E-EB46-9B53D5B32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3648" y="1615351"/>
            <a:ext cx="6336704" cy="2605737"/>
          </a:xfrm>
        </p:spPr>
        <p:txBody>
          <a:bodyPr/>
          <a:lstStyle/>
          <a:p>
            <a:pPr marL="0" indent="0">
              <a:buNone/>
            </a:pPr>
            <a: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/// &lt;summary&gt;</a:t>
            </a:r>
          </a:p>
          <a:p>
            <a:pPr marL="0" indent="0">
              <a:buNone/>
            </a:pPr>
            <a: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/// test that monsters have the correct initial hp</a:t>
            </a:r>
          </a:p>
          <a:p>
            <a:pPr marL="0" indent="0">
              <a:buNone/>
            </a:pPr>
            <a: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/// &lt;/summary&gt;</a:t>
            </a:r>
          </a:p>
          <a:p>
            <a:pPr marL="0" indent="0">
              <a:buNone/>
            </a:pPr>
            <a:r>
              <a:rPr lang="en-NL" sz="16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/// @ai-generated Inspected by: &lt;your github-id&gt;</a:t>
            </a:r>
          </a:p>
          <a:p>
            <a:pPr marL="0" indent="0">
              <a:buNone/>
            </a:pPr>
            <a: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monster_test_hp() {</a:t>
            </a:r>
            <a:b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Monster m = new Monster(“id”) ;</a:t>
            </a:r>
            <a:b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assertEqual(10, m.hp()) ;</a:t>
            </a:r>
            <a:b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NL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D495E-C131-7AF4-EC26-2FCA6C980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A711FE-A8D5-AFB4-D8E4-9CC4E1B4B663}"/>
              </a:ext>
            </a:extLst>
          </p:cNvPr>
          <p:cNvSpPr txBox="1"/>
          <p:nvPr/>
        </p:nvSpPr>
        <p:spPr>
          <a:xfrm>
            <a:off x="704411" y="4418801"/>
            <a:ext cx="7951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Marking AI-generated content is part of good practice and is also demanded by AI transparency Law/s (e.g. the upcoming EU AI Act, 2026).</a:t>
            </a:r>
          </a:p>
        </p:txBody>
      </p:sp>
    </p:spTree>
    <p:extLst>
      <p:ext uri="{BB962C8B-B14F-4D97-AF65-F5344CB8AC3E}">
        <p14:creationId xmlns:p14="http://schemas.microsoft.com/office/powerpoint/2010/main" val="40529320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88840"/>
            <a:ext cx="8229600" cy="4137323"/>
          </a:xfrm>
        </p:spPr>
        <p:txBody>
          <a:bodyPr/>
          <a:lstStyle/>
          <a:p>
            <a:r>
              <a:rPr lang="en-US" sz="2400" dirty="0" err="1"/>
              <a:t>Jetbrains</a:t>
            </a:r>
            <a:r>
              <a:rPr lang="en-US" sz="2400" dirty="0"/>
              <a:t> </a:t>
            </a:r>
            <a:r>
              <a:rPr lang="en-US" sz="2400" dirty="0">
                <a:highlight>
                  <a:srgbClr val="FFFF00"/>
                </a:highlight>
              </a:rPr>
              <a:t>Raider IDE</a:t>
            </a:r>
            <a:r>
              <a:rPr lang="en-US" sz="2400" dirty="0"/>
              <a:t>, you can get free education license. Works on Windows and Mac, supposedly also on Linux.</a:t>
            </a:r>
          </a:p>
          <a:p>
            <a:r>
              <a:rPr lang="en-US" sz="2400" dirty="0"/>
              <a:t>Or Visual Studio </a:t>
            </a:r>
            <a:r>
              <a:rPr lang="en-US" sz="2400" b="1" dirty="0">
                <a:solidFill>
                  <a:srgbClr val="C00000"/>
                </a:solidFill>
              </a:rPr>
              <a:t>Enterprise </a:t>
            </a:r>
            <a:r>
              <a:rPr lang="en-US" sz="2400" dirty="0"/>
              <a:t>edition</a:t>
            </a:r>
            <a:r>
              <a:rPr lang="en-US" sz="2400" b="1" dirty="0"/>
              <a:t>. Not free.</a:t>
            </a:r>
          </a:p>
          <a:p>
            <a:r>
              <a:rPr lang="en-US" sz="2400" dirty="0"/>
              <a:t>You can use </a:t>
            </a:r>
            <a:r>
              <a:rPr lang="en-US" sz="2400" dirty="0" err="1"/>
              <a:t>Github</a:t>
            </a:r>
            <a:r>
              <a:rPr lang="en-US" sz="2400" dirty="0"/>
              <a:t> or </a:t>
            </a:r>
            <a:r>
              <a:rPr lang="en-US" sz="2400" dirty="0" err="1"/>
              <a:t>uu</a:t>
            </a:r>
            <a:r>
              <a:rPr lang="en-US" sz="2400" dirty="0"/>
              <a:t>-Gitlab to host your project. </a:t>
            </a:r>
            <a:r>
              <a:rPr lang="en-US" sz="2400" dirty="0">
                <a:solidFill>
                  <a:srgbClr val="FF0000"/>
                </a:solidFill>
              </a:rPr>
              <a:t>Please make your git-repository private! </a:t>
            </a:r>
            <a:br>
              <a:rPr lang="en-US" sz="2400" dirty="0"/>
            </a:br>
            <a:endParaRPr lang="en-US" sz="28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27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3F4C6-8D06-684B-B30C-2560B1AE5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270F8-1FAA-4F49-827C-8320C9004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a pretty dense </a:t>
            </a:r>
            <a:r>
              <a:rPr lang="en-US" dirty="0" err="1"/>
              <a:t>programme</a:t>
            </a:r>
            <a:r>
              <a:rPr lang="en-US" dirty="0"/>
              <a:t>. Expect to commit at least 16hrs/week.</a:t>
            </a:r>
          </a:p>
          <a:p>
            <a:r>
              <a:rPr lang="en-US" dirty="0"/>
              <a:t>Suggested plan:</a:t>
            </a:r>
          </a:p>
          <a:p>
            <a:pPr lvl="1"/>
            <a:r>
              <a:rPr lang="en-US" dirty="0"/>
              <a:t>Lectures + lab/</a:t>
            </a:r>
            <a:r>
              <a:rPr lang="en-US" dirty="0" err="1"/>
              <a:t>wekcollege</a:t>
            </a:r>
            <a:r>
              <a:rPr lang="en-US" dirty="0"/>
              <a:t> sessions: 8h/w</a:t>
            </a:r>
          </a:p>
          <a:p>
            <a:pPr lvl="1"/>
            <a:r>
              <a:rPr lang="en-US" dirty="0"/>
              <a:t>Self-study the theory: 4h/w</a:t>
            </a:r>
          </a:p>
          <a:p>
            <a:pPr lvl="1"/>
            <a:r>
              <a:rPr lang="en-US" dirty="0"/>
              <a:t>Sprints for your Testing Project: 4h/w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44C70-B676-444A-978B-E644F2ACD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847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A6B41-D037-DE47-8E85-FD7D7533D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Running the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1BAEC-2F76-454F-968B-EFB6E72FC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568952" cy="4525963"/>
          </a:xfrm>
        </p:spPr>
        <p:txBody>
          <a:bodyPr/>
          <a:lstStyle/>
          <a:p>
            <a:r>
              <a:rPr lang="en-NL" sz="2400" dirty="0"/>
              <a:t>Overall week-to-week plan: see website</a:t>
            </a:r>
          </a:p>
          <a:p>
            <a:r>
              <a:rPr lang="en-NL" sz="2400" dirty="0">
                <a:highlight>
                  <a:srgbClr val="FFFF00"/>
                </a:highlight>
              </a:rPr>
              <a:t>Brightspace</a:t>
            </a:r>
            <a:r>
              <a:rPr lang="en-NL" sz="2400" dirty="0"/>
              <a:t>, for</a:t>
            </a:r>
          </a:p>
          <a:p>
            <a:pPr lvl="1"/>
            <a:r>
              <a:rPr lang="en-NL" sz="2400" b="1" dirty="0"/>
              <a:t>Testing Quizzes</a:t>
            </a:r>
          </a:p>
          <a:p>
            <a:pPr lvl="1"/>
            <a:r>
              <a:rPr lang="en-NL" sz="2400" b="1" dirty="0"/>
              <a:t>Submitting project</a:t>
            </a:r>
          </a:p>
          <a:p>
            <a:r>
              <a:rPr lang="en-NL" sz="2400" dirty="0">
                <a:highlight>
                  <a:srgbClr val="FFFF00"/>
                </a:highlight>
              </a:rPr>
              <a:t>MS-Team B3STV</a:t>
            </a:r>
            <a:r>
              <a:rPr lang="en-NL" sz="2400" dirty="0"/>
              <a:t>, for:</a:t>
            </a:r>
          </a:p>
          <a:p>
            <a:pPr lvl="1"/>
            <a:r>
              <a:rPr lang="en-NL" sz="2400" b="1" dirty="0"/>
              <a:t>Submitting formalization-assignments and Proof-assignments.</a:t>
            </a:r>
          </a:p>
          <a:p>
            <a:pPr lvl="1"/>
            <a:r>
              <a:rPr lang="en-NL" sz="2400" b="1" dirty="0"/>
              <a:t>Channels where you can pose questions.</a:t>
            </a:r>
          </a:p>
          <a:p>
            <a:r>
              <a:rPr lang="en-NL" sz="2400" dirty="0"/>
              <a:t>Lectures and werkcolleges are physical (on-site) every Tuesday and Thursday. You have the T</a:t>
            </a:r>
            <a:r>
              <a:rPr lang="en-GB" sz="2400" dirty="0"/>
              <a:t>A</a:t>
            </a:r>
            <a:r>
              <a:rPr lang="en-NL" sz="2400" dirty="0"/>
              <a:t>s during the werkcolleges.</a:t>
            </a:r>
          </a:p>
          <a:p>
            <a:r>
              <a:rPr lang="en-NL" sz="2400" dirty="0"/>
              <a:t>I will be monitoring Team-channels outside werkcollege hours.</a:t>
            </a:r>
          </a:p>
          <a:p>
            <a:pPr lvl="1"/>
            <a:endParaRPr lang="en-NL" sz="2400" dirty="0"/>
          </a:p>
          <a:p>
            <a:pPr lvl="1"/>
            <a:endParaRPr lang="en-NL" sz="2400" dirty="0"/>
          </a:p>
          <a:p>
            <a:endParaRPr lang="en-NL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B114A-706C-604E-907C-C69DBEC34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1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err="1"/>
              <a:t>Wishnu</a:t>
            </a:r>
            <a:r>
              <a:rPr lang="en-US" sz="2800" dirty="0"/>
              <a:t> </a:t>
            </a:r>
            <a:r>
              <a:rPr lang="en-US" sz="2800" dirty="0" err="1"/>
              <a:t>Prasetya</a:t>
            </a:r>
            <a:r>
              <a:rPr lang="en-US" sz="2800" dirty="0"/>
              <a:t> (lectures, </a:t>
            </a:r>
            <a:r>
              <a:rPr lang="en-US" sz="2800" dirty="0" err="1"/>
              <a:t>werkcollege</a:t>
            </a:r>
            <a:r>
              <a:rPr lang="en-US" sz="2800" dirty="0"/>
              <a:t>, Team)</a:t>
            </a:r>
          </a:p>
          <a:p>
            <a:r>
              <a:rPr lang="en-US" sz="2800" dirty="0"/>
              <a:t>Paige North (lectures)</a:t>
            </a:r>
          </a:p>
          <a:p>
            <a:r>
              <a:rPr lang="en-US" sz="2800" dirty="0"/>
              <a:t>Lana </a:t>
            </a:r>
            <a:r>
              <a:rPr lang="en-US" sz="2800" dirty="0" err="1"/>
              <a:t>Idema</a:t>
            </a:r>
            <a:r>
              <a:rPr lang="en-US" sz="2800" dirty="0"/>
              <a:t> (TA, </a:t>
            </a:r>
            <a:r>
              <a:rPr lang="en-NL" sz="2800" dirty="0"/>
              <a:t>werkcollege)</a:t>
            </a:r>
          </a:p>
          <a:p>
            <a:r>
              <a:rPr lang="en-GB" sz="2800" dirty="0"/>
              <a:t>Justin Timmer </a:t>
            </a:r>
            <a:r>
              <a:rPr lang="en-NL" sz="2800" dirty="0"/>
              <a:t>(TA, werkcollege)</a:t>
            </a:r>
            <a:endParaRPr lang="en-GB" sz="2800" dirty="0"/>
          </a:p>
          <a:p>
            <a:r>
              <a:rPr lang="en-NL" sz="2800" dirty="0"/>
              <a:t>Tammo Steffens (TA, werkcollege)</a:t>
            </a:r>
          </a:p>
          <a:p>
            <a:pPr marL="0" indent="0">
              <a:buNone/>
            </a:pPr>
            <a:endParaRPr lang="en-NL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57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echnic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4146</TotalTime>
  <Words>1099</Words>
  <Application>Microsoft Macintosh PowerPoint</Application>
  <PresentationFormat>On-screen Show (4:3)</PresentationFormat>
  <Paragraphs>132</Paragraphs>
  <Slides>17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Courier New</vt:lpstr>
      <vt:lpstr>Office Theme</vt:lpstr>
      <vt:lpstr>About the Course Software Testing &amp; Verification</vt:lpstr>
      <vt:lpstr>Why do we care?</vt:lpstr>
      <vt:lpstr>Invested effort in quality assurance (QA)</vt:lpstr>
      <vt:lpstr>The project management aspect of quality assurance is non-trivial</vt:lpstr>
      <vt:lpstr>In this course we will focus on the technical foundation of software verification </vt:lpstr>
      <vt:lpstr>(top level) Learning Goals</vt:lpstr>
      <vt:lpstr>Not in scope</vt:lpstr>
      <vt:lpstr>Pre-requisite</vt:lpstr>
      <vt:lpstr>Sites &amp; Materials</vt:lpstr>
      <vt:lpstr>Project &amp; assignment</vt:lpstr>
      <vt:lpstr>Grading</vt:lpstr>
      <vt:lpstr>Use of AI (ChatGPT etc)</vt:lpstr>
      <vt:lpstr>Mark and inspect your AI-generated code</vt:lpstr>
      <vt:lpstr>Software</vt:lpstr>
      <vt:lpstr>Load</vt:lpstr>
      <vt:lpstr>Running the course</vt:lpstr>
      <vt:lpstr>Team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Concepts of Software Testing</dc:title>
  <dc:creator>underdark</dc:creator>
  <cp:lastModifiedBy>Prasetya, S.W.B. (Wishnu)</cp:lastModifiedBy>
  <cp:revision>179</cp:revision>
  <cp:lastPrinted>2016-04-24T10:28:45Z</cp:lastPrinted>
  <dcterms:created xsi:type="dcterms:W3CDTF">2012-03-04T10:04:20Z</dcterms:created>
  <dcterms:modified xsi:type="dcterms:W3CDTF">2026-04-16T15:52:53Z</dcterms:modified>
</cp:coreProperties>
</file>