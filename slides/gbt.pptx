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comment1.xml" ContentType="application/vnd.openxmlformats-officedocument.presentationml.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8" r:id="rId1"/>
  </p:sldMasterIdLst>
  <p:notesMasterIdLst>
    <p:notesMasterId r:id="rId48"/>
  </p:notesMasterIdLst>
  <p:sldIdLst>
    <p:sldId id="256" r:id="rId2"/>
    <p:sldId id="337" r:id="rId3"/>
    <p:sldId id="333" r:id="rId4"/>
    <p:sldId id="321" r:id="rId5"/>
    <p:sldId id="322" r:id="rId6"/>
    <p:sldId id="323" r:id="rId7"/>
    <p:sldId id="324" r:id="rId8"/>
    <p:sldId id="264" r:id="rId9"/>
    <p:sldId id="265" r:id="rId10"/>
    <p:sldId id="326" r:id="rId11"/>
    <p:sldId id="295" r:id="rId12"/>
    <p:sldId id="266" r:id="rId13"/>
    <p:sldId id="273" r:id="rId14"/>
    <p:sldId id="339" r:id="rId15"/>
    <p:sldId id="338" r:id="rId16"/>
    <p:sldId id="267" r:id="rId17"/>
    <p:sldId id="268" r:id="rId18"/>
    <p:sldId id="297" r:id="rId19"/>
    <p:sldId id="269" r:id="rId20"/>
    <p:sldId id="270" r:id="rId21"/>
    <p:sldId id="336" r:id="rId22"/>
    <p:sldId id="271" r:id="rId23"/>
    <p:sldId id="348" r:id="rId24"/>
    <p:sldId id="278" r:id="rId25"/>
    <p:sldId id="279" r:id="rId26"/>
    <p:sldId id="280" r:id="rId27"/>
    <p:sldId id="342" r:id="rId28"/>
    <p:sldId id="341" r:id="rId29"/>
    <p:sldId id="351" r:id="rId30"/>
    <p:sldId id="343" r:id="rId31"/>
    <p:sldId id="350" r:id="rId32"/>
    <p:sldId id="349" r:id="rId33"/>
    <p:sldId id="344" r:id="rId34"/>
    <p:sldId id="345" r:id="rId35"/>
    <p:sldId id="346" r:id="rId36"/>
    <p:sldId id="352" r:id="rId37"/>
    <p:sldId id="347" r:id="rId38"/>
    <p:sldId id="274" r:id="rId39"/>
    <p:sldId id="272" r:id="rId40"/>
    <p:sldId id="277" r:id="rId41"/>
    <p:sldId id="276" r:id="rId42"/>
    <p:sldId id="288" r:id="rId43"/>
    <p:sldId id="289" r:id="rId44"/>
    <p:sldId id="290" r:id="rId45"/>
    <p:sldId id="292" r:id="rId46"/>
    <p:sldId id="327" r:id="rId47"/>
  </p:sldIdLst>
  <p:sldSz cx="9144000" cy="6858000" type="screen4x3"/>
  <p:notesSz cx="6858000" cy="9144000"/>
  <p:defaultTex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underdark" initials="u" lastIdx="5" clrIdx="0"/>
  <p:cmAuthor id="1" name="Wish" initials="WP" lastIdx="2" clrIdx="1">
    <p:extLst>
      <p:ext uri="{19B8F6BF-5375-455C-9EA6-DF929625EA0E}">
        <p15:presenceInfo xmlns:p15="http://schemas.microsoft.com/office/powerpoint/2012/main" userId="Wish"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A8741"/>
    <a:srgbClr val="C3DD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283"/>
    <p:restoredTop sz="90916" autoAdjust="0"/>
  </p:normalViewPr>
  <p:slideViewPr>
    <p:cSldViewPr>
      <p:cViewPr>
        <p:scale>
          <a:sx n="190" d="100"/>
          <a:sy n="190" d="100"/>
        </p:scale>
        <p:origin x="-792" y="-1464"/>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9-03-27T20:58:40.028" idx="2">
    <p:pos x="2059" y="2507"/>
    <p:text>To cover the cases where we have initial states with no out-going arrows (so they are also immediately final states). Without the "at most" part, we can't include them in the CR.</p:text>
    <p:extLst>
      <p:ext uri="{C676402C-5697-4E1C-873F-D02D1690AC5C}">
        <p15:threadingInfo xmlns:p15="http://schemas.microsoft.com/office/powerpoint/2012/main" timeZoneBias="-6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itchFamily="34" charset="0"/>
                <a:cs typeface="Arial" pitchFamily="34"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itchFamily="34" charset="0"/>
                <a:cs typeface="Arial" pitchFamily="34" charset="0"/>
              </a:defRPr>
            </a:lvl1pPr>
          </a:lstStyle>
          <a:p>
            <a:pPr>
              <a:defRPr/>
            </a:pPr>
            <a:fld id="{789C031D-3948-432A-96F7-F6A85ABBC246}" type="datetimeFigureOut">
              <a:rPr lang="nl-NL"/>
              <a:pPr>
                <a:defRPr/>
              </a:pPr>
              <a:t>23-04-2026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itchFamily="34" charset="0"/>
                <a:cs typeface="Arial" pitchFamily="34"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itchFamily="34" charset="0"/>
                <a:cs typeface="Arial" pitchFamily="34" charset="0"/>
              </a:defRPr>
            </a:lvl1pPr>
          </a:lstStyle>
          <a:p>
            <a:pPr>
              <a:defRPr/>
            </a:pPr>
            <a:fld id="{5B90836E-2851-478D-B8E0-4CBCFBE2CBFD}" type="slidenum">
              <a:rPr lang="en-US"/>
              <a:pPr>
                <a:defRPr/>
              </a:pPr>
              <a:t>‹#›</a:t>
            </a:fld>
            <a:endParaRPr lang="en-US"/>
          </a:p>
        </p:txBody>
      </p:sp>
    </p:spTree>
    <p:extLst>
      <p:ext uri="{BB962C8B-B14F-4D97-AF65-F5344CB8AC3E}">
        <p14:creationId xmlns:p14="http://schemas.microsoft.com/office/powerpoint/2010/main" val="29399529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90836E-2851-478D-B8E0-4CBCFBE2CBFD}" type="slidenum">
              <a:rPr lang="en-US" smtClean="0"/>
              <a:pPr>
                <a:defRPr/>
              </a:pPr>
              <a:t>1</a:t>
            </a:fld>
            <a:endParaRPr lang="en-US"/>
          </a:p>
        </p:txBody>
      </p:sp>
    </p:spTree>
    <p:extLst>
      <p:ext uri="{BB962C8B-B14F-4D97-AF65-F5344CB8AC3E}">
        <p14:creationId xmlns:p14="http://schemas.microsoft.com/office/powerpoint/2010/main" val="38642683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p:spPr>
      </p:sp>
      <p:sp>
        <p:nvSpPr>
          <p:cNvPr id="44035"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N0 and NF must be NON empty!</a:t>
            </a:r>
          </a:p>
          <a:p>
            <a:endParaRPr lang="en-US" dirty="0"/>
          </a:p>
          <a:p>
            <a:r>
              <a:rPr lang="en-US" dirty="0"/>
              <a:t>In graph theory the above def of Path is also called a Walk.</a:t>
            </a:r>
          </a:p>
          <a:p>
            <a:endParaRPr lang="en-US" dirty="0"/>
          </a:p>
          <a:p>
            <a:r>
              <a:rPr lang="en-US" dirty="0"/>
              <a:t>Test-path:  Each test-case, when executed, </a:t>
            </a:r>
            <a:r>
              <a:rPr lang="en-US" dirty="0" err="1"/>
              <a:t>wiil</a:t>
            </a:r>
            <a:r>
              <a:rPr lang="en-US" dirty="0"/>
              <a:t> cause a program to trace a path through its control flow graph. OA calls this path test-path.</a:t>
            </a:r>
          </a:p>
        </p:txBody>
      </p:sp>
      <p:sp>
        <p:nvSpPr>
          <p:cNvPr id="4403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F92A1EB-CB78-4413-AC35-27076EECD45F}" type="slidenum">
              <a:rPr lang="en-US" smtClean="0">
                <a:latin typeface="Arial" charset="0"/>
                <a:cs typeface="Arial" charset="0"/>
              </a:rPr>
              <a:pPr/>
              <a:t>9</a:t>
            </a:fld>
            <a:endParaRPr lang="en-US">
              <a:latin typeface="Arial" charset="0"/>
              <a:cs typeface="Arial" charset="0"/>
            </a:endParaRPr>
          </a:p>
        </p:txBody>
      </p:sp>
    </p:spTree>
    <p:extLst>
      <p:ext uri="{BB962C8B-B14F-4D97-AF65-F5344CB8AC3E}">
        <p14:creationId xmlns:p14="http://schemas.microsoft.com/office/powerpoint/2010/main" val="14218338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90836E-2851-478D-B8E0-4CBCFBE2CBFD}" type="slidenum">
              <a:rPr lang="en-US" smtClean="0"/>
              <a:pPr>
                <a:defRPr/>
              </a:pPr>
              <a:t>10</a:t>
            </a:fld>
            <a:endParaRPr lang="en-US"/>
          </a:p>
        </p:txBody>
      </p:sp>
    </p:spTree>
    <p:extLst>
      <p:ext uri="{BB962C8B-B14F-4D97-AF65-F5344CB8AC3E}">
        <p14:creationId xmlns:p14="http://schemas.microsoft.com/office/powerpoint/2010/main" val="1054083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noFill/>
          <a:ln>
            <a:solidFill>
              <a:srgbClr val="000000"/>
            </a:solidFill>
            <a:miter lim="800000"/>
            <a:headEnd/>
            <a:tailEnd/>
          </a:ln>
        </p:spPr>
      </p:sp>
      <p:sp>
        <p:nvSpPr>
          <p:cNvPr id="43011"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Of</a:t>
            </a:r>
            <a:r>
              <a:rPr lang="en-US" baseline="0" dirty="0"/>
              <a:t> course you should understand that 100% does not imply absence of bugs. However, low coverage does imply that you have not been thorough in your testing.</a:t>
            </a:r>
            <a:endParaRPr lang="en-US" dirty="0"/>
          </a:p>
        </p:txBody>
      </p:sp>
      <p:sp>
        <p:nvSpPr>
          <p:cNvPr id="4301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7A13A6D-6E0D-4CE8-854A-0ECA05607E75}" type="slidenum">
              <a:rPr lang="en-US" smtClean="0">
                <a:latin typeface="Arial" charset="0"/>
                <a:cs typeface="Arial" charset="0"/>
              </a:rPr>
              <a:pPr/>
              <a:t>11</a:t>
            </a:fld>
            <a:endParaRPr lang="en-US">
              <a:latin typeface="Arial" charset="0"/>
              <a:cs typeface="Arial" charset="0"/>
            </a:endParaRPr>
          </a:p>
        </p:txBody>
      </p:sp>
    </p:spTree>
    <p:extLst>
      <p:ext uri="{BB962C8B-B14F-4D97-AF65-F5344CB8AC3E}">
        <p14:creationId xmlns:p14="http://schemas.microsoft.com/office/powerpoint/2010/main" val="770966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E.g. you may represent a program like </a:t>
            </a:r>
            <a:r>
              <a:rPr lang="en-US" dirty="0" err="1"/>
              <a:t>getX</a:t>
            </a:r>
            <a:r>
              <a:rPr lang="en-US" dirty="0"/>
              <a:t>() { return x ; } as a single-node CFG. The only path on this CFG is of course the path with length 0.</a:t>
            </a:r>
          </a:p>
          <a:p>
            <a:r>
              <a:rPr lang="en-US" dirty="0"/>
              <a:t>If C2.2 does not include paths of length 0, its TR would be empty, implying that you </a:t>
            </a:r>
            <a:r>
              <a:rPr lang="en-US" dirty="0" err="1"/>
              <a:t>dont</a:t>
            </a:r>
            <a:r>
              <a:rPr lang="en-US" dirty="0"/>
              <a:t> need any test at all, which is of course not </a:t>
            </a:r>
            <a:r>
              <a:rPr lang="en-US" dirty="0" err="1"/>
              <a:t>reasoanble</a:t>
            </a:r>
            <a:r>
              <a:rPr lang="en-US" dirty="0"/>
              <a:t>.</a:t>
            </a:r>
          </a:p>
        </p:txBody>
      </p:sp>
      <p:sp>
        <p:nvSpPr>
          <p:cNvPr id="4" name="Slide Number Placeholder 3"/>
          <p:cNvSpPr>
            <a:spLocks noGrp="1"/>
          </p:cNvSpPr>
          <p:nvPr>
            <p:ph type="sldNum" sz="quarter" idx="5"/>
          </p:nvPr>
        </p:nvSpPr>
        <p:spPr/>
        <p:txBody>
          <a:bodyPr/>
          <a:lstStyle/>
          <a:p>
            <a:pPr>
              <a:defRPr/>
            </a:pPr>
            <a:fld id="{5B90836E-2851-478D-B8E0-4CBCFBE2CBFD}" type="slidenum">
              <a:rPr lang="en-US" smtClean="0"/>
              <a:pPr>
                <a:defRPr/>
              </a:pPr>
              <a:t>14</a:t>
            </a:fld>
            <a:endParaRPr lang="en-US"/>
          </a:p>
        </p:txBody>
      </p:sp>
    </p:spTree>
    <p:extLst>
      <p:ext uri="{BB962C8B-B14F-4D97-AF65-F5344CB8AC3E}">
        <p14:creationId xmlns:p14="http://schemas.microsoft.com/office/powerpoint/2010/main" val="37827365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CFG on the left: covering all nodes implies that all edges are also covered.</a:t>
            </a:r>
          </a:p>
          <a:p>
            <a:r>
              <a:rPr lang="en-US" dirty="0"/>
              <a:t>However for the CFG on the right, this is not the case.</a:t>
            </a:r>
          </a:p>
          <a:p>
            <a:endParaRPr lang="en-US" dirty="0"/>
          </a:p>
          <a:p>
            <a:r>
              <a:rPr lang="en-US" dirty="0"/>
              <a:t>CFG on the left: full edge coverage cannot enforce that the path 1-&gt;3-&gt;5 is tested.</a:t>
            </a:r>
          </a:p>
        </p:txBody>
      </p:sp>
      <p:sp>
        <p:nvSpPr>
          <p:cNvPr id="4" name="Slide Number Placeholder 3"/>
          <p:cNvSpPr>
            <a:spLocks noGrp="1"/>
          </p:cNvSpPr>
          <p:nvPr>
            <p:ph type="sldNum" sz="quarter" idx="5"/>
          </p:nvPr>
        </p:nvSpPr>
        <p:spPr/>
        <p:txBody>
          <a:bodyPr/>
          <a:lstStyle/>
          <a:p>
            <a:pPr>
              <a:defRPr/>
            </a:pPr>
            <a:fld id="{5B90836E-2851-478D-B8E0-4CBCFBE2CBFD}" type="slidenum">
              <a:rPr lang="en-US" smtClean="0"/>
              <a:pPr>
                <a:defRPr/>
              </a:pPr>
              <a:t>15</a:t>
            </a:fld>
            <a:endParaRPr lang="en-US"/>
          </a:p>
        </p:txBody>
      </p:sp>
    </p:spTree>
    <p:extLst>
      <p:ext uri="{BB962C8B-B14F-4D97-AF65-F5344CB8AC3E}">
        <p14:creationId xmlns:p14="http://schemas.microsoft.com/office/powerpoint/2010/main" val="15026724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E.g. you may represent a program like </a:t>
            </a:r>
            <a:r>
              <a:rPr lang="en-US" dirty="0" err="1"/>
              <a:t>getX</a:t>
            </a:r>
            <a:r>
              <a:rPr lang="en-US" dirty="0"/>
              <a:t>() { return x ; } as a single-node CFG. The only path on this CFG is of course the path with length 0.</a:t>
            </a:r>
          </a:p>
        </p:txBody>
      </p:sp>
      <p:sp>
        <p:nvSpPr>
          <p:cNvPr id="4" name="Slide Number Placeholder 3"/>
          <p:cNvSpPr>
            <a:spLocks noGrp="1"/>
          </p:cNvSpPr>
          <p:nvPr>
            <p:ph type="sldNum" sz="quarter" idx="5"/>
          </p:nvPr>
        </p:nvSpPr>
        <p:spPr/>
        <p:txBody>
          <a:bodyPr/>
          <a:lstStyle/>
          <a:p>
            <a:pPr>
              <a:defRPr/>
            </a:pPr>
            <a:fld id="{5B90836E-2851-478D-B8E0-4CBCFBE2CBFD}" type="slidenum">
              <a:rPr lang="en-US" smtClean="0"/>
              <a:pPr>
                <a:defRPr/>
              </a:pPr>
              <a:t>16</a:t>
            </a:fld>
            <a:endParaRPr lang="en-US"/>
          </a:p>
        </p:txBody>
      </p:sp>
    </p:spTree>
    <p:extLst>
      <p:ext uri="{BB962C8B-B14F-4D97-AF65-F5344CB8AC3E}">
        <p14:creationId xmlns:p14="http://schemas.microsoft.com/office/powerpoint/2010/main" val="33823940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CFG on the left: covering all nodes implies that all edges are also covered.</a:t>
            </a:r>
          </a:p>
          <a:p>
            <a:r>
              <a:rPr lang="en-US" dirty="0"/>
              <a:t>However for the CFG on the right, this is not the case.</a:t>
            </a:r>
          </a:p>
          <a:p>
            <a:endParaRPr lang="en-US" dirty="0"/>
          </a:p>
          <a:p>
            <a:r>
              <a:rPr lang="en-US" dirty="0"/>
              <a:t>CFG on the left: full edge coverage cannot enforce that the path 1-&gt;3-&gt;5 is tested.</a:t>
            </a:r>
          </a:p>
        </p:txBody>
      </p:sp>
      <p:sp>
        <p:nvSpPr>
          <p:cNvPr id="4" name="Slide Number Placeholder 3"/>
          <p:cNvSpPr>
            <a:spLocks noGrp="1"/>
          </p:cNvSpPr>
          <p:nvPr>
            <p:ph type="sldNum" sz="quarter" idx="5"/>
          </p:nvPr>
        </p:nvSpPr>
        <p:spPr/>
        <p:txBody>
          <a:bodyPr/>
          <a:lstStyle/>
          <a:p>
            <a:pPr>
              <a:defRPr/>
            </a:pPr>
            <a:fld id="{5B90836E-2851-478D-B8E0-4CBCFBE2CBFD}" type="slidenum">
              <a:rPr lang="en-US" smtClean="0"/>
              <a:pPr>
                <a:defRPr/>
              </a:pPr>
              <a:t>17</a:t>
            </a:fld>
            <a:endParaRPr lang="en-US"/>
          </a:p>
        </p:txBody>
      </p:sp>
    </p:spTree>
    <p:extLst>
      <p:ext uri="{BB962C8B-B14F-4D97-AF65-F5344CB8AC3E}">
        <p14:creationId xmlns:p14="http://schemas.microsoft.com/office/powerpoint/2010/main" val="22722971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90836E-2851-478D-B8E0-4CBCFBE2CBFD}" type="slidenum">
              <a:rPr lang="en-US" smtClean="0"/>
              <a:pPr>
                <a:defRPr/>
              </a:pPr>
              <a:t>18</a:t>
            </a:fld>
            <a:endParaRPr lang="en-US"/>
          </a:p>
        </p:txBody>
      </p:sp>
    </p:spTree>
    <p:extLst>
      <p:ext uri="{BB962C8B-B14F-4D97-AF65-F5344CB8AC3E}">
        <p14:creationId xmlns:p14="http://schemas.microsoft.com/office/powerpoint/2010/main" val="25801557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10 nodes in this graph, 12 edges</a:t>
            </a:r>
          </a:p>
          <a:p>
            <a:r>
              <a:rPr lang="en-NL" dirty="0"/>
              <a:t>14 edge-paits in this graph</a:t>
            </a:r>
          </a:p>
          <a:p>
            <a:r>
              <a:rPr lang="en-NL" dirty="0"/>
              <a:t>8 paths</a:t>
            </a:r>
          </a:p>
        </p:txBody>
      </p:sp>
      <p:sp>
        <p:nvSpPr>
          <p:cNvPr id="4" name="Slide Number Placeholder 3"/>
          <p:cNvSpPr>
            <a:spLocks noGrp="1"/>
          </p:cNvSpPr>
          <p:nvPr>
            <p:ph type="sldNum" sz="quarter" idx="5"/>
          </p:nvPr>
        </p:nvSpPr>
        <p:spPr/>
        <p:txBody>
          <a:bodyPr/>
          <a:lstStyle/>
          <a:p>
            <a:pPr>
              <a:defRPr/>
            </a:pPr>
            <a:fld id="{5B90836E-2851-478D-B8E0-4CBCFBE2CBFD}" type="slidenum">
              <a:rPr lang="en-US" smtClean="0"/>
              <a:pPr>
                <a:defRPr/>
              </a:pPr>
              <a:t>19</a:t>
            </a:fld>
            <a:endParaRPr lang="en-US"/>
          </a:p>
        </p:txBody>
      </p:sp>
    </p:spTree>
    <p:extLst>
      <p:ext uri="{BB962C8B-B14F-4D97-AF65-F5344CB8AC3E}">
        <p14:creationId xmlns:p14="http://schemas.microsoft.com/office/powerpoint/2010/main" val="41795513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a:t>
            </a:r>
            <a:r>
              <a:rPr lang="en-US" baseline="0" dirty="0"/>
              <a:t> paths:</a:t>
            </a:r>
            <a:br>
              <a:rPr lang="en-US" baseline="0" dirty="0"/>
            </a:br>
            <a:endParaRPr lang="en-US" baseline="0" dirty="0"/>
          </a:p>
          <a:p>
            <a:r>
              <a:rPr lang="en-US" baseline="0" dirty="0"/>
              <a:t>Starting from:</a:t>
            </a:r>
          </a:p>
          <a:p>
            <a:r>
              <a:rPr lang="en-US" baseline="0" dirty="0"/>
              <a:t>0:  [01,0]  [0,1,2]   </a:t>
            </a:r>
          </a:p>
          <a:p>
            <a:r>
              <a:rPr lang="en-US" baseline="0" dirty="0"/>
              <a:t>1:  [1,0,1]    .... This may seem to be overkill; but the rationale is as follows: assignment in 1 may affect subsequent iteration, therefore we insist on testing 101.</a:t>
            </a:r>
          </a:p>
          <a:p>
            <a:r>
              <a:rPr lang="en-US" baseline="0" dirty="0"/>
              <a:t>2: none</a:t>
            </a:r>
          </a:p>
        </p:txBody>
      </p:sp>
      <p:sp>
        <p:nvSpPr>
          <p:cNvPr id="4" name="Slide Number Placeholder 3"/>
          <p:cNvSpPr>
            <a:spLocks noGrp="1"/>
          </p:cNvSpPr>
          <p:nvPr>
            <p:ph type="sldNum" sz="quarter" idx="10"/>
          </p:nvPr>
        </p:nvSpPr>
        <p:spPr/>
        <p:txBody>
          <a:bodyPr/>
          <a:lstStyle/>
          <a:p>
            <a:pPr>
              <a:defRPr/>
            </a:pPr>
            <a:fld id="{5B90836E-2851-478D-B8E0-4CBCFBE2CBFD}" type="slidenum">
              <a:rPr lang="en-US" smtClean="0"/>
              <a:pPr>
                <a:defRPr/>
              </a:pPr>
              <a:t>20</a:t>
            </a:fld>
            <a:endParaRPr lang="en-US"/>
          </a:p>
        </p:txBody>
      </p:sp>
    </p:spTree>
    <p:extLst>
      <p:ext uri="{BB962C8B-B14F-4D97-AF65-F5344CB8AC3E}">
        <p14:creationId xmlns:p14="http://schemas.microsoft.com/office/powerpoint/2010/main" val="7649581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a:t>
            </a:r>
            <a:r>
              <a:rPr lang="en-US" baseline="0" dirty="0"/>
              <a:t> paths:</a:t>
            </a:r>
            <a:br>
              <a:rPr lang="en-US" baseline="0" dirty="0"/>
            </a:br>
            <a:endParaRPr lang="en-US" baseline="0" dirty="0"/>
          </a:p>
          <a:p>
            <a:r>
              <a:rPr lang="en-US" baseline="0" dirty="0"/>
              <a:t>Starting from:</a:t>
            </a:r>
          </a:p>
          <a:p>
            <a:r>
              <a:rPr lang="en-US" baseline="0" dirty="0"/>
              <a:t>0:  [0,,1,0]  [0,1,3]</a:t>
            </a:r>
          </a:p>
          <a:p>
            <a:r>
              <a:rPr lang="en-US" baseline="0" dirty="0"/>
              <a:t>1:  [1,0,1]  [1,0,2,3]</a:t>
            </a:r>
          </a:p>
          <a:p>
            <a:r>
              <a:rPr lang="en-US" baseline="0" dirty="0"/>
              <a:t>2: none</a:t>
            </a:r>
          </a:p>
          <a:p>
            <a:r>
              <a:rPr lang="en-US" baseline="0" dirty="0"/>
              <a:t>3:  none</a:t>
            </a:r>
          </a:p>
        </p:txBody>
      </p:sp>
      <p:sp>
        <p:nvSpPr>
          <p:cNvPr id="4" name="Slide Number Placeholder 3"/>
          <p:cNvSpPr>
            <a:spLocks noGrp="1"/>
          </p:cNvSpPr>
          <p:nvPr>
            <p:ph type="sldNum" sz="quarter" idx="10"/>
          </p:nvPr>
        </p:nvSpPr>
        <p:spPr/>
        <p:txBody>
          <a:bodyPr/>
          <a:lstStyle/>
          <a:p>
            <a:pPr>
              <a:defRPr/>
            </a:pPr>
            <a:fld id="{5B90836E-2851-478D-B8E0-4CBCFBE2CBFD}" type="slidenum">
              <a:rPr lang="en-US" smtClean="0"/>
              <a:pPr>
                <a:defRPr/>
              </a:pPr>
              <a:t>21</a:t>
            </a:fld>
            <a:endParaRPr lang="en-US"/>
          </a:p>
        </p:txBody>
      </p:sp>
    </p:spTree>
    <p:extLst>
      <p:ext uri="{BB962C8B-B14F-4D97-AF65-F5344CB8AC3E}">
        <p14:creationId xmlns:p14="http://schemas.microsoft.com/office/powerpoint/2010/main" val="11326265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noFill/>
          <a:ln>
            <a:solidFill>
              <a:srgbClr val="000000"/>
            </a:solidFill>
            <a:miter lim="800000"/>
            <a:headEnd/>
            <a:tailEnd/>
          </a:ln>
        </p:spPr>
      </p:sp>
      <p:sp>
        <p:nvSpPr>
          <p:cNvPr id="45059"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Perhaps a bit surprisingly, a single test can tour the above TR, namely  01012.</a:t>
            </a:r>
          </a:p>
          <a:p>
            <a:endParaRPr lang="en-US" dirty="0"/>
          </a:p>
          <a:p>
            <a:r>
              <a:rPr lang="en-US" dirty="0"/>
              <a:t>Note that PPC is not the same as, nor implies that you must cover each loop  by doing no iteration and at least one iteration, as shown by the above single test-case.</a:t>
            </a:r>
          </a:p>
        </p:txBody>
      </p:sp>
      <p:sp>
        <p:nvSpPr>
          <p:cNvPr id="4506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3B461F1-450E-495C-9012-1239B066433C}" type="slidenum">
              <a:rPr lang="en-US" smtClean="0">
                <a:latin typeface="Arial" charset="0"/>
                <a:cs typeface="Arial" charset="0"/>
              </a:rPr>
              <a:pPr/>
              <a:t>22</a:t>
            </a:fld>
            <a:endParaRPr lang="en-US">
              <a:latin typeface="Arial" charset="0"/>
              <a:cs typeface="Arial" charset="0"/>
            </a:endParaRPr>
          </a:p>
        </p:txBody>
      </p:sp>
    </p:spTree>
    <p:extLst>
      <p:ext uri="{BB962C8B-B14F-4D97-AF65-F5344CB8AC3E}">
        <p14:creationId xmlns:p14="http://schemas.microsoft.com/office/powerpoint/2010/main" val="18665589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lstStyle/>
          <a:p>
            <a:pPr>
              <a:defRPr/>
            </a:pPr>
            <a:r>
              <a:rPr lang="en-US" dirty="0"/>
              <a:t>A simple path s cannot be extended at the end-side to s++[v]  if one of these happen:</a:t>
            </a:r>
          </a:p>
          <a:p>
            <a:pPr marL="228600" indent="-228600">
              <a:buFontTx/>
              <a:buAutoNum type="arabicParenBoth"/>
              <a:defRPr/>
            </a:pPr>
            <a:r>
              <a:rPr lang="en-US" dirty="0"/>
              <a:t>the last node of s is already a terminal node</a:t>
            </a:r>
          </a:p>
          <a:p>
            <a:pPr marL="228600" indent="-228600">
              <a:buFontTx/>
              <a:buAutoNum type="arabicParenBoth"/>
              <a:defRPr/>
            </a:pPr>
            <a:r>
              <a:rPr lang="en-US" dirty="0"/>
              <a:t>s++[v] is not a simple path because it cycles into the middle of s</a:t>
            </a:r>
          </a:p>
          <a:p>
            <a:pPr marL="228600" indent="-228600">
              <a:buFontTx/>
              <a:buAutoNum type="arabicParenBoth"/>
              <a:defRPr/>
            </a:pPr>
            <a:r>
              <a:rPr lang="en-US" dirty="0"/>
              <a:t>s is already a cycle</a:t>
            </a:r>
          </a:p>
        </p:txBody>
      </p:sp>
      <p:sp>
        <p:nvSpPr>
          <p:cNvPr id="4710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5FA92A6E-13EA-4910-BE0D-B15803590F62}" type="slidenum">
              <a:rPr lang="en-US" smtClean="0">
                <a:latin typeface="Arial" charset="0"/>
                <a:cs typeface="Arial" charset="0"/>
              </a:rPr>
              <a:pPr/>
              <a:t>23</a:t>
            </a:fld>
            <a:endParaRPr lang="en-US">
              <a:latin typeface="Arial" charset="0"/>
              <a:cs typeface="Arial" charset="0"/>
            </a:endParaRPr>
          </a:p>
        </p:txBody>
      </p:sp>
    </p:spTree>
    <p:extLst>
      <p:ext uri="{BB962C8B-B14F-4D97-AF65-F5344CB8AC3E}">
        <p14:creationId xmlns:p14="http://schemas.microsoft.com/office/powerpoint/2010/main" val="21385675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noFill/>
          <a:ln>
            <a:solidFill>
              <a:srgbClr val="000000"/>
            </a:solidFill>
            <a:miter lim="800000"/>
            <a:headEnd/>
            <a:tailEnd/>
          </a:ln>
        </p:spPr>
      </p:sp>
      <p:sp>
        <p:nvSpPr>
          <p:cNvPr id="46083"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The length of any simple path is bounded by N, where N is the number of nodes in G. </a:t>
            </a:r>
            <a:r>
              <a:rPr lang="en-US" dirty="0"/>
              <a:t>Since a prime path is also a simple </a:t>
            </a:r>
            <a:r>
              <a:rPr lang="en-US" dirty="0" err="1"/>
              <a:t>parth</a:t>
            </a:r>
            <a:r>
              <a:rPr lang="en-US" dirty="0"/>
              <a:t>, it follows that the number of prime paths is finite, so they can be systematically computed.</a:t>
            </a:r>
          </a:p>
        </p:txBody>
      </p:sp>
      <p:sp>
        <p:nvSpPr>
          <p:cNvPr id="4608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D00ACAE5-8472-42D2-ABC4-ED6745FF8213}" type="slidenum">
              <a:rPr lang="en-US" smtClean="0">
                <a:latin typeface="Arial" charset="0"/>
                <a:cs typeface="Arial" charset="0"/>
              </a:rPr>
              <a:pPr/>
              <a:t>24</a:t>
            </a:fld>
            <a:endParaRPr lang="en-US">
              <a:latin typeface="Arial" charset="0"/>
              <a:cs typeface="Arial" charset="0"/>
            </a:endParaRPr>
          </a:p>
        </p:txBody>
      </p:sp>
    </p:spTree>
    <p:extLst>
      <p:ext uri="{BB962C8B-B14F-4D97-AF65-F5344CB8AC3E}">
        <p14:creationId xmlns:p14="http://schemas.microsoft.com/office/powerpoint/2010/main" val="8153085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lstStyle/>
          <a:p>
            <a:pPr>
              <a:defRPr/>
            </a:pPr>
            <a:r>
              <a:rPr lang="en-US" dirty="0"/>
              <a:t>A simple path s cannot be extended at the end-side to s++[v]  if one of these happen:</a:t>
            </a:r>
          </a:p>
          <a:p>
            <a:pPr marL="228600" indent="-228600">
              <a:buFontTx/>
              <a:buAutoNum type="arabicParenBoth"/>
              <a:defRPr/>
            </a:pPr>
            <a:r>
              <a:rPr lang="en-US" dirty="0"/>
              <a:t>the last node of s is already a terminal node</a:t>
            </a:r>
          </a:p>
          <a:p>
            <a:pPr marL="228600" indent="-228600">
              <a:buFontTx/>
              <a:buAutoNum type="arabicParenBoth"/>
              <a:defRPr/>
            </a:pPr>
            <a:r>
              <a:rPr lang="en-US" dirty="0"/>
              <a:t>s++[v] is not a simple path because it cycles into the middle of s</a:t>
            </a:r>
          </a:p>
          <a:p>
            <a:pPr marL="228600" indent="-228600">
              <a:buFontTx/>
              <a:buAutoNum type="arabicParenBoth"/>
              <a:defRPr/>
            </a:pPr>
            <a:r>
              <a:rPr lang="en-US" dirty="0"/>
              <a:t>s is already a cycle</a:t>
            </a:r>
          </a:p>
        </p:txBody>
      </p:sp>
      <p:sp>
        <p:nvSpPr>
          <p:cNvPr id="4710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5FA92A6E-13EA-4910-BE0D-B15803590F62}" type="slidenum">
              <a:rPr lang="en-US" smtClean="0">
                <a:latin typeface="Arial" charset="0"/>
                <a:cs typeface="Arial" charset="0"/>
              </a:rPr>
              <a:pPr/>
              <a:t>25</a:t>
            </a:fld>
            <a:endParaRPr lang="en-US">
              <a:latin typeface="Arial" charset="0"/>
              <a:cs typeface="Arial" charset="0"/>
            </a:endParaRPr>
          </a:p>
        </p:txBody>
      </p:sp>
    </p:spTree>
    <p:extLst>
      <p:ext uri="{BB962C8B-B14F-4D97-AF65-F5344CB8AC3E}">
        <p14:creationId xmlns:p14="http://schemas.microsoft.com/office/powerpoint/2010/main" val="19449134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90836E-2851-478D-B8E0-4CBCFBE2CBFD}" type="slidenum">
              <a:rPr lang="en-US" smtClean="0"/>
              <a:pPr>
                <a:defRPr/>
              </a:pPr>
              <a:t>26</a:t>
            </a:fld>
            <a:endParaRPr lang="en-US"/>
          </a:p>
        </p:txBody>
      </p:sp>
    </p:spTree>
    <p:extLst>
      <p:ext uri="{BB962C8B-B14F-4D97-AF65-F5344CB8AC3E}">
        <p14:creationId xmlns:p14="http://schemas.microsoft.com/office/powerpoint/2010/main" val="1288571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pPr>
              <a:defRPr/>
            </a:pPr>
            <a:fld id="{5B90836E-2851-478D-B8E0-4CBCFBE2CBFD}" type="slidenum">
              <a:rPr lang="en-US" smtClean="0"/>
              <a:pPr>
                <a:defRPr/>
              </a:pPr>
              <a:t>27</a:t>
            </a:fld>
            <a:endParaRPr lang="en-US"/>
          </a:p>
        </p:txBody>
      </p:sp>
    </p:spTree>
    <p:extLst>
      <p:ext uri="{BB962C8B-B14F-4D97-AF65-F5344CB8AC3E}">
        <p14:creationId xmlns:p14="http://schemas.microsoft.com/office/powerpoint/2010/main" val="13762333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pPr>
              <a:defRPr/>
            </a:pPr>
            <a:fld id="{5B90836E-2851-478D-B8E0-4CBCFBE2CBFD}" type="slidenum">
              <a:rPr lang="en-US" smtClean="0"/>
              <a:pPr>
                <a:defRPr/>
              </a:pPr>
              <a:t>28</a:t>
            </a:fld>
            <a:endParaRPr lang="en-US"/>
          </a:p>
        </p:txBody>
      </p:sp>
    </p:spTree>
    <p:extLst>
      <p:ext uri="{BB962C8B-B14F-4D97-AF65-F5344CB8AC3E}">
        <p14:creationId xmlns:p14="http://schemas.microsoft.com/office/powerpoint/2010/main" val="40523338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Note that circuit is not exactly the same as circular simple path.</a:t>
            </a:r>
          </a:p>
        </p:txBody>
      </p:sp>
      <p:sp>
        <p:nvSpPr>
          <p:cNvPr id="4" name="Slide Number Placeholder 3"/>
          <p:cNvSpPr>
            <a:spLocks noGrp="1"/>
          </p:cNvSpPr>
          <p:nvPr>
            <p:ph type="sldNum" sz="quarter" idx="5"/>
          </p:nvPr>
        </p:nvSpPr>
        <p:spPr/>
        <p:txBody>
          <a:bodyPr/>
          <a:lstStyle/>
          <a:p>
            <a:pPr>
              <a:defRPr/>
            </a:pPr>
            <a:fld id="{5B90836E-2851-478D-B8E0-4CBCFBE2CBFD}" type="slidenum">
              <a:rPr lang="en-US" smtClean="0"/>
              <a:pPr>
                <a:defRPr/>
              </a:pPr>
              <a:t>30</a:t>
            </a:fld>
            <a:endParaRPr lang="en-US"/>
          </a:p>
        </p:txBody>
      </p:sp>
    </p:spTree>
    <p:extLst>
      <p:ext uri="{BB962C8B-B14F-4D97-AF65-F5344CB8AC3E}">
        <p14:creationId xmlns:p14="http://schemas.microsoft.com/office/powerpoint/2010/main" val="21121722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Note that circuit is not exactly the same as circular simple path.</a:t>
            </a:r>
          </a:p>
        </p:txBody>
      </p:sp>
      <p:sp>
        <p:nvSpPr>
          <p:cNvPr id="4" name="Slide Number Placeholder 3"/>
          <p:cNvSpPr>
            <a:spLocks noGrp="1"/>
          </p:cNvSpPr>
          <p:nvPr>
            <p:ph type="sldNum" sz="quarter" idx="5"/>
          </p:nvPr>
        </p:nvSpPr>
        <p:spPr/>
        <p:txBody>
          <a:bodyPr/>
          <a:lstStyle/>
          <a:p>
            <a:pPr>
              <a:defRPr/>
            </a:pPr>
            <a:fld id="{5B90836E-2851-478D-B8E0-4CBCFBE2CBFD}" type="slidenum">
              <a:rPr lang="en-US" smtClean="0"/>
              <a:pPr>
                <a:defRPr/>
              </a:pPr>
              <a:t>31</a:t>
            </a:fld>
            <a:endParaRPr lang="en-US"/>
          </a:p>
        </p:txBody>
      </p:sp>
    </p:spTree>
    <p:extLst>
      <p:ext uri="{BB962C8B-B14F-4D97-AF65-F5344CB8AC3E}">
        <p14:creationId xmlns:p14="http://schemas.microsoft.com/office/powerpoint/2010/main" val="23148609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Note that circuit is not exactly the same as circular simple path.</a:t>
            </a:r>
          </a:p>
        </p:txBody>
      </p:sp>
      <p:sp>
        <p:nvSpPr>
          <p:cNvPr id="4" name="Slide Number Placeholder 3"/>
          <p:cNvSpPr>
            <a:spLocks noGrp="1"/>
          </p:cNvSpPr>
          <p:nvPr>
            <p:ph type="sldNum" sz="quarter" idx="5"/>
          </p:nvPr>
        </p:nvSpPr>
        <p:spPr/>
        <p:txBody>
          <a:bodyPr/>
          <a:lstStyle/>
          <a:p>
            <a:pPr>
              <a:defRPr/>
            </a:pPr>
            <a:fld id="{5B90836E-2851-478D-B8E0-4CBCFBE2CBFD}" type="slidenum">
              <a:rPr lang="en-US" smtClean="0"/>
              <a:pPr>
                <a:defRPr/>
              </a:pPr>
              <a:t>32</a:t>
            </a:fld>
            <a:endParaRPr lang="en-US"/>
          </a:p>
        </p:txBody>
      </p:sp>
    </p:spTree>
    <p:extLst>
      <p:ext uri="{BB962C8B-B14F-4D97-AF65-F5344CB8AC3E}">
        <p14:creationId xmlns:p14="http://schemas.microsoft.com/office/powerpoint/2010/main" val="17119307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pPr>
              <a:defRPr/>
            </a:pPr>
            <a:fld id="{5B90836E-2851-478D-B8E0-4CBCFBE2CBFD}" type="slidenum">
              <a:rPr lang="en-US" smtClean="0"/>
              <a:pPr>
                <a:defRPr/>
              </a:pPr>
              <a:t>33</a:t>
            </a:fld>
            <a:endParaRPr lang="en-US"/>
          </a:p>
        </p:txBody>
      </p:sp>
    </p:spTree>
    <p:extLst>
      <p:ext uri="{BB962C8B-B14F-4D97-AF65-F5344CB8AC3E}">
        <p14:creationId xmlns:p14="http://schemas.microsoft.com/office/powerpoint/2010/main" val="40570680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In orig CFG N = 8, E = 9   McCabe = E-N+2 = 3</a:t>
            </a:r>
          </a:p>
        </p:txBody>
      </p:sp>
      <p:sp>
        <p:nvSpPr>
          <p:cNvPr id="4" name="Slide Number Placeholder 3"/>
          <p:cNvSpPr>
            <a:spLocks noGrp="1"/>
          </p:cNvSpPr>
          <p:nvPr>
            <p:ph type="sldNum" sz="quarter" idx="5"/>
          </p:nvPr>
        </p:nvSpPr>
        <p:spPr/>
        <p:txBody>
          <a:bodyPr/>
          <a:lstStyle/>
          <a:p>
            <a:pPr>
              <a:defRPr/>
            </a:pPr>
            <a:fld id="{5B90836E-2851-478D-B8E0-4CBCFBE2CBFD}" type="slidenum">
              <a:rPr lang="en-US" smtClean="0"/>
              <a:pPr>
                <a:defRPr/>
              </a:pPr>
              <a:t>34</a:t>
            </a:fld>
            <a:endParaRPr lang="en-US"/>
          </a:p>
        </p:txBody>
      </p:sp>
    </p:spTree>
    <p:extLst>
      <p:ext uri="{BB962C8B-B14F-4D97-AF65-F5344CB8AC3E}">
        <p14:creationId xmlns:p14="http://schemas.microsoft.com/office/powerpoint/2010/main" val="39434656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pPr>
              <a:defRPr/>
            </a:pPr>
            <a:fld id="{5B90836E-2851-478D-B8E0-4CBCFBE2CBFD}" type="slidenum">
              <a:rPr lang="en-US" smtClean="0"/>
              <a:pPr>
                <a:defRPr/>
              </a:pPr>
              <a:t>35</a:t>
            </a:fld>
            <a:endParaRPr lang="en-US"/>
          </a:p>
        </p:txBody>
      </p:sp>
    </p:spTree>
    <p:extLst>
      <p:ext uri="{BB962C8B-B14F-4D97-AF65-F5344CB8AC3E}">
        <p14:creationId xmlns:p14="http://schemas.microsoft.com/office/powerpoint/2010/main" val="1186672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pPr>
              <a:defRPr/>
            </a:pPr>
            <a:fld id="{5B90836E-2851-478D-B8E0-4CBCFBE2CBFD}" type="slidenum">
              <a:rPr lang="en-US" smtClean="0"/>
              <a:pPr>
                <a:defRPr/>
              </a:pPr>
              <a:t>36</a:t>
            </a:fld>
            <a:endParaRPr lang="en-US"/>
          </a:p>
        </p:txBody>
      </p:sp>
    </p:spTree>
    <p:extLst>
      <p:ext uri="{BB962C8B-B14F-4D97-AF65-F5344CB8AC3E}">
        <p14:creationId xmlns:p14="http://schemas.microsoft.com/office/powerpoint/2010/main" val="35095580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pPr>
              <a:defRPr/>
            </a:pPr>
            <a:fld id="{5B90836E-2851-478D-B8E0-4CBCFBE2CBFD}" type="slidenum">
              <a:rPr lang="en-US" smtClean="0"/>
              <a:pPr>
                <a:defRPr/>
              </a:pPr>
              <a:t>37</a:t>
            </a:fld>
            <a:endParaRPr lang="en-US"/>
          </a:p>
        </p:txBody>
      </p:sp>
    </p:spTree>
    <p:extLst>
      <p:ext uri="{BB962C8B-B14F-4D97-AF65-F5344CB8AC3E}">
        <p14:creationId xmlns:p14="http://schemas.microsoft.com/office/powerpoint/2010/main" val="41881187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p:spPr>
      </p:sp>
      <p:sp>
        <p:nvSpPr>
          <p:cNvPr id="48131"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First line may throw file-not-exists exception</a:t>
            </a:r>
          </a:p>
          <a:p>
            <a:r>
              <a:rPr lang="en-US"/>
              <a:t>2</a:t>
            </a:r>
            <a:r>
              <a:rPr lang="en-US" baseline="30000"/>
              <a:t>nd</a:t>
            </a:r>
            <a:r>
              <a:rPr lang="en-US"/>
              <a:t> line may throw an exception if the file does not contain an int</a:t>
            </a:r>
          </a:p>
          <a:p>
            <a:r>
              <a:rPr lang="en-US"/>
              <a:t>3</a:t>
            </a:r>
            <a:r>
              <a:rPr lang="en-US" baseline="30000"/>
              <a:t>rd</a:t>
            </a:r>
            <a:r>
              <a:rPr lang="en-US"/>
              <a:t> line throws an exception if x is 0</a:t>
            </a:r>
          </a:p>
        </p:txBody>
      </p:sp>
      <p:sp>
        <p:nvSpPr>
          <p:cNvPr id="4813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A0865316-948F-4C3D-B72C-098DB267E9E4}" type="slidenum">
              <a:rPr lang="en-US" smtClean="0">
                <a:latin typeface="Arial" charset="0"/>
                <a:cs typeface="Arial" charset="0"/>
              </a:rPr>
              <a:pPr/>
              <a:t>44</a:t>
            </a:fld>
            <a:endParaRPr lang="en-US">
              <a:latin typeface="Arial" charset="0"/>
              <a:cs typeface="Arial" charset="0"/>
            </a:endParaRPr>
          </a:p>
        </p:txBody>
      </p:sp>
    </p:spTree>
    <p:extLst>
      <p:ext uri="{BB962C8B-B14F-4D97-AF65-F5344CB8AC3E}">
        <p14:creationId xmlns:p14="http://schemas.microsoft.com/office/powerpoint/2010/main" val="13125867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5B90836E-2851-478D-B8E0-4CBCFBE2CBFD}" type="slidenum">
              <a:rPr lang="en-US" smtClean="0"/>
              <a:pPr>
                <a:defRPr/>
              </a:pPr>
              <a:t>45</a:t>
            </a:fld>
            <a:endParaRPr lang="en-US"/>
          </a:p>
        </p:txBody>
      </p:sp>
    </p:spTree>
    <p:extLst>
      <p:ext uri="{BB962C8B-B14F-4D97-AF65-F5344CB8AC3E}">
        <p14:creationId xmlns:p14="http://schemas.microsoft.com/office/powerpoint/2010/main" val="2029439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00174"/>
            <a:ext cx="7772400" cy="2357454"/>
          </a:xfrm>
          <a:noFill/>
          <a:ln w="12700">
            <a:solidFill>
              <a:schemeClr val="accent1"/>
            </a:solidFill>
          </a:ln>
        </p:spPr>
        <p:txBody>
          <a:bodyPr/>
          <a:lstStyle/>
          <a:p>
            <a:r>
              <a:rPr lang="en-US"/>
              <a:t>Click to edit Master title style</a:t>
            </a:r>
          </a:p>
        </p:txBody>
      </p:sp>
      <p:sp>
        <p:nvSpPr>
          <p:cNvPr id="3" name="Subtitle 2"/>
          <p:cNvSpPr>
            <a:spLocks noGrp="1"/>
          </p:cNvSpPr>
          <p:nvPr>
            <p:ph type="subTitle" idx="1"/>
          </p:nvPr>
        </p:nvSpPr>
        <p:spPr>
          <a:xfrm>
            <a:off x="1371600" y="4071942"/>
            <a:ext cx="6400800" cy="1785950"/>
          </a:xfrm>
        </p:spPr>
        <p:txBody>
          <a:bodyPr/>
          <a:lstStyle>
            <a:lvl1pPr marL="0" indent="0" algn="ctr">
              <a:buNone/>
              <a:defRPr i="1">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5D33409A-25FE-4109-8E78-37625A8B6F97}" type="datetime1">
              <a:rPr lang="nl-NL"/>
              <a:pPr>
                <a:defRPr/>
              </a:pPr>
              <a:t>23-04-2026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2D9F5D8-462E-4ACF-B8EB-087CC4D78504}"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ln w="12700">
            <a:solidFill>
              <a:schemeClr val="accent1"/>
            </a:solidFill>
          </a:ln>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AE0E1F4-3980-4683-BFC7-C041DF09CEDB}" type="datetime1">
              <a:rPr lang="nl-NL"/>
              <a:pPr>
                <a:defRPr/>
              </a:pPr>
              <a:t>23-04-2026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7C0A3F7-46F3-44CF-95B7-0304031AA6EA}"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6061425D-7C7B-4678-AF56-2E612DB3BDB7}" type="datetime1">
              <a:rPr lang="nl-NL"/>
              <a:pPr>
                <a:defRPr/>
              </a:pPr>
              <a:t>23-04-2026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6878159-0280-4A82-BF76-E063A94B63EC}"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768A6B46-E442-455A-BB0E-C3932D34353A}" type="datetime1">
              <a:rPr lang="nl-NL"/>
              <a:pPr>
                <a:defRPr/>
              </a:pPr>
              <a:t>23-04-2026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F20AC3BE-9096-4F65-8B7F-D5AB7EFAB95A}"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2C876388-635E-4BAD-A423-C019543B48E4}" type="datetime1">
              <a:rPr lang="nl-NL"/>
              <a:pPr>
                <a:defRPr/>
              </a:pPr>
              <a:t>23-04-2026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734C4AC8-A0C1-48A8-B522-E77B8AE4A45B}"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accent1"/>
            </a:solidFill>
          </a:ln>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308895EE-1BC2-4353-BF56-8453CC72238F}" type="datetime1">
              <a:rPr lang="nl-NL"/>
              <a:pPr>
                <a:defRPr/>
              </a:pPr>
              <a:t>23-04-2026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0B228F9F-9008-47A2-915A-C3E5237B402B}"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4451E057-9197-4B40-87F0-9647760E572E}" type="datetime1">
              <a:rPr lang="nl-NL"/>
              <a:pPr>
                <a:defRPr/>
              </a:pPr>
              <a:t>23-04-2026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1B4B2B1F-F488-4076-AE43-3CB0EFD80938}"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9C6AB82B-3BF3-4F3A-840A-E2257465C6A9}" type="datetime1">
              <a:rPr lang="nl-NL"/>
              <a:pPr>
                <a:defRPr/>
              </a:pPr>
              <a:t>23-04-2026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0F7C8FC-FCD8-4B77-BC95-C609B7424A93}"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CC372CCF-1A5F-4EF1-9708-79F5B124FD0B}" type="datetime1">
              <a:rPr lang="nl-NL"/>
              <a:pPr>
                <a:defRPr/>
              </a:pPr>
              <a:t>23-04-2026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64E71BB-D4C3-4E1A-8B62-09A36B1FDB4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4900629-17C6-4A24-9917-85EECFDC1E55}" type="datetime1">
              <a:rPr lang="nl-NL"/>
              <a:pPr>
                <a:defRPr/>
              </a:pPr>
              <a:t>23-04-2026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7B6E323-6A73-4F5B-91EA-AADD51F226F7}"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A302EBD-28A6-4156-946F-A7634DB80FE8}" type="datetime1">
              <a:rPr lang="nl-NL"/>
              <a:pPr>
                <a:defRPr/>
              </a:pPr>
              <a:t>23-04-2026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13DE84A-FED6-4735-8998-E3A91CA3ED59}"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63B06ED1-6B67-4AAE-9BB5-E261F8C43FE8}" type="datetime1">
              <a:rPr lang="nl-NL"/>
              <a:pPr>
                <a:defRPr/>
              </a:pPr>
              <a:t>23-04-2026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565EDA32-AE03-4693-A202-E3615CB275DA}"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685800" y="1500188"/>
            <a:ext cx="7772400" cy="2357437"/>
          </a:xfrm>
        </p:spPr>
        <p:txBody>
          <a:bodyPr/>
          <a:lstStyle/>
          <a:p>
            <a:pPr eaLnBrk="1" hangingPunct="1"/>
            <a:r>
              <a:rPr lang="en-US" dirty="0"/>
              <a:t>Graph-based Test Coverage</a:t>
            </a:r>
            <a:br>
              <a:rPr lang="en-US" dirty="0"/>
            </a:br>
            <a:r>
              <a:rPr lang="en-US" dirty="0"/>
              <a:t>(A&amp;O Ch. 1, 2.1 – 2.3)</a:t>
            </a:r>
            <a:br>
              <a:rPr lang="en-US" dirty="0"/>
            </a:br>
            <a:r>
              <a:rPr lang="en-US" sz="2400" dirty="0"/>
              <a:t>(2</a:t>
            </a:r>
            <a:r>
              <a:rPr lang="en-US" sz="2400" baseline="30000" dirty="0"/>
              <a:t>nd</a:t>
            </a:r>
            <a:r>
              <a:rPr lang="en-US" sz="2400" dirty="0"/>
              <a:t> Ed: 2,3,5,7.1 – 7.3)</a:t>
            </a:r>
            <a:endParaRPr lang="en-US" dirty="0"/>
          </a:p>
        </p:txBody>
      </p:sp>
      <p:sp>
        <p:nvSpPr>
          <p:cNvPr id="3" name="Subtitle 2"/>
          <p:cNvSpPr>
            <a:spLocks noGrp="1"/>
          </p:cNvSpPr>
          <p:nvPr>
            <p:ph type="subTitle" idx="1"/>
          </p:nvPr>
        </p:nvSpPr>
        <p:spPr>
          <a:xfrm>
            <a:off x="1371600" y="4071938"/>
            <a:ext cx="6400800" cy="1785937"/>
          </a:xfrm>
        </p:spPr>
        <p:txBody>
          <a:bodyPr rtlCol="0">
            <a:normAutofit fontScale="92500"/>
          </a:bodyPr>
          <a:lstStyle/>
          <a:p>
            <a:pPr eaLnBrk="1" fontAlgn="auto" hangingPunct="1">
              <a:spcAft>
                <a:spcPts val="0"/>
              </a:spcAft>
              <a:buFont typeface="Arial" pitchFamily="34" charset="0"/>
              <a:buNone/>
              <a:defRPr/>
            </a:pPr>
            <a:r>
              <a:rPr lang="en-US" dirty="0"/>
              <a:t>Course Software Testing &amp; Verification</a:t>
            </a:r>
          </a:p>
          <a:p>
            <a:pPr eaLnBrk="1" fontAlgn="auto" hangingPunct="1">
              <a:spcAft>
                <a:spcPts val="0"/>
              </a:spcAft>
              <a:buFont typeface="Arial" pitchFamily="34" charset="0"/>
              <a:buNone/>
              <a:defRPr/>
            </a:pPr>
            <a:r>
              <a:rPr lang="en-US" dirty="0"/>
              <a:t>2024/25</a:t>
            </a:r>
          </a:p>
          <a:p>
            <a:pPr eaLnBrk="1" fontAlgn="auto" hangingPunct="1">
              <a:spcAft>
                <a:spcPts val="0"/>
              </a:spcAft>
              <a:buFont typeface="Arial" pitchFamily="34" charset="0"/>
              <a:buNone/>
              <a:defRPr/>
            </a:pPr>
            <a:r>
              <a:rPr lang="en-US" dirty="0" err="1"/>
              <a:t>Wishnu</a:t>
            </a:r>
            <a:r>
              <a:rPr lang="en-US" dirty="0"/>
              <a:t> </a:t>
            </a:r>
            <a:r>
              <a:rPr lang="en-US" dirty="0" err="1"/>
              <a:t>Prasetya</a:t>
            </a:r>
            <a:r>
              <a:rPr lang="en-US" dirty="0"/>
              <a:t> &amp; Gabriele Keller</a:t>
            </a:r>
          </a:p>
          <a:p>
            <a:pPr eaLnBrk="1" fontAlgn="auto" hangingPunct="1">
              <a:spcAft>
                <a:spcPts val="0"/>
              </a:spcAft>
              <a:buFont typeface="Arial" pitchFamily="34" charset="0"/>
              <a:buNone/>
              <a:defRPr/>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71040-7319-A449-83A1-91F545A432F1}"/>
              </a:ext>
            </a:extLst>
          </p:cNvPr>
          <p:cNvSpPr>
            <a:spLocks noGrp="1"/>
          </p:cNvSpPr>
          <p:nvPr>
            <p:ph type="title"/>
          </p:nvPr>
        </p:nvSpPr>
        <p:spPr/>
        <p:txBody>
          <a:bodyPr/>
          <a:lstStyle/>
          <a:p>
            <a:r>
              <a:rPr lang="en-US" dirty="0"/>
              <a:t>Plan</a:t>
            </a:r>
          </a:p>
        </p:txBody>
      </p:sp>
      <p:sp>
        <p:nvSpPr>
          <p:cNvPr id="3" name="Content Placeholder 2">
            <a:extLst>
              <a:ext uri="{FF2B5EF4-FFF2-40B4-BE49-F238E27FC236}">
                <a16:creationId xmlns:a16="http://schemas.microsoft.com/office/drawing/2014/main" id="{F4FB4E62-7DD3-3E42-88A9-E0B243164C7A}"/>
              </a:ext>
            </a:extLst>
          </p:cNvPr>
          <p:cNvSpPr>
            <a:spLocks noGrp="1"/>
          </p:cNvSpPr>
          <p:nvPr>
            <p:ph idx="1"/>
          </p:nvPr>
        </p:nvSpPr>
        <p:spPr>
          <a:xfrm>
            <a:off x="457200" y="1844824"/>
            <a:ext cx="8229600" cy="4281339"/>
          </a:xfrm>
        </p:spPr>
        <p:txBody>
          <a:bodyPr/>
          <a:lstStyle/>
          <a:p>
            <a:r>
              <a:rPr lang="en-US" dirty="0"/>
              <a:t>The concept of “test coverage”</a:t>
            </a:r>
          </a:p>
          <a:p>
            <a:r>
              <a:rPr lang="en-US" dirty="0"/>
              <a:t>Graph-based coverage</a:t>
            </a:r>
          </a:p>
          <a:p>
            <a:r>
              <a:rPr lang="en-US" dirty="0"/>
              <a:t>Constructing CFG from code</a:t>
            </a:r>
          </a:p>
          <a:p>
            <a:endParaRPr lang="en-US" dirty="0"/>
          </a:p>
        </p:txBody>
      </p:sp>
      <p:sp>
        <p:nvSpPr>
          <p:cNvPr id="4" name="Slide Number Placeholder 3">
            <a:extLst>
              <a:ext uri="{FF2B5EF4-FFF2-40B4-BE49-F238E27FC236}">
                <a16:creationId xmlns:a16="http://schemas.microsoft.com/office/drawing/2014/main" id="{858F109F-3C78-1846-858E-BA0F9DE6467F}"/>
              </a:ext>
            </a:extLst>
          </p:cNvPr>
          <p:cNvSpPr>
            <a:spLocks noGrp="1"/>
          </p:cNvSpPr>
          <p:nvPr>
            <p:ph type="sldNum" sz="quarter" idx="12"/>
          </p:nvPr>
        </p:nvSpPr>
        <p:spPr/>
        <p:txBody>
          <a:bodyPr/>
          <a:lstStyle/>
          <a:p>
            <a:pPr>
              <a:defRPr/>
            </a:pPr>
            <a:fld id="{F7C0A3F7-46F3-44CF-95B7-0304031AA6EA}" type="slidenum">
              <a:rPr lang="en-US" smtClean="0"/>
              <a:pPr>
                <a:defRPr/>
              </a:pPr>
              <a:t>2</a:t>
            </a:fld>
            <a:endParaRPr lang="en-US"/>
          </a:p>
        </p:txBody>
      </p:sp>
      <p:sp>
        <p:nvSpPr>
          <p:cNvPr id="5" name="TextBox 4">
            <a:extLst>
              <a:ext uri="{FF2B5EF4-FFF2-40B4-BE49-F238E27FC236}">
                <a16:creationId xmlns:a16="http://schemas.microsoft.com/office/drawing/2014/main" id="{AFF26865-F8BF-1148-9028-F5A4DC58EC35}"/>
              </a:ext>
            </a:extLst>
          </p:cNvPr>
          <p:cNvSpPr txBox="1"/>
          <p:nvPr/>
        </p:nvSpPr>
        <p:spPr>
          <a:xfrm>
            <a:off x="457200" y="5833130"/>
            <a:ext cx="8217426" cy="523220"/>
          </a:xfrm>
          <a:prstGeom prst="rect">
            <a:avLst/>
          </a:prstGeom>
          <a:noFill/>
        </p:spPr>
        <p:txBody>
          <a:bodyPr wrap="square" rtlCol="0">
            <a:spAutoFit/>
          </a:bodyPr>
          <a:lstStyle/>
          <a:p>
            <a:r>
              <a:rPr lang="en-US" sz="1400" b="1" dirty="0"/>
              <a:t>Note</a:t>
            </a:r>
            <a:r>
              <a:rPr lang="en-US" sz="1400" dirty="0"/>
              <a:t>: graph-based coverage is probably the most well known concept of coverage after line coverage. It is a </a:t>
            </a:r>
            <a:r>
              <a:rPr lang="en-US" sz="1400"/>
              <a:t>good foundation </a:t>
            </a:r>
            <a:r>
              <a:rPr lang="en-US" sz="1400" dirty="0"/>
              <a:t>towards more advanced concept of coverage.</a:t>
            </a:r>
          </a:p>
        </p:txBody>
      </p:sp>
    </p:spTree>
    <p:extLst>
      <p:ext uri="{BB962C8B-B14F-4D97-AF65-F5344CB8AC3E}">
        <p14:creationId xmlns:p14="http://schemas.microsoft.com/office/powerpoint/2010/main" val="1776381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053B0-3D12-604E-82DF-093E790F97E5}"/>
              </a:ext>
            </a:extLst>
          </p:cNvPr>
          <p:cNvSpPr>
            <a:spLocks noGrp="1"/>
          </p:cNvSpPr>
          <p:nvPr>
            <p:ph type="title"/>
          </p:nvPr>
        </p:nvSpPr>
        <p:spPr/>
        <p:txBody>
          <a:bodyPr/>
          <a:lstStyle/>
          <a:p>
            <a:r>
              <a:rPr lang="en-US" dirty="0"/>
              <a:t>Are we good now?</a:t>
            </a:r>
          </a:p>
        </p:txBody>
      </p:sp>
      <p:sp>
        <p:nvSpPr>
          <p:cNvPr id="3" name="Content Placeholder 2">
            <a:extLst>
              <a:ext uri="{FF2B5EF4-FFF2-40B4-BE49-F238E27FC236}">
                <a16:creationId xmlns:a16="http://schemas.microsoft.com/office/drawing/2014/main" id="{BD8379AA-AB91-0B42-9FBD-18D6032A29FC}"/>
              </a:ext>
            </a:extLst>
          </p:cNvPr>
          <p:cNvSpPr>
            <a:spLocks noGrp="1"/>
          </p:cNvSpPr>
          <p:nvPr>
            <p:ph idx="1"/>
          </p:nvPr>
        </p:nvSpPr>
        <p:spPr/>
        <p:txBody>
          <a:bodyPr/>
          <a:lstStyle/>
          <a:p>
            <a:r>
              <a:rPr lang="en-US" dirty="0"/>
              <a:t>So now you know how to write tests (at least, unit tests).</a:t>
            </a:r>
          </a:p>
          <a:p>
            <a:r>
              <a:rPr lang="en-US" dirty="0"/>
              <a:t>Next, you came up with a bunch of tests.</a:t>
            </a:r>
          </a:p>
          <a:p>
            <a:r>
              <a:rPr lang="en-US" dirty="0"/>
              <a:t>Question: are these tests “enough” ? </a:t>
            </a:r>
          </a:p>
        </p:txBody>
      </p:sp>
      <p:sp>
        <p:nvSpPr>
          <p:cNvPr id="4" name="Slide Number Placeholder 3">
            <a:extLst>
              <a:ext uri="{FF2B5EF4-FFF2-40B4-BE49-F238E27FC236}">
                <a16:creationId xmlns:a16="http://schemas.microsoft.com/office/drawing/2014/main" id="{17DBA1E2-F5B2-B242-90C2-9CAF3F921FCB}"/>
              </a:ext>
            </a:extLst>
          </p:cNvPr>
          <p:cNvSpPr>
            <a:spLocks noGrp="1"/>
          </p:cNvSpPr>
          <p:nvPr>
            <p:ph type="sldNum" sz="quarter" idx="12"/>
          </p:nvPr>
        </p:nvSpPr>
        <p:spPr/>
        <p:txBody>
          <a:bodyPr/>
          <a:lstStyle/>
          <a:p>
            <a:pPr>
              <a:defRPr/>
            </a:pPr>
            <a:fld id="{F7C0A3F7-46F3-44CF-95B7-0304031AA6EA}" type="slidenum">
              <a:rPr lang="en-US" smtClean="0"/>
              <a:pPr>
                <a:defRPr/>
              </a:pPr>
              <a:t>3</a:t>
            </a:fld>
            <a:endParaRPr lang="en-US"/>
          </a:p>
        </p:txBody>
      </p:sp>
    </p:spTree>
    <p:extLst>
      <p:ext uri="{BB962C8B-B14F-4D97-AF65-F5344CB8AC3E}">
        <p14:creationId xmlns:p14="http://schemas.microsoft.com/office/powerpoint/2010/main" val="1997095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E78BCB04-9F51-3542-B9B4-A6F08AA714F9}"/>
              </a:ext>
            </a:extLst>
          </p:cNvPr>
          <p:cNvSpPr/>
          <p:nvPr/>
        </p:nvSpPr>
        <p:spPr>
          <a:xfrm>
            <a:off x="457200" y="3284984"/>
            <a:ext cx="8229600" cy="1800200"/>
          </a:xfrm>
          <a:prstGeom prst="roundRect">
            <a:avLst>
              <a:gd name="adj" fmla="val 21428"/>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B54063-5E6C-8F4B-B651-3C458C34F1BB}"/>
              </a:ext>
            </a:extLst>
          </p:cNvPr>
          <p:cNvSpPr>
            <a:spLocks noGrp="1"/>
          </p:cNvSpPr>
          <p:nvPr>
            <p:ph type="title"/>
          </p:nvPr>
        </p:nvSpPr>
        <p:spPr/>
        <p:txBody>
          <a:bodyPr/>
          <a:lstStyle/>
          <a:p>
            <a:r>
              <a:rPr lang="en-US" dirty="0"/>
              <a:t>Test Coverage</a:t>
            </a:r>
          </a:p>
        </p:txBody>
      </p:sp>
      <p:sp>
        <p:nvSpPr>
          <p:cNvPr id="3" name="Content Placeholder 2">
            <a:extLst>
              <a:ext uri="{FF2B5EF4-FFF2-40B4-BE49-F238E27FC236}">
                <a16:creationId xmlns:a16="http://schemas.microsoft.com/office/drawing/2014/main" id="{37199BA3-FF79-A342-A24C-6A92231E83B1}"/>
              </a:ext>
            </a:extLst>
          </p:cNvPr>
          <p:cNvSpPr>
            <a:spLocks noGrp="1"/>
          </p:cNvSpPr>
          <p:nvPr>
            <p:ph idx="1"/>
          </p:nvPr>
        </p:nvSpPr>
        <p:spPr>
          <a:xfrm>
            <a:off x="457200" y="1600200"/>
            <a:ext cx="8229600" cy="4525963"/>
          </a:xfrm>
        </p:spPr>
        <p:txBody>
          <a:bodyPr/>
          <a:lstStyle/>
          <a:p>
            <a:pPr marL="0" indent="0">
              <a:buNone/>
            </a:pPr>
            <a:r>
              <a:rPr lang="en-US" sz="2800" dirty="0"/>
              <a:t>Doing more tests improves the completeness of our testing, but at some point we have to stop (e.g. we run out of money). Let’s try to provide a measure:</a:t>
            </a:r>
          </a:p>
          <a:p>
            <a:pPr marL="0" indent="0">
              <a:buNone/>
            </a:pPr>
            <a:r>
              <a:rPr lang="en-US" sz="2800" dirty="0"/>
              <a:t> </a:t>
            </a:r>
          </a:p>
          <a:p>
            <a:pPr marL="0" indent="0" algn="ctr">
              <a:buNone/>
            </a:pPr>
            <a:r>
              <a:rPr lang="en-US" sz="2800" dirty="0"/>
              <a:t>Test coverage: a </a:t>
            </a:r>
            <a:r>
              <a:rPr lang="en-US" sz="2800" i="1" dirty="0">
                <a:solidFill>
                  <a:schemeClr val="accent1">
                    <a:lumMod val="50000"/>
                  </a:schemeClr>
                </a:solidFill>
              </a:rPr>
              <a:t>measure</a:t>
            </a:r>
            <a:r>
              <a:rPr lang="en-US" sz="2800" dirty="0"/>
              <a:t> to compare the relative completeness of our testing (e.g. to say that a “test set” T</a:t>
            </a:r>
            <a:r>
              <a:rPr lang="en-US" sz="2800" baseline="-25000" dirty="0"/>
              <a:t>1</a:t>
            </a:r>
            <a:r>
              <a:rPr lang="en-US" sz="2800" dirty="0"/>
              <a:t> is relatively more complete than another set T</a:t>
            </a:r>
            <a:r>
              <a:rPr lang="en-US" sz="2800" baseline="-25000" dirty="0"/>
              <a:t>2</a:t>
            </a:r>
            <a:r>
              <a:rPr lang="en-US" sz="2800" dirty="0"/>
              <a:t>).</a:t>
            </a:r>
          </a:p>
          <a:p>
            <a:pPr marL="0" indent="0" algn="ctr">
              <a:buNone/>
            </a:pPr>
            <a:endParaRPr lang="en-US" sz="2800" dirty="0"/>
          </a:p>
          <a:p>
            <a:pPr marL="0" indent="0" algn="ctr">
              <a:buNone/>
            </a:pPr>
            <a:r>
              <a:rPr lang="en-US" sz="2800" dirty="0"/>
              <a:t>As a measure, it is </a:t>
            </a:r>
            <a:r>
              <a:rPr lang="en-US" sz="2800" i="1" dirty="0">
                <a:solidFill>
                  <a:schemeClr val="accent1">
                    <a:lumMod val="50000"/>
                  </a:schemeClr>
                </a:solidFill>
              </a:rPr>
              <a:t>quantitative</a:t>
            </a:r>
            <a:r>
              <a:rPr lang="en-US" sz="2800" dirty="0"/>
              <a:t>.</a:t>
            </a:r>
          </a:p>
        </p:txBody>
      </p:sp>
      <p:sp>
        <p:nvSpPr>
          <p:cNvPr id="4" name="Slide Number Placeholder 3">
            <a:extLst>
              <a:ext uri="{FF2B5EF4-FFF2-40B4-BE49-F238E27FC236}">
                <a16:creationId xmlns:a16="http://schemas.microsoft.com/office/drawing/2014/main" id="{302F4EF3-F15D-5842-8078-825DFE1A3AAC}"/>
              </a:ext>
            </a:extLst>
          </p:cNvPr>
          <p:cNvSpPr>
            <a:spLocks noGrp="1"/>
          </p:cNvSpPr>
          <p:nvPr>
            <p:ph type="sldNum" sz="quarter" idx="12"/>
          </p:nvPr>
        </p:nvSpPr>
        <p:spPr/>
        <p:txBody>
          <a:bodyPr/>
          <a:lstStyle/>
          <a:p>
            <a:pPr>
              <a:defRPr/>
            </a:pPr>
            <a:fld id="{F7C0A3F7-46F3-44CF-95B7-0304031AA6EA}" type="slidenum">
              <a:rPr lang="en-US" smtClean="0"/>
              <a:pPr>
                <a:defRPr/>
              </a:pPr>
              <a:t>4</a:t>
            </a:fld>
            <a:endParaRPr lang="en-US"/>
          </a:p>
        </p:txBody>
      </p:sp>
    </p:spTree>
    <p:extLst>
      <p:ext uri="{BB962C8B-B14F-4D97-AF65-F5344CB8AC3E}">
        <p14:creationId xmlns:p14="http://schemas.microsoft.com/office/powerpoint/2010/main" val="34989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F934AC99-80B9-7847-B02D-81BE80F7C585}"/>
              </a:ext>
            </a:extLst>
          </p:cNvPr>
          <p:cNvSpPr/>
          <p:nvPr/>
        </p:nvSpPr>
        <p:spPr>
          <a:xfrm>
            <a:off x="3099859" y="1525271"/>
            <a:ext cx="2664296" cy="2884713"/>
          </a:xfrm>
          <a:prstGeom prst="roundRect">
            <a:avLst>
              <a:gd name="adj" fmla="val 13785"/>
            </a:avLst>
          </a:prstGeom>
          <a:solidFill>
            <a:schemeClr val="accent6">
              <a:lumMod val="60000"/>
              <a:lumOff val="40000"/>
              <a:alpha val="2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2" name="Title 1"/>
          <p:cNvSpPr>
            <a:spLocks noGrp="1"/>
          </p:cNvSpPr>
          <p:nvPr>
            <p:ph type="title"/>
          </p:nvPr>
        </p:nvSpPr>
        <p:spPr/>
        <p:txBody>
          <a:bodyPr/>
          <a:lstStyle/>
          <a:p>
            <a:pPr eaLnBrk="1" hangingPunct="1"/>
            <a:r>
              <a:rPr lang="en-US" dirty="0"/>
              <a:t>Simple example: line coverage</a:t>
            </a:r>
          </a:p>
        </p:txBody>
      </p:sp>
      <p:sp>
        <p:nvSpPr>
          <p:cNvPr id="10243" name="Content Placeholder 2"/>
          <p:cNvSpPr>
            <a:spLocks noGrp="1"/>
          </p:cNvSpPr>
          <p:nvPr>
            <p:ph idx="1"/>
          </p:nvPr>
        </p:nvSpPr>
        <p:spPr>
          <a:xfrm>
            <a:off x="179512" y="4517618"/>
            <a:ext cx="8856984" cy="1464529"/>
          </a:xfrm>
        </p:spPr>
        <p:txBody>
          <a:bodyPr/>
          <a:lstStyle/>
          <a:p>
            <a:pPr eaLnBrk="1" hangingPunct="1"/>
            <a:r>
              <a:rPr lang="en-US" sz="2400" dirty="0"/>
              <a:t>A </a:t>
            </a:r>
            <a:r>
              <a:rPr lang="en-US" sz="2400" i="1" u="sng" dirty="0"/>
              <a:t>test-case</a:t>
            </a:r>
            <a:r>
              <a:rPr lang="en-US" sz="2400" dirty="0"/>
              <a:t>: another name for a “test”.</a:t>
            </a:r>
          </a:p>
          <a:p>
            <a:pPr eaLnBrk="1" hangingPunct="1"/>
            <a:r>
              <a:rPr lang="en-US" sz="2400" dirty="0"/>
              <a:t>A </a:t>
            </a:r>
            <a:r>
              <a:rPr lang="en-US" sz="2400" i="1" u="sng" dirty="0"/>
              <a:t>test-set</a:t>
            </a:r>
            <a:r>
              <a:rPr lang="en-US" sz="2400" dirty="0"/>
              <a:t> (Def 1.18/2</a:t>
            </a:r>
            <a:r>
              <a:rPr lang="en-US" sz="2400" baseline="30000" dirty="0"/>
              <a:t>nd</a:t>
            </a:r>
            <a:r>
              <a:rPr lang="en-US" sz="2400" dirty="0"/>
              <a:t> Ed 3.20): is just a set of test-cases.</a:t>
            </a:r>
          </a:p>
          <a:p>
            <a:pPr eaLnBrk="1" hangingPunct="1"/>
            <a:r>
              <a:rPr lang="en-US" sz="2400" dirty="0"/>
              <a:t>We can for example require that the test set of foo ”covers” every line in the code of foo. (a test set </a:t>
            </a:r>
            <a:r>
              <a:rPr lang="en-US" sz="2400" b="1" dirty="0"/>
              <a:t>covers</a:t>
            </a:r>
            <a:r>
              <a:rPr lang="en-US" sz="2400" dirty="0"/>
              <a:t> a line, if there is one test case whose execution visits the line)</a:t>
            </a:r>
            <a:endParaRPr lang="en-US" sz="2000" dirty="0"/>
          </a:p>
          <a:p>
            <a:pPr eaLnBrk="1" hangingPunct="1"/>
            <a:endParaRPr lang="en-US" sz="2400" dirty="0"/>
          </a:p>
        </p:txBody>
      </p:sp>
      <p:sp>
        <p:nvSpPr>
          <p:cNvPr id="4" name="Slide Number Placeholder 3"/>
          <p:cNvSpPr>
            <a:spLocks noGrp="1"/>
          </p:cNvSpPr>
          <p:nvPr>
            <p:ph type="sldNum" sz="quarter" idx="12"/>
          </p:nvPr>
        </p:nvSpPr>
        <p:spPr/>
        <p:txBody>
          <a:bodyPr/>
          <a:lstStyle/>
          <a:p>
            <a:pPr>
              <a:defRPr/>
            </a:pPr>
            <a:fld id="{C823D116-DC13-45EB-BEF8-0D99A7E2DF5B}" type="slidenum">
              <a:rPr lang="en-US" smtClean="0"/>
              <a:pPr>
                <a:defRPr/>
              </a:pPr>
              <a:t>5</a:t>
            </a:fld>
            <a:endParaRPr lang="en-US"/>
          </a:p>
        </p:txBody>
      </p:sp>
      <p:sp>
        <p:nvSpPr>
          <p:cNvPr id="5" name="TextBox 4"/>
          <p:cNvSpPr txBox="1"/>
          <p:nvPr/>
        </p:nvSpPr>
        <p:spPr>
          <a:xfrm>
            <a:off x="3347864" y="1628800"/>
            <a:ext cx="2168286" cy="2677656"/>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sz="2400" b="1" dirty="0">
                <a:solidFill>
                  <a:schemeClr val="accent1">
                    <a:lumMod val="50000"/>
                  </a:schemeClr>
                </a:solidFill>
              </a:rPr>
              <a:t>foo</a:t>
            </a:r>
            <a:r>
              <a:rPr lang="en-US" sz="2400" dirty="0"/>
              <a:t>(</a:t>
            </a:r>
            <a:r>
              <a:rPr lang="en-US" sz="2400" dirty="0" err="1"/>
              <a:t>x,y</a:t>
            </a:r>
            <a:r>
              <a:rPr lang="en-US" sz="2400" dirty="0"/>
              <a:t>) { </a:t>
            </a:r>
          </a:p>
          <a:p>
            <a:pPr>
              <a:defRPr/>
            </a:pPr>
            <a:r>
              <a:rPr lang="en-US" sz="2400" dirty="0"/>
              <a:t>    </a:t>
            </a:r>
            <a:r>
              <a:rPr lang="en-US" sz="2400" b="1" dirty="0">
                <a:solidFill>
                  <a:schemeClr val="accent6">
                    <a:lumMod val="75000"/>
                  </a:schemeClr>
                </a:solidFill>
              </a:rPr>
              <a:t>while</a:t>
            </a:r>
            <a:r>
              <a:rPr lang="en-US" sz="2400" dirty="0"/>
              <a:t> (x&gt;y)  </a:t>
            </a:r>
          </a:p>
          <a:p>
            <a:pPr>
              <a:defRPr/>
            </a:pPr>
            <a:r>
              <a:rPr lang="en-US" sz="2400" dirty="0"/>
              <a:t>          x=x-y ; </a:t>
            </a:r>
          </a:p>
          <a:p>
            <a:pPr>
              <a:defRPr/>
            </a:pPr>
            <a:r>
              <a:rPr lang="en-US" sz="2400" dirty="0"/>
              <a:t>     </a:t>
            </a:r>
            <a:r>
              <a:rPr lang="en-US" sz="2400" b="1" dirty="0">
                <a:solidFill>
                  <a:schemeClr val="accent6">
                    <a:lumMod val="75000"/>
                  </a:schemeClr>
                </a:solidFill>
              </a:rPr>
              <a:t>if</a:t>
            </a:r>
            <a:r>
              <a:rPr lang="en-US" sz="2400" dirty="0"/>
              <a:t> (x&lt;y) </a:t>
            </a:r>
          </a:p>
          <a:p>
            <a:pPr>
              <a:defRPr/>
            </a:pPr>
            <a:r>
              <a:rPr lang="en-US" sz="2400" dirty="0"/>
              <a:t>          return -1 </a:t>
            </a:r>
          </a:p>
          <a:p>
            <a:pPr>
              <a:defRPr/>
            </a:pPr>
            <a:r>
              <a:rPr lang="en-US" sz="2400" dirty="0"/>
              <a:t>     </a:t>
            </a:r>
            <a:r>
              <a:rPr lang="en-US" sz="2400" b="1" dirty="0">
                <a:solidFill>
                  <a:schemeClr val="accent6">
                    <a:lumMod val="75000"/>
                  </a:schemeClr>
                </a:solidFill>
              </a:rPr>
              <a:t>else</a:t>
            </a:r>
            <a:r>
              <a:rPr lang="en-US" sz="2400" dirty="0"/>
              <a:t> </a:t>
            </a:r>
          </a:p>
          <a:p>
            <a:pPr>
              <a:defRPr/>
            </a:pPr>
            <a:r>
              <a:rPr lang="en-US" sz="2400" dirty="0"/>
              <a:t>          return x } </a:t>
            </a:r>
          </a:p>
        </p:txBody>
      </p:sp>
    </p:spTree>
    <p:extLst>
      <p:ext uri="{BB962C8B-B14F-4D97-AF65-F5344CB8AC3E}">
        <p14:creationId xmlns:p14="http://schemas.microsoft.com/office/powerpoint/2010/main" val="3756543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dirty="0"/>
              <a:t>Simple example: line coverage</a:t>
            </a:r>
          </a:p>
        </p:txBody>
      </p:sp>
      <p:sp>
        <p:nvSpPr>
          <p:cNvPr id="10243" name="Content Placeholder 2"/>
          <p:cNvSpPr>
            <a:spLocks noGrp="1"/>
          </p:cNvSpPr>
          <p:nvPr>
            <p:ph idx="1"/>
          </p:nvPr>
        </p:nvSpPr>
        <p:spPr/>
        <p:txBody>
          <a:bodyPr/>
          <a:lstStyle/>
          <a:p>
            <a:pPr eaLnBrk="1" hangingPunct="1"/>
            <a:endParaRPr lang="en-US" sz="2400" dirty="0"/>
          </a:p>
          <a:p>
            <a:pPr eaLnBrk="1" hangingPunct="1"/>
            <a:endParaRPr lang="en-US" sz="2400" dirty="0"/>
          </a:p>
        </p:txBody>
      </p:sp>
      <p:sp>
        <p:nvSpPr>
          <p:cNvPr id="4" name="Slide Number Placeholder 3"/>
          <p:cNvSpPr>
            <a:spLocks noGrp="1"/>
          </p:cNvSpPr>
          <p:nvPr>
            <p:ph type="sldNum" sz="quarter" idx="12"/>
          </p:nvPr>
        </p:nvSpPr>
        <p:spPr/>
        <p:txBody>
          <a:bodyPr/>
          <a:lstStyle/>
          <a:p>
            <a:pPr>
              <a:defRPr/>
            </a:pPr>
            <a:fld id="{C823D116-DC13-45EB-BEF8-0D99A7E2DF5B}" type="slidenum">
              <a:rPr lang="en-US" smtClean="0"/>
              <a:pPr>
                <a:defRPr/>
              </a:pPr>
              <a:t>6</a:t>
            </a:fld>
            <a:endParaRPr lang="en-US"/>
          </a:p>
        </p:txBody>
      </p:sp>
      <p:sp>
        <p:nvSpPr>
          <p:cNvPr id="6" name="Content Placeholder 2">
            <a:extLst>
              <a:ext uri="{FF2B5EF4-FFF2-40B4-BE49-F238E27FC236}">
                <a16:creationId xmlns:a16="http://schemas.microsoft.com/office/drawing/2014/main" id="{0B9CFD9E-F84D-2649-A81E-A2F71A83EC97}"/>
              </a:ext>
            </a:extLst>
          </p:cNvPr>
          <p:cNvSpPr txBox="1">
            <a:spLocks/>
          </p:cNvSpPr>
          <p:nvPr/>
        </p:nvSpPr>
        <p:spPr bwMode="auto">
          <a:xfrm>
            <a:off x="1151620" y="4736563"/>
            <a:ext cx="6840760" cy="146452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eaLnBrk="1" hangingPunct="1">
              <a:buNone/>
            </a:pPr>
            <a:r>
              <a:rPr lang="en-US" sz="2400" dirty="0"/>
              <a:t>As a quantitative measure we can talk about:</a:t>
            </a:r>
          </a:p>
          <a:p>
            <a:pPr eaLnBrk="1" hangingPunct="1"/>
            <a:r>
              <a:rPr lang="en-US" sz="2400" dirty="0"/>
              <a:t>Which lines are covered</a:t>
            </a:r>
          </a:p>
          <a:p>
            <a:pPr eaLnBrk="1" hangingPunct="1"/>
            <a:r>
              <a:rPr lang="en-US" sz="2400" dirty="0"/>
              <a:t>How many lines are covered</a:t>
            </a:r>
          </a:p>
          <a:p>
            <a:pPr eaLnBrk="1" hangingPunct="1"/>
            <a:r>
              <a:rPr lang="en-US" sz="2400" dirty="0"/>
              <a:t>Percentage of the lines covered </a:t>
            </a:r>
          </a:p>
        </p:txBody>
      </p:sp>
      <p:sp>
        <p:nvSpPr>
          <p:cNvPr id="8" name="Rounded Rectangle 7">
            <a:extLst>
              <a:ext uri="{FF2B5EF4-FFF2-40B4-BE49-F238E27FC236}">
                <a16:creationId xmlns:a16="http://schemas.microsoft.com/office/drawing/2014/main" id="{D8586703-742A-9D4E-A160-E3643544B138}"/>
              </a:ext>
            </a:extLst>
          </p:cNvPr>
          <p:cNvSpPr/>
          <p:nvPr/>
        </p:nvSpPr>
        <p:spPr>
          <a:xfrm>
            <a:off x="3099859" y="1525271"/>
            <a:ext cx="2664296" cy="2884713"/>
          </a:xfrm>
          <a:prstGeom prst="roundRect">
            <a:avLst>
              <a:gd name="adj" fmla="val 13785"/>
            </a:avLst>
          </a:prstGeom>
          <a:solidFill>
            <a:schemeClr val="accent6">
              <a:lumMod val="60000"/>
              <a:lumOff val="40000"/>
              <a:alpha val="2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25AC8C5-991C-3243-BEDD-AAD657E5506C}"/>
              </a:ext>
            </a:extLst>
          </p:cNvPr>
          <p:cNvSpPr txBox="1"/>
          <p:nvPr/>
        </p:nvSpPr>
        <p:spPr>
          <a:xfrm>
            <a:off x="3347864" y="1628800"/>
            <a:ext cx="2168286" cy="2677656"/>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sz="2400" b="1" dirty="0">
                <a:solidFill>
                  <a:schemeClr val="accent1">
                    <a:lumMod val="50000"/>
                  </a:schemeClr>
                </a:solidFill>
              </a:rPr>
              <a:t>foo</a:t>
            </a:r>
            <a:r>
              <a:rPr lang="en-US" sz="2400" dirty="0"/>
              <a:t>(</a:t>
            </a:r>
            <a:r>
              <a:rPr lang="en-US" sz="2400" dirty="0" err="1"/>
              <a:t>x,y</a:t>
            </a:r>
            <a:r>
              <a:rPr lang="en-US" sz="2400" dirty="0"/>
              <a:t>) { </a:t>
            </a:r>
          </a:p>
          <a:p>
            <a:pPr>
              <a:defRPr/>
            </a:pPr>
            <a:r>
              <a:rPr lang="en-US" sz="2400" dirty="0"/>
              <a:t>    </a:t>
            </a:r>
            <a:r>
              <a:rPr lang="en-US" sz="2400" b="1" dirty="0">
                <a:solidFill>
                  <a:schemeClr val="accent6">
                    <a:lumMod val="75000"/>
                  </a:schemeClr>
                </a:solidFill>
              </a:rPr>
              <a:t>while</a:t>
            </a:r>
            <a:r>
              <a:rPr lang="en-US" sz="2400" dirty="0"/>
              <a:t> (x&gt;y)  </a:t>
            </a:r>
          </a:p>
          <a:p>
            <a:pPr>
              <a:defRPr/>
            </a:pPr>
            <a:r>
              <a:rPr lang="en-US" sz="2400" dirty="0"/>
              <a:t>          x=x-y ; </a:t>
            </a:r>
          </a:p>
          <a:p>
            <a:pPr>
              <a:defRPr/>
            </a:pPr>
            <a:r>
              <a:rPr lang="en-US" sz="2400" dirty="0"/>
              <a:t>     </a:t>
            </a:r>
            <a:r>
              <a:rPr lang="en-US" sz="2400" b="1" dirty="0">
                <a:solidFill>
                  <a:schemeClr val="accent6">
                    <a:lumMod val="75000"/>
                  </a:schemeClr>
                </a:solidFill>
              </a:rPr>
              <a:t>if</a:t>
            </a:r>
            <a:r>
              <a:rPr lang="en-US" sz="2400" dirty="0"/>
              <a:t> (x&lt;y) </a:t>
            </a:r>
          </a:p>
          <a:p>
            <a:pPr>
              <a:defRPr/>
            </a:pPr>
            <a:r>
              <a:rPr lang="en-US" sz="2400" dirty="0"/>
              <a:t>          return -1 </a:t>
            </a:r>
          </a:p>
          <a:p>
            <a:pPr>
              <a:defRPr/>
            </a:pPr>
            <a:r>
              <a:rPr lang="en-US" sz="2400" dirty="0"/>
              <a:t>     </a:t>
            </a:r>
            <a:r>
              <a:rPr lang="en-US" sz="2400" b="1" dirty="0">
                <a:solidFill>
                  <a:schemeClr val="accent6">
                    <a:lumMod val="75000"/>
                  </a:schemeClr>
                </a:solidFill>
              </a:rPr>
              <a:t>else</a:t>
            </a:r>
            <a:r>
              <a:rPr lang="en-US" sz="2400" dirty="0"/>
              <a:t> </a:t>
            </a:r>
          </a:p>
          <a:p>
            <a:pPr>
              <a:defRPr/>
            </a:pPr>
            <a:r>
              <a:rPr lang="en-US" sz="2400" dirty="0"/>
              <a:t>          return x } </a:t>
            </a:r>
          </a:p>
        </p:txBody>
      </p:sp>
    </p:spTree>
    <p:extLst>
      <p:ext uri="{BB962C8B-B14F-4D97-AF65-F5344CB8AC3E}">
        <p14:creationId xmlns:p14="http://schemas.microsoft.com/office/powerpoint/2010/main" val="9148348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dirty="0"/>
              <a:t>Is it a good measure?</a:t>
            </a:r>
          </a:p>
        </p:txBody>
      </p:sp>
      <p:sp>
        <p:nvSpPr>
          <p:cNvPr id="4" name="Slide Number Placeholder 3"/>
          <p:cNvSpPr>
            <a:spLocks noGrp="1"/>
          </p:cNvSpPr>
          <p:nvPr>
            <p:ph type="sldNum" sz="quarter" idx="12"/>
          </p:nvPr>
        </p:nvSpPr>
        <p:spPr/>
        <p:txBody>
          <a:bodyPr/>
          <a:lstStyle/>
          <a:p>
            <a:pPr>
              <a:defRPr/>
            </a:pPr>
            <a:fld id="{C823D116-DC13-45EB-BEF8-0D99A7E2DF5B}" type="slidenum">
              <a:rPr lang="en-US" smtClean="0"/>
              <a:pPr>
                <a:defRPr/>
              </a:pPr>
              <a:t>7</a:t>
            </a:fld>
            <a:endParaRPr lang="en-US"/>
          </a:p>
        </p:txBody>
      </p:sp>
      <p:sp>
        <p:nvSpPr>
          <p:cNvPr id="7" name="TextBox 6">
            <a:extLst>
              <a:ext uri="{FF2B5EF4-FFF2-40B4-BE49-F238E27FC236}">
                <a16:creationId xmlns:a16="http://schemas.microsoft.com/office/drawing/2014/main" id="{6BF71CC3-DC9F-9C45-8C3F-76F098EB5032}"/>
              </a:ext>
            </a:extLst>
          </p:cNvPr>
          <p:cNvSpPr txBox="1"/>
          <p:nvPr/>
        </p:nvSpPr>
        <p:spPr>
          <a:xfrm>
            <a:off x="762000" y="1805123"/>
            <a:ext cx="7620000" cy="461963"/>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sz="2400" b="1" dirty="0" err="1">
                <a:solidFill>
                  <a:schemeClr val="accent1">
                    <a:lumMod val="50000"/>
                  </a:schemeClr>
                </a:solidFill>
              </a:rPr>
              <a:t>foo</a:t>
            </a:r>
            <a:r>
              <a:rPr lang="en-US" sz="2400" dirty="0"/>
              <a:t>(</a:t>
            </a:r>
            <a:r>
              <a:rPr lang="en-US" sz="2400" dirty="0" err="1"/>
              <a:t>x,y</a:t>
            </a:r>
            <a:r>
              <a:rPr lang="en-US" sz="2400" dirty="0"/>
              <a:t>) { </a:t>
            </a:r>
            <a:r>
              <a:rPr lang="en-US" sz="2400" b="1" dirty="0"/>
              <a:t>while</a:t>
            </a:r>
            <a:r>
              <a:rPr lang="en-US" sz="2400" dirty="0"/>
              <a:t> (x&gt;y)  x=x-y ;</a:t>
            </a:r>
            <a:r>
              <a:rPr lang="en-US" sz="2400" b="1" dirty="0"/>
              <a:t> if </a:t>
            </a:r>
            <a:r>
              <a:rPr lang="en-US" sz="2400" dirty="0"/>
              <a:t>(x&lt;y) return -1 </a:t>
            </a:r>
            <a:r>
              <a:rPr lang="en-US" sz="2400" b="1" dirty="0"/>
              <a:t>else</a:t>
            </a:r>
            <a:r>
              <a:rPr lang="en-US" sz="2400" dirty="0"/>
              <a:t> return x } </a:t>
            </a:r>
          </a:p>
        </p:txBody>
      </p:sp>
      <p:sp>
        <p:nvSpPr>
          <p:cNvPr id="2" name="TextBox 1">
            <a:extLst>
              <a:ext uri="{FF2B5EF4-FFF2-40B4-BE49-F238E27FC236}">
                <a16:creationId xmlns:a16="http://schemas.microsoft.com/office/drawing/2014/main" id="{EE695225-8D08-764B-B2FC-F5969826E9B3}"/>
              </a:ext>
            </a:extLst>
          </p:cNvPr>
          <p:cNvSpPr txBox="1"/>
          <p:nvPr/>
        </p:nvSpPr>
        <p:spPr>
          <a:xfrm>
            <a:off x="3291386" y="4441426"/>
            <a:ext cx="5034136" cy="923330"/>
          </a:xfrm>
          <a:prstGeom prst="rect">
            <a:avLst/>
          </a:prstGeom>
          <a:noFill/>
        </p:spPr>
        <p:txBody>
          <a:bodyPr wrap="square" rtlCol="0">
            <a:spAutoFit/>
          </a:bodyPr>
          <a:lstStyle/>
          <a:p>
            <a:r>
              <a:rPr lang="en-US" i="1" dirty="0"/>
              <a:t>A less  trivial example: a test set with full line coverage may miss the scenario where the loop is immediately skipped. </a:t>
            </a:r>
          </a:p>
        </p:txBody>
      </p:sp>
      <p:sp>
        <p:nvSpPr>
          <p:cNvPr id="11" name="TextBox 10">
            <a:extLst>
              <a:ext uri="{FF2B5EF4-FFF2-40B4-BE49-F238E27FC236}">
                <a16:creationId xmlns:a16="http://schemas.microsoft.com/office/drawing/2014/main" id="{0B69C360-C9E8-8544-9DDD-39B7BDD4161D}"/>
              </a:ext>
            </a:extLst>
          </p:cNvPr>
          <p:cNvSpPr txBox="1"/>
          <p:nvPr/>
        </p:nvSpPr>
        <p:spPr>
          <a:xfrm>
            <a:off x="762000" y="2543697"/>
            <a:ext cx="7625432" cy="923330"/>
          </a:xfrm>
          <a:prstGeom prst="rect">
            <a:avLst/>
          </a:prstGeom>
          <a:noFill/>
        </p:spPr>
        <p:txBody>
          <a:bodyPr wrap="square" rtlCol="0">
            <a:spAutoFit/>
          </a:bodyPr>
          <a:lstStyle/>
          <a:p>
            <a:pPr algn="ctr"/>
            <a:r>
              <a:rPr lang="en-US" i="1" dirty="0"/>
              <a:t>A single test will give full line coverage, but this obviously misses testing some logic of foo().</a:t>
            </a:r>
          </a:p>
          <a:p>
            <a:endParaRPr lang="en-US" i="1" dirty="0"/>
          </a:p>
        </p:txBody>
      </p:sp>
      <p:sp>
        <p:nvSpPr>
          <p:cNvPr id="8" name="Rounded Rectangle 7">
            <a:extLst>
              <a:ext uri="{FF2B5EF4-FFF2-40B4-BE49-F238E27FC236}">
                <a16:creationId xmlns:a16="http://schemas.microsoft.com/office/drawing/2014/main" id="{F6C307FF-6F75-934B-B5ED-F2F09EEEB7C5}"/>
              </a:ext>
            </a:extLst>
          </p:cNvPr>
          <p:cNvSpPr/>
          <p:nvPr/>
        </p:nvSpPr>
        <p:spPr>
          <a:xfrm>
            <a:off x="392909" y="3460735"/>
            <a:ext cx="2664296" cy="2884713"/>
          </a:xfrm>
          <a:prstGeom prst="roundRect">
            <a:avLst>
              <a:gd name="adj" fmla="val 13785"/>
            </a:avLst>
          </a:prstGeom>
          <a:solidFill>
            <a:schemeClr val="accent6">
              <a:lumMod val="60000"/>
              <a:lumOff val="40000"/>
              <a:alpha val="2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B96034A-EE8D-674D-A1BA-345C88DD5F12}"/>
              </a:ext>
            </a:extLst>
          </p:cNvPr>
          <p:cNvSpPr txBox="1"/>
          <p:nvPr/>
        </p:nvSpPr>
        <p:spPr>
          <a:xfrm>
            <a:off x="640914" y="3564264"/>
            <a:ext cx="2168286" cy="2677656"/>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sz="2400" b="1" dirty="0">
                <a:solidFill>
                  <a:schemeClr val="accent1">
                    <a:lumMod val="50000"/>
                  </a:schemeClr>
                </a:solidFill>
              </a:rPr>
              <a:t>foo</a:t>
            </a:r>
            <a:r>
              <a:rPr lang="en-US" sz="2400" dirty="0"/>
              <a:t>(</a:t>
            </a:r>
            <a:r>
              <a:rPr lang="en-US" sz="2400" dirty="0" err="1"/>
              <a:t>x,y</a:t>
            </a:r>
            <a:r>
              <a:rPr lang="en-US" sz="2400" dirty="0"/>
              <a:t>) { </a:t>
            </a:r>
          </a:p>
          <a:p>
            <a:pPr>
              <a:defRPr/>
            </a:pPr>
            <a:r>
              <a:rPr lang="en-US" sz="2400" dirty="0"/>
              <a:t>    </a:t>
            </a:r>
            <a:r>
              <a:rPr lang="en-US" sz="2400" b="1" dirty="0">
                <a:solidFill>
                  <a:schemeClr val="accent6">
                    <a:lumMod val="75000"/>
                  </a:schemeClr>
                </a:solidFill>
              </a:rPr>
              <a:t>while</a:t>
            </a:r>
            <a:r>
              <a:rPr lang="en-US" sz="2400" dirty="0"/>
              <a:t> (x&gt;y)  </a:t>
            </a:r>
          </a:p>
          <a:p>
            <a:pPr>
              <a:defRPr/>
            </a:pPr>
            <a:r>
              <a:rPr lang="en-US" sz="2400" dirty="0"/>
              <a:t>          x=x-y ; </a:t>
            </a:r>
          </a:p>
          <a:p>
            <a:pPr>
              <a:defRPr/>
            </a:pPr>
            <a:r>
              <a:rPr lang="en-US" sz="2400" dirty="0"/>
              <a:t>     </a:t>
            </a:r>
            <a:r>
              <a:rPr lang="en-US" sz="2400" b="1" dirty="0">
                <a:solidFill>
                  <a:schemeClr val="accent6">
                    <a:lumMod val="75000"/>
                  </a:schemeClr>
                </a:solidFill>
              </a:rPr>
              <a:t>if</a:t>
            </a:r>
            <a:r>
              <a:rPr lang="en-US" sz="2400" dirty="0"/>
              <a:t> (x&lt;y) </a:t>
            </a:r>
          </a:p>
          <a:p>
            <a:pPr>
              <a:defRPr/>
            </a:pPr>
            <a:r>
              <a:rPr lang="en-US" sz="2400" dirty="0"/>
              <a:t>          return -1 </a:t>
            </a:r>
          </a:p>
          <a:p>
            <a:pPr>
              <a:defRPr/>
            </a:pPr>
            <a:r>
              <a:rPr lang="en-US" sz="2400" dirty="0"/>
              <a:t>     </a:t>
            </a:r>
            <a:r>
              <a:rPr lang="en-US" sz="2400" b="1" dirty="0">
                <a:solidFill>
                  <a:schemeClr val="accent6">
                    <a:lumMod val="75000"/>
                  </a:schemeClr>
                </a:solidFill>
              </a:rPr>
              <a:t>else</a:t>
            </a:r>
            <a:r>
              <a:rPr lang="en-US" sz="2400" dirty="0"/>
              <a:t> </a:t>
            </a:r>
          </a:p>
          <a:p>
            <a:pPr>
              <a:defRPr/>
            </a:pPr>
            <a:r>
              <a:rPr lang="en-US" sz="2400" dirty="0"/>
              <a:t>          return x } </a:t>
            </a:r>
          </a:p>
        </p:txBody>
      </p:sp>
      <p:sp>
        <p:nvSpPr>
          <p:cNvPr id="10" name="Rounded Rectangle 9">
            <a:extLst>
              <a:ext uri="{FF2B5EF4-FFF2-40B4-BE49-F238E27FC236}">
                <a16:creationId xmlns:a16="http://schemas.microsoft.com/office/drawing/2014/main" id="{2EA7426F-E73E-A84E-9C2D-8E0EB352FB41}"/>
              </a:ext>
            </a:extLst>
          </p:cNvPr>
          <p:cNvSpPr/>
          <p:nvPr/>
        </p:nvSpPr>
        <p:spPr>
          <a:xfrm>
            <a:off x="443158" y="1645345"/>
            <a:ext cx="8243642" cy="807883"/>
          </a:xfrm>
          <a:prstGeom prst="roundRect">
            <a:avLst>
              <a:gd name="adj" fmla="val 13785"/>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7956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ounded Rectangle 28">
            <a:extLst>
              <a:ext uri="{FF2B5EF4-FFF2-40B4-BE49-F238E27FC236}">
                <a16:creationId xmlns:a16="http://schemas.microsoft.com/office/drawing/2014/main" id="{0C2C8468-4E3B-754C-BD19-E8DA9CD32646}"/>
              </a:ext>
            </a:extLst>
          </p:cNvPr>
          <p:cNvSpPr/>
          <p:nvPr/>
        </p:nvSpPr>
        <p:spPr>
          <a:xfrm>
            <a:off x="3211752" y="2761437"/>
            <a:ext cx="2584384" cy="1146251"/>
          </a:xfrm>
          <a:prstGeom prst="roundRect">
            <a:avLst>
              <a:gd name="adj" fmla="val 25954"/>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a:extLst>
              <a:ext uri="{FF2B5EF4-FFF2-40B4-BE49-F238E27FC236}">
                <a16:creationId xmlns:a16="http://schemas.microsoft.com/office/drawing/2014/main" id="{B6CBDE21-6CA6-B447-A32A-7FFAA4C84A06}"/>
              </a:ext>
            </a:extLst>
          </p:cNvPr>
          <p:cNvSpPr/>
          <p:nvPr/>
        </p:nvSpPr>
        <p:spPr>
          <a:xfrm>
            <a:off x="4752421" y="1593015"/>
            <a:ext cx="618755" cy="862566"/>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a:extLst>
              <a:ext uri="{FF2B5EF4-FFF2-40B4-BE49-F238E27FC236}">
                <a16:creationId xmlns:a16="http://schemas.microsoft.com/office/drawing/2014/main" id="{7A4101E7-483E-2846-8099-30527BC63A3F}"/>
              </a:ext>
            </a:extLst>
          </p:cNvPr>
          <p:cNvSpPr/>
          <p:nvPr/>
        </p:nvSpPr>
        <p:spPr>
          <a:xfrm>
            <a:off x="5451154" y="1593015"/>
            <a:ext cx="1102046" cy="862566"/>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 Rectangle 23">
            <a:extLst>
              <a:ext uri="{FF2B5EF4-FFF2-40B4-BE49-F238E27FC236}">
                <a16:creationId xmlns:a16="http://schemas.microsoft.com/office/drawing/2014/main" id="{DF29D603-DE82-9147-B6E6-08E698D9124C}"/>
              </a:ext>
            </a:extLst>
          </p:cNvPr>
          <p:cNvSpPr/>
          <p:nvPr/>
        </p:nvSpPr>
        <p:spPr>
          <a:xfrm>
            <a:off x="7203518" y="1593015"/>
            <a:ext cx="1112898" cy="862566"/>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20">
            <a:extLst>
              <a:ext uri="{FF2B5EF4-FFF2-40B4-BE49-F238E27FC236}">
                <a16:creationId xmlns:a16="http://schemas.microsoft.com/office/drawing/2014/main" id="{97FB8ABF-8177-3640-80D7-35B8D354CF26}"/>
              </a:ext>
            </a:extLst>
          </p:cNvPr>
          <p:cNvSpPr/>
          <p:nvPr/>
        </p:nvSpPr>
        <p:spPr>
          <a:xfrm>
            <a:off x="3432669" y="1643078"/>
            <a:ext cx="923307" cy="862566"/>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DB9BC11A-BF56-1346-A615-3C84B18D6233}"/>
              </a:ext>
            </a:extLst>
          </p:cNvPr>
          <p:cNvSpPr/>
          <p:nvPr/>
        </p:nvSpPr>
        <p:spPr>
          <a:xfrm>
            <a:off x="2699793" y="1628800"/>
            <a:ext cx="648072" cy="862566"/>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2" name="Title 1"/>
          <p:cNvSpPr>
            <a:spLocks noGrp="1"/>
          </p:cNvSpPr>
          <p:nvPr>
            <p:ph type="title"/>
          </p:nvPr>
        </p:nvSpPr>
        <p:spPr/>
        <p:txBody>
          <a:bodyPr/>
          <a:lstStyle/>
          <a:p>
            <a:pPr eaLnBrk="1" hangingPunct="1"/>
            <a:r>
              <a:rPr lang="en-US" dirty="0"/>
              <a:t>Graph-based test coverage</a:t>
            </a:r>
          </a:p>
        </p:txBody>
      </p:sp>
      <p:sp>
        <p:nvSpPr>
          <p:cNvPr id="10243" name="Content Placeholder 2"/>
          <p:cNvSpPr>
            <a:spLocks noGrp="1"/>
          </p:cNvSpPr>
          <p:nvPr>
            <p:ph idx="1"/>
          </p:nvPr>
        </p:nvSpPr>
        <p:spPr>
          <a:xfrm>
            <a:off x="457200" y="3857625"/>
            <a:ext cx="8229600" cy="2268538"/>
          </a:xfrm>
        </p:spPr>
        <p:txBody>
          <a:bodyPr/>
          <a:lstStyle/>
          <a:p>
            <a:pPr eaLnBrk="1" hangingPunct="1"/>
            <a:r>
              <a:rPr lang="en-US" sz="2400" dirty="0"/>
              <a:t>Abstractly, a program is a set of nodes and edges connecting the nodes. An execution flows through the edges, to form a path through the program.</a:t>
            </a:r>
          </a:p>
          <a:p>
            <a:pPr eaLnBrk="1" hangingPunct="1"/>
            <a:r>
              <a:rPr lang="en-US" sz="2400" dirty="0"/>
              <a:t>This can be captured by a so called </a:t>
            </a:r>
            <a:r>
              <a:rPr lang="en-US" sz="2400" i="1" dirty="0">
                <a:solidFill>
                  <a:schemeClr val="accent1">
                    <a:lumMod val="50000"/>
                  </a:schemeClr>
                </a:solidFill>
              </a:rPr>
              <a:t>Control Flow </a:t>
            </a:r>
            <a:r>
              <a:rPr lang="en-US" sz="2400" i="1" u="sng" dirty="0">
                <a:solidFill>
                  <a:schemeClr val="accent1">
                    <a:lumMod val="50000"/>
                  </a:schemeClr>
                </a:solidFill>
              </a:rPr>
              <a:t>Graph</a:t>
            </a:r>
            <a:r>
              <a:rPr lang="en-US" sz="2400" dirty="0">
                <a:solidFill>
                  <a:schemeClr val="accent1">
                    <a:lumMod val="50000"/>
                  </a:schemeClr>
                </a:solidFill>
              </a:rPr>
              <a:t> </a:t>
            </a:r>
            <a:r>
              <a:rPr lang="en-US" sz="2400" dirty="0"/>
              <a:t>(CFG, </a:t>
            </a:r>
            <a:r>
              <a:rPr lang="en-US" sz="2400" dirty="0" err="1"/>
              <a:t>Legard</a:t>
            </a:r>
            <a:r>
              <a:rPr lang="en-US" sz="2400" dirty="0"/>
              <a:t> 1970), such as the one above.</a:t>
            </a:r>
          </a:p>
          <a:p>
            <a:pPr eaLnBrk="1" hangingPunct="1"/>
            <a:r>
              <a:rPr lang="en-US" sz="2400" dirty="0"/>
              <a:t>AO gives you a set of  graph-based coverage concepts; most are stronger than line coverage.</a:t>
            </a:r>
          </a:p>
        </p:txBody>
      </p:sp>
      <p:sp>
        <p:nvSpPr>
          <p:cNvPr id="4" name="Slide Number Placeholder 3"/>
          <p:cNvSpPr>
            <a:spLocks noGrp="1"/>
          </p:cNvSpPr>
          <p:nvPr>
            <p:ph type="sldNum" sz="quarter" idx="12"/>
          </p:nvPr>
        </p:nvSpPr>
        <p:spPr/>
        <p:txBody>
          <a:bodyPr/>
          <a:lstStyle/>
          <a:p>
            <a:pPr>
              <a:defRPr/>
            </a:pPr>
            <a:fld id="{C823D116-DC13-45EB-BEF8-0D99A7E2DF5B}" type="slidenum">
              <a:rPr lang="en-US" smtClean="0"/>
              <a:pPr>
                <a:defRPr/>
              </a:pPr>
              <a:t>8</a:t>
            </a:fld>
            <a:endParaRPr lang="en-US"/>
          </a:p>
        </p:txBody>
      </p:sp>
      <p:sp>
        <p:nvSpPr>
          <p:cNvPr id="6" name="Oval 5"/>
          <p:cNvSpPr/>
          <p:nvPr/>
        </p:nvSpPr>
        <p:spPr>
          <a:xfrm flipH="1">
            <a:off x="3861604" y="3117980"/>
            <a:ext cx="349548" cy="27826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en-US"/>
              <a:t>0</a:t>
            </a:r>
          </a:p>
        </p:txBody>
      </p:sp>
      <p:sp>
        <p:nvSpPr>
          <p:cNvPr id="8" name="Oval 7"/>
          <p:cNvSpPr/>
          <p:nvPr/>
        </p:nvSpPr>
        <p:spPr>
          <a:xfrm flipH="1">
            <a:off x="4591612" y="3122173"/>
            <a:ext cx="321618" cy="269874"/>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en-US" sz="1600"/>
              <a:t>2</a:t>
            </a:r>
          </a:p>
        </p:txBody>
      </p:sp>
      <p:sp>
        <p:nvSpPr>
          <p:cNvPr id="9" name="Oval 8"/>
          <p:cNvSpPr/>
          <p:nvPr/>
        </p:nvSpPr>
        <p:spPr>
          <a:xfrm flipH="1">
            <a:off x="5117010" y="3449867"/>
            <a:ext cx="316359" cy="228599"/>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r>
              <a:rPr lang="en-US" sz="1600"/>
              <a:t>4</a:t>
            </a:r>
          </a:p>
        </p:txBody>
      </p:sp>
      <p:sp>
        <p:nvSpPr>
          <p:cNvPr id="10" name="Oval 9"/>
          <p:cNvSpPr/>
          <p:nvPr/>
        </p:nvSpPr>
        <p:spPr>
          <a:xfrm flipH="1">
            <a:off x="5148595" y="2916553"/>
            <a:ext cx="314201" cy="269874"/>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r>
              <a:rPr lang="en-US" sz="1600"/>
              <a:t>3</a:t>
            </a:r>
          </a:p>
        </p:txBody>
      </p:sp>
      <p:cxnSp>
        <p:nvCxnSpPr>
          <p:cNvPr id="12" name="Shape 11"/>
          <p:cNvCxnSpPr>
            <a:stCxn id="16" idx="6"/>
            <a:endCxn id="6" idx="6"/>
          </p:cNvCxnSpPr>
          <p:nvPr/>
        </p:nvCxnSpPr>
        <p:spPr>
          <a:xfrm rot="10800000">
            <a:off x="3861604" y="3257110"/>
            <a:ext cx="12700" cy="483296"/>
          </a:xfrm>
          <a:prstGeom prst="curvedConnector3">
            <a:avLst>
              <a:gd name="adj1" fmla="val 1800000"/>
            </a:avLst>
          </a:prstGeom>
          <a:ln>
            <a:tailEnd type="arrow"/>
          </a:ln>
        </p:spPr>
        <p:style>
          <a:lnRef idx="1">
            <a:schemeClr val="dk1"/>
          </a:lnRef>
          <a:fillRef idx="0">
            <a:schemeClr val="dk1"/>
          </a:fillRef>
          <a:effectRef idx="0">
            <a:schemeClr val="dk1"/>
          </a:effectRef>
          <a:fontRef idx="minor">
            <a:schemeClr val="tx1"/>
          </a:fontRef>
        </p:style>
      </p:cxnSp>
      <p:cxnSp>
        <p:nvCxnSpPr>
          <p:cNvPr id="15" name="Straight Arrow Connector 14"/>
          <p:cNvCxnSpPr>
            <a:stCxn id="6" idx="2"/>
            <a:endCxn id="8" idx="6"/>
          </p:cNvCxnSpPr>
          <p:nvPr/>
        </p:nvCxnSpPr>
        <p:spPr>
          <a:xfrm>
            <a:off x="4211152" y="3257110"/>
            <a:ext cx="38046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7" name="Straight Arrow Connector 16"/>
          <p:cNvCxnSpPr>
            <a:stCxn id="8" idx="3"/>
            <a:endCxn id="9" idx="7"/>
          </p:cNvCxnSpPr>
          <p:nvPr/>
        </p:nvCxnSpPr>
        <p:spPr>
          <a:xfrm>
            <a:off x="4866130" y="3352525"/>
            <a:ext cx="297210" cy="13082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0" name="Straight Arrow Connector 19"/>
          <p:cNvCxnSpPr>
            <a:stCxn id="8" idx="1"/>
            <a:endCxn id="10" idx="6"/>
          </p:cNvCxnSpPr>
          <p:nvPr/>
        </p:nvCxnSpPr>
        <p:spPr>
          <a:xfrm flipV="1">
            <a:off x="4866130" y="3051490"/>
            <a:ext cx="282465" cy="11020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0" name="Straight Arrow Connector 29"/>
          <p:cNvCxnSpPr>
            <a:cxnSpLocks/>
          </p:cNvCxnSpPr>
          <p:nvPr/>
        </p:nvCxnSpPr>
        <p:spPr>
          <a:xfrm>
            <a:off x="3524289" y="2962563"/>
            <a:ext cx="273714" cy="1991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Oval 15"/>
          <p:cNvSpPr/>
          <p:nvPr/>
        </p:nvSpPr>
        <p:spPr>
          <a:xfrm flipH="1">
            <a:off x="3861604" y="3633820"/>
            <a:ext cx="360040" cy="213172"/>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en-US" sz="1600"/>
              <a:t>1</a:t>
            </a:r>
          </a:p>
        </p:txBody>
      </p:sp>
      <p:cxnSp>
        <p:nvCxnSpPr>
          <p:cNvPr id="18" name="Straight Arrow Connector 17"/>
          <p:cNvCxnSpPr>
            <a:stCxn id="6" idx="4"/>
            <a:endCxn id="16" idx="0"/>
          </p:cNvCxnSpPr>
          <p:nvPr/>
        </p:nvCxnSpPr>
        <p:spPr>
          <a:xfrm>
            <a:off x="4036378" y="3396240"/>
            <a:ext cx="5246" cy="23758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34B33BD6-D2F6-9C46-A629-EA47C3DAE687}"/>
              </a:ext>
            </a:extLst>
          </p:cNvPr>
          <p:cNvSpPr txBox="1"/>
          <p:nvPr/>
        </p:nvSpPr>
        <p:spPr>
          <a:xfrm>
            <a:off x="762000" y="1805123"/>
            <a:ext cx="7732053" cy="461665"/>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sz="2400" b="1" dirty="0">
                <a:solidFill>
                  <a:schemeClr val="accent1">
                    <a:lumMod val="50000"/>
                  </a:schemeClr>
                </a:solidFill>
              </a:rPr>
              <a:t>foo</a:t>
            </a:r>
            <a:r>
              <a:rPr lang="en-US" sz="2400" dirty="0"/>
              <a:t>(</a:t>
            </a:r>
            <a:r>
              <a:rPr lang="en-US" sz="2400" dirty="0" err="1"/>
              <a:t>x,y</a:t>
            </a:r>
            <a:r>
              <a:rPr lang="en-US" sz="2400" dirty="0"/>
              <a:t>) { </a:t>
            </a:r>
            <a:r>
              <a:rPr lang="en-US" sz="2400" b="1" dirty="0"/>
              <a:t>while</a:t>
            </a:r>
            <a:r>
              <a:rPr lang="en-US" sz="2400" dirty="0"/>
              <a:t> (x&gt;y)   x=x-y ;</a:t>
            </a:r>
            <a:r>
              <a:rPr lang="en-US" sz="2400" b="1" dirty="0"/>
              <a:t>  if </a:t>
            </a:r>
            <a:r>
              <a:rPr lang="en-US" sz="2400" dirty="0"/>
              <a:t>(x&lt;y) return -1 </a:t>
            </a:r>
            <a:r>
              <a:rPr lang="en-US" sz="2400" b="1" dirty="0"/>
              <a:t>else</a:t>
            </a:r>
            <a:r>
              <a:rPr lang="en-US" sz="2400" dirty="0"/>
              <a:t> return x } </a:t>
            </a:r>
          </a:p>
        </p:txBody>
      </p:sp>
      <p:sp>
        <p:nvSpPr>
          <p:cNvPr id="7" name="TextBox 6">
            <a:extLst>
              <a:ext uri="{FF2B5EF4-FFF2-40B4-BE49-F238E27FC236}">
                <a16:creationId xmlns:a16="http://schemas.microsoft.com/office/drawing/2014/main" id="{4F867C95-E11F-3A48-8504-B65E889B1EF3}"/>
              </a:ext>
            </a:extLst>
          </p:cNvPr>
          <p:cNvSpPr txBox="1"/>
          <p:nvPr/>
        </p:nvSpPr>
        <p:spPr>
          <a:xfrm>
            <a:off x="2942126" y="2446916"/>
            <a:ext cx="269626" cy="276999"/>
          </a:xfrm>
          <a:prstGeom prst="rect">
            <a:avLst/>
          </a:prstGeom>
          <a:noFill/>
        </p:spPr>
        <p:txBody>
          <a:bodyPr wrap="none" rtlCol="0">
            <a:spAutoFit/>
          </a:bodyPr>
          <a:lstStyle/>
          <a:p>
            <a:r>
              <a:rPr lang="en-US" sz="1200" b="1" dirty="0"/>
              <a:t>0</a:t>
            </a:r>
          </a:p>
        </p:txBody>
      </p:sp>
      <p:sp>
        <p:nvSpPr>
          <p:cNvPr id="25" name="TextBox 24">
            <a:extLst>
              <a:ext uri="{FF2B5EF4-FFF2-40B4-BE49-F238E27FC236}">
                <a16:creationId xmlns:a16="http://schemas.microsoft.com/office/drawing/2014/main" id="{44AB492B-C8AD-B440-B640-B4A7FE0EB8B8}"/>
              </a:ext>
            </a:extLst>
          </p:cNvPr>
          <p:cNvSpPr txBox="1"/>
          <p:nvPr/>
        </p:nvSpPr>
        <p:spPr>
          <a:xfrm>
            <a:off x="3767629" y="2460486"/>
            <a:ext cx="269626" cy="276999"/>
          </a:xfrm>
          <a:prstGeom prst="rect">
            <a:avLst/>
          </a:prstGeom>
          <a:noFill/>
        </p:spPr>
        <p:txBody>
          <a:bodyPr wrap="none" rtlCol="0">
            <a:spAutoFit/>
          </a:bodyPr>
          <a:lstStyle/>
          <a:p>
            <a:r>
              <a:rPr lang="en-US" sz="1200" b="1" dirty="0"/>
              <a:t>1</a:t>
            </a:r>
          </a:p>
        </p:txBody>
      </p:sp>
      <p:sp>
        <p:nvSpPr>
          <p:cNvPr id="26" name="TextBox 25">
            <a:extLst>
              <a:ext uri="{FF2B5EF4-FFF2-40B4-BE49-F238E27FC236}">
                <a16:creationId xmlns:a16="http://schemas.microsoft.com/office/drawing/2014/main" id="{1BE8D4EA-4A3F-9642-B6FA-497CC1E620AC}"/>
              </a:ext>
            </a:extLst>
          </p:cNvPr>
          <p:cNvSpPr txBox="1"/>
          <p:nvPr/>
        </p:nvSpPr>
        <p:spPr>
          <a:xfrm>
            <a:off x="4911853" y="2460328"/>
            <a:ext cx="269626" cy="276999"/>
          </a:xfrm>
          <a:prstGeom prst="rect">
            <a:avLst/>
          </a:prstGeom>
          <a:noFill/>
        </p:spPr>
        <p:txBody>
          <a:bodyPr wrap="none" rtlCol="0">
            <a:spAutoFit/>
          </a:bodyPr>
          <a:lstStyle/>
          <a:p>
            <a:r>
              <a:rPr lang="en-US" sz="1200" b="1" dirty="0"/>
              <a:t>2</a:t>
            </a:r>
          </a:p>
        </p:txBody>
      </p:sp>
      <p:sp>
        <p:nvSpPr>
          <p:cNvPr id="27" name="TextBox 26">
            <a:extLst>
              <a:ext uri="{FF2B5EF4-FFF2-40B4-BE49-F238E27FC236}">
                <a16:creationId xmlns:a16="http://schemas.microsoft.com/office/drawing/2014/main" id="{19053DF5-5ACC-3E4C-BFAB-C5016735E2F2}"/>
              </a:ext>
            </a:extLst>
          </p:cNvPr>
          <p:cNvSpPr txBox="1"/>
          <p:nvPr/>
        </p:nvSpPr>
        <p:spPr>
          <a:xfrm>
            <a:off x="5921264" y="2460327"/>
            <a:ext cx="269626" cy="276999"/>
          </a:xfrm>
          <a:prstGeom prst="rect">
            <a:avLst/>
          </a:prstGeom>
          <a:noFill/>
        </p:spPr>
        <p:txBody>
          <a:bodyPr wrap="none" rtlCol="0">
            <a:spAutoFit/>
          </a:bodyPr>
          <a:lstStyle/>
          <a:p>
            <a:r>
              <a:rPr lang="en-US" sz="1200" b="1" dirty="0"/>
              <a:t>3</a:t>
            </a:r>
          </a:p>
        </p:txBody>
      </p:sp>
      <p:sp>
        <p:nvSpPr>
          <p:cNvPr id="28" name="TextBox 27">
            <a:extLst>
              <a:ext uri="{FF2B5EF4-FFF2-40B4-BE49-F238E27FC236}">
                <a16:creationId xmlns:a16="http://schemas.microsoft.com/office/drawing/2014/main" id="{8DC21C22-DC4B-2C4B-8E05-E8FB1CD8F2C3}"/>
              </a:ext>
            </a:extLst>
          </p:cNvPr>
          <p:cNvSpPr txBox="1"/>
          <p:nvPr/>
        </p:nvSpPr>
        <p:spPr>
          <a:xfrm>
            <a:off x="7621365" y="2486211"/>
            <a:ext cx="269626" cy="276999"/>
          </a:xfrm>
          <a:prstGeom prst="rect">
            <a:avLst/>
          </a:prstGeom>
          <a:noFill/>
        </p:spPr>
        <p:txBody>
          <a:bodyPr wrap="none" rtlCol="0">
            <a:spAutoFit/>
          </a:bodyPr>
          <a:lstStyle/>
          <a:p>
            <a:r>
              <a:rPr lang="en-US" sz="1200" b="1" dirty="0"/>
              <a:t>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D718FABF-9242-F843-B071-E48A479EFD36}"/>
              </a:ext>
            </a:extLst>
          </p:cNvPr>
          <p:cNvSpPr/>
          <p:nvPr/>
        </p:nvSpPr>
        <p:spPr>
          <a:xfrm>
            <a:off x="457200" y="3645024"/>
            <a:ext cx="8229600" cy="1944216"/>
          </a:xfrm>
          <a:prstGeom prst="roundRect">
            <a:avLst>
              <a:gd name="adj" fmla="val 25954"/>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66" name="Title 1"/>
          <p:cNvSpPr>
            <a:spLocks noGrp="1"/>
          </p:cNvSpPr>
          <p:nvPr>
            <p:ph type="title"/>
          </p:nvPr>
        </p:nvSpPr>
        <p:spPr>
          <a:xfrm>
            <a:off x="457200" y="274638"/>
            <a:ext cx="8229600" cy="994122"/>
          </a:xfrm>
        </p:spPr>
        <p:txBody>
          <a:bodyPr/>
          <a:lstStyle/>
          <a:p>
            <a:pPr eaLnBrk="1" hangingPunct="1"/>
            <a:r>
              <a:rPr lang="en-US" sz="4000" dirty="0"/>
              <a:t>Graph terminology</a:t>
            </a:r>
          </a:p>
        </p:txBody>
      </p:sp>
      <p:sp>
        <p:nvSpPr>
          <p:cNvPr id="11267" name="Content Placeholder 2"/>
          <p:cNvSpPr>
            <a:spLocks noGrp="1"/>
          </p:cNvSpPr>
          <p:nvPr>
            <p:ph idx="1"/>
          </p:nvPr>
        </p:nvSpPr>
        <p:spPr>
          <a:xfrm>
            <a:off x="457200" y="1988840"/>
            <a:ext cx="8435280" cy="3949899"/>
          </a:xfrm>
        </p:spPr>
        <p:txBody>
          <a:bodyPr/>
          <a:lstStyle/>
          <a:p>
            <a:pPr eaLnBrk="1" hangingPunct="1"/>
            <a:r>
              <a:rPr lang="en-US" sz="2800" dirty="0"/>
              <a:t>(Sec 2.1/2</a:t>
            </a:r>
            <a:r>
              <a:rPr lang="en-US" sz="2800" baseline="30000" dirty="0"/>
              <a:t>nd</a:t>
            </a:r>
            <a:r>
              <a:rPr lang="en-US" sz="2800" dirty="0"/>
              <a:t> Ed 7.1) A </a:t>
            </a:r>
            <a:r>
              <a:rPr lang="en-US" sz="2800" i="1" u="sng" dirty="0"/>
              <a:t>graph</a:t>
            </a:r>
            <a:r>
              <a:rPr lang="en-US" sz="2800" dirty="0"/>
              <a:t> is described by (</a:t>
            </a:r>
            <a:r>
              <a:rPr lang="en-US" sz="2800" i="1" dirty="0"/>
              <a:t>N</a:t>
            </a:r>
            <a:r>
              <a:rPr lang="en-US" sz="2800" dirty="0"/>
              <a:t>,</a:t>
            </a:r>
            <a:r>
              <a:rPr lang="en-US" sz="2800" i="1" dirty="0"/>
              <a:t>N</a:t>
            </a:r>
            <a:r>
              <a:rPr lang="en-US" sz="2800" baseline="-25000" dirty="0"/>
              <a:t>0</a:t>
            </a:r>
            <a:r>
              <a:rPr lang="en-US" sz="2800" dirty="0"/>
              <a:t>,</a:t>
            </a:r>
            <a:r>
              <a:rPr lang="en-US" sz="2800" i="1" dirty="0"/>
              <a:t>N</a:t>
            </a:r>
            <a:r>
              <a:rPr lang="en-US" sz="2800" i="1" baseline="-25000" dirty="0"/>
              <a:t>f</a:t>
            </a:r>
            <a:r>
              <a:rPr lang="en-US" sz="2800" dirty="0"/>
              <a:t>,</a:t>
            </a:r>
            <a:r>
              <a:rPr lang="en-US" sz="2800" i="1" dirty="0"/>
              <a:t>E</a:t>
            </a:r>
            <a:r>
              <a:rPr lang="en-US" sz="2800" dirty="0"/>
              <a:t>).  </a:t>
            </a:r>
            <a:r>
              <a:rPr lang="en-US" sz="2800" i="1" dirty="0"/>
              <a:t>E</a:t>
            </a:r>
            <a:r>
              <a:rPr lang="en-US" sz="2800" dirty="0"/>
              <a:t> is a subset of </a:t>
            </a:r>
            <a:r>
              <a:rPr lang="en-US" sz="2800" i="1" dirty="0"/>
              <a:t>N</a:t>
            </a:r>
            <a:r>
              <a:rPr lang="en-US" sz="2800" dirty="0"/>
              <a:t>×</a:t>
            </a:r>
            <a:r>
              <a:rPr lang="en-US" sz="2800" i="1" dirty="0"/>
              <a:t>N</a:t>
            </a:r>
            <a:r>
              <a:rPr lang="en-US" sz="2800" dirty="0"/>
              <a:t>. </a:t>
            </a:r>
          </a:p>
          <a:p>
            <a:pPr lvl="1" eaLnBrk="1" hangingPunct="1"/>
            <a:r>
              <a:rPr lang="en-US" dirty="0"/>
              <a:t>directed, for now: no labels, no multi-edges.</a:t>
            </a:r>
          </a:p>
          <a:p>
            <a:pPr eaLnBrk="1" hangingPunct="1"/>
            <a:endParaRPr lang="en-US" sz="2800" dirty="0"/>
          </a:p>
          <a:p>
            <a:pPr eaLnBrk="1" hangingPunct="1"/>
            <a:r>
              <a:rPr lang="en-US" sz="2800" dirty="0"/>
              <a:t>A </a:t>
            </a:r>
            <a:r>
              <a:rPr lang="en-US" sz="2800" i="1" u="sng" dirty="0"/>
              <a:t>path</a:t>
            </a:r>
            <a:r>
              <a:rPr lang="en-US" sz="2800" dirty="0"/>
              <a:t> </a:t>
            </a:r>
            <a:r>
              <a:rPr lang="en-US" sz="2800" i="1" dirty="0"/>
              <a:t>p</a:t>
            </a:r>
            <a:r>
              <a:rPr lang="en-US" sz="2800" dirty="0"/>
              <a:t> is a sequence of nodes [</a:t>
            </a:r>
            <a:r>
              <a:rPr lang="en-US" sz="2800" i="1" dirty="0"/>
              <a:t>n</a:t>
            </a:r>
            <a:r>
              <a:rPr lang="en-US" sz="2800" i="1" baseline="-25000" dirty="0"/>
              <a:t>0</a:t>
            </a:r>
            <a:r>
              <a:rPr lang="en-US" sz="2800" dirty="0"/>
              <a:t>, </a:t>
            </a:r>
            <a:r>
              <a:rPr lang="en-US" sz="2800" i="1" dirty="0"/>
              <a:t>n</a:t>
            </a:r>
            <a:r>
              <a:rPr lang="en-US" sz="2800" i="1" baseline="-25000" dirty="0"/>
              <a:t>1</a:t>
            </a:r>
            <a:r>
              <a:rPr lang="en-US" sz="2800" dirty="0"/>
              <a:t>, ... , </a:t>
            </a:r>
            <a:r>
              <a:rPr lang="en-US" sz="2800" i="1" dirty="0" err="1"/>
              <a:t>n</a:t>
            </a:r>
            <a:r>
              <a:rPr lang="en-US" sz="2800" i="1" baseline="-25000" dirty="0" err="1"/>
              <a:t>k</a:t>
            </a:r>
            <a:r>
              <a:rPr lang="en-US" sz="2800" dirty="0"/>
              <a:t> ]</a:t>
            </a:r>
          </a:p>
          <a:p>
            <a:pPr lvl="1" eaLnBrk="1" hangingPunct="1"/>
            <a:r>
              <a:rPr lang="en-US" dirty="0"/>
              <a:t>non-empty</a:t>
            </a:r>
          </a:p>
          <a:p>
            <a:pPr lvl="1" eaLnBrk="1" hangingPunct="1"/>
            <a:r>
              <a:rPr lang="en-US" dirty="0"/>
              <a:t>each consecutive pair is an edge in </a:t>
            </a:r>
            <a:r>
              <a:rPr lang="en-US" i="1" dirty="0"/>
              <a:t>E</a:t>
            </a:r>
          </a:p>
          <a:p>
            <a:pPr eaLnBrk="1" hangingPunct="1"/>
            <a:endParaRPr lang="en-US" sz="2800" i="1" u="sng" dirty="0"/>
          </a:p>
          <a:p>
            <a:pPr eaLnBrk="1" hangingPunct="1"/>
            <a:r>
              <a:rPr lang="en-US" sz="2800" i="1" u="sng" dirty="0"/>
              <a:t>length</a:t>
            </a:r>
            <a:r>
              <a:rPr lang="en-US" sz="2800" dirty="0"/>
              <a:t> of </a:t>
            </a:r>
            <a:r>
              <a:rPr lang="en-US" sz="2800" i="1" dirty="0"/>
              <a:t>p</a:t>
            </a:r>
            <a:r>
              <a:rPr lang="en-US" sz="2800" dirty="0"/>
              <a:t> = #edges in </a:t>
            </a:r>
            <a:r>
              <a:rPr lang="en-US" sz="2800" i="1" dirty="0"/>
              <a:t>p</a:t>
            </a:r>
            <a:r>
              <a:rPr lang="en-US" sz="2800" dirty="0"/>
              <a:t> = natural length of </a:t>
            </a:r>
            <a:r>
              <a:rPr lang="en-US" sz="2800" i="1" dirty="0"/>
              <a:t>p</a:t>
            </a:r>
            <a:r>
              <a:rPr lang="en-US" sz="2800" dirty="0"/>
              <a:t> – 1</a:t>
            </a:r>
          </a:p>
          <a:p>
            <a:pPr eaLnBrk="1" hangingPunct="1"/>
            <a:endParaRPr lang="en-US" sz="2800" dirty="0"/>
          </a:p>
        </p:txBody>
      </p:sp>
      <p:sp>
        <p:nvSpPr>
          <p:cNvPr id="4" name="Slide Number Placeholder 3"/>
          <p:cNvSpPr>
            <a:spLocks noGrp="1"/>
          </p:cNvSpPr>
          <p:nvPr>
            <p:ph type="sldNum" sz="quarter" idx="12"/>
          </p:nvPr>
        </p:nvSpPr>
        <p:spPr/>
        <p:txBody>
          <a:bodyPr/>
          <a:lstStyle/>
          <a:p>
            <a:pPr>
              <a:defRPr/>
            </a:pPr>
            <a:fld id="{889329C2-D4F3-460E-A890-CE9BB5BE5C47}" type="slidenum">
              <a:rPr lang="en-US" smtClean="0"/>
              <a:pPr>
                <a:defRPr/>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ounded Rectangle 30">
            <a:extLst>
              <a:ext uri="{FF2B5EF4-FFF2-40B4-BE49-F238E27FC236}">
                <a16:creationId xmlns:a16="http://schemas.microsoft.com/office/drawing/2014/main" id="{775F7117-98E6-5A40-8E0D-457D30DCA732}"/>
              </a:ext>
            </a:extLst>
          </p:cNvPr>
          <p:cNvSpPr/>
          <p:nvPr/>
        </p:nvSpPr>
        <p:spPr>
          <a:xfrm>
            <a:off x="611560" y="4341733"/>
            <a:ext cx="8280920" cy="1360133"/>
          </a:xfrm>
          <a:prstGeom prst="roundRect">
            <a:avLst>
              <a:gd name="adj" fmla="val 24602"/>
            </a:avLst>
          </a:prstGeom>
          <a:solidFill>
            <a:schemeClr val="accent6">
              <a:lumMod val="60000"/>
              <a:lumOff val="40000"/>
              <a:alpha val="2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ed Rectangle 28">
            <a:extLst>
              <a:ext uri="{FF2B5EF4-FFF2-40B4-BE49-F238E27FC236}">
                <a16:creationId xmlns:a16="http://schemas.microsoft.com/office/drawing/2014/main" id="{C2FD2EF1-3406-9046-8F23-7325773B6C97}"/>
              </a:ext>
            </a:extLst>
          </p:cNvPr>
          <p:cNvSpPr/>
          <p:nvPr/>
        </p:nvSpPr>
        <p:spPr>
          <a:xfrm>
            <a:off x="3211752" y="2466406"/>
            <a:ext cx="2584384" cy="1146251"/>
          </a:xfrm>
          <a:prstGeom prst="roundRect">
            <a:avLst>
              <a:gd name="adj" fmla="val 25954"/>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a:extLst>
              <a:ext uri="{FF2B5EF4-FFF2-40B4-BE49-F238E27FC236}">
                <a16:creationId xmlns:a16="http://schemas.microsoft.com/office/drawing/2014/main" id="{B6CBDE21-6CA6-B447-A32A-7FFAA4C84A06}"/>
              </a:ext>
            </a:extLst>
          </p:cNvPr>
          <p:cNvSpPr/>
          <p:nvPr/>
        </p:nvSpPr>
        <p:spPr>
          <a:xfrm>
            <a:off x="4752421" y="1268760"/>
            <a:ext cx="618755" cy="862566"/>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a:extLst>
              <a:ext uri="{FF2B5EF4-FFF2-40B4-BE49-F238E27FC236}">
                <a16:creationId xmlns:a16="http://schemas.microsoft.com/office/drawing/2014/main" id="{7A4101E7-483E-2846-8099-30527BC63A3F}"/>
              </a:ext>
            </a:extLst>
          </p:cNvPr>
          <p:cNvSpPr/>
          <p:nvPr/>
        </p:nvSpPr>
        <p:spPr>
          <a:xfrm>
            <a:off x="5451154" y="1268760"/>
            <a:ext cx="1102046" cy="862566"/>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 Rectangle 23">
            <a:extLst>
              <a:ext uri="{FF2B5EF4-FFF2-40B4-BE49-F238E27FC236}">
                <a16:creationId xmlns:a16="http://schemas.microsoft.com/office/drawing/2014/main" id="{DF29D603-DE82-9147-B6E6-08E698D9124C}"/>
              </a:ext>
            </a:extLst>
          </p:cNvPr>
          <p:cNvSpPr/>
          <p:nvPr/>
        </p:nvSpPr>
        <p:spPr>
          <a:xfrm>
            <a:off x="7203518" y="1268760"/>
            <a:ext cx="1112898" cy="862566"/>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20">
            <a:extLst>
              <a:ext uri="{FF2B5EF4-FFF2-40B4-BE49-F238E27FC236}">
                <a16:creationId xmlns:a16="http://schemas.microsoft.com/office/drawing/2014/main" id="{97FB8ABF-8177-3640-80D7-35B8D354CF26}"/>
              </a:ext>
            </a:extLst>
          </p:cNvPr>
          <p:cNvSpPr/>
          <p:nvPr/>
        </p:nvSpPr>
        <p:spPr>
          <a:xfrm>
            <a:off x="3432669" y="1318823"/>
            <a:ext cx="923307" cy="862566"/>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DB9BC11A-BF56-1346-A615-3C84B18D6233}"/>
              </a:ext>
            </a:extLst>
          </p:cNvPr>
          <p:cNvSpPr/>
          <p:nvPr/>
        </p:nvSpPr>
        <p:spPr>
          <a:xfrm>
            <a:off x="2699793" y="1304545"/>
            <a:ext cx="648072" cy="862566"/>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2" name="Title 1"/>
          <p:cNvSpPr>
            <a:spLocks noGrp="1"/>
          </p:cNvSpPr>
          <p:nvPr>
            <p:ph type="title"/>
          </p:nvPr>
        </p:nvSpPr>
        <p:spPr>
          <a:xfrm>
            <a:off x="457200" y="274638"/>
            <a:ext cx="8229600" cy="834537"/>
          </a:xfrm>
        </p:spPr>
        <p:txBody>
          <a:bodyPr/>
          <a:lstStyle/>
          <a:p>
            <a:pPr eaLnBrk="1" hangingPunct="1"/>
            <a:r>
              <a:rPr lang="en-US" dirty="0"/>
              <a:t>CFG and Test Path</a:t>
            </a:r>
          </a:p>
        </p:txBody>
      </p:sp>
      <p:sp>
        <p:nvSpPr>
          <p:cNvPr id="10243" name="Content Placeholder 2"/>
          <p:cNvSpPr>
            <a:spLocks noGrp="1"/>
          </p:cNvSpPr>
          <p:nvPr>
            <p:ph idx="1"/>
          </p:nvPr>
        </p:nvSpPr>
        <p:spPr>
          <a:xfrm>
            <a:off x="323528" y="3651952"/>
            <a:ext cx="8568952" cy="2474211"/>
          </a:xfrm>
        </p:spPr>
        <p:txBody>
          <a:bodyPr/>
          <a:lstStyle/>
          <a:p>
            <a:r>
              <a:rPr lang="en-US" sz="2000" dirty="0"/>
              <a:t>Control Flow Graph (CFG) is a graph representing a program in terms of how it transitions from one statement to another. We furthermore assume:</a:t>
            </a:r>
          </a:p>
          <a:p>
            <a:pPr lvl="1"/>
            <a:r>
              <a:rPr lang="en-US" sz="2000" dirty="0"/>
              <a:t>There is only one initial node.</a:t>
            </a:r>
          </a:p>
          <a:p>
            <a:pPr lvl="1"/>
            <a:r>
              <a:rPr lang="en-US" sz="2000" dirty="0"/>
              <a:t>Any execution ends in a terminal node (this implies that if a program can terminates by throwing an exception, a terminal node should be added to model this).</a:t>
            </a:r>
          </a:p>
          <a:p>
            <a:r>
              <a:rPr lang="en-US" sz="2000" dirty="0"/>
              <a:t>A </a:t>
            </a:r>
            <a:r>
              <a:rPr lang="en-US" sz="2000" i="1" u="sng" dirty="0"/>
              <a:t>test-path </a:t>
            </a:r>
            <a:r>
              <a:rPr lang="en-US" sz="2000" dirty="0"/>
              <a:t>(Def. 2.31) is a path in the CFG representing the execution of a test case. It should therefore starts at the CFG’s initial node, and ends in a terminal node of the CFG.</a:t>
            </a:r>
          </a:p>
        </p:txBody>
      </p:sp>
      <p:sp>
        <p:nvSpPr>
          <p:cNvPr id="4" name="Slide Number Placeholder 3"/>
          <p:cNvSpPr>
            <a:spLocks noGrp="1"/>
          </p:cNvSpPr>
          <p:nvPr>
            <p:ph type="sldNum" sz="quarter" idx="12"/>
          </p:nvPr>
        </p:nvSpPr>
        <p:spPr/>
        <p:txBody>
          <a:bodyPr/>
          <a:lstStyle/>
          <a:p>
            <a:pPr>
              <a:defRPr/>
            </a:pPr>
            <a:fld id="{C823D116-DC13-45EB-BEF8-0D99A7E2DF5B}" type="slidenum">
              <a:rPr lang="en-US" smtClean="0"/>
              <a:pPr>
                <a:defRPr/>
              </a:pPr>
              <a:t>10</a:t>
            </a:fld>
            <a:endParaRPr lang="en-US"/>
          </a:p>
        </p:txBody>
      </p:sp>
      <p:sp>
        <p:nvSpPr>
          <p:cNvPr id="6" name="Oval 5"/>
          <p:cNvSpPr/>
          <p:nvPr/>
        </p:nvSpPr>
        <p:spPr>
          <a:xfrm flipH="1">
            <a:off x="3861604" y="2793725"/>
            <a:ext cx="349548" cy="27826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en-US"/>
              <a:t>0</a:t>
            </a:r>
          </a:p>
        </p:txBody>
      </p:sp>
      <p:sp>
        <p:nvSpPr>
          <p:cNvPr id="8" name="Oval 7"/>
          <p:cNvSpPr/>
          <p:nvPr/>
        </p:nvSpPr>
        <p:spPr>
          <a:xfrm flipH="1">
            <a:off x="4591612" y="2797918"/>
            <a:ext cx="321618" cy="269874"/>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en-US" sz="1600"/>
              <a:t>2</a:t>
            </a:r>
          </a:p>
        </p:txBody>
      </p:sp>
      <p:sp>
        <p:nvSpPr>
          <p:cNvPr id="9" name="Oval 8"/>
          <p:cNvSpPr/>
          <p:nvPr/>
        </p:nvSpPr>
        <p:spPr>
          <a:xfrm flipH="1">
            <a:off x="5117010" y="3125612"/>
            <a:ext cx="316359" cy="228599"/>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r>
              <a:rPr lang="en-US" sz="1600"/>
              <a:t>4</a:t>
            </a:r>
          </a:p>
        </p:txBody>
      </p:sp>
      <p:sp>
        <p:nvSpPr>
          <p:cNvPr id="10" name="Oval 9"/>
          <p:cNvSpPr/>
          <p:nvPr/>
        </p:nvSpPr>
        <p:spPr>
          <a:xfrm flipH="1">
            <a:off x="5148595" y="2592298"/>
            <a:ext cx="314201" cy="269874"/>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r>
              <a:rPr lang="en-US" sz="1600"/>
              <a:t>3</a:t>
            </a:r>
          </a:p>
        </p:txBody>
      </p:sp>
      <p:cxnSp>
        <p:nvCxnSpPr>
          <p:cNvPr id="12" name="Shape 11"/>
          <p:cNvCxnSpPr>
            <a:stCxn id="16" idx="6"/>
            <a:endCxn id="6" idx="6"/>
          </p:cNvCxnSpPr>
          <p:nvPr/>
        </p:nvCxnSpPr>
        <p:spPr>
          <a:xfrm rot="10800000">
            <a:off x="3861604" y="2932855"/>
            <a:ext cx="12700" cy="483296"/>
          </a:xfrm>
          <a:prstGeom prst="curvedConnector3">
            <a:avLst>
              <a:gd name="adj1" fmla="val 1800000"/>
            </a:avLst>
          </a:prstGeom>
          <a:ln>
            <a:tailEnd type="arrow"/>
          </a:ln>
        </p:spPr>
        <p:style>
          <a:lnRef idx="1">
            <a:schemeClr val="dk1"/>
          </a:lnRef>
          <a:fillRef idx="0">
            <a:schemeClr val="dk1"/>
          </a:fillRef>
          <a:effectRef idx="0">
            <a:schemeClr val="dk1"/>
          </a:effectRef>
          <a:fontRef idx="minor">
            <a:schemeClr val="tx1"/>
          </a:fontRef>
        </p:style>
      </p:cxnSp>
      <p:cxnSp>
        <p:nvCxnSpPr>
          <p:cNvPr id="15" name="Straight Arrow Connector 14"/>
          <p:cNvCxnSpPr>
            <a:stCxn id="6" idx="2"/>
            <a:endCxn id="8" idx="6"/>
          </p:cNvCxnSpPr>
          <p:nvPr/>
        </p:nvCxnSpPr>
        <p:spPr>
          <a:xfrm>
            <a:off x="4211152" y="2932855"/>
            <a:ext cx="38046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7" name="Straight Arrow Connector 16"/>
          <p:cNvCxnSpPr>
            <a:stCxn id="8" idx="3"/>
            <a:endCxn id="9" idx="7"/>
          </p:cNvCxnSpPr>
          <p:nvPr/>
        </p:nvCxnSpPr>
        <p:spPr>
          <a:xfrm>
            <a:off x="4866130" y="3028270"/>
            <a:ext cx="297210" cy="13082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0" name="Straight Arrow Connector 19"/>
          <p:cNvCxnSpPr>
            <a:stCxn id="8" idx="1"/>
            <a:endCxn id="10" idx="6"/>
          </p:cNvCxnSpPr>
          <p:nvPr/>
        </p:nvCxnSpPr>
        <p:spPr>
          <a:xfrm flipV="1">
            <a:off x="4866130" y="2727235"/>
            <a:ext cx="282465" cy="11020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0" name="Straight Arrow Connector 29"/>
          <p:cNvCxnSpPr>
            <a:cxnSpLocks/>
          </p:cNvCxnSpPr>
          <p:nvPr/>
        </p:nvCxnSpPr>
        <p:spPr>
          <a:xfrm>
            <a:off x="3524289" y="2638308"/>
            <a:ext cx="273714" cy="1991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Oval 15"/>
          <p:cNvSpPr/>
          <p:nvPr/>
        </p:nvSpPr>
        <p:spPr>
          <a:xfrm flipH="1">
            <a:off x="3861604" y="3309565"/>
            <a:ext cx="360040" cy="213172"/>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en-US" sz="1600"/>
              <a:t>1</a:t>
            </a:r>
          </a:p>
        </p:txBody>
      </p:sp>
      <p:cxnSp>
        <p:nvCxnSpPr>
          <p:cNvPr id="18" name="Straight Arrow Connector 17"/>
          <p:cNvCxnSpPr>
            <a:stCxn id="6" idx="4"/>
            <a:endCxn id="16" idx="0"/>
          </p:cNvCxnSpPr>
          <p:nvPr/>
        </p:nvCxnSpPr>
        <p:spPr>
          <a:xfrm>
            <a:off x="4036378" y="3071985"/>
            <a:ext cx="5246" cy="23758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34B33BD6-D2F6-9C46-A629-EA47C3DAE687}"/>
              </a:ext>
            </a:extLst>
          </p:cNvPr>
          <p:cNvSpPr txBox="1"/>
          <p:nvPr/>
        </p:nvSpPr>
        <p:spPr>
          <a:xfrm>
            <a:off x="762000" y="1480868"/>
            <a:ext cx="7732053" cy="461665"/>
          </a:xfrm>
          <a:prstGeom prst="rect">
            <a:avLst/>
          </a:prstGeom>
          <a:no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sz="2400" b="1" dirty="0">
                <a:solidFill>
                  <a:schemeClr val="accent1">
                    <a:lumMod val="50000"/>
                  </a:schemeClr>
                </a:solidFill>
              </a:rPr>
              <a:t>foo</a:t>
            </a:r>
            <a:r>
              <a:rPr lang="en-US" sz="2400" dirty="0"/>
              <a:t>(</a:t>
            </a:r>
            <a:r>
              <a:rPr lang="en-US" sz="2400" dirty="0" err="1"/>
              <a:t>x,y</a:t>
            </a:r>
            <a:r>
              <a:rPr lang="en-US" sz="2400" dirty="0"/>
              <a:t>) { </a:t>
            </a:r>
            <a:r>
              <a:rPr lang="en-US" sz="2400" b="1" dirty="0"/>
              <a:t>while</a:t>
            </a:r>
            <a:r>
              <a:rPr lang="en-US" sz="2400" dirty="0"/>
              <a:t> (x&gt;y)   x=x-y ;</a:t>
            </a:r>
            <a:r>
              <a:rPr lang="en-US" sz="2400" b="1" dirty="0"/>
              <a:t>  if </a:t>
            </a:r>
            <a:r>
              <a:rPr lang="en-US" sz="2400" dirty="0"/>
              <a:t>(x&lt;y) return -1 </a:t>
            </a:r>
            <a:r>
              <a:rPr lang="en-US" sz="2400" b="1" dirty="0"/>
              <a:t>else</a:t>
            </a:r>
            <a:r>
              <a:rPr lang="en-US" sz="2400" dirty="0"/>
              <a:t> return x } </a:t>
            </a:r>
          </a:p>
        </p:txBody>
      </p:sp>
      <p:sp>
        <p:nvSpPr>
          <p:cNvPr id="7" name="TextBox 6">
            <a:extLst>
              <a:ext uri="{FF2B5EF4-FFF2-40B4-BE49-F238E27FC236}">
                <a16:creationId xmlns:a16="http://schemas.microsoft.com/office/drawing/2014/main" id="{4F867C95-E11F-3A48-8504-B65E889B1EF3}"/>
              </a:ext>
            </a:extLst>
          </p:cNvPr>
          <p:cNvSpPr txBox="1"/>
          <p:nvPr/>
        </p:nvSpPr>
        <p:spPr>
          <a:xfrm>
            <a:off x="2942126" y="2122661"/>
            <a:ext cx="269626" cy="276999"/>
          </a:xfrm>
          <a:prstGeom prst="rect">
            <a:avLst/>
          </a:prstGeom>
          <a:noFill/>
        </p:spPr>
        <p:txBody>
          <a:bodyPr wrap="none" rtlCol="0">
            <a:spAutoFit/>
          </a:bodyPr>
          <a:lstStyle/>
          <a:p>
            <a:r>
              <a:rPr lang="en-US" sz="1200" b="1" dirty="0"/>
              <a:t>0</a:t>
            </a:r>
          </a:p>
        </p:txBody>
      </p:sp>
      <p:sp>
        <p:nvSpPr>
          <p:cNvPr id="25" name="TextBox 24">
            <a:extLst>
              <a:ext uri="{FF2B5EF4-FFF2-40B4-BE49-F238E27FC236}">
                <a16:creationId xmlns:a16="http://schemas.microsoft.com/office/drawing/2014/main" id="{44AB492B-C8AD-B440-B640-B4A7FE0EB8B8}"/>
              </a:ext>
            </a:extLst>
          </p:cNvPr>
          <p:cNvSpPr txBox="1"/>
          <p:nvPr/>
        </p:nvSpPr>
        <p:spPr>
          <a:xfrm>
            <a:off x="3767629" y="2136231"/>
            <a:ext cx="269626" cy="276999"/>
          </a:xfrm>
          <a:prstGeom prst="rect">
            <a:avLst/>
          </a:prstGeom>
          <a:noFill/>
        </p:spPr>
        <p:txBody>
          <a:bodyPr wrap="none" rtlCol="0">
            <a:spAutoFit/>
          </a:bodyPr>
          <a:lstStyle/>
          <a:p>
            <a:r>
              <a:rPr lang="en-US" sz="1200" b="1" dirty="0"/>
              <a:t>1</a:t>
            </a:r>
          </a:p>
        </p:txBody>
      </p:sp>
      <p:sp>
        <p:nvSpPr>
          <p:cNvPr id="26" name="TextBox 25">
            <a:extLst>
              <a:ext uri="{FF2B5EF4-FFF2-40B4-BE49-F238E27FC236}">
                <a16:creationId xmlns:a16="http://schemas.microsoft.com/office/drawing/2014/main" id="{1BE8D4EA-4A3F-9642-B6FA-497CC1E620AC}"/>
              </a:ext>
            </a:extLst>
          </p:cNvPr>
          <p:cNvSpPr txBox="1"/>
          <p:nvPr/>
        </p:nvSpPr>
        <p:spPr>
          <a:xfrm>
            <a:off x="4911853" y="2136073"/>
            <a:ext cx="269626" cy="276999"/>
          </a:xfrm>
          <a:prstGeom prst="rect">
            <a:avLst/>
          </a:prstGeom>
          <a:noFill/>
        </p:spPr>
        <p:txBody>
          <a:bodyPr wrap="none" rtlCol="0">
            <a:spAutoFit/>
          </a:bodyPr>
          <a:lstStyle/>
          <a:p>
            <a:r>
              <a:rPr lang="en-US" sz="1200" b="1" dirty="0"/>
              <a:t>2</a:t>
            </a:r>
          </a:p>
        </p:txBody>
      </p:sp>
      <p:sp>
        <p:nvSpPr>
          <p:cNvPr id="27" name="TextBox 26">
            <a:extLst>
              <a:ext uri="{FF2B5EF4-FFF2-40B4-BE49-F238E27FC236}">
                <a16:creationId xmlns:a16="http://schemas.microsoft.com/office/drawing/2014/main" id="{19053DF5-5ACC-3E4C-BFAB-C5016735E2F2}"/>
              </a:ext>
            </a:extLst>
          </p:cNvPr>
          <p:cNvSpPr txBox="1"/>
          <p:nvPr/>
        </p:nvSpPr>
        <p:spPr>
          <a:xfrm>
            <a:off x="5921264" y="2136072"/>
            <a:ext cx="269626" cy="276999"/>
          </a:xfrm>
          <a:prstGeom prst="rect">
            <a:avLst/>
          </a:prstGeom>
          <a:noFill/>
        </p:spPr>
        <p:txBody>
          <a:bodyPr wrap="none" rtlCol="0">
            <a:spAutoFit/>
          </a:bodyPr>
          <a:lstStyle/>
          <a:p>
            <a:r>
              <a:rPr lang="en-US" sz="1200" b="1" dirty="0"/>
              <a:t>3</a:t>
            </a:r>
          </a:p>
        </p:txBody>
      </p:sp>
      <p:sp>
        <p:nvSpPr>
          <p:cNvPr id="28" name="TextBox 27">
            <a:extLst>
              <a:ext uri="{FF2B5EF4-FFF2-40B4-BE49-F238E27FC236}">
                <a16:creationId xmlns:a16="http://schemas.microsoft.com/office/drawing/2014/main" id="{8DC21C22-DC4B-2C4B-8E05-E8FB1CD8F2C3}"/>
              </a:ext>
            </a:extLst>
          </p:cNvPr>
          <p:cNvSpPr txBox="1"/>
          <p:nvPr/>
        </p:nvSpPr>
        <p:spPr>
          <a:xfrm>
            <a:off x="7621365" y="2161956"/>
            <a:ext cx="269626" cy="276999"/>
          </a:xfrm>
          <a:prstGeom prst="rect">
            <a:avLst/>
          </a:prstGeom>
          <a:noFill/>
        </p:spPr>
        <p:txBody>
          <a:bodyPr wrap="none" rtlCol="0">
            <a:spAutoFit/>
          </a:bodyPr>
          <a:lstStyle/>
          <a:p>
            <a:r>
              <a:rPr lang="en-US" sz="1200" b="1" dirty="0"/>
              <a:t>4</a:t>
            </a:r>
          </a:p>
        </p:txBody>
      </p:sp>
      <p:sp>
        <p:nvSpPr>
          <p:cNvPr id="2" name="TextBox 1">
            <a:extLst>
              <a:ext uri="{FF2B5EF4-FFF2-40B4-BE49-F238E27FC236}">
                <a16:creationId xmlns:a16="http://schemas.microsoft.com/office/drawing/2014/main" id="{DD7A56F6-99B7-9249-B96C-8810E3D1EC32}"/>
              </a:ext>
            </a:extLst>
          </p:cNvPr>
          <p:cNvSpPr txBox="1"/>
          <p:nvPr/>
        </p:nvSpPr>
        <p:spPr>
          <a:xfrm>
            <a:off x="1654714" y="2686711"/>
            <a:ext cx="1377300" cy="369332"/>
          </a:xfrm>
          <a:prstGeom prst="rect">
            <a:avLst/>
          </a:prstGeom>
          <a:noFill/>
        </p:spPr>
        <p:txBody>
          <a:bodyPr wrap="none" rtlCol="0">
            <a:spAutoFit/>
          </a:bodyPr>
          <a:lstStyle/>
          <a:p>
            <a:r>
              <a:rPr lang="en-US" dirty="0"/>
              <a:t>CFG of foo:</a:t>
            </a:r>
          </a:p>
        </p:txBody>
      </p:sp>
    </p:spTree>
    <p:extLst>
      <p:ext uri="{BB962C8B-B14F-4D97-AF65-F5344CB8AC3E}">
        <p14:creationId xmlns:p14="http://schemas.microsoft.com/office/powerpoint/2010/main" val="1190109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US" sz="4000" dirty="0"/>
              <a:t>More terminology</a:t>
            </a:r>
          </a:p>
        </p:txBody>
      </p:sp>
      <p:sp>
        <p:nvSpPr>
          <p:cNvPr id="9219" name="Content Placeholder 2"/>
          <p:cNvSpPr>
            <a:spLocks noGrp="1"/>
          </p:cNvSpPr>
          <p:nvPr>
            <p:ph idx="1"/>
          </p:nvPr>
        </p:nvSpPr>
        <p:spPr/>
        <p:txBody>
          <a:bodyPr/>
          <a:lstStyle/>
          <a:p>
            <a:pPr eaLnBrk="1" hangingPunct="1"/>
            <a:r>
              <a:rPr lang="en-US" sz="2800" dirty="0"/>
              <a:t>O&amp;A usually define “coverage” with respect to a “</a:t>
            </a:r>
            <a:r>
              <a:rPr lang="en-US" sz="2800" b="1" dirty="0"/>
              <a:t>TR</a:t>
            </a:r>
            <a:r>
              <a:rPr lang="en-US" sz="2800" dirty="0"/>
              <a:t>” = a </a:t>
            </a:r>
            <a:r>
              <a:rPr lang="en-US" sz="2800" b="1" dirty="0">
                <a:solidFill>
                  <a:srgbClr val="FF0000"/>
                </a:solidFill>
              </a:rPr>
              <a:t>set</a:t>
            </a:r>
            <a:r>
              <a:rPr lang="en-US" sz="2800" dirty="0"/>
              <a:t> of </a:t>
            </a:r>
            <a:r>
              <a:rPr lang="en-US" sz="2800" i="1" dirty="0"/>
              <a:t>test requirements.</a:t>
            </a:r>
          </a:p>
          <a:p>
            <a:pPr eaLnBrk="1" hangingPunct="1"/>
            <a:r>
              <a:rPr lang="en-US" sz="2800" dirty="0"/>
              <a:t>For example:</a:t>
            </a:r>
            <a:br>
              <a:rPr lang="en-US" sz="2800" dirty="0"/>
            </a:br>
            <a:br>
              <a:rPr lang="en-US" sz="2800" dirty="0"/>
            </a:br>
            <a:r>
              <a:rPr lang="en-US" sz="2800" dirty="0"/>
              <a:t>TR = { “cover line k”  | k is a line in P’s source }</a:t>
            </a:r>
            <a:br>
              <a:rPr lang="en-US" sz="2800" dirty="0"/>
            </a:br>
            <a:br>
              <a:rPr lang="en-US" sz="2800" dirty="0"/>
            </a:br>
            <a:r>
              <a:rPr lang="en-US" sz="2800" dirty="0"/>
              <a:t>Or simply: TR = { k  | k is a line in P’s source }, and implicitly we mean to “cover” every k.</a:t>
            </a:r>
          </a:p>
          <a:p>
            <a:pPr marL="0" indent="0" eaLnBrk="1" hangingPunct="1">
              <a:buNone/>
            </a:pPr>
            <a:endParaRPr lang="en-US" sz="2800" dirty="0"/>
          </a:p>
          <a:p>
            <a:pPr eaLnBrk="1" hangingPunct="1"/>
            <a:r>
              <a:rPr lang="en-US" sz="2800" dirty="0"/>
              <a:t>Def. 1.21/2</a:t>
            </a:r>
            <a:r>
              <a:rPr lang="en-US" sz="2800" baseline="30000" dirty="0"/>
              <a:t>nd</a:t>
            </a:r>
            <a:r>
              <a:rPr lang="en-US" sz="2800" dirty="0"/>
              <a:t> Ed 5.24. </a:t>
            </a:r>
            <a:r>
              <a:rPr lang="en-US" sz="2800" i="1" dirty="0"/>
              <a:t>A coverage criterion = a TR to fulfill/cover.</a:t>
            </a:r>
            <a:endParaRPr lang="en-US" sz="2800" dirty="0"/>
          </a:p>
          <a:p>
            <a:pPr marL="0" indent="0" eaLnBrk="1" hangingPunct="1">
              <a:buNone/>
            </a:pPr>
            <a:br>
              <a:rPr lang="en-US" sz="2800" dirty="0"/>
            </a:br>
            <a:br>
              <a:rPr lang="en-US" sz="2800" dirty="0"/>
            </a:br>
            <a:endParaRPr lang="en-US" sz="2800" dirty="0"/>
          </a:p>
        </p:txBody>
      </p:sp>
      <p:sp>
        <p:nvSpPr>
          <p:cNvPr id="4" name="Slide Number Placeholder 3"/>
          <p:cNvSpPr>
            <a:spLocks noGrp="1"/>
          </p:cNvSpPr>
          <p:nvPr>
            <p:ph type="sldNum" sz="quarter" idx="12"/>
          </p:nvPr>
        </p:nvSpPr>
        <p:spPr/>
        <p:txBody>
          <a:bodyPr/>
          <a:lstStyle/>
          <a:p>
            <a:pPr>
              <a:defRPr/>
            </a:pPr>
            <a:fld id="{E2DFFE89-F663-496F-97F5-753CC3392DAE}" type="slidenum">
              <a:rPr lang="en-US"/>
              <a:pPr>
                <a:defRPr/>
              </a:pPr>
              <a:t>11</a:t>
            </a:fld>
            <a:endParaRPr lang="en-US"/>
          </a:p>
        </p:txBody>
      </p:sp>
    </p:spTree>
    <p:extLst>
      <p:ext uri="{BB962C8B-B14F-4D97-AF65-F5344CB8AC3E}">
        <p14:creationId xmlns:p14="http://schemas.microsoft.com/office/powerpoint/2010/main" val="5337131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ounded Rectangle 16">
            <a:extLst>
              <a:ext uri="{FF2B5EF4-FFF2-40B4-BE49-F238E27FC236}">
                <a16:creationId xmlns:a16="http://schemas.microsoft.com/office/drawing/2014/main" id="{51841CB4-86A3-B348-A489-863A2F68D446}"/>
              </a:ext>
            </a:extLst>
          </p:cNvPr>
          <p:cNvSpPr/>
          <p:nvPr/>
        </p:nvSpPr>
        <p:spPr>
          <a:xfrm>
            <a:off x="3203848" y="1663973"/>
            <a:ext cx="2584384" cy="1312689"/>
          </a:xfrm>
          <a:prstGeom prst="roundRect">
            <a:avLst>
              <a:gd name="adj" fmla="val 25954"/>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14" name="Title 1"/>
          <p:cNvSpPr>
            <a:spLocks noGrp="1"/>
          </p:cNvSpPr>
          <p:nvPr>
            <p:ph type="title"/>
          </p:nvPr>
        </p:nvSpPr>
        <p:spPr/>
        <p:txBody>
          <a:bodyPr/>
          <a:lstStyle/>
          <a:p>
            <a:pPr eaLnBrk="1" hangingPunct="1"/>
            <a:r>
              <a:rPr lang="en-US" dirty="0"/>
              <a:t>CFG-based TR</a:t>
            </a:r>
          </a:p>
        </p:txBody>
      </p:sp>
      <p:sp>
        <p:nvSpPr>
          <p:cNvPr id="13315" name="Content Placeholder 2"/>
          <p:cNvSpPr>
            <a:spLocks noGrp="1"/>
          </p:cNvSpPr>
          <p:nvPr>
            <p:ph idx="1"/>
          </p:nvPr>
        </p:nvSpPr>
        <p:spPr>
          <a:xfrm>
            <a:off x="827583" y="3351535"/>
            <a:ext cx="7902079" cy="2817490"/>
          </a:xfrm>
        </p:spPr>
        <p:txBody>
          <a:bodyPr/>
          <a:lstStyle/>
          <a:p>
            <a:pPr eaLnBrk="1" hangingPunct="1"/>
            <a:r>
              <a:rPr lang="en-US" sz="2400" dirty="0"/>
              <a:t>A path can be used to express a test-requirement. For example we can specify as our TR:</a:t>
            </a:r>
            <a:br>
              <a:rPr lang="en-US" sz="2400" dirty="0"/>
            </a:br>
            <a:br>
              <a:rPr lang="en-US" sz="2400" dirty="0"/>
            </a:br>
            <a:r>
              <a:rPr lang="en-US" sz="2400" dirty="0"/>
              <a:t>		</a:t>
            </a:r>
            <a:r>
              <a:rPr lang="en-US" sz="2400" i="1" dirty="0"/>
              <a:t>TR</a:t>
            </a:r>
            <a:r>
              <a:rPr lang="en-US" sz="2400" dirty="0"/>
              <a:t> = { [0,2], [1,2], [3] , [4] }</a:t>
            </a:r>
          </a:p>
          <a:p>
            <a:pPr eaLnBrk="1" hangingPunct="1"/>
            <a:endParaRPr lang="en-US" sz="2400" dirty="0"/>
          </a:p>
          <a:p>
            <a:pPr eaLnBrk="1" hangingPunct="1"/>
            <a:r>
              <a:rPr lang="en-US" sz="2400" dirty="0"/>
              <a:t>But what does “covering” a path e.g. [0,2] mean? (there are several plausible definitions btw)</a:t>
            </a:r>
            <a:br>
              <a:rPr lang="en-US" sz="2400" dirty="0"/>
            </a:br>
            <a:endParaRPr lang="en-US" sz="2400" dirty="0"/>
          </a:p>
        </p:txBody>
      </p:sp>
      <p:sp>
        <p:nvSpPr>
          <p:cNvPr id="4" name="Slide Number Placeholder 3"/>
          <p:cNvSpPr>
            <a:spLocks noGrp="1"/>
          </p:cNvSpPr>
          <p:nvPr>
            <p:ph type="sldNum" sz="quarter" idx="12"/>
          </p:nvPr>
        </p:nvSpPr>
        <p:spPr/>
        <p:txBody>
          <a:bodyPr/>
          <a:lstStyle/>
          <a:p>
            <a:pPr>
              <a:defRPr/>
            </a:pPr>
            <a:fld id="{6A6D5325-38D0-444F-8B83-6821B3BD4277}" type="slidenum">
              <a:rPr lang="en-US" smtClean="0"/>
              <a:pPr>
                <a:defRPr/>
              </a:pPr>
              <a:t>12</a:t>
            </a:fld>
            <a:endParaRPr lang="en-US"/>
          </a:p>
        </p:txBody>
      </p:sp>
      <p:sp>
        <p:nvSpPr>
          <p:cNvPr id="21" name="Oval 20">
            <a:extLst>
              <a:ext uri="{FF2B5EF4-FFF2-40B4-BE49-F238E27FC236}">
                <a16:creationId xmlns:a16="http://schemas.microsoft.com/office/drawing/2014/main" id="{04EBD99C-B6D2-3C41-AC06-A3D9FA09C06F}"/>
              </a:ext>
            </a:extLst>
          </p:cNvPr>
          <p:cNvSpPr/>
          <p:nvPr/>
        </p:nvSpPr>
        <p:spPr>
          <a:xfrm flipH="1">
            <a:off x="3906912" y="2046251"/>
            <a:ext cx="349548" cy="27826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en-US"/>
              <a:t>0</a:t>
            </a:r>
          </a:p>
        </p:txBody>
      </p:sp>
      <p:sp>
        <p:nvSpPr>
          <p:cNvPr id="22" name="Oval 21">
            <a:extLst>
              <a:ext uri="{FF2B5EF4-FFF2-40B4-BE49-F238E27FC236}">
                <a16:creationId xmlns:a16="http://schemas.microsoft.com/office/drawing/2014/main" id="{F7A89645-4C41-AB47-AE3E-517170035D0E}"/>
              </a:ext>
            </a:extLst>
          </p:cNvPr>
          <p:cNvSpPr/>
          <p:nvPr/>
        </p:nvSpPr>
        <p:spPr>
          <a:xfrm flipH="1">
            <a:off x="4636920" y="2050444"/>
            <a:ext cx="321618" cy="269874"/>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en-US" sz="1600"/>
              <a:t>2</a:t>
            </a:r>
          </a:p>
        </p:txBody>
      </p:sp>
      <p:sp>
        <p:nvSpPr>
          <p:cNvPr id="23" name="Oval 22">
            <a:extLst>
              <a:ext uri="{FF2B5EF4-FFF2-40B4-BE49-F238E27FC236}">
                <a16:creationId xmlns:a16="http://schemas.microsoft.com/office/drawing/2014/main" id="{05344BEE-B64E-4B40-B7B6-96D95A070D2A}"/>
              </a:ext>
            </a:extLst>
          </p:cNvPr>
          <p:cNvSpPr/>
          <p:nvPr/>
        </p:nvSpPr>
        <p:spPr>
          <a:xfrm flipH="1">
            <a:off x="5162318" y="2378138"/>
            <a:ext cx="316359" cy="228599"/>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r>
              <a:rPr lang="en-US" sz="1600"/>
              <a:t>4</a:t>
            </a:r>
          </a:p>
        </p:txBody>
      </p:sp>
      <p:sp>
        <p:nvSpPr>
          <p:cNvPr id="24" name="Oval 23">
            <a:extLst>
              <a:ext uri="{FF2B5EF4-FFF2-40B4-BE49-F238E27FC236}">
                <a16:creationId xmlns:a16="http://schemas.microsoft.com/office/drawing/2014/main" id="{B5D727BE-0ED4-1D4C-BC38-7613618E0050}"/>
              </a:ext>
            </a:extLst>
          </p:cNvPr>
          <p:cNvSpPr/>
          <p:nvPr/>
        </p:nvSpPr>
        <p:spPr>
          <a:xfrm flipH="1">
            <a:off x="5193903" y="1844824"/>
            <a:ext cx="314201" cy="269874"/>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r>
              <a:rPr lang="en-US" sz="1600"/>
              <a:t>3</a:t>
            </a:r>
          </a:p>
        </p:txBody>
      </p:sp>
      <p:cxnSp>
        <p:nvCxnSpPr>
          <p:cNvPr id="25" name="Shape 11">
            <a:extLst>
              <a:ext uri="{FF2B5EF4-FFF2-40B4-BE49-F238E27FC236}">
                <a16:creationId xmlns:a16="http://schemas.microsoft.com/office/drawing/2014/main" id="{A6B588AE-C04D-724D-9BF4-B1B555BFDC1C}"/>
              </a:ext>
            </a:extLst>
          </p:cNvPr>
          <p:cNvCxnSpPr>
            <a:stCxn id="30" idx="6"/>
            <a:endCxn id="21" idx="6"/>
          </p:cNvCxnSpPr>
          <p:nvPr/>
        </p:nvCxnSpPr>
        <p:spPr>
          <a:xfrm rot="10800000">
            <a:off x="3906912" y="2185381"/>
            <a:ext cx="12700" cy="483296"/>
          </a:xfrm>
          <a:prstGeom prst="curvedConnector3">
            <a:avLst>
              <a:gd name="adj1" fmla="val 1800000"/>
            </a:avLst>
          </a:prstGeom>
          <a:ln>
            <a:tailEnd type="arrow"/>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B34CD5CF-6D99-CE4B-8A87-A76909FF753E}"/>
              </a:ext>
            </a:extLst>
          </p:cNvPr>
          <p:cNvCxnSpPr>
            <a:stCxn id="21" idx="2"/>
            <a:endCxn id="22" idx="6"/>
          </p:cNvCxnSpPr>
          <p:nvPr/>
        </p:nvCxnSpPr>
        <p:spPr>
          <a:xfrm>
            <a:off x="4256460" y="2185381"/>
            <a:ext cx="38046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5392C2BE-219A-5E42-870B-C6F84DEF4BD6}"/>
              </a:ext>
            </a:extLst>
          </p:cNvPr>
          <p:cNvCxnSpPr>
            <a:stCxn id="22" idx="3"/>
            <a:endCxn id="23" idx="7"/>
          </p:cNvCxnSpPr>
          <p:nvPr/>
        </p:nvCxnSpPr>
        <p:spPr>
          <a:xfrm>
            <a:off x="4911438" y="2280796"/>
            <a:ext cx="297210" cy="13082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AB586681-26E0-9D4B-888E-D4AE85E87685}"/>
              </a:ext>
            </a:extLst>
          </p:cNvPr>
          <p:cNvCxnSpPr>
            <a:stCxn id="22" idx="1"/>
            <a:endCxn id="24" idx="6"/>
          </p:cNvCxnSpPr>
          <p:nvPr/>
        </p:nvCxnSpPr>
        <p:spPr>
          <a:xfrm flipV="1">
            <a:off x="4911438" y="1979761"/>
            <a:ext cx="282465" cy="11020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8AE44FF6-30FC-154C-A5D4-B27CA65D5F8E}"/>
              </a:ext>
            </a:extLst>
          </p:cNvPr>
          <p:cNvCxnSpPr>
            <a:cxnSpLocks/>
          </p:cNvCxnSpPr>
          <p:nvPr/>
        </p:nvCxnSpPr>
        <p:spPr>
          <a:xfrm>
            <a:off x="3569597" y="1890834"/>
            <a:ext cx="273714" cy="1991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423D11D4-B0DD-CE40-821C-7730F42C78AA}"/>
              </a:ext>
            </a:extLst>
          </p:cNvPr>
          <p:cNvSpPr/>
          <p:nvPr/>
        </p:nvSpPr>
        <p:spPr>
          <a:xfrm flipH="1">
            <a:off x="3906912" y="2562091"/>
            <a:ext cx="360040" cy="213172"/>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en-US" sz="1600"/>
              <a:t>1</a:t>
            </a:r>
          </a:p>
        </p:txBody>
      </p:sp>
      <p:cxnSp>
        <p:nvCxnSpPr>
          <p:cNvPr id="31" name="Straight Arrow Connector 30">
            <a:extLst>
              <a:ext uri="{FF2B5EF4-FFF2-40B4-BE49-F238E27FC236}">
                <a16:creationId xmlns:a16="http://schemas.microsoft.com/office/drawing/2014/main" id="{096C41FB-E89B-ED42-9B3C-7455D92FAC31}"/>
              </a:ext>
            </a:extLst>
          </p:cNvPr>
          <p:cNvCxnSpPr>
            <a:stCxn id="21" idx="4"/>
            <a:endCxn id="30" idx="0"/>
          </p:cNvCxnSpPr>
          <p:nvPr/>
        </p:nvCxnSpPr>
        <p:spPr>
          <a:xfrm>
            <a:off x="4081686" y="2324511"/>
            <a:ext cx="5246" cy="23758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0D7FD493-CB69-DB43-BC23-DA485C351261}"/>
              </a:ext>
            </a:extLst>
          </p:cNvPr>
          <p:cNvCxnSpPr>
            <a:cxnSpLocks/>
            <a:stCxn id="30" idx="2"/>
            <a:endCxn id="22" idx="5"/>
          </p:cNvCxnSpPr>
          <p:nvPr/>
        </p:nvCxnSpPr>
        <p:spPr>
          <a:xfrm flipV="1">
            <a:off x="4266952" y="2280796"/>
            <a:ext cx="417068" cy="38788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457200" y="274638"/>
            <a:ext cx="8229600" cy="912813"/>
          </a:xfrm>
        </p:spPr>
        <p:txBody>
          <a:bodyPr/>
          <a:lstStyle/>
          <a:p>
            <a:r>
              <a:rPr lang="en-US" dirty="0"/>
              <a:t>Paths as test requirements</a:t>
            </a:r>
          </a:p>
        </p:txBody>
      </p:sp>
      <p:sp>
        <p:nvSpPr>
          <p:cNvPr id="12291" name="Content Placeholder 2"/>
          <p:cNvSpPr>
            <a:spLocks noGrp="1"/>
          </p:cNvSpPr>
          <p:nvPr>
            <p:ph idx="1"/>
          </p:nvPr>
        </p:nvSpPr>
        <p:spPr>
          <a:xfrm>
            <a:off x="457200" y="1417638"/>
            <a:ext cx="8363272" cy="4708525"/>
          </a:xfrm>
        </p:spPr>
        <p:txBody>
          <a:bodyPr/>
          <a:lstStyle/>
          <a:p>
            <a:r>
              <a:rPr lang="en-US" sz="2400" dirty="0"/>
              <a:t>Some plausible definitions of “</a:t>
            </a:r>
            <a:r>
              <a:rPr lang="en-US" sz="2400" dirty="0">
                <a:solidFill>
                  <a:schemeClr val="accent6">
                    <a:lumMod val="60000"/>
                    <a:lumOff val="40000"/>
                  </a:schemeClr>
                </a:solidFill>
              </a:rPr>
              <a:t>test path </a:t>
            </a:r>
            <a:r>
              <a:rPr lang="en-US" sz="2400" i="1" dirty="0">
                <a:solidFill>
                  <a:schemeClr val="accent6">
                    <a:lumMod val="60000"/>
                    <a:lumOff val="40000"/>
                  </a:schemeClr>
                </a:solidFill>
              </a:rPr>
              <a:t>p</a:t>
            </a:r>
            <a:r>
              <a:rPr lang="en-US" sz="2400" dirty="0">
                <a:solidFill>
                  <a:schemeClr val="accent6">
                    <a:lumMod val="60000"/>
                    <a:lumOff val="40000"/>
                  </a:schemeClr>
                </a:solidFill>
              </a:rPr>
              <a:t> covers a required path </a:t>
            </a:r>
            <a:r>
              <a:rPr lang="en-US" sz="2400" i="1" dirty="0">
                <a:solidFill>
                  <a:schemeClr val="accent6">
                    <a:lumMod val="60000"/>
                    <a:lumOff val="40000"/>
                  </a:schemeClr>
                </a:solidFill>
              </a:rPr>
              <a:t>q</a:t>
            </a:r>
            <a:r>
              <a:rPr lang="en-US" sz="2400" i="1" dirty="0"/>
              <a:t>” :</a:t>
            </a:r>
            <a:endParaRPr lang="en-US" sz="2400" dirty="0"/>
          </a:p>
          <a:p>
            <a:pPr marL="914400" lvl="1" indent="-457200">
              <a:buFont typeface="+mj-lt"/>
              <a:buAutoNum type="arabicPeriod"/>
            </a:pPr>
            <a:r>
              <a:rPr lang="en-US" sz="2400" dirty="0"/>
              <a:t>all nodes in </a:t>
            </a:r>
            <a:r>
              <a:rPr lang="en-US" sz="2400" i="1" dirty="0"/>
              <a:t>q</a:t>
            </a:r>
            <a:r>
              <a:rPr lang="en-US" sz="2400" dirty="0"/>
              <a:t> appear in </a:t>
            </a:r>
            <a:r>
              <a:rPr lang="en-US" sz="2400" i="1" dirty="0"/>
              <a:t>p.</a:t>
            </a:r>
          </a:p>
          <a:p>
            <a:pPr marL="914400" lvl="1" indent="-457200">
              <a:buFont typeface="+mj-lt"/>
              <a:buAutoNum type="arabicPeriod"/>
            </a:pPr>
            <a:r>
              <a:rPr lang="en-US" sz="2400" i="1" dirty="0"/>
              <a:t>q</a:t>
            </a:r>
            <a:r>
              <a:rPr lang="en-US" sz="2400" dirty="0"/>
              <a:t> is a </a:t>
            </a:r>
            <a:r>
              <a:rPr lang="en-US" sz="2400" b="1" dirty="0" err="1">
                <a:solidFill>
                  <a:schemeClr val="accent1">
                    <a:lumMod val="50000"/>
                  </a:schemeClr>
                </a:solidFill>
              </a:rPr>
              <a:t>subpath</a:t>
            </a:r>
            <a:r>
              <a:rPr lang="en-US" sz="2400" dirty="0"/>
              <a:t> of p (</a:t>
            </a:r>
            <a:r>
              <a:rPr lang="en-US" sz="2400" i="1" dirty="0"/>
              <a:t>p</a:t>
            </a:r>
            <a:r>
              <a:rPr lang="en-US" sz="2400" dirty="0"/>
              <a:t> can be written as </a:t>
            </a:r>
            <a:r>
              <a:rPr lang="en-US" sz="2400" i="1" dirty="0"/>
              <a:t>prefix</a:t>
            </a:r>
            <a:r>
              <a:rPr lang="en-US" sz="2400" dirty="0"/>
              <a:t> ++ </a:t>
            </a:r>
            <a:r>
              <a:rPr lang="en-US" sz="2400" i="1" dirty="0"/>
              <a:t>q ++ suffix</a:t>
            </a:r>
            <a:r>
              <a:rPr lang="en-US" sz="2400" dirty="0"/>
              <a:t>, for some </a:t>
            </a:r>
            <a:r>
              <a:rPr lang="en-US" sz="2400" i="1" dirty="0"/>
              <a:t>prefix </a:t>
            </a:r>
            <a:r>
              <a:rPr lang="en-US" sz="2400" dirty="0"/>
              <a:t>and</a:t>
            </a:r>
            <a:r>
              <a:rPr lang="en-US" sz="2400" i="1" dirty="0"/>
              <a:t> suffix.</a:t>
            </a:r>
            <a:r>
              <a:rPr lang="en-US" sz="2400" dirty="0"/>
              <a:t> </a:t>
            </a:r>
          </a:p>
          <a:p>
            <a:pPr marL="914400" lvl="1" indent="-457200">
              <a:buFont typeface="+mj-lt"/>
              <a:buAutoNum type="arabicPeriod"/>
            </a:pPr>
            <a:r>
              <a:rPr lang="en-US" sz="2400" i="1" dirty="0"/>
              <a:t>q</a:t>
            </a:r>
            <a:r>
              <a:rPr lang="en-US" sz="2400" dirty="0"/>
              <a:t> is a </a:t>
            </a:r>
            <a:r>
              <a:rPr lang="en-US" sz="2400" b="1" dirty="0">
                <a:solidFill>
                  <a:schemeClr val="accent1">
                    <a:lumMod val="50000"/>
                  </a:schemeClr>
                </a:solidFill>
              </a:rPr>
              <a:t>subsequence</a:t>
            </a:r>
            <a:r>
              <a:rPr lang="en-US" sz="2400" dirty="0"/>
              <a:t> of </a:t>
            </a:r>
            <a:r>
              <a:rPr lang="en-US" sz="2400" i="1" dirty="0"/>
              <a:t>p</a:t>
            </a:r>
            <a:r>
              <a:rPr lang="en-US" sz="2400" dirty="0"/>
              <a:t> (there is a way to delete some elements from </a:t>
            </a:r>
            <a:r>
              <a:rPr lang="en-US" sz="2400" i="1" dirty="0"/>
              <a:t>p</a:t>
            </a:r>
            <a:r>
              <a:rPr lang="en-US" sz="2400" dirty="0"/>
              <a:t> to obtain </a:t>
            </a:r>
            <a:r>
              <a:rPr lang="en-US" sz="2400" i="1" dirty="0"/>
              <a:t>q)</a:t>
            </a:r>
            <a:r>
              <a:rPr lang="en-US" sz="2400" dirty="0"/>
              <a:t>.</a:t>
            </a:r>
          </a:p>
          <a:p>
            <a:r>
              <a:rPr lang="en-US" sz="2400" dirty="0"/>
              <a:t>Example:</a:t>
            </a:r>
          </a:p>
          <a:p>
            <a:pPr lvl="1"/>
            <a:r>
              <a:rPr lang="en-US" sz="2000" dirty="0"/>
              <a:t>[1,2]  is a </a:t>
            </a:r>
            <a:r>
              <a:rPr lang="en-US" sz="2000" dirty="0" err="1"/>
              <a:t>subpath</a:t>
            </a:r>
            <a:r>
              <a:rPr lang="en-US" sz="2000" dirty="0"/>
              <a:t> of [0,1,2,3]</a:t>
            </a:r>
          </a:p>
          <a:p>
            <a:pPr lvl="1"/>
            <a:r>
              <a:rPr lang="en-US" sz="2000" dirty="0"/>
              <a:t>[2,4] and [1,3] are </a:t>
            </a:r>
            <a:r>
              <a:rPr lang="en-US" sz="2000" u="sng" dirty="0"/>
              <a:t>not</a:t>
            </a:r>
            <a:r>
              <a:rPr lang="en-US" sz="2000" i="1" dirty="0"/>
              <a:t> </a:t>
            </a:r>
            <a:r>
              <a:rPr lang="en-US" sz="2000" dirty="0"/>
              <a:t>a </a:t>
            </a:r>
            <a:r>
              <a:rPr lang="en-US" sz="2000" dirty="0" err="1"/>
              <a:t>subpath</a:t>
            </a:r>
            <a:r>
              <a:rPr lang="en-US" sz="2000" dirty="0"/>
              <a:t> of [0,1,2,3]</a:t>
            </a:r>
          </a:p>
          <a:p>
            <a:pPr lvl="1"/>
            <a:r>
              <a:rPr lang="en-US" sz="2000" dirty="0"/>
              <a:t>[1,3] is</a:t>
            </a:r>
            <a:r>
              <a:rPr lang="en-US" sz="2000" i="1" dirty="0"/>
              <a:t> </a:t>
            </a:r>
            <a:r>
              <a:rPr lang="en-US" sz="2000" dirty="0"/>
              <a:t>a subsequence of [0,1,2,3]</a:t>
            </a:r>
            <a:endParaRPr lang="en-US" sz="2400" dirty="0"/>
          </a:p>
          <a:p>
            <a:r>
              <a:rPr lang="en-US" sz="2400" dirty="0"/>
              <a:t>OA use the term “</a:t>
            </a:r>
            <a:r>
              <a:rPr lang="en-US" sz="2400" i="1" dirty="0"/>
              <a:t>p</a:t>
            </a:r>
            <a:r>
              <a:rPr lang="en-US" sz="2400" dirty="0"/>
              <a:t> </a:t>
            </a:r>
            <a:r>
              <a:rPr lang="en-US" sz="2400" b="1" i="1" dirty="0">
                <a:solidFill>
                  <a:schemeClr val="accent1">
                    <a:lumMod val="50000"/>
                  </a:schemeClr>
                </a:solidFill>
              </a:rPr>
              <a:t>tours</a:t>
            </a:r>
            <a:r>
              <a:rPr lang="en-US" sz="2400" dirty="0"/>
              <a:t> </a:t>
            </a:r>
            <a:r>
              <a:rPr lang="en-US" sz="2400" i="1" dirty="0"/>
              <a:t>q</a:t>
            </a:r>
            <a:r>
              <a:rPr lang="en-US" sz="2400" dirty="0"/>
              <a:t>”  =  </a:t>
            </a:r>
            <a:r>
              <a:rPr lang="en-US" sz="2400" i="1" dirty="0"/>
              <a:t>q</a:t>
            </a:r>
            <a:r>
              <a:rPr lang="en-US" sz="2400" dirty="0"/>
              <a:t> is a </a:t>
            </a:r>
            <a:r>
              <a:rPr lang="en-US" sz="2400" i="1" dirty="0" err="1"/>
              <a:t>subpath</a:t>
            </a:r>
            <a:r>
              <a:rPr lang="en-US" sz="2400" dirty="0"/>
              <a:t> of </a:t>
            </a:r>
            <a:r>
              <a:rPr lang="en-US" sz="2400" i="1" dirty="0"/>
              <a:t>p = OA’s default definition of “covering q”.</a:t>
            </a:r>
            <a:endParaRPr lang="en-US" sz="2400" dirty="0"/>
          </a:p>
          <a:p>
            <a:pPr lvl="1"/>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pPr>
              <a:defRPr/>
            </a:pPr>
            <a:fld id="{D3867CB6-7F65-4C88-97DE-8ADACC68C689}" type="slidenum">
              <a:rPr lang="en-US" smtClean="0"/>
              <a:pPr>
                <a:defRPr/>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pPr eaLnBrk="1" hangingPunct="1"/>
            <a:r>
              <a:rPr lang="en-US" dirty="0"/>
              <a:t>Some basic graph coverage criteria</a:t>
            </a:r>
          </a:p>
        </p:txBody>
      </p:sp>
      <p:sp>
        <p:nvSpPr>
          <p:cNvPr id="14339" name="Content Placeholder 2"/>
          <p:cNvSpPr>
            <a:spLocks noGrp="1"/>
          </p:cNvSpPr>
          <p:nvPr>
            <p:ph idx="1"/>
          </p:nvPr>
        </p:nvSpPr>
        <p:spPr>
          <a:xfrm>
            <a:off x="457200" y="1700808"/>
            <a:ext cx="8229600" cy="4514255"/>
          </a:xfrm>
        </p:spPr>
        <p:txBody>
          <a:bodyPr/>
          <a:lstStyle/>
          <a:p>
            <a:pPr eaLnBrk="1" hangingPunct="1"/>
            <a:r>
              <a:rPr lang="en-US" sz="2800" dirty="0"/>
              <a:t>(C2.1/2</a:t>
            </a:r>
            <a:r>
              <a:rPr lang="en-US" sz="2800" baseline="30000" dirty="0"/>
              <a:t>nd</a:t>
            </a:r>
            <a:r>
              <a:rPr lang="en-US" sz="2800" dirty="0"/>
              <a:t> Ed. C7.7) </a:t>
            </a:r>
            <a:r>
              <a:rPr lang="en-US" sz="2800" b="1" dirty="0"/>
              <a:t>Node coverage</a:t>
            </a:r>
            <a:r>
              <a:rPr lang="en-US" sz="2800" dirty="0"/>
              <a:t>: the </a:t>
            </a:r>
            <a:r>
              <a:rPr lang="en-US" sz="2800" i="1" dirty="0"/>
              <a:t>TR</a:t>
            </a:r>
            <a:r>
              <a:rPr lang="en-US" sz="2800" dirty="0"/>
              <a:t> is the set of paths of length 0 in G.</a:t>
            </a:r>
          </a:p>
          <a:p>
            <a:pPr marL="0" indent="0" eaLnBrk="1" hangingPunct="1">
              <a:buNone/>
            </a:pPr>
            <a:endParaRPr lang="en-US" sz="2800" dirty="0"/>
          </a:p>
          <a:p>
            <a:pPr eaLnBrk="1" hangingPunct="1"/>
            <a:r>
              <a:rPr lang="en-US" sz="2800" dirty="0"/>
              <a:t>(C2.2/2</a:t>
            </a:r>
            <a:r>
              <a:rPr lang="en-US" sz="2800" baseline="30000" dirty="0"/>
              <a:t>nd</a:t>
            </a:r>
            <a:r>
              <a:rPr lang="en-US" sz="2800" dirty="0"/>
              <a:t> Ed. C7.8) </a:t>
            </a:r>
            <a:r>
              <a:rPr lang="en-US" sz="2800" i="1" dirty="0"/>
              <a:t>TR</a:t>
            </a:r>
            <a:r>
              <a:rPr lang="en-US" sz="2800" dirty="0"/>
              <a:t> is the set of paths of length at most 1 in G.</a:t>
            </a:r>
          </a:p>
          <a:p>
            <a:pPr lvl="1" eaLnBrk="1" hangingPunct="1"/>
            <a:r>
              <a:rPr lang="en-US" dirty="0"/>
              <a:t>So, what does this criterion tell?</a:t>
            </a:r>
          </a:p>
          <a:p>
            <a:pPr lvl="1" eaLnBrk="1" hangingPunct="1"/>
            <a:r>
              <a:rPr lang="en-US" dirty="0"/>
              <a:t>Why “at most” ? </a:t>
            </a:r>
          </a:p>
          <a:p>
            <a:pPr marL="457200" lvl="1" indent="0" eaLnBrk="1" hangingPunct="1">
              <a:buNone/>
            </a:pPr>
            <a:endParaRPr lang="en-US" dirty="0"/>
          </a:p>
          <a:p>
            <a:pPr eaLnBrk="1" hangingPunct="1"/>
            <a:r>
              <a:rPr lang="en-US" sz="2800" dirty="0"/>
              <a:t>(C2.3/2</a:t>
            </a:r>
            <a:r>
              <a:rPr lang="en-US" sz="2800" baseline="30000" dirty="0"/>
              <a:t>nd</a:t>
            </a:r>
            <a:r>
              <a:rPr lang="en-US" sz="2800" dirty="0"/>
              <a:t> Ed. C7.9) </a:t>
            </a:r>
            <a:r>
              <a:rPr lang="en-US" sz="2800" b="1" dirty="0"/>
              <a:t>Edge-pair coverage</a:t>
            </a:r>
            <a:r>
              <a:rPr lang="en-US" sz="2800" dirty="0"/>
              <a:t>: the TR contains all paths of length at most 2.</a:t>
            </a:r>
          </a:p>
        </p:txBody>
      </p:sp>
      <p:sp>
        <p:nvSpPr>
          <p:cNvPr id="4" name="Slide Number Placeholder 3"/>
          <p:cNvSpPr>
            <a:spLocks noGrp="1"/>
          </p:cNvSpPr>
          <p:nvPr>
            <p:ph type="sldNum" sz="quarter" idx="12"/>
          </p:nvPr>
        </p:nvSpPr>
        <p:spPr/>
        <p:txBody>
          <a:bodyPr/>
          <a:lstStyle/>
          <a:p>
            <a:pPr>
              <a:defRPr/>
            </a:pPr>
            <a:fld id="{25A73DE8-99F2-493B-B2CE-21FB255BDB0D}" type="slidenum">
              <a:rPr lang="en-US" smtClean="0"/>
              <a:pPr>
                <a:defRPr/>
              </a:pPr>
              <a:t>14</a:t>
            </a:fld>
            <a:endParaRPr lang="en-US"/>
          </a:p>
        </p:txBody>
      </p:sp>
    </p:spTree>
    <p:extLst>
      <p:ext uri="{BB962C8B-B14F-4D97-AF65-F5344CB8AC3E}">
        <p14:creationId xmlns:p14="http://schemas.microsoft.com/office/powerpoint/2010/main" val="24399589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457200" y="274638"/>
            <a:ext cx="8229600" cy="706074"/>
          </a:xfrm>
        </p:spPr>
        <p:txBody>
          <a:bodyPr/>
          <a:lstStyle/>
          <a:p>
            <a:pPr eaLnBrk="1" hangingPunct="1"/>
            <a:r>
              <a:rPr lang="en-US" dirty="0"/>
              <a:t>Examples</a:t>
            </a:r>
          </a:p>
        </p:txBody>
      </p:sp>
      <p:sp>
        <p:nvSpPr>
          <p:cNvPr id="14339" name="Content Placeholder 2"/>
          <p:cNvSpPr>
            <a:spLocks noGrp="1"/>
          </p:cNvSpPr>
          <p:nvPr>
            <p:ph idx="1"/>
          </p:nvPr>
        </p:nvSpPr>
        <p:spPr>
          <a:xfrm>
            <a:off x="457200" y="1124744"/>
            <a:ext cx="8229600" cy="5376069"/>
          </a:xfrm>
        </p:spPr>
        <p:txBody>
          <a:bodyPr/>
          <a:lstStyle/>
          <a:p>
            <a:pPr eaLnBrk="1" hangingPunct="1"/>
            <a:r>
              <a:rPr lang="en-US" sz="2400" dirty="0"/>
              <a:t>Consider these examples:</a:t>
            </a:r>
            <a:br>
              <a:rPr lang="en-US" sz="2400" dirty="0"/>
            </a:br>
            <a:endParaRPr lang="en-US" sz="2400" dirty="0"/>
          </a:p>
          <a:p>
            <a:pPr eaLnBrk="1" hangingPunct="1"/>
            <a:endParaRPr lang="en-US" sz="2400" dirty="0"/>
          </a:p>
          <a:p>
            <a:pPr eaLnBrk="1" hangingPunct="1"/>
            <a:endParaRPr lang="en-US" sz="2400" dirty="0"/>
          </a:p>
          <a:p>
            <a:pPr eaLnBrk="1" hangingPunct="1"/>
            <a:endParaRPr lang="en-US" sz="2400" dirty="0"/>
          </a:p>
          <a:p>
            <a:pPr eaLnBrk="1" hangingPunct="1"/>
            <a:endParaRPr lang="en-US" sz="2400" dirty="0"/>
          </a:p>
          <a:p>
            <a:pPr eaLnBrk="1" hangingPunct="1"/>
            <a:r>
              <a:rPr lang="en-US" sz="2400" dirty="0"/>
              <a:t>What do we have to cover in C2.1, C2.2, and C2.3?</a:t>
            </a:r>
          </a:p>
          <a:p>
            <a:pPr eaLnBrk="1" hangingPunct="1"/>
            <a:r>
              <a:rPr lang="en-US" sz="2400" dirty="0"/>
              <a:t>What would be the minimal test set for each?</a:t>
            </a:r>
          </a:p>
          <a:p>
            <a:pPr eaLnBrk="1" hangingPunct="1"/>
            <a:endParaRPr lang="en-US" sz="2400" dirty="0"/>
          </a:p>
        </p:txBody>
      </p:sp>
      <p:sp>
        <p:nvSpPr>
          <p:cNvPr id="4" name="Slide Number Placeholder 3"/>
          <p:cNvSpPr>
            <a:spLocks noGrp="1"/>
          </p:cNvSpPr>
          <p:nvPr>
            <p:ph type="sldNum" sz="quarter" idx="12"/>
          </p:nvPr>
        </p:nvSpPr>
        <p:spPr/>
        <p:txBody>
          <a:bodyPr/>
          <a:lstStyle/>
          <a:p>
            <a:pPr>
              <a:defRPr/>
            </a:pPr>
            <a:fld id="{FB6DC0AB-7C64-4E69-ACC0-2484A5416078}" type="slidenum">
              <a:rPr lang="en-US" smtClean="0"/>
              <a:pPr>
                <a:defRPr/>
              </a:pPr>
              <a:t>15</a:t>
            </a:fld>
            <a:endParaRPr lang="en-US"/>
          </a:p>
        </p:txBody>
      </p:sp>
      <p:grpSp>
        <p:nvGrpSpPr>
          <p:cNvPr id="15399" name="Group 11"/>
          <p:cNvGrpSpPr>
            <a:grpSpLocks/>
          </p:cNvGrpSpPr>
          <p:nvPr/>
        </p:nvGrpSpPr>
        <p:grpSpPr bwMode="auto">
          <a:xfrm>
            <a:off x="1043608" y="2443177"/>
            <a:ext cx="555625" cy="469900"/>
            <a:chOff x="4288" y="1746"/>
            <a:chExt cx="350" cy="296"/>
          </a:xfrm>
        </p:grpSpPr>
        <p:sp>
          <p:nvSpPr>
            <p:cNvPr id="15411" name="Oval 12"/>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15412" name="Text Box 13"/>
            <p:cNvSpPr txBox="1">
              <a:spLocks noChangeArrowheads="1"/>
            </p:cNvSpPr>
            <p:nvPr/>
          </p:nvSpPr>
          <p:spPr bwMode="auto">
            <a:xfrm>
              <a:off x="4364" y="1769"/>
              <a:ext cx="197" cy="233"/>
            </a:xfrm>
            <a:prstGeom prst="rect">
              <a:avLst/>
            </a:prstGeom>
            <a:noFill/>
            <a:ln w="12700">
              <a:noFill/>
              <a:miter lim="800000"/>
              <a:headEnd type="none" w="sm" len="sm"/>
              <a:tailEnd type="none" w="sm" len="sm"/>
            </a:ln>
          </p:spPr>
          <p:txBody>
            <a:bodyPr wrap="none">
              <a:spAutoFit/>
            </a:bodyPr>
            <a:lstStyle/>
            <a:p>
              <a:pPr algn="r"/>
              <a:r>
                <a:rPr lang="en-US">
                  <a:solidFill>
                    <a:srgbClr val="FFFF00"/>
                  </a:solidFill>
                </a:rPr>
                <a:t>1</a:t>
              </a:r>
            </a:p>
          </p:txBody>
        </p:sp>
      </p:grpSp>
      <p:grpSp>
        <p:nvGrpSpPr>
          <p:cNvPr id="15405" name="Group 15"/>
          <p:cNvGrpSpPr>
            <a:grpSpLocks/>
          </p:cNvGrpSpPr>
          <p:nvPr/>
        </p:nvGrpSpPr>
        <p:grpSpPr bwMode="auto">
          <a:xfrm>
            <a:off x="1877045" y="2927364"/>
            <a:ext cx="555625" cy="469900"/>
            <a:chOff x="4738" y="2684"/>
            <a:chExt cx="350" cy="296"/>
          </a:xfrm>
        </p:grpSpPr>
        <p:sp>
          <p:nvSpPr>
            <p:cNvPr id="15409" name="Oval 16"/>
            <p:cNvSpPr>
              <a:spLocks noChangeArrowheads="1"/>
            </p:cNvSpPr>
            <p:nvPr/>
          </p:nvSpPr>
          <p:spPr bwMode="auto">
            <a:xfrm>
              <a:off x="47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chemeClr val="bg1"/>
                </a:solidFill>
              </a:endParaRPr>
            </a:p>
          </p:txBody>
        </p:sp>
        <p:sp>
          <p:nvSpPr>
            <p:cNvPr id="15410" name="Text Box 17"/>
            <p:cNvSpPr txBox="1">
              <a:spLocks noChangeArrowheads="1"/>
            </p:cNvSpPr>
            <p:nvPr/>
          </p:nvSpPr>
          <p:spPr bwMode="auto">
            <a:xfrm>
              <a:off x="4815" y="2707"/>
              <a:ext cx="197" cy="233"/>
            </a:xfrm>
            <a:prstGeom prst="rect">
              <a:avLst/>
            </a:prstGeom>
            <a:noFill/>
            <a:ln w="12700">
              <a:noFill/>
              <a:miter lim="800000"/>
              <a:headEnd type="none" w="sm" len="sm"/>
              <a:tailEnd type="none" w="sm" len="sm"/>
            </a:ln>
          </p:spPr>
          <p:txBody>
            <a:bodyPr wrap="none">
              <a:spAutoFit/>
            </a:bodyPr>
            <a:lstStyle/>
            <a:p>
              <a:r>
                <a:rPr lang="en-US">
                  <a:solidFill>
                    <a:schemeClr val="bg1"/>
                  </a:solidFill>
                </a:rPr>
                <a:t>2</a:t>
              </a:r>
            </a:p>
          </p:txBody>
        </p:sp>
      </p:grpSp>
      <p:grpSp>
        <p:nvGrpSpPr>
          <p:cNvPr id="15406" name="Group 18"/>
          <p:cNvGrpSpPr>
            <a:grpSpLocks/>
          </p:cNvGrpSpPr>
          <p:nvPr/>
        </p:nvGrpSpPr>
        <p:grpSpPr bwMode="auto">
          <a:xfrm>
            <a:off x="1924670" y="1955814"/>
            <a:ext cx="555625" cy="469900"/>
            <a:chOff x="3838" y="2684"/>
            <a:chExt cx="350" cy="296"/>
          </a:xfrm>
        </p:grpSpPr>
        <p:sp>
          <p:nvSpPr>
            <p:cNvPr id="15407" name="Oval 19"/>
            <p:cNvSpPr>
              <a:spLocks noChangeArrowheads="1"/>
            </p:cNvSpPr>
            <p:nvPr/>
          </p:nvSpPr>
          <p:spPr bwMode="auto">
            <a:xfrm>
              <a:off x="38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15408" name="Text Box 20"/>
            <p:cNvSpPr txBox="1">
              <a:spLocks noChangeArrowheads="1"/>
            </p:cNvSpPr>
            <p:nvPr/>
          </p:nvSpPr>
          <p:spPr bwMode="auto">
            <a:xfrm>
              <a:off x="3915" y="2707"/>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0</a:t>
              </a:r>
            </a:p>
          </p:txBody>
        </p:sp>
      </p:grpSp>
      <p:sp>
        <p:nvSpPr>
          <p:cNvPr id="15401" name="Line 24"/>
          <p:cNvSpPr>
            <a:spLocks noChangeShapeType="1"/>
          </p:cNvSpPr>
          <p:nvPr/>
        </p:nvSpPr>
        <p:spPr bwMode="auto">
          <a:xfrm flipV="1">
            <a:off x="1591295" y="2316177"/>
            <a:ext cx="396875" cy="265113"/>
          </a:xfrm>
          <a:prstGeom prst="line">
            <a:avLst/>
          </a:prstGeom>
          <a:noFill/>
          <a:ln w="19050">
            <a:solidFill>
              <a:schemeClr val="tx1"/>
            </a:solidFill>
            <a:round/>
            <a:headEnd type="arrow" w="med" len="med"/>
            <a:tailEnd/>
          </a:ln>
        </p:spPr>
        <p:txBody>
          <a:bodyPr/>
          <a:lstStyle/>
          <a:p>
            <a:endParaRPr lang="en-US"/>
          </a:p>
        </p:txBody>
      </p:sp>
      <p:sp>
        <p:nvSpPr>
          <p:cNvPr id="15402" name="Line 39"/>
          <p:cNvSpPr>
            <a:spLocks noChangeShapeType="1"/>
          </p:cNvSpPr>
          <p:nvPr/>
        </p:nvSpPr>
        <p:spPr bwMode="auto">
          <a:xfrm>
            <a:off x="1559545" y="2830527"/>
            <a:ext cx="346075" cy="249238"/>
          </a:xfrm>
          <a:prstGeom prst="line">
            <a:avLst/>
          </a:prstGeom>
          <a:noFill/>
          <a:ln w="19050">
            <a:solidFill>
              <a:schemeClr val="tx1"/>
            </a:solidFill>
            <a:round/>
            <a:headEnd type="none" w="sm" len="sm"/>
            <a:tailEnd type="arrow" w="med" len="med"/>
          </a:ln>
        </p:spPr>
        <p:txBody>
          <a:bodyPr/>
          <a:lstStyle/>
          <a:p>
            <a:endParaRPr lang="en-US"/>
          </a:p>
        </p:txBody>
      </p:sp>
      <p:sp>
        <p:nvSpPr>
          <p:cNvPr id="15403" name="Line 44"/>
          <p:cNvSpPr>
            <a:spLocks noChangeShapeType="1"/>
          </p:cNvSpPr>
          <p:nvPr/>
        </p:nvSpPr>
        <p:spPr bwMode="auto">
          <a:xfrm>
            <a:off x="2178670" y="2428889"/>
            <a:ext cx="0" cy="498475"/>
          </a:xfrm>
          <a:prstGeom prst="line">
            <a:avLst/>
          </a:prstGeom>
          <a:noFill/>
          <a:ln w="19050">
            <a:solidFill>
              <a:schemeClr val="tx1"/>
            </a:solidFill>
            <a:round/>
            <a:headEnd type="none" w="sm" len="sm"/>
            <a:tailEnd type="arrow" w="med" len="med"/>
          </a:ln>
        </p:spPr>
        <p:txBody>
          <a:bodyPr/>
          <a:lstStyle/>
          <a:p>
            <a:endParaRPr lang="en-US"/>
          </a:p>
        </p:txBody>
      </p:sp>
      <p:sp>
        <p:nvSpPr>
          <p:cNvPr id="15404" name="Line 45"/>
          <p:cNvSpPr>
            <a:spLocks noChangeShapeType="1"/>
          </p:cNvSpPr>
          <p:nvPr/>
        </p:nvSpPr>
        <p:spPr bwMode="auto">
          <a:xfrm>
            <a:off x="2178670" y="1647839"/>
            <a:ext cx="0" cy="295275"/>
          </a:xfrm>
          <a:prstGeom prst="line">
            <a:avLst/>
          </a:prstGeom>
          <a:noFill/>
          <a:ln w="19050">
            <a:solidFill>
              <a:schemeClr val="tx1"/>
            </a:solidFill>
            <a:round/>
            <a:headEnd type="none" w="sm" len="sm"/>
            <a:tailEnd type="arrow" w="med" len="med"/>
          </a:ln>
        </p:spPr>
        <p:txBody>
          <a:bodyPr/>
          <a:lstStyle/>
          <a:p>
            <a:endParaRPr lang="en-US"/>
          </a:p>
        </p:txBody>
      </p:sp>
      <p:grpSp>
        <p:nvGrpSpPr>
          <p:cNvPr id="15367" name="Group 18"/>
          <p:cNvGrpSpPr>
            <a:grpSpLocks/>
          </p:cNvGrpSpPr>
          <p:nvPr/>
        </p:nvGrpSpPr>
        <p:grpSpPr bwMode="auto">
          <a:xfrm>
            <a:off x="3852493" y="2449163"/>
            <a:ext cx="555625" cy="469900"/>
            <a:chOff x="4288" y="1746"/>
            <a:chExt cx="350" cy="296"/>
          </a:xfrm>
        </p:grpSpPr>
        <p:sp>
          <p:nvSpPr>
            <p:cNvPr id="15397" name="Oval 5"/>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15398" name="Text Box 6"/>
            <p:cNvSpPr txBox="1">
              <a:spLocks noChangeArrowheads="1"/>
            </p:cNvSpPr>
            <p:nvPr/>
          </p:nvSpPr>
          <p:spPr bwMode="auto">
            <a:xfrm>
              <a:off x="4364" y="1769"/>
              <a:ext cx="197" cy="233"/>
            </a:xfrm>
            <a:prstGeom prst="rect">
              <a:avLst/>
            </a:prstGeom>
            <a:noFill/>
            <a:ln w="12700">
              <a:noFill/>
              <a:miter lim="800000"/>
              <a:headEnd type="none" w="sm" len="sm"/>
              <a:tailEnd type="none" w="sm" len="sm"/>
            </a:ln>
          </p:spPr>
          <p:txBody>
            <a:bodyPr wrap="none">
              <a:spAutoFit/>
            </a:bodyPr>
            <a:lstStyle/>
            <a:p>
              <a:pPr algn="r"/>
              <a:r>
                <a:rPr lang="en-US">
                  <a:solidFill>
                    <a:srgbClr val="FFFF00"/>
                  </a:solidFill>
                </a:rPr>
                <a:t>0</a:t>
              </a:r>
            </a:p>
          </p:txBody>
        </p:sp>
      </p:grpSp>
      <p:grpSp>
        <p:nvGrpSpPr>
          <p:cNvPr id="15368" name="Group 31"/>
          <p:cNvGrpSpPr>
            <a:grpSpLocks/>
          </p:cNvGrpSpPr>
          <p:nvPr/>
        </p:nvGrpSpPr>
        <p:grpSpPr bwMode="auto">
          <a:xfrm>
            <a:off x="4685930" y="1961801"/>
            <a:ext cx="603250" cy="1441450"/>
            <a:chOff x="1346" y="2965"/>
            <a:chExt cx="380" cy="908"/>
          </a:xfrm>
        </p:grpSpPr>
        <p:grpSp>
          <p:nvGrpSpPr>
            <p:cNvPr id="15391" name="Group 19"/>
            <p:cNvGrpSpPr>
              <a:grpSpLocks/>
            </p:cNvGrpSpPr>
            <p:nvPr/>
          </p:nvGrpSpPr>
          <p:grpSpPr bwMode="auto">
            <a:xfrm>
              <a:off x="1346" y="3577"/>
              <a:ext cx="350" cy="296"/>
              <a:chOff x="4738" y="2684"/>
              <a:chExt cx="350" cy="296"/>
            </a:xfrm>
          </p:grpSpPr>
          <p:sp>
            <p:nvSpPr>
              <p:cNvPr id="15395" name="Oval 7"/>
              <p:cNvSpPr>
                <a:spLocks noChangeArrowheads="1"/>
              </p:cNvSpPr>
              <p:nvPr/>
            </p:nvSpPr>
            <p:spPr bwMode="auto">
              <a:xfrm>
                <a:off x="47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15396" name="Text Box 8"/>
              <p:cNvSpPr txBox="1">
                <a:spLocks noChangeArrowheads="1"/>
              </p:cNvSpPr>
              <p:nvPr/>
            </p:nvSpPr>
            <p:spPr bwMode="auto">
              <a:xfrm>
                <a:off x="4815" y="2707"/>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2</a:t>
                </a:r>
              </a:p>
            </p:txBody>
          </p:sp>
        </p:grpSp>
        <p:grpSp>
          <p:nvGrpSpPr>
            <p:cNvPr id="15392" name="Group 20"/>
            <p:cNvGrpSpPr>
              <a:grpSpLocks/>
            </p:cNvGrpSpPr>
            <p:nvPr/>
          </p:nvGrpSpPr>
          <p:grpSpPr bwMode="auto">
            <a:xfrm>
              <a:off x="1376" y="2965"/>
              <a:ext cx="350" cy="296"/>
              <a:chOff x="3838" y="2684"/>
              <a:chExt cx="350" cy="296"/>
            </a:xfrm>
          </p:grpSpPr>
          <p:sp>
            <p:nvSpPr>
              <p:cNvPr id="15393" name="Oval 9"/>
              <p:cNvSpPr>
                <a:spLocks noChangeArrowheads="1"/>
              </p:cNvSpPr>
              <p:nvPr/>
            </p:nvSpPr>
            <p:spPr bwMode="auto">
              <a:xfrm>
                <a:off x="38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15394" name="Text Box 10"/>
              <p:cNvSpPr txBox="1">
                <a:spLocks noChangeArrowheads="1"/>
              </p:cNvSpPr>
              <p:nvPr/>
            </p:nvSpPr>
            <p:spPr bwMode="auto">
              <a:xfrm>
                <a:off x="3915" y="2707"/>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1</a:t>
                </a:r>
              </a:p>
            </p:txBody>
          </p:sp>
        </p:grpSp>
      </p:grpSp>
      <p:grpSp>
        <p:nvGrpSpPr>
          <p:cNvPr id="15369" name="Group 21"/>
          <p:cNvGrpSpPr>
            <a:grpSpLocks/>
          </p:cNvGrpSpPr>
          <p:nvPr/>
        </p:nvGrpSpPr>
        <p:grpSpPr bwMode="auto">
          <a:xfrm>
            <a:off x="7283080" y="2449163"/>
            <a:ext cx="555625" cy="469900"/>
            <a:chOff x="4288" y="3622"/>
            <a:chExt cx="350" cy="296"/>
          </a:xfrm>
        </p:grpSpPr>
        <p:sp>
          <p:nvSpPr>
            <p:cNvPr id="15389" name="Oval 11"/>
            <p:cNvSpPr>
              <a:spLocks noChangeArrowheads="1"/>
            </p:cNvSpPr>
            <p:nvPr/>
          </p:nvSpPr>
          <p:spPr bwMode="auto">
            <a:xfrm>
              <a:off x="4288" y="3622"/>
              <a:ext cx="350" cy="296"/>
            </a:xfrm>
            <a:prstGeom prst="ellipse">
              <a:avLst/>
            </a:prstGeom>
            <a:solidFill>
              <a:srgbClr val="0066FF"/>
            </a:solidFill>
            <a:ln w="38100">
              <a:solidFill>
                <a:schemeClr val="tx1"/>
              </a:solidFill>
              <a:round/>
              <a:headEnd type="none" w="sm" len="sm"/>
              <a:tailEnd type="none" w="sm" len="sm"/>
            </a:ln>
          </p:spPr>
          <p:txBody>
            <a:bodyPr wrap="none" anchor="ctr"/>
            <a:lstStyle/>
            <a:p>
              <a:endParaRPr lang="nl-NL">
                <a:solidFill>
                  <a:schemeClr val="bg1"/>
                </a:solidFill>
              </a:endParaRPr>
            </a:p>
          </p:txBody>
        </p:sp>
        <p:sp>
          <p:nvSpPr>
            <p:cNvPr id="15390" name="Text Box 12"/>
            <p:cNvSpPr txBox="1">
              <a:spLocks noChangeArrowheads="1"/>
            </p:cNvSpPr>
            <p:nvPr/>
          </p:nvSpPr>
          <p:spPr bwMode="auto">
            <a:xfrm>
              <a:off x="4365" y="3645"/>
              <a:ext cx="197" cy="233"/>
            </a:xfrm>
            <a:prstGeom prst="rect">
              <a:avLst/>
            </a:prstGeom>
            <a:noFill/>
            <a:ln w="12700">
              <a:noFill/>
              <a:miter lim="800000"/>
              <a:headEnd type="none" w="sm" len="sm"/>
              <a:tailEnd type="none" w="sm" len="sm"/>
            </a:ln>
          </p:spPr>
          <p:txBody>
            <a:bodyPr wrap="none">
              <a:spAutoFit/>
            </a:bodyPr>
            <a:lstStyle/>
            <a:p>
              <a:r>
                <a:rPr lang="en-US" dirty="0">
                  <a:solidFill>
                    <a:schemeClr val="bg1"/>
                  </a:solidFill>
                </a:rPr>
                <a:t>6</a:t>
              </a:r>
            </a:p>
          </p:txBody>
        </p:sp>
      </p:grpSp>
      <p:sp>
        <p:nvSpPr>
          <p:cNvPr id="15370" name="Line 13"/>
          <p:cNvSpPr>
            <a:spLocks noChangeShapeType="1"/>
          </p:cNvSpPr>
          <p:nvPr/>
        </p:nvSpPr>
        <p:spPr bwMode="auto">
          <a:xfrm flipV="1">
            <a:off x="4400180" y="2322163"/>
            <a:ext cx="396875" cy="265112"/>
          </a:xfrm>
          <a:prstGeom prst="line">
            <a:avLst/>
          </a:prstGeom>
          <a:noFill/>
          <a:ln w="19050">
            <a:solidFill>
              <a:schemeClr val="tx1"/>
            </a:solidFill>
            <a:round/>
            <a:headEnd type="none" w="sm" len="sm"/>
            <a:tailEnd type="arrow" w="med" len="med"/>
          </a:ln>
        </p:spPr>
        <p:txBody>
          <a:bodyPr/>
          <a:lstStyle/>
          <a:p>
            <a:endParaRPr lang="en-US"/>
          </a:p>
        </p:txBody>
      </p:sp>
      <p:sp>
        <p:nvSpPr>
          <p:cNvPr id="15371" name="Line 17"/>
          <p:cNvSpPr>
            <a:spLocks noChangeShapeType="1"/>
          </p:cNvSpPr>
          <p:nvPr/>
        </p:nvSpPr>
        <p:spPr bwMode="auto">
          <a:xfrm>
            <a:off x="3492130" y="2684113"/>
            <a:ext cx="354013" cy="0"/>
          </a:xfrm>
          <a:prstGeom prst="line">
            <a:avLst/>
          </a:prstGeom>
          <a:noFill/>
          <a:ln w="19050">
            <a:solidFill>
              <a:schemeClr val="tx1"/>
            </a:solidFill>
            <a:round/>
            <a:headEnd type="none" w="sm" len="sm"/>
            <a:tailEnd type="arrow" w="med" len="med"/>
          </a:ln>
        </p:spPr>
        <p:txBody>
          <a:bodyPr/>
          <a:lstStyle/>
          <a:p>
            <a:endParaRPr lang="en-US"/>
          </a:p>
        </p:txBody>
      </p:sp>
      <p:grpSp>
        <p:nvGrpSpPr>
          <p:cNvPr id="15372" name="Group 22"/>
          <p:cNvGrpSpPr>
            <a:grpSpLocks/>
          </p:cNvGrpSpPr>
          <p:nvPr/>
        </p:nvGrpSpPr>
        <p:grpSpPr bwMode="auto">
          <a:xfrm>
            <a:off x="5566993" y="2449163"/>
            <a:ext cx="555625" cy="469900"/>
            <a:chOff x="4288" y="1746"/>
            <a:chExt cx="350" cy="296"/>
          </a:xfrm>
        </p:grpSpPr>
        <p:sp>
          <p:nvSpPr>
            <p:cNvPr id="15387" name="Oval 23"/>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15388" name="Text Box 24"/>
            <p:cNvSpPr txBox="1">
              <a:spLocks noChangeArrowheads="1"/>
            </p:cNvSpPr>
            <p:nvPr/>
          </p:nvSpPr>
          <p:spPr bwMode="auto">
            <a:xfrm>
              <a:off x="4364" y="1769"/>
              <a:ext cx="197" cy="233"/>
            </a:xfrm>
            <a:prstGeom prst="rect">
              <a:avLst/>
            </a:prstGeom>
            <a:noFill/>
            <a:ln w="12700">
              <a:noFill/>
              <a:miter lim="800000"/>
              <a:headEnd type="none" w="sm" len="sm"/>
              <a:tailEnd type="none" w="sm" len="sm"/>
            </a:ln>
          </p:spPr>
          <p:txBody>
            <a:bodyPr wrap="none">
              <a:spAutoFit/>
            </a:bodyPr>
            <a:lstStyle/>
            <a:p>
              <a:pPr algn="r"/>
              <a:r>
                <a:rPr lang="en-US">
                  <a:solidFill>
                    <a:srgbClr val="FFFF00"/>
                  </a:solidFill>
                </a:rPr>
                <a:t>3</a:t>
              </a:r>
            </a:p>
          </p:txBody>
        </p:sp>
      </p:grpSp>
      <p:grpSp>
        <p:nvGrpSpPr>
          <p:cNvPr id="15373" name="Group 32"/>
          <p:cNvGrpSpPr>
            <a:grpSpLocks/>
          </p:cNvGrpSpPr>
          <p:nvPr/>
        </p:nvGrpSpPr>
        <p:grpSpPr bwMode="auto">
          <a:xfrm>
            <a:off x="6400430" y="1963388"/>
            <a:ext cx="603250" cy="1441450"/>
            <a:chOff x="2450" y="2968"/>
            <a:chExt cx="380" cy="908"/>
          </a:xfrm>
        </p:grpSpPr>
        <p:grpSp>
          <p:nvGrpSpPr>
            <p:cNvPr id="15381" name="Group 25"/>
            <p:cNvGrpSpPr>
              <a:grpSpLocks/>
            </p:cNvGrpSpPr>
            <p:nvPr/>
          </p:nvGrpSpPr>
          <p:grpSpPr bwMode="auto">
            <a:xfrm>
              <a:off x="2450" y="3580"/>
              <a:ext cx="350" cy="296"/>
              <a:chOff x="4738" y="2684"/>
              <a:chExt cx="350" cy="296"/>
            </a:xfrm>
          </p:grpSpPr>
          <p:sp>
            <p:nvSpPr>
              <p:cNvPr id="15385" name="Oval 26"/>
              <p:cNvSpPr>
                <a:spLocks noChangeArrowheads="1"/>
              </p:cNvSpPr>
              <p:nvPr/>
            </p:nvSpPr>
            <p:spPr bwMode="auto">
              <a:xfrm>
                <a:off x="47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15386" name="Text Box 27"/>
              <p:cNvSpPr txBox="1">
                <a:spLocks noChangeArrowheads="1"/>
              </p:cNvSpPr>
              <p:nvPr/>
            </p:nvSpPr>
            <p:spPr bwMode="auto">
              <a:xfrm>
                <a:off x="4815" y="2707"/>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5</a:t>
                </a:r>
              </a:p>
            </p:txBody>
          </p:sp>
        </p:grpSp>
        <p:grpSp>
          <p:nvGrpSpPr>
            <p:cNvPr id="15382" name="Group 28"/>
            <p:cNvGrpSpPr>
              <a:grpSpLocks/>
            </p:cNvGrpSpPr>
            <p:nvPr/>
          </p:nvGrpSpPr>
          <p:grpSpPr bwMode="auto">
            <a:xfrm>
              <a:off x="2480" y="2968"/>
              <a:ext cx="350" cy="296"/>
              <a:chOff x="3838" y="2684"/>
              <a:chExt cx="350" cy="296"/>
            </a:xfrm>
          </p:grpSpPr>
          <p:sp>
            <p:nvSpPr>
              <p:cNvPr id="15383" name="Oval 29"/>
              <p:cNvSpPr>
                <a:spLocks noChangeArrowheads="1"/>
              </p:cNvSpPr>
              <p:nvPr/>
            </p:nvSpPr>
            <p:spPr bwMode="auto">
              <a:xfrm>
                <a:off x="38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15384" name="Text Box 30"/>
              <p:cNvSpPr txBox="1">
                <a:spLocks noChangeArrowheads="1"/>
              </p:cNvSpPr>
              <p:nvPr/>
            </p:nvSpPr>
            <p:spPr bwMode="auto">
              <a:xfrm>
                <a:off x="3915" y="2707"/>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4</a:t>
                </a:r>
              </a:p>
            </p:txBody>
          </p:sp>
        </p:grpSp>
      </p:grpSp>
      <p:sp>
        <p:nvSpPr>
          <p:cNvPr id="15374" name="Line 33"/>
          <p:cNvSpPr>
            <a:spLocks noChangeShapeType="1"/>
          </p:cNvSpPr>
          <p:nvPr/>
        </p:nvSpPr>
        <p:spPr bwMode="auto">
          <a:xfrm flipV="1">
            <a:off x="6946530" y="2830163"/>
            <a:ext cx="396875" cy="265112"/>
          </a:xfrm>
          <a:prstGeom prst="line">
            <a:avLst/>
          </a:prstGeom>
          <a:noFill/>
          <a:ln w="19050">
            <a:solidFill>
              <a:schemeClr val="tx1"/>
            </a:solidFill>
            <a:round/>
            <a:headEnd type="none" w="sm" len="sm"/>
            <a:tailEnd type="arrow" w="med" len="med"/>
          </a:ln>
        </p:spPr>
        <p:txBody>
          <a:bodyPr/>
          <a:lstStyle/>
          <a:p>
            <a:endParaRPr lang="en-US"/>
          </a:p>
        </p:txBody>
      </p:sp>
      <p:sp>
        <p:nvSpPr>
          <p:cNvPr id="15375" name="Line 34"/>
          <p:cNvSpPr>
            <a:spLocks noChangeShapeType="1"/>
          </p:cNvSpPr>
          <p:nvPr/>
        </p:nvSpPr>
        <p:spPr bwMode="auto">
          <a:xfrm flipV="1">
            <a:off x="5225680" y="2830163"/>
            <a:ext cx="396875" cy="265112"/>
          </a:xfrm>
          <a:prstGeom prst="line">
            <a:avLst/>
          </a:prstGeom>
          <a:noFill/>
          <a:ln w="19050">
            <a:solidFill>
              <a:schemeClr val="tx1"/>
            </a:solidFill>
            <a:round/>
            <a:headEnd type="none" w="sm" len="sm"/>
            <a:tailEnd type="arrow" w="med" len="med"/>
          </a:ln>
        </p:spPr>
        <p:txBody>
          <a:bodyPr/>
          <a:lstStyle/>
          <a:p>
            <a:endParaRPr lang="en-US"/>
          </a:p>
        </p:txBody>
      </p:sp>
      <p:sp>
        <p:nvSpPr>
          <p:cNvPr id="15376" name="Line 35"/>
          <p:cNvSpPr>
            <a:spLocks noChangeShapeType="1"/>
          </p:cNvSpPr>
          <p:nvPr/>
        </p:nvSpPr>
        <p:spPr bwMode="auto">
          <a:xfrm flipV="1">
            <a:off x="6101980" y="2322163"/>
            <a:ext cx="396875" cy="265112"/>
          </a:xfrm>
          <a:prstGeom prst="line">
            <a:avLst/>
          </a:prstGeom>
          <a:noFill/>
          <a:ln w="19050">
            <a:solidFill>
              <a:schemeClr val="tx1"/>
            </a:solidFill>
            <a:round/>
            <a:headEnd type="none" w="sm" len="sm"/>
            <a:tailEnd type="arrow" w="med" len="med"/>
          </a:ln>
        </p:spPr>
        <p:txBody>
          <a:bodyPr/>
          <a:lstStyle/>
          <a:p>
            <a:endParaRPr lang="en-US"/>
          </a:p>
        </p:txBody>
      </p:sp>
      <p:sp>
        <p:nvSpPr>
          <p:cNvPr id="15377" name="Line 36"/>
          <p:cNvSpPr>
            <a:spLocks noChangeShapeType="1"/>
          </p:cNvSpPr>
          <p:nvPr/>
        </p:nvSpPr>
        <p:spPr bwMode="auto">
          <a:xfrm>
            <a:off x="4368430" y="2836513"/>
            <a:ext cx="346075" cy="249237"/>
          </a:xfrm>
          <a:prstGeom prst="line">
            <a:avLst/>
          </a:prstGeom>
          <a:noFill/>
          <a:ln w="19050">
            <a:solidFill>
              <a:schemeClr val="tx1"/>
            </a:solidFill>
            <a:round/>
            <a:headEnd type="none" w="sm" len="sm"/>
            <a:tailEnd type="arrow" w="med" len="med"/>
          </a:ln>
        </p:spPr>
        <p:txBody>
          <a:bodyPr/>
          <a:lstStyle/>
          <a:p>
            <a:endParaRPr lang="en-US"/>
          </a:p>
        </p:txBody>
      </p:sp>
      <p:sp>
        <p:nvSpPr>
          <p:cNvPr id="15378" name="Line 37"/>
          <p:cNvSpPr>
            <a:spLocks noChangeShapeType="1"/>
          </p:cNvSpPr>
          <p:nvPr/>
        </p:nvSpPr>
        <p:spPr bwMode="auto">
          <a:xfrm>
            <a:off x="5244730" y="2330101"/>
            <a:ext cx="346075" cy="249237"/>
          </a:xfrm>
          <a:prstGeom prst="line">
            <a:avLst/>
          </a:prstGeom>
          <a:noFill/>
          <a:ln w="19050">
            <a:solidFill>
              <a:schemeClr val="tx1"/>
            </a:solidFill>
            <a:round/>
            <a:headEnd type="none" w="sm" len="sm"/>
            <a:tailEnd type="arrow" w="med" len="med"/>
          </a:ln>
        </p:spPr>
        <p:txBody>
          <a:bodyPr/>
          <a:lstStyle/>
          <a:p>
            <a:endParaRPr lang="en-US"/>
          </a:p>
        </p:txBody>
      </p:sp>
      <p:sp>
        <p:nvSpPr>
          <p:cNvPr id="15379" name="Line 38"/>
          <p:cNvSpPr>
            <a:spLocks noChangeShapeType="1"/>
          </p:cNvSpPr>
          <p:nvPr/>
        </p:nvSpPr>
        <p:spPr bwMode="auto">
          <a:xfrm>
            <a:off x="6063880" y="2838101"/>
            <a:ext cx="346075" cy="249237"/>
          </a:xfrm>
          <a:prstGeom prst="line">
            <a:avLst/>
          </a:prstGeom>
          <a:noFill/>
          <a:ln w="19050">
            <a:solidFill>
              <a:schemeClr val="tx1"/>
            </a:solidFill>
            <a:round/>
            <a:headEnd type="none" w="sm" len="sm"/>
            <a:tailEnd type="arrow" w="med" len="med"/>
          </a:ln>
        </p:spPr>
        <p:txBody>
          <a:bodyPr/>
          <a:lstStyle/>
          <a:p>
            <a:endParaRPr lang="en-US"/>
          </a:p>
        </p:txBody>
      </p:sp>
      <p:sp>
        <p:nvSpPr>
          <p:cNvPr id="15380" name="Line 39"/>
          <p:cNvSpPr>
            <a:spLocks noChangeShapeType="1"/>
          </p:cNvSpPr>
          <p:nvPr/>
        </p:nvSpPr>
        <p:spPr bwMode="auto">
          <a:xfrm>
            <a:off x="6990980" y="2328513"/>
            <a:ext cx="346075" cy="249237"/>
          </a:xfrm>
          <a:prstGeom prst="line">
            <a:avLst/>
          </a:prstGeom>
          <a:noFill/>
          <a:ln w="19050">
            <a:solidFill>
              <a:schemeClr val="tx1"/>
            </a:solidFill>
            <a:round/>
            <a:headEnd type="none" w="sm" len="sm"/>
            <a:tailEnd type="arrow" w="med" len="med"/>
          </a:ln>
        </p:spPr>
        <p:txBody>
          <a:bodyPr/>
          <a:lstStyle/>
          <a:p>
            <a:endParaRPr lang="en-US"/>
          </a:p>
        </p:txBody>
      </p:sp>
      <p:graphicFrame>
        <p:nvGraphicFramePr>
          <p:cNvPr id="3" name="Table 4">
            <a:extLst>
              <a:ext uri="{FF2B5EF4-FFF2-40B4-BE49-F238E27FC236}">
                <a16:creationId xmlns:a16="http://schemas.microsoft.com/office/drawing/2014/main" id="{2E681F42-7B90-796C-CCDF-4542C782A3F7}"/>
              </a:ext>
            </a:extLst>
          </p:cNvPr>
          <p:cNvGraphicFramePr>
            <a:graphicFrameLocks noGrp="1"/>
          </p:cNvGraphicFramePr>
          <p:nvPr>
            <p:extLst>
              <p:ext uri="{D42A27DB-BD31-4B8C-83A1-F6EECF244321}">
                <p14:modId xmlns:p14="http://schemas.microsoft.com/office/powerpoint/2010/main" val="3368804315"/>
              </p:ext>
            </p:extLst>
          </p:nvPr>
        </p:nvGraphicFramePr>
        <p:xfrm>
          <a:off x="4139953" y="4830763"/>
          <a:ext cx="3816424" cy="1524000"/>
        </p:xfrm>
        <a:graphic>
          <a:graphicData uri="http://schemas.openxmlformats.org/drawingml/2006/table">
            <a:tbl>
              <a:tblPr firstRow="1" bandRow="1">
                <a:tableStyleId>{5C22544A-7EE6-4342-B048-85BDC9FD1C3A}</a:tableStyleId>
              </a:tblPr>
              <a:tblGrid>
                <a:gridCol w="1137149">
                  <a:extLst>
                    <a:ext uri="{9D8B030D-6E8A-4147-A177-3AD203B41FA5}">
                      <a16:colId xmlns:a16="http://schemas.microsoft.com/office/drawing/2014/main" val="698913581"/>
                    </a:ext>
                  </a:extLst>
                </a:gridCol>
                <a:gridCol w="2679275">
                  <a:extLst>
                    <a:ext uri="{9D8B030D-6E8A-4147-A177-3AD203B41FA5}">
                      <a16:colId xmlns:a16="http://schemas.microsoft.com/office/drawing/2014/main" val="1016153449"/>
                    </a:ext>
                  </a:extLst>
                </a:gridCol>
              </a:tblGrid>
              <a:tr h="255062">
                <a:tc>
                  <a:txBody>
                    <a:bodyPr/>
                    <a:lstStyle/>
                    <a:p>
                      <a:endParaRPr lang="en-NL" sz="1400" b="0" dirty="0"/>
                    </a:p>
                  </a:txBody>
                  <a:tcPr>
                    <a:noFill/>
                  </a:tcPr>
                </a:tc>
                <a:tc>
                  <a:txBody>
                    <a:bodyPr/>
                    <a:lstStyle/>
                    <a:p>
                      <a:r>
                        <a:rPr lang="en-NL" sz="1400" b="0" dirty="0">
                          <a:solidFill>
                            <a:schemeClr val="tx1"/>
                          </a:solidFill>
                        </a:rPr>
                        <a:t>#tests needed to cover the targets</a:t>
                      </a:r>
                    </a:p>
                  </a:txBody>
                  <a:tcPr>
                    <a:solidFill>
                      <a:schemeClr val="accent5">
                        <a:lumMod val="40000"/>
                        <a:lumOff val="60000"/>
                      </a:schemeClr>
                    </a:solidFill>
                  </a:tcPr>
                </a:tc>
                <a:extLst>
                  <a:ext uri="{0D108BD9-81ED-4DB2-BD59-A6C34878D82A}">
                    <a16:rowId xmlns:a16="http://schemas.microsoft.com/office/drawing/2014/main" val="1943707847"/>
                  </a:ext>
                </a:extLst>
              </a:tr>
              <a:tr h="255062">
                <a:tc>
                  <a:txBody>
                    <a:bodyPr/>
                    <a:lstStyle/>
                    <a:p>
                      <a:pPr algn="ctr"/>
                      <a:r>
                        <a:rPr lang="en-NL" sz="1400" dirty="0"/>
                        <a:t>7 nodes</a:t>
                      </a:r>
                    </a:p>
                  </a:txBody>
                  <a:tcPr>
                    <a:solidFill>
                      <a:schemeClr val="accent5">
                        <a:lumMod val="20000"/>
                        <a:lumOff val="80000"/>
                      </a:schemeClr>
                    </a:solidFill>
                  </a:tcPr>
                </a:tc>
                <a:tc>
                  <a:txBody>
                    <a:bodyPr/>
                    <a:lstStyle/>
                    <a:p>
                      <a:pPr algn="ctr"/>
                      <a:r>
                        <a:rPr lang="en-NL" sz="1400" dirty="0"/>
                        <a:t> at least 2</a:t>
                      </a:r>
                    </a:p>
                  </a:txBody>
                  <a:tcPr>
                    <a:solidFill>
                      <a:schemeClr val="accent5">
                        <a:lumMod val="20000"/>
                        <a:lumOff val="80000"/>
                      </a:schemeClr>
                    </a:solidFill>
                  </a:tcPr>
                </a:tc>
                <a:extLst>
                  <a:ext uri="{0D108BD9-81ED-4DB2-BD59-A6C34878D82A}">
                    <a16:rowId xmlns:a16="http://schemas.microsoft.com/office/drawing/2014/main" val="13986716"/>
                  </a:ext>
                </a:extLst>
              </a:tr>
              <a:tr h="255062">
                <a:tc>
                  <a:txBody>
                    <a:bodyPr/>
                    <a:lstStyle/>
                    <a:p>
                      <a:pPr algn="ctr"/>
                      <a:r>
                        <a:rPr lang="en-NL" sz="1400" dirty="0"/>
                        <a:t>8 edges</a:t>
                      </a:r>
                    </a:p>
                  </a:txBody>
                  <a:tcPr>
                    <a:solidFill>
                      <a:schemeClr val="accent5">
                        <a:lumMod val="20000"/>
                        <a:lumOff val="80000"/>
                      </a:schemeClr>
                    </a:solidFill>
                  </a:tcPr>
                </a:tc>
                <a:tc>
                  <a:txBody>
                    <a:bodyPr/>
                    <a:lstStyle/>
                    <a:p>
                      <a:pPr algn="ctr"/>
                      <a:r>
                        <a:rPr lang="en-NL" sz="1400" dirty="0"/>
                        <a:t>at least 2</a:t>
                      </a:r>
                    </a:p>
                  </a:txBody>
                  <a:tcPr>
                    <a:solidFill>
                      <a:schemeClr val="accent5">
                        <a:lumMod val="20000"/>
                        <a:lumOff val="80000"/>
                      </a:schemeClr>
                    </a:solidFill>
                  </a:tcPr>
                </a:tc>
                <a:extLst>
                  <a:ext uri="{0D108BD9-81ED-4DB2-BD59-A6C34878D82A}">
                    <a16:rowId xmlns:a16="http://schemas.microsoft.com/office/drawing/2014/main" val="2079812348"/>
                  </a:ext>
                </a:extLst>
              </a:tr>
              <a:tr h="255062">
                <a:tc>
                  <a:txBody>
                    <a:bodyPr/>
                    <a:lstStyle/>
                    <a:p>
                      <a:pPr algn="ctr"/>
                      <a:r>
                        <a:rPr lang="en-NL" sz="1400" dirty="0"/>
                        <a:t>6 edge-pairs</a:t>
                      </a:r>
                    </a:p>
                  </a:txBody>
                  <a:tcPr>
                    <a:solidFill>
                      <a:schemeClr val="accent5">
                        <a:lumMod val="20000"/>
                        <a:lumOff val="80000"/>
                      </a:schemeClr>
                    </a:solidFill>
                  </a:tcPr>
                </a:tc>
                <a:tc>
                  <a:txBody>
                    <a:bodyPr/>
                    <a:lstStyle/>
                    <a:p>
                      <a:pPr algn="ctr"/>
                      <a:r>
                        <a:rPr lang="en-NL" sz="1400" dirty="0"/>
                        <a:t>4</a:t>
                      </a:r>
                    </a:p>
                  </a:txBody>
                  <a:tcPr>
                    <a:solidFill>
                      <a:schemeClr val="accent5">
                        <a:lumMod val="20000"/>
                        <a:lumOff val="80000"/>
                      </a:schemeClr>
                    </a:solidFill>
                  </a:tcPr>
                </a:tc>
                <a:extLst>
                  <a:ext uri="{0D108BD9-81ED-4DB2-BD59-A6C34878D82A}">
                    <a16:rowId xmlns:a16="http://schemas.microsoft.com/office/drawing/2014/main" val="4261009437"/>
                  </a:ext>
                </a:extLst>
              </a:tr>
              <a:tr h="255062">
                <a:tc>
                  <a:txBody>
                    <a:bodyPr/>
                    <a:lstStyle/>
                    <a:p>
                      <a:pPr algn="ctr"/>
                      <a:r>
                        <a:rPr lang="en-NL" sz="1400" dirty="0"/>
                        <a:t>4 paths</a:t>
                      </a:r>
                    </a:p>
                  </a:txBody>
                  <a:tcPr>
                    <a:solidFill>
                      <a:schemeClr val="accent5">
                        <a:lumMod val="20000"/>
                        <a:lumOff val="80000"/>
                      </a:schemeClr>
                    </a:solidFill>
                  </a:tcPr>
                </a:tc>
                <a:tc>
                  <a:txBody>
                    <a:bodyPr/>
                    <a:lstStyle/>
                    <a:p>
                      <a:pPr algn="ctr"/>
                      <a:r>
                        <a:rPr lang="en-NL" sz="1400" dirty="0"/>
                        <a:t>4</a:t>
                      </a:r>
                    </a:p>
                  </a:txBody>
                  <a:tcPr>
                    <a:solidFill>
                      <a:schemeClr val="accent5">
                        <a:lumMod val="20000"/>
                        <a:lumOff val="80000"/>
                      </a:schemeClr>
                    </a:solidFill>
                  </a:tcPr>
                </a:tc>
                <a:extLst>
                  <a:ext uri="{0D108BD9-81ED-4DB2-BD59-A6C34878D82A}">
                    <a16:rowId xmlns:a16="http://schemas.microsoft.com/office/drawing/2014/main" val="432641923"/>
                  </a:ext>
                </a:extLst>
              </a:tr>
            </a:tbl>
          </a:graphicData>
        </a:graphic>
      </p:graphicFrame>
    </p:spTree>
    <p:extLst>
      <p:ext uri="{BB962C8B-B14F-4D97-AF65-F5344CB8AC3E}">
        <p14:creationId xmlns:p14="http://schemas.microsoft.com/office/powerpoint/2010/main" val="2415382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060CEEB9-9656-A749-9C67-6D111D135156}"/>
              </a:ext>
            </a:extLst>
          </p:cNvPr>
          <p:cNvSpPr/>
          <p:nvPr/>
        </p:nvSpPr>
        <p:spPr>
          <a:xfrm>
            <a:off x="457200" y="2852936"/>
            <a:ext cx="8229600" cy="2016224"/>
          </a:xfrm>
          <a:prstGeom prst="roundRect">
            <a:avLst>
              <a:gd name="adj" fmla="val 25954"/>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38" name="Title 1"/>
          <p:cNvSpPr>
            <a:spLocks noGrp="1"/>
          </p:cNvSpPr>
          <p:nvPr>
            <p:ph type="title"/>
          </p:nvPr>
        </p:nvSpPr>
        <p:spPr/>
        <p:txBody>
          <a:bodyPr/>
          <a:lstStyle/>
          <a:p>
            <a:pPr eaLnBrk="1" hangingPunct="1"/>
            <a:r>
              <a:rPr lang="en-US" dirty="0" err="1"/>
              <a:t>Subsumption</a:t>
            </a:r>
            <a:endParaRPr lang="en-US" dirty="0"/>
          </a:p>
        </p:txBody>
      </p:sp>
      <p:sp>
        <p:nvSpPr>
          <p:cNvPr id="14339" name="Content Placeholder 2"/>
          <p:cNvSpPr>
            <a:spLocks noGrp="1"/>
          </p:cNvSpPr>
          <p:nvPr>
            <p:ph idx="1"/>
          </p:nvPr>
        </p:nvSpPr>
        <p:spPr>
          <a:xfrm>
            <a:off x="971600" y="2132856"/>
            <a:ext cx="7272808" cy="4082207"/>
          </a:xfrm>
        </p:spPr>
        <p:txBody>
          <a:bodyPr/>
          <a:lstStyle/>
          <a:p>
            <a:pPr marL="0" indent="0" eaLnBrk="1" hangingPunct="1">
              <a:buNone/>
            </a:pPr>
            <a:r>
              <a:rPr lang="en-US" sz="2800" dirty="0"/>
              <a:t>Def 1.24/2</a:t>
            </a:r>
            <a:r>
              <a:rPr lang="en-US" sz="2800" baseline="30000" dirty="0"/>
              <a:t>nd</a:t>
            </a:r>
            <a:r>
              <a:rPr lang="en-US" sz="2800" dirty="0"/>
              <a:t> Ed. 5.29:</a:t>
            </a:r>
          </a:p>
          <a:p>
            <a:pPr marL="0" indent="0" eaLnBrk="1" hangingPunct="1">
              <a:buNone/>
            </a:pPr>
            <a:endParaRPr lang="en-US" sz="2800" dirty="0"/>
          </a:p>
          <a:p>
            <a:pPr marL="0" indent="0" algn="ctr" eaLnBrk="1" hangingPunct="1">
              <a:buNone/>
            </a:pPr>
            <a:r>
              <a:rPr lang="en-US" sz="2800" dirty="0"/>
              <a:t>A coverage criterion </a:t>
            </a:r>
            <a:r>
              <a:rPr lang="en-US" sz="2800" i="1" dirty="0"/>
              <a:t>C1</a:t>
            </a:r>
            <a:r>
              <a:rPr lang="en-US" sz="2800" dirty="0"/>
              <a:t> </a:t>
            </a:r>
            <a:r>
              <a:rPr lang="en-US" sz="2800" i="1" u="sng" dirty="0"/>
              <a:t>subsumes</a:t>
            </a:r>
            <a:r>
              <a:rPr lang="en-US" sz="2800" dirty="0"/>
              <a:t> (stronger than) </a:t>
            </a:r>
            <a:r>
              <a:rPr lang="en-US" sz="2800" i="1" dirty="0"/>
              <a:t>C2</a:t>
            </a:r>
            <a:r>
              <a:rPr lang="en-US" sz="2800" dirty="0"/>
              <a:t> </a:t>
            </a:r>
            <a:r>
              <a:rPr lang="en-US" sz="2800" dirty="0" err="1"/>
              <a:t>iff</a:t>
            </a:r>
            <a:r>
              <a:rPr lang="en-US" sz="2800" dirty="0"/>
              <a:t> every test-set that satisfies </a:t>
            </a:r>
            <a:r>
              <a:rPr lang="en-US" sz="2800" i="1" dirty="0"/>
              <a:t>C1</a:t>
            </a:r>
            <a:r>
              <a:rPr lang="en-US" sz="2800" dirty="0"/>
              <a:t> also satisfies </a:t>
            </a:r>
            <a:r>
              <a:rPr lang="en-US" sz="2800" i="1" dirty="0"/>
              <a:t>C2</a:t>
            </a:r>
            <a:r>
              <a:rPr lang="en-US" sz="2800" dirty="0"/>
              <a:t>.</a:t>
            </a:r>
            <a:br>
              <a:rPr lang="en-US" sz="2800" dirty="0"/>
            </a:br>
            <a:endParaRPr lang="en-US" sz="2800" dirty="0"/>
          </a:p>
        </p:txBody>
      </p:sp>
      <p:sp>
        <p:nvSpPr>
          <p:cNvPr id="4" name="Slide Number Placeholder 3"/>
          <p:cNvSpPr>
            <a:spLocks noGrp="1"/>
          </p:cNvSpPr>
          <p:nvPr>
            <p:ph type="sldNum" sz="quarter" idx="12"/>
          </p:nvPr>
        </p:nvSpPr>
        <p:spPr/>
        <p:txBody>
          <a:bodyPr/>
          <a:lstStyle/>
          <a:p>
            <a:pPr>
              <a:defRPr/>
            </a:pPr>
            <a:fld id="{25A73DE8-99F2-493B-B2CE-21FB255BDB0D}" type="slidenum">
              <a:rPr lang="en-US" smtClean="0"/>
              <a:pPr>
                <a:defRPr/>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457200" y="274638"/>
            <a:ext cx="8229600" cy="855658"/>
          </a:xfrm>
        </p:spPr>
        <p:txBody>
          <a:bodyPr/>
          <a:lstStyle/>
          <a:p>
            <a:pPr eaLnBrk="1" hangingPunct="1"/>
            <a:r>
              <a:rPr lang="en-US" dirty="0"/>
              <a:t>Examples </a:t>
            </a:r>
            <a:r>
              <a:rPr lang="en-US" dirty="0" err="1"/>
              <a:t>subsumption</a:t>
            </a:r>
            <a:endParaRPr lang="en-US" dirty="0"/>
          </a:p>
        </p:txBody>
      </p:sp>
      <p:sp>
        <p:nvSpPr>
          <p:cNvPr id="14339" name="Content Placeholder 2"/>
          <p:cNvSpPr>
            <a:spLocks noGrp="1"/>
          </p:cNvSpPr>
          <p:nvPr>
            <p:ph idx="1"/>
          </p:nvPr>
        </p:nvSpPr>
        <p:spPr>
          <a:xfrm>
            <a:off x="527224" y="3713459"/>
            <a:ext cx="8229600" cy="2463503"/>
          </a:xfrm>
        </p:spPr>
        <p:txBody>
          <a:bodyPr/>
          <a:lstStyle/>
          <a:p>
            <a:pPr eaLnBrk="1" hangingPunct="1"/>
            <a:r>
              <a:rPr lang="en-US" sz="2800" dirty="0"/>
              <a:t>C2.2 subsumes 2.1 (but not the other way around, demonstrated by P1).</a:t>
            </a:r>
          </a:p>
          <a:p>
            <a:pPr eaLnBrk="1" hangingPunct="1"/>
            <a:r>
              <a:rPr lang="en-US" sz="2800" dirty="0"/>
              <a:t>C2.3 subsumes C2.2 (but not the other way around, demonstrated by P2).</a:t>
            </a:r>
          </a:p>
        </p:txBody>
      </p:sp>
      <p:sp>
        <p:nvSpPr>
          <p:cNvPr id="4" name="Slide Number Placeholder 3"/>
          <p:cNvSpPr>
            <a:spLocks noGrp="1"/>
          </p:cNvSpPr>
          <p:nvPr>
            <p:ph type="sldNum" sz="quarter" idx="12"/>
          </p:nvPr>
        </p:nvSpPr>
        <p:spPr/>
        <p:txBody>
          <a:bodyPr/>
          <a:lstStyle/>
          <a:p>
            <a:pPr>
              <a:defRPr/>
            </a:pPr>
            <a:fld id="{FB6DC0AB-7C64-4E69-ACC0-2484A5416078}" type="slidenum">
              <a:rPr lang="en-US" smtClean="0"/>
              <a:pPr>
                <a:defRPr/>
              </a:pPr>
              <a:t>17</a:t>
            </a:fld>
            <a:endParaRPr lang="en-US"/>
          </a:p>
        </p:txBody>
      </p:sp>
      <p:sp>
        <p:nvSpPr>
          <p:cNvPr id="2" name="TextBox 1">
            <a:extLst>
              <a:ext uri="{FF2B5EF4-FFF2-40B4-BE49-F238E27FC236}">
                <a16:creationId xmlns:a16="http://schemas.microsoft.com/office/drawing/2014/main" id="{A6C9B43A-8FC1-B8CD-3640-50F9BE3170E9}"/>
              </a:ext>
            </a:extLst>
          </p:cNvPr>
          <p:cNvSpPr txBox="1"/>
          <p:nvPr/>
        </p:nvSpPr>
        <p:spPr>
          <a:xfrm>
            <a:off x="771583" y="1643356"/>
            <a:ext cx="530915" cy="369332"/>
          </a:xfrm>
          <a:prstGeom prst="rect">
            <a:avLst/>
          </a:prstGeom>
          <a:noFill/>
        </p:spPr>
        <p:txBody>
          <a:bodyPr wrap="none" rtlCol="0">
            <a:spAutoFit/>
          </a:bodyPr>
          <a:lstStyle/>
          <a:p>
            <a:r>
              <a:rPr lang="en-NL" dirty="0"/>
              <a:t>P1:</a:t>
            </a:r>
          </a:p>
        </p:txBody>
      </p:sp>
      <p:grpSp>
        <p:nvGrpSpPr>
          <p:cNvPr id="3" name="Group 11">
            <a:extLst>
              <a:ext uri="{FF2B5EF4-FFF2-40B4-BE49-F238E27FC236}">
                <a16:creationId xmlns:a16="http://schemas.microsoft.com/office/drawing/2014/main" id="{23451FE6-B6BA-0992-70D0-FCA1FB504B63}"/>
              </a:ext>
            </a:extLst>
          </p:cNvPr>
          <p:cNvGrpSpPr>
            <a:grpSpLocks/>
          </p:cNvGrpSpPr>
          <p:nvPr/>
        </p:nvGrpSpPr>
        <p:grpSpPr bwMode="auto">
          <a:xfrm>
            <a:off x="1074267" y="2383262"/>
            <a:ext cx="555625" cy="469900"/>
            <a:chOff x="4288" y="1746"/>
            <a:chExt cx="350" cy="296"/>
          </a:xfrm>
        </p:grpSpPr>
        <p:sp>
          <p:nvSpPr>
            <p:cNvPr id="5" name="Oval 12">
              <a:extLst>
                <a:ext uri="{FF2B5EF4-FFF2-40B4-BE49-F238E27FC236}">
                  <a16:creationId xmlns:a16="http://schemas.microsoft.com/office/drawing/2014/main" id="{F9B6CE6A-8FC1-C1CD-A379-63FB0D68EE81}"/>
                </a:ext>
              </a:extLst>
            </p:cNvPr>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6" name="Text Box 13">
              <a:extLst>
                <a:ext uri="{FF2B5EF4-FFF2-40B4-BE49-F238E27FC236}">
                  <a16:creationId xmlns:a16="http://schemas.microsoft.com/office/drawing/2014/main" id="{3E069ED5-F59C-3E34-6AFD-42798EC1BADE}"/>
                </a:ext>
              </a:extLst>
            </p:cNvPr>
            <p:cNvSpPr txBox="1">
              <a:spLocks noChangeArrowheads="1"/>
            </p:cNvSpPr>
            <p:nvPr/>
          </p:nvSpPr>
          <p:spPr bwMode="auto">
            <a:xfrm>
              <a:off x="4364" y="1769"/>
              <a:ext cx="197" cy="233"/>
            </a:xfrm>
            <a:prstGeom prst="rect">
              <a:avLst/>
            </a:prstGeom>
            <a:noFill/>
            <a:ln w="12700">
              <a:noFill/>
              <a:miter lim="800000"/>
              <a:headEnd type="none" w="sm" len="sm"/>
              <a:tailEnd type="none" w="sm" len="sm"/>
            </a:ln>
          </p:spPr>
          <p:txBody>
            <a:bodyPr wrap="none">
              <a:spAutoFit/>
            </a:bodyPr>
            <a:lstStyle/>
            <a:p>
              <a:pPr algn="r"/>
              <a:r>
                <a:rPr lang="en-US">
                  <a:solidFill>
                    <a:srgbClr val="FFFF00"/>
                  </a:solidFill>
                </a:rPr>
                <a:t>1</a:t>
              </a:r>
            </a:p>
          </p:txBody>
        </p:sp>
      </p:grpSp>
      <p:grpSp>
        <p:nvGrpSpPr>
          <p:cNvPr id="7" name="Group 14">
            <a:extLst>
              <a:ext uri="{FF2B5EF4-FFF2-40B4-BE49-F238E27FC236}">
                <a16:creationId xmlns:a16="http://schemas.microsoft.com/office/drawing/2014/main" id="{17F6B39C-C132-63F2-546D-4E1E0AFFB2E2}"/>
              </a:ext>
            </a:extLst>
          </p:cNvPr>
          <p:cNvGrpSpPr>
            <a:grpSpLocks/>
          </p:cNvGrpSpPr>
          <p:nvPr/>
        </p:nvGrpSpPr>
        <p:grpSpPr bwMode="auto">
          <a:xfrm>
            <a:off x="1907704" y="1895899"/>
            <a:ext cx="603250" cy="1441450"/>
            <a:chOff x="1346" y="2965"/>
            <a:chExt cx="380" cy="908"/>
          </a:xfrm>
        </p:grpSpPr>
        <p:grpSp>
          <p:nvGrpSpPr>
            <p:cNvPr id="8" name="Group 15">
              <a:extLst>
                <a:ext uri="{FF2B5EF4-FFF2-40B4-BE49-F238E27FC236}">
                  <a16:creationId xmlns:a16="http://schemas.microsoft.com/office/drawing/2014/main" id="{7A6C04CB-7BF0-33DD-B254-553C25CF3A94}"/>
                </a:ext>
              </a:extLst>
            </p:cNvPr>
            <p:cNvGrpSpPr>
              <a:grpSpLocks/>
            </p:cNvGrpSpPr>
            <p:nvPr/>
          </p:nvGrpSpPr>
          <p:grpSpPr bwMode="auto">
            <a:xfrm>
              <a:off x="1346" y="3577"/>
              <a:ext cx="350" cy="296"/>
              <a:chOff x="4738" y="2684"/>
              <a:chExt cx="350" cy="296"/>
            </a:xfrm>
          </p:grpSpPr>
          <p:sp>
            <p:nvSpPr>
              <p:cNvPr id="12" name="Oval 16">
                <a:extLst>
                  <a:ext uri="{FF2B5EF4-FFF2-40B4-BE49-F238E27FC236}">
                    <a16:creationId xmlns:a16="http://schemas.microsoft.com/office/drawing/2014/main" id="{9130E0C3-1A90-9624-50E7-391622FAE7D3}"/>
                  </a:ext>
                </a:extLst>
              </p:cNvPr>
              <p:cNvSpPr>
                <a:spLocks noChangeArrowheads="1"/>
              </p:cNvSpPr>
              <p:nvPr/>
            </p:nvSpPr>
            <p:spPr bwMode="auto">
              <a:xfrm>
                <a:off x="47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13" name="Text Box 17">
                <a:extLst>
                  <a:ext uri="{FF2B5EF4-FFF2-40B4-BE49-F238E27FC236}">
                    <a16:creationId xmlns:a16="http://schemas.microsoft.com/office/drawing/2014/main" id="{EDB29F37-7012-4D20-AAAD-6097554AB718}"/>
                  </a:ext>
                </a:extLst>
              </p:cNvPr>
              <p:cNvSpPr txBox="1">
                <a:spLocks noChangeArrowheads="1"/>
              </p:cNvSpPr>
              <p:nvPr/>
            </p:nvSpPr>
            <p:spPr bwMode="auto">
              <a:xfrm>
                <a:off x="4815" y="2707"/>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2</a:t>
                </a:r>
              </a:p>
            </p:txBody>
          </p:sp>
        </p:grpSp>
        <p:grpSp>
          <p:nvGrpSpPr>
            <p:cNvPr id="9" name="Group 18">
              <a:extLst>
                <a:ext uri="{FF2B5EF4-FFF2-40B4-BE49-F238E27FC236}">
                  <a16:creationId xmlns:a16="http://schemas.microsoft.com/office/drawing/2014/main" id="{BDD3ADB8-8471-0A77-76CC-B670C9991D59}"/>
                </a:ext>
              </a:extLst>
            </p:cNvPr>
            <p:cNvGrpSpPr>
              <a:grpSpLocks/>
            </p:cNvGrpSpPr>
            <p:nvPr/>
          </p:nvGrpSpPr>
          <p:grpSpPr bwMode="auto">
            <a:xfrm>
              <a:off x="1376" y="2965"/>
              <a:ext cx="350" cy="296"/>
              <a:chOff x="3838" y="2684"/>
              <a:chExt cx="350" cy="296"/>
            </a:xfrm>
          </p:grpSpPr>
          <p:sp>
            <p:nvSpPr>
              <p:cNvPr id="10" name="Oval 19">
                <a:extLst>
                  <a:ext uri="{FF2B5EF4-FFF2-40B4-BE49-F238E27FC236}">
                    <a16:creationId xmlns:a16="http://schemas.microsoft.com/office/drawing/2014/main" id="{6BEA2467-EC85-099C-8E63-797E05CE81F8}"/>
                  </a:ext>
                </a:extLst>
              </p:cNvPr>
              <p:cNvSpPr>
                <a:spLocks noChangeArrowheads="1"/>
              </p:cNvSpPr>
              <p:nvPr/>
            </p:nvSpPr>
            <p:spPr bwMode="auto">
              <a:xfrm>
                <a:off x="38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11" name="Text Box 20">
                <a:extLst>
                  <a:ext uri="{FF2B5EF4-FFF2-40B4-BE49-F238E27FC236}">
                    <a16:creationId xmlns:a16="http://schemas.microsoft.com/office/drawing/2014/main" id="{5542E1DE-FC4D-AE23-03FF-3AD24EFD6BD0}"/>
                  </a:ext>
                </a:extLst>
              </p:cNvPr>
              <p:cNvSpPr txBox="1">
                <a:spLocks noChangeArrowheads="1"/>
              </p:cNvSpPr>
              <p:nvPr/>
            </p:nvSpPr>
            <p:spPr bwMode="auto">
              <a:xfrm>
                <a:off x="3915" y="2707"/>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0</a:t>
                </a:r>
              </a:p>
            </p:txBody>
          </p:sp>
        </p:grpSp>
      </p:grpSp>
      <p:sp>
        <p:nvSpPr>
          <p:cNvPr id="14" name="Line 24">
            <a:extLst>
              <a:ext uri="{FF2B5EF4-FFF2-40B4-BE49-F238E27FC236}">
                <a16:creationId xmlns:a16="http://schemas.microsoft.com/office/drawing/2014/main" id="{7E0CA605-13D0-9AE1-1EAA-0859D3D071A3}"/>
              </a:ext>
            </a:extLst>
          </p:cNvPr>
          <p:cNvSpPr>
            <a:spLocks noChangeShapeType="1"/>
          </p:cNvSpPr>
          <p:nvPr/>
        </p:nvSpPr>
        <p:spPr bwMode="auto">
          <a:xfrm flipV="1">
            <a:off x="1621954" y="2256262"/>
            <a:ext cx="396875" cy="265113"/>
          </a:xfrm>
          <a:prstGeom prst="line">
            <a:avLst/>
          </a:prstGeom>
          <a:noFill/>
          <a:ln w="19050">
            <a:solidFill>
              <a:schemeClr val="tx1"/>
            </a:solidFill>
            <a:round/>
            <a:headEnd type="arrow" w="med" len="med"/>
            <a:tailEnd/>
          </a:ln>
        </p:spPr>
        <p:txBody>
          <a:bodyPr/>
          <a:lstStyle/>
          <a:p>
            <a:endParaRPr lang="en-US"/>
          </a:p>
        </p:txBody>
      </p:sp>
      <p:sp>
        <p:nvSpPr>
          <p:cNvPr id="15" name="Line 39">
            <a:extLst>
              <a:ext uri="{FF2B5EF4-FFF2-40B4-BE49-F238E27FC236}">
                <a16:creationId xmlns:a16="http://schemas.microsoft.com/office/drawing/2014/main" id="{BBC5CCE5-376E-DE5D-4334-A874F52BBBF3}"/>
              </a:ext>
            </a:extLst>
          </p:cNvPr>
          <p:cNvSpPr>
            <a:spLocks noChangeShapeType="1"/>
          </p:cNvSpPr>
          <p:nvPr/>
        </p:nvSpPr>
        <p:spPr bwMode="auto">
          <a:xfrm>
            <a:off x="1590204" y="2770612"/>
            <a:ext cx="346075" cy="249238"/>
          </a:xfrm>
          <a:prstGeom prst="line">
            <a:avLst/>
          </a:prstGeom>
          <a:noFill/>
          <a:ln w="19050">
            <a:solidFill>
              <a:schemeClr val="tx1"/>
            </a:solidFill>
            <a:round/>
            <a:headEnd type="none" w="sm" len="sm"/>
            <a:tailEnd type="arrow" w="med" len="med"/>
          </a:ln>
        </p:spPr>
        <p:txBody>
          <a:bodyPr/>
          <a:lstStyle/>
          <a:p>
            <a:endParaRPr lang="en-US"/>
          </a:p>
        </p:txBody>
      </p:sp>
      <p:sp>
        <p:nvSpPr>
          <p:cNvPr id="16" name="Line 44">
            <a:extLst>
              <a:ext uri="{FF2B5EF4-FFF2-40B4-BE49-F238E27FC236}">
                <a16:creationId xmlns:a16="http://schemas.microsoft.com/office/drawing/2014/main" id="{5F121F34-D925-27C1-5551-33CED60769AA}"/>
              </a:ext>
            </a:extLst>
          </p:cNvPr>
          <p:cNvSpPr>
            <a:spLocks noChangeShapeType="1"/>
          </p:cNvSpPr>
          <p:nvPr/>
        </p:nvSpPr>
        <p:spPr bwMode="auto">
          <a:xfrm>
            <a:off x="2209329" y="2368974"/>
            <a:ext cx="0" cy="498475"/>
          </a:xfrm>
          <a:prstGeom prst="line">
            <a:avLst/>
          </a:prstGeom>
          <a:noFill/>
          <a:ln w="19050">
            <a:solidFill>
              <a:schemeClr val="tx1"/>
            </a:solidFill>
            <a:round/>
            <a:headEnd type="none" w="sm" len="sm"/>
            <a:tailEnd type="arrow" w="med" len="med"/>
          </a:ln>
        </p:spPr>
        <p:txBody>
          <a:bodyPr/>
          <a:lstStyle/>
          <a:p>
            <a:endParaRPr lang="en-US"/>
          </a:p>
        </p:txBody>
      </p:sp>
      <p:sp>
        <p:nvSpPr>
          <p:cNvPr id="17" name="Line 45">
            <a:extLst>
              <a:ext uri="{FF2B5EF4-FFF2-40B4-BE49-F238E27FC236}">
                <a16:creationId xmlns:a16="http://schemas.microsoft.com/office/drawing/2014/main" id="{EAEC145B-1B0B-2898-77DD-217E40A2252C}"/>
              </a:ext>
            </a:extLst>
          </p:cNvPr>
          <p:cNvSpPr>
            <a:spLocks noChangeShapeType="1"/>
          </p:cNvSpPr>
          <p:nvPr/>
        </p:nvSpPr>
        <p:spPr bwMode="auto">
          <a:xfrm>
            <a:off x="2209329" y="1587924"/>
            <a:ext cx="0" cy="295275"/>
          </a:xfrm>
          <a:prstGeom prst="line">
            <a:avLst/>
          </a:prstGeom>
          <a:noFill/>
          <a:ln w="19050">
            <a:solidFill>
              <a:schemeClr val="tx1"/>
            </a:solidFill>
            <a:round/>
            <a:headEnd type="none" w="sm" len="sm"/>
            <a:tailEnd type="arrow" w="med" len="med"/>
          </a:ln>
        </p:spPr>
        <p:txBody>
          <a:bodyPr/>
          <a:lstStyle/>
          <a:p>
            <a:endParaRPr lang="en-US"/>
          </a:p>
        </p:txBody>
      </p:sp>
      <p:grpSp>
        <p:nvGrpSpPr>
          <p:cNvPr id="18" name="Group 41">
            <a:extLst>
              <a:ext uri="{FF2B5EF4-FFF2-40B4-BE49-F238E27FC236}">
                <a16:creationId xmlns:a16="http://schemas.microsoft.com/office/drawing/2014/main" id="{6048E141-C622-EF2E-2AA0-DB78B5D3AAAE}"/>
              </a:ext>
            </a:extLst>
          </p:cNvPr>
          <p:cNvGrpSpPr>
            <a:grpSpLocks/>
          </p:cNvGrpSpPr>
          <p:nvPr/>
        </p:nvGrpSpPr>
        <p:grpSpPr bwMode="auto">
          <a:xfrm>
            <a:off x="3522789" y="1901886"/>
            <a:ext cx="4346575" cy="1443037"/>
            <a:chOff x="503" y="2966"/>
            <a:chExt cx="2738" cy="909"/>
          </a:xfrm>
        </p:grpSpPr>
        <p:grpSp>
          <p:nvGrpSpPr>
            <p:cNvPr id="19" name="Group 18">
              <a:extLst>
                <a:ext uri="{FF2B5EF4-FFF2-40B4-BE49-F238E27FC236}">
                  <a16:creationId xmlns:a16="http://schemas.microsoft.com/office/drawing/2014/main" id="{475F5871-774F-859D-E5D3-ED74053922D1}"/>
                </a:ext>
              </a:extLst>
            </p:cNvPr>
            <p:cNvGrpSpPr>
              <a:grpSpLocks/>
            </p:cNvGrpSpPr>
            <p:nvPr/>
          </p:nvGrpSpPr>
          <p:grpSpPr bwMode="auto">
            <a:xfrm>
              <a:off x="730" y="3273"/>
              <a:ext cx="350" cy="296"/>
              <a:chOff x="4288" y="1746"/>
              <a:chExt cx="350" cy="296"/>
            </a:xfrm>
          </p:grpSpPr>
          <p:sp>
            <p:nvSpPr>
              <p:cNvPr id="49" name="Oval 5">
                <a:extLst>
                  <a:ext uri="{FF2B5EF4-FFF2-40B4-BE49-F238E27FC236}">
                    <a16:creationId xmlns:a16="http://schemas.microsoft.com/office/drawing/2014/main" id="{4D6ABC9C-98E4-3FA9-2797-2E43D206C120}"/>
                  </a:ext>
                </a:extLst>
              </p:cNvPr>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50" name="Text Box 6">
                <a:extLst>
                  <a:ext uri="{FF2B5EF4-FFF2-40B4-BE49-F238E27FC236}">
                    <a16:creationId xmlns:a16="http://schemas.microsoft.com/office/drawing/2014/main" id="{AEEB35AC-EAD8-0DEA-06D0-9AB8098B63A0}"/>
                  </a:ext>
                </a:extLst>
              </p:cNvPr>
              <p:cNvSpPr txBox="1">
                <a:spLocks noChangeArrowheads="1"/>
              </p:cNvSpPr>
              <p:nvPr/>
            </p:nvSpPr>
            <p:spPr bwMode="auto">
              <a:xfrm>
                <a:off x="4364" y="1769"/>
                <a:ext cx="197" cy="233"/>
              </a:xfrm>
              <a:prstGeom prst="rect">
                <a:avLst/>
              </a:prstGeom>
              <a:noFill/>
              <a:ln w="12700">
                <a:noFill/>
                <a:miter lim="800000"/>
                <a:headEnd type="none" w="sm" len="sm"/>
                <a:tailEnd type="none" w="sm" len="sm"/>
              </a:ln>
            </p:spPr>
            <p:txBody>
              <a:bodyPr wrap="none">
                <a:spAutoFit/>
              </a:bodyPr>
              <a:lstStyle/>
              <a:p>
                <a:pPr algn="r"/>
                <a:r>
                  <a:rPr lang="en-US" dirty="0">
                    <a:solidFill>
                      <a:srgbClr val="FFFF00"/>
                    </a:solidFill>
                  </a:rPr>
                  <a:t>0</a:t>
                </a:r>
              </a:p>
            </p:txBody>
          </p:sp>
        </p:grpSp>
        <p:grpSp>
          <p:nvGrpSpPr>
            <p:cNvPr id="20" name="Group 31">
              <a:extLst>
                <a:ext uri="{FF2B5EF4-FFF2-40B4-BE49-F238E27FC236}">
                  <a16:creationId xmlns:a16="http://schemas.microsoft.com/office/drawing/2014/main" id="{A7410543-8877-7588-D9C9-48A947793F01}"/>
                </a:ext>
              </a:extLst>
            </p:cNvPr>
            <p:cNvGrpSpPr>
              <a:grpSpLocks/>
            </p:cNvGrpSpPr>
            <p:nvPr/>
          </p:nvGrpSpPr>
          <p:grpSpPr bwMode="auto">
            <a:xfrm>
              <a:off x="1255" y="2966"/>
              <a:ext cx="380" cy="908"/>
              <a:chOff x="1346" y="2965"/>
              <a:chExt cx="380" cy="908"/>
            </a:xfrm>
          </p:grpSpPr>
          <p:grpSp>
            <p:nvGrpSpPr>
              <p:cNvPr id="43" name="Group 19">
                <a:extLst>
                  <a:ext uri="{FF2B5EF4-FFF2-40B4-BE49-F238E27FC236}">
                    <a16:creationId xmlns:a16="http://schemas.microsoft.com/office/drawing/2014/main" id="{C866ED54-EEBD-7A1E-599D-67DB0D34D1DF}"/>
                  </a:ext>
                </a:extLst>
              </p:cNvPr>
              <p:cNvGrpSpPr>
                <a:grpSpLocks/>
              </p:cNvGrpSpPr>
              <p:nvPr/>
            </p:nvGrpSpPr>
            <p:grpSpPr bwMode="auto">
              <a:xfrm>
                <a:off x="1346" y="3577"/>
                <a:ext cx="350" cy="296"/>
                <a:chOff x="4738" y="2684"/>
                <a:chExt cx="350" cy="296"/>
              </a:xfrm>
            </p:grpSpPr>
            <p:sp>
              <p:nvSpPr>
                <p:cNvPr id="47" name="Oval 7">
                  <a:extLst>
                    <a:ext uri="{FF2B5EF4-FFF2-40B4-BE49-F238E27FC236}">
                      <a16:creationId xmlns:a16="http://schemas.microsoft.com/office/drawing/2014/main" id="{A60A0B32-F345-F3A2-62AB-E0F866E7A311}"/>
                    </a:ext>
                  </a:extLst>
                </p:cNvPr>
                <p:cNvSpPr>
                  <a:spLocks noChangeArrowheads="1"/>
                </p:cNvSpPr>
                <p:nvPr/>
              </p:nvSpPr>
              <p:spPr bwMode="auto">
                <a:xfrm>
                  <a:off x="47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48" name="Text Box 8">
                  <a:extLst>
                    <a:ext uri="{FF2B5EF4-FFF2-40B4-BE49-F238E27FC236}">
                      <a16:creationId xmlns:a16="http://schemas.microsoft.com/office/drawing/2014/main" id="{54FE9F50-A5B5-055C-0F5E-047372F9B775}"/>
                    </a:ext>
                  </a:extLst>
                </p:cNvPr>
                <p:cNvSpPr txBox="1">
                  <a:spLocks noChangeArrowheads="1"/>
                </p:cNvSpPr>
                <p:nvPr/>
              </p:nvSpPr>
              <p:spPr bwMode="auto">
                <a:xfrm>
                  <a:off x="4815" y="2707"/>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2</a:t>
                  </a:r>
                </a:p>
              </p:txBody>
            </p:sp>
          </p:grpSp>
          <p:grpSp>
            <p:nvGrpSpPr>
              <p:cNvPr id="44" name="Group 20">
                <a:extLst>
                  <a:ext uri="{FF2B5EF4-FFF2-40B4-BE49-F238E27FC236}">
                    <a16:creationId xmlns:a16="http://schemas.microsoft.com/office/drawing/2014/main" id="{00CB3FA8-9BA8-4478-1C32-6AEDFD4D9FB0}"/>
                  </a:ext>
                </a:extLst>
              </p:cNvPr>
              <p:cNvGrpSpPr>
                <a:grpSpLocks/>
              </p:cNvGrpSpPr>
              <p:nvPr/>
            </p:nvGrpSpPr>
            <p:grpSpPr bwMode="auto">
              <a:xfrm>
                <a:off x="1376" y="2965"/>
                <a:ext cx="350" cy="296"/>
                <a:chOff x="3838" y="2684"/>
                <a:chExt cx="350" cy="296"/>
              </a:xfrm>
            </p:grpSpPr>
            <p:sp>
              <p:nvSpPr>
                <p:cNvPr id="45" name="Oval 9">
                  <a:extLst>
                    <a:ext uri="{FF2B5EF4-FFF2-40B4-BE49-F238E27FC236}">
                      <a16:creationId xmlns:a16="http://schemas.microsoft.com/office/drawing/2014/main" id="{4520F5F7-38DC-078D-E931-BBB8D5F6B4DD}"/>
                    </a:ext>
                  </a:extLst>
                </p:cNvPr>
                <p:cNvSpPr>
                  <a:spLocks noChangeArrowheads="1"/>
                </p:cNvSpPr>
                <p:nvPr/>
              </p:nvSpPr>
              <p:spPr bwMode="auto">
                <a:xfrm>
                  <a:off x="38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46" name="Text Box 10">
                  <a:extLst>
                    <a:ext uri="{FF2B5EF4-FFF2-40B4-BE49-F238E27FC236}">
                      <a16:creationId xmlns:a16="http://schemas.microsoft.com/office/drawing/2014/main" id="{818631F8-A4E3-BC25-78D8-1F772040A354}"/>
                    </a:ext>
                  </a:extLst>
                </p:cNvPr>
                <p:cNvSpPr txBox="1">
                  <a:spLocks noChangeArrowheads="1"/>
                </p:cNvSpPr>
                <p:nvPr/>
              </p:nvSpPr>
              <p:spPr bwMode="auto">
                <a:xfrm>
                  <a:off x="3915" y="2707"/>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1</a:t>
                  </a:r>
                </a:p>
              </p:txBody>
            </p:sp>
          </p:grpSp>
        </p:grpSp>
        <p:grpSp>
          <p:nvGrpSpPr>
            <p:cNvPr id="21" name="Group 21">
              <a:extLst>
                <a:ext uri="{FF2B5EF4-FFF2-40B4-BE49-F238E27FC236}">
                  <a16:creationId xmlns:a16="http://schemas.microsoft.com/office/drawing/2014/main" id="{6E5AC42C-1891-5EE5-187A-D747C0305ED7}"/>
                </a:ext>
              </a:extLst>
            </p:cNvPr>
            <p:cNvGrpSpPr>
              <a:grpSpLocks/>
            </p:cNvGrpSpPr>
            <p:nvPr/>
          </p:nvGrpSpPr>
          <p:grpSpPr bwMode="auto">
            <a:xfrm>
              <a:off x="2891" y="3273"/>
              <a:ext cx="350" cy="296"/>
              <a:chOff x="4288" y="3622"/>
              <a:chExt cx="350" cy="296"/>
            </a:xfrm>
          </p:grpSpPr>
          <p:sp>
            <p:nvSpPr>
              <p:cNvPr id="41" name="Oval 11">
                <a:extLst>
                  <a:ext uri="{FF2B5EF4-FFF2-40B4-BE49-F238E27FC236}">
                    <a16:creationId xmlns:a16="http://schemas.microsoft.com/office/drawing/2014/main" id="{8BB620C0-D1DA-0A5D-AAFB-6312D0491D3E}"/>
                  </a:ext>
                </a:extLst>
              </p:cNvPr>
              <p:cNvSpPr>
                <a:spLocks noChangeArrowheads="1"/>
              </p:cNvSpPr>
              <p:nvPr/>
            </p:nvSpPr>
            <p:spPr bwMode="auto">
              <a:xfrm>
                <a:off x="4288" y="3622"/>
                <a:ext cx="350" cy="296"/>
              </a:xfrm>
              <a:prstGeom prst="ellipse">
                <a:avLst/>
              </a:prstGeom>
              <a:solidFill>
                <a:srgbClr val="0066FF"/>
              </a:solidFill>
              <a:ln w="38100">
                <a:solidFill>
                  <a:schemeClr val="tx1"/>
                </a:solidFill>
                <a:round/>
                <a:headEnd type="none" w="sm" len="sm"/>
                <a:tailEnd type="none" w="sm" len="sm"/>
              </a:ln>
            </p:spPr>
            <p:txBody>
              <a:bodyPr wrap="none" anchor="ctr"/>
              <a:lstStyle/>
              <a:p>
                <a:endParaRPr lang="nl-NL">
                  <a:solidFill>
                    <a:srgbClr val="FFFF00"/>
                  </a:solidFill>
                </a:endParaRPr>
              </a:p>
            </p:txBody>
          </p:sp>
          <p:sp>
            <p:nvSpPr>
              <p:cNvPr id="42" name="Text Box 12">
                <a:extLst>
                  <a:ext uri="{FF2B5EF4-FFF2-40B4-BE49-F238E27FC236}">
                    <a16:creationId xmlns:a16="http://schemas.microsoft.com/office/drawing/2014/main" id="{E0E51CAA-9AC6-0EF3-566E-36AA171D5C81}"/>
                  </a:ext>
                </a:extLst>
              </p:cNvPr>
              <p:cNvSpPr txBox="1">
                <a:spLocks noChangeArrowheads="1"/>
              </p:cNvSpPr>
              <p:nvPr/>
            </p:nvSpPr>
            <p:spPr bwMode="auto">
              <a:xfrm>
                <a:off x="4365" y="3645"/>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6</a:t>
                </a:r>
              </a:p>
            </p:txBody>
          </p:sp>
        </p:grpSp>
        <p:sp>
          <p:nvSpPr>
            <p:cNvPr id="22" name="Line 13">
              <a:extLst>
                <a:ext uri="{FF2B5EF4-FFF2-40B4-BE49-F238E27FC236}">
                  <a16:creationId xmlns:a16="http://schemas.microsoft.com/office/drawing/2014/main" id="{9994958B-5CD0-AD1E-F3EC-5F46BB3E4F4F}"/>
                </a:ext>
              </a:extLst>
            </p:cNvPr>
            <p:cNvSpPr>
              <a:spLocks noChangeShapeType="1"/>
            </p:cNvSpPr>
            <p:nvPr/>
          </p:nvSpPr>
          <p:spPr bwMode="auto">
            <a:xfrm flipV="1">
              <a:off x="1075" y="3193"/>
              <a:ext cx="250" cy="167"/>
            </a:xfrm>
            <a:prstGeom prst="line">
              <a:avLst/>
            </a:prstGeom>
            <a:noFill/>
            <a:ln w="19050">
              <a:solidFill>
                <a:schemeClr val="tx1"/>
              </a:solidFill>
              <a:round/>
              <a:headEnd type="none" w="sm" len="sm"/>
              <a:tailEnd type="arrow" w="med" len="med"/>
            </a:ln>
          </p:spPr>
          <p:txBody>
            <a:bodyPr/>
            <a:lstStyle/>
            <a:p>
              <a:endParaRPr lang="en-US">
                <a:solidFill>
                  <a:srgbClr val="FFFF00"/>
                </a:solidFill>
              </a:endParaRPr>
            </a:p>
          </p:txBody>
        </p:sp>
        <p:sp>
          <p:nvSpPr>
            <p:cNvPr id="23" name="Line 17">
              <a:extLst>
                <a:ext uri="{FF2B5EF4-FFF2-40B4-BE49-F238E27FC236}">
                  <a16:creationId xmlns:a16="http://schemas.microsoft.com/office/drawing/2014/main" id="{2E636C4C-A102-45B6-FCF7-9A613ACF92A2}"/>
                </a:ext>
              </a:extLst>
            </p:cNvPr>
            <p:cNvSpPr>
              <a:spLocks noChangeShapeType="1"/>
            </p:cNvSpPr>
            <p:nvPr/>
          </p:nvSpPr>
          <p:spPr bwMode="auto">
            <a:xfrm>
              <a:off x="503" y="3421"/>
              <a:ext cx="223" cy="0"/>
            </a:xfrm>
            <a:prstGeom prst="line">
              <a:avLst/>
            </a:prstGeom>
            <a:noFill/>
            <a:ln w="19050">
              <a:solidFill>
                <a:schemeClr val="tx1"/>
              </a:solidFill>
              <a:round/>
              <a:headEnd type="none" w="sm" len="sm"/>
              <a:tailEnd type="arrow" w="med" len="med"/>
            </a:ln>
          </p:spPr>
          <p:txBody>
            <a:bodyPr/>
            <a:lstStyle/>
            <a:p>
              <a:endParaRPr lang="en-US">
                <a:solidFill>
                  <a:srgbClr val="FFFF00"/>
                </a:solidFill>
              </a:endParaRPr>
            </a:p>
          </p:txBody>
        </p:sp>
        <p:grpSp>
          <p:nvGrpSpPr>
            <p:cNvPr id="24" name="Group 22">
              <a:extLst>
                <a:ext uri="{FF2B5EF4-FFF2-40B4-BE49-F238E27FC236}">
                  <a16:creationId xmlns:a16="http://schemas.microsoft.com/office/drawing/2014/main" id="{F8F2CA15-48A7-E753-7E89-414D794C2BD3}"/>
                </a:ext>
              </a:extLst>
            </p:cNvPr>
            <p:cNvGrpSpPr>
              <a:grpSpLocks/>
            </p:cNvGrpSpPr>
            <p:nvPr/>
          </p:nvGrpSpPr>
          <p:grpSpPr bwMode="auto">
            <a:xfrm>
              <a:off x="1810" y="3273"/>
              <a:ext cx="350" cy="296"/>
              <a:chOff x="4288" y="1746"/>
              <a:chExt cx="350" cy="296"/>
            </a:xfrm>
          </p:grpSpPr>
          <p:sp>
            <p:nvSpPr>
              <p:cNvPr id="39" name="Oval 23">
                <a:extLst>
                  <a:ext uri="{FF2B5EF4-FFF2-40B4-BE49-F238E27FC236}">
                    <a16:creationId xmlns:a16="http://schemas.microsoft.com/office/drawing/2014/main" id="{0C66C0DA-035F-97E0-E866-AA88C429FB25}"/>
                  </a:ext>
                </a:extLst>
              </p:cNvPr>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40" name="Text Box 24">
                <a:extLst>
                  <a:ext uri="{FF2B5EF4-FFF2-40B4-BE49-F238E27FC236}">
                    <a16:creationId xmlns:a16="http://schemas.microsoft.com/office/drawing/2014/main" id="{9CBA6E00-E00E-8771-CD02-1C3113196A0D}"/>
                  </a:ext>
                </a:extLst>
              </p:cNvPr>
              <p:cNvSpPr txBox="1">
                <a:spLocks noChangeArrowheads="1"/>
              </p:cNvSpPr>
              <p:nvPr/>
            </p:nvSpPr>
            <p:spPr bwMode="auto">
              <a:xfrm>
                <a:off x="4364" y="1769"/>
                <a:ext cx="197" cy="233"/>
              </a:xfrm>
              <a:prstGeom prst="rect">
                <a:avLst/>
              </a:prstGeom>
              <a:noFill/>
              <a:ln w="12700">
                <a:noFill/>
                <a:miter lim="800000"/>
                <a:headEnd type="none" w="sm" len="sm"/>
                <a:tailEnd type="none" w="sm" len="sm"/>
              </a:ln>
            </p:spPr>
            <p:txBody>
              <a:bodyPr wrap="none">
                <a:spAutoFit/>
              </a:bodyPr>
              <a:lstStyle/>
              <a:p>
                <a:pPr algn="r"/>
                <a:r>
                  <a:rPr lang="en-US">
                    <a:solidFill>
                      <a:srgbClr val="FFFF00"/>
                    </a:solidFill>
                  </a:rPr>
                  <a:t>3</a:t>
                </a:r>
              </a:p>
            </p:txBody>
          </p:sp>
        </p:grpSp>
        <p:grpSp>
          <p:nvGrpSpPr>
            <p:cNvPr id="25" name="Group 32">
              <a:extLst>
                <a:ext uri="{FF2B5EF4-FFF2-40B4-BE49-F238E27FC236}">
                  <a16:creationId xmlns:a16="http://schemas.microsoft.com/office/drawing/2014/main" id="{AE5E0DD6-F47F-BE74-2BE8-184838924C7D}"/>
                </a:ext>
              </a:extLst>
            </p:cNvPr>
            <p:cNvGrpSpPr>
              <a:grpSpLocks/>
            </p:cNvGrpSpPr>
            <p:nvPr/>
          </p:nvGrpSpPr>
          <p:grpSpPr bwMode="auto">
            <a:xfrm>
              <a:off x="2335" y="2967"/>
              <a:ext cx="380" cy="908"/>
              <a:chOff x="2450" y="2968"/>
              <a:chExt cx="380" cy="908"/>
            </a:xfrm>
          </p:grpSpPr>
          <p:grpSp>
            <p:nvGrpSpPr>
              <p:cNvPr id="33" name="Group 25">
                <a:extLst>
                  <a:ext uri="{FF2B5EF4-FFF2-40B4-BE49-F238E27FC236}">
                    <a16:creationId xmlns:a16="http://schemas.microsoft.com/office/drawing/2014/main" id="{DA671E3A-80B8-75BB-1837-309B6A3CEE09}"/>
                  </a:ext>
                </a:extLst>
              </p:cNvPr>
              <p:cNvGrpSpPr>
                <a:grpSpLocks/>
              </p:cNvGrpSpPr>
              <p:nvPr/>
            </p:nvGrpSpPr>
            <p:grpSpPr bwMode="auto">
              <a:xfrm>
                <a:off x="2450" y="3580"/>
                <a:ext cx="350" cy="296"/>
                <a:chOff x="4738" y="2684"/>
                <a:chExt cx="350" cy="296"/>
              </a:xfrm>
            </p:grpSpPr>
            <p:sp>
              <p:nvSpPr>
                <p:cNvPr id="37" name="Oval 26">
                  <a:extLst>
                    <a:ext uri="{FF2B5EF4-FFF2-40B4-BE49-F238E27FC236}">
                      <a16:creationId xmlns:a16="http://schemas.microsoft.com/office/drawing/2014/main" id="{79E1C951-CEC2-B575-8654-0B1AEEA4E610}"/>
                    </a:ext>
                  </a:extLst>
                </p:cNvPr>
                <p:cNvSpPr>
                  <a:spLocks noChangeArrowheads="1"/>
                </p:cNvSpPr>
                <p:nvPr/>
              </p:nvSpPr>
              <p:spPr bwMode="auto">
                <a:xfrm>
                  <a:off x="47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38" name="Text Box 27">
                  <a:extLst>
                    <a:ext uri="{FF2B5EF4-FFF2-40B4-BE49-F238E27FC236}">
                      <a16:creationId xmlns:a16="http://schemas.microsoft.com/office/drawing/2014/main" id="{708BB82B-C4E7-AFD1-5BA4-C049AB547136}"/>
                    </a:ext>
                  </a:extLst>
                </p:cNvPr>
                <p:cNvSpPr txBox="1">
                  <a:spLocks noChangeArrowheads="1"/>
                </p:cNvSpPr>
                <p:nvPr/>
              </p:nvSpPr>
              <p:spPr bwMode="auto">
                <a:xfrm>
                  <a:off x="4815" y="2707"/>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5</a:t>
                  </a:r>
                </a:p>
              </p:txBody>
            </p:sp>
          </p:grpSp>
          <p:grpSp>
            <p:nvGrpSpPr>
              <p:cNvPr id="34" name="Group 28">
                <a:extLst>
                  <a:ext uri="{FF2B5EF4-FFF2-40B4-BE49-F238E27FC236}">
                    <a16:creationId xmlns:a16="http://schemas.microsoft.com/office/drawing/2014/main" id="{493CE36C-AB40-F5FC-3DEB-50C6B41A1226}"/>
                  </a:ext>
                </a:extLst>
              </p:cNvPr>
              <p:cNvGrpSpPr>
                <a:grpSpLocks/>
              </p:cNvGrpSpPr>
              <p:nvPr/>
            </p:nvGrpSpPr>
            <p:grpSpPr bwMode="auto">
              <a:xfrm>
                <a:off x="2480" y="2968"/>
                <a:ext cx="350" cy="296"/>
                <a:chOff x="3838" y="2684"/>
                <a:chExt cx="350" cy="296"/>
              </a:xfrm>
            </p:grpSpPr>
            <p:sp>
              <p:nvSpPr>
                <p:cNvPr id="35" name="Oval 29">
                  <a:extLst>
                    <a:ext uri="{FF2B5EF4-FFF2-40B4-BE49-F238E27FC236}">
                      <a16:creationId xmlns:a16="http://schemas.microsoft.com/office/drawing/2014/main" id="{9D69D4B5-4BE8-908D-7F1B-EF3B8BBA4936}"/>
                    </a:ext>
                  </a:extLst>
                </p:cNvPr>
                <p:cNvSpPr>
                  <a:spLocks noChangeArrowheads="1"/>
                </p:cNvSpPr>
                <p:nvPr/>
              </p:nvSpPr>
              <p:spPr bwMode="auto">
                <a:xfrm>
                  <a:off x="38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36" name="Text Box 30">
                  <a:extLst>
                    <a:ext uri="{FF2B5EF4-FFF2-40B4-BE49-F238E27FC236}">
                      <a16:creationId xmlns:a16="http://schemas.microsoft.com/office/drawing/2014/main" id="{2F3D5314-255F-7CAB-42A2-61FC73765CF9}"/>
                    </a:ext>
                  </a:extLst>
                </p:cNvPr>
                <p:cNvSpPr txBox="1">
                  <a:spLocks noChangeArrowheads="1"/>
                </p:cNvSpPr>
                <p:nvPr/>
              </p:nvSpPr>
              <p:spPr bwMode="auto">
                <a:xfrm>
                  <a:off x="3915" y="2707"/>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4</a:t>
                  </a:r>
                </a:p>
              </p:txBody>
            </p:sp>
          </p:grpSp>
        </p:grpSp>
        <p:sp>
          <p:nvSpPr>
            <p:cNvPr id="26" name="Line 33">
              <a:extLst>
                <a:ext uri="{FF2B5EF4-FFF2-40B4-BE49-F238E27FC236}">
                  <a16:creationId xmlns:a16="http://schemas.microsoft.com/office/drawing/2014/main" id="{038EBFB3-E6FB-EB3C-1117-F7B86EFBCD84}"/>
                </a:ext>
              </a:extLst>
            </p:cNvPr>
            <p:cNvSpPr>
              <a:spLocks noChangeShapeType="1"/>
            </p:cNvSpPr>
            <p:nvPr/>
          </p:nvSpPr>
          <p:spPr bwMode="auto">
            <a:xfrm flipV="1">
              <a:off x="2679" y="3513"/>
              <a:ext cx="250" cy="167"/>
            </a:xfrm>
            <a:prstGeom prst="line">
              <a:avLst/>
            </a:prstGeom>
            <a:noFill/>
            <a:ln w="19050">
              <a:solidFill>
                <a:schemeClr val="tx1"/>
              </a:solidFill>
              <a:round/>
              <a:headEnd type="none" w="sm" len="sm"/>
              <a:tailEnd type="arrow" w="med" len="med"/>
            </a:ln>
          </p:spPr>
          <p:txBody>
            <a:bodyPr/>
            <a:lstStyle/>
            <a:p>
              <a:endParaRPr lang="en-US">
                <a:solidFill>
                  <a:srgbClr val="FFFF00"/>
                </a:solidFill>
              </a:endParaRPr>
            </a:p>
          </p:txBody>
        </p:sp>
        <p:sp>
          <p:nvSpPr>
            <p:cNvPr id="27" name="Line 34">
              <a:extLst>
                <a:ext uri="{FF2B5EF4-FFF2-40B4-BE49-F238E27FC236}">
                  <a16:creationId xmlns:a16="http://schemas.microsoft.com/office/drawing/2014/main" id="{CF1B06F2-318C-785A-75CA-097C91C5FA6A}"/>
                </a:ext>
              </a:extLst>
            </p:cNvPr>
            <p:cNvSpPr>
              <a:spLocks noChangeShapeType="1"/>
            </p:cNvSpPr>
            <p:nvPr/>
          </p:nvSpPr>
          <p:spPr bwMode="auto">
            <a:xfrm flipV="1">
              <a:off x="1595" y="3513"/>
              <a:ext cx="250" cy="167"/>
            </a:xfrm>
            <a:prstGeom prst="line">
              <a:avLst/>
            </a:prstGeom>
            <a:noFill/>
            <a:ln w="19050">
              <a:solidFill>
                <a:schemeClr val="tx1"/>
              </a:solidFill>
              <a:round/>
              <a:headEnd type="none" w="sm" len="sm"/>
              <a:tailEnd type="arrow" w="med" len="med"/>
            </a:ln>
          </p:spPr>
          <p:txBody>
            <a:bodyPr/>
            <a:lstStyle/>
            <a:p>
              <a:endParaRPr lang="en-US">
                <a:solidFill>
                  <a:srgbClr val="FFFF00"/>
                </a:solidFill>
              </a:endParaRPr>
            </a:p>
          </p:txBody>
        </p:sp>
        <p:sp>
          <p:nvSpPr>
            <p:cNvPr id="28" name="Line 35">
              <a:extLst>
                <a:ext uri="{FF2B5EF4-FFF2-40B4-BE49-F238E27FC236}">
                  <a16:creationId xmlns:a16="http://schemas.microsoft.com/office/drawing/2014/main" id="{5F1B81E2-3B5B-77BB-4E56-E17727729349}"/>
                </a:ext>
              </a:extLst>
            </p:cNvPr>
            <p:cNvSpPr>
              <a:spLocks noChangeShapeType="1"/>
            </p:cNvSpPr>
            <p:nvPr/>
          </p:nvSpPr>
          <p:spPr bwMode="auto">
            <a:xfrm flipV="1">
              <a:off x="2147" y="3193"/>
              <a:ext cx="250" cy="167"/>
            </a:xfrm>
            <a:prstGeom prst="line">
              <a:avLst/>
            </a:prstGeom>
            <a:noFill/>
            <a:ln w="19050">
              <a:solidFill>
                <a:schemeClr val="tx1"/>
              </a:solidFill>
              <a:round/>
              <a:headEnd type="none" w="sm" len="sm"/>
              <a:tailEnd type="arrow" w="med" len="med"/>
            </a:ln>
          </p:spPr>
          <p:txBody>
            <a:bodyPr/>
            <a:lstStyle/>
            <a:p>
              <a:endParaRPr lang="en-US">
                <a:solidFill>
                  <a:srgbClr val="FFFF00"/>
                </a:solidFill>
              </a:endParaRPr>
            </a:p>
          </p:txBody>
        </p:sp>
        <p:sp>
          <p:nvSpPr>
            <p:cNvPr id="29" name="Line 36">
              <a:extLst>
                <a:ext uri="{FF2B5EF4-FFF2-40B4-BE49-F238E27FC236}">
                  <a16:creationId xmlns:a16="http://schemas.microsoft.com/office/drawing/2014/main" id="{FF683421-7CCB-4111-C720-63DC8603627F}"/>
                </a:ext>
              </a:extLst>
            </p:cNvPr>
            <p:cNvSpPr>
              <a:spLocks noChangeShapeType="1"/>
            </p:cNvSpPr>
            <p:nvPr/>
          </p:nvSpPr>
          <p:spPr bwMode="auto">
            <a:xfrm>
              <a:off x="1055" y="3517"/>
              <a:ext cx="218" cy="157"/>
            </a:xfrm>
            <a:prstGeom prst="line">
              <a:avLst/>
            </a:prstGeom>
            <a:noFill/>
            <a:ln w="19050">
              <a:solidFill>
                <a:schemeClr val="tx1"/>
              </a:solidFill>
              <a:round/>
              <a:headEnd type="none" w="sm" len="sm"/>
              <a:tailEnd type="arrow" w="med" len="med"/>
            </a:ln>
          </p:spPr>
          <p:txBody>
            <a:bodyPr/>
            <a:lstStyle/>
            <a:p>
              <a:endParaRPr lang="en-US">
                <a:solidFill>
                  <a:srgbClr val="FFFF00"/>
                </a:solidFill>
              </a:endParaRPr>
            </a:p>
          </p:txBody>
        </p:sp>
        <p:sp>
          <p:nvSpPr>
            <p:cNvPr id="30" name="Line 37">
              <a:extLst>
                <a:ext uri="{FF2B5EF4-FFF2-40B4-BE49-F238E27FC236}">
                  <a16:creationId xmlns:a16="http://schemas.microsoft.com/office/drawing/2014/main" id="{46A5F4F4-DE43-5D96-05FD-5CFC8C73C037}"/>
                </a:ext>
              </a:extLst>
            </p:cNvPr>
            <p:cNvSpPr>
              <a:spLocks noChangeShapeType="1"/>
            </p:cNvSpPr>
            <p:nvPr/>
          </p:nvSpPr>
          <p:spPr bwMode="auto">
            <a:xfrm>
              <a:off x="1607" y="3198"/>
              <a:ext cx="218" cy="157"/>
            </a:xfrm>
            <a:prstGeom prst="line">
              <a:avLst/>
            </a:prstGeom>
            <a:noFill/>
            <a:ln w="19050">
              <a:solidFill>
                <a:schemeClr val="tx1"/>
              </a:solidFill>
              <a:round/>
              <a:headEnd type="none" w="sm" len="sm"/>
              <a:tailEnd type="arrow" w="med" len="med"/>
            </a:ln>
          </p:spPr>
          <p:txBody>
            <a:bodyPr/>
            <a:lstStyle/>
            <a:p>
              <a:endParaRPr lang="en-US">
                <a:solidFill>
                  <a:srgbClr val="FFFF00"/>
                </a:solidFill>
              </a:endParaRPr>
            </a:p>
          </p:txBody>
        </p:sp>
        <p:sp>
          <p:nvSpPr>
            <p:cNvPr id="31" name="Line 38">
              <a:extLst>
                <a:ext uri="{FF2B5EF4-FFF2-40B4-BE49-F238E27FC236}">
                  <a16:creationId xmlns:a16="http://schemas.microsoft.com/office/drawing/2014/main" id="{B90F23FD-E4D1-374C-9B3C-1039DB18436D}"/>
                </a:ext>
              </a:extLst>
            </p:cNvPr>
            <p:cNvSpPr>
              <a:spLocks noChangeShapeType="1"/>
            </p:cNvSpPr>
            <p:nvPr/>
          </p:nvSpPr>
          <p:spPr bwMode="auto">
            <a:xfrm>
              <a:off x="2123" y="3518"/>
              <a:ext cx="218" cy="157"/>
            </a:xfrm>
            <a:prstGeom prst="line">
              <a:avLst/>
            </a:prstGeom>
            <a:noFill/>
            <a:ln w="19050">
              <a:solidFill>
                <a:schemeClr val="tx1"/>
              </a:solidFill>
              <a:round/>
              <a:headEnd type="none" w="sm" len="sm"/>
              <a:tailEnd type="arrow" w="med" len="med"/>
            </a:ln>
          </p:spPr>
          <p:txBody>
            <a:bodyPr/>
            <a:lstStyle/>
            <a:p>
              <a:endParaRPr lang="en-US">
                <a:solidFill>
                  <a:srgbClr val="FFFF00"/>
                </a:solidFill>
              </a:endParaRPr>
            </a:p>
          </p:txBody>
        </p:sp>
        <p:sp>
          <p:nvSpPr>
            <p:cNvPr id="32" name="Line 39">
              <a:extLst>
                <a:ext uri="{FF2B5EF4-FFF2-40B4-BE49-F238E27FC236}">
                  <a16:creationId xmlns:a16="http://schemas.microsoft.com/office/drawing/2014/main" id="{5336BDF5-945D-16D4-F0E3-3FD7B6C688AF}"/>
                </a:ext>
              </a:extLst>
            </p:cNvPr>
            <p:cNvSpPr>
              <a:spLocks noChangeShapeType="1"/>
            </p:cNvSpPr>
            <p:nvPr/>
          </p:nvSpPr>
          <p:spPr bwMode="auto">
            <a:xfrm>
              <a:off x="2707" y="3197"/>
              <a:ext cx="218" cy="157"/>
            </a:xfrm>
            <a:prstGeom prst="line">
              <a:avLst/>
            </a:prstGeom>
            <a:noFill/>
            <a:ln w="19050">
              <a:solidFill>
                <a:schemeClr val="tx1"/>
              </a:solidFill>
              <a:round/>
              <a:headEnd type="none" w="sm" len="sm"/>
              <a:tailEnd type="arrow" w="med" len="med"/>
            </a:ln>
          </p:spPr>
          <p:txBody>
            <a:bodyPr/>
            <a:lstStyle/>
            <a:p>
              <a:endParaRPr lang="en-US">
                <a:solidFill>
                  <a:srgbClr val="FFFF00"/>
                </a:solidFill>
              </a:endParaRPr>
            </a:p>
          </p:txBody>
        </p:sp>
      </p:grpSp>
      <p:sp>
        <p:nvSpPr>
          <p:cNvPr id="51" name="TextBox 50">
            <a:extLst>
              <a:ext uri="{FF2B5EF4-FFF2-40B4-BE49-F238E27FC236}">
                <a16:creationId xmlns:a16="http://schemas.microsoft.com/office/drawing/2014/main" id="{B6703716-8C10-3195-0CD9-0AC5C94D6537}"/>
              </a:ext>
            </a:extLst>
          </p:cNvPr>
          <p:cNvSpPr txBox="1"/>
          <p:nvPr/>
        </p:nvSpPr>
        <p:spPr>
          <a:xfrm>
            <a:off x="3282134" y="1735561"/>
            <a:ext cx="530915" cy="369332"/>
          </a:xfrm>
          <a:prstGeom prst="rect">
            <a:avLst/>
          </a:prstGeom>
          <a:noFill/>
        </p:spPr>
        <p:txBody>
          <a:bodyPr wrap="none" rtlCol="0">
            <a:spAutoFit/>
          </a:bodyPr>
          <a:lstStyle/>
          <a:p>
            <a:r>
              <a:rPr lang="en-NL" dirty="0"/>
              <a:t>P2: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33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Few notes on TR and  </a:t>
            </a:r>
            <a:r>
              <a:rPr lang="en-US" sz="4000" dirty="0" err="1"/>
              <a:t>subsumption</a:t>
            </a:r>
            <a:endParaRPr lang="en-US" sz="4000" dirty="0"/>
          </a:p>
        </p:txBody>
      </p:sp>
      <p:sp>
        <p:nvSpPr>
          <p:cNvPr id="3" name="Content Placeholder 2"/>
          <p:cNvSpPr>
            <a:spLocks noGrp="1"/>
          </p:cNvSpPr>
          <p:nvPr>
            <p:ph idx="1"/>
          </p:nvPr>
        </p:nvSpPr>
        <p:spPr/>
        <p:txBody>
          <a:bodyPr/>
          <a:lstStyle/>
          <a:p>
            <a:r>
              <a:rPr lang="en-US" sz="2400" dirty="0"/>
              <a:t>Consider a TR has N elements, and assume all are feasible:</a:t>
            </a:r>
          </a:p>
          <a:p>
            <a:pPr lvl="1"/>
            <a:r>
              <a:rPr lang="en-US" sz="2400" dirty="0"/>
              <a:t>There exists a test set with at most N elements that fully cover this TR.</a:t>
            </a:r>
          </a:p>
          <a:p>
            <a:pPr lvl="1"/>
            <a:r>
              <a:rPr lang="en-US" sz="2400" dirty="0"/>
              <a:t>There may be a test set with less that N elements that fully cover the TR.</a:t>
            </a:r>
          </a:p>
          <a:p>
            <a:r>
              <a:rPr lang="en-US" sz="2400" dirty="0"/>
              <a:t>Consider two coverage criteria C1 and C2 and C1 does </a:t>
            </a:r>
            <a:r>
              <a:rPr lang="en-US" sz="2400" b="1" dirty="0"/>
              <a:t>not</a:t>
            </a:r>
            <a:r>
              <a:rPr lang="en-US" sz="2400" dirty="0"/>
              <a:t> subsume C2.</a:t>
            </a:r>
          </a:p>
          <a:p>
            <a:pPr lvl="1"/>
            <a:r>
              <a:rPr lang="en-US" sz="2400" dirty="0"/>
              <a:t>There exists a program P and a test set for P fulfilling C1 but not C2.</a:t>
            </a:r>
          </a:p>
          <a:p>
            <a:pPr lvl="1"/>
            <a:r>
              <a:rPr lang="en-US" sz="2400" dirty="0"/>
              <a:t>But keep in mind that there may be a program Q, where any test set for Q that fulfills C1 would also fulfill C2</a:t>
            </a:r>
          </a:p>
        </p:txBody>
      </p:sp>
      <p:sp>
        <p:nvSpPr>
          <p:cNvPr id="4" name="Slide Number Placeholder 3"/>
          <p:cNvSpPr>
            <a:spLocks noGrp="1"/>
          </p:cNvSpPr>
          <p:nvPr>
            <p:ph type="sldNum" sz="quarter" idx="12"/>
          </p:nvPr>
        </p:nvSpPr>
        <p:spPr/>
        <p:txBody>
          <a:bodyPr/>
          <a:lstStyle/>
          <a:p>
            <a:pPr>
              <a:defRPr/>
            </a:pPr>
            <a:fld id="{F7C0A3F7-46F3-44CF-95B7-0304031AA6EA}" type="slidenum">
              <a:rPr lang="en-US" smtClean="0"/>
              <a:pPr>
                <a:defRPr/>
              </a:pPr>
              <a:t>18</a:t>
            </a:fld>
            <a:endParaRPr lang="en-US"/>
          </a:p>
        </p:txBody>
      </p:sp>
    </p:spTree>
    <p:extLst>
      <p:ext uri="{BB962C8B-B14F-4D97-AF65-F5344CB8AC3E}">
        <p14:creationId xmlns:p14="http://schemas.microsoft.com/office/powerpoint/2010/main" val="11013136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457200" y="274638"/>
            <a:ext cx="8229600" cy="800116"/>
          </a:xfrm>
        </p:spPr>
        <p:txBody>
          <a:bodyPr/>
          <a:lstStyle/>
          <a:p>
            <a:r>
              <a:rPr lang="en-US" sz="3600" dirty="0"/>
              <a:t>What if we insist on covering ALL paths?</a:t>
            </a:r>
          </a:p>
        </p:txBody>
      </p:sp>
      <p:sp>
        <p:nvSpPr>
          <p:cNvPr id="4" name="Slide Number Placeholder 3"/>
          <p:cNvSpPr>
            <a:spLocks noGrp="1"/>
          </p:cNvSpPr>
          <p:nvPr>
            <p:ph type="sldNum" sz="quarter" idx="12"/>
          </p:nvPr>
        </p:nvSpPr>
        <p:spPr/>
        <p:txBody>
          <a:bodyPr/>
          <a:lstStyle/>
          <a:p>
            <a:pPr>
              <a:defRPr/>
            </a:pPr>
            <a:fld id="{AF3D37B6-26F1-4271-B65E-40611FD65502}" type="slidenum">
              <a:rPr lang="en-US" smtClean="0"/>
              <a:pPr>
                <a:defRPr/>
              </a:pPr>
              <a:t>19</a:t>
            </a:fld>
            <a:endParaRPr lang="en-US"/>
          </a:p>
        </p:txBody>
      </p:sp>
      <p:grpSp>
        <p:nvGrpSpPr>
          <p:cNvPr id="16407" name="Group 18"/>
          <p:cNvGrpSpPr>
            <a:grpSpLocks/>
          </p:cNvGrpSpPr>
          <p:nvPr/>
        </p:nvGrpSpPr>
        <p:grpSpPr bwMode="auto">
          <a:xfrm>
            <a:off x="1692001" y="2329709"/>
            <a:ext cx="555622" cy="469904"/>
            <a:chOff x="4288" y="1746"/>
            <a:chExt cx="350" cy="296"/>
          </a:xfrm>
        </p:grpSpPr>
        <p:sp>
          <p:nvSpPr>
            <p:cNvPr id="16450" name="Oval 5"/>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16451" name="Text Box 6"/>
            <p:cNvSpPr txBox="1">
              <a:spLocks noChangeArrowheads="1"/>
            </p:cNvSpPr>
            <p:nvPr/>
          </p:nvSpPr>
          <p:spPr bwMode="auto">
            <a:xfrm>
              <a:off x="4364" y="1769"/>
              <a:ext cx="197" cy="233"/>
            </a:xfrm>
            <a:prstGeom prst="rect">
              <a:avLst/>
            </a:prstGeom>
            <a:noFill/>
            <a:ln w="12700">
              <a:noFill/>
              <a:miter lim="800000"/>
              <a:headEnd type="none" w="sm" len="sm"/>
              <a:tailEnd type="none" w="sm" len="sm"/>
            </a:ln>
          </p:spPr>
          <p:txBody>
            <a:bodyPr wrap="none">
              <a:spAutoFit/>
            </a:bodyPr>
            <a:lstStyle/>
            <a:p>
              <a:pPr algn="r"/>
              <a:r>
                <a:rPr lang="en-US">
                  <a:solidFill>
                    <a:srgbClr val="FFFF00"/>
                  </a:solidFill>
                </a:rPr>
                <a:t>0</a:t>
              </a:r>
            </a:p>
          </p:txBody>
        </p:sp>
      </p:grpSp>
      <p:grpSp>
        <p:nvGrpSpPr>
          <p:cNvPr id="16408" name="Group 31"/>
          <p:cNvGrpSpPr>
            <a:grpSpLocks/>
          </p:cNvGrpSpPr>
          <p:nvPr/>
        </p:nvGrpSpPr>
        <p:grpSpPr bwMode="auto">
          <a:xfrm>
            <a:off x="2525434" y="1842343"/>
            <a:ext cx="603247" cy="1441461"/>
            <a:chOff x="1346" y="2965"/>
            <a:chExt cx="380" cy="908"/>
          </a:xfrm>
        </p:grpSpPr>
        <p:grpSp>
          <p:nvGrpSpPr>
            <p:cNvPr id="16444" name="Group 19"/>
            <p:cNvGrpSpPr>
              <a:grpSpLocks/>
            </p:cNvGrpSpPr>
            <p:nvPr/>
          </p:nvGrpSpPr>
          <p:grpSpPr bwMode="auto">
            <a:xfrm>
              <a:off x="1346" y="3577"/>
              <a:ext cx="350" cy="296"/>
              <a:chOff x="4738" y="2684"/>
              <a:chExt cx="350" cy="296"/>
            </a:xfrm>
          </p:grpSpPr>
          <p:sp>
            <p:nvSpPr>
              <p:cNvPr id="16448" name="Oval 7"/>
              <p:cNvSpPr>
                <a:spLocks noChangeArrowheads="1"/>
              </p:cNvSpPr>
              <p:nvPr/>
            </p:nvSpPr>
            <p:spPr bwMode="auto">
              <a:xfrm>
                <a:off x="47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16449" name="Text Box 8"/>
              <p:cNvSpPr txBox="1">
                <a:spLocks noChangeArrowheads="1"/>
              </p:cNvSpPr>
              <p:nvPr/>
            </p:nvSpPr>
            <p:spPr bwMode="auto">
              <a:xfrm>
                <a:off x="4815" y="2707"/>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2</a:t>
                </a:r>
              </a:p>
            </p:txBody>
          </p:sp>
        </p:grpSp>
        <p:grpSp>
          <p:nvGrpSpPr>
            <p:cNvPr id="16445" name="Group 20"/>
            <p:cNvGrpSpPr>
              <a:grpSpLocks/>
            </p:cNvGrpSpPr>
            <p:nvPr/>
          </p:nvGrpSpPr>
          <p:grpSpPr bwMode="auto">
            <a:xfrm>
              <a:off x="1376" y="2965"/>
              <a:ext cx="350" cy="296"/>
              <a:chOff x="3838" y="2684"/>
              <a:chExt cx="350" cy="296"/>
            </a:xfrm>
          </p:grpSpPr>
          <p:sp>
            <p:nvSpPr>
              <p:cNvPr id="16446" name="Oval 9"/>
              <p:cNvSpPr>
                <a:spLocks noChangeArrowheads="1"/>
              </p:cNvSpPr>
              <p:nvPr/>
            </p:nvSpPr>
            <p:spPr bwMode="auto">
              <a:xfrm>
                <a:off x="38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16447" name="Text Box 10"/>
              <p:cNvSpPr txBox="1">
                <a:spLocks noChangeArrowheads="1"/>
              </p:cNvSpPr>
              <p:nvPr/>
            </p:nvSpPr>
            <p:spPr bwMode="auto">
              <a:xfrm>
                <a:off x="3915" y="2707"/>
                <a:ext cx="197" cy="233"/>
              </a:xfrm>
              <a:prstGeom prst="rect">
                <a:avLst/>
              </a:prstGeom>
              <a:noFill/>
              <a:ln w="12700">
                <a:noFill/>
                <a:miter lim="800000"/>
                <a:headEnd type="none" w="sm" len="sm"/>
                <a:tailEnd type="none" w="sm" len="sm"/>
              </a:ln>
            </p:spPr>
            <p:txBody>
              <a:bodyPr wrap="none">
                <a:spAutoFit/>
              </a:bodyPr>
              <a:lstStyle/>
              <a:p>
                <a:r>
                  <a:rPr lang="en-US" dirty="0">
                    <a:solidFill>
                      <a:srgbClr val="FFFF00"/>
                    </a:solidFill>
                  </a:rPr>
                  <a:t>1</a:t>
                </a:r>
              </a:p>
            </p:txBody>
          </p:sp>
        </p:grpSp>
      </p:grpSp>
      <p:grpSp>
        <p:nvGrpSpPr>
          <p:cNvPr id="16409" name="Group 38"/>
          <p:cNvGrpSpPr>
            <a:grpSpLocks/>
          </p:cNvGrpSpPr>
          <p:nvPr/>
        </p:nvGrpSpPr>
        <p:grpSpPr bwMode="auto">
          <a:xfrm>
            <a:off x="5122570" y="2329709"/>
            <a:ext cx="555622" cy="469904"/>
            <a:chOff x="4433860" y="2201850"/>
            <a:chExt cx="555625" cy="469900"/>
          </a:xfrm>
        </p:grpSpPr>
        <p:sp>
          <p:nvSpPr>
            <p:cNvPr id="16442" name="Oval 11"/>
            <p:cNvSpPr>
              <a:spLocks noChangeArrowheads="1"/>
            </p:cNvSpPr>
            <p:nvPr/>
          </p:nvSpPr>
          <p:spPr bwMode="auto">
            <a:xfrm>
              <a:off x="4433860" y="2201850"/>
              <a:ext cx="555625" cy="469900"/>
            </a:xfrm>
            <a:prstGeom prst="ellipse">
              <a:avLst/>
            </a:prstGeom>
            <a:solidFill>
              <a:srgbClr val="0066FF"/>
            </a:solidFill>
            <a:ln w="9525">
              <a:solidFill>
                <a:schemeClr val="tx1"/>
              </a:solidFill>
              <a:round/>
              <a:headEnd type="none" w="sm" len="sm"/>
              <a:tailEnd type="none" w="sm" len="sm"/>
            </a:ln>
          </p:spPr>
          <p:txBody>
            <a:bodyPr wrap="none" anchor="ctr"/>
            <a:lstStyle/>
            <a:p>
              <a:endParaRPr lang="nl-NL">
                <a:solidFill>
                  <a:srgbClr val="FFFF00"/>
                </a:solidFill>
              </a:endParaRPr>
            </a:p>
          </p:txBody>
        </p:sp>
        <p:sp>
          <p:nvSpPr>
            <p:cNvPr id="16443" name="Text Box 12"/>
            <p:cNvSpPr txBox="1">
              <a:spLocks noChangeArrowheads="1"/>
            </p:cNvSpPr>
            <p:nvPr/>
          </p:nvSpPr>
          <p:spPr bwMode="auto">
            <a:xfrm>
              <a:off x="4556098" y="2238363"/>
              <a:ext cx="312908" cy="369329"/>
            </a:xfrm>
            <a:prstGeom prst="rect">
              <a:avLst/>
            </a:prstGeom>
            <a:noFill/>
            <a:ln w="12700">
              <a:noFill/>
              <a:miter lim="800000"/>
              <a:headEnd type="none" w="sm" len="sm"/>
              <a:tailEnd type="none" w="sm" len="sm"/>
            </a:ln>
          </p:spPr>
          <p:txBody>
            <a:bodyPr wrap="none">
              <a:spAutoFit/>
            </a:bodyPr>
            <a:lstStyle/>
            <a:p>
              <a:r>
                <a:rPr lang="en-US" dirty="0">
                  <a:solidFill>
                    <a:srgbClr val="FFFF00"/>
                  </a:solidFill>
                </a:rPr>
                <a:t>6</a:t>
              </a:r>
            </a:p>
          </p:txBody>
        </p:sp>
      </p:grpSp>
      <p:sp>
        <p:nvSpPr>
          <p:cNvPr id="16410" name="Line 13"/>
          <p:cNvSpPr>
            <a:spLocks noChangeShapeType="1"/>
          </p:cNvSpPr>
          <p:nvPr/>
        </p:nvSpPr>
        <p:spPr bwMode="auto">
          <a:xfrm flipV="1">
            <a:off x="2239685" y="2202708"/>
            <a:ext cx="396873" cy="265114"/>
          </a:xfrm>
          <a:prstGeom prst="line">
            <a:avLst/>
          </a:prstGeom>
          <a:noFill/>
          <a:ln w="19050">
            <a:solidFill>
              <a:schemeClr val="tx1"/>
            </a:solidFill>
            <a:round/>
            <a:headEnd type="none" w="sm" len="sm"/>
            <a:tailEnd type="arrow" w="med" len="med"/>
          </a:ln>
        </p:spPr>
        <p:txBody>
          <a:bodyPr/>
          <a:lstStyle/>
          <a:p>
            <a:endParaRPr lang="en-US"/>
          </a:p>
        </p:txBody>
      </p:sp>
      <p:sp>
        <p:nvSpPr>
          <p:cNvPr id="16411" name="Line 17"/>
          <p:cNvSpPr>
            <a:spLocks noChangeShapeType="1"/>
          </p:cNvSpPr>
          <p:nvPr/>
        </p:nvSpPr>
        <p:spPr bwMode="auto">
          <a:xfrm>
            <a:off x="1331640" y="2564661"/>
            <a:ext cx="354011" cy="0"/>
          </a:xfrm>
          <a:prstGeom prst="line">
            <a:avLst/>
          </a:prstGeom>
          <a:noFill/>
          <a:ln w="19050">
            <a:solidFill>
              <a:schemeClr val="tx1"/>
            </a:solidFill>
            <a:round/>
            <a:headEnd type="none" w="sm" len="sm"/>
            <a:tailEnd type="arrow" w="med" len="med"/>
          </a:ln>
        </p:spPr>
        <p:txBody>
          <a:bodyPr/>
          <a:lstStyle/>
          <a:p>
            <a:endParaRPr lang="en-US"/>
          </a:p>
        </p:txBody>
      </p:sp>
      <p:grpSp>
        <p:nvGrpSpPr>
          <p:cNvPr id="16412" name="Group 22"/>
          <p:cNvGrpSpPr>
            <a:grpSpLocks/>
          </p:cNvGrpSpPr>
          <p:nvPr/>
        </p:nvGrpSpPr>
        <p:grpSpPr bwMode="auto">
          <a:xfrm>
            <a:off x="3406492" y="2329709"/>
            <a:ext cx="555622" cy="469904"/>
            <a:chOff x="4288" y="1746"/>
            <a:chExt cx="350" cy="296"/>
          </a:xfrm>
        </p:grpSpPr>
        <p:sp>
          <p:nvSpPr>
            <p:cNvPr id="16440" name="Oval 23"/>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16441" name="Text Box 24"/>
            <p:cNvSpPr txBox="1">
              <a:spLocks noChangeArrowheads="1"/>
            </p:cNvSpPr>
            <p:nvPr/>
          </p:nvSpPr>
          <p:spPr bwMode="auto">
            <a:xfrm>
              <a:off x="4364" y="1769"/>
              <a:ext cx="197" cy="233"/>
            </a:xfrm>
            <a:prstGeom prst="rect">
              <a:avLst/>
            </a:prstGeom>
            <a:noFill/>
            <a:ln w="12700">
              <a:noFill/>
              <a:miter lim="800000"/>
              <a:headEnd type="none" w="sm" len="sm"/>
              <a:tailEnd type="none" w="sm" len="sm"/>
            </a:ln>
          </p:spPr>
          <p:txBody>
            <a:bodyPr wrap="none">
              <a:spAutoFit/>
            </a:bodyPr>
            <a:lstStyle/>
            <a:p>
              <a:pPr algn="r"/>
              <a:r>
                <a:rPr lang="en-US">
                  <a:solidFill>
                    <a:srgbClr val="FFFF00"/>
                  </a:solidFill>
                </a:rPr>
                <a:t>3</a:t>
              </a:r>
            </a:p>
          </p:txBody>
        </p:sp>
      </p:grpSp>
      <p:grpSp>
        <p:nvGrpSpPr>
          <p:cNvPr id="16413" name="Group 32"/>
          <p:cNvGrpSpPr>
            <a:grpSpLocks/>
          </p:cNvGrpSpPr>
          <p:nvPr/>
        </p:nvGrpSpPr>
        <p:grpSpPr bwMode="auto">
          <a:xfrm>
            <a:off x="4239925" y="1843930"/>
            <a:ext cx="603247" cy="1441461"/>
            <a:chOff x="2450" y="2968"/>
            <a:chExt cx="380" cy="908"/>
          </a:xfrm>
        </p:grpSpPr>
        <p:grpSp>
          <p:nvGrpSpPr>
            <p:cNvPr id="16434" name="Group 25"/>
            <p:cNvGrpSpPr>
              <a:grpSpLocks/>
            </p:cNvGrpSpPr>
            <p:nvPr/>
          </p:nvGrpSpPr>
          <p:grpSpPr bwMode="auto">
            <a:xfrm>
              <a:off x="2450" y="3580"/>
              <a:ext cx="350" cy="296"/>
              <a:chOff x="4738" y="2684"/>
              <a:chExt cx="350" cy="296"/>
            </a:xfrm>
          </p:grpSpPr>
          <p:sp>
            <p:nvSpPr>
              <p:cNvPr id="16438" name="Oval 26"/>
              <p:cNvSpPr>
                <a:spLocks noChangeArrowheads="1"/>
              </p:cNvSpPr>
              <p:nvPr/>
            </p:nvSpPr>
            <p:spPr bwMode="auto">
              <a:xfrm>
                <a:off x="47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16439" name="Text Box 27"/>
              <p:cNvSpPr txBox="1">
                <a:spLocks noChangeArrowheads="1"/>
              </p:cNvSpPr>
              <p:nvPr/>
            </p:nvSpPr>
            <p:spPr bwMode="auto">
              <a:xfrm>
                <a:off x="4815" y="2707"/>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5</a:t>
                </a:r>
              </a:p>
            </p:txBody>
          </p:sp>
        </p:grpSp>
        <p:grpSp>
          <p:nvGrpSpPr>
            <p:cNvPr id="16435" name="Group 28"/>
            <p:cNvGrpSpPr>
              <a:grpSpLocks/>
            </p:cNvGrpSpPr>
            <p:nvPr/>
          </p:nvGrpSpPr>
          <p:grpSpPr bwMode="auto">
            <a:xfrm>
              <a:off x="2480" y="2968"/>
              <a:ext cx="350" cy="296"/>
              <a:chOff x="3838" y="2684"/>
              <a:chExt cx="350" cy="296"/>
            </a:xfrm>
          </p:grpSpPr>
          <p:sp>
            <p:nvSpPr>
              <p:cNvPr id="16436" name="Oval 29"/>
              <p:cNvSpPr>
                <a:spLocks noChangeArrowheads="1"/>
              </p:cNvSpPr>
              <p:nvPr/>
            </p:nvSpPr>
            <p:spPr bwMode="auto">
              <a:xfrm>
                <a:off x="38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16437" name="Text Box 30"/>
              <p:cNvSpPr txBox="1">
                <a:spLocks noChangeArrowheads="1"/>
              </p:cNvSpPr>
              <p:nvPr/>
            </p:nvSpPr>
            <p:spPr bwMode="auto">
              <a:xfrm>
                <a:off x="3915" y="2707"/>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4</a:t>
                </a:r>
              </a:p>
            </p:txBody>
          </p:sp>
        </p:grpSp>
      </p:grpSp>
      <p:sp>
        <p:nvSpPr>
          <p:cNvPr id="16414" name="Line 33"/>
          <p:cNvSpPr>
            <a:spLocks noChangeShapeType="1"/>
          </p:cNvSpPr>
          <p:nvPr/>
        </p:nvSpPr>
        <p:spPr bwMode="auto">
          <a:xfrm flipV="1">
            <a:off x="4786022" y="2710712"/>
            <a:ext cx="396873" cy="265114"/>
          </a:xfrm>
          <a:prstGeom prst="line">
            <a:avLst/>
          </a:prstGeom>
          <a:noFill/>
          <a:ln w="19050">
            <a:solidFill>
              <a:schemeClr val="tx1"/>
            </a:solidFill>
            <a:round/>
            <a:headEnd type="none" w="sm" len="sm"/>
            <a:tailEnd type="arrow" w="med" len="med"/>
          </a:ln>
        </p:spPr>
        <p:txBody>
          <a:bodyPr/>
          <a:lstStyle/>
          <a:p>
            <a:endParaRPr lang="en-US"/>
          </a:p>
        </p:txBody>
      </p:sp>
      <p:sp>
        <p:nvSpPr>
          <p:cNvPr id="16415" name="Line 34"/>
          <p:cNvSpPr>
            <a:spLocks noChangeShapeType="1"/>
          </p:cNvSpPr>
          <p:nvPr/>
        </p:nvSpPr>
        <p:spPr bwMode="auto">
          <a:xfrm flipV="1">
            <a:off x="3065181" y="2710712"/>
            <a:ext cx="396873" cy="265114"/>
          </a:xfrm>
          <a:prstGeom prst="line">
            <a:avLst/>
          </a:prstGeom>
          <a:noFill/>
          <a:ln w="19050">
            <a:solidFill>
              <a:schemeClr val="tx1"/>
            </a:solidFill>
            <a:round/>
            <a:headEnd type="none" w="sm" len="sm"/>
            <a:tailEnd type="arrow" w="med" len="med"/>
          </a:ln>
        </p:spPr>
        <p:txBody>
          <a:bodyPr/>
          <a:lstStyle/>
          <a:p>
            <a:endParaRPr lang="en-US"/>
          </a:p>
        </p:txBody>
      </p:sp>
      <p:sp>
        <p:nvSpPr>
          <p:cNvPr id="16416" name="Line 35"/>
          <p:cNvSpPr>
            <a:spLocks noChangeShapeType="1"/>
          </p:cNvSpPr>
          <p:nvPr/>
        </p:nvSpPr>
        <p:spPr bwMode="auto">
          <a:xfrm flipV="1">
            <a:off x="3941476" y="2202708"/>
            <a:ext cx="396873" cy="265114"/>
          </a:xfrm>
          <a:prstGeom prst="line">
            <a:avLst/>
          </a:prstGeom>
          <a:noFill/>
          <a:ln w="19050">
            <a:solidFill>
              <a:schemeClr val="tx1"/>
            </a:solidFill>
            <a:round/>
            <a:headEnd type="none" w="sm" len="sm"/>
            <a:tailEnd type="arrow" w="med" len="med"/>
          </a:ln>
        </p:spPr>
        <p:txBody>
          <a:bodyPr/>
          <a:lstStyle/>
          <a:p>
            <a:endParaRPr lang="en-US"/>
          </a:p>
        </p:txBody>
      </p:sp>
      <p:sp>
        <p:nvSpPr>
          <p:cNvPr id="16417" name="Line 36"/>
          <p:cNvSpPr>
            <a:spLocks noChangeShapeType="1"/>
          </p:cNvSpPr>
          <p:nvPr/>
        </p:nvSpPr>
        <p:spPr bwMode="auto">
          <a:xfrm>
            <a:off x="2207935" y="2717062"/>
            <a:ext cx="346073" cy="249239"/>
          </a:xfrm>
          <a:prstGeom prst="line">
            <a:avLst/>
          </a:prstGeom>
          <a:noFill/>
          <a:ln w="19050">
            <a:solidFill>
              <a:schemeClr val="tx1"/>
            </a:solidFill>
            <a:round/>
            <a:headEnd type="none" w="sm" len="sm"/>
            <a:tailEnd type="arrow" w="med" len="med"/>
          </a:ln>
        </p:spPr>
        <p:txBody>
          <a:bodyPr/>
          <a:lstStyle/>
          <a:p>
            <a:endParaRPr lang="en-US"/>
          </a:p>
        </p:txBody>
      </p:sp>
      <p:sp>
        <p:nvSpPr>
          <p:cNvPr id="16418" name="Line 37"/>
          <p:cNvSpPr>
            <a:spLocks noChangeShapeType="1"/>
          </p:cNvSpPr>
          <p:nvPr/>
        </p:nvSpPr>
        <p:spPr bwMode="auto">
          <a:xfrm>
            <a:off x="3084231" y="2210646"/>
            <a:ext cx="346073" cy="249239"/>
          </a:xfrm>
          <a:prstGeom prst="line">
            <a:avLst/>
          </a:prstGeom>
          <a:noFill/>
          <a:ln w="19050">
            <a:solidFill>
              <a:schemeClr val="tx1"/>
            </a:solidFill>
            <a:round/>
            <a:headEnd type="none" w="sm" len="sm"/>
            <a:tailEnd type="arrow" w="med" len="med"/>
          </a:ln>
        </p:spPr>
        <p:txBody>
          <a:bodyPr/>
          <a:lstStyle/>
          <a:p>
            <a:endParaRPr lang="en-US"/>
          </a:p>
        </p:txBody>
      </p:sp>
      <p:sp>
        <p:nvSpPr>
          <p:cNvPr id="16419" name="Line 38"/>
          <p:cNvSpPr>
            <a:spLocks noChangeShapeType="1"/>
          </p:cNvSpPr>
          <p:nvPr/>
        </p:nvSpPr>
        <p:spPr bwMode="auto">
          <a:xfrm>
            <a:off x="3903376" y="2718650"/>
            <a:ext cx="346073" cy="249239"/>
          </a:xfrm>
          <a:prstGeom prst="line">
            <a:avLst/>
          </a:prstGeom>
          <a:noFill/>
          <a:ln w="19050">
            <a:solidFill>
              <a:schemeClr val="tx1"/>
            </a:solidFill>
            <a:round/>
            <a:headEnd type="none" w="sm" len="sm"/>
            <a:tailEnd type="arrow" w="med" len="med"/>
          </a:ln>
        </p:spPr>
        <p:txBody>
          <a:bodyPr/>
          <a:lstStyle/>
          <a:p>
            <a:endParaRPr lang="en-US"/>
          </a:p>
        </p:txBody>
      </p:sp>
      <p:sp>
        <p:nvSpPr>
          <p:cNvPr id="16420" name="Line 39"/>
          <p:cNvSpPr>
            <a:spLocks noChangeShapeType="1"/>
          </p:cNvSpPr>
          <p:nvPr/>
        </p:nvSpPr>
        <p:spPr bwMode="auto">
          <a:xfrm>
            <a:off x="4830472" y="2209058"/>
            <a:ext cx="346073" cy="249239"/>
          </a:xfrm>
          <a:prstGeom prst="line">
            <a:avLst/>
          </a:prstGeom>
          <a:noFill/>
          <a:ln w="19050">
            <a:solidFill>
              <a:schemeClr val="tx1"/>
            </a:solidFill>
            <a:round/>
            <a:headEnd type="none" w="sm" len="sm"/>
            <a:tailEnd type="arrow" w="med" len="med"/>
          </a:ln>
        </p:spPr>
        <p:txBody>
          <a:bodyPr/>
          <a:lstStyle/>
          <a:p>
            <a:endParaRPr lang="en-US"/>
          </a:p>
        </p:txBody>
      </p:sp>
      <p:sp>
        <p:nvSpPr>
          <p:cNvPr id="16421" name="Oval 11"/>
          <p:cNvSpPr>
            <a:spLocks noChangeArrowheads="1"/>
          </p:cNvSpPr>
          <p:nvPr/>
        </p:nvSpPr>
        <p:spPr bwMode="auto">
          <a:xfrm>
            <a:off x="6857731" y="2315432"/>
            <a:ext cx="555622" cy="469904"/>
          </a:xfrm>
          <a:prstGeom prst="ellipse">
            <a:avLst/>
          </a:prstGeom>
          <a:solidFill>
            <a:srgbClr val="0066FF"/>
          </a:solidFill>
          <a:ln w="28575">
            <a:solidFill>
              <a:schemeClr val="tx1"/>
            </a:solidFill>
            <a:round/>
            <a:headEnd type="none" w="sm" len="sm"/>
            <a:tailEnd type="none" w="sm" len="sm"/>
          </a:ln>
        </p:spPr>
        <p:txBody>
          <a:bodyPr wrap="none" anchor="ctr"/>
          <a:lstStyle/>
          <a:p>
            <a:endParaRPr lang="nl-NL">
              <a:solidFill>
                <a:schemeClr val="bg1"/>
              </a:solidFill>
            </a:endParaRPr>
          </a:p>
        </p:txBody>
      </p:sp>
      <p:sp>
        <p:nvSpPr>
          <p:cNvPr id="16422" name="Text Box 12"/>
          <p:cNvSpPr txBox="1">
            <a:spLocks noChangeArrowheads="1"/>
          </p:cNvSpPr>
          <p:nvPr/>
        </p:nvSpPr>
        <p:spPr bwMode="auto">
          <a:xfrm>
            <a:off x="6979968" y="2351945"/>
            <a:ext cx="312904" cy="369335"/>
          </a:xfrm>
          <a:prstGeom prst="rect">
            <a:avLst/>
          </a:prstGeom>
          <a:noFill/>
          <a:ln w="12700">
            <a:noFill/>
            <a:miter lim="800000"/>
            <a:headEnd type="none" w="sm" len="sm"/>
            <a:tailEnd type="none" w="sm" len="sm"/>
          </a:ln>
        </p:spPr>
        <p:txBody>
          <a:bodyPr wrap="none">
            <a:spAutoFit/>
          </a:bodyPr>
          <a:lstStyle/>
          <a:p>
            <a:r>
              <a:rPr lang="en-US" dirty="0">
                <a:solidFill>
                  <a:schemeClr val="bg1"/>
                </a:solidFill>
              </a:rPr>
              <a:t>9</a:t>
            </a:r>
          </a:p>
        </p:txBody>
      </p:sp>
      <p:grpSp>
        <p:nvGrpSpPr>
          <p:cNvPr id="16423" name="Group 32"/>
          <p:cNvGrpSpPr>
            <a:grpSpLocks/>
          </p:cNvGrpSpPr>
          <p:nvPr/>
        </p:nvGrpSpPr>
        <p:grpSpPr bwMode="auto">
          <a:xfrm>
            <a:off x="5975086" y="1829653"/>
            <a:ext cx="603247" cy="1441461"/>
            <a:chOff x="2450" y="2968"/>
            <a:chExt cx="380" cy="908"/>
          </a:xfrm>
        </p:grpSpPr>
        <p:grpSp>
          <p:nvGrpSpPr>
            <p:cNvPr id="16428" name="Group 25"/>
            <p:cNvGrpSpPr>
              <a:grpSpLocks/>
            </p:cNvGrpSpPr>
            <p:nvPr/>
          </p:nvGrpSpPr>
          <p:grpSpPr bwMode="auto">
            <a:xfrm>
              <a:off x="2450" y="3580"/>
              <a:ext cx="350" cy="296"/>
              <a:chOff x="4738" y="2684"/>
              <a:chExt cx="350" cy="296"/>
            </a:xfrm>
          </p:grpSpPr>
          <p:sp>
            <p:nvSpPr>
              <p:cNvPr id="16432" name="Oval 26"/>
              <p:cNvSpPr>
                <a:spLocks noChangeArrowheads="1"/>
              </p:cNvSpPr>
              <p:nvPr/>
            </p:nvSpPr>
            <p:spPr bwMode="auto">
              <a:xfrm>
                <a:off x="47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16433" name="Text Box 27"/>
              <p:cNvSpPr txBox="1">
                <a:spLocks noChangeArrowheads="1"/>
              </p:cNvSpPr>
              <p:nvPr/>
            </p:nvSpPr>
            <p:spPr bwMode="auto">
              <a:xfrm>
                <a:off x="4815" y="2707"/>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7</a:t>
                </a:r>
              </a:p>
            </p:txBody>
          </p:sp>
        </p:grpSp>
        <p:grpSp>
          <p:nvGrpSpPr>
            <p:cNvPr id="16429" name="Group 28"/>
            <p:cNvGrpSpPr>
              <a:grpSpLocks/>
            </p:cNvGrpSpPr>
            <p:nvPr/>
          </p:nvGrpSpPr>
          <p:grpSpPr bwMode="auto">
            <a:xfrm>
              <a:off x="2480" y="2968"/>
              <a:ext cx="350" cy="296"/>
              <a:chOff x="3838" y="2684"/>
              <a:chExt cx="350" cy="296"/>
            </a:xfrm>
          </p:grpSpPr>
          <p:sp>
            <p:nvSpPr>
              <p:cNvPr id="16430" name="Oval 29"/>
              <p:cNvSpPr>
                <a:spLocks noChangeArrowheads="1"/>
              </p:cNvSpPr>
              <p:nvPr/>
            </p:nvSpPr>
            <p:spPr bwMode="auto">
              <a:xfrm>
                <a:off x="38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16431" name="Text Box 30"/>
              <p:cNvSpPr txBox="1">
                <a:spLocks noChangeArrowheads="1"/>
              </p:cNvSpPr>
              <p:nvPr/>
            </p:nvSpPr>
            <p:spPr bwMode="auto">
              <a:xfrm>
                <a:off x="3915" y="2707"/>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8</a:t>
                </a:r>
              </a:p>
            </p:txBody>
          </p:sp>
        </p:grpSp>
      </p:grpSp>
      <p:sp>
        <p:nvSpPr>
          <p:cNvPr id="16424" name="Line 33"/>
          <p:cNvSpPr>
            <a:spLocks noChangeShapeType="1"/>
          </p:cNvSpPr>
          <p:nvPr/>
        </p:nvSpPr>
        <p:spPr bwMode="auto">
          <a:xfrm flipV="1">
            <a:off x="6521183" y="2696435"/>
            <a:ext cx="396873" cy="265114"/>
          </a:xfrm>
          <a:prstGeom prst="line">
            <a:avLst/>
          </a:prstGeom>
          <a:noFill/>
          <a:ln w="19050">
            <a:solidFill>
              <a:schemeClr val="tx1"/>
            </a:solidFill>
            <a:round/>
            <a:headEnd type="none" w="sm" len="sm"/>
            <a:tailEnd type="arrow" w="med" len="med"/>
          </a:ln>
        </p:spPr>
        <p:txBody>
          <a:bodyPr/>
          <a:lstStyle/>
          <a:p>
            <a:endParaRPr lang="en-US"/>
          </a:p>
        </p:txBody>
      </p:sp>
      <p:sp>
        <p:nvSpPr>
          <p:cNvPr id="16425" name="Line 39"/>
          <p:cNvSpPr>
            <a:spLocks noChangeShapeType="1"/>
          </p:cNvSpPr>
          <p:nvPr/>
        </p:nvSpPr>
        <p:spPr bwMode="auto">
          <a:xfrm>
            <a:off x="6565632" y="2194781"/>
            <a:ext cx="346073" cy="249239"/>
          </a:xfrm>
          <a:prstGeom prst="line">
            <a:avLst/>
          </a:prstGeom>
          <a:noFill/>
          <a:ln w="19050">
            <a:solidFill>
              <a:schemeClr val="tx1"/>
            </a:solidFill>
            <a:round/>
            <a:headEnd type="none" w="sm" len="sm"/>
            <a:tailEnd type="arrow" w="med" len="med"/>
          </a:ln>
        </p:spPr>
        <p:txBody>
          <a:bodyPr/>
          <a:lstStyle/>
          <a:p>
            <a:endParaRPr lang="en-US"/>
          </a:p>
        </p:txBody>
      </p:sp>
      <p:sp>
        <p:nvSpPr>
          <p:cNvPr id="16426" name="Line 33"/>
          <p:cNvSpPr>
            <a:spLocks noChangeShapeType="1"/>
          </p:cNvSpPr>
          <p:nvPr/>
        </p:nvSpPr>
        <p:spPr bwMode="auto">
          <a:xfrm flipV="1">
            <a:off x="5617897" y="2128097"/>
            <a:ext cx="396873" cy="265114"/>
          </a:xfrm>
          <a:prstGeom prst="line">
            <a:avLst/>
          </a:prstGeom>
          <a:noFill/>
          <a:ln w="19050">
            <a:solidFill>
              <a:schemeClr val="tx1"/>
            </a:solidFill>
            <a:round/>
            <a:headEnd type="none" w="sm" len="sm"/>
            <a:tailEnd type="arrow" w="med" len="med"/>
          </a:ln>
        </p:spPr>
        <p:txBody>
          <a:bodyPr/>
          <a:lstStyle/>
          <a:p>
            <a:endParaRPr lang="en-US"/>
          </a:p>
        </p:txBody>
      </p:sp>
      <p:sp>
        <p:nvSpPr>
          <p:cNvPr id="16427" name="Line 39"/>
          <p:cNvSpPr>
            <a:spLocks noChangeShapeType="1"/>
          </p:cNvSpPr>
          <p:nvPr/>
        </p:nvSpPr>
        <p:spPr bwMode="auto">
          <a:xfrm>
            <a:off x="5617897" y="2699606"/>
            <a:ext cx="346073" cy="249239"/>
          </a:xfrm>
          <a:prstGeom prst="line">
            <a:avLst/>
          </a:prstGeom>
          <a:noFill/>
          <a:ln w="19050">
            <a:solidFill>
              <a:schemeClr val="tx1"/>
            </a:solidFill>
            <a:round/>
            <a:headEnd type="none" w="sm" len="sm"/>
            <a:tailEnd type="arrow" w="med" len="med"/>
          </a:ln>
        </p:spPr>
        <p:txBody>
          <a:bodyPr/>
          <a:lstStyle/>
          <a:p>
            <a:endParaRPr lang="en-US"/>
          </a:p>
        </p:txBody>
      </p:sp>
      <p:sp>
        <p:nvSpPr>
          <p:cNvPr id="61" name="TextBox 60"/>
          <p:cNvSpPr txBox="1"/>
          <p:nvPr/>
        </p:nvSpPr>
        <p:spPr>
          <a:xfrm>
            <a:off x="323097" y="3892267"/>
            <a:ext cx="4662383" cy="2246769"/>
          </a:xfrm>
          <a:prstGeom prst="rect">
            <a:avLst/>
          </a:prstGeom>
          <a:noFill/>
        </p:spPr>
        <p:txBody>
          <a:bodyPr wrap="square">
            <a:spAutoFit/>
          </a:bodyPr>
          <a:lstStyle/>
          <a:p>
            <a:pPr marL="342900" indent="-342900" algn="just">
              <a:buFont typeface="Arial" panose="020B0604020202020204" pitchFamily="34" charset="0"/>
              <a:buChar char="•"/>
              <a:defRPr/>
            </a:pPr>
            <a:r>
              <a:rPr lang="en-US" sz="2000" dirty="0">
                <a:latin typeface="+mn-lt"/>
              </a:rPr>
              <a:t>Path coverage (to cover all paths in the CFG) in the </a:t>
            </a:r>
            <a:r>
              <a:rPr lang="en-US" sz="2000" b="1" dirty="0">
                <a:latin typeface="+mn-lt"/>
              </a:rPr>
              <a:t>strongest</a:t>
            </a:r>
            <a:r>
              <a:rPr lang="en-US" sz="2000" dirty="0">
                <a:latin typeface="+mn-lt"/>
              </a:rPr>
              <a:t> graph-based coverage. On the other hand, it is also challenging: #paths in a CFG may explode.  </a:t>
            </a:r>
          </a:p>
          <a:p>
            <a:pPr marL="342900" indent="-342900" algn="just">
              <a:buFont typeface="Arial" panose="020B0604020202020204" pitchFamily="34" charset="0"/>
              <a:buChar char="•"/>
              <a:defRPr/>
            </a:pPr>
            <a:r>
              <a:rPr lang="en-US" sz="2000" dirty="0">
                <a:latin typeface="+mn-lt"/>
              </a:rPr>
              <a:t>If the CFG contains a cycle, #paths becomes unbounded.</a:t>
            </a:r>
          </a:p>
        </p:txBody>
      </p:sp>
      <p:graphicFrame>
        <p:nvGraphicFramePr>
          <p:cNvPr id="2" name="Table 4">
            <a:extLst>
              <a:ext uri="{FF2B5EF4-FFF2-40B4-BE49-F238E27FC236}">
                <a16:creationId xmlns:a16="http://schemas.microsoft.com/office/drawing/2014/main" id="{3DB5387B-EC97-4119-E801-63CEB8C71132}"/>
              </a:ext>
            </a:extLst>
          </p:cNvPr>
          <p:cNvGraphicFramePr>
            <a:graphicFrameLocks noGrp="1"/>
          </p:cNvGraphicFramePr>
          <p:nvPr>
            <p:extLst>
              <p:ext uri="{D42A27DB-BD31-4B8C-83A1-F6EECF244321}">
                <p14:modId xmlns:p14="http://schemas.microsoft.com/office/powerpoint/2010/main" val="2516736859"/>
              </p:ext>
            </p:extLst>
          </p:nvPr>
        </p:nvGraphicFramePr>
        <p:xfrm>
          <a:off x="5521502" y="4040291"/>
          <a:ext cx="3121361" cy="1950720"/>
        </p:xfrm>
        <a:graphic>
          <a:graphicData uri="http://schemas.openxmlformats.org/drawingml/2006/table">
            <a:tbl>
              <a:tblPr firstRow="1" bandRow="1">
                <a:tableStyleId>{5C22544A-7EE6-4342-B048-85BDC9FD1C3A}</a:tableStyleId>
              </a:tblPr>
              <a:tblGrid>
                <a:gridCol w="930046">
                  <a:extLst>
                    <a:ext uri="{9D8B030D-6E8A-4147-A177-3AD203B41FA5}">
                      <a16:colId xmlns:a16="http://schemas.microsoft.com/office/drawing/2014/main" val="698913581"/>
                    </a:ext>
                  </a:extLst>
                </a:gridCol>
                <a:gridCol w="2191315">
                  <a:extLst>
                    <a:ext uri="{9D8B030D-6E8A-4147-A177-3AD203B41FA5}">
                      <a16:colId xmlns:a16="http://schemas.microsoft.com/office/drawing/2014/main" val="1016153449"/>
                    </a:ext>
                  </a:extLst>
                </a:gridCol>
              </a:tblGrid>
              <a:tr h="255062">
                <a:tc>
                  <a:txBody>
                    <a:bodyPr/>
                    <a:lstStyle/>
                    <a:p>
                      <a:endParaRPr lang="en-NL" sz="1400" b="0" dirty="0"/>
                    </a:p>
                  </a:txBody>
                  <a:tcPr>
                    <a:noFill/>
                  </a:tcPr>
                </a:tc>
                <a:tc>
                  <a:txBody>
                    <a:bodyPr/>
                    <a:lstStyle/>
                    <a:p>
                      <a:r>
                        <a:rPr lang="en-NL" sz="1400" b="0" dirty="0">
                          <a:solidFill>
                            <a:schemeClr val="tx1"/>
                          </a:solidFill>
                        </a:rPr>
                        <a:t>#tests needed to cover the targets</a:t>
                      </a:r>
                    </a:p>
                  </a:txBody>
                  <a:tcPr>
                    <a:solidFill>
                      <a:schemeClr val="accent5">
                        <a:lumMod val="40000"/>
                        <a:lumOff val="60000"/>
                      </a:schemeClr>
                    </a:solidFill>
                  </a:tcPr>
                </a:tc>
                <a:extLst>
                  <a:ext uri="{0D108BD9-81ED-4DB2-BD59-A6C34878D82A}">
                    <a16:rowId xmlns:a16="http://schemas.microsoft.com/office/drawing/2014/main" val="1943707847"/>
                  </a:ext>
                </a:extLst>
              </a:tr>
              <a:tr h="255062">
                <a:tc>
                  <a:txBody>
                    <a:bodyPr/>
                    <a:lstStyle/>
                    <a:p>
                      <a:pPr algn="ctr"/>
                      <a:r>
                        <a:rPr lang="en-NL" sz="1400" dirty="0"/>
                        <a:t>10 nodes</a:t>
                      </a:r>
                    </a:p>
                  </a:txBody>
                  <a:tcPr>
                    <a:solidFill>
                      <a:schemeClr val="accent5">
                        <a:lumMod val="20000"/>
                        <a:lumOff val="80000"/>
                      </a:schemeClr>
                    </a:solidFill>
                  </a:tcPr>
                </a:tc>
                <a:tc>
                  <a:txBody>
                    <a:bodyPr/>
                    <a:lstStyle/>
                    <a:p>
                      <a:pPr algn="ctr"/>
                      <a:r>
                        <a:rPr lang="en-NL" sz="1400" dirty="0"/>
                        <a:t> at least 2</a:t>
                      </a:r>
                    </a:p>
                  </a:txBody>
                  <a:tcPr>
                    <a:solidFill>
                      <a:schemeClr val="accent5">
                        <a:lumMod val="20000"/>
                        <a:lumOff val="80000"/>
                      </a:schemeClr>
                    </a:solidFill>
                  </a:tcPr>
                </a:tc>
                <a:extLst>
                  <a:ext uri="{0D108BD9-81ED-4DB2-BD59-A6C34878D82A}">
                    <a16:rowId xmlns:a16="http://schemas.microsoft.com/office/drawing/2014/main" val="13986716"/>
                  </a:ext>
                </a:extLst>
              </a:tr>
              <a:tr h="255062">
                <a:tc>
                  <a:txBody>
                    <a:bodyPr/>
                    <a:lstStyle/>
                    <a:p>
                      <a:pPr algn="ctr"/>
                      <a:r>
                        <a:rPr lang="en-NL" sz="1400" dirty="0"/>
                        <a:t>12 edges</a:t>
                      </a:r>
                    </a:p>
                  </a:txBody>
                  <a:tcPr>
                    <a:solidFill>
                      <a:schemeClr val="accent5">
                        <a:lumMod val="20000"/>
                        <a:lumOff val="80000"/>
                      </a:schemeClr>
                    </a:solidFill>
                  </a:tcPr>
                </a:tc>
                <a:tc>
                  <a:txBody>
                    <a:bodyPr/>
                    <a:lstStyle/>
                    <a:p>
                      <a:pPr algn="ctr"/>
                      <a:r>
                        <a:rPr lang="en-NL" sz="1400" dirty="0"/>
                        <a:t>at least 2</a:t>
                      </a:r>
                    </a:p>
                  </a:txBody>
                  <a:tcPr>
                    <a:solidFill>
                      <a:schemeClr val="accent5">
                        <a:lumMod val="20000"/>
                        <a:lumOff val="80000"/>
                      </a:schemeClr>
                    </a:solidFill>
                  </a:tcPr>
                </a:tc>
                <a:extLst>
                  <a:ext uri="{0D108BD9-81ED-4DB2-BD59-A6C34878D82A}">
                    <a16:rowId xmlns:a16="http://schemas.microsoft.com/office/drawing/2014/main" val="2079812348"/>
                  </a:ext>
                </a:extLst>
              </a:tr>
              <a:tr h="255062">
                <a:tc>
                  <a:txBody>
                    <a:bodyPr/>
                    <a:lstStyle/>
                    <a:p>
                      <a:pPr algn="ctr"/>
                      <a:r>
                        <a:rPr lang="en-NL" sz="1400" dirty="0"/>
                        <a:t>14 edge-pairs</a:t>
                      </a:r>
                    </a:p>
                  </a:txBody>
                  <a:tcPr>
                    <a:solidFill>
                      <a:schemeClr val="accent5">
                        <a:lumMod val="20000"/>
                        <a:lumOff val="80000"/>
                      </a:schemeClr>
                    </a:solidFill>
                  </a:tcPr>
                </a:tc>
                <a:tc>
                  <a:txBody>
                    <a:bodyPr/>
                    <a:lstStyle/>
                    <a:p>
                      <a:pPr algn="ctr"/>
                      <a:r>
                        <a:rPr lang="en-NL" sz="1400" dirty="0"/>
                        <a:t>at least 4</a:t>
                      </a:r>
                    </a:p>
                  </a:txBody>
                  <a:tcPr>
                    <a:solidFill>
                      <a:schemeClr val="accent5">
                        <a:lumMod val="20000"/>
                        <a:lumOff val="80000"/>
                      </a:schemeClr>
                    </a:solidFill>
                  </a:tcPr>
                </a:tc>
                <a:extLst>
                  <a:ext uri="{0D108BD9-81ED-4DB2-BD59-A6C34878D82A}">
                    <a16:rowId xmlns:a16="http://schemas.microsoft.com/office/drawing/2014/main" val="4261009437"/>
                  </a:ext>
                </a:extLst>
              </a:tr>
              <a:tr h="255062">
                <a:tc>
                  <a:txBody>
                    <a:bodyPr/>
                    <a:lstStyle/>
                    <a:p>
                      <a:pPr algn="ctr"/>
                      <a:r>
                        <a:rPr lang="en-NL" sz="1400" dirty="0"/>
                        <a:t>8 paths</a:t>
                      </a:r>
                    </a:p>
                  </a:txBody>
                  <a:tcPr>
                    <a:solidFill>
                      <a:schemeClr val="accent5">
                        <a:lumMod val="20000"/>
                        <a:lumOff val="80000"/>
                      </a:schemeClr>
                    </a:solidFill>
                  </a:tcPr>
                </a:tc>
                <a:tc>
                  <a:txBody>
                    <a:bodyPr/>
                    <a:lstStyle/>
                    <a:p>
                      <a:pPr algn="ctr"/>
                      <a:r>
                        <a:rPr lang="en-NL" sz="1400" dirty="0"/>
                        <a:t>8</a:t>
                      </a:r>
                    </a:p>
                  </a:txBody>
                  <a:tcPr>
                    <a:solidFill>
                      <a:schemeClr val="accent5">
                        <a:lumMod val="20000"/>
                        <a:lumOff val="80000"/>
                      </a:schemeClr>
                    </a:solidFill>
                  </a:tcPr>
                </a:tc>
                <a:extLst>
                  <a:ext uri="{0D108BD9-81ED-4DB2-BD59-A6C34878D82A}">
                    <a16:rowId xmlns:a16="http://schemas.microsoft.com/office/drawing/2014/main" val="43264192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ounded Rectangle 16">
            <a:extLst>
              <a:ext uri="{FF2B5EF4-FFF2-40B4-BE49-F238E27FC236}">
                <a16:creationId xmlns:a16="http://schemas.microsoft.com/office/drawing/2014/main" id="{A8216D16-3417-4047-852C-574DA989D373}"/>
              </a:ext>
            </a:extLst>
          </p:cNvPr>
          <p:cNvSpPr/>
          <p:nvPr/>
        </p:nvSpPr>
        <p:spPr>
          <a:xfrm>
            <a:off x="428625" y="3613172"/>
            <a:ext cx="8229600" cy="1181083"/>
          </a:xfrm>
          <a:prstGeom prst="roundRect">
            <a:avLst>
              <a:gd name="adj" fmla="val 25954"/>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10" name="Title 1"/>
          <p:cNvSpPr>
            <a:spLocks noGrp="1"/>
          </p:cNvSpPr>
          <p:nvPr>
            <p:ph type="title"/>
          </p:nvPr>
        </p:nvSpPr>
        <p:spPr/>
        <p:txBody>
          <a:bodyPr/>
          <a:lstStyle/>
          <a:p>
            <a:r>
              <a:rPr lang="en-US" dirty="0"/>
              <a:t>Prime paths coverage</a:t>
            </a:r>
          </a:p>
        </p:txBody>
      </p:sp>
      <p:sp>
        <p:nvSpPr>
          <p:cNvPr id="17411" name="Content Placeholder 2"/>
          <p:cNvSpPr>
            <a:spLocks noGrp="1"/>
          </p:cNvSpPr>
          <p:nvPr>
            <p:ph idx="1"/>
          </p:nvPr>
        </p:nvSpPr>
        <p:spPr>
          <a:xfrm>
            <a:off x="428625" y="3786188"/>
            <a:ext cx="8229600" cy="2482850"/>
          </a:xfrm>
        </p:spPr>
        <p:txBody>
          <a:bodyPr/>
          <a:lstStyle/>
          <a:p>
            <a:r>
              <a:rPr lang="en-US" sz="2800" dirty="0"/>
              <a:t>A </a:t>
            </a:r>
            <a:r>
              <a:rPr lang="en-US" sz="2800" i="1" u="sng" dirty="0"/>
              <a:t>prime path</a:t>
            </a:r>
            <a:r>
              <a:rPr lang="en-US" sz="2800" i="1" dirty="0"/>
              <a:t> is a </a:t>
            </a:r>
            <a:r>
              <a:rPr lang="en-US" sz="2800" dirty="0"/>
              <a:t>simple path that is not a </a:t>
            </a:r>
            <a:r>
              <a:rPr lang="en-US" sz="2800" dirty="0" err="1"/>
              <a:t>subpath</a:t>
            </a:r>
            <a:r>
              <a:rPr lang="en-US" sz="2800" dirty="0"/>
              <a:t> of another simple path.</a:t>
            </a:r>
          </a:p>
          <a:p>
            <a:r>
              <a:rPr lang="en-US" sz="2800" dirty="0"/>
              <a:t>A </a:t>
            </a:r>
            <a:r>
              <a:rPr lang="en-US" sz="2800" i="1" u="sng" dirty="0"/>
              <a:t>simple path</a:t>
            </a:r>
            <a:r>
              <a:rPr lang="en-US" sz="2800" i="1" dirty="0"/>
              <a:t> p</a:t>
            </a:r>
            <a:r>
              <a:rPr lang="en-US" sz="2800" dirty="0"/>
              <a:t> is a path where every node in </a:t>
            </a:r>
            <a:r>
              <a:rPr lang="en-US" sz="2800" i="1" dirty="0"/>
              <a:t>p</a:t>
            </a:r>
            <a:r>
              <a:rPr lang="en-US" sz="2800" dirty="0"/>
              <a:t> appears only once, except the first and the last which are allowed to be the same.</a:t>
            </a:r>
          </a:p>
        </p:txBody>
      </p:sp>
      <p:sp>
        <p:nvSpPr>
          <p:cNvPr id="4" name="Slide Number Placeholder 3"/>
          <p:cNvSpPr>
            <a:spLocks noGrp="1"/>
          </p:cNvSpPr>
          <p:nvPr>
            <p:ph type="sldNum" sz="quarter" idx="12"/>
          </p:nvPr>
        </p:nvSpPr>
        <p:spPr/>
        <p:txBody>
          <a:bodyPr/>
          <a:lstStyle/>
          <a:p>
            <a:pPr>
              <a:defRPr/>
            </a:pPr>
            <a:fld id="{4B21F335-DB3D-42C7-B6CC-EFAC860223A2}" type="slidenum">
              <a:rPr lang="en-US" smtClean="0"/>
              <a:pPr>
                <a:defRPr/>
              </a:pPr>
              <a:t>20</a:t>
            </a:fld>
            <a:endParaRPr lang="en-US"/>
          </a:p>
        </p:txBody>
      </p:sp>
      <p:grpSp>
        <p:nvGrpSpPr>
          <p:cNvPr id="2" name="Group 22">
            <a:extLst>
              <a:ext uri="{FF2B5EF4-FFF2-40B4-BE49-F238E27FC236}">
                <a16:creationId xmlns:a16="http://schemas.microsoft.com/office/drawing/2014/main" id="{056CDEF3-D7AC-5E5E-D128-48FD83D76164}"/>
              </a:ext>
            </a:extLst>
          </p:cNvPr>
          <p:cNvGrpSpPr>
            <a:grpSpLocks/>
          </p:cNvGrpSpPr>
          <p:nvPr/>
        </p:nvGrpSpPr>
        <p:grpSpPr bwMode="auto">
          <a:xfrm>
            <a:off x="3563888" y="2343183"/>
            <a:ext cx="555625" cy="469900"/>
            <a:chOff x="772" y="3221"/>
            <a:chExt cx="350" cy="296"/>
          </a:xfrm>
        </p:grpSpPr>
        <p:sp>
          <p:nvSpPr>
            <p:cNvPr id="3" name="Oval 9">
              <a:extLst>
                <a:ext uri="{FF2B5EF4-FFF2-40B4-BE49-F238E27FC236}">
                  <a16:creationId xmlns:a16="http://schemas.microsoft.com/office/drawing/2014/main" id="{319348A9-0802-1A3C-C096-2922C6B3D548}"/>
                </a:ext>
              </a:extLst>
            </p:cNvPr>
            <p:cNvSpPr>
              <a:spLocks noChangeArrowheads="1"/>
            </p:cNvSpPr>
            <p:nvPr/>
          </p:nvSpPr>
          <p:spPr bwMode="auto">
            <a:xfrm>
              <a:off x="772" y="3221"/>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5" name="Text Box 10">
              <a:extLst>
                <a:ext uri="{FF2B5EF4-FFF2-40B4-BE49-F238E27FC236}">
                  <a16:creationId xmlns:a16="http://schemas.microsoft.com/office/drawing/2014/main" id="{B78FA6D5-8939-B41F-8270-43AF137E2E33}"/>
                </a:ext>
              </a:extLst>
            </p:cNvPr>
            <p:cNvSpPr txBox="1">
              <a:spLocks noChangeArrowheads="1"/>
            </p:cNvSpPr>
            <p:nvPr/>
          </p:nvSpPr>
          <p:spPr bwMode="auto">
            <a:xfrm>
              <a:off x="848" y="3244"/>
              <a:ext cx="197" cy="233"/>
            </a:xfrm>
            <a:prstGeom prst="rect">
              <a:avLst/>
            </a:prstGeom>
            <a:noFill/>
            <a:ln w="12700">
              <a:noFill/>
              <a:miter lim="800000"/>
              <a:headEnd type="none" w="sm" len="sm"/>
              <a:tailEnd type="none" w="sm" len="sm"/>
            </a:ln>
          </p:spPr>
          <p:txBody>
            <a:bodyPr wrap="none">
              <a:spAutoFit/>
            </a:bodyPr>
            <a:lstStyle/>
            <a:p>
              <a:pPr algn="r"/>
              <a:r>
                <a:rPr lang="en-US">
                  <a:solidFill>
                    <a:srgbClr val="FFFF00"/>
                  </a:solidFill>
                </a:rPr>
                <a:t>1</a:t>
              </a:r>
            </a:p>
          </p:txBody>
        </p:sp>
      </p:grpSp>
      <p:grpSp>
        <p:nvGrpSpPr>
          <p:cNvPr id="6" name="Group 24">
            <a:extLst>
              <a:ext uri="{FF2B5EF4-FFF2-40B4-BE49-F238E27FC236}">
                <a16:creationId xmlns:a16="http://schemas.microsoft.com/office/drawing/2014/main" id="{A013BE6D-443B-201A-BCDA-AB433CA06DE0}"/>
              </a:ext>
            </a:extLst>
          </p:cNvPr>
          <p:cNvGrpSpPr>
            <a:grpSpLocks/>
          </p:cNvGrpSpPr>
          <p:nvPr/>
        </p:nvGrpSpPr>
        <p:grpSpPr bwMode="auto">
          <a:xfrm>
            <a:off x="5310138" y="2343183"/>
            <a:ext cx="555625" cy="469900"/>
            <a:chOff x="1297" y="3526"/>
            <a:chExt cx="350" cy="296"/>
          </a:xfrm>
        </p:grpSpPr>
        <p:sp>
          <p:nvSpPr>
            <p:cNvPr id="7" name="Oval 13">
              <a:extLst>
                <a:ext uri="{FF2B5EF4-FFF2-40B4-BE49-F238E27FC236}">
                  <a16:creationId xmlns:a16="http://schemas.microsoft.com/office/drawing/2014/main" id="{B23920F7-4ABB-EB70-1E98-D549B1B3153D}"/>
                </a:ext>
              </a:extLst>
            </p:cNvPr>
            <p:cNvSpPr>
              <a:spLocks noChangeArrowheads="1"/>
            </p:cNvSpPr>
            <p:nvPr/>
          </p:nvSpPr>
          <p:spPr bwMode="auto">
            <a:xfrm>
              <a:off x="1297" y="3526"/>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8" name="Text Box 14">
              <a:extLst>
                <a:ext uri="{FF2B5EF4-FFF2-40B4-BE49-F238E27FC236}">
                  <a16:creationId xmlns:a16="http://schemas.microsoft.com/office/drawing/2014/main" id="{CC7EA54A-8223-D402-592A-F30E15C98E6E}"/>
                </a:ext>
              </a:extLst>
            </p:cNvPr>
            <p:cNvSpPr txBox="1">
              <a:spLocks noChangeArrowheads="1"/>
            </p:cNvSpPr>
            <p:nvPr/>
          </p:nvSpPr>
          <p:spPr bwMode="auto">
            <a:xfrm>
              <a:off x="1374" y="3549"/>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2</a:t>
              </a:r>
            </a:p>
          </p:txBody>
        </p:sp>
      </p:grpSp>
      <p:grpSp>
        <p:nvGrpSpPr>
          <p:cNvPr id="9" name="Group 23">
            <a:extLst>
              <a:ext uri="{FF2B5EF4-FFF2-40B4-BE49-F238E27FC236}">
                <a16:creationId xmlns:a16="http://schemas.microsoft.com/office/drawing/2014/main" id="{68A15215-010C-3DB8-9822-5C352C246836}"/>
              </a:ext>
            </a:extLst>
          </p:cNvPr>
          <p:cNvGrpSpPr>
            <a:grpSpLocks/>
          </p:cNvGrpSpPr>
          <p:nvPr/>
        </p:nvGrpSpPr>
        <p:grpSpPr bwMode="auto">
          <a:xfrm>
            <a:off x="4435425" y="1863758"/>
            <a:ext cx="555625" cy="469900"/>
            <a:chOff x="1327" y="2914"/>
            <a:chExt cx="350" cy="296"/>
          </a:xfrm>
        </p:grpSpPr>
        <p:sp>
          <p:nvSpPr>
            <p:cNvPr id="10" name="Oval 16">
              <a:extLst>
                <a:ext uri="{FF2B5EF4-FFF2-40B4-BE49-F238E27FC236}">
                  <a16:creationId xmlns:a16="http://schemas.microsoft.com/office/drawing/2014/main" id="{47779F25-6B8A-9294-2151-881273704723}"/>
                </a:ext>
              </a:extLst>
            </p:cNvPr>
            <p:cNvSpPr>
              <a:spLocks noChangeArrowheads="1"/>
            </p:cNvSpPr>
            <p:nvPr/>
          </p:nvSpPr>
          <p:spPr bwMode="auto">
            <a:xfrm>
              <a:off x="1327" y="291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11" name="Text Box 17">
              <a:extLst>
                <a:ext uri="{FF2B5EF4-FFF2-40B4-BE49-F238E27FC236}">
                  <a16:creationId xmlns:a16="http://schemas.microsoft.com/office/drawing/2014/main" id="{8E34D784-8C8F-F075-3DFB-450246E71D9B}"/>
                </a:ext>
              </a:extLst>
            </p:cNvPr>
            <p:cNvSpPr txBox="1">
              <a:spLocks noChangeArrowheads="1"/>
            </p:cNvSpPr>
            <p:nvPr/>
          </p:nvSpPr>
          <p:spPr bwMode="auto">
            <a:xfrm>
              <a:off x="1404" y="2937"/>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0</a:t>
              </a:r>
            </a:p>
          </p:txBody>
        </p:sp>
      </p:grpSp>
      <p:sp>
        <p:nvSpPr>
          <p:cNvPr id="12" name="Line 18">
            <a:extLst>
              <a:ext uri="{FF2B5EF4-FFF2-40B4-BE49-F238E27FC236}">
                <a16:creationId xmlns:a16="http://schemas.microsoft.com/office/drawing/2014/main" id="{CC4AE7BC-B00B-4A57-F459-9E569C03C97F}"/>
              </a:ext>
            </a:extLst>
          </p:cNvPr>
          <p:cNvSpPr>
            <a:spLocks noChangeShapeType="1"/>
          </p:cNvSpPr>
          <p:nvPr/>
        </p:nvSpPr>
        <p:spPr bwMode="auto">
          <a:xfrm flipV="1">
            <a:off x="4098875" y="2230470"/>
            <a:ext cx="371475" cy="258763"/>
          </a:xfrm>
          <a:prstGeom prst="line">
            <a:avLst/>
          </a:prstGeom>
          <a:noFill/>
          <a:ln w="19050">
            <a:solidFill>
              <a:schemeClr val="tx1"/>
            </a:solidFill>
            <a:round/>
            <a:headEnd type="arrow" w="med" len="med"/>
            <a:tailEnd/>
          </a:ln>
        </p:spPr>
        <p:txBody>
          <a:bodyPr/>
          <a:lstStyle/>
          <a:p>
            <a:endParaRPr lang="en-US"/>
          </a:p>
        </p:txBody>
      </p:sp>
      <p:sp>
        <p:nvSpPr>
          <p:cNvPr id="13" name="Line 19">
            <a:extLst>
              <a:ext uri="{FF2B5EF4-FFF2-40B4-BE49-F238E27FC236}">
                <a16:creationId xmlns:a16="http://schemas.microsoft.com/office/drawing/2014/main" id="{2594B752-2670-A66B-E6A9-30CA7009B575}"/>
              </a:ext>
            </a:extLst>
          </p:cNvPr>
          <p:cNvSpPr>
            <a:spLocks noChangeShapeType="1"/>
          </p:cNvSpPr>
          <p:nvPr/>
        </p:nvSpPr>
        <p:spPr bwMode="auto">
          <a:xfrm>
            <a:off x="4067125" y="2732120"/>
            <a:ext cx="377825" cy="255588"/>
          </a:xfrm>
          <a:prstGeom prst="line">
            <a:avLst/>
          </a:prstGeom>
          <a:noFill/>
          <a:ln w="19050">
            <a:solidFill>
              <a:schemeClr val="tx1"/>
            </a:solidFill>
            <a:round/>
            <a:headEnd type="none" w="sm" len="sm"/>
            <a:tailEnd type="arrow" w="med" len="med"/>
          </a:ln>
        </p:spPr>
        <p:txBody>
          <a:bodyPr/>
          <a:lstStyle/>
          <a:p>
            <a:endParaRPr lang="en-US">
              <a:solidFill>
                <a:schemeClr val="bg1"/>
              </a:solidFill>
            </a:endParaRPr>
          </a:p>
        </p:txBody>
      </p:sp>
      <p:sp>
        <p:nvSpPr>
          <p:cNvPr id="14" name="Line 21">
            <a:extLst>
              <a:ext uri="{FF2B5EF4-FFF2-40B4-BE49-F238E27FC236}">
                <a16:creationId xmlns:a16="http://schemas.microsoft.com/office/drawing/2014/main" id="{811A9188-29B9-FCD2-DF97-843163DD3568}"/>
              </a:ext>
            </a:extLst>
          </p:cNvPr>
          <p:cNvSpPr>
            <a:spLocks noChangeShapeType="1"/>
          </p:cNvSpPr>
          <p:nvPr/>
        </p:nvSpPr>
        <p:spPr bwMode="auto">
          <a:xfrm>
            <a:off x="4711650" y="1555783"/>
            <a:ext cx="0" cy="295275"/>
          </a:xfrm>
          <a:prstGeom prst="line">
            <a:avLst/>
          </a:prstGeom>
          <a:noFill/>
          <a:ln w="19050">
            <a:solidFill>
              <a:schemeClr val="tx1"/>
            </a:solidFill>
            <a:round/>
            <a:headEnd type="none" w="sm" len="sm"/>
            <a:tailEnd type="arrow" w="med" len="med"/>
          </a:ln>
        </p:spPr>
        <p:txBody>
          <a:bodyPr/>
          <a:lstStyle/>
          <a:p>
            <a:endParaRPr lang="en-US"/>
          </a:p>
        </p:txBody>
      </p:sp>
      <p:sp>
        <p:nvSpPr>
          <p:cNvPr id="15" name="Oval 26">
            <a:extLst>
              <a:ext uri="{FF2B5EF4-FFF2-40B4-BE49-F238E27FC236}">
                <a16:creationId xmlns:a16="http://schemas.microsoft.com/office/drawing/2014/main" id="{619EA71E-CB78-4ED5-80F4-F80071155DA3}"/>
              </a:ext>
            </a:extLst>
          </p:cNvPr>
          <p:cNvSpPr>
            <a:spLocks noChangeArrowheads="1"/>
          </p:cNvSpPr>
          <p:nvPr/>
        </p:nvSpPr>
        <p:spPr bwMode="auto">
          <a:xfrm>
            <a:off x="4433838" y="2821020"/>
            <a:ext cx="555625" cy="469900"/>
          </a:xfrm>
          <a:prstGeom prst="ellipse">
            <a:avLst/>
          </a:prstGeom>
          <a:solidFill>
            <a:srgbClr val="0066FF"/>
          </a:solidFill>
          <a:ln w="28575">
            <a:solidFill>
              <a:schemeClr val="tx1"/>
            </a:solidFill>
            <a:round/>
            <a:headEnd type="none" w="sm" len="sm"/>
            <a:tailEnd type="none" w="sm" len="sm"/>
          </a:ln>
        </p:spPr>
        <p:txBody>
          <a:bodyPr wrap="none" anchor="ctr"/>
          <a:lstStyle/>
          <a:p>
            <a:endParaRPr lang="nl-NL">
              <a:solidFill>
                <a:schemeClr val="bg1"/>
              </a:solidFill>
            </a:endParaRPr>
          </a:p>
        </p:txBody>
      </p:sp>
      <p:sp>
        <p:nvSpPr>
          <p:cNvPr id="16" name="Text Box 27">
            <a:extLst>
              <a:ext uri="{FF2B5EF4-FFF2-40B4-BE49-F238E27FC236}">
                <a16:creationId xmlns:a16="http://schemas.microsoft.com/office/drawing/2014/main" id="{98088228-5E1E-62DD-1C3B-B5ACFC400DCF}"/>
              </a:ext>
            </a:extLst>
          </p:cNvPr>
          <p:cNvSpPr txBox="1">
            <a:spLocks noChangeArrowheads="1"/>
          </p:cNvSpPr>
          <p:nvPr/>
        </p:nvSpPr>
        <p:spPr bwMode="auto">
          <a:xfrm>
            <a:off x="4556075" y="2857533"/>
            <a:ext cx="312906" cy="369332"/>
          </a:xfrm>
          <a:prstGeom prst="rect">
            <a:avLst/>
          </a:prstGeom>
          <a:noFill/>
          <a:ln w="12700">
            <a:noFill/>
            <a:miter lim="800000"/>
            <a:headEnd type="none" w="sm" len="sm"/>
            <a:tailEnd type="none" w="sm" len="sm"/>
          </a:ln>
        </p:spPr>
        <p:txBody>
          <a:bodyPr wrap="none">
            <a:spAutoFit/>
          </a:bodyPr>
          <a:lstStyle/>
          <a:p>
            <a:r>
              <a:rPr lang="en-US">
                <a:solidFill>
                  <a:schemeClr val="bg1"/>
                </a:solidFill>
              </a:rPr>
              <a:t>3</a:t>
            </a:r>
          </a:p>
        </p:txBody>
      </p:sp>
      <p:sp>
        <p:nvSpPr>
          <p:cNvPr id="18" name="Line 32">
            <a:extLst>
              <a:ext uri="{FF2B5EF4-FFF2-40B4-BE49-F238E27FC236}">
                <a16:creationId xmlns:a16="http://schemas.microsoft.com/office/drawing/2014/main" id="{F2353D5C-CD64-D1B9-7708-53DFE2164758}"/>
              </a:ext>
            </a:extLst>
          </p:cNvPr>
          <p:cNvSpPr>
            <a:spLocks noChangeShapeType="1"/>
          </p:cNvSpPr>
          <p:nvPr/>
        </p:nvSpPr>
        <p:spPr bwMode="auto">
          <a:xfrm flipH="1" flipV="1">
            <a:off x="4952950" y="2236820"/>
            <a:ext cx="384175" cy="252413"/>
          </a:xfrm>
          <a:prstGeom prst="line">
            <a:avLst/>
          </a:prstGeom>
          <a:noFill/>
          <a:ln w="19050">
            <a:solidFill>
              <a:schemeClr val="tx1"/>
            </a:solidFill>
            <a:round/>
            <a:headEnd type="arrow" w="med" len="med"/>
            <a:tailEnd/>
          </a:ln>
        </p:spPr>
        <p:txBody>
          <a:bodyPr/>
          <a:lstStyle/>
          <a:p>
            <a:endParaRPr lang="en-US"/>
          </a:p>
        </p:txBody>
      </p:sp>
      <p:sp>
        <p:nvSpPr>
          <p:cNvPr id="19" name="Line 33">
            <a:extLst>
              <a:ext uri="{FF2B5EF4-FFF2-40B4-BE49-F238E27FC236}">
                <a16:creationId xmlns:a16="http://schemas.microsoft.com/office/drawing/2014/main" id="{66B3E97A-6378-B971-4A43-7DB1BEABFC87}"/>
              </a:ext>
            </a:extLst>
          </p:cNvPr>
          <p:cNvSpPr>
            <a:spLocks noChangeShapeType="1"/>
          </p:cNvSpPr>
          <p:nvPr/>
        </p:nvSpPr>
        <p:spPr bwMode="auto">
          <a:xfrm flipH="1">
            <a:off x="4978350" y="2725770"/>
            <a:ext cx="390525" cy="249238"/>
          </a:xfrm>
          <a:prstGeom prst="line">
            <a:avLst/>
          </a:prstGeom>
          <a:noFill/>
          <a:ln w="19050">
            <a:solidFill>
              <a:schemeClr val="tx1"/>
            </a:solidFill>
            <a:round/>
            <a:headEnd type="none" w="sm" len="sm"/>
            <a:tailEnd type="arrow" w="med" len="med"/>
          </a:ln>
        </p:spPr>
        <p:txBody>
          <a:bodyPr/>
          <a:lstStyle/>
          <a:p>
            <a:endParaRPr lang="en-US">
              <a:solidFill>
                <a:schemeClr val="bg1"/>
              </a:solidFill>
            </a:endParaRPr>
          </a:p>
        </p:txBody>
      </p:sp>
      <p:cxnSp>
        <p:nvCxnSpPr>
          <p:cNvPr id="20" name="AutoShape 34">
            <a:extLst>
              <a:ext uri="{FF2B5EF4-FFF2-40B4-BE49-F238E27FC236}">
                <a16:creationId xmlns:a16="http://schemas.microsoft.com/office/drawing/2014/main" id="{7C639A71-9584-57F1-4D47-1802EC4899E9}"/>
              </a:ext>
            </a:extLst>
          </p:cNvPr>
          <p:cNvCxnSpPr>
            <a:cxnSpLocks noChangeShapeType="1"/>
            <a:stCxn id="3" idx="0"/>
            <a:endCxn id="10" idx="2"/>
          </p:cNvCxnSpPr>
          <p:nvPr/>
        </p:nvCxnSpPr>
        <p:spPr bwMode="auto">
          <a:xfrm rot="5400000" flipH="1" flipV="1">
            <a:off x="4016326" y="1924084"/>
            <a:ext cx="244475" cy="593724"/>
          </a:xfrm>
          <a:prstGeom prst="curvedConnector2">
            <a:avLst/>
          </a:prstGeom>
          <a:noFill/>
          <a:ln w="28575">
            <a:solidFill>
              <a:srgbClr val="C00000"/>
            </a:solidFill>
            <a:round/>
            <a:headEnd type="none" w="sm" len="sm"/>
            <a:tailEnd type="arrow" w="med" len="med"/>
          </a:ln>
        </p:spPr>
      </p:cxnSp>
      <p:sp>
        <p:nvSpPr>
          <p:cNvPr id="21" name="Line 21">
            <a:extLst>
              <a:ext uri="{FF2B5EF4-FFF2-40B4-BE49-F238E27FC236}">
                <a16:creationId xmlns:a16="http://schemas.microsoft.com/office/drawing/2014/main" id="{A7B4F302-3427-5ABC-FA10-B1AF01464FDD}"/>
              </a:ext>
            </a:extLst>
          </p:cNvPr>
          <p:cNvSpPr>
            <a:spLocks noChangeShapeType="1"/>
          </p:cNvSpPr>
          <p:nvPr/>
        </p:nvSpPr>
        <p:spPr bwMode="auto">
          <a:xfrm>
            <a:off x="4711650" y="3317897"/>
            <a:ext cx="0" cy="183111"/>
          </a:xfrm>
          <a:prstGeom prst="line">
            <a:avLst/>
          </a:prstGeom>
          <a:noFill/>
          <a:ln w="19050">
            <a:solidFill>
              <a:schemeClr val="tx1"/>
            </a:solidFill>
            <a:round/>
            <a:headEnd type="none" w="sm" len="sm"/>
            <a:tailEnd type="arrow" w="med" len="med"/>
          </a:ln>
        </p:spPr>
        <p:txBody>
          <a:bodyPr/>
          <a:lstStyle/>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a:t>Example</a:t>
            </a:r>
          </a:p>
        </p:txBody>
      </p:sp>
      <p:sp>
        <p:nvSpPr>
          <p:cNvPr id="4" name="Slide Number Placeholder 3"/>
          <p:cNvSpPr>
            <a:spLocks noGrp="1"/>
          </p:cNvSpPr>
          <p:nvPr>
            <p:ph type="sldNum" sz="quarter" idx="12"/>
          </p:nvPr>
        </p:nvSpPr>
        <p:spPr/>
        <p:txBody>
          <a:bodyPr/>
          <a:lstStyle/>
          <a:p>
            <a:pPr>
              <a:defRPr/>
            </a:pPr>
            <a:fld id="{4B21F335-DB3D-42C7-B6CC-EFAC860223A2}" type="slidenum">
              <a:rPr lang="en-US" smtClean="0"/>
              <a:pPr>
                <a:defRPr/>
              </a:pPr>
              <a:t>21</a:t>
            </a:fld>
            <a:endParaRPr lang="en-US"/>
          </a:p>
        </p:txBody>
      </p:sp>
      <p:grpSp>
        <p:nvGrpSpPr>
          <p:cNvPr id="17413" name="Group 22"/>
          <p:cNvGrpSpPr>
            <a:grpSpLocks/>
          </p:cNvGrpSpPr>
          <p:nvPr/>
        </p:nvGrpSpPr>
        <p:grpSpPr bwMode="auto">
          <a:xfrm>
            <a:off x="1324199" y="2557901"/>
            <a:ext cx="555625" cy="469900"/>
            <a:chOff x="772" y="3221"/>
            <a:chExt cx="350" cy="296"/>
          </a:xfrm>
        </p:grpSpPr>
        <p:sp>
          <p:nvSpPr>
            <p:cNvPr id="17428" name="Oval 9"/>
            <p:cNvSpPr>
              <a:spLocks noChangeArrowheads="1"/>
            </p:cNvSpPr>
            <p:nvPr/>
          </p:nvSpPr>
          <p:spPr bwMode="auto">
            <a:xfrm>
              <a:off x="772" y="3221"/>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17429" name="Text Box 10"/>
            <p:cNvSpPr txBox="1">
              <a:spLocks noChangeArrowheads="1"/>
            </p:cNvSpPr>
            <p:nvPr/>
          </p:nvSpPr>
          <p:spPr bwMode="auto">
            <a:xfrm>
              <a:off x="848" y="3244"/>
              <a:ext cx="197" cy="233"/>
            </a:xfrm>
            <a:prstGeom prst="rect">
              <a:avLst/>
            </a:prstGeom>
            <a:noFill/>
            <a:ln w="12700">
              <a:noFill/>
              <a:miter lim="800000"/>
              <a:headEnd type="none" w="sm" len="sm"/>
              <a:tailEnd type="none" w="sm" len="sm"/>
            </a:ln>
          </p:spPr>
          <p:txBody>
            <a:bodyPr wrap="none">
              <a:spAutoFit/>
            </a:bodyPr>
            <a:lstStyle/>
            <a:p>
              <a:pPr algn="r"/>
              <a:r>
                <a:rPr lang="en-US">
                  <a:solidFill>
                    <a:srgbClr val="FFFF00"/>
                  </a:solidFill>
                </a:rPr>
                <a:t>1</a:t>
              </a:r>
            </a:p>
          </p:txBody>
        </p:sp>
      </p:grpSp>
      <p:grpSp>
        <p:nvGrpSpPr>
          <p:cNvPr id="17414" name="Group 24"/>
          <p:cNvGrpSpPr>
            <a:grpSpLocks/>
          </p:cNvGrpSpPr>
          <p:nvPr/>
        </p:nvGrpSpPr>
        <p:grpSpPr bwMode="auto">
          <a:xfrm>
            <a:off x="3070449" y="2557901"/>
            <a:ext cx="555625" cy="469900"/>
            <a:chOff x="1297" y="3526"/>
            <a:chExt cx="350" cy="296"/>
          </a:xfrm>
        </p:grpSpPr>
        <p:sp>
          <p:nvSpPr>
            <p:cNvPr id="17426" name="Oval 13"/>
            <p:cNvSpPr>
              <a:spLocks noChangeArrowheads="1"/>
            </p:cNvSpPr>
            <p:nvPr/>
          </p:nvSpPr>
          <p:spPr bwMode="auto">
            <a:xfrm>
              <a:off x="1297" y="3526"/>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17427" name="Text Box 14"/>
            <p:cNvSpPr txBox="1">
              <a:spLocks noChangeArrowheads="1"/>
            </p:cNvSpPr>
            <p:nvPr/>
          </p:nvSpPr>
          <p:spPr bwMode="auto">
            <a:xfrm>
              <a:off x="1374" y="3549"/>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2</a:t>
              </a:r>
            </a:p>
          </p:txBody>
        </p:sp>
      </p:grpSp>
      <p:grpSp>
        <p:nvGrpSpPr>
          <p:cNvPr id="17415" name="Group 23"/>
          <p:cNvGrpSpPr>
            <a:grpSpLocks/>
          </p:cNvGrpSpPr>
          <p:nvPr/>
        </p:nvGrpSpPr>
        <p:grpSpPr bwMode="auto">
          <a:xfrm>
            <a:off x="2195736" y="2078476"/>
            <a:ext cx="555625" cy="469900"/>
            <a:chOff x="1327" y="2914"/>
            <a:chExt cx="350" cy="296"/>
          </a:xfrm>
        </p:grpSpPr>
        <p:sp>
          <p:nvSpPr>
            <p:cNvPr id="17424" name="Oval 16"/>
            <p:cNvSpPr>
              <a:spLocks noChangeArrowheads="1"/>
            </p:cNvSpPr>
            <p:nvPr/>
          </p:nvSpPr>
          <p:spPr bwMode="auto">
            <a:xfrm>
              <a:off x="1327" y="291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17425" name="Text Box 17"/>
            <p:cNvSpPr txBox="1">
              <a:spLocks noChangeArrowheads="1"/>
            </p:cNvSpPr>
            <p:nvPr/>
          </p:nvSpPr>
          <p:spPr bwMode="auto">
            <a:xfrm>
              <a:off x="1404" y="2937"/>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0</a:t>
              </a:r>
            </a:p>
          </p:txBody>
        </p:sp>
      </p:grpSp>
      <p:sp>
        <p:nvSpPr>
          <p:cNvPr id="17416" name="Line 18"/>
          <p:cNvSpPr>
            <a:spLocks noChangeShapeType="1"/>
          </p:cNvSpPr>
          <p:nvPr/>
        </p:nvSpPr>
        <p:spPr bwMode="auto">
          <a:xfrm flipV="1">
            <a:off x="1859186" y="2445188"/>
            <a:ext cx="371475" cy="258763"/>
          </a:xfrm>
          <a:prstGeom prst="line">
            <a:avLst/>
          </a:prstGeom>
          <a:noFill/>
          <a:ln w="19050">
            <a:solidFill>
              <a:schemeClr val="tx1"/>
            </a:solidFill>
            <a:round/>
            <a:headEnd type="arrow" w="med" len="med"/>
            <a:tailEnd/>
          </a:ln>
        </p:spPr>
        <p:txBody>
          <a:bodyPr/>
          <a:lstStyle/>
          <a:p>
            <a:endParaRPr lang="en-US"/>
          </a:p>
        </p:txBody>
      </p:sp>
      <p:sp>
        <p:nvSpPr>
          <p:cNvPr id="17417" name="Line 19"/>
          <p:cNvSpPr>
            <a:spLocks noChangeShapeType="1"/>
          </p:cNvSpPr>
          <p:nvPr/>
        </p:nvSpPr>
        <p:spPr bwMode="auto">
          <a:xfrm>
            <a:off x="1827436" y="2946838"/>
            <a:ext cx="377825" cy="255588"/>
          </a:xfrm>
          <a:prstGeom prst="line">
            <a:avLst/>
          </a:prstGeom>
          <a:noFill/>
          <a:ln w="19050">
            <a:solidFill>
              <a:schemeClr val="tx1"/>
            </a:solidFill>
            <a:round/>
            <a:headEnd type="none" w="sm" len="sm"/>
            <a:tailEnd type="arrow" w="med" len="med"/>
          </a:ln>
        </p:spPr>
        <p:txBody>
          <a:bodyPr/>
          <a:lstStyle/>
          <a:p>
            <a:endParaRPr lang="en-US"/>
          </a:p>
        </p:txBody>
      </p:sp>
      <p:sp>
        <p:nvSpPr>
          <p:cNvPr id="17418" name="Line 21"/>
          <p:cNvSpPr>
            <a:spLocks noChangeShapeType="1"/>
          </p:cNvSpPr>
          <p:nvPr/>
        </p:nvSpPr>
        <p:spPr bwMode="auto">
          <a:xfrm>
            <a:off x="2471961" y="1770501"/>
            <a:ext cx="0" cy="295275"/>
          </a:xfrm>
          <a:prstGeom prst="line">
            <a:avLst/>
          </a:prstGeom>
          <a:noFill/>
          <a:ln w="19050">
            <a:solidFill>
              <a:schemeClr val="tx1"/>
            </a:solidFill>
            <a:round/>
            <a:headEnd type="none" w="sm" len="sm"/>
            <a:tailEnd type="arrow" w="med" len="med"/>
          </a:ln>
        </p:spPr>
        <p:txBody>
          <a:bodyPr/>
          <a:lstStyle/>
          <a:p>
            <a:endParaRPr lang="en-US"/>
          </a:p>
        </p:txBody>
      </p:sp>
      <p:sp>
        <p:nvSpPr>
          <p:cNvPr id="17419" name="Oval 26"/>
          <p:cNvSpPr>
            <a:spLocks noChangeArrowheads="1"/>
          </p:cNvSpPr>
          <p:nvPr/>
        </p:nvSpPr>
        <p:spPr bwMode="auto">
          <a:xfrm>
            <a:off x="2194149" y="3035738"/>
            <a:ext cx="555625" cy="469900"/>
          </a:xfrm>
          <a:prstGeom prst="ellipse">
            <a:avLst/>
          </a:prstGeom>
          <a:solidFill>
            <a:srgbClr val="0066FF"/>
          </a:solidFill>
          <a:ln w="28575">
            <a:solidFill>
              <a:schemeClr val="tx1"/>
            </a:solidFill>
            <a:round/>
            <a:headEnd type="none" w="sm" len="sm"/>
            <a:tailEnd type="none" w="sm" len="sm"/>
          </a:ln>
        </p:spPr>
        <p:txBody>
          <a:bodyPr wrap="none" anchor="ctr"/>
          <a:lstStyle/>
          <a:p>
            <a:endParaRPr lang="nl-NL">
              <a:solidFill>
                <a:schemeClr val="bg1"/>
              </a:solidFill>
            </a:endParaRPr>
          </a:p>
        </p:txBody>
      </p:sp>
      <p:sp>
        <p:nvSpPr>
          <p:cNvPr id="17420" name="Text Box 27"/>
          <p:cNvSpPr txBox="1">
            <a:spLocks noChangeArrowheads="1"/>
          </p:cNvSpPr>
          <p:nvPr/>
        </p:nvSpPr>
        <p:spPr bwMode="auto">
          <a:xfrm>
            <a:off x="2316386" y="3072251"/>
            <a:ext cx="312906" cy="369332"/>
          </a:xfrm>
          <a:prstGeom prst="rect">
            <a:avLst/>
          </a:prstGeom>
          <a:noFill/>
          <a:ln w="12700">
            <a:noFill/>
            <a:miter lim="800000"/>
            <a:headEnd type="none" w="sm" len="sm"/>
            <a:tailEnd type="none" w="sm" len="sm"/>
          </a:ln>
        </p:spPr>
        <p:txBody>
          <a:bodyPr wrap="none">
            <a:spAutoFit/>
          </a:bodyPr>
          <a:lstStyle/>
          <a:p>
            <a:r>
              <a:rPr lang="en-US" dirty="0">
                <a:solidFill>
                  <a:schemeClr val="bg1"/>
                </a:solidFill>
              </a:rPr>
              <a:t>3</a:t>
            </a:r>
          </a:p>
        </p:txBody>
      </p:sp>
      <p:sp>
        <p:nvSpPr>
          <p:cNvPr id="17421" name="Line 32"/>
          <p:cNvSpPr>
            <a:spLocks noChangeShapeType="1"/>
          </p:cNvSpPr>
          <p:nvPr/>
        </p:nvSpPr>
        <p:spPr bwMode="auto">
          <a:xfrm flipH="1" flipV="1">
            <a:off x="2713261" y="2451538"/>
            <a:ext cx="384175" cy="252413"/>
          </a:xfrm>
          <a:prstGeom prst="line">
            <a:avLst/>
          </a:prstGeom>
          <a:noFill/>
          <a:ln w="19050">
            <a:solidFill>
              <a:schemeClr val="tx1"/>
            </a:solidFill>
            <a:round/>
            <a:headEnd type="arrow" w="med" len="med"/>
            <a:tailEnd/>
          </a:ln>
        </p:spPr>
        <p:txBody>
          <a:bodyPr/>
          <a:lstStyle/>
          <a:p>
            <a:endParaRPr lang="en-US"/>
          </a:p>
        </p:txBody>
      </p:sp>
      <p:sp>
        <p:nvSpPr>
          <p:cNvPr id="17422" name="Line 33"/>
          <p:cNvSpPr>
            <a:spLocks noChangeShapeType="1"/>
          </p:cNvSpPr>
          <p:nvPr/>
        </p:nvSpPr>
        <p:spPr bwMode="auto">
          <a:xfrm flipH="1">
            <a:off x="2738661" y="2940488"/>
            <a:ext cx="390525" cy="249238"/>
          </a:xfrm>
          <a:prstGeom prst="line">
            <a:avLst/>
          </a:prstGeom>
          <a:noFill/>
          <a:ln w="19050">
            <a:solidFill>
              <a:schemeClr val="tx1"/>
            </a:solidFill>
            <a:round/>
            <a:headEnd type="none" w="sm" len="sm"/>
            <a:tailEnd type="arrow" w="med" len="med"/>
          </a:ln>
        </p:spPr>
        <p:txBody>
          <a:bodyPr/>
          <a:lstStyle/>
          <a:p>
            <a:endParaRPr lang="en-US"/>
          </a:p>
        </p:txBody>
      </p:sp>
      <p:cxnSp>
        <p:nvCxnSpPr>
          <p:cNvPr id="17423" name="AutoShape 34"/>
          <p:cNvCxnSpPr>
            <a:cxnSpLocks noChangeShapeType="1"/>
            <a:stCxn id="17428" idx="0"/>
            <a:endCxn id="17424" idx="2"/>
          </p:cNvCxnSpPr>
          <p:nvPr/>
        </p:nvCxnSpPr>
        <p:spPr bwMode="auto">
          <a:xfrm rot="5400000" flipH="1" flipV="1">
            <a:off x="1776637" y="2138802"/>
            <a:ext cx="244475" cy="593724"/>
          </a:xfrm>
          <a:prstGeom prst="curvedConnector2">
            <a:avLst/>
          </a:prstGeom>
          <a:noFill/>
          <a:ln w="28575">
            <a:solidFill>
              <a:srgbClr val="C00000"/>
            </a:solidFill>
            <a:round/>
            <a:headEnd type="none" w="sm" len="sm"/>
            <a:tailEnd type="arrow" w="med" len="med"/>
          </a:ln>
        </p:spPr>
      </p:cxnSp>
      <p:graphicFrame>
        <p:nvGraphicFramePr>
          <p:cNvPr id="6" name="Table 5">
            <a:extLst>
              <a:ext uri="{FF2B5EF4-FFF2-40B4-BE49-F238E27FC236}">
                <a16:creationId xmlns:a16="http://schemas.microsoft.com/office/drawing/2014/main" id="{80172218-37F2-DB46-94A4-0281CD21979F}"/>
              </a:ext>
            </a:extLst>
          </p:cNvPr>
          <p:cNvGraphicFramePr>
            <a:graphicFrameLocks noGrp="1"/>
          </p:cNvGraphicFramePr>
          <p:nvPr>
            <p:extLst>
              <p:ext uri="{D42A27DB-BD31-4B8C-83A1-F6EECF244321}">
                <p14:modId xmlns:p14="http://schemas.microsoft.com/office/powerpoint/2010/main" val="3784139090"/>
              </p:ext>
            </p:extLst>
          </p:nvPr>
        </p:nvGraphicFramePr>
        <p:xfrm>
          <a:off x="4343421" y="1785256"/>
          <a:ext cx="3448868" cy="1854200"/>
        </p:xfrm>
        <a:graphic>
          <a:graphicData uri="http://schemas.openxmlformats.org/drawingml/2006/table">
            <a:tbl>
              <a:tblPr firstRow="1" bandRow="1">
                <a:tableStyleId>{073A0DAA-6AF3-43AB-8588-CEC1D06C72B9}</a:tableStyleId>
              </a:tblPr>
              <a:tblGrid>
                <a:gridCol w="1576660">
                  <a:extLst>
                    <a:ext uri="{9D8B030D-6E8A-4147-A177-3AD203B41FA5}">
                      <a16:colId xmlns:a16="http://schemas.microsoft.com/office/drawing/2014/main" val="4131873332"/>
                    </a:ext>
                  </a:extLst>
                </a:gridCol>
                <a:gridCol w="1872208">
                  <a:extLst>
                    <a:ext uri="{9D8B030D-6E8A-4147-A177-3AD203B41FA5}">
                      <a16:colId xmlns:a16="http://schemas.microsoft.com/office/drawing/2014/main" val="1810555622"/>
                    </a:ext>
                  </a:extLst>
                </a:gridCol>
              </a:tblGrid>
              <a:tr h="370840">
                <a:tc>
                  <a:txBody>
                    <a:bodyPr/>
                    <a:lstStyle/>
                    <a:p>
                      <a:pPr algn="ctr"/>
                      <a:r>
                        <a:rPr lang="en-US" dirty="0"/>
                        <a:t>Starting from</a:t>
                      </a:r>
                    </a:p>
                  </a:txBody>
                  <a:tcPr/>
                </a:tc>
                <a:tc>
                  <a:txBody>
                    <a:bodyPr/>
                    <a:lstStyle/>
                    <a:p>
                      <a:pPr algn="ctr"/>
                      <a:r>
                        <a:rPr lang="en-US" dirty="0"/>
                        <a:t> prime paths</a:t>
                      </a:r>
                    </a:p>
                  </a:txBody>
                  <a:tcPr/>
                </a:tc>
                <a:extLst>
                  <a:ext uri="{0D108BD9-81ED-4DB2-BD59-A6C34878D82A}">
                    <a16:rowId xmlns:a16="http://schemas.microsoft.com/office/drawing/2014/main" val="4226035008"/>
                  </a:ext>
                </a:extLst>
              </a:tr>
              <a:tr h="370840">
                <a:tc>
                  <a:txBody>
                    <a:bodyPr/>
                    <a:lstStyle/>
                    <a:p>
                      <a:pPr algn="ctr"/>
                      <a:r>
                        <a:rPr lang="en-US" dirty="0"/>
                        <a:t>0</a:t>
                      </a:r>
                    </a:p>
                  </a:txBody>
                  <a:tcPr/>
                </a:tc>
                <a:tc>
                  <a:txBody>
                    <a:bodyPr/>
                    <a:lstStyle/>
                    <a:p>
                      <a:pPr algn="ctr"/>
                      <a:r>
                        <a:rPr lang="en-US" dirty="0"/>
                        <a:t>[0,1,0]  ,  [0,1,3]</a:t>
                      </a:r>
                    </a:p>
                  </a:txBody>
                  <a:tcPr/>
                </a:tc>
                <a:extLst>
                  <a:ext uri="{0D108BD9-81ED-4DB2-BD59-A6C34878D82A}">
                    <a16:rowId xmlns:a16="http://schemas.microsoft.com/office/drawing/2014/main" val="756753225"/>
                  </a:ext>
                </a:extLst>
              </a:tr>
              <a:tr h="370840">
                <a:tc>
                  <a:txBody>
                    <a:bodyPr/>
                    <a:lstStyle/>
                    <a:p>
                      <a:pPr algn="ctr"/>
                      <a:r>
                        <a:rPr lang="en-US" dirty="0"/>
                        <a:t>1</a:t>
                      </a:r>
                    </a:p>
                  </a:txBody>
                  <a:tcPr/>
                </a:tc>
                <a:tc>
                  <a:txBody>
                    <a:bodyPr/>
                    <a:lstStyle/>
                    <a:p>
                      <a:pPr algn="ctr"/>
                      <a:r>
                        <a:rPr lang="en-US" dirty="0"/>
                        <a:t>[1,0,1]  ,  [1,0,2,3]</a:t>
                      </a:r>
                    </a:p>
                  </a:txBody>
                  <a:tcPr/>
                </a:tc>
                <a:extLst>
                  <a:ext uri="{0D108BD9-81ED-4DB2-BD59-A6C34878D82A}">
                    <a16:rowId xmlns:a16="http://schemas.microsoft.com/office/drawing/2014/main" val="645411619"/>
                  </a:ext>
                </a:extLst>
              </a:tr>
              <a:tr h="370840">
                <a:tc>
                  <a:txBody>
                    <a:bodyPr/>
                    <a:lstStyle/>
                    <a:p>
                      <a:pPr algn="ctr"/>
                      <a:r>
                        <a:rPr lang="en-US" dirty="0"/>
                        <a:t>2</a:t>
                      </a:r>
                    </a:p>
                  </a:txBody>
                  <a:tcPr/>
                </a:tc>
                <a:tc>
                  <a:txBody>
                    <a:bodyPr/>
                    <a:lstStyle/>
                    <a:p>
                      <a:pPr algn="ctr"/>
                      <a:r>
                        <a:rPr lang="en-US" dirty="0"/>
                        <a:t>-</a:t>
                      </a:r>
                    </a:p>
                  </a:txBody>
                  <a:tcPr/>
                </a:tc>
                <a:extLst>
                  <a:ext uri="{0D108BD9-81ED-4DB2-BD59-A6C34878D82A}">
                    <a16:rowId xmlns:a16="http://schemas.microsoft.com/office/drawing/2014/main" val="2052595999"/>
                  </a:ext>
                </a:extLst>
              </a:tr>
              <a:tr h="370840">
                <a:tc>
                  <a:txBody>
                    <a:bodyPr/>
                    <a:lstStyle/>
                    <a:p>
                      <a:pPr algn="ctr"/>
                      <a:r>
                        <a:rPr lang="en-US" dirty="0"/>
                        <a:t>3</a:t>
                      </a:r>
                    </a:p>
                  </a:txBody>
                  <a:tcPr/>
                </a:tc>
                <a:tc>
                  <a:txBody>
                    <a:bodyPr/>
                    <a:lstStyle/>
                    <a:p>
                      <a:pPr algn="ctr"/>
                      <a:r>
                        <a:rPr lang="en-US" dirty="0"/>
                        <a:t>-</a:t>
                      </a:r>
                    </a:p>
                  </a:txBody>
                  <a:tcPr/>
                </a:tc>
                <a:extLst>
                  <a:ext uri="{0D108BD9-81ED-4DB2-BD59-A6C34878D82A}">
                    <a16:rowId xmlns:a16="http://schemas.microsoft.com/office/drawing/2014/main" val="1106839616"/>
                  </a:ext>
                </a:extLst>
              </a:tr>
            </a:tbl>
          </a:graphicData>
        </a:graphic>
      </p:graphicFrame>
      <p:sp>
        <p:nvSpPr>
          <p:cNvPr id="26" name="Content Placeholder 2">
            <a:extLst>
              <a:ext uri="{FF2B5EF4-FFF2-40B4-BE49-F238E27FC236}">
                <a16:creationId xmlns:a16="http://schemas.microsoft.com/office/drawing/2014/main" id="{86E4C310-5523-6141-8665-5B83AF8DD10C}"/>
              </a:ext>
            </a:extLst>
          </p:cNvPr>
          <p:cNvSpPr>
            <a:spLocks noGrp="1"/>
          </p:cNvSpPr>
          <p:nvPr>
            <p:ph idx="1"/>
          </p:nvPr>
        </p:nvSpPr>
        <p:spPr>
          <a:xfrm>
            <a:off x="745232" y="4626002"/>
            <a:ext cx="7941568" cy="1205512"/>
          </a:xfrm>
        </p:spPr>
        <p:txBody>
          <a:bodyPr/>
          <a:lstStyle/>
          <a:p>
            <a:r>
              <a:rPr lang="en-US" sz="2800" dirty="0"/>
              <a:t>(C2.4/2</a:t>
            </a:r>
            <a:r>
              <a:rPr lang="en-US" sz="2800" baseline="30000" dirty="0"/>
              <a:t>nd</a:t>
            </a:r>
            <a:r>
              <a:rPr lang="en-US" sz="2800" dirty="0"/>
              <a:t> Ed. C7.10) PPC: the </a:t>
            </a:r>
            <a:r>
              <a:rPr lang="en-US" sz="2800" i="1" dirty="0"/>
              <a:t>TR</a:t>
            </a:r>
            <a:r>
              <a:rPr lang="en-US" sz="2800" dirty="0"/>
              <a:t> is the set of all prime paths in </a:t>
            </a:r>
            <a:r>
              <a:rPr lang="en-US" sz="2800" i="1" dirty="0"/>
              <a:t>G.</a:t>
            </a:r>
          </a:p>
          <a:p>
            <a:r>
              <a:rPr lang="en-US" dirty="0"/>
              <a:t>Strong, but still finite.</a:t>
            </a:r>
          </a:p>
          <a:p>
            <a:endParaRPr lang="en-US" sz="2800" dirty="0"/>
          </a:p>
        </p:txBody>
      </p:sp>
      <p:sp>
        <p:nvSpPr>
          <p:cNvPr id="2" name="Line 21">
            <a:extLst>
              <a:ext uri="{FF2B5EF4-FFF2-40B4-BE49-F238E27FC236}">
                <a16:creationId xmlns:a16="http://schemas.microsoft.com/office/drawing/2014/main" id="{7824BADF-4EA5-7316-0F14-5FD540E0FC6D}"/>
              </a:ext>
            </a:extLst>
          </p:cNvPr>
          <p:cNvSpPr>
            <a:spLocks noChangeShapeType="1"/>
          </p:cNvSpPr>
          <p:nvPr/>
        </p:nvSpPr>
        <p:spPr bwMode="auto">
          <a:xfrm>
            <a:off x="2483792" y="3547900"/>
            <a:ext cx="0" cy="183111"/>
          </a:xfrm>
          <a:prstGeom prst="line">
            <a:avLst/>
          </a:prstGeom>
          <a:noFill/>
          <a:ln w="19050">
            <a:solidFill>
              <a:schemeClr val="tx1"/>
            </a:solidFill>
            <a:round/>
            <a:headEnd type="none" w="sm" len="sm"/>
            <a:tailEnd type="arrow" w="med" len="med"/>
          </a:ln>
        </p:spPr>
        <p:txBody>
          <a:bodyPr/>
          <a:lstStyle/>
          <a:p>
            <a:endParaRPr lang="en-US"/>
          </a:p>
        </p:txBody>
      </p:sp>
      <p:sp>
        <p:nvSpPr>
          <p:cNvPr id="3" name="TextBox 2">
            <a:extLst>
              <a:ext uri="{FF2B5EF4-FFF2-40B4-BE49-F238E27FC236}">
                <a16:creationId xmlns:a16="http://schemas.microsoft.com/office/drawing/2014/main" id="{FE156DAB-0AD2-F14F-F152-0F4D746EC711}"/>
              </a:ext>
            </a:extLst>
          </p:cNvPr>
          <p:cNvSpPr txBox="1"/>
          <p:nvPr/>
        </p:nvSpPr>
        <p:spPr>
          <a:xfrm>
            <a:off x="4604393" y="3760326"/>
            <a:ext cx="2969083" cy="307777"/>
          </a:xfrm>
          <a:prstGeom prst="rect">
            <a:avLst/>
          </a:prstGeom>
          <a:noFill/>
        </p:spPr>
        <p:txBody>
          <a:bodyPr wrap="none" rtlCol="0">
            <a:spAutoFit/>
          </a:bodyPr>
          <a:lstStyle/>
          <a:p>
            <a:r>
              <a:rPr lang="en-NL" sz="1400" dirty="0"/>
              <a:t>Note that [0,2,3] is not a pp (why?).</a:t>
            </a:r>
          </a:p>
        </p:txBody>
      </p:sp>
    </p:spTree>
    <p:extLst>
      <p:ext uri="{BB962C8B-B14F-4D97-AF65-F5344CB8AC3E}">
        <p14:creationId xmlns:p14="http://schemas.microsoft.com/office/powerpoint/2010/main" val="13262841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a:t>Few notes on PPC</a:t>
            </a:r>
          </a:p>
        </p:txBody>
      </p:sp>
      <p:sp>
        <p:nvSpPr>
          <p:cNvPr id="4" name="Slide Number Placeholder 3"/>
          <p:cNvSpPr>
            <a:spLocks noGrp="1"/>
          </p:cNvSpPr>
          <p:nvPr>
            <p:ph type="sldNum" sz="quarter" idx="12"/>
          </p:nvPr>
        </p:nvSpPr>
        <p:spPr/>
        <p:txBody>
          <a:bodyPr/>
          <a:lstStyle/>
          <a:p>
            <a:pPr>
              <a:defRPr/>
            </a:pPr>
            <a:fld id="{6E3A4ABA-46D6-4D31-A95A-78DE60373822}" type="slidenum">
              <a:rPr lang="en-US" smtClean="0"/>
              <a:pPr>
                <a:defRPr/>
              </a:pPr>
              <a:t>22</a:t>
            </a:fld>
            <a:endParaRPr lang="en-US"/>
          </a:p>
        </p:txBody>
      </p:sp>
      <p:grpSp>
        <p:nvGrpSpPr>
          <p:cNvPr id="18438" name="Group 34"/>
          <p:cNvGrpSpPr>
            <a:grpSpLocks/>
          </p:cNvGrpSpPr>
          <p:nvPr/>
        </p:nvGrpSpPr>
        <p:grpSpPr bwMode="auto">
          <a:xfrm>
            <a:off x="3729037" y="2515194"/>
            <a:ext cx="1685925" cy="1785937"/>
            <a:chOff x="2155802" y="4000504"/>
            <a:chExt cx="1685939" cy="1785950"/>
          </a:xfrm>
        </p:grpSpPr>
        <p:sp>
          <p:nvSpPr>
            <p:cNvPr id="18440" name="Oval 13"/>
            <p:cNvSpPr>
              <a:spLocks noChangeArrowheads="1"/>
            </p:cNvSpPr>
            <p:nvPr/>
          </p:nvSpPr>
          <p:spPr bwMode="auto">
            <a:xfrm>
              <a:off x="3286116" y="5316554"/>
              <a:ext cx="555625" cy="469900"/>
            </a:xfrm>
            <a:prstGeom prst="ellipse">
              <a:avLst/>
            </a:prstGeom>
            <a:solidFill>
              <a:srgbClr val="0066FF"/>
            </a:solidFill>
            <a:ln w="28575">
              <a:solidFill>
                <a:schemeClr val="tx1"/>
              </a:solidFill>
              <a:round/>
              <a:headEnd type="none" w="sm" len="sm"/>
              <a:tailEnd type="none" w="sm" len="sm"/>
            </a:ln>
          </p:spPr>
          <p:txBody>
            <a:bodyPr wrap="none" anchor="ctr"/>
            <a:lstStyle/>
            <a:p>
              <a:endParaRPr lang="nl-NL">
                <a:solidFill>
                  <a:srgbClr val="FFFF00"/>
                </a:solidFill>
              </a:endParaRPr>
            </a:p>
          </p:txBody>
        </p:sp>
        <p:sp>
          <p:nvSpPr>
            <p:cNvPr id="18441" name="Text Box 14"/>
            <p:cNvSpPr txBox="1">
              <a:spLocks noChangeArrowheads="1"/>
            </p:cNvSpPr>
            <p:nvPr/>
          </p:nvSpPr>
          <p:spPr bwMode="auto">
            <a:xfrm>
              <a:off x="3408354" y="5353067"/>
              <a:ext cx="312909" cy="369335"/>
            </a:xfrm>
            <a:prstGeom prst="rect">
              <a:avLst/>
            </a:prstGeom>
            <a:noFill/>
            <a:ln w="12700">
              <a:noFill/>
              <a:miter lim="800000"/>
              <a:headEnd type="none" w="sm" len="sm"/>
              <a:tailEnd type="none" w="sm" len="sm"/>
            </a:ln>
          </p:spPr>
          <p:txBody>
            <a:bodyPr wrap="none">
              <a:spAutoFit/>
            </a:bodyPr>
            <a:lstStyle/>
            <a:p>
              <a:r>
                <a:rPr lang="en-US">
                  <a:solidFill>
                    <a:srgbClr val="FFFF00"/>
                  </a:solidFill>
                </a:rPr>
                <a:t>2</a:t>
              </a:r>
            </a:p>
          </p:txBody>
        </p:sp>
        <p:grpSp>
          <p:nvGrpSpPr>
            <p:cNvPr id="18442" name="Group 23"/>
            <p:cNvGrpSpPr>
              <a:grpSpLocks/>
            </p:cNvGrpSpPr>
            <p:nvPr/>
          </p:nvGrpSpPr>
          <p:grpSpPr bwMode="auto">
            <a:xfrm>
              <a:off x="2157390" y="4308479"/>
              <a:ext cx="555625" cy="469900"/>
              <a:chOff x="1327" y="2914"/>
              <a:chExt cx="350" cy="296"/>
            </a:xfrm>
          </p:grpSpPr>
          <p:sp>
            <p:nvSpPr>
              <p:cNvPr id="18449" name="Oval 16"/>
              <p:cNvSpPr>
                <a:spLocks noChangeArrowheads="1"/>
              </p:cNvSpPr>
              <p:nvPr/>
            </p:nvSpPr>
            <p:spPr bwMode="auto">
              <a:xfrm>
                <a:off x="1327" y="291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18450" name="Text Box 17"/>
              <p:cNvSpPr txBox="1">
                <a:spLocks noChangeArrowheads="1"/>
              </p:cNvSpPr>
              <p:nvPr/>
            </p:nvSpPr>
            <p:spPr bwMode="auto">
              <a:xfrm>
                <a:off x="1404" y="2937"/>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0</a:t>
                </a:r>
              </a:p>
            </p:txBody>
          </p:sp>
        </p:grpSp>
        <p:sp>
          <p:nvSpPr>
            <p:cNvPr id="18443" name="Line 21"/>
            <p:cNvSpPr>
              <a:spLocks noChangeShapeType="1"/>
            </p:cNvSpPr>
            <p:nvPr/>
          </p:nvSpPr>
          <p:spPr bwMode="auto">
            <a:xfrm>
              <a:off x="2433615" y="4000504"/>
              <a:ext cx="0" cy="295275"/>
            </a:xfrm>
            <a:prstGeom prst="line">
              <a:avLst/>
            </a:prstGeom>
            <a:noFill/>
            <a:ln w="19050">
              <a:solidFill>
                <a:schemeClr val="tx1"/>
              </a:solidFill>
              <a:round/>
              <a:headEnd type="none" w="sm" len="sm"/>
              <a:tailEnd type="arrow" w="med" len="med"/>
            </a:ln>
          </p:spPr>
          <p:txBody>
            <a:bodyPr/>
            <a:lstStyle/>
            <a:p>
              <a:endParaRPr lang="en-US">
                <a:solidFill>
                  <a:srgbClr val="FFFF00"/>
                </a:solidFill>
              </a:endParaRPr>
            </a:p>
          </p:txBody>
        </p:sp>
        <p:sp>
          <p:nvSpPr>
            <p:cNvPr id="18444" name="Oval 26"/>
            <p:cNvSpPr>
              <a:spLocks noChangeArrowheads="1"/>
            </p:cNvSpPr>
            <p:nvPr/>
          </p:nvSpPr>
          <p:spPr bwMode="auto">
            <a:xfrm>
              <a:off x="2155802" y="5316554"/>
              <a:ext cx="555625" cy="469900"/>
            </a:xfrm>
            <a:prstGeom prst="ellipse">
              <a:avLst/>
            </a:prstGeom>
            <a:solidFill>
              <a:srgbClr val="0066FF"/>
            </a:solidFill>
            <a:ln w="12700">
              <a:solidFill>
                <a:schemeClr val="tx1"/>
              </a:solidFill>
              <a:round/>
              <a:headEnd type="none" w="sm" len="sm"/>
              <a:tailEnd type="none" w="sm" len="sm"/>
            </a:ln>
          </p:spPr>
          <p:txBody>
            <a:bodyPr wrap="none" anchor="ctr"/>
            <a:lstStyle/>
            <a:p>
              <a:endParaRPr lang="nl-NL">
                <a:solidFill>
                  <a:srgbClr val="FFFF00"/>
                </a:solidFill>
              </a:endParaRPr>
            </a:p>
          </p:txBody>
        </p:sp>
        <p:sp>
          <p:nvSpPr>
            <p:cNvPr id="18445" name="Text Box 27"/>
            <p:cNvSpPr txBox="1">
              <a:spLocks noChangeArrowheads="1"/>
            </p:cNvSpPr>
            <p:nvPr/>
          </p:nvSpPr>
          <p:spPr bwMode="auto">
            <a:xfrm>
              <a:off x="2278040" y="5353067"/>
              <a:ext cx="312906" cy="369332"/>
            </a:xfrm>
            <a:prstGeom prst="rect">
              <a:avLst/>
            </a:prstGeom>
            <a:noFill/>
            <a:ln w="12700">
              <a:noFill/>
              <a:miter lim="800000"/>
              <a:headEnd type="none" w="sm" len="sm"/>
              <a:tailEnd type="none" w="sm" len="sm"/>
            </a:ln>
          </p:spPr>
          <p:txBody>
            <a:bodyPr wrap="none">
              <a:spAutoFit/>
            </a:bodyPr>
            <a:lstStyle/>
            <a:p>
              <a:r>
                <a:rPr lang="en-US">
                  <a:solidFill>
                    <a:srgbClr val="FFFF00"/>
                  </a:solidFill>
                </a:rPr>
                <a:t>1</a:t>
              </a:r>
            </a:p>
          </p:txBody>
        </p:sp>
        <p:cxnSp>
          <p:nvCxnSpPr>
            <p:cNvPr id="18446" name="AutoShape 34"/>
            <p:cNvCxnSpPr>
              <a:cxnSpLocks noChangeShapeType="1"/>
              <a:stCxn id="18444" idx="2"/>
              <a:endCxn id="18449" idx="2"/>
            </p:cNvCxnSpPr>
            <p:nvPr/>
          </p:nvCxnSpPr>
          <p:spPr bwMode="auto">
            <a:xfrm rot="10800000" flipH="1">
              <a:off x="2155802" y="4543430"/>
              <a:ext cx="1588" cy="1008075"/>
            </a:xfrm>
            <a:prstGeom prst="curvedConnector3">
              <a:avLst>
                <a:gd name="adj1" fmla="val -33289495"/>
              </a:avLst>
            </a:prstGeom>
            <a:noFill/>
            <a:ln w="12700">
              <a:solidFill>
                <a:schemeClr val="tx1"/>
              </a:solidFill>
              <a:round/>
              <a:headEnd type="none" w="sm" len="sm"/>
              <a:tailEnd type="arrow" w="med" len="med"/>
            </a:ln>
          </p:spPr>
        </p:cxnSp>
        <p:cxnSp>
          <p:nvCxnSpPr>
            <p:cNvPr id="29" name="Straight Arrow Connector 28"/>
            <p:cNvCxnSpPr>
              <a:stCxn id="18449" idx="4"/>
              <a:endCxn id="18445" idx="0"/>
            </p:cNvCxnSpPr>
            <p:nvPr/>
          </p:nvCxnSpPr>
          <p:spPr>
            <a:xfrm rot="5400000">
              <a:off x="2147864" y="5065725"/>
              <a:ext cx="574679"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8444" idx="6"/>
              <a:endCxn id="18440" idx="2"/>
            </p:cNvCxnSpPr>
            <p:nvPr/>
          </p:nvCxnSpPr>
          <p:spPr>
            <a:xfrm>
              <a:off x="2711432" y="5551502"/>
              <a:ext cx="57468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19" name="TextBox 18"/>
          <p:cNvSpPr txBox="1"/>
          <p:nvPr/>
        </p:nvSpPr>
        <p:spPr>
          <a:xfrm>
            <a:off x="458791" y="4558022"/>
            <a:ext cx="8228009" cy="923330"/>
          </a:xfrm>
          <a:prstGeom prst="rect">
            <a:avLst/>
          </a:prstGeom>
          <a:noFill/>
        </p:spPr>
        <p:txBody>
          <a:bodyPr wrap="square" rtlCol="0">
            <a:spAutoFit/>
          </a:bodyPr>
          <a:lstStyle/>
          <a:p>
            <a:pPr>
              <a:defRPr/>
            </a:pPr>
            <a:r>
              <a:rPr lang="en-US" i="1" dirty="0"/>
              <a:t>PPC’s TR</a:t>
            </a:r>
            <a:r>
              <a:rPr lang="en-US" dirty="0"/>
              <a:t> =  { 012, 010, 101 }</a:t>
            </a:r>
          </a:p>
          <a:p>
            <a:pPr>
              <a:defRPr/>
            </a:pPr>
            <a:endParaRPr lang="en-US" dirty="0"/>
          </a:p>
          <a:p>
            <a:pPr>
              <a:defRPr/>
            </a:pPr>
            <a:r>
              <a:rPr lang="en-US" dirty="0"/>
              <a:t>We can cover this with just one test path: { 01012 } </a:t>
            </a:r>
          </a:p>
        </p:txBody>
      </p:sp>
      <p:sp>
        <p:nvSpPr>
          <p:cNvPr id="6" name="TextBox 5">
            <a:extLst>
              <a:ext uri="{FF2B5EF4-FFF2-40B4-BE49-F238E27FC236}">
                <a16:creationId xmlns:a16="http://schemas.microsoft.com/office/drawing/2014/main" id="{AA9CC5A0-2FB5-944E-8FEA-4731B007FDDF}"/>
              </a:ext>
            </a:extLst>
          </p:cNvPr>
          <p:cNvSpPr txBox="1"/>
          <p:nvPr/>
        </p:nvSpPr>
        <p:spPr>
          <a:xfrm>
            <a:off x="251007" y="1597084"/>
            <a:ext cx="8067300" cy="369332"/>
          </a:xfrm>
          <a:prstGeom prst="rect">
            <a:avLst/>
          </a:prstGeom>
          <a:noFill/>
        </p:spPr>
        <p:txBody>
          <a:bodyPr wrap="square" rtlCol="0">
            <a:spAutoFit/>
          </a:bodyPr>
          <a:lstStyle/>
          <a:p>
            <a:r>
              <a:rPr lang="en-US" dirty="0"/>
              <a:t>Recall: #TR = N does not mean you also need N tests. Example: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Title 1"/>
          <p:cNvSpPr>
            <a:spLocks noGrp="1"/>
          </p:cNvSpPr>
          <p:nvPr>
            <p:ph type="title"/>
          </p:nvPr>
        </p:nvSpPr>
        <p:spPr/>
        <p:txBody>
          <a:bodyPr/>
          <a:lstStyle/>
          <a:p>
            <a:r>
              <a:rPr lang="en-US" dirty="0"/>
              <a:t>Identifying Prime Paths</a:t>
            </a:r>
          </a:p>
        </p:txBody>
      </p:sp>
      <p:sp>
        <p:nvSpPr>
          <p:cNvPr id="2" name="Content Placeholder 1">
            <a:extLst>
              <a:ext uri="{FF2B5EF4-FFF2-40B4-BE49-F238E27FC236}">
                <a16:creationId xmlns:a16="http://schemas.microsoft.com/office/drawing/2014/main" id="{D4ED5211-FBA9-DA46-CEC3-450DED97B1B7}"/>
              </a:ext>
            </a:extLst>
          </p:cNvPr>
          <p:cNvSpPr>
            <a:spLocks noGrp="1"/>
          </p:cNvSpPr>
          <p:nvPr>
            <p:ph idx="1"/>
          </p:nvPr>
        </p:nvSpPr>
        <p:spPr>
          <a:xfrm>
            <a:off x="3446959" y="1657315"/>
            <a:ext cx="5291979" cy="4525963"/>
          </a:xfrm>
        </p:spPr>
        <p:txBody>
          <a:bodyPr/>
          <a:lstStyle/>
          <a:p>
            <a:r>
              <a:rPr lang="en-GB" sz="2400" dirty="0"/>
              <a:t>A cycle with n nodes generate n cyclic </a:t>
            </a:r>
            <a:r>
              <a:rPr lang="en-GB" sz="2400" dirty="0" err="1"/>
              <a:t>pps</a:t>
            </a:r>
            <a:r>
              <a:rPr lang="en-GB" sz="2400" dirty="0"/>
              <a:t>.</a:t>
            </a:r>
          </a:p>
          <a:p>
            <a:r>
              <a:rPr lang="en-GB" sz="2400" dirty="0">
                <a:highlight>
                  <a:srgbClr val="FFFF00"/>
                </a:highlight>
              </a:rPr>
              <a:t>Not always </a:t>
            </a:r>
            <a:r>
              <a:rPr lang="en-GB" sz="2400" dirty="0"/>
              <a:t>the case that there is a non-cyclic pp starting from the program entrance.</a:t>
            </a:r>
          </a:p>
          <a:p>
            <a:r>
              <a:rPr lang="en-GB" sz="2400" dirty="0"/>
              <a:t>A</a:t>
            </a:r>
            <a:r>
              <a:rPr lang="en-NL" sz="2400" dirty="0"/>
              <a:t> loop may have multiple entry and exit nodes.</a:t>
            </a:r>
          </a:p>
          <a:p>
            <a:r>
              <a:rPr lang="en-GB" sz="2400" dirty="0"/>
              <a:t>T</a:t>
            </a:r>
            <a:r>
              <a:rPr lang="en-NL" sz="2400" dirty="0"/>
              <a:t>here are non-cyclic pps that end in prev(loop-exit).</a:t>
            </a:r>
          </a:p>
          <a:p>
            <a:r>
              <a:rPr lang="en-NL" sz="2400" dirty="0"/>
              <a:t>There are non-cyclic pps that start in next(loop-entry).</a:t>
            </a:r>
          </a:p>
        </p:txBody>
      </p:sp>
      <p:sp>
        <p:nvSpPr>
          <p:cNvPr id="4" name="Slide Number Placeholder 3"/>
          <p:cNvSpPr>
            <a:spLocks noGrp="1"/>
          </p:cNvSpPr>
          <p:nvPr>
            <p:ph type="sldNum" sz="quarter" idx="12"/>
          </p:nvPr>
        </p:nvSpPr>
        <p:spPr/>
        <p:txBody>
          <a:bodyPr/>
          <a:lstStyle/>
          <a:p>
            <a:pPr>
              <a:defRPr/>
            </a:pPr>
            <a:fld id="{5A5DAAC6-5F27-45E2-9B3C-2DD2F01F08AA}" type="slidenum">
              <a:rPr lang="en-US" smtClean="0"/>
              <a:pPr>
                <a:defRPr/>
              </a:pPr>
              <a:t>23</a:t>
            </a:fld>
            <a:endParaRPr lang="en-US" dirty="0"/>
          </a:p>
        </p:txBody>
      </p:sp>
      <p:grpSp>
        <p:nvGrpSpPr>
          <p:cNvPr id="21518" name="Group 1029"/>
          <p:cNvGrpSpPr>
            <a:grpSpLocks/>
          </p:cNvGrpSpPr>
          <p:nvPr/>
        </p:nvGrpSpPr>
        <p:grpSpPr bwMode="auto">
          <a:xfrm>
            <a:off x="1888803" y="4887615"/>
            <a:ext cx="555625" cy="469900"/>
            <a:chOff x="684" y="3374"/>
            <a:chExt cx="350" cy="296"/>
          </a:xfrm>
          <a:solidFill>
            <a:schemeClr val="bg1">
              <a:lumMod val="65000"/>
            </a:schemeClr>
          </a:solidFill>
        </p:grpSpPr>
        <p:sp>
          <p:nvSpPr>
            <p:cNvPr id="21547" name="Oval 1030"/>
            <p:cNvSpPr>
              <a:spLocks noChangeArrowheads="1"/>
            </p:cNvSpPr>
            <p:nvPr/>
          </p:nvSpPr>
          <p:spPr bwMode="auto">
            <a:xfrm>
              <a:off x="684" y="3374"/>
              <a:ext cx="350" cy="296"/>
            </a:xfrm>
            <a:prstGeom prst="ellipse">
              <a:avLst/>
            </a:prstGeom>
            <a:grpFill/>
            <a:ln w="19050">
              <a:solidFill>
                <a:schemeClr val="tx1"/>
              </a:solidFill>
              <a:round/>
              <a:headEnd type="none" w="sm" len="sm"/>
              <a:tailEnd type="none" w="sm" len="sm"/>
            </a:ln>
          </p:spPr>
          <p:txBody>
            <a:bodyPr wrap="none" anchor="ctr"/>
            <a:lstStyle/>
            <a:p>
              <a:endParaRPr lang="nl-NL" dirty="0"/>
            </a:p>
          </p:txBody>
        </p:sp>
        <p:sp>
          <p:nvSpPr>
            <p:cNvPr id="21548" name="Text Box 1031"/>
            <p:cNvSpPr txBox="1">
              <a:spLocks noChangeArrowheads="1"/>
            </p:cNvSpPr>
            <p:nvPr/>
          </p:nvSpPr>
          <p:spPr bwMode="auto">
            <a:xfrm>
              <a:off x="761" y="3397"/>
              <a:ext cx="196" cy="250"/>
            </a:xfrm>
            <a:prstGeom prst="rect">
              <a:avLst/>
            </a:prstGeom>
            <a:grpFill/>
            <a:ln w="12700">
              <a:noFill/>
              <a:miter lim="800000"/>
              <a:headEnd type="none" w="sm" len="sm"/>
              <a:tailEnd type="none" w="sm" len="sm"/>
            </a:ln>
          </p:spPr>
          <p:txBody>
            <a:bodyPr wrap="none">
              <a:spAutoFit/>
            </a:bodyPr>
            <a:lstStyle/>
            <a:p>
              <a:r>
                <a:rPr lang="en-US" dirty="0"/>
                <a:t>5</a:t>
              </a:r>
            </a:p>
          </p:txBody>
        </p:sp>
      </p:grpSp>
      <p:grpSp>
        <p:nvGrpSpPr>
          <p:cNvPr id="21519" name="Group 1032"/>
          <p:cNvGrpSpPr>
            <a:grpSpLocks/>
          </p:cNvGrpSpPr>
          <p:nvPr/>
        </p:nvGrpSpPr>
        <p:grpSpPr bwMode="auto">
          <a:xfrm>
            <a:off x="953766" y="2160290"/>
            <a:ext cx="555625" cy="469900"/>
            <a:chOff x="4288" y="1746"/>
            <a:chExt cx="350" cy="296"/>
          </a:xfrm>
        </p:grpSpPr>
        <p:sp>
          <p:nvSpPr>
            <p:cNvPr id="21545" name="Oval 1033"/>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21546" name="Text Box 1034"/>
            <p:cNvSpPr txBox="1">
              <a:spLocks noChangeArrowheads="1"/>
            </p:cNvSpPr>
            <p:nvPr/>
          </p:nvSpPr>
          <p:spPr bwMode="auto">
            <a:xfrm>
              <a:off x="4364" y="1769"/>
              <a:ext cx="197" cy="233"/>
            </a:xfrm>
            <a:prstGeom prst="rect">
              <a:avLst/>
            </a:prstGeom>
            <a:noFill/>
            <a:ln w="12700">
              <a:noFill/>
              <a:miter lim="800000"/>
              <a:headEnd type="none" w="sm" len="sm"/>
              <a:tailEnd type="none" w="sm" len="sm"/>
            </a:ln>
          </p:spPr>
          <p:txBody>
            <a:bodyPr wrap="none">
              <a:spAutoFit/>
            </a:bodyPr>
            <a:lstStyle/>
            <a:p>
              <a:pPr algn="r"/>
              <a:r>
                <a:rPr lang="en-US">
                  <a:solidFill>
                    <a:srgbClr val="FFFF00"/>
                  </a:solidFill>
                </a:rPr>
                <a:t>0</a:t>
              </a:r>
            </a:p>
          </p:txBody>
        </p:sp>
      </p:grpSp>
      <p:grpSp>
        <p:nvGrpSpPr>
          <p:cNvPr id="21520" name="Group 1035"/>
          <p:cNvGrpSpPr>
            <a:grpSpLocks/>
          </p:cNvGrpSpPr>
          <p:nvPr/>
        </p:nvGrpSpPr>
        <p:grpSpPr bwMode="auto">
          <a:xfrm>
            <a:off x="953766" y="3533478"/>
            <a:ext cx="555625" cy="469900"/>
            <a:chOff x="4738" y="2684"/>
            <a:chExt cx="350" cy="296"/>
          </a:xfrm>
        </p:grpSpPr>
        <p:sp>
          <p:nvSpPr>
            <p:cNvPr id="21543" name="Oval 1036"/>
            <p:cNvSpPr>
              <a:spLocks noChangeArrowheads="1"/>
            </p:cNvSpPr>
            <p:nvPr/>
          </p:nvSpPr>
          <p:spPr bwMode="auto">
            <a:xfrm>
              <a:off x="47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21544" name="Text Box 1037"/>
            <p:cNvSpPr txBox="1">
              <a:spLocks noChangeArrowheads="1"/>
            </p:cNvSpPr>
            <p:nvPr/>
          </p:nvSpPr>
          <p:spPr bwMode="auto">
            <a:xfrm>
              <a:off x="4815" y="2707"/>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2</a:t>
              </a:r>
            </a:p>
          </p:txBody>
        </p:sp>
      </p:grpSp>
      <p:grpSp>
        <p:nvGrpSpPr>
          <p:cNvPr id="21521" name="Group 1038"/>
          <p:cNvGrpSpPr>
            <a:grpSpLocks/>
          </p:cNvGrpSpPr>
          <p:nvPr/>
        </p:nvGrpSpPr>
        <p:grpSpPr bwMode="auto">
          <a:xfrm>
            <a:off x="323528" y="2822278"/>
            <a:ext cx="555625" cy="469900"/>
            <a:chOff x="3838" y="2684"/>
            <a:chExt cx="350" cy="296"/>
          </a:xfrm>
        </p:grpSpPr>
        <p:sp>
          <p:nvSpPr>
            <p:cNvPr id="21541" name="Oval 1039"/>
            <p:cNvSpPr>
              <a:spLocks noChangeArrowheads="1"/>
            </p:cNvSpPr>
            <p:nvPr/>
          </p:nvSpPr>
          <p:spPr bwMode="auto">
            <a:xfrm>
              <a:off x="38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21542" name="Text Box 1040"/>
            <p:cNvSpPr txBox="1">
              <a:spLocks noChangeArrowheads="1"/>
            </p:cNvSpPr>
            <p:nvPr/>
          </p:nvSpPr>
          <p:spPr bwMode="auto">
            <a:xfrm>
              <a:off x="3915" y="2707"/>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1</a:t>
              </a:r>
            </a:p>
          </p:txBody>
        </p:sp>
      </p:grpSp>
      <p:sp>
        <p:nvSpPr>
          <p:cNvPr id="21522" name="Line 1041"/>
          <p:cNvSpPr>
            <a:spLocks noChangeShapeType="1"/>
          </p:cNvSpPr>
          <p:nvPr/>
        </p:nvSpPr>
        <p:spPr bwMode="auto">
          <a:xfrm flipH="1">
            <a:off x="775966" y="3982740"/>
            <a:ext cx="336550" cy="303213"/>
          </a:xfrm>
          <a:prstGeom prst="line">
            <a:avLst/>
          </a:prstGeom>
          <a:noFill/>
          <a:ln w="19050">
            <a:solidFill>
              <a:schemeClr val="tx1"/>
            </a:solidFill>
            <a:round/>
            <a:headEnd type="none" w="sm" len="sm"/>
            <a:tailEnd type="arrow" w="med" len="med"/>
          </a:ln>
        </p:spPr>
        <p:txBody>
          <a:bodyPr/>
          <a:lstStyle/>
          <a:p>
            <a:endParaRPr lang="en-US"/>
          </a:p>
        </p:txBody>
      </p:sp>
      <p:sp>
        <p:nvSpPr>
          <p:cNvPr id="21523" name="Line 1042"/>
          <p:cNvSpPr>
            <a:spLocks noChangeShapeType="1"/>
          </p:cNvSpPr>
          <p:nvPr/>
        </p:nvSpPr>
        <p:spPr bwMode="auto">
          <a:xfrm flipH="1">
            <a:off x="1231578" y="1988840"/>
            <a:ext cx="1588" cy="157163"/>
          </a:xfrm>
          <a:prstGeom prst="line">
            <a:avLst/>
          </a:prstGeom>
          <a:noFill/>
          <a:ln w="19050">
            <a:solidFill>
              <a:schemeClr val="tx1"/>
            </a:solidFill>
            <a:round/>
            <a:headEnd type="none" w="sm" len="sm"/>
            <a:tailEnd type="arrow" w="med" len="med"/>
          </a:ln>
        </p:spPr>
        <p:txBody>
          <a:bodyPr/>
          <a:lstStyle/>
          <a:p>
            <a:endParaRPr lang="en-US"/>
          </a:p>
        </p:txBody>
      </p:sp>
      <p:grpSp>
        <p:nvGrpSpPr>
          <p:cNvPr id="21524" name="Group 1043"/>
          <p:cNvGrpSpPr>
            <a:grpSpLocks/>
          </p:cNvGrpSpPr>
          <p:nvPr/>
        </p:nvGrpSpPr>
        <p:grpSpPr bwMode="auto">
          <a:xfrm>
            <a:off x="323528" y="4244678"/>
            <a:ext cx="555625" cy="469900"/>
            <a:chOff x="4288" y="1746"/>
            <a:chExt cx="350" cy="296"/>
          </a:xfrm>
        </p:grpSpPr>
        <p:sp>
          <p:nvSpPr>
            <p:cNvPr id="21539" name="Oval 1044"/>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21540" name="Text Box 1045"/>
            <p:cNvSpPr txBox="1">
              <a:spLocks noChangeArrowheads="1"/>
            </p:cNvSpPr>
            <p:nvPr/>
          </p:nvSpPr>
          <p:spPr bwMode="auto">
            <a:xfrm>
              <a:off x="4364" y="1769"/>
              <a:ext cx="197" cy="233"/>
            </a:xfrm>
            <a:prstGeom prst="rect">
              <a:avLst/>
            </a:prstGeom>
            <a:noFill/>
            <a:ln w="12700">
              <a:noFill/>
              <a:miter lim="800000"/>
              <a:headEnd type="none" w="sm" len="sm"/>
              <a:tailEnd type="none" w="sm" len="sm"/>
            </a:ln>
          </p:spPr>
          <p:txBody>
            <a:bodyPr wrap="none">
              <a:spAutoFit/>
            </a:bodyPr>
            <a:lstStyle/>
            <a:p>
              <a:pPr algn="r"/>
              <a:r>
                <a:rPr lang="en-US">
                  <a:solidFill>
                    <a:srgbClr val="FFFF00"/>
                  </a:solidFill>
                </a:rPr>
                <a:t>3</a:t>
              </a:r>
            </a:p>
          </p:txBody>
        </p:sp>
      </p:grpSp>
      <p:grpSp>
        <p:nvGrpSpPr>
          <p:cNvPr id="21525" name="Group 1046"/>
          <p:cNvGrpSpPr>
            <a:grpSpLocks/>
          </p:cNvGrpSpPr>
          <p:nvPr/>
        </p:nvGrpSpPr>
        <p:grpSpPr bwMode="auto">
          <a:xfrm>
            <a:off x="1539553" y="4244678"/>
            <a:ext cx="555625" cy="469900"/>
            <a:chOff x="3838" y="2684"/>
            <a:chExt cx="350" cy="296"/>
          </a:xfrm>
          <a:solidFill>
            <a:schemeClr val="accent5">
              <a:lumMod val="40000"/>
              <a:lumOff val="60000"/>
            </a:schemeClr>
          </a:solidFill>
        </p:grpSpPr>
        <p:sp>
          <p:nvSpPr>
            <p:cNvPr id="21537" name="Oval 1047"/>
            <p:cNvSpPr>
              <a:spLocks noChangeArrowheads="1"/>
            </p:cNvSpPr>
            <p:nvPr/>
          </p:nvSpPr>
          <p:spPr bwMode="auto">
            <a:xfrm>
              <a:off x="3838" y="2684"/>
              <a:ext cx="350" cy="296"/>
            </a:xfrm>
            <a:prstGeom prst="ellipse">
              <a:avLst/>
            </a:prstGeom>
            <a:grpFill/>
            <a:ln w="19050">
              <a:solidFill>
                <a:schemeClr val="tx1"/>
              </a:solidFill>
              <a:round/>
              <a:headEnd type="none" w="sm" len="sm"/>
              <a:tailEnd type="none" w="sm" len="sm"/>
            </a:ln>
          </p:spPr>
          <p:txBody>
            <a:bodyPr wrap="none" anchor="ctr"/>
            <a:lstStyle/>
            <a:p>
              <a:endParaRPr lang="nl-NL"/>
            </a:p>
          </p:txBody>
        </p:sp>
        <p:sp>
          <p:nvSpPr>
            <p:cNvPr id="21538" name="Text Box 1048"/>
            <p:cNvSpPr txBox="1">
              <a:spLocks noChangeArrowheads="1"/>
            </p:cNvSpPr>
            <p:nvPr/>
          </p:nvSpPr>
          <p:spPr bwMode="auto">
            <a:xfrm>
              <a:off x="3915" y="2707"/>
              <a:ext cx="196" cy="250"/>
            </a:xfrm>
            <a:prstGeom prst="rect">
              <a:avLst/>
            </a:prstGeom>
            <a:grpFill/>
            <a:ln w="12700">
              <a:noFill/>
              <a:miter lim="800000"/>
              <a:headEnd type="none" w="sm" len="sm"/>
              <a:tailEnd type="none" w="sm" len="sm"/>
            </a:ln>
          </p:spPr>
          <p:txBody>
            <a:bodyPr wrap="none">
              <a:spAutoFit/>
            </a:bodyPr>
            <a:lstStyle/>
            <a:p>
              <a:r>
                <a:rPr lang="en-US"/>
                <a:t>4</a:t>
              </a:r>
            </a:p>
          </p:txBody>
        </p:sp>
      </p:grpSp>
      <p:sp>
        <p:nvSpPr>
          <p:cNvPr id="21526" name="Line 1049"/>
          <p:cNvSpPr>
            <a:spLocks noChangeShapeType="1"/>
          </p:cNvSpPr>
          <p:nvPr/>
        </p:nvSpPr>
        <p:spPr bwMode="auto">
          <a:xfrm>
            <a:off x="1358578" y="3985915"/>
            <a:ext cx="285750" cy="288925"/>
          </a:xfrm>
          <a:prstGeom prst="line">
            <a:avLst/>
          </a:prstGeom>
          <a:noFill/>
          <a:ln w="19050">
            <a:solidFill>
              <a:schemeClr val="tx1"/>
            </a:solidFill>
            <a:round/>
            <a:headEnd type="none" w="sm" len="sm"/>
            <a:tailEnd type="arrow" w="med" len="med"/>
          </a:ln>
        </p:spPr>
        <p:txBody>
          <a:bodyPr/>
          <a:lstStyle/>
          <a:p>
            <a:endParaRPr lang="en-US"/>
          </a:p>
        </p:txBody>
      </p:sp>
      <p:sp>
        <p:nvSpPr>
          <p:cNvPr id="21527" name="Line 1050"/>
          <p:cNvSpPr>
            <a:spLocks noChangeShapeType="1"/>
          </p:cNvSpPr>
          <p:nvPr/>
        </p:nvSpPr>
        <p:spPr bwMode="auto">
          <a:xfrm flipH="1">
            <a:off x="1347466" y="4684415"/>
            <a:ext cx="309563" cy="490538"/>
          </a:xfrm>
          <a:prstGeom prst="line">
            <a:avLst/>
          </a:prstGeom>
          <a:noFill/>
          <a:ln w="19050">
            <a:solidFill>
              <a:schemeClr val="tx1"/>
            </a:solidFill>
            <a:round/>
            <a:headEnd type="none" w="sm" len="sm"/>
            <a:tailEnd type="arrow" w="med" len="med"/>
          </a:ln>
        </p:spPr>
        <p:txBody>
          <a:bodyPr/>
          <a:lstStyle/>
          <a:p>
            <a:endParaRPr lang="en-US"/>
          </a:p>
        </p:txBody>
      </p:sp>
      <p:sp>
        <p:nvSpPr>
          <p:cNvPr id="21529" name="Line 1052"/>
          <p:cNvSpPr>
            <a:spLocks noChangeShapeType="1"/>
          </p:cNvSpPr>
          <p:nvPr/>
        </p:nvSpPr>
        <p:spPr bwMode="auto">
          <a:xfrm flipH="1">
            <a:off x="825178" y="2598440"/>
            <a:ext cx="263525" cy="293688"/>
          </a:xfrm>
          <a:prstGeom prst="line">
            <a:avLst/>
          </a:prstGeom>
          <a:noFill/>
          <a:ln w="19050">
            <a:solidFill>
              <a:schemeClr val="tx1"/>
            </a:solidFill>
            <a:round/>
            <a:headEnd type="none" w="sm" len="sm"/>
            <a:tailEnd type="arrow" w="med" len="med"/>
          </a:ln>
        </p:spPr>
        <p:txBody>
          <a:bodyPr/>
          <a:lstStyle/>
          <a:p>
            <a:endParaRPr lang="en-US"/>
          </a:p>
        </p:txBody>
      </p:sp>
      <p:sp>
        <p:nvSpPr>
          <p:cNvPr id="21530" name="Line 1053"/>
          <p:cNvSpPr>
            <a:spLocks noChangeShapeType="1"/>
          </p:cNvSpPr>
          <p:nvPr/>
        </p:nvSpPr>
        <p:spPr bwMode="auto">
          <a:xfrm>
            <a:off x="785491" y="4679653"/>
            <a:ext cx="309563" cy="485775"/>
          </a:xfrm>
          <a:prstGeom prst="line">
            <a:avLst/>
          </a:prstGeom>
          <a:noFill/>
          <a:ln w="19050">
            <a:solidFill>
              <a:schemeClr val="tx1"/>
            </a:solidFill>
            <a:round/>
            <a:headEnd type="none" w="sm" len="sm"/>
            <a:tailEnd type="arrow" w="med" len="med"/>
          </a:ln>
        </p:spPr>
        <p:txBody>
          <a:bodyPr/>
          <a:lstStyle/>
          <a:p>
            <a:endParaRPr lang="en-US"/>
          </a:p>
        </p:txBody>
      </p:sp>
      <p:sp>
        <p:nvSpPr>
          <p:cNvPr id="21531" name="Line 1054"/>
          <p:cNvSpPr>
            <a:spLocks noChangeShapeType="1"/>
          </p:cNvSpPr>
          <p:nvPr/>
        </p:nvSpPr>
        <p:spPr bwMode="auto">
          <a:xfrm flipH="1">
            <a:off x="1228403" y="2638128"/>
            <a:ext cx="4763" cy="858838"/>
          </a:xfrm>
          <a:prstGeom prst="line">
            <a:avLst/>
          </a:prstGeom>
          <a:noFill/>
          <a:ln w="19050">
            <a:solidFill>
              <a:schemeClr val="tx1"/>
            </a:solidFill>
            <a:round/>
            <a:headEnd type="none" w="sm" len="sm"/>
            <a:tailEnd type="arrow" w="med" len="med"/>
          </a:ln>
        </p:spPr>
        <p:txBody>
          <a:bodyPr/>
          <a:lstStyle/>
          <a:p>
            <a:endParaRPr lang="en-US"/>
          </a:p>
        </p:txBody>
      </p:sp>
      <p:sp>
        <p:nvSpPr>
          <p:cNvPr id="21532" name="Line 1055"/>
          <p:cNvSpPr>
            <a:spLocks noChangeShapeType="1"/>
          </p:cNvSpPr>
          <p:nvPr/>
        </p:nvSpPr>
        <p:spPr bwMode="auto">
          <a:xfrm>
            <a:off x="1826891" y="4719340"/>
            <a:ext cx="160338" cy="231775"/>
          </a:xfrm>
          <a:prstGeom prst="line">
            <a:avLst/>
          </a:prstGeom>
          <a:noFill/>
          <a:ln w="19050">
            <a:solidFill>
              <a:schemeClr val="tx1"/>
            </a:solidFill>
            <a:round/>
            <a:headEnd type="none" w="sm" len="sm"/>
            <a:tailEnd type="arrow" w="med" len="med"/>
          </a:ln>
        </p:spPr>
        <p:txBody>
          <a:bodyPr/>
          <a:lstStyle/>
          <a:p>
            <a:endParaRPr lang="en-US"/>
          </a:p>
        </p:txBody>
      </p:sp>
      <p:grpSp>
        <p:nvGrpSpPr>
          <p:cNvPr id="21533" name="Group 1056"/>
          <p:cNvGrpSpPr>
            <a:grpSpLocks/>
          </p:cNvGrpSpPr>
          <p:nvPr/>
        </p:nvGrpSpPr>
        <p:grpSpPr bwMode="auto">
          <a:xfrm>
            <a:off x="950591" y="5154315"/>
            <a:ext cx="555625" cy="469900"/>
            <a:chOff x="4288" y="3622"/>
            <a:chExt cx="350" cy="296"/>
          </a:xfrm>
        </p:grpSpPr>
        <p:sp>
          <p:nvSpPr>
            <p:cNvPr id="21535" name="Oval 1057"/>
            <p:cNvSpPr>
              <a:spLocks noChangeArrowheads="1"/>
            </p:cNvSpPr>
            <p:nvPr/>
          </p:nvSpPr>
          <p:spPr bwMode="auto">
            <a:xfrm>
              <a:off x="4288" y="3622"/>
              <a:ext cx="350" cy="296"/>
            </a:xfrm>
            <a:prstGeom prst="ellipse">
              <a:avLst/>
            </a:prstGeom>
            <a:solidFill>
              <a:srgbClr val="0066FF"/>
            </a:solidFill>
            <a:ln w="38100">
              <a:solidFill>
                <a:schemeClr val="tx1"/>
              </a:solidFill>
              <a:round/>
              <a:headEnd type="none" w="sm" len="sm"/>
              <a:tailEnd type="none" w="sm" len="sm"/>
            </a:ln>
          </p:spPr>
          <p:txBody>
            <a:bodyPr wrap="none" anchor="ctr"/>
            <a:lstStyle/>
            <a:p>
              <a:endParaRPr lang="nl-NL">
                <a:solidFill>
                  <a:srgbClr val="FFFF00"/>
                </a:solidFill>
              </a:endParaRPr>
            </a:p>
          </p:txBody>
        </p:sp>
        <p:sp>
          <p:nvSpPr>
            <p:cNvPr id="21536" name="Text Box 1058"/>
            <p:cNvSpPr txBox="1">
              <a:spLocks noChangeArrowheads="1"/>
            </p:cNvSpPr>
            <p:nvPr/>
          </p:nvSpPr>
          <p:spPr bwMode="auto">
            <a:xfrm>
              <a:off x="4365" y="3645"/>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6</a:t>
              </a:r>
            </a:p>
          </p:txBody>
        </p:sp>
      </p:grpSp>
      <p:sp>
        <p:nvSpPr>
          <p:cNvPr id="21534" name="Line 1059"/>
          <p:cNvSpPr>
            <a:spLocks noChangeShapeType="1"/>
          </p:cNvSpPr>
          <p:nvPr/>
        </p:nvSpPr>
        <p:spPr bwMode="auto">
          <a:xfrm flipV="1">
            <a:off x="2355528" y="4744740"/>
            <a:ext cx="150812" cy="206374"/>
          </a:xfrm>
          <a:prstGeom prst="line">
            <a:avLst/>
          </a:prstGeom>
          <a:noFill/>
          <a:ln w="19050">
            <a:solidFill>
              <a:schemeClr val="tx1"/>
            </a:solidFill>
            <a:round/>
            <a:headEnd type="none" w="sm" len="sm"/>
            <a:tailEnd type="arrow" w="med" len="med"/>
          </a:ln>
        </p:spPr>
        <p:txBody>
          <a:bodyPr/>
          <a:lstStyle/>
          <a:p>
            <a:endParaRPr lang="en-US" dirty="0"/>
          </a:p>
        </p:txBody>
      </p:sp>
      <p:cxnSp>
        <p:nvCxnSpPr>
          <p:cNvPr id="5" name="Curved Connector 4">
            <a:extLst>
              <a:ext uri="{FF2B5EF4-FFF2-40B4-BE49-F238E27FC236}">
                <a16:creationId xmlns:a16="http://schemas.microsoft.com/office/drawing/2014/main" id="{853CCC6B-5311-E945-425B-818CCB0E7DDB}"/>
              </a:ext>
            </a:extLst>
          </p:cNvPr>
          <p:cNvCxnSpPr>
            <a:cxnSpLocks/>
            <a:stCxn id="21541" idx="1"/>
            <a:endCxn id="21545" idx="1"/>
          </p:cNvCxnSpPr>
          <p:nvPr/>
        </p:nvCxnSpPr>
        <p:spPr>
          <a:xfrm rot="5400000" flipH="1" flipV="1">
            <a:off x="389022" y="2244980"/>
            <a:ext cx="661988" cy="630238"/>
          </a:xfrm>
          <a:prstGeom prst="curvedConnector3">
            <a:avLst>
              <a:gd name="adj1" fmla="val 121152"/>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sp>
        <p:nvSpPr>
          <p:cNvPr id="7" name="Oval 1030">
            <a:extLst>
              <a:ext uri="{FF2B5EF4-FFF2-40B4-BE49-F238E27FC236}">
                <a16:creationId xmlns:a16="http://schemas.microsoft.com/office/drawing/2014/main" id="{F53BC96D-4A3B-C546-1B3D-9293D842FD9E}"/>
              </a:ext>
            </a:extLst>
          </p:cNvPr>
          <p:cNvSpPr>
            <a:spLocks noChangeArrowheads="1"/>
          </p:cNvSpPr>
          <p:nvPr/>
        </p:nvSpPr>
        <p:spPr bwMode="auto">
          <a:xfrm>
            <a:off x="2370962" y="4274840"/>
            <a:ext cx="555625" cy="469900"/>
          </a:xfrm>
          <a:prstGeom prst="ellipse">
            <a:avLst/>
          </a:prstGeom>
          <a:solidFill>
            <a:srgbClr val="FFC000"/>
          </a:solidFill>
          <a:ln w="19050">
            <a:solidFill>
              <a:schemeClr val="tx1"/>
            </a:solidFill>
            <a:round/>
            <a:headEnd type="none" w="sm" len="sm"/>
            <a:tailEnd type="none" w="sm" len="sm"/>
          </a:ln>
        </p:spPr>
        <p:txBody>
          <a:bodyPr wrap="none" anchor="ctr"/>
          <a:lstStyle/>
          <a:p>
            <a:endParaRPr lang="nl-NL" dirty="0"/>
          </a:p>
        </p:txBody>
      </p:sp>
      <p:sp>
        <p:nvSpPr>
          <p:cNvPr id="8" name="Line 1059">
            <a:extLst>
              <a:ext uri="{FF2B5EF4-FFF2-40B4-BE49-F238E27FC236}">
                <a16:creationId xmlns:a16="http://schemas.microsoft.com/office/drawing/2014/main" id="{676130F1-0ED0-0364-4293-E9E61C6DAD86}"/>
              </a:ext>
            </a:extLst>
          </p:cNvPr>
          <p:cNvSpPr>
            <a:spLocks noChangeShapeType="1"/>
          </p:cNvSpPr>
          <p:nvPr/>
        </p:nvSpPr>
        <p:spPr bwMode="auto">
          <a:xfrm flipH="1" flipV="1">
            <a:off x="2095177" y="4509120"/>
            <a:ext cx="275783" cy="0"/>
          </a:xfrm>
          <a:prstGeom prst="line">
            <a:avLst/>
          </a:prstGeom>
          <a:noFill/>
          <a:ln w="19050">
            <a:solidFill>
              <a:schemeClr val="tx1"/>
            </a:solidFill>
            <a:round/>
            <a:headEnd type="none" w="sm" len="sm"/>
            <a:tailEnd type="arrow" w="med" len="med"/>
          </a:ln>
        </p:spPr>
        <p:txBody>
          <a:bodyPr/>
          <a:lstStyle/>
          <a:p>
            <a:endParaRPr lang="en-US" dirty="0"/>
          </a:p>
        </p:txBody>
      </p:sp>
      <p:sp>
        <p:nvSpPr>
          <p:cNvPr id="9" name="TextBox 8">
            <a:extLst>
              <a:ext uri="{FF2B5EF4-FFF2-40B4-BE49-F238E27FC236}">
                <a16:creationId xmlns:a16="http://schemas.microsoft.com/office/drawing/2014/main" id="{27F9ED69-61AC-4F1F-BC26-917E27B8A57D}"/>
              </a:ext>
            </a:extLst>
          </p:cNvPr>
          <p:cNvSpPr txBox="1"/>
          <p:nvPr/>
        </p:nvSpPr>
        <p:spPr>
          <a:xfrm>
            <a:off x="1701478" y="3854160"/>
            <a:ext cx="1169218" cy="415498"/>
          </a:xfrm>
          <a:prstGeom prst="rect">
            <a:avLst/>
          </a:prstGeom>
          <a:noFill/>
        </p:spPr>
        <p:txBody>
          <a:bodyPr wrap="square" rtlCol="0">
            <a:spAutoFit/>
          </a:bodyPr>
          <a:lstStyle/>
          <a:p>
            <a:r>
              <a:rPr lang="en-GB" sz="1050" dirty="0"/>
              <a:t>loop-enter + loop-exit</a:t>
            </a:r>
            <a:endParaRPr lang="en-NL" sz="1050" dirty="0"/>
          </a:p>
        </p:txBody>
      </p:sp>
    </p:spTree>
    <p:extLst>
      <p:ext uri="{BB962C8B-B14F-4D97-AF65-F5344CB8AC3E}">
        <p14:creationId xmlns:p14="http://schemas.microsoft.com/office/powerpoint/2010/main" val="21016896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sz="2800" dirty="0"/>
              <a:t>AO’s PPs Algorithm</a:t>
            </a:r>
            <a:br>
              <a:rPr lang="en-US" sz="2400" dirty="0"/>
            </a:br>
            <a:r>
              <a:rPr lang="en-US" sz="2000" dirty="0"/>
              <a:t>(to get the set of prime paths)</a:t>
            </a:r>
            <a:endParaRPr lang="en-US" dirty="0"/>
          </a:p>
        </p:txBody>
      </p:sp>
      <p:sp>
        <p:nvSpPr>
          <p:cNvPr id="20483" name="Content Placeholder 2"/>
          <p:cNvSpPr>
            <a:spLocks noGrp="1"/>
          </p:cNvSpPr>
          <p:nvPr>
            <p:ph idx="1"/>
          </p:nvPr>
        </p:nvSpPr>
        <p:spPr>
          <a:xfrm>
            <a:off x="457200" y="1600200"/>
            <a:ext cx="8401050" cy="4525963"/>
          </a:xfrm>
        </p:spPr>
        <p:txBody>
          <a:bodyPr/>
          <a:lstStyle/>
          <a:p>
            <a:pPr marL="971550" lvl="1" indent="-514350">
              <a:buFont typeface="Calibri" pitchFamily="34" charset="0"/>
              <a:buAutoNum type="arabicPeriod"/>
            </a:pPr>
            <a:r>
              <a:rPr lang="en-US" sz="2400" dirty="0"/>
              <a:t>We start with S = set of singleton paths</a:t>
            </a:r>
          </a:p>
          <a:p>
            <a:pPr marL="971550" lvl="1" indent="-514350">
              <a:buFont typeface="Calibri" pitchFamily="34" charset="0"/>
              <a:buAutoNum type="arabicPeriod"/>
            </a:pPr>
            <a:r>
              <a:rPr lang="en-US" sz="2400" dirty="0"/>
              <a:t>T  := subset of S that is right-maximal</a:t>
            </a:r>
            <a:br>
              <a:rPr lang="en-US" sz="2400" dirty="0"/>
            </a:br>
            <a:r>
              <a:rPr lang="en-US" sz="2400" dirty="0"/>
              <a:t>S := S/T</a:t>
            </a:r>
          </a:p>
          <a:p>
            <a:pPr marL="971550" lvl="1" indent="-514350">
              <a:buFont typeface="Calibri" pitchFamily="34" charset="0"/>
              <a:buAutoNum type="arabicPeriod"/>
            </a:pPr>
            <a:r>
              <a:rPr lang="en-US" sz="2400" dirty="0"/>
              <a:t>while S is not empty:</a:t>
            </a:r>
          </a:p>
          <a:p>
            <a:pPr marL="1371600" lvl="2" indent="-514350">
              <a:buFont typeface="Calibri" pitchFamily="34" charset="0"/>
              <a:buAutoNum type="arabicPeriod"/>
            </a:pPr>
            <a:r>
              <a:rPr lang="en-US" dirty="0"/>
              <a:t>extend paths in S on the right-side</a:t>
            </a:r>
          </a:p>
          <a:p>
            <a:pPr marL="1371600" lvl="2" indent="-514350">
              <a:buFont typeface="Calibri" pitchFamily="34" charset="0"/>
              <a:buAutoNum type="arabicPeriod"/>
            </a:pPr>
            <a:r>
              <a:rPr lang="en-US" dirty="0"/>
              <a:t>move those that become right-maximal (cannot be extended to the right and still remain simple paths) to T</a:t>
            </a:r>
          </a:p>
          <a:p>
            <a:pPr marL="1371600" lvl="2" indent="-514350">
              <a:buFont typeface="Calibri" pitchFamily="34" charset="0"/>
              <a:buAutoNum type="arabicPeriod"/>
            </a:pPr>
            <a:r>
              <a:rPr lang="en-US" dirty="0"/>
              <a:t>Remove members of </a:t>
            </a:r>
            <a:r>
              <a:rPr lang="en-US" i="1" dirty="0"/>
              <a:t>T</a:t>
            </a:r>
            <a:r>
              <a:rPr lang="en-US" dirty="0"/>
              <a:t> which are </a:t>
            </a:r>
            <a:r>
              <a:rPr lang="en-US" dirty="0" err="1"/>
              <a:t>subpaths</a:t>
            </a:r>
            <a:r>
              <a:rPr lang="en-US" dirty="0"/>
              <a:t> of other members of </a:t>
            </a:r>
            <a:r>
              <a:rPr lang="en-US" i="1" dirty="0"/>
              <a:t>T</a:t>
            </a:r>
            <a:r>
              <a:rPr lang="en-US" dirty="0"/>
              <a:t>.</a:t>
            </a:r>
          </a:p>
          <a:p>
            <a:pPr marL="971550" lvl="1" indent="-514350">
              <a:buFont typeface="Calibri" pitchFamily="34" charset="0"/>
              <a:buAutoNum type="arabicPeriod"/>
            </a:pPr>
            <a:r>
              <a:rPr lang="en-US" sz="2400" dirty="0"/>
              <a:t>paths in T are prime paths.</a:t>
            </a:r>
          </a:p>
        </p:txBody>
      </p:sp>
      <p:sp>
        <p:nvSpPr>
          <p:cNvPr id="4" name="Slide Number Placeholder 3"/>
          <p:cNvSpPr>
            <a:spLocks noGrp="1"/>
          </p:cNvSpPr>
          <p:nvPr>
            <p:ph type="sldNum" sz="quarter" idx="12"/>
          </p:nvPr>
        </p:nvSpPr>
        <p:spPr/>
        <p:txBody>
          <a:bodyPr/>
          <a:lstStyle/>
          <a:p>
            <a:pPr>
              <a:defRPr/>
            </a:pPr>
            <a:fld id="{A093ABA0-D6E5-4F71-ABF2-1338A040DE55}" type="slidenum">
              <a:rPr lang="en-US" smtClean="0"/>
              <a:pPr>
                <a:defRPr/>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44"/>
          <p:cNvSpPr/>
          <p:nvPr/>
        </p:nvSpPr>
        <p:spPr>
          <a:xfrm>
            <a:off x="6786563" y="3714750"/>
            <a:ext cx="1571625" cy="2214563"/>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3" name="Rectangle 42"/>
          <p:cNvSpPr/>
          <p:nvPr/>
        </p:nvSpPr>
        <p:spPr>
          <a:xfrm>
            <a:off x="5072063" y="3786188"/>
            <a:ext cx="1285875" cy="642937"/>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0" name="Rectangle 39"/>
          <p:cNvSpPr/>
          <p:nvPr/>
        </p:nvSpPr>
        <p:spPr>
          <a:xfrm>
            <a:off x="3571875" y="3987379"/>
            <a:ext cx="1214438" cy="500062"/>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1509" name="Title 1"/>
          <p:cNvSpPr>
            <a:spLocks noGrp="1"/>
          </p:cNvSpPr>
          <p:nvPr>
            <p:ph type="title"/>
          </p:nvPr>
        </p:nvSpPr>
        <p:spPr/>
        <p:txBody>
          <a:bodyPr/>
          <a:lstStyle/>
          <a:p>
            <a:r>
              <a:rPr lang="en-US"/>
              <a:t>Example</a:t>
            </a:r>
          </a:p>
        </p:txBody>
      </p:sp>
      <p:sp>
        <p:nvSpPr>
          <p:cNvPr id="4" name="Slide Number Placeholder 3"/>
          <p:cNvSpPr>
            <a:spLocks noGrp="1"/>
          </p:cNvSpPr>
          <p:nvPr>
            <p:ph type="sldNum" sz="quarter" idx="12"/>
          </p:nvPr>
        </p:nvSpPr>
        <p:spPr/>
        <p:txBody>
          <a:bodyPr/>
          <a:lstStyle/>
          <a:p>
            <a:pPr>
              <a:defRPr/>
            </a:pPr>
            <a:fld id="{5A5DAAC6-5F27-45E2-9B3C-2DD2F01F08AA}" type="slidenum">
              <a:rPr lang="en-US" smtClean="0"/>
              <a:pPr>
                <a:defRPr/>
              </a:pPr>
              <a:t>25</a:t>
            </a:fld>
            <a:endParaRPr lang="en-US" dirty="0"/>
          </a:p>
        </p:txBody>
      </p:sp>
      <p:grpSp>
        <p:nvGrpSpPr>
          <p:cNvPr id="21511" name="Group 1028"/>
          <p:cNvGrpSpPr>
            <a:grpSpLocks/>
          </p:cNvGrpSpPr>
          <p:nvPr/>
        </p:nvGrpSpPr>
        <p:grpSpPr bwMode="auto">
          <a:xfrm>
            <a:off x="395536" y="1484784"/>
            <a:ext cx="2120900" cy="3635375"/>
            <a:chOff x="287" y="1509"/>
            <a:chExt cx="1336" cy="2290"/>
          </a:xfrm>
        </p:grpSpPr>
        <p:grpSp>
          <p:nvGrpSpPr>
            <p:cNvPr id="21518" name="Group 1029"/>
            <p:cNvGrpSpPr>
              <a:grpSpLocks/>
            </p:cNvGrpSpPr>
            <p:nvPr/>
          </p:nvGrpSpPr>
          <p:grpSpPr bwMode="auto">
            <a:xfrm>
              <a:off x="1273" y="3335"/>
              <a:ext cx="350" cy="296"/>
              <a:chOff x="684" y="3374"/>
              <a:chExt cx="350" cy="296"/>
            </a:xfrm>
          </p:grpSpPr>
          <p:sp>
            <p:nvSpPr>
              <p:cNvPr id="21547" name="Oval 1030"/>
              <p:cNvSpPr>
                <a:spLocks noChangeArrowheads="1"/>
              </p:cNvSpPr>
              <p:nvPr/>
            </p:nvSpPr>
            <p:spPr bwMode="auto">
              <a:xfrm>
                <a:off x="684" y="337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21548" name="Text Box 1031"/>
              <p:cNvSpPr txBox="1">
                <a:spLocks noChangeArrowheads="1"/>
              </p:cNvSpPr>
              <p:nvPr/>
            </p:nvSpPr>
            <p:spPr bwMode="auto">
              <a:xfrm>
                <a:off x="761" y="3397"/>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5</a:t>
                </a:r>
              </a:p>
            </p:txBody>
          </p:sp>
        </p:grpSp>
        <p:grpSp>
          <p:nvGrpSpPr>
            <p:cNvPr id="21519" name="Group 1032"/>
            <p:cNvGrpSpPr>
              <a:grpSpLocks/>
            </p:cNvGrpSpPr>
            <p:nvPr/>
          </p:nvGrpSpPr>
          <p:grpSpPr bwMode="auto">
            <a:xfrm>
              <a:off x="684" y="1617"/>
              <a:ext cx="350" cy="296"/>
              <a:chOff x="4288" y="1746"/>
              <a:chExt cx="350" cy="296"/>
            </a:xfrm>
          </p:grpSpPr>
          <p:sp>
            <p:nvSpPr>
              <p:cNvPr id="21545" name="Oval 1033"/>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21546" name="Text Box 1034"/>
              <p:cNvSpPr txBox="1">
                <a:spLocks noChangeArrowheads="1"/>
              </p:cNvSpPr>
              <p:nvPr/>
            </p:nvSpPr>
            <p:spPr bwMode="auto">
              <a:xfrm>
                <a:off x="4364" y="1769"/>
                <a:ext cx="197" cy="233"/>
              </a:xfrm>
              <a:prstGeom prst="rect">
                <a:avLst/>
              </a:prstGeom>
              <a:noFill/>
              <a:ln w="12700">
                <a:noFill/>
                <a:miter lim="800000"/>
                <a:headEnd type="none" w="sm" len="sm"/>
                <a:tailEnd type="none" w="sm" len="sm"/>
              </a:ln>
            </p:spPr>
            <p:txBody>
              <a:bodyPr wrap="none">
                <a:spAutoFit/>
              </a:bodyPr>
              <a:lstStyle/>
              <a:p>
                <a:pPr algn="r"/>
                <a:r>
                  <a:rPr lang="en-US">
                    <a:solidFill>
                      <a:srgbClr val="FFFF00"/>
                    </a:solidFill>
                  </a:rPr>
                  <a:t>0</a:t>
                </a:r>
              </a:p>
            </p:txBody>
          </p:sp>
        </p:grpSp>
        <p:grpSp>
          <p:nvGrpSpPr>
            <p:cNvPr id="21520" name="Group 1035"/>
            <p:cNvGrpSpPr>
              <a:grpSpLocks/>
            </p:cNvGrpSpPr>
            <p:nvPr/>
          </p:nvGrpSpPr>
          <p:grpSpPr bwMode="auto">
            <a:xfrm>
              <a:off x="684" y="2482"/>
              <a:ext cx="350" cy="296"/>
              <a:chOff x="4738" y="2684"/>
              <a:chExt cx="350" cy="296"/>
            </a:xfrm>
          </p:grpSpPr>
          <p:sp>
            <p:nvSpPr>
              <p:cNvPr id="21543" name="Oval 1036"/>
              <p:cNvSpPr>
                <a:spLocks noChangeArrowheads="1"/>
              </p:cNvSpPr>
              <p:nvPr/>
            </p:nvSpPr>
            <p:spPr bwMode="auto">
              <a:xfrm>
                <a:off x="47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21544" name="Text Box 1037"/>
              <p:cNvSpPr txBox="1">
                <a:spLocks noChangeArrowheads="1"/>
              </p:cNvSpPr>
              <p:nvPr/>
            </p:nvSpPr>
            <p:spPr bwMode="auto">
              <a:xfrm>
                <a:off x="4815" y="2707"/>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2</a:t>
                </a:r>
              </a:p>
            </p:txBody>
          </p:sp>
        </p:grpSp>
        <p:grpSp>
          <p:nvGrpSpPr>
            <p:cNvPr id="21521" name="Group 1038"/>
            <p:cNvGrpSpPr>
              <a:grpSpLocks/>
            </p:cNvGrpSpPr>
            <p:nvPr/>
          </p:nvGrpSpPr>
          <p:grpSpPr bwMode="auto">
            <a:xfrm>
              <a:off x="287" y="2034"/>
              <a:ext cx="350" cy="296"/>
              <a:chOff x="3838" y="2684"/>
              <a:chExt cx="350" cy="296"/>
            </a:xfrm>
          </p:grpSpPr>
          <p:sp>
            <p:nvSpPr>
              <p:cNvPr id="21541" name="Oval 1039"/>
              <p:cNvSpPr>
                <a:spLocks noChangeArrowheads="1"/>
              </p:cNvSpPr>
              <p:nvPr/>
            </p:nvSpPr>
            <p:spPr bwMode="auto">
              <a:xfrm>
                <a:off x="38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21542" name="Text Box 1040"/>
              <p:cNvSpPr txBox="1">
                <a:spLocks noChangeArrowheads="1"/>
              </p:cNvSpPr>
              <p:nvPr/>
            </p:nvSpPr>
            <p:spPr bwMode="auto">
              <a:xfrm>
                <a:off x="3915" y="2707"/>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1</a:t>
                </a:r>
              </a:p>
            </p:txBody>
          </p:sp>
        </p:grpSp>
        <p:sp>
          <p:nvSpPr>
            <p:cNvPr id="21522" name="Line 1041"/>
            <p:cNvSpPr>
              <a:spLocks noChangeShapeType="1"/>
            </p:cNvSpPr>
            <p:nvPr/>
          </p:nvSpPr>
          <p:spPr bwMode="auto">
            <a:xfrm flipH="1">
              <a:off x="572" y="2765"/>
              <a:ext cx="212" cy="191"/>
            </a:xfrm>
            <a:prstGeom prst="line">
              <a:avLst/>
            </a:prstGeom>
            <a:noFill/>
            <a:ln w="19050">
              <a:solidFill>
                <a:schemeClr val="tx1"/>
              </a:solidFill>
              <a:round/>
              <a:headEnd type="none" w="sm" len="sm"/>
              <a:tailEnd type="arrow" w="med" len="med"/>
            </a:ln>
          </p:spPr>
          <p:txBody>
            <a:bodyPr/>
            <a:lstStyle/>
            <a:p>
              <a:endParaRPr lang="en-US">
                <a:solidFill>
                  <a:srgbClr val="FFFF00"/>
                </a:solidFill>
              </a:endParaRPr>
            </a:p>
          </p:txBody>
        </p:sp>
        <p:sp>
          <p:nvSpPr>
            <p:cNvPr id="21523" name="Line 1042"/>
            <p:cNvSpPr>
              <a:spLocks noChangeShapeType="1"/>
            </p:cNvSpPr>
            <p:nvPr/>
          </p:nvSpPr>
          <p:spPr bwMode="auto">
            <a:xfrm flipH="1">
              <a:off x="859" y="1509"/>
              <a:ext cx="1" cy="99"/>
            </a:xfrm>
            <a:prstGeom prst="line">
              <a:avLst/>
            </a:prstGeom>
            <a:noFill/>
            <a:ln w="19050">
              <a:solidFill>
                <a:schemeClr val="tx1"/>
              </a:solidFill>
              <a:round/>
              <a:headEnd type="none" w="sm" len="sm"/>
              <a:tailEnd type="arrow" w="med" len="med"/>
            </a:ln>
          </p:spPr>
          <p:txBody>
            <a:bodyPr/>
            <a:lstStyle/>
            <a:p>
              <a:endParaRPr lang="en-US">
                <a:solidFill>
                  <a:srgbClr val="FFFF00"/>
                </a:solidFill>
              </a:endParaRPr>
            </a:p>
          </p:txBody>
        </p:sp>
        <p:grpSp>
          <p:nvGrpSpPr>
            <p:cNvPr id="21524" name="Group 1043"/>
            <p:cNvGrpSpPr>
              <a:grpSpLocks/>
            </p:cNvGrpSpPr>
            <p:nvPr/>
          </p:nvGrpSpPr>
          <p:grpSpPr bwMode="auto">
            <a:xfrm>
              <a:off x="287" y="2930"/>
              <a:ext cx="350" cy="296"/>
              <a:chOff x="4288" y="1746"/>
              <a:chExt cx="350" cy="296"/>
            </a:xfrm>
          </p:grpSpPr>
          <p:sp>
            <p:nvSpPr>
              <p:cNvPr id="21539" name="Oval 1044"/>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21540" name="Text Box 1045"/>
              <p:cNvSpPr txBox="1">
                <a:spLocks noChangeArrowheads="1"/>
              </p:cNvSpPr>
              <p:nvPr/>
            </p:nvSpPr>
            <p:spPr bwMode="auto">
              <a:xfrm>
                <a:off x="4364" y="1769"/>
                <a:ext cx="197" cy="233"/>
              </a:xfrm>
              <a:prstGeom prst="rect">
                <a:avLst/>
              </a:prstGeom>
              <a:noFill/>
              <a:ln w="12700">
                <a:noFill/>
                <a:miter lim="800000"/>
                <a:headEnd type="none" w="sm" len="sm"/>
                <a:tailEnd type="none" w="sm" len="sm"/>
              </a:ln>
            </p:spPr>
            <p:txBody>
              <a:bodyPr wrap="none">
                <a:spAutoFit/>
              </a:bodyPr>
              <a:lstStyle/>
              <a:p>
                <a:pPr algn="r"/>
                <a:r>
                  <a:rPr lang="en-US">
                    <a:solidFill>
                      <a:srgbClr val="FFFF00"/>
                    </a:solidFill>
                  </a:rPr>
                  <a:t>3</a:t>
                </a:r>
              </a:p>
            </p:txBody>
          </p:sp>
        </p:grpSp>
        <p:grpSp>
          <p:nvGrpSpPr>
            <p:cNvPr id="21525" name="Group 1046"/>
            <p:cNvGrpSpPr>
              <a:grpSpLocks/>
            </p:cNvGrpSpPr>
            <p:nvPr/>
          </p:nvGrpSpPr>
          <p:grpSpPr bwMode="auto">
            <a:xfrm>
              <a:off x="1053" y="2930"/>
              <a:ext cx="350" cy="296"/>
              <a:chOff x="3838" y="2684"/>
              <a:chExt cx="350" cy="296"/>
            </a:xfrm>
          </p:grpSpPr>
          <p:sp>
            <p:nvSpPr>
              <p:cNvPr id="21537" name="Oval 1047"/>
              <p:cNvSpPr>
                <a:spLocks noChangeArrowheads="1"/>
              </p:cNvSpPr>
              <p:nvPr/>
            </p:nvSpPr>
            <p:spPr bwMode="auto">
              <a:xfrm>
                <a:off x="38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21538" name="Text Box 1048"/>
              <p:cNvSpPr txBox="1">
                <a:spLocks noChangeArrowheads="1"/>
              </p:cNvSpPr>
              <p:nvPr/>
            </p:nvSpPr>
            <p:spPr bwMode="auto">
              <a:xfrm>
                <a:off x="3915" y="2707"/>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4</a:t>
                </a:r>
              </a:p>
            </p:txBody>
          </p:sp>
        </p:grpSp>
        <p:sp>
          <p:nvSpPr>
            <p:cNvPr id="21526" name="Line 1049"/>
            <p:cNvSpPr>
              <a:spLocks noChangeShapeType="1"/>
            </p:cNvSpPr>
            <p:nvPr/>
          </p:nvSpPr>
          <p:spPr bwMode="auto">
            <a:xfrm>
              <a:off x="939" y="2767"/>
              <a:ext cx="180" cy="182"/>
            </a:xfrm>
            <a:prstGeom prst="line">
              <a:avLst/>
            </a:prstGeom>
            <a:noFill/>
            <a:ln w="19050">
              <a:solidFill>
                <a:schemeClr val="tx1"/>
              </a:solidFill>
              <a:round/>
              <a:headEnd type="none" w="sm" len="sm"/>
              <a:tailEnd type="arrow" w="med" len="med"/>
            </a:ln>
          </p:spPr>
          <p:txBody>
            <a:bodyPr/>
            <a:lstStyle/>
            <a:p>
              <a:endParaRPr lang="en-US">
                <a:solidFill>
                  <a:srgbClr val="FFFF00"/>
                </a:solidFill>
              </a:endParaRPr>
            </a:p>
          </p:txBody>
        </p:sp>
        <p:sp>
          <p:nvSpPr>
            <p:cNvPr id="21527" name="Line 1050"/>
            <p:cNvSpPr>
              <a:spLocks noChangeShapeType="1"/>
            </p:cNvSpPr>
            <p:nvPr/>
          </p:nvSpPr>
          <p:spPr bwMode="auto">
            <a:xfrm flipH="1">
              <a:off x="932" y="3207"/>
              <a:ext cx="195" cy="309"/>
            </a:xfrm>
            <a:prstGeom prst="line">
              <a:avLst/>
            </a:prstGeom>
            <a:noFill/>
            <a:ln w="19050">
              <a:solidFill>
                <a:schemeClr val="tx1"/>
              </a:solidFill>
              <a:round/>
              <a:headEnd type="none" w="sm" len="sm"/>
              <a:tailEnd type="arrow" w="med" len="med"/>
            </a:ln>
          </p:spPr>
          <p:txBody>
            <a:bodyPr/>
            <a:lstStyle/>
            <a:p>
              <a:endParaRPr lang="en-US">
                <a:solidFill>
                  <a:srgbClr val="FFFF00"/>
                </a:solidFill>
              </a:endParaRPr>
            </a:p>
          </p:txBody>
        </p:sp>
        <p:sp>
          <p:nvSpPr>
            <p:cNvPr id="21528" name="Line 1051"/>
            <p:cNvSpPr>
              <a:spLocks noChangeShapeType="1"/>
            </p:cNvSpPr>
            <p:nvPr/>
          </p:nvSpPr>
          <p:spPr bwMode="auto">
            <a:xfrm>
              <a:off x="572" y="2308"/>
              <a:ext cx="194" cy="179"/>
            </a:xfrm>
            <a:prstGeom prst="line">
              <a:avLst/>
            </a:prstGeom>
            <a:noFill/>
            <a:ln w="19050">
              <a:solidFill>
                <a:schemeClr val="tx1"/>
              </a:solidFill>
              <a:round/>
              <a:headEnd type="none" w="sm" len="sm"/>
              <a:tailEnd type="arrow" w="med" len="med"/>
            </a:ln>
          </p:spPr>
          <p:txBody>
            <a:bodyPr/>
            <a:lstStyle/>
            <a:p>
              <a:endParaRPr lang="en-US">
                <a:solidFill>
                  <a:srgbClr val="FFFF00"/>
                </a:solidFill>
              </a:endParaRPr>
            </a:p>
          </p:txBody>
        </p:sp>
        <p:sp>
          <p:nvSpPr>
            <p:cNvPr id="21529" name="Line 1052"/>
            <p:cNvSpPr>
              <a:spLocks noChangeShapeType="1"/>
            </p:cNvSpPr>
            <p:nvPr/>
          </p:nvSpPr>
          <p:spPr bwMode="auto">
            <a:xfrm flipH="1">
              <a:off x="603" y="1893"/>
              <a:ext cx="166" cy="185"/>
            </a:xfrm>
            <a:prstGeom prst="line">
              <a:avLst/>
            </a:prstGeom>
            <a:noFill/>
            <a:ln w="19050">
              <a:solidFill>
                <a:schemeClr val="tx1"/>
              </a:solidFill>
              <a:round/>
              <a:headEnd type="none" w="sm" len="sm"/>
              <a:tailEnd type="arrow" w="med" len="med"/>
            </a:ln>
          </p:spPr>
          <p:txBody>
            <a:bodyPr/>
            <a:lstStyle/>
            <a:p>
              <a:endParaRPr lang="en-US">
                <a:solidFill>
                  <a:srgbClr val="FFFF00"/>
                </a:solidFill>
              </a:endParaRPr>
            </a:p>
          </p:txBody>
        </p:sp>
        <p:sp>
          <p:nvSpPr>
            <p:cNvPr id="21530" name="Line 1053"/>
            <p:cNvSpPr>
              <a:spLocks noChangeShapeType="1"/>
            </p:cNvSpPr>
            <p:nvPr/>
          </p:nvSpPr>
          <p:spPr bwMode="auto">
            <a:xfrm>
              <a:off x="578" y="3204"/>
              <a:ext cx="195" cy="306"/>
            </a:xfrm>
            <a:prstGeom prst="line">
              <a:avLst/>
            </a:prstGeom>
            <a:noFill/>
            <a:ln w="19050">
              <a:solidFill>
                <a:schemeClr val="tx1"/>
              </a:solidFill>
              <a:round/>
              <a:headEnd type="none" w="sm" len="sm"/>
              <a:tailEnd type="arrow" w="med" len="med"/>
            </a:ln>
          </p:spPr>
          <p:txBody>
            <a:bodyPr/>
            <a:lstStyle/>
            <a:p>
              <a:endParaRPr lang="en-US">
                <a:solidFill>
                  <a:srgbClr val="FFFF00"/>
                </a:solidFill>
              </a:endParaRPr>
            </a:p>
          </p:txBody>
        </p:sp>
        <p:sp>
          <p:nvSpPr>
            <p:cNvPr id="21531" name="Line 1054"/>
            <p:cNvSpPr>
              <a:spLocks noChangeShapeType="1"/>
            </p:cNvSpPr>
            <p:nvPr/>
          </p:nvSpPr>
          <p:spPr bwMode="auto">
            <a:xfrm flipH="1">
              <a:off x="857" y="1918"/>
              <a:ext cx="3" cy="541"/>
            </a:xfrm>
            <a:prstGeom prst="line">
              <a:avLst/>
            </a:prstGeom>
            <a:noFill/>
            <a:ln w="19050">
              <a:solidFill>
                <a:schemeClr val="tx1"/>
              </a:solidFill>
              <a:round/>
              <a:headEnd type="none" w="sm" len="sm"/>
              <a:tailEnd type="arrow" w="med" len="med"/>
            </a:ln>
          </p:spPr>
          <p:txBody>
            <a:bodyPr/>
            <a:lstStyle/>
            <a:p>
              <a:endParaRPr lang="en-US">
                <a:solidFill>
                  <a:srgbClr val="FFFF00"/>
                </a:solidFill>
              </a:endParaRPr>
            </a:p>
          </p:txBody>
        </p:sp>
        <p:sp>
          <p:nvSpPr>
            <p:cNvPr id="21532" name="Line 1055"/>
            <p:cNvSpPr>
              <a:spLocks noChangeShapeType="1"/>
            </p:cNvSpPr>
            <p:nvPr/>
          </p:nvSpPr>
          <p:spPr bwMode="auto">
            <a:xfrm>
              <a:off x="1234" y="3229"/>
              <a:ext cx="101" cy="146"/>
            </a:xfrm>
            <a:prstGeom prst="line">
              <a:avLst/>
            </a:prstGeom>
            <a:noFill/>
            <a:ln w="19050">
              <a:solidFill>
                <a:schemeClr val="tx1"/>
              </a:solidFill>
              <a:round/>
              <a:headEnd type="none" w="sm" len="sm"/>
              <a:tailEnd type="arrow" w="med" len="med"/>
            </a:ln>
          </p:spPr>
          <p:txBody>
            <a:bodyPr/>
            <a:lstStyle/>
            <a:p>
              <a:endParaRPr lang="en-US">
                <a:solidFill>
                  <a:srgbClr val="FFFF00"/>
                </a:solidFill>
              </a:endParaRPr>
            </a:p>
          </p:txBody>
        </p:sp>
        <p:grpSp>
          <p:nvGrpSpPr>
            <p:cNvPr id="21533" name="Group 1056"/>
            <p:cNvGrpSpPr>
              <a:grpSpLocks/>
            </p:cNvGrpSpPr>
            <p:nvPr/>
          </p:nvGrpSpPr>
          <p:grpSpPr bwMode="auto">
            <a:xfrm>
              <a:off x="682" y="3503"/>
              <a:ext cx="350" cy="296"/>
              <a:chOff x="4288" y="3622"/>
              <a:chExt cx="350" cy="296"/>
            </a:xfrm>
          </p:grpSpPr>
          <p:sp>
            <p:nvSpPr>
              <p:cNvPr id="21535" name="Oval 1057"/>
              <p:cNvSpPr>
                <a:spLocks noChangeArrowheads="1"/>
              </p:cNvSpPr>
              <p:nvPr/>
            </p:nvSpPr>
            <p:spPr bwMode="auto">
              <a:xfrm>
                <a:off x="4288" y="3622"/>
                <a:ext cx="350" cy="296"/>
              </a:xfrm>
              <a:prstGeom prst="ellipse">
                <a:avLst/>
              </a:prstGeom>
              <a:solidFill>
                <a:srgbClr val="0066FF"/>
              </a:solidFill>
              <a:ln w="38100">
                <a:solidFill>
                  <a:schemeClr val="tx1"/>
                </a:solidFill>
                <a:round/>
                <a:headEnd type="none" w="sm" len="sm"/>
                <a:tailEnd type="none" w="sm" len="sm"/>
              </a:ln>
            </p:spPr>
            <p:txBody>
              <a:bodyPr wrap="none" anchor="ctr"/>
              <a:lstStyle/>
              <a:p>
                <a:endParaRPr lang="nl-NL">
                  <a:solidFill>
                    <a:srgbClr val="FFFF00"/>
                  </a:solidFill>
                </a:endParaRPr>
              </a:p>
            </p:txBody>
          </p:sp>
          <p:sp>
            <p:nvSpPr>
              <p:cNvPr id="21536" name="Text Box 1058"/>
              <p:cNvSpPr txBox="1">
                <a:spLocks noChangeArrowheads="1"/>
              </p:cNvSpPr>
              <p:nvPr/>
            </p:nvSpPr>
            <p:spPr bwMode="auto">
              <a:xfrm>
                <a:off x="4365" y="3645"/>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6</a:t>
                </a:r>
              </a:p>
            </p:txBody>
          </p:sp>
        </p:grpSp>
        <p:sp>
          <p:nvSpPr>
            <p:cNvPr id="21534" name="Line 1059"/>
            <p:cNvSpPr>
              <a:spLocks noChangeShapeType="1"/>
            </p:cNvSpPr>
            <p:nvPr/>
          </p:nvSpPr>
          <p:spPr bwMode="auto">
            <a:xfrm flipH="1" flipV="1">
              <a:off x="1367" y="3176"/>
              <a:ext cx="101" cy="157"/>
            </a:xfrm>
            <a:prstGeom prst="line">
              <a:avLst/>
            </a:prstGeom>
            <a:noFill/>
            <a:ln w="19050">
              <a:solidFill>
                <a:schemeClr val="tx1"/>
              </a:solidFill>
              <a:round/>
              <a:headEnd type="none" w="sm" len="sm"/>
              <a:tailEnd type="arrow" w="med" len="med"/>
            </a:ln>
          </p:spPr>
          <p:txBody>
            <a:bodyPr/>
            <a:lstStyle/>
            <a:p>
              <a:endParaRPr lang="en-US">
                <a:solidFill>
                  <a:srgbClr val="FFFF00"/>
                </a:solidFill>
              </a:endParaRPr>
            </a:p>
          </p:txBody>
        </p:sp>
      </p:grpSp>
      <p:sp>
        <p:nvSpPr>
          <p:cNvPr id="37" name="Text Box 1060"/>
          <p:cNvSpPr txBox="1">
            <a:spLocks noChangeArrowheads="1"/>
          </p:cNvSpPr>
          <p:nvPr/>
        </p:nvSpPr>
        <p:spPr bwMode="auto">
          <a:xfrm>
            <a:off x="3571875" y="1772816"/>
            <a:ext cx="1214438" cy="2678113"/>
          </a:xfrm>
          <a:prstGeom prst="rect">
            <a:avLst/>
          </a:prstGeom>
          <a:noFill/>
          <a:ln>
            <a:headEnd type="none" w="sm" len="sm"/>
            <a:tailEnd type="none" w="sm" len="sm"/>
          </a:ln>
        </p:spPr>
        <p:style>
          <a:lnRef idx="2">
            <a:schemeClr val="accent5"/>
          </a:lnRef>
          <a:fillRef idx="1">
            <a:schemeClr val="lt1"/>
          </a:fillRef>
          <a:effectRef idx="0">
            <a:schemeClr val="accent5"/>
          </a:effectRef>
          <a:fontRef idx="minor">
            <a:schemeClr val="dk1"/>
          </a:fontRef>
        </p:style>
        <p:txBody>
          <a:bodyPr>
            <a:spAutoFit/>
          </a:bodyPr>
          <a:lstStyle/>
          <a:p>
            <a:pPr>
              <a:defRPr/>
            </a:pPr>
            <a:r>
              <a:rPr lang="en-US" sz="2400" dirty="0">
                <a:solidFill>
                  <a:schemeClr val="tx1"/>
                </a:solidFill>
              </a:rPr>
              <a:t>[0]</a:t>
            </a:r>
          </a:p>
          <a:p>
            <a:pPr>
              <a:defRPr/>
            </a:pPr>
            <a:r>
              <a:rPr lang="en-US" sz="2400" dirty="0">
                <a:solidFill>
                  <a:schemeClr val="tx1"/>
                </a:solidFill>
              </a:rPr>
              <a:t>[1]</a:t>
            </a:r>
          </a:p>
          <a:p>
            <a:pPr>
              <a:defRPr/>
            </a:pPr>
            <a:r>
              <a:rPr lang="en-US" sz="2400" dirty="0">
                <a:solidFill>
                  <a:schemeClr val="tx1"/>
                </a:solidFill>
              </a:rPr>
              <a:t>[2]</a:t>
            </a:r>
          </a:p>
          <a:p>
            <a:pPr>
              <a:defRPr/>
            </a:pPr>
            <a:r>
              <a:rPr lang="en-US" sz="2400" dirty="0">
                <a:solidFill>
                  <a:schemeClr val="tx1"/>
                </a:solidFill>
              </a:rPr>
              <a:t>[3]</a:t>
            </a:r>
          </a:p>
          <a:p>
            <a:pPr>
              <a:defRPr/>
            </a:pPr>
            <a:r>
              <a:rPr lang="en-US" sz="2400" dirty="0">
                <a:solidFill>
                  <a:schemeClr val="tx1"/>
                </a:solidFill>
              </a:rPr>
              <a:t>[4]</a:t>
            </a:r>
          </a:p>
          <a:p>
            <a:pPr>
              <a:defRPr/>
            </a:pPr>
            <a:r>
              <a:rPr lang="en-US" sz="2400" dirty="0">
                <a:solidFill>
                  <a:schemeClr val="tx1"/>
                </a:solidFill>
              </a:rPr>
              <a:t>[5]</a:t>
            </a:r>
          </a:p>
          <a:p>
            <a:pPr>
              <a:defRPr/>
            </a:pPr>
            <a:r>
              <a:rPr lang="en-US" sz="2400" dirty="0">
                <a:solidFill>
                  <a:schemeClr val="tx1"/>
                </a:solidFill>
              </a:rPr>
              <a:t>[6] </a:t>
            </a:r>
          </a:p>
        </p:txBody>
      </p:sp>
      <p:sp>
        <p:nvSpPr>
          <p:cNvPr id="38" name="Text Box 1063"/>
          <p:cNvSpPr txBox="1">
            <a:spLocks noChangeArrowheads="1"/>
          </p:cNvSpPr>
          <p:nvPr/>
        </p:nvSpPr>
        <p:spPr bwMode="auto">
          <a:xfrm>
            <a:off x="5072063" y="1884908"/>
            <a:ext cx="1285875" cy="3416300"/>
          </a:xfrm>
          <a:prstGeom prst="rect">
            <a:avLst/>
          </a:prstGeom>
          <a:noFill/>
          <a:ln w="12700">
            <a:solidFill>
              <a:schemeClr val="accent6">
                <a:lumMod val="60000"/>
                <a:lumOff val="40000"/>
              </a:schemeClr>
            </a:solidFill>
            <a:miter lim="800000"/>
            <a:headEnd type="none" w="sm" len="sm"/>
            <a:tailEnd type="none" w="sm" len="sm"/>
          </a:ln>
        </p:spPr>
        <p:txBody>
          <a:bodyPr>
            <a:spAutoFit/>
          </a:bodyPr>
          <a:lstStyle/>
          <a:p>
            <a:pPr>
              <a:defRPr/>
            </a:pPr>
            <a:r>
              <a:rPr lang="en-US" sz="2400" dirty="0">
                <a:latin typeface="+mn-lt"/>
              </a:rPr>
              <a:t>[0, 1]</a:t>
            </a:r>
          </a:p>
          <a:p>
            <a:pPr>
              <a:defRPr/>
            </a:pPr>
            <a:r>
              <a:rPr lang="en-US" sz="2400" dirty="0">
                <a:latin typeface="+mn-lt"/>
              </a:rPr>
              <a:t>[0, 2]</a:t>
            </a:r>
          </a:p>
          <a:p>
            <a:pPr>
              <a:defRPr/>
            </a:pPr>
            <a:r>
              <a:rPr lang="en-US" sz="2400" dirty="0">
                <a:latin typeface="+mn-lt"/>
              </a:rPr>
              <a:t>[1, 2]</a:t>
            </a:r>
          </a:p>
          <a:p>
            <a:pPr>
              <a:defRPr/>
            </a:pPr>
            <a:r>
              <a:rPr lang="en-US" sz="2400" dirty="0">
                <a:latin typeface="+mn-lt"/>
              </a:rPr>
              <a:t>[2, 3]</a:t>
            </a:r>
          </a:p>
          <a:p>
            <a:pPr>
              <a:defRPr/>
            </a:pPr>
            <a:r>
              <a:rPr lang="en-US" sz="2400" dirty="0">
                <a:latin typeface="+mn-lt"/>
              </a:rPr>
              <a:t>[2, 4]</a:t>
            </a:r>
          </a:p>
          <a:p>
            <a:pPr>
              <a:defRPr/>
            </a:pPr>
            <a:r>
              <a:rPr lang="en-US" sz="2400" dirty="0">
                <a:latin typeface="+mn-lt"/>
              </a:rPr>
              <a:t>[3, 6] </a:t>
            </a:r>
          </a:p>
          <a:p>
            <a:pPr>
              <a:defRPr/>
            </a:pPr>
            <a:r>
              <a:rPr lang="en-US" sz="2400" dirty="0">
                <a:latin typeface="+mn-lt"/>
              </a:rPr>
              <a:t>[4, 6] </a:t>
            </a:r>
          </a:p>
          <a:p>
            <a:pPr>
              <a:defRPr/>
            </a:pPr>
            <a:r>
              <a:rPr lang="en-US" sz="2400" dirty="0">
                <a:latin typeface="+mn-lt"/>
              </a:rPr>
              <a:t>[4, 5]</a:t>
            </a:r>
          </a:p>
          <a:p>
            <a:pPr>
              <a:defRPr/>
            </a:pPr>
            <a:r>
              <a:rPr lang="en-US" sz="2400" dirty="0">
                <a:latin typeface="+mn-lt"/>
              </a:rPr>
              <a:t>[5, 4]</a:t>
            </a:r>
          </a:p>
        </p:txBody>
      </p:sp>
      <p:sp>
        <p:nvSpPr>
          <p:cNvPr id="39" name="TextBox 38"/>
          <p:cNvSpPr txBox="1"/>
          <p:nvPr/>
        </p:nvSpPr>
        <p:spPr>
          <a:xfrm>
            <a:off x="1510734" y="5025662"/>
            <a:ext cx="3275579" cy="1815882"/>
          </a:xfrm>
          <a:prstGeom prst="rect">
            <a:avLst/>
          </a:prstGeom>
          <a:noFill/>
        </p:spPr>
        <p:txBody>
          <a:bodyPr wrap="square">
            <a:spAutoFit/>
          </a:bodyPr>
          <a:lstStyle/>
          <a:p>
            <a:pPr>
              <a:defRPr/>
            </a:pPr>
            <a:r>
              <a:rPr lang="en-US" sz="1600" i="1" dirty="0">
                <a:latin typeface="+mj-lt"/>
              </a:rPr>
              <a:t>All reds are T, consisting of paths which become right-maximal, and are not a </a:t>
            </a:r>
            <a:r>
              <a:rPr lang="en-US" sz="1600" i="1" dirty="0" err="1">
                <a:latin typeface="+mj-lt"/>
              </a:rPr>
              <a:t>subpath</a:t>
            </a:r>
            <a:r>
              <a:rPr lang="en-US" sz="1600" i="1" dirty="0">
                <a:latin typeface="+mj-lt"/>
              </a:rPr>
              <a:t> of other members of T.  </a:t>
            </a:r>
            <a:br>
              <a:rPr lang="en-US" sz="1600" i="1" dirty="0">
                <a:latin typeface="+mj-lt"/>
              </a:rPr>
            </a:br>
            <a:r>
              <a:rPr lang="en-US" sz="1600" i="1" dirty="0">
                <a:latin typeface="+mj-lt"/>
              </a:rPr>
              <a:t>We also mark :</a:t>
            </a:r>
          </a:p>
          <a:p>
            <a:pPr>
              <a:defRPr/>
            </a:pPr>
            <a:r>
              <a:rPr lang="en-US" sz="1600" i="1" dirty="0">
                <a:latin typeface="+mj-lt"/>
                <a:sym typeface="Wingdings" pitchFamily="2" charset="2"/>
              </a:rPr>
              <a:t>*    cycle ; definitely a prime path</a:t>
            </a:r>
            <a:br>
              <a:rPr lang="en-US" sz="1600" i="1" dirty="0">
                <a:latin typeface="+mj-lt"/>
                <a:sym typeface="Wingdings" pitchFamily="2" charset="2"/>
              </a:rPr>
            </a:br>
            <a:r>
              <a:rPr lang="en-US" sz="1600" i="1" dirty="0">
                <a:latin typeface="+mj-lt"/>
                <a:sym typeface="Wingdings" pitchFamily="2" charset="2"/>
              </a:rPr>
              <a:t>x</a:t>
            </a:r>
            <a:r>
              <a:rPr lang="en-US" sz="1600" i="1" dirty="0">
                <a:latin typeface="+mj-lt"/>
              </a:rPr>
              <a:t>  </a:t>
            </a:r>
            <a:r>
              <a:rPr lang="en-US" sz="1600" i="1" dirty="0">
                <a:latin typeface="+mj-lt"/>
                <a:sym typeface="Wingdings" pitchFamily="2" charset="2"/>
              </a:rPr>
              <a:t> dropped from T</a:t>
            </a:r>
          </a:p>
        </p:txBody>
      </p:sp>
      <p:cxnSp>
        <p:nvCxnSpPr>
          <p:cNvPr id="42" name="Straight Connector 41"/>
          <p:cNvCxnSpPr/>
          <p:nvPr/>
        </p:nvCxnSpPr>
        <p:spPr>
          <a:xfrm rot="5400000">
            <a:off x="3335918" y="4542633"/>
            <a:ext cx="571500" cy="214312"/>
          </a:xfrm>
          <a:prstGeom prst="line">
            <a:avLst/>
          </a:prstGeom>
        </p:spPr>
        <p:style>
          <a:lnRef idx="1">
            <a:schemeClr val="accent1"/>
          </a:lnRef>
          <a:fillRef idx="0">
            <a:schemeClr val="accent1"/>
          </a:fillRef>
          <a:effectRef idx="0">
            <a:schemeClr val="accent1"/>
          </a:effectRef>
          <a:fontRef idx="minor">
            <a:schemeClr val="tx1"/>
          </a:fontRef>
        </p:style>
      </p:cxnSp>
      <p:sp>
        <p:nvSpPr>
          <p:cNvPr id="44" name="Text Box 1064"/>
          <p:cNvSpPr txBox="1">
            <a:spLocks noChangeArrowheads="1"/>
          </p:cNvSpPr>
          <p:nvPr/>
        </p:nvSpPr>
        <p:spPr bwMode="auto">
          <a:xfrm>
            <a:off x="6786563" y="1785938"/>
            <a:ext cx="1571625" cy="4154487"/>
          </a:xfrm>
          <a:prstGeom prst="rect">
            <a:avLst/>
          </a:prstGeom>
          <a:noFill/>
          <a:ln w="12700">
            <a:solidFill>
              <a:schemeClr val="accent6">
                <a:lumMod val="60000"/>
                <a:lumOff val="40000"/>
              </a:schemeClr>
            </a:solidFill>
            <a:miter lim="800000"/>
            <a:headEnd type="none" w="sm" len="sm"/>
            <a:tailEnd type="none" w="sm" len="sm"/>
          </a:ln>
        </p:spPr>
        <p:txBody>
          <a:bodyPr>
            <a:spAutoFit/>
          </a:bodyPr>
          <a:lstStyle/>
          <a:p>
            <a:pPr>
              <a:defRPr/>
            </a:pPr>
            <a:r>
              <a:rPr lang="en-US" sz="2400" dirty="0">
                <a:latin typeface="+mn-lt"/>
              </a:rPr>
              <a:t>[0, 1, 2]</a:t>
            </a:r>
          </a:p>
          <a:p>
            <a:pPr>
              <a:defRPr/>
            </a:pPr>
            <a:r>
              <a:rPr lang="en-US" sz="2400" dirty="0">
                <a:latin typeface="+mn-lt"/>
              </a:rPr>
              <a:t>[0, 2, 3]</a:t>
            </a:r>
          </a:p>
          <a:p>
            <a:pPr>
              <a:defRPr/>
            </a:pPr>
            <a:r>
              <a:rPr lang="en-US" sz="2400" dirty="0">
                <a:latin typeface="+mn-lt"/>
              </a:rPr>
              <a:t>[0, 2, 4]</a:t>
            </a:r>
          </a:p>
          <a:p>
            <a:pPr>
              <a:defRPr/>
            </a:pPr>
            <a:r>
              <a:rPr lang="en-US" sz="2400" dirty="0">
                <a:latin typeface="+mn-lt"/>
              </a:rPr>
              <a:t>[1, 2, 3]</a:t>
            </a:r>
          </a:p>
          <a:p>
            <a:pPr>
              <a:defRPr/>
            </a:pPr>
            <a:r>
              <a:rPr lang="en-US" sz="2400" dirty="0">
                <a:latin typeface="+mn-lt"/>
              </a:rPr>
              <a:t>[1, 2, 4]</a:t>
            </a:r>
          </a:p>
          <a:p>
            <a:pPr>
              <a:defRPr/>
            </a:pPr>
            <a:r>
              <a:rPr lang="en-US" sz="2400" dirty="0">
                <a:latin typeface="+mn-lt"/>
              </a:rPr>
              <a:t>[2, 3, 6] </a:t>
            </a:r>
          </a:p>
          <a:p>
            <a:pPr>
              <a:defRPr/>
            </a:pPr>
            <a:r>
              <a:rPr lang="en-US" sz="2400" dirty="0">
                <a:latin typeface="+mn-lt"/>
              </a:rPr>
              <a:t>[2, 4, 6] </a:t>
            </a:r>
          </a:p>
          <a:p>
            <a:pPr>
              <a:defRPr/>
            </a:pPr>
            <a:r>
              <a:rPr lang="en-US" sz="2400" dirty="0">
                <a:solidFill>
                  <a:schemeClr val="accent4">
                    <a:lumMod val="60000"/>
                    <a:lumOff val="40000"/>
                  </a:schemeClr>
                </a:solidFill>
                <a:latin typeface="+mn-lt"/>
              </a:rPr>
              <a:t>[2, 4, 5]</a:t>
            </a:r>
          </a:p>
          <a:p>
            <a:pPr>
              <a:defRPr/>
            </a:pPr>
            <a:r>
              <a:rPr lang="en-US" sz="2400" dirty="0">
                <a:latin typeface="+mn-lt"/>
              </a:rPr>
              <a:t>[4, 5, 4] *</a:t>
            </a:r>
          </a:p>
          <a:p>
            <a:pPr>
              <a:defRPr/>
            </a:pPr>
            <a:r>
              <a:rPr lang="en-US" sz="2400" dirty="0">
                <a:latin typeface="+mn-lt"/>
              </a:rPr>
              <a:t>[5, 4, 6] </a:t>
            </a:r>
          </a:p>
          <a:p>
            <a:pPr>
              <a:defRPr/>
            </a:pPr>
            <a:r>
              <a:rPr lang="en-US" sz="2400" dirty="0">
                <a:latin typeface="+mn-lt"/>
              </a:rPr>
              <a:t>[5, 4, 5] *</a:t>
            </a:r>
          </a:p>
        </p:txBody>
      </p:sp>
      <p:sp>
        <p:nvSpPr>
          <p:cNvPr id="21517" name="TextBox 46"/>
          <p:cNvSpPr txBox="1">
            <a:spLocks noChangeArrowheads="1"/>
          </p:cNvSpPr>
          <p:nvPr/>
        </p:nvSpPr>
        <p:spPr bwMode="auto">
          <a:xfrm>
            <a:off x="2768600" y="1641898"/>
            <a:ext cx="749300" cy="646112"/>
          </a:xfrm>
          <a:prstGeom prst="rect">
            <a:avLst/>
          </a:prstGeom>
          <a:noFill/>
          <a:ln w="9525">
            <a:noFill/>
            <a:miter lim="800000"/>
            <a:headEnd/>
            <a:tailEnd/>
          </a:ln>
        </p:spPr>
        <p:txBody>
          <a:bodyPr wrap="none">
            <a:spAutoFit/>
          </a:bodyPr>
          <a:lstStyle/>
          <a:p>
            <a:r>
              <a:rPr lang="en-US" sz="3600" i="1" dirty="0"/>
              <a:t>S :</a:t>
            </a:r>
          </a:p>
        </p:txBody>
      </p:sp>
      <p:sp>
        <p:nvSpPr>
          <p:cNvPr id="2" name="TextBox 46">
            <a:extLst>
              <a:ext uri="{FF2B5EF4-FFF2-40B4-BE49-F238E27FC236}">
                <a16:creationId xmlns:a16="http://schemas.microsoft.com/office/drawing/2014/main" id="{FBF88D01-BCC8-8C7D-AB1F-51E77DA2604D}"/>
              </a:ext>
            </a:extLst>
          </p:cNvPr>
          <p:cNvSpPr txBox="1">
            <a:spLocks noChangeArrowheads="1"/>
          </p:cNvSpPr>
          <p:nvPr/>
        </p:nvSpPr>
        <p:spPr bwMode="auto">
          <a:xfrm>
            <a:off x="2833688" y="3911878"/>
            <a:ext cx="723275" cy="646331"/>
          </a:xfrm>
          <a:prstGeom prst="rect">
            <a:avLst/>
          </a:prstGeom>
          <a:noFill/>
          <a:ln w="9525">
            <a:noFill/>
            <a:miter lim="800000"/>
            <a:headEnd/>
            <a:tailEnd/>
          </a:ln>
        </p:spPr>
        <p:txBody>
          <a:bodyPr wrap="none">
            <a:spAutoFit/>
          </a:bodyPr>
          <a:lstStyle/>
          <a:p>
            <a:r>
              <a:rPr lang="en-US" sz="3600" i="1" dirty="0"/>
              <a:t>T :</a:t>
            </a:r>
          </a:p>
        </p:txBody>
      </p:sp>
      <p:sp>
        <p:nvSpPr>
          <p:cNvPr id="3" name="TextBox 2">
            <a:extLst>
              <a:ext uri="{FF2B5EF4-FFF2-40B4-BE49-F238E27FC236}">
                <a16:creationId xmlns:a16="http://schemas.microsoft.com/office/drawing/2014/main" id="{65033B25-AD19-FDE4-F54A-AE7B3FF9E5F9}"/>
              </a:ext>
            </a:extLst>
          </p:cNvPr>
          <p:cNvSpPr txBox="1"/>
          <p:nvPr/>
        </p:nvSpPr>
        <p:spPr>
          <a:xfrm>
            <a:off x="4198521" y="3963963"/>
            <a:ext cx="338554" cy="461665"/>
          </a:xfrm>
          <a:prstGeom prst="rect">
            <a:avLst/>
          </a:prstGeom>
          <a:noFill/>
        </p:spPr>
        <p:txBody>
          <a:bodyPr wrap="none" rtlCol="0">
            <a:spAutoFit/>
          </a:bodyPr>
          <a:lstStyle/>
          <a:p>
            <a:r>
              <a:rPr lang="en-NL" sz="2400" dirty="0">
                <a:solidFill>
                  <a:srgbClr val="FFFF00"/>
                </a:solidFill>
              </a:rPr>
              <a:t>x</a:t>
            </a:r>
          </a:p>
        </p:txBody>
      </p:sp>
      <p:sp>
        <p:nvSpPr>
          <p:cNvPr id="5" name="TextBox 4">
            <a:extLst>
              <a:ext uri="{FF2B5EF4-FFF2-40B4-BE49-F238E27FC236}">
                <a16:creationId xmlns:a16="http://schemas.microsoft.com/office/drawing/2014/main" id="{66CF70E1-C30A-F9A6-1902-B216A40802A5}"/>
              </a:ext>
            </a:extLst>
          </p:cNvPr>
          <p:cNvSpPr txBox="1"/>
          <p:nvPr/>
        </p:nvSpPr>
        <p:spPr>
          <a:xfrm>
            <a:off x="5818740" y="3665994"/>
            <a:ext cx="338554" cy="830997"/>
          </a:xfrm>
          <a:prstGeom prst="rect">
            <a:avLst/>
          </a:prstGeom>
          <a:noFill/>
        </p:spPr>
        <p:txBody>
          <a:bodyPr wrap="none" rtlCol="0">
            <a:spAutoFit/>
          </a:bodyPr>
          <a:lstStyle/>
          <a:p>
            <a:r>
              <a:rPr lang="en-NL" sz="2400" dirty="0">
                <a:solidFill>
                  <a:srgbClr val="FFFF00"/>
                </a:solidFill>
              </a:rPr>
              <a:t>x</a:t>
            </a:r>
          </a:p>
          <a:p>
            <a:r>
              <a:rPr lang="en-NL" sz="2400" dirty="0">
                <a:solidFill>
                  <a:srgbClr val="FFFF00"/>
                </a:solidFill>
              </a:rPr>
              <a:t>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3" grpId="0" animBg="1"/>
      <p:bldP spid="38" grpId="0" animBg="1" autoUpdateAnimBg="0"/>
      <p:bldP spid="44" grpId="0" animBg="1"/>
      <p:bldP spid="3" grpId="0"/>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38"/>
          <p:cNvSpPr/>
          <p:nvPr/>
        </p:nvSpPr>
        <p:spPr>
          <a:xfrm>
            <a:off x="4643438" y="2571750"/>
            <a:ext cx="1757362" cy="2214563"/>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8" name="Rectangle 37"/>
          <p:cNvSpPr/>
          <p:nvPr/>
        </p:nvSpPr>
        <p:spPr>
          <a:xfrm>
            <a:off x="2825750" y="3714750"/>
            <a:ext cx="1571625" cy="2214563"/>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2532" name="Title 1"/>
          <p:cNvSpPr>
            <a:spLocks noGrp="1"/>
          </p:cNvSpPr>
          <p:nvPr>
            <p:ph type="title"/>
          </p:nvPr>
        </p:nvSpPr>
        <p:spPr/>
        <p:txBody>
          <a:bodyPr/>
          <a:lstStyle/>
          <a:p>
            <a:r>
              <a:rPr lang="en-US"/>
              <a:t>Example</a:t>
            </a:r>
          </a:p>
        </p:txBody>
      </p:sp>
      <p:sp>
        <p:nvSpPr>
          <p:cNvPr id="3" name="Slide Number Placeholder 2"/>
          <p:cNvSpPr>
            <a:spLocks noGrp="1"/>
          </p:cNvSpPr>
          <p:nvPr>
            <p:ph type="sldNum" sz="quarter" idx="12"/>
          </p:nvPr>
        </p:nvSpPr>
        <p:spPr/>
        <p:txBody>
          <a:bodyPr/>
          <a:lstStyle/>
          <a:p>
            <a:pPr>
              <a:defRPr/>
            </a:pPr>
            <a:fld id="{337D4A47-A982-4F65-AAB1-6D25EA2FFE9D}" type="slidenum">
              <a:rPr lang="en-US" smtClean="0"/>
              <a:pPr>
                <a:defRPr/>
              </a:pPr>
              <a:t>26</a:t>
            </a:fld>
            <a:endParaRPr lang="en-US"/>
          </a:p>
        </p:txBody>
      </p:sp>
      <p:grpSp>
        <p:nvGrpSpPr>
          <p:cNvPr id="22534" name="Group 1028"/>
          <p:cNvGrpSpPr>
            <a:grpSpLocks/>
          </p:cNvGrpSpPr>
          <p:nvPr/>
        </p:nvGrpSpPr>
        <p:grpSpPr bwMode="auto">
          <a:xfrm>
            <a:off x="539750" y="2071688"/>
            <a:ext cx="2120900" cy="3635375"/>
            <a:chOff x="287" y="1509"/>
            <a:chExt cx="1336" cy="2290"/>
          </a:xfrm>
        </p:grpSpPr>
        <p:grpSp>
          <p:nvGrpSpPr>
            <p:cNvPr id="22546" name="Group 1029"/>
            <p:cNvGrpSpPr>
              <a:grpSpLocks/>
            </p:cNvGrpSpPr>
            <p:nvPr/>
          </p:nvGrpSpPr>
          <p:grpSpPr bwMode="auto">
            <a:xfrm>
              <a:off x="1273" y="3335"/>
              <a:ext cx="350" cy="296"/>
              <a:chOff x="684" y="3374"/>
              <a:chExt cx="350" cy="296"/>
            </a:xfrm>
          </p:grpSpPr>
          <p:sp>
            <p:nvSpPr>
              <p:cNvPr id="22575" name="Oval 1030"/>
              <p:cNvSpPr>
                <a:spLocks noChangeArrowheads="1"/>
              </p:cNvSpPr>
              <p:nvPr/>
            </p:nvSpPr>
            <p:spPr bwMode="auto">
              <a:xfrm>
                <a:off x="684" y="337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22576" name="Text Box 1031"/>
              <p:cNvSpPr txBox="1">
                <a:spLocks noChangeArrowheads="1"/>
              </p:cNvSpPr>
              <p:nvPr/>
            </p:nvSpPr>
            <p:spPr bwMode="auto">
              <a:xfrm>
                <a:off x="761" y="3397"/>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5</a:t>
                </a:r>
              </a:p>
            </p:txBody>
          </p:sp>
        </p:grpSp>
        <p:grpSp>
          <p:nvGrpSpPr>
            <p:cNvPr id="22547" name="Group 1032"/>
            <p:cNvGrpSpPr>
              <a:grpSpLocks/>
            </p:cNvGrpSpPr>
            <p:nvPr/>
          </p:nvGrpSpPr>
          <p:grpSpPr bwMode="auto">
            <a:xfrm>
              <a:off x="684" y="1617"/>
              <a:ext cx="350" cy="296"/>
              <a:chOff x="4288" y="1746"/>
              <a:chExt cx="350" cy="296"/>
            </a:xfrm>
          </p:grpSpPr>
          <p:sp>
            <p:nvSpPr>
              <p:cNvPr id="22573" name="Oval 1033"/>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22574" name="Text Box 1034"/>
              <p:cNvSpPr txBox="1">
                <a:spLocks noChangeArrowheads="1"/>
              </p:cNvSpPr>
              <p:nvPr/>
            </p:nvSpPr>
            <p:spPr bwMode="auto">
              <a:xfrm>
                <a:off x="4364" y="1769"/>
                <a:ext cx="197" cy="233"/>
              </a:xfrm>
              <a:prstGeom prst="rect">
                <a:avLst/>
              </a:prstGeom>
              <a:noFill/>
              <a:ln w="12700">
                <a:noFill/>
                <a:miter lim="800000"/>
                <a:headEnd type="none" w="sm" len="sm"/>
                <a:tailEnd type="none" w="sm" len="sm"/>
              </a:ln>
            </p:spPr>
            <p:txBody>
              <a:bodyPr wrap="none">
                <a:spAutoFit/>
              </a:bodyPr>
              <a:lstStyle/>
              <a:p>
                <a:pPr algn="r"/>
                <a:r>
                  <a:rPr lang="en-US">
                    <a:solidFill>
                      <a:srgbClr val="FFFF00"/>
                    </a:solidFill>
                  </a:rPr>
                  <a:t>0</a:t>
                </a:r>
              </a:p>
            </p:txBody>
          </p:sp>
        </p:grpSp>
        <p:grpSp>
          <p:nvGrpSpPr>
            <p:cNvPr id="22548" name="Group 1035"/>
            <p:cNvGrpSpPr>
              <a:grpSpLocks/>
            </p:cNvGrpSpPr>
            <p:nvPr/>
          </p:nvGrpSpPr>
          <p:grpSpPr bwMode="auto">
            <a:xfrm>
              <a:off x="684" y="2482"/>
              <a:ext cx="350" cy="296"/>
              <a:chOff x="4738" y="2684"/>
              <a:chExt cx="350" cy="296"/>
            </a:xfrm>
          </p:grpSpPr>
          <p:sp>
            <p:nvSpPr>
              <p:cNvPr id="22571" name="Oval 1036"/>
              <p:cNvSpPr>
                <a:spLocks noChangeArrowheads="1"/>
              </p:cNvSpPr>
              <p:nvPr/>
            </p:nvSpPr>
            <p:spPr bwMode="auto">
              <a:xfrm>
                <a:off x="47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22572" name="Text Box 1037"/>
              <p:cNvSpPr txBox="1">
                <a:spLocks noChangeArrowheads="1"/>
              </p:cNvSpPr>
              <p:nvPr/>
            </p:nvSpPr>
            <p:spPr bwMode="auto">
              <a:xfrm>
                <a:off x="4815" y="2707"/>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2</a:t>
                </a:r>
              </a:p>
            </p:txBody>
          </p:sp>
        </p:grpSp>
        <p:grpSp>
          <p:nvGrpSpPr>
            <p:cNvPr id="22549" name="Group 1038"/>
            <p:cNvGrpSpPr>
              <a:grpSpLocks/>
            </p:cNvGrpSpPr>
            <p:nvPr/>
          </p:nvGrpSpPr>
          <p:grpSpPr bwMode="auto">
            <a:xfrm>
              <a:off x="287" y="2034"/>
              <a:ext cx="350" cy="296"/>
              <a:chOff x="3838" y="2684"/>
              <a:chExt cx="350" cy="296"/>
            </a:xfrm>
          </p:grpSpPr>
          <p:sp>
            <p:nvSpPr>
              <p:cNvPr id="22569" name="Oval 1039"/>
              <p:cNvSpPr>
                <a:spLocks noChangeArrowheads="1"/>
              </p:cNvSpPr>
              <p:nvPr/>
            </p:nvSpPr>
            <p:spPr bwMode="auto">
              <a:xfrm>
                <a:off x="38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22570" name="Text Box 1040"/>
              <p:cNvSpPr txBox="1">
                <a:spLocks noChangeArrowheads="1"/>
              </p:cNvSpPr>
              <p:nvPr/>
            </p:nvSpPr>
            <p:spPr bwMode="auto">
              <a:xfrm>
                <a:off x="3915" y="2707"/>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1</a:t>
                </a:r>
              </a:p>
            </p:txBody>
          </p:sp>
        </p:grpSp>
        <p:sp>
          <p:nvSpPr>
            <p:cNvPr id="22550" name="Line 1041"/>
            <p:cNvSpPr>
              <a:spLocks noChangeShapeType="1"/>
            </p:cNvSpPr>
            <p:nvPr/>
          </p:nvSpPr>
          <p:spPr bwMode="auto">
            <a:xfrm flipH="1">
              <a:off x="572" y="2765"/>
              <a:ext cx="212" cy="191"/>
            </a:xfrm>
            <a:prstGeom prst="line">
              <a:avLst/>
            </a:prstGeom>
            <a:noFill/>
            <a:ln w="19050">
              <a:solidFill>
                <a:schemeClr val="tx1"/>
              </a:solidFill>
              <a:round/>
              <a:headEnd type="none" w="sm" len="sm"/>
              <a:tailEnd type="arrow" w="med" len="med"/>
            </a:ln>
          </p:spPr>
          <p:txBody>
            <a:bodyPr/>
            <a:lstStyle/>
            <a:p>
              <a:endParaRPr lang="en-US">
                <a:solidFill>
                  <a:srgbClr val="FFFF00"/>
                </a:solidFill>
              </a:endParaRPr>
            </a:p>
          </p:txBody>
        </p:sp>
        <p:sp>
          <p:nvSpPr>
            <p:cNvPr id="22551" name="Line 1042"/>
            <p:cNvSpPr>
              <a:spLocks noChangeShapeType="1"/>
            </p:cNvSpPr>
            <p:nvPr/>
          </p:nvSpPr>
          <p:spPr bwMode="auto">
            <a:xfrm flipH="1">
              <a:off x="859" y="1509"/>
              <a:ext cx="1" cy="99"/>
            </a:xfrm>
            <a:prstGeom prst="line">
              <a:avLst/>
            </a:prstGeom>
            <a:noFill/>
            <a:ln w="19050">
              <a:solidFill>
                <a:schemeClr val="tx1"/>
              </a:solidFill>
              <a:round/>
              <a:headEnd type="none" w="sm" len="sm"/>
              <a:tailEnd type="arrow" w="med" len="med"/>
            </a:ln>
          </p:spPr>
          <p:txBody>
            <a:bodyPr/>
            <a:lstStyle/>
            <a:p>
              <a:endParaRPr lang="en-US">
                <a:solidFill>
                  <a:srgbClr val="FFFF00"/>
                </a:solidFill>
              </a:endParaRPr>
            </a:p>
          </p:txBody>
        </p:sp>
        <p:grpSp>
          <p:nvGrpSpPr>
            <p:cNvPr id="22552" name="Group 1043"/>
            <p:cNvGrpSpPr>
              <a:grpSpLocks/>
            </p:cNvGrpSpPr>
            <p:nvPr/>
          </p:nvGrpSpPr>
          <p:grpSpPr bwMode="auto">
            <a:xfrm>
              <a:off x="287" y="2930"/>
              <a:ext cx="350" cy="296"/>
              <a:chOff x="4288" y="1746"/>
              <a:chExt cx="350" cy="296"/>
            </a:xfrm>
          </p:grpSpPr>
          <p:sp>
            <p:nvSpPr>
              <p:cNvPr id="22567" name="Oval 1044"/>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22568" name="Text Box 1045"/>
              <p:cNvSpPr txBox="1">
                <a:spLocks noChangeArrowheads="1"/>
              </p:cNvSpPr>
              <p:nvPr/>
            </p:nvSpPr>
            <p:spPr bwMode="auto">
              <a:xfrm>
                <a:off x="4364" y="1769"/>
                <a:ext cx="197" cy="233"/>
              </a:xfrm>
              <a:prstGeom prst="rect">
                <a:avLst/>
              </a:prstGeom>
              <a:noFill/>
              <a:ln w="12700">
                <a:noFill/>
                <a:miter lim="800000"/>
                <a:headEnd type="none" w="sm" len="sm"/>
                <a:tailEnd type="none" w="sm" len="sm"/>
              </a:ln>
            </p:spPr>
            <p:txBody>
              <a:bodyPr wrap="none">
                <a:spAutoFit/>
              </a:bodyPr>
              <a:lstStyle/>
              <a:p>
                <a:pPr algn="r"/>
                <a:r>
                  <a:rPr lang="en-US">
                    <a:solidFill>
                      <a:srgbClr val="FFFF00"/>
                    </a:solidFill>
                  </a:rPr>
                  <a:t>3</a:t>
                </a:r>
              </a:p>
            </p:txBody>
          </p:sp>
        </p:grpSp>
        <p:grpSp>
          <p:nvGrpSpPr>
            <p:cNvPr id="22553" name="Group 1046"/>
            <p:cNvGrpSpPr>
              <a:grpSpLocks/>
            </p:cNvGrpSpPr>
            <p:nvPr/>
          </p:nvGrpSpPr>
          <p:grpSpPr bwMode="auto">
            <a:xfrm>
              <a:off x="1053" y="2930"/>
              <a:ext cx="350" cy="296"/>
              <a:chOff x="3838" y="2684"/>
              <a:chExt cx="350" cy="296"/>
            </a:xfrm>
          </p:grpSpPr>
          <p:sp>
            <p:nvSpPr>
              <p:cNvPr id="22565" name="Oval 1047"/>
              <p:cNvSpPr>
                <a:spLocks noChangeArrowheads="1"/>
              </p:cNvSpPr>
              <p:nvPr/>
            </p:nvSpPr>
            <p:spPr bwMode="auto">
              <a:xfrm>
                <a:off x="38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22566" name="Text Box 1048"/>
              <p:cNvSpPr txBox="1">
                <a:spLocks noChangeArrowheads="1"/>
              </p:cNvSpPr>
              <p:nvPr/>
            </p:nvSpPr>
            <p:spPr bwMode="auto">
              <a:xfrm>
                <a:off x="3915" y="2707"/>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4</a:t>
                </a:r>
              </a:p>
            </p:txBody>
          </p:sp>
        </p:grpSp>
        <p:sp>
          <p:nvSpPr>
            <p:cNvPr id="22554" name="Line 1049"/>
            <p:cNvSpPr>
              <a:spLocks noChangeShapeType="1"/>
            </p:cNvSpPr>
            <p:nvPr/>
          </p:nvSpPr>
          <p:spPr bwMode="auto">
            <a:xfrm>
              <a:off x="939" y="2767"/>
              <a:ext cx="180" cy="182"/>
            </a:xfrm>
            <a:prstGeom prst="line">
              <a:avLst/>
            </a:prstGeom>
            <a:noFill/>
            <a:ln w="19050">
              <a:solidFill>
                <a:schemeClr val="tx1"/>
              </a:solidFill>
              <a:round/>
              <a:headEnd type="none" w="sm" len="sm"/>
              <a:tailEnd type="arrow" w="med" len="med"/>
            </a:ln>
          </p:spPr>
          <p:txBody>
            <a:bodyPr/>
            <a:lstStyle/>
            <a:p>
              <a:endParaRPr lang="en-US">
                <a:solidFill>
                  <a:srgbClr val="FFFF00"/>
                </a:solidFill>
              </a:endParaRPr>
            </a:p>
          </p:txBody>
        </p:sp>
        <p:sp>
          <p:nvSpPr>
            <p:cNvPr id="22555" name="Line 1050"/>
            <p:cNvSpPr>
              <a:spLocks noChangeShapeType="1"/>
            </p:cNvSpPr>
            <p:nvPr/>
          </p:nvSpPr>
          <p:spPr bwMode="auto">
            <a:xfrm flipH="1">
              <a:off x="932" y="3207"/>
              <a:ext cx="195" cy="309"/>
            </a:xfrm>
            <a:prstGeom prst="line">
              <a:avLst/>
            </a:prstGeom>
            <a:noFill/>
            <a:ln w="19050">
              <a:solidFill>
                <a:schemeClr val="tx1"/>
              </a:solidFill>
              <a:round/>
              <a:headEnd type="none" w="sm" len="sm"/>
              <a:tailEnd type="arrow" w="med" len="med"/>
            </a:ln>
          </p:spPr>
          <p:txBody>
            <a:bodyPr/>
            <a:lstStyle/>
            <a:p>
              <a:endParaRPr lang="en-US">
                <a:solidFill>
                  <a:srgbClr val="FFFF00"/>
                </a:solidFill>
              </a:endParaRPr>
            </a:p>
          </p:txBody>
        </p:sp>
        <p:sp>
          <p:nvSpPr>
            <p:cNvPr id="22556" name="Line 1051"/>
            <p:cNvSpPr>
              <a:spLocks noChangeShapeType="1"/>
            </p:cNvSpPr>
            <p:nvPr/>
          </p:nvSpPr>
          <p:spPr bwMode="auto">
            <a:xfrm>
              <a:off x="572" y="2308"/>
              <a:ext cx="194" cy="179"/>
            </a:xfrm>
            <a:prstGeom prst="line">
              <a:avLst/>
            </a:prstGeom>
            <a:noFill/>
            <a:ln w="19050">
              <a:solidFill>
                <a:schemeClr val="tx1"/>
              </a:solidFill>
              <a:round/>
              <a:headEnd type="none" w="sm" len="sm"/>
              <a:tailEnd type="arrow" w="med" len="med"/>
            </a:ln>
          </p:spPr>
          <p:txBody>
            <a:bodyPr/>
            <a:lstStyle/>
            <a:p>
              <a:endParaRPr lang="en-US">
                <a:solidFill>
                  <a:srgbClr val="FFFF00"/>
                </a:solidFill>
              </a:endParaRPr>
            </a:p>
          </p:txBody>
        </p:sp>
        <p:sp>
          <p:nvSpPr>
            <p:cNvPr id="22557" name="Line 1052"/>
            <p:cNvSpPr>
              <a:spLocks noChangeShapeType="1"/>
            </p:cNvSpPr>
            <p:nvPr/>
          </p:nvSpPr>
          <p:spPr bwMode="auto">
            <a:xfrm flipH="1">
              <a:off x="603" y="1893"/>
              <a:ext cx="166" cy="185"/>
            </a:xfrm>
            <a:prstGeom prst="line">
              <a:avLst/>
            </a:prstGeom>
            <a:noFill/>
            <a:ln w="19050">
              <a:solidFill>
                <a:schemeClr val="tx1"/>
              </a:solidFill>
              <a:round/>
              <a:headEnd type="none" w="sm" len="sm"/>
              <a:tailEnd type="arrow" w="med" len="med"/>
            </a:ln>
          </p:spPr>
          <p:txBody>
            <a:bodyPr/>
            <a:lstStyle/>
            <a:p>
              <a:endParaRPr lang="en-US">
                <a:solidFill>
                  <a:srgbClr val="FFFF00"/>
                </a:solidFill>
              </a:endParaRPr>
            </a:p>
          </p:txBody>
        </p:sp>
        <p:sp>
          <p:nvSpPr>
            <p:cNvPr id="22558" name="Line 1053"/>
            <p:cNvSpPr>
              <a:spLocks noChangeShapeType="1"/>
            </p:cNvSpPr>
            <p:nvPr/>
          </p:nvSpPr>
          <p:spPr bwMode="auto">
            <a:xfrm>
              <a:off x="578" y="3204"/>
              <a:ext cx="195" cy="306"/>
            </a:xfrm>
            <a:prstGeom prst="line">
              <a:avLst/>
            </a:prstGeom>
            <a:noFill/>
            <a:ln w="19050">
              <a:solidFill>
                <a:schemeClr val="tx1"/>
              </a:solidFill>
              <a:round/>
              <a:headEnd type="none" w="sm" len="sm"/>
              <a:tailEnd type="arrow" w="med" len="med"/>
            </a:ln>
          </p:spPr>
          <p:txBody>
            <a:bodyPr/>
            <a:lstStyle/>
            <a:p>
              <a:endParaRPr lang="en-US">
                <a:solidFill>
                  <a:srgbClr val="FFFF00"/>
                </a:solidFill>
              </a:endParaRPr>
            </a:p>
          </p:txBody>
        </p:sp>
        <p:sp>
          <p:nvSpPr>
            <p:cNvPr id="22559" name="Line 1054"/>
            <p:cNvSpPr>
              <a:spLocks noChangeShapeType="1"/>
            </p:cNvSpPr>
            <p:nvPr/>
          </p:nvSpPr>
          <p:spPr bwMode="auto">
            <a:xfrm flipH="1">
              <a:off x="857" y="1918"/>
              <a:ext cx="3" cy="541"/>
            </a:xfrm>
            <a:prstGeom prst="line">
              <a:avLst/>
            </a:prstGeom>
            <a:noFill/>
            <a:ln w="19050">
              <a:solidFill>
                <a:schemeClr val="tx1"/>
              </a:solidFill>
              <a:round/>
              <a:headEnd type="none" w="sm" len="sm"/>
              <a:tailEnd type="arrow" w="med" len="med"/>
            </a:ln>
          </p:spPr>
          <p:txBody>
            <a:bodyPr/>
            <a:lstStyle/>
            <a:p>
              <a:endParaRPr lang="en-US">
                <a:solidFill>
                  <a:srgbClr val="FFFF00"/>
                </a:solidFill>
              </a:endParaRPr>
            </a:p>
          </p:txBody>
        </p:sp>
        <p:sp>
          <p:nvSpPr>
            <p:cNvPr id="22560" name="Line 1055"/>
            <p:cNvSpPr>
              <a:spLocks noChangeShapeType="1"/>
            </p:cNvSpPr>
            <p:nvPr/>
          </p:nvSpPr>
          <p:spPr bwMode="auto">
            <a:xfrm>
              <a:off x="1234" y="3229"/>
              <a:ext cx="101" cy="146"/>
            </a:xfrm>
            <a:prstGeom prst="line">
              <a:avLst/>
            </a:prstGeom>
            <a:noFill/>
            <a:ln w="19050">
              <a:solidFill>
                <a:schemeClr val="tx1"/>
              </a:solidFill>
              <a:round/>
              <a:headEnd type="none" w="sm" len="sm"/>
              <a:tailEnd type="arrow" w="med" len="med"/>
            </a:ln>
          </p:spPr>
          <p:txBody>
            <a:bodyPr/>
            <a:lstStyle/>
            <a:p>
              <a:endParaRPr lang="en-US">
                <a:solidFill>
                  <a:srgbClr val="FFFF00"/>
                </a:solidFill>
              </a:endParaRPr>
            </a:p>
          </p:txBody>
        </p:sp>
        <p:grpSp>
          <p:nvGrpSpPr>
            <p:cNvPr id="22561" name="Group 1056"/>
            <p:cNvGrpSpPr>
              <a:grpSpLocks/>
            </p:cNvGrpSpPr>
            <p:nvPr/>
          </p:nvGrpSpPr>
          <p:grpSpPr bwMode="auto">
            <a:xfrm>
              <a:off x="682" y="3503"/>
              <a:ext cx="350" cy="296"/>
              <a:chOff x="4288" y="3622"/>
              <a:chExt cx="350" cy="296"/>
            </a:xfrm>
          </p:grpSpPr>
          <p:sp>
            <p:nvSpPr>
              <p:cNvPr id="22563" name="Oval 1057"/>
              <p:cNvSpPr>
                <a:spLocks noChangeArrowheads="1"/>
              </p:cNvSpPr>
              <p:nvPr/>
            </p:nvSpPr>
            <p:spPr bwMode="auto">
              <a:xfrm>
                <a:off x="4288" y="3622"/>
                <a:ext cx="350" cy="296"/>
              </a:xfrm>
              <a:prstGeom prst="ellipse">
                <a:avLst/>
              </a:prstGeom>
              <a:solidFill>
                <a:srgbClr val="0066FF"/>
              </a:solidFill>
              <a:ln w="38100">
                <a:solidFill>
                  <a:schemeClr val="tx1"/>
                </a:solidFill>
                <a:round/>
                <a:headEnd type="none" w="sm" len="sm"/>
                <a:tailEnd type="none" w="sm" len="sm"/>
              </a:ln>
            </p:spPr>
            <p:txBody>
              <a:bodyPr wrap="none" anchor="ctr"/>
              <a:lstStyle/>
              <a:p>
                <a:endParaRPr lang="nl-NL">
                  <a:solidFill>
                    <a:srgbClr val="FFFF00"/>
                  </a:solidFill>
                </a:endParaRPr>
              </a:p>
            </p:txBody>
          </p:sp>
          <p:sp>
            <p:nvSpPr>
              <p:cNvPr id="22564" name="Text Box 1058"/>
              <p:cNvSpPr txBox="1">
                <a:spLocks noChangeArrowheads="1"/>
              </p:cNvSpPr>
              <p:nvPr/>
            </p:nvSpPr>
            <p:spPr bwMode="auto">
              <a:xfrm>
                <a:off x="4365" y="3645"/>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6</a:t>
                </a:r>
              </a:p>
            </p:txBody>
          </p:sp>
        </p:grpSp>
        <p:sp>
          <p:nvSpPr>
            <p:cNvPr id="22562" name="Line 1059"/>
            <p:cNvSpPr>
              <a:spLocks noChangeShapeType="1"/>
            </p:cNvSpPr>
            <p:nvPr/>
          </p:nvSpPr>
          <p:spPr bwMode="auto">
            <a:xfrm flipH="1" flipV="1">
              <a:off x="1367" y="3176"/>
              <a:ext cx="101" cy="157"/>
            </a:xfrm>
            <a:prstGeom prst="line">
              <a:avLst/>
            </a:prstGeom>
            <a:noFill/>
            <a:ln w="19050">
              <a:solidFill>
                <a:schemeClr val="tx1"/>
              </a:solidFill>
              <a:round/>
              <a:headEnd type="none" w="sm" len="sm"/>
              <a:tailEnd type="arrow" w="med" len="med"/>
            </a:ln>
          </p:spPr>
          <p:txBody>
            <a:bodyPr/>
            <a:lstStyle/>
            <a:p>
              <a:endParaRPr lang="en-US">
                <a:solidFill>
                  <a:srgbClr val="FFFF00"/>
                </a:solidFill>
              </a:endParaRPr>
            </a:p>
          </p:txBody>
        </p:sp>
      </p:grpSp>
      <p:sp>
        <p:nvSpPr>
          <p:cNvPr id="36" name="Text Box 1064"/>
          <p:cNvSpPr txBox="1">
            <a:spLocks noChangeArrowheads="1"/>
          </p:cNvSpPr>
          <p:nvPr/>
        </p:nvSpPr>
        <p:spPr bwMode="auto">
          <a:xfrm>
            <a:off x="2825750" y="1785938"/>
            <a:ext cx="1571625" cy="4154487"/>
          </a:xfrm>
          <a:prstGeom prst="rect">
            <a:avLst/>
          </a:prstGeom>
          <a:noFill/>
          <a:ln w="12700">
            <a:solidFill>
              <a:schemeClr val="accent6">
                <a:lumMod val="60000"/>
                <a:lumOff val="40000"/>
              </a:schemeClr>
            </a:solidFill>
            <a:miter lim="800000"/>
            <a:headEnd type="none" w="sm" len="sm"/>
            <a:tailEnd type="none" w="sm" len="sm"/>
          </a:ln>
        </p:spPr>
        <p:txBody>
          <a:bodyPr>
            <a:spAutoFit/>
          </a:bodyPr>
          <a:lstStyle/>
          <a:p>
            <a:pPr>
              <a:defRPr/>
            </a:pPr>
            <a:r>
              <a:rPr lang="en-US" sz="2400" dirty="0">
                <a:latin typeface="+mn-lt"/>
              </a:rPr>
              <a:t>[0, 1, 2]</a:t>
            </a:r>
          </a:p>
          <a:p>
            <a:pPr>
              <a:defRPr/>
            </a:pPr>
            <a:r>
              <a:rPr lang="en-US" sz="2400" dirty="0">
                <a:latin typeface="+mn-lt"/>
              </a:rPr>
              <a:t>[0, 2, 3]</a:t>
            </a:r>
          </a:p>
          <a:p>
            <a:pPr>
              <a:defRPr/>
            </a:pPr>
            <a:r>
              <a:rPr lang="en-US" sz="2400" dirty="0">
                <a:latin typeface="+mn-lt"/>
              </a:rPr>
              <a:t>[0, 2, 4]</a:t>
            </a:r>
          </a:p>
          <a:p>
            <a:pPr>
              <a:defRPr/>
            </a:pPr>
            <a:r>
              <a:rPr lang="en-US" sz="2400" dirty="0">
                <a:latin typeface="+mn-lt"/>
              </a:rPr>
              <a:t>[1, 2, 3]</a:t>
            </a:r>
          </a:p>
          <a:p>
            <a:pPr>
              <a:defRPr/>
            </a:pPr>
            <a:r>
              <a:rPr lang="en-US" sz="2400" dirty="0">
                <a:latin typeface="+mn-lt"/>
              </a:rPr>
              <a:t>[1, 2, 4]</a:t>
            </a:r>
          </a:p>
          <a:p>
            <a:pPr>
              <a:defRPr/>
            </a:pPr>
            <a:r>
              <a:rPr lang="en-US" sz="2400" dirty="0">
                <a:latin typeface="+mn-lt"/>
              </a:rPr>
              <a:t>[2, 3, 6] </a:t>
            </a:r>
          </a:p>
          <a:p>
            <a:pPr>
              <a:defRPr/>
            </a:pPr>
            <a:r>
              <a:rPr lang="en-US" sz="2400" dirty="0">
                <a:latin typeface="+mn-lt"/>
              </a:rPr>
              <a:t>[2, 4, 6] </a:t>
            </a:r>
          </a:p>
          <a:p>
            <a:pPr>
              <a:defRPr/>
            </a:pPr>
            <a:r>
              <a:rPr lang="en-US" sz="2400" dirty="0">
                <a:latin typeface="+mn-lt"/>
              </a:rPr>
              <a:t>[2, 4, 5] </a:t>
            </a:r>
          </a:p>
          <a:p>
            <a:pPr>
              <a:defRPr/>
            </a:pPr>
            <a:r>
              <a:rPr lang="en-US" sz="2400" dirty="0">
                <a:latin typeface="+mn-lt"/>
              </a:rPr>
              <a:t>[4, 5, 4] *</a:t>
            </a:r>
          </a:p>
          <a:p>
            <a:pPr>
              <a:defRPr/>
            </a:pPr>
            <a:r>
              <a:rPr lang="en-US" sz="2400" dirty="0">
                <a:latin typeface="+mn-lt"/>
              </a:rPr>
              <a:t>[5, 4, 6] </a:t>
            </a:r>
          </a:p>
          <a:p>
            <a:pPr>
              <a:defRPr/>
            </a:pPr>
            <a:r>
              <a:rPr lang="en-US" sz="2400" dirty="0">
                <a:latin typeface="+mn-lt"/>
              </a:rPr>
              <a:t>[5, 4, 5] *</a:t>
            </a:r>
          </a:p>
        </p:txBody>
      </p:sp>
      <p:sp>
        <p:nvSpPr>
          <p:cNvPr id="37" name="Text Box 1066"/>
          <p:cNvSpPr txBox="1">
            <a:spLocks noChangeArrowheads="1"/>
          </p:cNvSpPr>
          <p:nvPr/>
        </p:nvSpPr>
        <p:spPr bwMode="auto">
          <a:xfrm>
            <a:off x="4643438" y="1785938"/>
            <a:ext cx="1757362" cy="3046412"/>
          </a:xfrm>
          <a:prstGeom prst="rect">
            <a:avLst/>
          </a:prstGeom>
          <a:noFill/>
          <a:ln w="12700">
            <a:solidFill>
              <a:schemeClr val="accent6">
                <a:lumMod val="60000"/>
                <a:lumOff val="40000"/>
              </a:schemeClr>
            </a:solidFill>
            <a:miter lim="800000"/>
            <a:headEnd type="none" w="sm" len="sm"/>
            <a:tailEnd type="none" w="sm" len="sm"/>
          </a:ln>
        </p:spPr>
        <p:txBody>
          <a:bodyPr>
            <a:spAutoFit/>
          </a:bodyPr>
          <a:lstStyle/>
          <a:p>
            <a:pPr>
              <a:defRPr/>
            </a:pPr>
            <a:r>
              <a:rPr lang="en-US" sz="2400" dirty="0">
                <a:latin typeface="+mn-lt"/>
              </a:rPr>
              <a:t>[0, 1, 2, 3]</a:t>
            </a:r>
          </a:p>
          <a:p>
            <a:pPr>
              <a:defRPr/>
            </a:pPr>
            <a:r>
              <a:rPr lang="en-US" sz="2400" dirty="0">
                <a:latin typeface="+mn-lt"/>
              </a:rPr>
              <a:t>[0, 1, 2, 4]</a:t>
            </a:r>
          </a:p>
          <a:p>
            <a:pPr>
              <a:defRPr/>
            </a:pPr>
            <a:r>
              <a:rPr lang="en-US" sz="2400" dirty="0">
                <a:latin typeface="+mn-lt"/>
              </a:rPr>
              <a:t>[0, 2, 3, 6] </a:t>
            </a:r>
          </a:p>
          <a:p>
            <a:pPr>
              <a:defRPr/>
            </a:pPr>
            <a:r>
              <a:rPr lang="en-US" sz="2400" dirty="0">
                <a:latin typeface="+mn-lt"/>
              </a:rPr>
              <a:t>[0, 2, 4, 6] </a:t>
            </a:r>
          </a:p>
          <a:p>
            <a:pPr>
              <a:defRPr/>
            </a:pPr>
            <a:r>
              <a:rPr lang="en-US" sz="2400" dirty="0">
                <a:latin typeface="+mn-lt"/>
              </a:rPr>
              <a:t>[0, 2, 4, 5] </a:t>
            </a:r>
          </a:p>
          <a:p>
            <a:pPr>
              <a:defRPr/>
            </a:pPr>
            <a:r>
              <a:rPr lang="en-US" sz="2400" dirty="0">
                <a:latin typeface="+mn-lt"/>
              </a:rPr>
              <a:t>[1, 2, 3, 6] </a:t>
            </a:r>
          </a:p>
          <a:p>
            <a:pPr>
              <a:defRPr/>
            </a:pPr>
            <a:r>
              <a:rPr lang="en-US" sz="2400" dirty="0">
                <a:latin typeface="+mn-lt"/>
              </a:rPr>
              <a:t>[1, 2, 4, 5] </a:t>
            </a:r>
          </a:p>
          <a:p>
            <a:pPr>
              <a:defRPr/>
            </a:pPr>
            <a:r>
              <a:rPr lang="en-US" sz="2400" dirty="0">
                <a:latin typeface="+mn-lt"/>
              </a:rPr>
              <a:t>[1, 2, 4, 6] </a:t>
            </a:r>
          </a:p>
        </p:txBody>
      </p:sp>
      <p:sp>
        <p:nvSpPr>
          <p:cNvPr id="40" name="Text Box 1067"/>
          <p:cNvSpPr txBox="1">
            <a:spLocks noChangeArrowheads="1"/>
          </p:cNvSpPr>
          <p:nvPr/>
        </p:nvSpPr>
        <p:spPr bwMode="auto">
          <a:xfrm>
            <a:off x="6643688" y="1785938"/>
            <a:ext cx="1981200" cy="1200150"/>
          </a:xfrm>
          <a:prstGeom prst="rect">
            <a:avLst/>
          </a:prstGeom>
          <a:solidFill>
            <a:schemeClr val="accent2">
              <a:lumMod val="40000"/>
              <a:lumOff val="60000"/>
            </a:schemeClr>
          </a:solidFill>
          <a:ln w="12700">
            <a:solidFill>
              <a:schemeClr val="accent6">
                <a:lumMod val="60000"/>
                <a:lumOff val="40000"/>
              </a:schemeClr>
            </a:solidFill>
            <a:miter lim="800000"/>
            <a:headEnd type="none" w="sm" len="sm"/>
            <a:tailEnd type="none" w="sm" len="sm"/>
          </a:ln>
        </p:spPr>
        <p:txBody>
          <a:bodyPr>
            <a:spAutoFit/>
          </a:bodyPr>
          <a:lstStyle/>
          <a:p>
            <a:pPr>
              <a:defRPr/>
            </a:pPr>
            <a:r>
              <a:rPr lang="en-US" sz="2400" dirty="0">
                <a:latin typeface="+mn-lt"/>
              </a:rPr>
              <a:t>[0, 1, 2, 3, 6] </a:t>
            </a:r>
          </a:p>
          <a:p>
            <a:pPr>
              <a:defRPr/>
            </a:pPr>
            <a:r>
              <a:rPr lang="en-US" sz="2400" dirty="0">
                <a:latin typeface="+mn-lt"/>
              </a:rPr>
              <a:t>[0, 1, 2, 4, 6] </a:t>
            </a:r>
          </a:p>
          <a:p>
            <a:pPr>
              <a:defRPr/>
            </a:pPr>
            <a:r>
              <a:rPr lang="en-US" sz="2400" dirty="0">
                <a:latin typeface="+mn-lt"/>
              </a:rPr>
              <a:t>[0, 1, 2, 4, 5] </a:t>
            </a:r>
          </a:p>
        </p:txBody>
      </p:sp>
      <p:sp>
        <p:nvSpPr>
          <p:cNvPr id="41" name="TextBox 40"/>
          <p:cNvSpPr txBox="1"/>
          <p:nvPr/>
        </p:nvSpPr>
        <p:spPr>
          <a:xfrm>
            <a:off x="6300210" y="3099417"/>
            <a:ext cx="2486025" cy="830262"/>
          </a:xfrm>
          <a:prstGeom prst="rect">
            <a:avLst/>
          </a:prstGeom>
          <a:noFill/>
        </p:spPr>
        <p:txBody>
          <a:bodyPr>
            <a:spAutoFit/>
          </a:bodyPr>
          <a:lstStyle/>
          <a:p>
            <a:pPr algn="r">
              <a:defRPr/>
            </a:pPr>
            <a:r>
              <a:rPr lang="en-US" sz="2400" i="1" dirty="0">
                <a:latin typeface="+mn-lt"/>
              </a:rPr>
              <a:t>S</a:t>
            </a:r>
            <a:r>
              <a:rPr lang="en-US" sz="2400" dirty="0">
                <a:latin typeface="+mn-lt"/>
              </a:rPr>
              <a:t> is now empty; terminate.</a:t>
            </a:r>
          </a:p>
        </p:txBody>
      </p:sp>
      <p:sp>
        <p:nvSpPr>
          <p:cNvPr id="42" name="TextBox 41"/>
          <p:cNvSpPr txBox="1">
            <a:spLocks noChangeArrowheads="1"/>
          </p:cNvSpPr>
          <p:nvPr/>
        </p:nvSpPr>
        <p:spPr bwMode="auto">
          <a:xfrm>
            <a:off x="4654550" y="5114820"/>
            <a:ext cx="4032250" cy="923330"/>
          </a:xfrm>
          <a:prstGeom prst="rect">
            <a:avLst/>
          </a:prstGeom>
          <a:noFill/>
          <a:ln w="9525">
            <a:noFill/>
            <a:miter lim="800000"/>
            <a:headEnd/>
            <a:tailEnd/>
          </a:ln>
        </p:spPr>
        <p:txBody>
          <a:bodyPr>
            <a:spAutoFit/>
          </a:bodyPr>
          <a:lstStyle/>
          <a:p>
            <a:r>
              <a:rPr lang="en-US" dirty="0"/>
              <a:t>What remain in reds/T (those without x) are maximal simple paths = prime paths.</a:t>
            </a:r>
          </a:p>
        </p:txBody>
      </p:sp>
      <p:sp>
        <p:nvSpPr>
          <p:cNvPr id="2" name="TextBox 1">
            <a:extLst>
              <a:ext uri="{FF2B5EF4-FFF2-40B4-BE49-F238E27FC236}">
                <a16:creationId xmlns:a16="http://schemas.microsoft.com/office/drawing/2014/main" id="{D751C4ED-B161-04C1-04CA-70FF600D7F98}"/>
              </a:ext>
            </a:extLst>
          </p:cNvPr>
          <p:cNvSpPr txBox="1"/>
          <p:nvPr/>
        </p:nvSpPr>
        <p:spPr>
          <a:xfrm>
            <a:off x="3847200" y="3591491"/>
            <a:ext cx="317716" cy="1569660"/>
          </a:xfrm>
          <a:prstGeom prst="rect">
            <a:avLst/>
          </a:prstGeom>
          <a:noFill/>
        </p:spPr>
        <p:txBody>
          <a:bodyPr wrap="none" rtlCol="0">
            <a:spAutoFit/>
          </a:bodyPr>
          <a:lstStyle/>
          <a:p>
            <a:r>
              <a:rPr lang="en-NL" sz="2400" dirty="0">
                <a:solidFill>
                  <a:srgbClr val="FFFF00"/>
                </a:solidFill>
                <a:latin typeface="+mj-lt"/>
              </a:rPr>
              <a:t>x</a:t>
            </a:r>
          </a:p>
          <a:p>
            <a:r>
              <a:rPr lang="en-NL" sz="2400" dirty="0">
                <a:solidFill>
                  <a:srgbClr val="FFFF00"/>
                </a:solidFill>
                <a:latin typeface="+mj-lt"/>
              </a:rPr>
              <a:t>x</a:t>
            </a:r>
          </a:p>
          <a:p>
            <a:r>
              <a:rPr lang="en-NL" sz="2400" dirty="0">
                <a:solidFill>
                  <a:srgbClr val="FFFF00"/>
                </a:solidFill>
                <a:latin typeface="+mj-lt"/>
              </a:rPr>
              <a:t>x</a:t>
            </a:r>
          </a:p>
          <a:p>
            <a:endParaRPr lang="en-NL" sz="2400" dirty="0">
              <a:solidFill>
                <a:srgbClr val="FFFF00"/>
              </a:solidFill>
              <a:latin typeface="+mj-lt"/>
            </a:endParaRPr>
          </a:p>
        </p:txBody>
      </p:sp>
      <p:sp>
        <p:nvSpPr>
          <p:cNvPr id="4" name="TextBox 3">
            <a:extLst>
              <a:ext uri="{FF2B5EF4-FFF2-40B4-BE49-F238E27FC236}">
                <a16:creationId xmlns:a16="http://schemas.microsoft.com/office/drawing/2014/main" id="{E875DD31-588F-882B-5861-C91730943C05}"/>
              </a:ext>
            </a:extLst>
          </p:cNvPr>
          <p:cNvSpPr txBox="1"/>
          <p:nvPr/>
        </p:nvSpPr>
        <p:spPr>
          <a:xfrm>
            <a:off x="5982494" y="3560585"/>
            <a:ext cx="317716" cy="1200329"/>
          </a:xfrm>
          <a:prstGeom prst="rect">
            <a:avLst/>
          </a:prstGeom>
          <a:noFill/>
        </p:spPr>
        <p:txBody>
          <a:bodyPr wrap="none" rtlCol="0">
            <a:spAutoFit/>
          </a:bodyPr>
          <a:lstStyle/>
          <a:p>
            <a:r>
              <a:rPr lang="en-NL" sz="2400" dirty="0">
                <a:solidFill>
                  <a:srgbClr val="FFFF00"/>
                </a:solidFill>
                <a:latin typeface="+mj-lt"/>
              </a:rPr>
              <a:t>x</a:t>
            </a:r>
          </a:p>
          <a:p>
            <a:r>
              <a:rPr lang="en-NL" sz="2400" dirty="0">
                <a:solidFill>
                  <a:srgbClr val="FFFF00"/>
                </a:solidFill>
                <a:latin typeface="+mj-lt"/>
              </a:rPr>
              <a:t>x</a:t>
            </a:r>
          </a:p>
          <a:p>
            <a:r>
              <a:rPr lang="en-NL" sz="2400" dirty="0">
                <a:solidFill>
                  <a:srgbClr val="FFFF00"/>
                </a:solidFill>
                <a:latin typeface="+mj-lt"/>
              </a:rPr>
              <a:t>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37" grpId="0" animBg="1"/>
      <p:bldP spid="40" grpId="0" animBg="1"/>
      <p:bldP spid="41" grpId="0"/>
      <p:bldP spid="42" grpId="0"/>
      <p:bldP spid="2" grpId="0"/>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a:t>McCabe Complexity of a Program</a:t>
            </a:r>
          </a:p>
        </p:txBody>
      </p:sp>
      <p:sp>
        <p:nvSpPr>
          <p:cNvPr id="4" name="Slide Number Placeholder 3"/>
          <p:cNvSpPr>
            <a:spLocks noGrp="1"/>
          </p:cNvSpPr>
          <p:nvPr>
            <p:ph type="sldNum" sz="quarter" idx="12"/>
          </p:nvPr>
        </p:nvSpPr>
        <p:spPr/>
        <p:txBody>
          <a:bodyPr/>
          <a:lstStyle/>
          <a:p>
            <a:pPr>
              <a:defRPr/>
            </a:pPr>
            <a:fld id="{4B21F335-DB3D-42C7-B6CC-EFAC860223A2}" type="slidenum">
              <a:rPr lang="en-US" smtClean="0"/>
              <a:pPr>
                <a:defRPr/>
              </a:pPr>
              <a:t>27</a:t>
            </a:fld>
            <a:endParaRPr lang="en-US"/>
          </a:p>
        </p:txBody>
      </p:sp>
      <p:pic>
        <p:nvPicPr>
          <p:cNvPr id="5" name="Picture 4">
            <a:extLst>
              <a:ext uri="{FF2B5EF4-FFF2-40B4-BE49-F238E27FC236}">
                <a16:creationId xmlns:a16="http://schemas.microsoft.com/office/drawing/2014/main" id="{F403AAFF-DD0A-2C54-0B68-8054972E1D20}"/>
              </a:ext>
            </a:extLst>
          </p:cNvPr>
          <p:cNvPicPr>
            <a:picLocks noChangeAspect="1"/>
          </p:cNvPicPr>
          <p:nvPr/>
        </p:nvPicPr>
        <p:blipFill>
          <a:blip r:embed="rId3"/>
          <a:stretch>
            <a:fillRect/>
          </a:stretch>
        </p:blipFill>
        <p:spPr>
          <a:xfrm>
            <a:off x="423215" y="1666857"/>
            <a:ext cx="1828800" cy="2197100"/>
          </a:xfrm>
          <a:prstGeom prst="rect">
            <a:avLst/>
          </a:prstGeom>
        </p:spPr>
      </p:pic>
      <p:pic>
        <p:nvPicPr>
          <p:cNvPr id="6" name="Picture 5">
            <a:extLst>
              <a:ext uri="{FF2B5EF4-FFF2-40B4-BE49-F238E27FC236}">
                <a16:creationId xmlns:a16="http://schemas.microsoft.com/office/drawing/2014/main" id="{D4B6F15D-A4F2-7A4A-6F13-5CCE50AF4CBC}"/>
              </a:ext>
            </a:extLst>
          </p:cNvPr>
          <p:cNvPicPr>
            <a:picLocks noChangeAspect="1"/>
          </p:cNvPicPr>
          <p:nvPr/>
        </p:nvPicPr>
        <p:blipFill>
          <a:blip r:embed="rId4"/>
          <a:stretch>
            <a:fillRect/>
          </a:stretch>
        </p:blipFill>
        <p:spPr>
          <a:xfrm>
            <a:off x="7020272" y="1645897"/>
            <a:ext cx="1828800" cy="4482193"/>
          </a:xfrm>
          <a:prstGeom prst="rect">
            <a:avLst/>
          </a:prstGeom>
        </p:spPr>
      </p:pic>
      <p:sp>
        <p:nvSpPr>
          <p:cNvPr id="7" name="TextBox 6">
            <a:extLst>
              <a:ext uri="{FF2B5EF4-FFF2-40B4-BE49-F238E27FC236}">
                <a16:creationId xmlns:a16="http://schemas.microsoft.com/office/drawing/2014/main" id="{67A9CDC8-4BAE-B187-6F49-6B0CE75E31B9}"/>
              </a:ext>
            </a:extLst>
          </p:cNvPr>
          <p:cNvSpPr txBox="1"/>
          <p:nvPr/>
        </p:nvSpPr>
        <p:spPr>
          <a:xfrm>
            <a:off x="423215" y="4406313"/>
            <a:ext cx="6347048" cy="1569660"/>
          </a:xfrm>
          <a:prstGeom prst="rect">
            <a:avLst/>
          </a:prstGeom>
          <a:noFill/>
          <a:ln>
            <a:solidFill>
              <a:schemeClr val="tx1"/>
            </a:solidFill>
          </a:ln>
        </p:spPr>
        <p:txBody>
          <a:bodyPr wrap="square" rtlCol="0">
            <a:spAutoFit/>
          </a:bodyPr>
          <a:lstStyle/>
          <a:p>
            <a:r>
              <a:rPr lang="en-NL" sz="2400" dirty="0"/>
              <a:t>The ”cyclomatic complexity” of a program is:</a:t>
            </a:r>
          </a:p>
          <a:p>
            <a:r>
              <a:rPr lang="en-NL" sz="2400" dirty="0"/>
              <a:t>   M = E – N </a:t>
            </a:r>
            <a:r>
              <a:rPr lang="en-NL" sz="2400"/>
              <a:t>+ P </a:t>
            </a:r>
            <a:endParaRPr lang="en-NL" sz="2400" dirty="0"/>
          </a:p>
          <a:p>
            <a:r>
              <a:rPr lang="en-NL" sz="2400" dirty="0"/>
              <a:t>   M = E – N + 2</a:t>
            </a:r>
          </a:p>
          <a:p>
            <a:r>
              <a:rPr lang="en-NL" sz="2400" b="0" i="0" dirty="0">
                <a:solidFill>
                  <a:srgbClr val="202122"/>
                </a:solidFill>
                <a:effectLst/>
                <a:latin typeface="Arial" panose="020B0604020202020204" pitchFamily="34" charset="0"/>
              </a:rPr>
              <a:t>🤔…. </a:t>
            </a:r>
            <a:r>
              <a:rPr lang="en-GB" sz="2400" dirty="0">
                <a:solidFill>
                  <a:srgbClr val="202122"/>
                </a:solidFill>
                <a:latin typeface="Arial" panose="020B0604020202020204" pitchFamily="34" charset="0"/>
              </a:rPr>
              <a:t>b</a:t>
            </a:r>
            <a:r>
              <a:rPr lang="en-NL" sz="2400" b="0" i="0" dirty="0">
                <a:solidFill>
                  <a:srgbClr val="202122"/>
                </a:solidFill>
                <a:effectLst/>
                <a:latin typeface="Arial" panose="020B0604020202020204" pitchFamily="34" charset="0"/>
              </a:rPr>
              <a:t>ut </a:t>
            </a:r>
            <a:r>
              <a:rPr lang="en-GB" sz="2400" b="0" i="0" dirty="0">
                <a:solidFill>
                  <a:srgbClr val="202122"/>
                </a:solidFill>
                <a:effectLst/>
                <a:latin typeface="Arial" panose="020B0604020202020204" pitchFamily="34" charset="0"/>
              </a:rPr>
              <a:t>w</a:t>
            </a:r>
            <a:r>
              <a:rPr lang="en-NL" sz="2400" dirty="0">
                <a:solidFill>
                  <a:srgbClr val="202122"/>
                </a:solidFill>
                <a:latin typeface="Arial" panose="020B0604020202020204" pitchFamily="34" charset="0"/>
              </a:rPr>
              <a:t>hat does this represent??</a:t>
            </a:r>
            <a:endParaRPr lang="en-NL" sz="2400" dirty="0"/>
          </a:p>
        </p:txBody>
      </p:sp>
    </p:spTree>
    <p:extLst>
      <p:ext uri="{BB962C8B-B14F-4D97-AF65-F5344CB8AC3E}">
        <p14:creationId xmlns:p14="http://schemas.microsoft.com/office/powerpoint/2010/main" val="12957758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a:t>McCabe’s Original Theorem</a:t>
            </a:r>
          </a:p>
        </p:txBody>
      </p:sp>
      <p:sp>
        <p:nvSpPr>
          <p:cNvPr id="4" name="Slide Number Placeholder 3"/>
          <p:cNvSpPr>
            <a:spLocks noGrp="1"/>
          </p:cNvSpPr>
          <p:nvPr>
            <p:ph type="sldNum" sz="quarter" idx="12"/>
          </p:nvPr>
        </p:nvSpPr>
        <p:spPr/>
        <p:txBody>
          <a:bodyPr/>
          <a:lstStyle/>
          <a:p>
            <a:pPr>
              <a:defRPr/>
            </a:pPr>
            <a:fld id="{4B21F335-DB3D-42C7-B6CC-EFAC860223A2}" type="slidenum">
              <a:rPr lang="en-US" smtClean="0"/>
              <a:pPr>
                <a:defRPr/>
              </a:pPr>
              <a:t>28</a:t>
            </a:fld>
            <a:endParaRPr lang="en-US"/>
          </a:p>
        </p:txBody>
      </p:sp>
      <p:pic>
        <p:nvPicPr>
          <p:cNvPr id="6" name="Picture 5">
            <a:extLst>
              <a:ext uri="{FF2B5EF4-FFF2-40B4-BE49-F238E27FC236}">
                <a16:creationId xmlns:a16="http://schemas.microsoft.com/office/drawing/2014/main" id="{D4B6F15D-A4F2-7A4A-6F13-5CCE50AF4CBC}"/>
              </a:ext>
            </a:extLst>
          </p:cNvPr>
          <p:cNvPicPr>
            <a:picLocks noChangeAspect="1"/>
          </p:cNvPicPr>
          <p:nvPr/>
        </p:nvPicPr>
        <p:blipFill>
          <a:blip r:embed="rId3"/>
          <a:stretch>
            <a:fillRect/>
          </a:stretch>
        </p:blipFill>
        <p:spPr>
          <a:xfrm rot="16200000">
            <a:off x="3657601" y="2971006"/>
            <a:ext cx="1828800" cy="4482193"/>
          </a:xfrm>
          <a:prstGeom prst="rect">
            <a:avLst/>
          </a:prstGeom>
        </p:spPr>
      </p:pic>
      <p:pic>
        <p:nvPicPr>
          <p:cNvPr id="9" name="Picture 8">
            <a:extLst>
              <a:ext uri="{FF2B5EF4-FFF2-40B4-BE49-F238E27FC236}">
                <a16:creationId xmlns:a16="http://schemas.microsoft.com/office/drawing/2014/main" id="{4156439D-8AFE-A27B-06FB-FEA24D1F9A2C}"/>
              </a:ext>
            </a:extLst>
          </p:cNvPr>
          <p:cNvPicPr>
            <a:picLocks noChangeAspect="1"/>
          </p:cNvPicPr>
          <p:nvPr/>
        </p:nvPicPr>
        <p:blipFill>
          <a:blip r:embed="rId4"/>
          <a:stretch>
            <a:fillRect/>
          </a:stretch>
        </p:blipFill>
        <p:spPr>
          <a:xfrm>
            <a:off x="457200" y="1645897"/>
            <a:ext cx="7772400" cy="2530548"/>
          </a:xfrm>
          <a:prstGeom prst="rect">
            <a:avLst/>
          </a:prstGeom>
        </p:spPr>
      </p:pic>
      <p:sp>
        <p:nvSpPr>
          <p:cNvPr id="10" name="TextBox 9">
            <a:extLst>
              <a:ext uri="{FF2B5EF4-FFF2-40B4-BE49-F238E27FC236}">
                <a16:creationId xmlns:a16="http://schemas.microsoft.com/office/drawing/2014/main" id="{34613EC4-63AA-CA86-8F6A-F03AAAB0354C}"/>
              </a:ext>
            </a:extLst>
          </p:cNvPr>
          <p:cNvSpPr txBox="1"/>
          <p:nvPr/>
        </p:nvSpPr>
        <p:spPr>
          <a:xfrm>
            <a:off x="1187624" y="6096544"/>
            <a:ext cx="7212231" cy="369332"/>
          </a:xfrm>
          <a:prstGeom prst="rect">
            <a:avLst/>
          </a:prstGeom>
          <a:noFill/>
        </p:spPr>
        <p:txBody>
          <a:bodyPr wrap="none" rtlCol="0">
            <a:spAutoFit/>
          </a:bodyPr>
          <a:lstStyle/>
          <a:p>
            <a:r>
              <a:rPr lang="en-NL" dirty="0"/>
              <a:t>Note that this CFG does not actually form a strongly connected graph</a:t>
            </a:r>
          </a:p>
        </p:txBody>
      </p:sp>
      <p:sp>
        <p:nvSpPr>
          <p:cNvPr id="2" name="Rectangle 1">
            <a:extLst>
              <a:ext uri="{FF2B5EF4-FFF2-40B4-BE49-F238E27FC236}">
                <a16:creationId xmlns:a16="http://schemas.microsoft.com/office/drawing/2014/main" id="{35174DF2-7C02-E03F-58A3-8F15D7F45456}"/>
              </a:ext>
            </a:extLst>
          </p:cNvPr>
          <p:cNvSpPr/>
          <p:nvPr/>
        </p:nvSpPr>
        <p:spPr>
          <a:xfrm>
            <a:off x="4343400" y="3429000"/>
            <a:ext cx="1308720" cy="360040"/>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21358759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D9BF5-0058-9F0F-A89A-E0F0F8AD12B6}"/>
              </a:ext>
            </a:extLst>
          </p:cNvPr>
          <p:cNvSpPr>
            <a:spLocks noGrp="1"/>
          </p:cNvSpPr>
          <p:nvPr>
            <p:ph type="title"/>
          </p:nvPr>
        </p:nvSpPr>
        <p:spPr/>
        <p:txBody>
          <a:bodyPr/>
          <a:lstStyle/>
          <a:p>
            <a:r>
              <a:rPr lang="en-NL" sz="3600" dirty="0"/>
              <a:t>Connection with program complexity and testing</a:t>
            </a:r>
          </a:p>
        </p:txBody>
      </p:sp>
      <p:sp>
        <p:nvSpPr>
          <p:cNvPr id="3" name="Content Placeholder 2">
            <a:extLst>
              <a:ext uri="{FF2B5EF4-FFF2-40B4-BE49-F238E27FC236}">
                <a16:creationId xmlns:a16="http://schemas.microsoft.com/office/drawing/2014/main" id="{38991B26-55C6-B967-C161-74E0ADBED81F}"/>
              </a:ext>
            </a:extLst>
          </p:cNvPr>
          <p:cNvSpPr>
            <a:spLocks noGrp="1"/>
          </p:cNvSpPr>
          <p:nvPr>
            <p:ph idx="1"/>
          </p:nvPr>
        </p:nvSpPr>
        <p:spPr>
          <a:xfrm>
            <a:off x="457200" y="1844824"/>
            <a:ext cx="8229600" cy="4281339"/>
          </a:xfrm>
        </p:spPr>
        <p:txBody>
          <a:bodyPr/>
          <a:lstStyle/>
          <a:p>
            <a:pPr marL="0" indent="0" algn="ctr">
              <a:buNone/>
            </a:pPr>
            <a:r>
              <a:rPr lang="en-NL" sz="2800" dirty="0"/>
              <a:t>Premise: the circuits (“loops”) are the main source of a program’s complexity. So we should at least test them all.</a:t>
            </a:r>
          </a:p>
          <a:p>
            <a:pPr marL="0" indent="0">
              <a:buNone/>
            </a:pPr>
            <a:endParaRPr lang="en-NL" sz="2800" dirty="0"/>
          </a:p>
          <a:p>
            <a:r>
              <a:rPr lang="en-NL" sz="2800" dirty="0"/>
              <a:t>Linearly independent circuits “corresponds” to ”elementary” loops you have in the program.</a:t>
            </a:r>
          </a:p>
          <a:p>
            <a:r>
              <a:rPr lang="en-NL" sz="2800" dirty="0"/>
              <a:t>Question: what happen with a program without loop?</a:t>
            </a:r>
          </a:p>
        </p:txBody>
      </p:sp>
      <p:sp>
        <p:nvSpPr>
          <p:cNvPr id="4" name="Slide Number Placeholder 3">
            <a:extLst>
              <a:ext uri="{FF2B5EF4-FFF2-40B4-BE49-F238E27FC236}">
                <a16:creationId xmlns:a16="http://schemas.microsoft.com/office/drawing/2014/main" id="{2DCCC0DA-E9AC-0640-C46C-8F23EC04ABC4}"/>
              </a:ext>
            </a:extLst>
          </p:cNvPr>
          <p:cNvSpPr>
            <a:spLocks noGrp="1"/>
          </p:cNvSpPr>
          <p:nvPr>
            <p:ph type="sldNum" sz="quarter" idx="12"/>
          </p:nvPr>
        </p:nvSpPr>
        <p:spPr/>
        <p:txBody>
          <a:bodyPr/>
          <a:lstStyle/>
          <a:p>
            <a:pPr>
              <a:defRPr/>
            </a:pPr>
            <a:fld id="{F7C0A3F7-46F3-44CF-95B7-0304031AA6EA}" type="slidenum">
              <a:rPr lang="en-US" smtClean="0"/>
              <a:pPr>
                <a:defRPr/>
              </a:pPr>
              <a:t>29</a:t>
            </a:fld>
            <a:endParaRPr lang="en-US"/>
          </a:p>
        </p:txBody>
      </p:sp>
      <p:sp>
        <p:nvSpPr>
          <p:cNvPr id="5" name="Rounded Rectangle 4">
            <a:extLst>
              <a:ext uri="{FF2B5EF4-FFF2-40B4-BE49-F238E27FC236}">
                <a16:creationId xmlns:a16="http://schemas.microsoft.com/office/drawing/2014/main" id="{4F5C99A5-57EB-C2B2-98C1-DAA716C5B938}"/>
              </a:ext>
            </a:extLst>
          </p:cNvPr>
          <p:cNvSpPr/>
          <p:nvPr/>
        </p:nvSpPr>
        <p:spPr>
          <a:xfrm>
            <a:off x="367998" y="1772815"/>
            <a:ext cx="8318802" cy="1436707"/>
          </a:xfrm>
          <a:prstGeom prst="roundRect">
            <a:avLst>
              <a:gd name="adj" fmla="val 25954"/>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66347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2C54-0A09-BA26-FF22-F9D7948274F8}"/>
              </a:ext>
            </a:extLst>
          </p:cNvPr>
          <p:cNvSpPr>
            <a:spLocks noGrp="1"/>
          </p:cNvSpPr>
          <p:nvPr>
            <p:ph type="title"/>
          </p:nvPr>
        </p:nvSpPr>
        <p:spPr/>
        <p:txBody>
          <a:bodyPr/>
          <a:lstStyle/>
          <a:p>
            <a:r>
              <a:rPr lang="en-NL" dirty="0"/>
              <a:t>Linearly Independent Circuits</a:t>
            </a:r>
          </a:p>
        </p:txBody>
      </p:sp>
      <p:sp>
        <p:nvSpPr>
          <p:cNvPr id="4" name="Slide Number Placeholder 3">
            <a:extLst>
              <a:ext uri="{FF2B5EF4-FFF2-40B4-BE49-F238E27FC236}">
                <a16:creationId xmlns:a16="http://schemas.microsoft.com/office/drawing/2014/main" id="{4FDCF551-13AB-DE8B-F0D1-354738323B44}"/>
              </a:ext>
            </a:extLst>
          </p:cNvPr>
          <p:cNvSpPr>
            <a:spLocks noGrp="1"/>
          </p:cNvSpPr>
          <p:nvPr>
            <p:ph type="sldNum" sz="quarter" idx="12"/>
          </p:nvPr>
        </p:nvSpPr>
        <p:spPr/>
        <p:txBody>
          <a:bodyPr/>
          <a:lstStyle/>
          <a:p>
            <a:pPr>
              <a:defRPr/>
            </a:pPr>
            <a:fld id="{F7C0A3F7-46F3-44CF-95B7-0304031AA6EA}" type="slidenum">
              <a:rPr lang="en-US" smtClean="0"/>
              <a:pPr>
                <a:defRPr/>
              </a:pPr>
              <a:t>30</a:t>
            </a:fld>
            <a:endParaRPr lang="en-US"/>
          </a:p>
        </p:txBody>
      </p:sp>
      <p:sp>
        <p:nvSpPr>
          <p:cNvPr id="5" name="Oval 4">
            <a:extLst>
              <a:ext uri="{FF2B5EF4-FFF2-40B4-BE49-F238E27FC236}">
                <a16:creationId xmlns:a16="http://schemas.microsoft.com/office/drawing/2014/main" id="{232FEF39-82AB-9D81-70AF-5793A93B5B4D}"/>
              </a:ext>
            </a:extLst>
          </p:cNvPr>
          <p:cNvSpPr/>
          <p:nvPr/>
        </p:nvSpPr>
        <p:spPr>
          <a:xfrm>
            <a:off x="1793515" y="1807505"/>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0</a:t>
            </a:r>
          </a:p>
        </p:txBody>
      </p:sp>
      <p:sp>
        <p:nvSpPr>
          <p:cNvPr id="6" name="Oval 5">
            <a:extLst>
              <a:ext uri="{FF2B5EF4-FFF2-40B4-BE49-F238E27FC236}">
                <a16:creationId xmlns:a16="http://schemas.microsoft.com/office/drawing/2014/main" id="{B500C469-FE41-3BA8-C98B-2CF6BA744150}"/>
              </a:ext>
            </a:extLst>
          </p:cNvPr>
          <p:cNvSpPr/>
          <p:nvPr/>
        </p:nvSpPr>
        <p:spPr>
          <a:xfrm>
            <a:off x="2225563" y="2489150"/>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1</a:t>
            </a:r>
          </a:p>
        </p:txBody>
      </p:sp>
      <p:sp>
        <p:nvSpPr>
          <p:cNvPr id="8" name="Oval 7">
            <a:extLst>
              <a:ext uri="{FF2B5EF4-FFF2-40B4-BE49-F238E27FC236}">
                <a16:creationId xmlns:a16="http://schemas.microsoft.com/office/drawing/2014/main" id="{1E2C262C-DFD6-3EEE-495A-8667575F73AA}"/>
              </a:ext>
            </a:extLst>
          </p:cNvPr>
          <p:cNvSpPr/>
          <p:nvPr/>
        </p:nvSpPr>
        <p:spPr>
          <a:xfrm>
            <a:off x="1433475" y="2489150"/>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2</a:t>
            </a:r>
          </a:p>
        </p:txBody>
      </p:sp>
      <p:cxnSp>
        <p:nvCxnSpPr>
          <p:cNvPr id="10" name="Straight Arrow Connector 9">
            <a:extLst>
              <a:ext uri="{FF2B5EF4-FFF2-40B4-BE49-F238E27FC236}">
                <a16:creationId xmlns:a16="http://schemas.microsoft.com/office/drawing/2014/main" id="{30D589E6-BB44-E8CE-DB77-DC81AC35E481}"/>
              </a:ext>
            </a:extLst>
          </p:cNvPr>
          <p:cNvCxnSpPr>
            <a:stCxn id="5" idx="5"/>
            <a:endCxn id="6" idx="1"/>
          </p:cNvCxnSpPr>
          <p:nvPr/>
        </p:nvCxnSpPr>
        <p:spPr>
          <a:xfrm>
            <a:off x="2039366" y="2053356"/>
            <a:ext cx="228378" cy="47797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9846F4D-E00A-D9A6-C4DF-F8B4B673CECC}"/>
              </a:ext>
            </a:extLst>
          </p:cNvPr>
          <p:cNvCxnSpPr>
            <a:cxnSpLocks/>
            <a:stCxn id="6" idx="2"/>
            <a:endCxn id="8" idx="6"/>
          </p:cNvCxnSpPr>
          <p:nvPr/>
        </p:nvCxnSpPr>
        <p:spPr>
          <a:xfrm flipH="1">
            <a:off x="1721507" y="2633166"/>
            <a:ext cx="50405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004FFF4-B8E6-D133-9E59-20B2D6BBBBF4}"/>
              </a:ext>
            </a:extLst>
          </p:cNvPr>
          <p:cNvCxnSpPr>
            <a:cxnSpLocks/>
            <a:stCxn id="8" idx="7"/>
            <a:endCxn id="5" idx="3"/>
          </p:cNvCxnSpPr>
          <p:nvPr/>
        </p:nvCxnSpPr>
        <p:spPr>
          <a:xfrm flipV="1">
            <a:off x="1679326" y="2053356"/>
            <a:ext cx="156370" cy="47797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4ABD07C2-B89F-5D77-EF03-EE8E6FC21C1A}"/>
              </a:ext>
            </a:extLst>
          </p:cNvPr>
          <p:cNvSpPr txBox="1"/>
          <p:nvPr/>
        </p:nvSpPr>
        <p:spPr>
          <a:xfrm>
            <a:off x="272008" y="3314811"/>
            <a:ext cx="8620472" cy="3170099"/>
          </a:xfrm>
          <a:prstGeom prst="rect">
            <a:avLst/>
          </a:prstGeom>
          <a:noFill/>
        </p:spPr>
        <p:txBody>
          <a:bodyPr wrap="square" rtlCol="0">
            <a:spAutoFit/>
          </a:bodyPr>
          <a:lstStyle/>
          <a:p>
            <a:r>
              <a:rPr lang="en-NL" sz="2000" b="1" dirty="0"/>
              <a:t>Circuit</a:t>
            </a:r>
            <a:r>
              <a:rPr lang="en-NL" sz="2000" dirty="0"/>
              <a:t>: a path that starts and ends in the same node, and never repeats an edge.</a:t>
            </a:r>
          </a:p>
          <a:p>
            <a:endParaRPr lang="en-NL" sz="2000" dirty="0"/>
          </a:p>
          <a:p>
            <a:r>
              <a:rPr lang="en-NL" sz="2000" dirty="0"/>
              <a:t>In the above example we have 3 circuits: [0,1,2,0], [1,2,0,1], and [2,0,1,2]</a:t>
            </a:r>
          </a:p>
          <a:p>
            <a:endParaRPr lang="en-NL" sz="2000" dirty="0"/>
          </a:p>
          <a:p>
            <a:r>
              <a:rPr lang="en-NL" sz="2000" dirty="0"/>
              <a:t>A set C of circuits are linearly independent from each other if evert circuit in C cannot be expressed as a “linear sum” of other circuits in C.</a:t>
            </a:r>
          </a:p>
          <a:p>
            <a:endParaRPr lang="en-NL" sz="2000" dirty="0"/>
          </a:p>
          <a:p>
            <a:r>
              <a:rPr lang="en-NL" sz="2000" dirty="0"/>
              <a:t>An obvious case: if each circuit in C has an edge that other</a:t>
            </a:r>
            <a:r>
              <a:rPr lang="en-NL" sz="2000" dirty="0">
                <a:highlight>
                  <a:srgbClr val="FFFF00"/>
                </a:highlight>
              </a:rPr>
              <a:t>s</a:t>
            </a:r>
            <a:r>
              <a:rPr lang="en-NL" sz="2000" dirty="0"/>
              <a:t> do not have,</a:t>
            </a:r>
          </a:p>
          <a:p>
            <a:r>
              <a:rPr lang="en-NL" sz="2000" dirty="0"/>
              <a:t>the circuits in C </a:t>
            </a:r>
            <a:r>
              <a:rPr lang="en-NL" sz="2000" b="1" dirty="0"/>
              <a:t>are linearly independent.</a:t>
            </a:r>
            <a:endParaRPr lang="en-NL" sz="2000" dirty="0"/>
          </a:p>
        </p:txBody>
      </p:sp>
      <p:sp>
        <p:nvSpPr>
          <p:cNvPr id="21" name="TextBox 20">
            <a:extLst>
              <a:ext uri="{FF2B5EF4-FFF2-40B4-BE49-F238E27FC236}">
                <a16:creationId xmlns:a16="http://schemas.microsoft.com/office/drawing/2014/main" id="{9A1A987B-2B6A-0E1E-A6E8-943BAA0AB9D2}"/>
              </a:ext>
            </a:extLst>
          </p:cNvPr>
          <p:cNvSpPr txBox="1"/>
          <p:nvPr/>
        </p:nvSpPr>
        <p:spPr>
          <a:xfrm>
            <a:off x="3275856" y="1604120"/>
            <a:ext cx="4589718" cy="1477328"/>
          </a:xfrm>
          <a:prstGeom prst="rect">
            <a:avLst/>
          </a:prstGeom>
          <a:solidFill>
            <a:srgbClr val="C3DDFF">
              <a:alpha val="50196"/>
            </a:srgbClr>
          </a:solidFill>
          <a:ln>
            <a:solidFill>
              <a:schemeClr val="tx1"/>
            </a:solidFill>
          </a:ln>
        </p:spPr>
        <p:txBody>
          <a:bodyPr wrap="none" rtlCol="0">
            <a:spAutoFit/>
          </a:bodyPr>
          <a:lstStyle/>
          <a:p>
            <a:r>
              <a:rPr lang="en-NL" dirty="0"/>
              <a:t># linerarly independent circuits = 1</a:t>
            </a:r>
          </a:p>
          <a:p>
            <a:endParaRPr lang="en-NL" dirty="0"/>
          </a:p>
          <a:p>
            <a:r>
              <a:rPr lang="en-NL" dirty="0"/>
              <a:t>Note that in a cycle like this #edge = #node</a:t>
            </a:r>
          </a:p>
          <a:p>
            <a:endParaRPr lang="en-NL" dirty="0"/>
          </a:p>
          <a:p>
            <a:r>
              <a:rPr lang="en-NL" dirty="0"/>
              <a:t>So, #lics = E – N + 1 ?</a:t>
            </a:r>
          </a:p>
        </p:txBody>
      </p:sp>
    </p:spTree>
    <p:extLst>
      <p:ext uri="{BB962C8B-B14F-4D97-AF65-F5344CB8AC3E}">
        <p14:creationId xmlns:p14="http://schemas.microsoft.com/office/powerpoint/2010/main" val="22545043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2C54-0A09-BA26-FF22-F9D7948274F8}"/>
              </a:ext>
            </a:extLst>
          </p:cNvPr>
          <p:cNvSpPr>
            <a:spLocks noGrp="1"/>
          </p:cNvSpPr>
          <p:nvPr>
            <p:ph type="title"/>
          </p:nvPr>
        </p:nvSpPr>
        <p:spPr/>
        <p:txBody>
          <a:bodyPr/>
          <a:lstStyle/>
          <a:p>
            <a:r>
              <a:rPr lang="en-NL" dirty="0"/>
              <a:t>linearly (in)dependent circuits</a:t>
            </a:r>
          </a:p>
        </p:txBody>
      </p:sp>
      <p:sp>
        <p:nvSpPr>
          <p:cNvPr id="4" name="Slide Number Placeholder 3">
            <a:extLst>
              <a:ext uri="{FF2B5EF4-FFF2-40B4-BE49-F238E27FC236}">
                <a16:creationId xmlns:a16="http://schemas.microsoft.com/office/drawing/2014/main" id="{4FDCF551-13AB-DE8B-F0D1-354738323B44}"/>
              </a:ext>
            </a:extLst>
          </p:cNvPr>
          <p:cNvSpPr>
            <a:spLocks noGrp="1"/>
          </p:cNvSpPr>
          <p:nvPr>
            <p:ph type="sldNum" sz="quarter" idx="12"/>
          </p:nvPr>
        </p:nvSpPr>
        <p:spPr/>
        <p:txBody>
          <a:bodyPr/>
          <a:lstStyle/>
          <a:p>
            <a:pPr>
              <a:defRPr/>
            </a:pPr>
            <a:fld id="{F7C0A3F7-46F3-44CF-95B7-0304031AA6EA}" type="slidenum">
              <a:rPr lang="en-US" smtClean="0"/>
              <a:pPr>
                <a:defRPr/>
              </a:pPr>
              <a:t>31</a:t>
            </a:fld>
            <a:endParaRPr lang="en-US"/>
          </a:p>
        </p:txBody>
      </p:sp>
      <p:sp>
        <p:nvSpPr>
          <p:cNvPr id="5" name="Oval 4">
            <a:extLst>
              <a:ext uri="{FF2B5EF4-FFF2-40B4-BE49-F238E27FC236}">
                <a16:creationId xmlns:a16="http://schemas.microsoft.com/office/drawing/2014/main" id="{232FEF39-82AB-9D81-70AF-5793A93B5B4D}"/>
              </a:ext>
            </a:extLst>
          </p:cNvPr>
          <p:cNvSpPr/>
          <p:nvPr/>
        </p:nvSpPr>
        <p:spPr>
          <a:xfrm>
            <a:off x="4038117" y="2060849"/>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0</a:t>
            </a:r>
          </a:p>
        </p:txBody>
      </p:sp>
      <p:sp>
        <p:nvSpPr>
          <p:cNvPr id="6" name="Oval 5">
            <a:extLst>
              <a:ext uri="{FF2B5EF4-FFF2-40B4-BE49-F238E27FC236}">
                <a16:creationId xmlns:a16="http://schemas.microsoft.com/office/drawing/2014/main" id="{B500C469-FE41-3BA8-C98B-2CF6BA744150}"/>
              </a:ext>
            </a:extLst>
          </p:cNvPr>
          <p:cNvSpPr/>
          <p:nvPr/>
        </p:nvSpPr>
        <p:spPr>
          <a:xfrm>
            <a:off x="4470165" y="2742494"/>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1</a:t>
            </a:r>
          </a:p>
        </p:txBody>
      </p:sp>
      <p:sp>
        <p:nvSpPr>
          <p:cNvPr id="8" name="Oval 7">
            <a:extLst>
              <a:ext uri="{FF2B5EF4-FFF2-40B4-BE49-F238E27FC236}">
                <a16:creationId xmlns:a16="http://schemas.microsoft.com/office/drawing/2014/main" id="{1E2C262C-DFD6-3EEE-495A-8667575F73AA}"/>
              </a:ext>
            </a:extLst>
          </p:cNvPr>
          <p:cNvSpPr/>
          <p:nvPr/>
        </p:nvSpPr>
        <p:spPr>
          <a:xfrm>
            <a:off x="3678077" y="2742494"/>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2</a:t>
            </a:r>
          </a:p>
        </p:txBody>
      </p:sp>
      <p:cxnSp>
        <p:nvCxnSpPr>
          <p:cNvPr id="10" name="Straight Arrow Connector 9">
            <a:extLst>
              <a:ext uri="{FF2B5EF4-FFF2-40B4-BE49-F238E27FC236}">
                <a16:creationId xmlns:a16="http://schemas.microsoft.com/office/drawing/2014/main" id="{30D589E6-BB44-E8CE-DB77-DC81AC35E481}"/>
              </a:ext>
            </a:extLst>
          </p:cNvPr>
          <p:cNvCxnSpPr>
            <a:stCxn id="5" idx="5"/>
            <a:endCxn id="6" idx="1"/>
          </p:cNvCxnSpPr>
          <p:nvPr/>
        </p:nvCxnSpPr>
        <p:spPr>
          <a:xfrm>
            <a:off x="4283968" y="2306700"/>
            <a:ext cx="228378" cy="47797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9846F4D-E00A-D9A6-C4DF-F8B4B673CECC}"/>
              </a:ext>
            </a:extLst>
          </p:cNvPr>
          <p:cNvCxnSpPr>
            <a:cxnSpLocks/>
            <a:stCxn id="6" idx="2"/>
            <a:endCxn id="8" idx="6"/>
          </p:cNvCxnSpPr>
          <p:nvPr/>
        </p:nvCxnSpPr>
        <p:spPr>
          <a:xfrm flipH="1">
            <a:off x="3966109" y="2886510"/>
            <a:ext cx="50405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004FFF4-B8E6-D133-9E59-20B2D6BBBBF4}"/>
              </a:ext>
            </a:extLst>
          </p:cNvPr>
          <p:cNvCxnSpPr>
            <a:cxnSpLocks/>
            <a:stCxn id="8" idx="7"/>
            <a:endCxn id="5" idx="3"/>
          </p:cNvCxnSpPr>
          <p:nvPr/>
        </p:nvCxnSpPr>
        <p:spPr>
          <a:xfrm flipV="1">
            <a:off x="3923928" y="2306700"/>
            <a:ext cx="156370" cy="47797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2BB907DC-3F1C-9E50-1E63-31E76AB09251}"/>
              </a:ext>
            </a:extLst>
          </p:cNvPr>
          <p:cNvSpPr/>
          <p:nvPr/>
        </p:nvSpPr>
        <p:spPr>
          <a:xfrm>
            <a:off x="5076056" y="2060849"/>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3</a:t>
            </a:r>
          </a:p>
        </p:txBody>
      </p:sp>
      <p:cxnSp>
        <p:nvCxnSpPr>
          <p:cNvPr id="13" name="Straight Arrow Connector 12">
            <a:extLst>
              <a:ext uri="{FF2B5EF4-FFF2-40B4-BE49-F238E27FC236}">
                <a16:creationId xmlns:a16="http://schemas.microsoft.com/office/drawing/2014/main" id="{7C4D0A38-02EC-E580-69D5-9E5C50E9E8EA}"/>
              </a:ext>
            </a:extLst>
          </p:cNvPr>
          <p:cNvCxnSpPr>
            <a:cxnSpLocks/>
            <a:stCxn id="5" idx="6"/>
            <a:endCxn id="12" idx="2"/>
          </p:cNvCxnSpPr>
          <p:nvPr/>
        </p:nvCxnSpPr>
        <p:spPr>
          <a:xfrm>
            <a:off x="4326149" y="2204865"/>
            <a:ext cx="74990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urved Connector 18">
            <a:extLst>
              <a:ext uri="{FF2B5EF4-FFF2-40B4-BE49-F238E27FC236}">
                <a16:creationId xmlns:a16="http://schemas.microsoft.com/office/drawing/2014/main" id="{EBA28F27-8466-64BA-B58F-54B4E1F3EEF5}"/>
              </a:ext>
            </a:extLst>
          </p:cNvPr>
          <p:cNvCxnSpPr>
            <a:stCxn id="12" idx="0"/>
            <a:endCxn id="5" idx="7"/>
          </p:cNvCxnSpPr>
          <p:nvPr/>
        </p:nvCxnSpPr>
        <p:spPr>
          <a:xfrm rot="16200000" flipH="1" flipV="1">
            <a:off x="4730929" y="1613887"/>
            <a:ext cx="42181" cy="936104"/>
          </a:xfrm>
          <a:prstGeom prst="curvedConnector3">
            <a:avLst>
              <a:gd name="adj1" fmla="val -54195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E46EC5C-D3A5-1D74-2559-A55550DFBE9D}"/>
              </a:ext>
            </a:extLst>
          </p:cNvPr>
          <p:cNvSpPr txBox="1"/>
          <p:nvPr/>
        </p:nvSpPr>
        <p:spPr>
          <a:xfrm>
            <a:off x="4355893" y="2305971"/>
            <a:ext cx="312906" cy="369332"/>
          </a:xfrm>
          <a:prstGeom prst="rect">
            <a:avLst/>
          </a:prstGeom>
          <a:noFill/>
        </p:spPr>
        <p:txBody>
          <a:bodyPr wrap="none" rtlCol="0">
            <a:spAutoFit/>
          </a:bodyPr>
          <a:lstStyle/>
          <a:p>
            <a:r>
              <a:rPr lang="en-NL" dirty="0">
                <a:solidFill>
                  <a:srgbClr val="FF0000"/>
                </a:solidFill>
              </a:rPr>
              <a:t>a</a:t>
            </a:r>
          </a:p>
        </p:txBody>
      </p:sp>
      <p:sp>
        <p:nvSpPr>
          <p:cNvPr id="7" name="TextBox 6">
            <a:extLst>
              <a:ext uri="{FF2B5EF4-FFF2-40B4-BE49-F238E27FC236}">
                <a16:creationId xmlns:a16="http://schemas.microsoft.com/office/drawing/2014/main" id="{0D75238B-E316-210B-EF9C-4F69B00D449A}"/>
              </a:ext>
            </a:extLst>
          </p:cNvPr>
          <p:cNvSpPr txBox="1"/>
          <p:nvPr/>
        </p:nvSpPr>
        <p:spPr>
          <a:xfrm>
            <a:off x="4118779" y="2878973"/>
            <a:ext cx="312906" cy="369332"/>
          </a:xfrm>
          <a:prstGeom prst="rect">
            <a:avLst/>
          </a:prstGeom>
          <a:noFill/>
        </p:spPr>
        <p:txBody>
          <a:bodyPr wrap="none" rtlCol="0">
            <a:spAutoFit/>
          </a:bodyPr>
          <a:lstStyle/>
          <a:p>
            <a:r>
              <a:rPr lang="en-NL" dirty="0">
                <a:solidFill>
                  <a:srgbClr val="FF0000"/>
                </a:solidFill>
              </a:rPr>
              <a:t>b</a:t>
            </a:r>
          </a:p>
        </p:txBody>
      </p:sp>
      <p:sp>
        <p:nvSpPr>
          <p:cNvPr id="9" name="TextBox 8">
            <a:extLst>
              <a:ext uri="{FF2B5EF4-FFF2-40B4-BE49-F238E27FC236}">
                <a16:creationId xmlns:a16="http://schemas.microsoft.com/office/drawing/2014/main" id="{76C81A6B-4CF9-D739-8300-B900F2BA25CE}"/>
              </a:ext>
            </a:extLst>
          </p:cNvPr>
          <p:cNvSpPr txBox="1"/>
          <p:nvPr/>
        </p:nvSpPr>
        <p:spPr>
          <a:xfrm>
            <a:off x="3678036" y="2322245"/>
            <a:ext cx="300082" cy="369332"/>
          </a:xfrm>
          <a:prstGeom prst="rect">
            <a:avLst/>
          </a:prstGeom>
          <a:noFill/>
        </p:spPr>
        <p:txBody>
          <a:bodyPr wrap="none" rtlCol="0">
            <a:spAutoFit/>
          </a:bodyPr>
          <a:lstStyle/>
          <a:p>
            <a:r>
              <a:rPr lang="en-NL" dirty="0">
                <a:solidFill>
                  <a:srgbClr val="FF0000"/>
                </a:solidFill>
              </a:rPr>
              <a:t>c</a:t>
            </a:r>
          </a:p>
        </p:txBody>
      </p:sp>
      <p:sp>
        <p:nvSpPr>
          <p:cNvPr id="14" name="TextBox 13">
            <a:extLst>
              <a:ext uri="{FF2B5EF4-FFF2-40B4-BE49-F238E27FC236}">
                <a16:creationId xmlns:a16="http://schemas.microsoft.com/office/drawing/2014/main" id="{D3A2589E-E48B-B05D-01EB-B982D4A576D0}"/>
              </a:ext>
            </a:extLst>
          </p:cNvPr>
          <p:cNvSpPr txBox="1"/>
          <p:nvPr/>
        </p:nvSpPr>
        <p:spPr>
          <a:xfrm>
            <a:off x="4559522" y="1895400"/>
            <a:ext cx="312906" cy="369332"/>
          </a:xfrm>
          <a:prstGeom prst="rect">
            <a:avLst/>
          </a:prstGeom>
          <a:noFill/>
        </p:spPr>
        <p:txBody>
          <a:bodyPr wrap="none" rtlCol="0">
            <a:spAutoFit/>
          </a:bodyPr>
          <a:lstStyle/>
          <a:p>
            <a:r>
              <a:rPr lang="en-NL" dirty="0">
                <a:solidFill>
                  <a:srgbClr val="FF0000"/>
                </a:solidFill>
              </a:rPr>
              <a:t>d</a:t>
            </a:r>
          </a:p>
        </p:txBody>
      </p:sp>
      <p:sp>
        <p:nvSpPr>
          <p:cNvPr id="15" name="TextBox 14">
            <a:extLst>
              <a:ext uri="{FF2B5EF4-FFF2-40B4-BE49-F238E27FC236}">
                <a16:creationId xmlns:a16="http://schemas.microsoft.com/office/drawing/2014/main" id="{036CDE85-4FF8-6164-481B-A0804DCF17A2}"/>
              </a:ext>
            </a:extLst>
          </p:cNvPr>
          <p:cNvSpPr txBox="1"/>
          <p:nvPr/>
        </p:nvSpPr>
        <p:spPr>
          <a:xfrm>
            <a:off x="4512346" y="1513517"/>
            <a:ext cx="312906" cy="369332"/>
          </a:xfrm>
          <a:prstGeom prst="rect">
            <a:avLst/>
          </a:prstGeom>
          <a:noFill/>
        </p:spPr>
        <p:txBody>
          <a:bodyPr wrap="none" rtlCol="0">
            <a:spAutoFit/>
          </a:bodyPr>
          <a:lstStyle/>
          <a:p>
            <a:r>
              <a:rPr lang="en-NL" dirty="0">
                <a:solidFill>
                  <a:srgbClr val="FF0000"/>
                </a:solidFill>
              </a:rPr>
              <a:t>e</a:t>
            </a:r>
          </a:p>
        </p:txBody>
      </p:sp>
      <p:graphicFrame>
        <p:nvGraphicFramePr>
          <p:cNvPr id="18" name="Table 20">
            <a:extLst>
              <a:ext uri="{FF2B5EF4-FFF2-40B4-BE49-F238E27FC236}">
                <a16:creationId xmlns:a16="http://schemas.microsoft.com/office/drawing/2014/main" id="{40C4BF63-8F98-F2C7-4DEA-EA85487341DF}"/>
              </a:ext>
            </a:extLst>
          </p:cNvPr>
          <p:cNvGraphicFramePr>
            <a:graphicFrameLocks noGrp="1"/>
          </p:cNvGraphicFramePr>
          <p:nvPr>
            <p:extLst>
              <p:ext uri="{D42A27DB-BD31-4B8C-83A1-F6EECF244321}">
                <p14:modId xmlns:p14="http://schemas.microsoft.com/office/powerpoint/2010/main" val="2280231921"/>
              </p:ext>
            </p:extLst>
          </p:nvPr>
        </p:nvGraphicFramePr>
        <p:xfrm>
          <a:off x="2334117" y="3237943"/>
          <a:ext cx="4475766" cy="1483360"/>
        </p:xfrm>
        <a:graphic>
          <a:graphicData uri="http://schemas.openxmlformats.org/drawingml/2006/table">
            <a:tbl>
              <a:tblPr firstRow="1" bandRow="1">
                <a:tableStyleId>{93296810-A885-4BE3-A3E7-6D5BEEA58F35}</a:tableStyleId>
              </a:tblPr>
              <a:tblGrid>
                <a:gridCol w="2747572">
                  <a:extLst>
                    <a:ext uri="{9D8B030D-6E8A-4147-A177-3AD203B41FA5}">
                      <a16:colId xmlns:a16="http://schemas.microsoft.com/office/drawing/2014/main" val="3197199221"/>
                    </a:ext>
                  </a:extLst>
                </a:gridCol>
                <a:gridCol w="360040">
                  <a:extLst>
                    <a:ext uri="{9D8B030D-6E8A-4147-A177-3AD203B41FA5}">
                      <a16:colId xmlns:a16="http://schemas.microsoft.com/office/drawing/2014/main" val="3855053121"/>
                    </a:ext>
                  </a:extLst>
                </a:gridCol>
                <a:gridCol w="288032">
                  <a:extLst>
                    <a:ext uri="{9D8B030D-6E8A-4147-A177-3AD203B41FA5}">
                      <a16:colId xmlns:a16="http://schemas.microsoft.com/office/drawing/2014/main" val="1256686142"/>
                    </a:ext>
                  </a:extLst>
                </a:gridCol>
                <a:gridCol w="360040">
                  <a:extLst>
                    <a:ext uri="{9D8B030D-6E8A-4147-A177-3AD203B41FA5}">
                      <a16:colId xmlns:a16="http://schemas.microsoft.com/office/drawing/2014/main" val="1373789303"/>
                    </a:ext>
                  </a:extLst>
                </a:gridCol>
                <a:gridCol w="360040">
                  <a:extLst>
                    <a:ext uri="{9D8B030D-6E8A-4147-A177-3AD203B41FA5}">
                      <a16:colId xmlns:a16="http://schemas.microsoft.com/office/drawing/2014/main" val="1692796465"/>
                    </a:ext>
                  </a:extLst>
                </a:gridCol>
                <a:gridCol w="360042">
                  <a:extLst>
                    <a:ext uri="{9D8B030D-6E8A-4147-A177-3AD203B41FA5}">
                      <a16:colId xmlns:a16="http://schemas.microsoft.com/office/drawing/2014/main" val="383136513"/>
                    </a:ext>
                  </a:extLst>
                </a:gridCol>
              </a:tblGrid>
              <a:tr h="370840">
                <a:tc>
                  <a:txBody>
                    <a:bodyPr/>
                    <a:lstStyle/>
                    <a:p>
                      <a:r>
                        <a:rPr lang="en-NL" b="0" dirty="0">
                          <a:solidFill>
                            <a:schemeClr val="tx1"/>
                          </a:solidFill>
                        </a:rPr>
                        <a:t>circuit</a:t>
                      </a:r>
                    </a:p>
                  </a:txBody>
                  <a:tcPr>
                    <a:solidFill>
                      <a:schemeClr val="accent5">
                        <a:lumMod val="20000"/>
                        <a:lumOff val="80000"/>
                      </a:schemeClr>
                    </a:solidFill>
                  </a:tcPr>
                </a:tc>
                <a:tc>
                  <a:txBody>
                    <a:bodyPr/>
                    <a:lstStyle/>
                    <a:p>
                      <a:r>
                        <a:rPr lang="en-NL" b="0" dirty="0">
                          <a:solidFill>
                            <a:schemeClr val="tx1"/>
                          </a:solidFill>
                        </a:rPr>
                        <a:t>a</a:t>
                      </a:r>
                    </a:p>
                  </a:txBody>
                  <a:tcPr>
                    <a:solidFill>
                      <a:schemeClr val="accent5">
                        <a:lumMod val="20000"/>
                        <a:lumOff val="80000"/>
                      </a:schemeClr>
                    </a:solidFill>
                  </a:tcPr>
                </a:tc>
                <a:tc>
                  <a:txBody>
                    <a:bodyPr/>
                    <a:lstStyle/>
                    <a:p>
                      <a:r>
                        <a:rPr lang="en-NL" b="0" dirty="0">
                          <a:solidFill>
                            <a:schemeClr val="tx1"/>
                          </a:solidFill>
                        </a:rPr>
                        <a:t>b</a:t>
                      </a:r>
                    </a:p>
                  </a:txBody>
                  <a:tcPr>
                    <a:solidFill>
                      <a:schemeClr val="accent5">
                        <a:lumMod val="20000"/>
                        <a:lumOff val="80000"/>
                      </a:schemeClr>
                    </a:solidFill>
                  </a:tcPr>
                </a:tc>
                <a:tc>
                  <a:txBody>
                    <a:bodyPr/>
                    <a:lstStyle/>
                    <a:p>
                      <a:r>
                        <a:rPr lang="en-NL" b="0" dirty="0">
                          <a:solidFill>
                            <a:schemeClr val="tx1"/>
                          </a:solidFill>
                        </a:rPr>
                        <a:t>c</a:t>
                      </a:r>
                    </a:p>
                  </a:txBody>
                  <a:tcPr>
                    <a:solidFill>
                      <a:schemeClr val="accent5">
                        <a:lumMod val="20000"/>
                        <a:lumOff val="80000"/>
                      </a:schemeClr>
                    </a:solidFill>
                  </a:tcPr>
                </a:tc>
                <a:tc>
                  <a:txBody>
                    <a:bodyPr/>
                    <a:lstStyle/>
                    <a:p>
                      <a:r>
                        <a:rPr lang="en-NL" b="0" dirty="0">
                          <a:solidFill>
                            <a:schemeClr val="tx1"/>
                          </a:solidFill>
                        </a:rPr>
                        <a:t>d</a:t>
                      </a:r>
                    </a:p>
                  </a:txBody>
                  <a:tcPr>
                    <a:solidFill>
                      <a:schemeClr val="accent5">
                        <a:lumMod val="20000"/>
                        <a:lumOff val="80000"/>
                      </a:schemeClr>
                    </a:solidFill>
                  </a:tcPr>
                </a:tc>
                <a:tc>
                  <a:txBody>
                    <a:bodyPr/>
                    <a:lstStyle/>
                    <a:p>
                      <a:r>
                        <a:rPr lang="en-NL" b="0" dirty="0">
                          <a:solidFill>
                            <a:schemeClr val="tx1"/>
                          </a:solidFill>
                        </a:rPr>
                        <a:t>e</a:t>
                      </a:r>
                    </a:p>
                  </a:txBody>
                  <a:tcPr>
                    <a:solidFill>
                      <a:schemeClr val="accent5">
                        <a:lumMod val="20000"/>
                        <a:lumOff val="80000"/>
                      </a:schemeClr>
                    </a:solidFill>
                  </a:tcPr>
                </a:tc>
                <a:extLst>
                  <a:ext uri="{0D108BD9-81ED-4DB2-BD59-A6C34878D82A}">
                    <a16:rowId xmlns:a16="http://schemas.microsoft.com/office/drawing/2014/main" val="1937155199"/>
                  </a:ext>
                </a:extLst>
              </a:tr>
              <a:tr h="370840">
                <a:tc>
                  <a:txBody>
                    <a:bodyPr/>
                    <a:lstStyle/>
                    <a:p>
                      <a:r>
                        <a:rPr lang="en-NL" b="0" dirty="0">
                          <a:solidFill>
                            <a:schemeClr val="tx1"/>
                          </a:solidFill>
                        </a:rPr>
                        <a:t>c</a:t>
                      </a:r>
                      <a:r>
                        <a:rPr lang="en-NL" b="0" baseline="-25000" dirty="0">
                          <a:solidFill>
                            <a:schemeClr val="tx1"/>
                          </a:solidFill>
                        </a:rPr>
                        <a:t>1</a:t>
                      </a:r>
                      <a:r>
                        <a:rPr lang="en-NL" b="0" dirty="0">
                          <a:solidFill>
                            <a:schemeClr val="tx1"/>
                          </a:solidFill>
                        </a:rPr>
                        <a:t> = [0,3,0]</a:t>
                      </a:r>
                    </a:p>
                  </a:txBody>
                  <a:tcPr>
                    <a:solidFill>
                      <a:schemeClr val="tx2">
                        <a:lumMod val="20000"/>
                        <a:lumOff val="80000"/>
                      </a:schemeClr>
                    </a:solidFill>
                  </a:tcPr>
                </a:tc>
                <a:tc>
                  <a:txBody>
                    <a:bodyPr/>
                    <a:lstStyle/>
                    <a:p>
                      <a:r>
                        <a:rPr lang="en-NL" b="0" dirty="0">
                          <a:solidFill>
                            <a:schemeClr val="tx1"/>
                          </a:solidFill>
                        </a:rPr>
                        <a:t>0</a:t>
                      </a:r>
                    </a:p>
                  </a:txBody>
                  <a:tcPr>
                    <a:solidFill>
                      <a:schemeClr val="tx2">
                        <a:lumMod val="20000"/>
                        <a:lumOff val="80000"/>
                      </a:schemeClr>
                    </a:solidFill>
                  </a:tcPr>
                </a:tc>
                <a:tc>
                  <a:txBody>
                    <a:bodyPr/>
                    <a:lstStyle/>
                    <a:p>
                      <a:r>
                        <a:rPr lang="en-NL" b="0" dirty="0">
                          <a:solidFill>
                            <a:schemeClr val="tx1"/>
                          </a:solidFill>
                        </a:rPr>
                        <a:t>0</a:t>
                      </a:r>
                    </a:p>
                  </a:txBody>
                  <a:tcPr>
                    <a:solidFill>
                      <a:schemeClr val="tx2">
                        <a:lumMod val="20000"/>
                        <a:lumOff val="80000"/>
                      </a:schemeClr>
                    </a:solidFill>
                  </a:tcPr>
                </a:tc>
                <a:tc>
                  <a:txBody>
                    <a:bodyPr/>
                    <a:lstStyle/>
                    <a:p>
                      <a:r>
                        <a:rPr lang="en-NL" b="0" dirty="0">
                          <a:solidFill>
                            <a:schemeClr val="tx1"/>
                          </a:solidFill>
                        </a:rPr>
                        <a:t>0</a:t>
                      </a:r>
                    </a:p>
                  </a:txBody>
                  <a:tcPr>
                    <a:solidFill>
                      <a:schemeClr val="tx2">
                        <a:lumMod val="20000"/>
                        <a:lumOff val="80000"/>
                      </a:schemeClr>
                    </a:solidFill>
                  </a:tcPr>
                </a:tc>
                <a:tc>
                  <a:txBody>
                    <a:bodyPr/>
                    <a:lstStyle/>
                    <a:p>
                      <a:r>
                        <a:rPr lang="en-NL" b="0" dirty="0">
                          <a:solidFill>
                            <a:schemeClr val="tx1"/>
                          </a:solidFill>
                        </a:rPr>
                        <a:t>1</a:t>
                      </a:r>
                    </a:p>
                  </a:txBody>
                  <a:tcPr>
                    <a:solidFill>
                      <a:schemeClr val="tx2">
                        <a:lumMod val="20000"/>
                        <a:lumOff val="80000"/>
                      </a:schemeClr>
                    </a:solidFill>
                  </a:tcPr>
                </a:tc>
                <a:tc>
                  <a:txBody>
                    <a:bodyPr/>
                    <a:lstStyle/>
                    <a:p>
                      <a:r>
                        <a:rPr lang="en-NL" b="0" dirty="0">
                          <a:solidFill>
                            <a:schemeClr val="tx1"/>
                          </a:solidFill>
                        </a:rPr>
                        <a:t>1</a:t>
                      </a:r>
                    </a:p>
                  </a:txBody>
                  <a:tcPr>
                    <a:solidFill>
                      <a:schemeClr val="tx2">
                        <a:lumMod val="20000"/>
                        <a:lumOff val="80000"/>
                      </a:schemeClr>
                    </a:solidFill>
                  </a:tcPr>
                </a:tc>
                <a:extLst>
                  <a:ext uri="{0D108BD9-81ED-4DB2-BD59-A6C34878D82A}">
                    <a16:rowId xmlns:a16="http://schemas.microsoft.com/office/drawing/2014/main" val="1011075740"/>
                  </a:ext>
                </a:extLst>
              </a:tr>
              <a:tr h="370840">
                <a:tc>
                  <a:txBody>
                    <a:bodyPr/>
                    <a:lstStyle/>
                    <a:p>
                      <a:r>
                        <a:rPr lang="en-NL" b="0" dirty="0">
                          <a:solidFill>
                            <a:schemeClr val="tx1"/>
                          </a:solidFill>
                        </a:rPr>
                        <a:t>c</a:t>
                      </a:r>
                      <a:r>
                        <a:rPr lang="en-NL" b="0" baseline="-25000" dirty="0">
                          <a:solidFill>
                            <a:schemeClr val="tx1"/>
                          </a:solidFill>
                        </a:rPr>
                        <a:t>2</a:t>
                      </a:r>
                      <a:r>
                        <a:rPr lang="en-NL" b="0" dirty="0">
                          <a:solidFill>
                            <a:schemeClr val="tx1"/>
                          </a:solidFill>
                        </a:rPr>
                        <a:t> = [2,0,1,2]</a:t>
                      </a:r>
                    </a:p>
                  </a:txBody>
                  <a:tcPr>
                    <a:solidFill>
                      <a:schemeClr val="tx2">
                        <a:lumMod val="20000"/>
                        <a:lumOff val="80000"/>
                      </a:schemeClr>
                    </a:solidFill>
                  </a:tcPr>
                </a:tc>
                <a:tc>
                  <a:txBody>
                    <a:bodyPr/>
                    <a:lstStyle/>
                    <a:p>
                      <a:r>
                        <a:rPr lang="en-NL" b="0" dirty="0">
                          <a:solidFill>
                            <a:schemeClr val="tx1"/>
                          </a:solidFill>
                        </a:rPr>
                        <a:t>1</a:t>
                      </a:r>
                    </a:p>
                  </a:txBody>
                  <a:tcPr>
                    <a:solidFill>
                      <a:schemeClr val="tx2">
                        <a:lumMod val="20000"/>
                        <a:lumOff val="80000"/>
                      </a:schemeClr>
                    </a:solidFill>
                  </a:tcPr>
                </a:tc>
                <a:tc>
                  <a:txBody>
                    <a:bodyPr/>
                    <a:lstStyle/>
                    <a:p>
                      <a:r>
                        <a:rPr lang="en-NL" b="0" dirty="0">
                          <a:solidFill>
                            <a:schemeClr val="tx1"/>
                          </a:solidFill>
                        </a:rPr>
                        <a:t>1</a:t>
                      </a:r>
                    </a:p>
                  </a:txBody>
                  <a:tcPr>
                    <a:solidFill>
                      <a:schemeClr val="tx2">
                        <a:lumMod val="20000"/>
                        <a:lumOff val="80000"/>
                      </a:schemeClr>
                    </a:solidFill>
                  </a:tcPr>
                </a:tc>
                <a:tc>
                  <a:txBody>
                    <a:bodyPr/>
                    <a:lstStyle/>
                    <a:p>
                      <a:r>
                        <a:rPr lang="en-NL" b="0" dirty="0">
                          <a:solidFill>
                            <a:schemeClr val="tx1"/>
                          </a:solidFill>
                        </a:rPr>
                        <a:t>1</a:t>
                      </a:r>
                    </a:p>
                  </a:txBody>
                  <a:tcPr>
                    <a:solidFill>
                      <a:schemeClr val="tx2">
                        <a:lumMod val="20000"/>
                        <a:lumOff val="80000"/>
                      </a:schemeClr>
                    </a:solidFill>
                  </a:tcPr>
                </a:tc>
                <a:tc>
                  <a:txBody>
                    <a:bodyPr/>
                    <a:lstStyle/>
                    <a:p>
                      <a:r>
                        <a:rPr lang="en-NL" b="0" dirty="0">
                          <a:solidFill>
                            <a:schemeClr val="tx1"/>
                          </a:solidFill>
                        </a:rPr>
                        <a:t>0</a:t>
                      </a:r>
                    </a:p>
                  </a:txBody>
                  <a:tcPr>
                    <a:solidFill>
                      <a:schemeClr val="tx2">
                        <a:lumMod val="20000"/>
                        <a:lumOff val="80000"/>
                      </a:schemeClr>
                    </a:solidFill>
                  </a:tcPr>
                </a:tc>
                <a:tc>
                  <a:txBody>
                    <a:bodyPr/>
                    <a:lstStyle/>
                    <a:p>
                      <a:r>
                        <a:rPr lang="en-NL" b="0" dirty="0">
                          <a:solidFill>
                            <a:schemeClr val="tx1"/>
                          </a:solidFill>
                        </a:rPr>
                        <a:t>0</a:t>
                      </a:r>
                    </a:p>
                  </a:txBody>
                  <a:tcPr>
                    <a:solidFill>
                      <a:schemeClr val="tx2">
                        <a:lumMod val="20000"/>
                        <a:lumOff val="80000"/>
                      </a:schemeClr>
                    </a:solidFill>
                  </a:tcPr>
                </a:tc>
                <a:extLst>
                  <a:ext uri="{0D108BD9-81ED-4DB2-BD59-A6C34878D82A}">
                    <a16:rowId xmlns:a16="http://schemas.microsoft.com/office/drawing/2014/main" val="1712407274"/>
                  </a:ext>
                </a:extLst>
              </a:tr>
              <a:tr h="370840">
                <a:tc>
                  <a:txBody>
                    <a:bodyPr/>
                    <a:lstStyle/>
                    <a:p>
                      <a:r>
                        <a:rPr lang="en-NL" b="0" dirty="0">
                          <a:solidFill>
                            <a:schemeClr val="tx1"/>
                          </a:solidFill>
                        </a:rPr>
                        <a:t>c</a:t>
                      </a:r>
                      <a:r>
                        <a:rPr lang="en-NL" b="0" baseline="-25000" dirty="0">
                          <a:solidFill>
                            <a:schemeClr val="tx1"/>
                          </a:solidFill>
                        </a:rPr>
                        <a:t>3</a:t>
                      </a:r>
                      <a:r>
                        <a:rPr lang="en-NL" b="0" dirty="0">
                          <a:solidFill>
                            <a:schemeClr val="tx1"/>
                          </a:solidFill>
                        </a:rPr>
                        <a:t> = [0,3,0,1,2,0]</a:t>
                      </a:r>
                    </a:p>
                  </a:txBody>
                  <a:tcPr>
                    <a:solidFill>
                      <a:schemeClr val="tx2">
                        <a:lumMod val="20000"/>
                        <a:lumOff val="80000"/>
                      </a:schemeClr>
                    </a:solidFill>
                  </a:tcPr>
                </a:tc>
                <a:tc>
                  <a:txBody>
                    <a:bodyPr/>
                    <a:lstStyle/>
                    <a:p>
                      <a:r>
                        <a:rPr lang="en-NL" b="0" dirty="0">
                          <a:solidFill>
                            <a:schemeClr val="tx1"/>
                          </a:solidFill>
                        </a:rPr>
                        <a:t>1</a:t>
                      </a:r>
                    </a:p>
                  </a:txBody>
                  <a:tcPr>
                    <a:solidFill>
                      <a:schemeClr val="tx2">
                        <a:lumMod val="20000"/>
                        <a:lumOff val="80000"/>
                      </a:schemeClr>
                    </a:solidFill>
                  </a:tcPr>
                </a:tc>
                <a:tc>
                  <a:txBody>
                    <a:bodyPr/>
                    <a:lstStyle/>
                    <a:p>
                      <a:r>
                        <a:rPr lang="en-NL" b="0" dirty="0">
                          <a:solidFill>
                            <a:schemeClr val="tx1"/>
                          </a:solidFill>
                        </a:rPr>
                        <a:t>1</a:t>
                      </a:r>
                    </a:p>
                  </a:txBody>
                  <a:tcPr>
                    <a:solidFill>
                      <a:schemeClr val="tx2">
                        <a:lumMod val="20000"/>
                        <a:lumOff val="80000"/>
                      </a:schemeClr>
                    </a:solidFill>
                  </a:tcPr>
                </a:tc>
                <a:tc>
                  <a:txBody>
                    <a:bodyPr/>
                    <a:lstStyle/>
                    <a:p>
                      <a:r>
                        <a:rPr lang="en-NL" b="0" dirty="0">
                          <a:solidFill>
                            <a:schemeClr val="tx1"/>
                          </a:solidFill>
                        </a:rPr>
                        <a:t>1</a:t>
                      </a:r>
                    </a:p>
                  </a:txBody>
                  <a:tcPr>
                    <a:solidFill>
                      <a:schemeClr val="tx2">
                        <a:lumMod val="20000"/>
                        <a:lumOff val="80000"/>
                      </a:schemeClr>
                    </a:solidFill>
                  </a:tcPr>
                </a:tc>
                <a:tc>
                  <a:txBody>
                    <a:bodyPr/>
                    <a:lstStyle/>
                    <a:p>
                      <a:r>
                        <a:rPr lang="en-NL" b="0" dirty="0">
                          <a:solidFill>
                            <a:schemeClr val="tx1"/>
                          </a:solidFill>
                        </a:rPr>
                        <a:t>1</a:t>
                      </a:r>
                    </a:p>
                  </a:txBody>
                  <a:tcPr>
                    <a:solidFill>
                      <a:schemeClr val="tx2">
                        <a:lumMod val="20000"/>
                        <a:lumOff val="80000"/>
                      </a:schemeClr>
                    </a:solidFill>
                  </a:tcPr>
                </a:tc>
                <a:tc>
                  <a:txBody>
                    <a:bodyPr/>
                    <a:lstStyle/>
                    <a:p>
                      <a:r>
                        <a:rPr lang="en-NL" b="0" dirty="0">
                          <a:solidFill>
                            <a:schemeClr val="tx1"/>
                          </a:solidFill>
                        </a:rPr>
                        <a:t>1</a:t>
                      </a:r>
                    </a:p>
                  </a:txBody>
                  <a:tcPr>
                    <a:solidFill>
                      <a:schemeClr val="tx2">
                        <a:lumMod val="20000"/>
                        <a:lumOff val="80000"/>
                      </a:schemeClr>
                    </a:solidFill>
                  </a:tcPr>
                </a:tc>
                <a:extLst>
                  <a:ext uri="{0D108BD9-81ED-4DB2-BD59-A6C34878D82A}">
                    <a16:rowId xmlns:a16="http://schemas.microsoft.com/office/drawing/2014/main" val="21163178"/>
                  </a:ext>
                </a:extLst>
              </a:tr>
            </a:tbl>
          </a:graphicData>
        </a:graphic>
      </p:graphicFrame>
      <p:sp>
        <p:nvSpPr>
          <p:cNvPr id="21" name="TextBox 20">
            <a:extLst>
              <a:ext uri="{FF2B5EF4-FFF2-40B4-BE49-F238E27FC236}">
                <a16:creationId xmlns:a16="http://schemas.microsoft.com/office/drawing/2014/main" id="{2419835F-81CB-CF35-2EE7-4544912BCD96}"/>
              </a:ext>
            </a:extLst>
          </p:cNvPr>
          <p:cNvSpPr txBox="1"/>
          <p:nvPr/>
        </p:nvSpPr>
        <p:spPr>
          <a:xfrm>
            <a:off x="1115436" y="1902454"/>
            <a:ext cx="2082621" cy="369332"/>
          </a:xfrm>
          <a:prstGeom prst="rect">
            <a:avLst/>
          </a:prstGeom>
          <a:noFill/>
        </p:spPr>
        <p:txBody>
          <a:bodyPr wrap="none" rtlCol="0">
            <a:spAutoFit/>
          </a:bodyPr>
          <a:lstStyle/>
          <a:p>
            <a:r>
              <a:rPr lang="en-NL" dirty="0"/>
              <a:t>naming the edges:</a:t>
            </a:r>
          </a:p>
        </p:txBody>
      </p:sp>
      <p:sp>
        <p:nvSpPr>
          <p:cNvPr id="22" name="TextBox 21">
            <a:extLst>
              <a:ext uri="{FF2B5EF4-FFF2-40B4-BE49-F238E27FC236}">
                <a16:creationId xmlns:a16="http://schemas.microsoft.com/office/drawing/2014/main" id="{DDA72E3D-AC20-B67C-50E5-595C11474154}"/>
              </a:ext>
            </a:extLst>
          </p:cNvPr>
          <p:cNvSpPr txBox="1"/>
          <p:nvPr/>
        </p:nvSpPr>
        <p:spPr>
          <a:xfrm>
            <a:off x="437716" y="4928720"/>
            <a:ext cx="8526771" cy="1754326"/>
          </a:xfrm>
          <a:prstGeom prst="rect">
            <a:avLst/>
          </a:prstGeom>
          <a:noFill/>
        </p:spPr>
        <p:txBody>
          <a:bodyPr wrap="square" rtlCol="0">
            <a:spAutoFit/>
          </a:bodyPr>
          <a:lstStyle/>
          <a:p>
            <a:pPr algn="just"/>
            <a:r>
              <a:rPr lang="en-NL" dirty="0"/>
              <a:t>A path in the graph can be represented as a </a:t>
            </a:r>
            <a:r>
              <a:rPr lang="en-NL" dirty="0">
                <a:highlight>
                  <a:srgbClr val="FFFF00"/>
                </a:highlight>
              </a:rPr>
              <a:t>vector over edges</a:t>
            </a:r>
            <a:r>
              <a:rPr lang="en-NL" dirty="0"/>
              <a:t>, as shown in the examples in the tables above. </a:t>
            </a:r>
          </a:p>
          <a:p>
            <a:pPr marL="285750" indent="-285750" algn="just">
              <a:buFont typeface="Arial" panose="020B0604020202020204" pitchFamily="34" charset="0"/>
              <a:buChar char="•"/>
            </a:pPr>
            <a:r>
              <a:rPr lang="en-NL" dirty="0"/>
              <a:t>The vector c</a:t>
            </a:r>
            <a:r>
              <a:rPr lang="en-NL" baseline="-25000" dirty="0"/>
              <a:t>3</a:t>
            </a:r>
            <a:r>
              <a:rPr lang="en-NL" dirty="0"/>
              <a:t> can be expressed as the linear sum 𝛼c</a:t>
            </a:r>
            <a:r>
              <a:rPr lang="en-NL" baseline="-25000" dirty="0"/>
              <a:t>1</a:t>
            </a:r>
            <a:r>
              <a:rPr lang="en-NL" dirty="0"/>
              <a:t>+𝛽c</a:t>
            </a:r>
            <a:r>
              <a:rPr lang="en-NL" baseline="-25000" dirty="0"/>
              <a:t>2</a:t>
            </a:r>
            <a:r>
              <a:rPr lang="en-NL" dirty="0"/>
              <a:t>, with 𝛼,𝛽=1. So c</a:t>
            </a:r>
            <a:r>
              <a:rPr lang="en-NL" baseline="-25000" dirty="0"/>
              <a:t>3</a:t>
            </a:r>
            <a:r>
              <a:rPr lang="en-NL" dirty="0"/>
              <a:t> is </a:t>
            </a:r>
            <a:r>
              <a:rPr lang="en-NL" b="1" dirty="0"/>
              <a:t>not</a:t>
            </a:r>
            <a:r>
              <a:rPr lang="en-NL" dirty="0"/>
              <a:t> linearly independent from {c</a:t>
            </a:r>
            <a:r>
              <a:rPr lang="en-NL" baseline="-25000" dirty="0"/>
              <a:t>1 </a:t>
            </a:r>
            <a:r>
              <a:rPr lang="en-NL" dirty="0"/>
              <a:t>, c</a:t>
            </a:r>
            <a:r>
              <a:rPr lang="en-NL" baseline="-25000" dirty="0"/>
              <a:t>2</a:t>
            </a:r>
            <a:r>
              <a:rPr lang="en-NL" dirty="0"/>
              <a:t>} . </a:t>
            </a:r>
          </a:p>
          <a:p>
            <a:pPr marL="285750" indent="-285750" algn="just">
              <a:buFont typeface="Arial" panose="020B0604020202020204" pitchFamily="34" charset="0"/>
              <a:buChar char="•"/>
            </a:pPr>
            <a:r>
              <a:rPr lang="en-NL" dirty="0"/>
              <a:t>However, c</a:t>
            </a:r>
            <a:r>
              <a:rPr lang="en-NL" baseline="-25000" dirty="0"/>
              <a:t>1</a:t>
            </a:r>
            <a:r>
              <a:rPr lang="en-NL" dirty="0"/>
              <a:t> and c</a:t>
            </a:r>
            <a:r>
              <a:rPr lang="en-NL" baseline="-25000" dirty="0"/>
              <a:t>2</a:t>
            </a:r>
            <a:r>
              <a:rPr lang="en-NL" dirty="0"/>
              <a:t> are linearly independent from each other as c</a:t>
            </a:r>
            <a:r>
              <a:rPr lang="en-NL" baseline="-25000" dirty="0"/>
              <a:t>1</a:t>
            </a:r>
            <a:r>
              <a:rPr lang="en-NL" dirty="0"/>
              <a:t> cannot be expressed as a linear sum over c</a:t>
            </a:r>
            <a:r>
              <a:rPr lang="en-NL" baseline="-25000" dirty="0"/>
              <a:t>2</a:t>
            </a:r>
            <a:r>
              <a:rPr lang="en-NL" dirty="0"/>
              <a:t>. (c</a:t>
            </a:r>
            <a:r>
              <a:rPr lang="en-NL" baseline="-25000" dirty="0"/>
              <a:t>1</a:t>
            </a:r>
            <a:r>
              <a:rPr lang="en-NL" dirty="0"/>
              <a:t> ≠ 𝛼c</a:t>
            </a:r>
            <a:r>
              <a:rPr lang="en-NL" baseline="-25000" dirty="0"/>
              <a:t>2 </a:t>
            </a:r>
            <a:r>
              <a:rPr lang="en-NL" dirty="0"/>
              <a:t>, for any 𝛼)</a:t>
            </a:r>
          </a:p>
        </p:txBody>
      </p:sp>
      <p:sp>
        <p:nvSpPr>
          <p:cNvPr id="16" name="TextBox 15">
            <a:extLst>
              <a:ext uri="{FF2B5EF4-FFF2-40B4-BE49-F238E27FC236}">
                <a16:creationId xmlns:a16="http://schemas.microsoft.com/office/drawing/2014/main" id="{588907E8-D97C-7B0C-14F0-D4D7AA7743C2}"/>
              </a:ext>
            </a:extLst>
          </p:cNvPr>
          <p:cNvSpPr txBox="1"/>
          <p:nvPr/>
        </p:nvSpPr>
        <p:spPr>
          <a:xfrm>
            <a:off x="4962212" y="2899652"/>
            <a:ext cx="2159566" cy="369332"/>
          </a:xfrm>
          <a:prstGeom prst="rect">
            <a:avLst/>
          </a:prstGeom>
          <a:noFill/>
        </p:spPr>
        <p:txBody>
          <a:bodyPr wrap="none" rtlCol="0">
            <a:spAutoFit/>
          </a:bodyPr>
          <a:lstStyle/>
          <a:p>
            <a:r>
              <a:rPr lang="en-NL" dirty="0"/>
              <a:t>representing vector</a:t>
            </a:r>
          </a:p>
        </p:txBody>
      </p:sp>
    </p:spTree>
    <p:extLst>
      <p:ext uri="{BB962C8B-B14F-4D97-AF65-F5344CB8AC3E}">
        <p14:creationId xmlns:p14="http://schemas.microsoft.com/office/powerpoint/2010/main" val="36572220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2C54-0A09-BA26-FF22-F9D7948274F8}"/>
              </a:ext>
            </a:extLst>
          </p:cNvPr>
          <p:cNvSpPr>
            <a:spLocks noGrp="1"/>
          </p:cNvSpPr>
          <p:nvPr>
            <p:ph type="title"/>
          </p:nvPr>
        </p:nvSpPr>
        <p:spPr/>
        <p:txBody>
          <a:bodyPr/>
          <a:lstStyle/>
          <a:p>
            <a:r>
              <a:rPr lang="en-NL" sz="4000" dirty="0"/>
              <a:t>Some note: circuit vs cyclic simple path</a:t>
            </a:r>
          </a:p>
        </p:txBody>
      </p:sp>
      <p:sp>
        <p:nvSpPr>
          <p:cNvPr id="4" name="Slide Number Placeholder 3">
            <a:extLst>
              <a:ext uri="{FF2B5EF4-FFF2-40B4-BE49-F238E27FC236}">
                <a16:creationId xmlns:a16="http://schemas.microsoft.com/office/drawing/2014/main" id="{4FDCF551-13AB-DE8B-F0D1-354738323B44}"/>
              </a:ext>
            </a:extLst>
          </p:cNvPr>
          <p:cNvSpPr>
            <a:spLocks noGrp="1"/>
          </p:cNvSpPr>
          <p:nvPr>
            <p:ph type="sldNum" sz="quarter" idx="12"/>
          </p:nvPr>
        </p:nvSpPr>
        <p:spPr/>
        <p:txBody>
          <a:bodyPr/>
          <a:lstStyle/>
          <a:p>
            <a:pPr>
              <a:defRPr/>
            </a:pPr>
            <a:fld id="{F7C0A3F7-46F3-44CF-95B7-0304031AA6EA}" type="slidenum">
              <a:rPr lang="en-US" smtClean="0"/>
              <a:pPr>
                <a:defRPr/>
              </a:pPr>
              <a:t>32</a:t>
            </a:fld>
            <a:endParaRPr lang="en-US"/>
          </a:p>
        </p:txBody>
      </p:sp>
      <p:sp>
        <p:nvSpPr>
          <p:cNvPr id="5" name="Oval 4">
            <a:extLst>
              <a:ext uri="{FF2B5EF4-FFF2-40B4-BE49-F238E27FC236}">
                <a16:creationId xmlns:a16="http://schemas.microsoft.com/office/drawing/2014/main" id="{232FEF39-82AB-9D81-70AF-5793A93B5B4D}"/>
              </a:ext>
            </a:extLst>
          </p:cNvPr>
          <p:cNvSpPr/>
          <p:nvPr/>
        </p:nvSpPr>
        <p:spPr>
          <a:xfrm>
            <a:off x="4038117" y="2060849"/>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0</a:t>
            </a:r>
          </a:p>
        </p:txBody>
      </p:sp>
      <p:sp>
        <p:nvSpPr>
          <p:cNvPr id="6" name="Oval 5">
            <a:extLst>
              <a:ext uri="{FF2B5EF4-FFF2-40B4-BE49-F238E27FC236}">
                <a16:creationId xmlns:a16="http://schemas.microsoft.com/office/drawing/2014/main" id="{B500C469-FE41-3BA8-C98B-2CF6BA744150}"/>
              </a:ext>
            </a:extLst>
          </p:cNvPr>
          <p:cNvSpPr/>
          <p:nvPr/>
        </p:nvSpPr>
        <p:spPr>
          <a:xfrm>
            <a:off x="4470165" y="2742494"/>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1</a:t>
            </a:r>
          </a:p>
        </p:txBody>
      </p:sp>
      <p:sp>
        <p:nvSpPr>
          <p:cNvPr id="8" name="Oval 7">
            <a:extLst>
              <a:ext uri="{FF2B5EF4-FFF2-40B4-BE49-F238E27FC236}">
                <a16:creationId xmlns:a16="http://schemas.microsoft.com/office/drawing/2014/main" id="{1E2C262C-DFD6-3EEE-495A-8667575F73AA}"/>
              </a:ext>
            </a:extLst>
          </p:cNvPr>
          <p:cNvSpPr/>
          <p:nvPr/>
        </p:nvSpPr>
        <p:spPr>
          <a:xfrm>
            <a:off x="3678077" y="2742494"/>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2</a:t>
            </a:r>
          </a:p>
        </p:txBody>
      </p:sp>
      <p:cxnSp>
        <p:nvCxnSpPr>
          <p:cNvPr id="10" name="Straight Arrow Connector 9">
            <a:extLst>
              <a:ext uri="{FF2B5EF4-FFF2-40B4-BE49-F238E27FC236}">
                <a16:creationId xmlns:a16="http://schemas.microsoft.com/office/drawing/2014/main" id="{30D589E6-BB44-E8CE-DB77-DC81AC35E481}"/>
              </a:ext>
            </a:extLst>
          </p:cNvPr>
          <p:cNvCxnSpPr>
            <a:stCxn id="5" idx="5"/>
            <a:endCxn id="6" idx="1"/>
          </p:cNvCxnSpPr>
          <p:nvPr/>
        </p:nvCxnSpPr>
        <p:spPr>
          <a:xfrm>
            <a:off x="4283968" y="2306700"/>
            <a:ext cx="228378" cy="47797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9846F4D-E00A-D9A6-C4DF-F8B4B673CECC}"/>
              </a:ext>
            </a:extLst>
          </p:cNvPr>
          <p:cNvCxnSpPr>
            <a:cxnSpLocks/>
            <a:stCxn id="6" idx="2"/>
            <a:endCxn id="8" idx="6"/>
          </p:cNvCxnSpPr>
          <p:nvPr/>
        </p:nvCxnSpPr>
        <p:spPr>
          <a:xfrm flipH="1">
            <a:off x="3966109" y="2886510"/>
            <a:ext cx="50405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004FFF4-B8E6-D133-9E59-20B2D6BBBBF4}"/>
              </a:ext>
            </a:extLst>
          </p:cNvPr>
          <p:cNvCxnSpPr>
            <a:cxnSpLocks/>
            <a:stCxn id="8" idx="7"/>
            <a:endCxn id="5" idx="3"/>
          </p:cNvCxnSpPr>
          <p:nvPr/>
        </p:nvCxnSpPr>
        <p:spPr>
          <a:xfrm flipV="1">
            <a:off x="3923928" y="2306700"/>
            <a:ext cx="156370" cy="47797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4ABD07C2-B89F-5D77-EF03-EE8E6FC21C1A}"/>
              </a:ext>
            </a:extLst>
          </p:cNvPr>
          <p:cNvSpPr txBox="1"/>
          <p:nvPr/>
        </p:nvSpPr>
        <p:spPr>
          <a:xfrm>
            <a:off x="590872" y="3295408"/>
            <a:ext cx="8229600" cy="2246769"/>
          </a:xfrm>
          <a:prstGeom prst="rect">
            <a:avLst/>
          </a:prstGeom>
          <a:noFill/>
        </p:spPr>
        <p:txBody>
          <a:bodyPr wrap="square" rtlCol="0">
            <a:spAutoFit/>
          </a:bodyPr>
          <a:lstStyle/>
          <a:p>
            <a:pPr marL="342900" indent="-342900">
              <a:buFont typeface="Arial" panose="020B0604020202020204" pitchFamily="34" charset="0"/>
              <a:buChar char="•"/>
            </a:pPr>
            <a:r>
              <a:rPr lang="en-NL" sz="2000" dirty="0"/>
              <a:t>A circuit does not pass the same edge twice. </a:t>
            </a:r>
          </a:p>
          <a:p>
            <a:pPr marL="342900" indent="-342900">
              <a:buFont typeface="Arial" panose="020B0604020202020204" pitchFamily="34" charset="0"/>
              <a:buChar char="•"/>
            </a:pPr>
            <a:r>
              <a:rPr lang="en-NL" sz="2000" dirty="0"/>
              <a:t>A simple path does not pass the same node twice, except the start and end node.</a:t>
            </a:r>
          </a:p>
          <a:p>
            <a:pPr marL="342900" indent="-342900">
              <a:buFont typeface="Arial" panose="020B0604020202020204" pitchFamily="34" charset="0"/>
              <a:buChar char="•"/>
            </a:pPr>
            <a:endParaRPr lang="en-NL" sz="2000" dirty="0"/>
          </a:p>
          <a:p>
            <a:pPr marL="342900" indent="-342900">
              <a:buFont typeface="Arial" panose="020B0604020202020204" pitchFamily="34" charset="0"/>
              <a:buChar char="•"/>
            </a:pPr>
            <a:r>
              <a:rPr lang="en-NL" sz="2000" dirty="0"/>
              <a:t>[0,1,2,0] and [0,3,0] are circuits. They are also (cyclic) simple paths.</a:t>
            </a:r>
          </a:p>
          <a:p>
            <a:pPr marL="342900" indent="-342900">
              <a:buFont typeface="Arial" panose="020B0604020202020204" pitchFamily="34" charset="0"/>
              <a:buChar char="•"/>
            </a:pPr>
            <a:endParaRPr lang="en-NL" sz="2000" dirty="0"/>
          </a:p>
          <a:p>
            <a:pPr marL="342900" indent="-342900">
              <a:buFont typeface="Arial" panose="020B0604020202020204" pitchFamily="34" charset="0"/>
              <a:buChar char="•"/>
            </a:pPr>
            <a:r>
              <a:rPr lang="en-NL" sz="2000" dirty="0"/>
              <a:t>[0,3,0,1,2,0] is also a circuit, </a:t>
            </a:r>
            <a:r>
              <a:rPr lang="en-NL" sz="2000" b="1" dirty="0"/>
              <a:t>but</a:t>
            </a:r>
            <a:r>
              <a:rPr lang="en-NL" sz="2000" dirty="0"/>
              <a:t> not a simple path.</a:t>
            </a:r>
          </a:p>
        </p:txBody>
      </p:sp>
      <p:sp>
        <p:nvSpPr>
          <p:cNvPr id="12" name="Oval 11">
            <a:extLst>
              <a:ext uri="{FF2B5EF4-FFF2-40B4-BE49-F238E27FC236}">
                <a16:creationId xmlns:a16="http://schemas.microsoft.com/office/drawing/2014/main" id="{2BB907DC-3F1C-9E50-1E63-31E76AB09251}"/>
              </a:ext>
            </a:extLst>
          </p:cNvPr>
          <p:cNvSpPr/>
          <p:nvPr/>
        </p:nvSpPr>
        <p:spPr>
          <a:xfrm>
            <a:off x="5076056" y="2060849"/>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3</a:t>
            </a:r>
          </a:p>
        </p:txBody>
      </p:sp>
      <p:cxnSp>
        <p:nvCxnSpPr>
          <p:cNvPr id="13" name="Straight Arrow Connector 12">
            <a:extLst>
              <a:ext uri="{FF2B5EF4-FFF2-40B4-BE49-F238E27FC236}">
                <a16:creationId xmlns:a16="http://schemas.microsoft.com/office/drawing/2014/main" id="{7C4D0A38-02EC-E580-69D5-9E5C50E9E8EA}"/>
              </a:ext>
            </a:extLst>
          </p:cNvPr>
          <p:cNvCxnSpPr>
            <a:cxnSpLocks/>
            <a:stCxn id="5" idx="6"/>
            <a:endCxn id="12" idx="2"/>
          </p:cNvCxnSpPr>
          <p:nvPr/>
        </p:nvCxnSpPr>
        <p:spPr>
          <a:xfrm>
            <a:off x="4326149" y="2204865"/>
            <a:ext cx="74990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urved Connector 18">
            <a:extLst>
              <a:ext uri="{FF2B5EF4-FFF2-40B4-BE49-F238E27FC236}">
                <a16:creationId xmlns:a16="http://schemas.microsoft.com/office/drawing/2014/main" id="{EBA28F27-8466-64BA-B58F-54B4E1F3EEF5}"/>
              </a:ext>
            </a:extLst>
          </p:cNvPr>
          <p:cNvCxnSpPr>
            <a:stCxn id="12" idx="0"/>
            <a:endCxn id="5" idx="7"/>
          </p:cNvCxnSpPr>
          <p:nvPr/>
        </p:nvCxnSpPr>
        <p:spPr>
          <a:xfrm rot="16200000" flipH="1" flipV="1">
            <a:off x="4730929" y="1613887"/>
            <a:ext cx="42181" cy="936104"/>
          </a:xfrm>
          <a:prstGeom prst="curvedConnector3">
            <a:avLst>
              <a:gd name="adj1" fmla="val -54195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86139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2C54-0A09-BA26-FF22-F9D7948274F8}"/>
              </a:ext>
            </a:extLst>
          </p:cNvPr>
          <p:cNvSpPr>
            <a:spLocks noGrp="1"/>
          </p:cNvSpPr>
          <p:nvPr>
            <p:ph type="title"/>
          </p:nvPr>
        </p:nvSpPr>
        <p:spPr/>
        <p:txBody>
          <a:bodyPr/>
          <a:lstStyle/>
          <a:p>
            <a:r>
              <a:rPr lang="en-NL" sz="4000" dirty="0"/>
              <a:t>Counting Linearly Independent Circuits</a:t>
            </a:r>
          </a:p>
        </p:txBody>
      </p:sp>
      <p:sp>
        <p:nvSpPr>
          <p:cNvPr id="4" name="Slide Number Placeholder 3">
            <a:extLst>
              <a:ext uri="{FF2B5EF4-FFF2-40B4-BE49-F238E27FC236}">
                <a16:creationId xmlns:a16="http://schemas.microsoft.com/office/drawing/2014/main" id="{4FDCF551-13AB-DE8B-F0D1-354738323B44}"/>
              </a:ext>
            </a:extLst>
          </p:cNvPr>
          <p:cNvSpPr>
            <a:spLocks noGrp="1"/>
          </p:cNvSpPr>
          <p:nvPr>
            <p:ph type="sldNum" sz="quarter" idx="12"/>
          </p:nvPr>
        </p:nvSpPr>
        <p:spPr/>
        <p:txBody>
          <a:bodyPr/>
          <a:lstStyle/>
          <a:p>
            <a:pPr>
              <a:defRPr/>
            </a:pPr>
            <a:fld id="{F7C0A3F7-46F3-44CF-95B7-0304031AA6EA}" type="slidenum">
              <a:rPr lang="en-US" smtClean="0"/>
              <a:pPr>
                <a:defRPr/>
              </a:pPr>
              <a:t>33</a:t>
            </a:fld>
            <a:endParaRPr lang="en-US"/>
          </a:p>
        </p:txBody>
      </p:sp>
      <p:sp>
        <p:nvSpPr>
          <p:cNvPr id="5" name="Oval 4">
            <a:extLst>
              <a:ext uri="{FF2B5EF4-FFF2-40B4-BE49-F238E27FC236}">
                <a16:creationId xmlns:a16="http://schemas.microsoft.com/office/drawing/2014/main" id="{232FEF39-82AB-9D81-70AF-5793A93B5B4D}"/>
              </a:ext>
            </a:extLst>
          </p:cNvPr>
          <p:cNvSpPr/>
          <p:nvPr/>
        </p:nvSpPr>
        <p:spPr>
          <a:xfrm>
            <a:off x="1182797" y="2112026"/>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0</a:t>
            </a:r>
          </a:p>
        </p:txBody>
      </p:sp>
      <p:sp>
        <p:nvSpPr>
          <p:cNvPr id="6" name="Oval 5">
            <a:extLst>
              <a:ext uri="{FF2B5EF4-FFF2-40B4-BE49-F238E27FC236}">
                <a16:creationId xmlns:a16="http://schemas.microsoft.com/office/drawing/2014/main" id="{B500C469-FE41-3BA8-C98B-2CF6BA744150}"/>
              </a:ext>
            </a:extLst>
          </p:cNvPr>
          <p:cNvSpPr/>
          <p:nvPr/>
        </p:nvSpPr>
        <p:spPr>
          <a:xfrm>
            <a:off x="1614845" y="2793671"/>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1</a:t>
            </a:r>
          </a:p>
        </p:txBody>
      </p:sp>
      <p:sp>
        <p:nvSpPr>
          <p:cNvPr id="8" name="Oval 7">
            <a:extLst>
              <a:ext uri="{FF2B5EF4-FFF2-40B4-BE49-F238E27FC236}">
                <a16:creationId xmlns:a16="http://schemas.microsoft.com/office/drawing/2014/main" id="{1E2C262C-DFD6-3EEE-495A-8667575F73AA}"/>
              </a:ext>
            </a:extLst>
          </p:cNvPr>
          <p:cNvSpPr/>
          <p:nvPr/>
        </p:nvSpPr>
        <p:spPr>
          <a:xfrm>
            <a:off x="822757" y="2793671"/>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2</a:t>
            </a:r>
          </a:p>
        </p:txBody>
      </p:sp>
      <p:cxnSp>
        <p:nvCxnSpPr>
          <p:cNvPr id="10" name="Straight Arrow Connector 9">
            <a:extLst>
              <a:ext uri="{FF2B5EF4-FFF2-40B4-BE49-F238E27FC236}">
                <a16:creationId xmlns:a16="http://schemas.microsoft.com/office/drawing/2014/main" id="{30D589E6-BB44-E8CE-DB77-DC81AC35E481}"/>
              </a:ext>
            </a:extLst>
          </p:cNvPr>
          <p:cNvCxnSpPr>
            <a:stCxn id="5" idx="5"/>
            <a:endCxn id="6" idx="1"/>
          </p:cNvCxnSpPr>
          <p:nvPr/>
        </p:nvCxnSpPr>
        <p:spPr>
          <a:xfrm>
            <a:off x="1428648" y="2357877"/>
            <a:ext cx="228378" cy="47797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9846F4D-E00A-D9A6-C4DF-F8B4B673CECC}"/>
              </a:ext>
            </a:extLst>
          </p:cNvPr>
          <p:cNvCxnSpPr>
            <a:cxnSpLocks/>
            <a:stCxn id="6" idx="2"/>
            <a:endCxn id="8" idx="6"/>
          </p:cNvCxnSpPr>
          <p:nvPr/>
        </p:nvCxnSpPr>
        <p:spPr>
          <a:xfrm flipH="1">
            <a:off x="1110789" y="2937687"/>
            <a:ext cx="50405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004FFF4-B8E6-D133-9E59-20B2D6BBBBF4}"/>
              </a:ext>
            </a:extLst>
          </p:cNvPr>
          <p:cNvCxnSpPr>
            <a:cxnSpLocks/>
            <a:stCxn id="8" idx="7"/>
            <a:endCxn id="5" idx="3"/>
          </p:cNvCxnSpPr>
          <p:nvPr/>
        </p:nvCxnSpPr>
        <p:spPr>
          <a:xfrm flipV="1">
            <a:off x="1068608" y="2357877"/>
            <a:ext cx="156370" cy="47797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A1A987B-2B6A-0E1E-A6E8-943BAA0AB9D2}"/>
              </a:ext>
            </a:extLst>
          </p:cNvPr>
          <p:cNvSpPr txBox="1"/>
          <p:nvPr/>
        </p:nvSpPr>
        <p:spPr>
          <a:xfrm>
            <a:off x="457200" y="3283904"/>
            <a:ext cx="1811233" cy="830997"/>
          </a:xfrm>
          <a:prstGeom prst="rect">
            <a:avLst/>
          </a:prstGeom>
          <a:solidFill>
            <a:srgbClr val="C3DDFF">
              <a:alpha val="50196"/>
            </a:srgbClr>
          </a:solidFill>
          <a:ln>
            <a:solidFill>
              <a:schemeClr val="tx1"/>
            </a:solidFill>
          </a:ln>
        </p:spPr>
        <p:txBody>
          <a:bodyPr wrap="square" rtlCol="0">
            <a:spAutoFit/>
          </a:bodyPr>
          <a:lstStyle/>
          <a:p>
            <a:pPr algn="ctr"/>
            <a:r>
              <a:rPr lang="en-NL" sz="1600" dirty="0"/>
              <a:t># linerarly independent circuits = 1</a:t>
            </a:r>
          </a:p>
        </p:txBody>
      </p:sp>
      <p:sp>
        <p:nvSpPr>
          <p:cNvPr id="3" name="Oval 2">
            <a:extLst>
              <a:ext uri="{FF2B5EF4-FFF2-40B4-BE49-F238E27FC236}">
                <a16:creationId xmlns:a16="http://schemas.microsoft.com/office/drawing/2014/main" id="{069422E9-62C5-8D97-9D63-7EB46352B1F8}"/>
              </a:ext>
            </a:extLst>
          </p:cNvPr>
          <p:cNvSpPr/>
          <p:nvPr/>
        </p:nvSpPr>
        <p:spPr>
          <a:xfrm>
            <a:off x="6910656" y="1977572"/>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0</a:t>
            </a:r>
          </a:p>
        </p:txBody>
      </p:sp>
      <p:sp>
        <p:nvSpPr>
          <p:cNvPr id="7" name="Oval 6">
            <a:extLst>
              <a:ext uri="{FF2B5EF4-FFF2-40B4-BE49-F238E27FC236}">
                <a16:creationId xmlns:a16="http://schemas.microsoft.com/office/drawing/2014/main" id="{AB056C08-B95C-EF3C-4A0B-DD3143B29E6F}"/>
              </a:ext>
            </a:extLst>
          </p:cNvPr>
          <p:cNvSpPr/>
          <p:nvPr/>
        </p:nvSpPr>
        <p:spPr>
          <a:xfrm>
            <a:off x="7342704" y="2659217"/>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1</a:t>
            </a:r>
          </a:p>
        </p:txBody>
      </p:sp>
      <p:sp>
        <p:nvSpPr>
          <p:cNvPr id="9" name="Oval 8">
            <a:extLst>
              <a:ext uri="{FF2B5EF4-FFF2-40B4-BE49-F238E27FC236}">
                <a16:creationId xmlns:a16="http://schemas.microsoft.com/office/drawing/2014/main" id="{FAA9D53A-BEC8-7666-AC6D-F5E66EC8A194}"/>
              </a:ext>
            </a:extLst>
          </p:cNvPr>
          <p:cNvSpPr/>
          <p:nvPr/>
        </p:nvSpPr>
        <p:spPr>
          <a:xfrm>
            <a:off x="6550616" y="2659217"/>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2</a:t>
            </a:r>
          </a:p>
        </p:txBody>
      </p:sp>
      <p:cxnSp>
        <p:nvCxnSpPr>
          <p:cNvPr id="12" name="Straight Arrow Connector 11">
            <a:extLst>
              <a:ext uri="{FF2B5EF4-FFF2-40B4-BE49-F238E27FC236}">
                <a16:creationId xmlns:a16="http://schemas.microsoft.com/office/drawing/2014/main" id="{02C85748-69C6-347C-8A87-F64F6084C130}"/>
              </a:ext>
            </a:extLst>
          </p:cNvPr>
          <p:cNvCxnSpPr>
            <a:stCxn id="3" idx="5"/>
            <a:endCxn id="7" idx="1"/>
          </p:cNvCxnSpPr>
          <p:nvPr/>
        </p:nvCxnSpPr>
        <p:spPr>
          <a:xfrm>
            <a:off x="7156507" y="2223423"/>
            <a:ext cx="228378" cy="47797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57E0643-BC50-E835-B675-1FE8097BD221}"/>
              </a:ext>
            </a:extLst>
          </p:cNvPr>
          <p:cNvCxnSpPr>
            <a:cxnSpLocks/>
            <a:stCxn id="7" idx="2"/>
            <a:endCxn id="9" idx="6"/>
          </p:cNvCxnSpPr>
          <p:nvPr/>
        </p:nvCxnSpPr>
        <p:spPr>
          <a:xfrm flipH="1">
            <a:off x="6838648" y="2803233"/>
            <a:ext cx="50405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AF7B9BED-0170-A551-A6D5-1EC32F9E118C}"/>
              </a:ext>
            </a:extLst>
          </p:cNvPr>
          <p:cNvCxnSpPr>
            <a:cxnSpLocks/>
            <a:stCxn id="9" idx="7"/>
            <a:endCxn id="3" idx="3"/>
          </p:cNvCxnSpPr>
          <p:nvPr/>
        </p:nvCxnSpPr>
        <p:spPr>
          <a:xfrm flipV="1">
            <a:off x="6796467" y="2223423"/>
            <a:ext cx="156370" cy="47797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768C610C-A08E-6CCA-EE1B-FFDF3B1AEF33}"/>
              </a:ext>
            </a:extLst>
          </p:cNvPr>
          <p:cNvSpPr/>
          <p:nvPr/>
        </p:nvSpPr>
        <p:spPr>
          <a:xfrm>
            <a:off x="7342704" y="3243889"/>
            <a:ext cx="288032" cy="288032"/>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3</a:t>
            </a:r>
          </a:p>
        </p:txBody>
      </p:sp>
      <p:cxnSp>
        <p:nvCxnSpPr>
          <p:cNvPr id="25" name="Straight Arrow Connector 24">
            <a:extLst>
              <a:ext uri="{FF2B5EF4-FFF2-40B4-BE49-F238E27FC236}">
                <a16:creationId xmlns:a16="http://schemas.microsoft.com/office/drawing/2014/main" id="{17976A8E-C776-15E5-CFB9-EC736D5815AF}"/>
              </a:ext>
            </a:extLst>
          </p:cNvPr>
          <p:cNvCxnSpPr>
            <a:cxnSpLocks/>
            <a:stCxn id="7" idx="4"/>
            <a:endCxn id="24" idx="0"/>
          </p:cNvCxnSpPr>
          <p:nvPr/>
        </p:nvCxnSpPr>
        <p:spPr>
          <a:xfrm>
            <a:off x="7486720" y="2947249"/>
            <a:ext cx="0" cy="296640"/>
          </a:xfrm>
          <a:prstGeom prst="straightConnector1">
            <a:avLst/>
          </a:prstGeom>
          <a:ln w="127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urved Connector 29">
            <a:extLst>
              <a:ext uri="{FF2B5EF4-FFF2-40B4-BE49-F238E27FC236}">
                <a16:creationId xmlns:a16="http://schemas.microsoft.com/office/drawing/2014/main" id="{CA40C1CC-194A-DEFB-9B8A-F9E4AAC672CE}"/>
              </a:ext>
            </a:extLst>
          </p:cNvPr>
          <p:cNvCxnSpPr>
            <a:cxnSpLocks/>
            <a:stCxn id="24" idx="6"/>
            <a:endCxn id="7" idx="6"/>
          </p:cNvCxnSpPr>
          <p:nvPr/>
        </p:nvCxnSpPr>
        <p:spPr>
          <a:xfrm flipV="1">
            <a:off x="7630736" y="2803233"/>
            <a:ext cx="12700" cy="584672"/>
          </a:xfrm>
          <a:prstGeom prst="curvedConnector3">
            <a:avLst>
              <a:gd name="adj1" fmla="val 1800000"/>
            </a:avLst>
          </a:prstGeom>
          <a:ln w="127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B3366872-CBBE-71A8-3A15-5F02229E084F}"/>
              </a:ext>
            </a:extLst>
          </p:cNvPr>
          <p:cNvSpPr txBox="1"/>
          <p:nvPr/>
        </p:nvSpPr>
        <p:spPr>
          <a:xfrm>
            <a:off x="3059832" y="3879728"/>
            <a:ext cx="5626968" cy="2246769"/>
          </a:xfrm>
          <a:prstGeom prst="rect">
            <a:avLst/>
          </a:prstGeom>
          <a:solidFill>
            <a:srgbClr val="C3DDFF">
              <a:alpha val="50196"/>
            </a:srgbClr>
          </a:solidFill>
          <a:ln>
            <a:solidFill>
              <a:schemeClr val="tx1"/>
            </a:solidFill>
          </a:ln>
        </p:spPr>
        <p:txBody>
          <a:bodyPr wrap="square" rtlCol="0">
            <a:spAutoFit/>
          </a:bodyPr>
          <a:lstStyle/>
          <a:p>
            <a:pPr marL="285750" indent="-285750">
              <a:buFont typeface="Arial" panose="020B0604020202020204" pitchFamily="34" charset="0"/>
              <a:buChar char="•"/>
            </a:pPr>
            <a:r>
              <a:rPr lang="en-GB" sz="2000" dirty="0"/>
              <a:t>Adding new nodes/edges, but we add more edges than nodes </a:t>
            </a:r>
            <a:r>
              <a:rPr lang="en-GB" sz="2000" dirty="0">
                <a:sym typeface="Wingdings" pitchFamily="2" charset="2"/>
              </a:rPr>
              <a:t> this introduces new cycles.</a:t>
            </a:r>
          </a:p>
          <a:p>
            <a:pPr marL="285750" indent="-285750">
              <a:buFont typeface="Arial" panose="020B0604020202020204" pitchFamily="34" charset="0"/>
              <a:buChar char="•"/>
            </a:pPr>
            <a:r>
              <a:rPr lang="en-GB" sz="2000" dirty="0">
                <a:sym typeface="Wingdings" pitchFamily="2" charset="2"/>
              </a:rPr>
              <a:t>In the above examples: we add one more cycle</a:t>
            </a:r>
          </a:p>
          <a:p>
            <a:pPr marL="285750" indent="-285750">
              <a:buFont typeface="Arial" panose="020B0604020202020204" pitchFamily="34" charset="0"/>
              <a:buChar char="•"/>
            </a:pPr>
            <a:r>
              <a:rPr lang="en-GB" sz="2000" b="1" dirty="0">
                <a:sym typeface="Wingdings" pitchFamily="2" charset="2"/>
              </a:rPr>
              <a:t>max</a:t>
            </a:r>
            <a:r>
              <a:rPr lang="en-GB" sz="2000" dirty="0">
                <a:sym typeface="Wingdings" pitchFamily="2" charset="2"/>
              </a:rPr>
              <a:t> number of linearly independent circuits is now 2</a:t>
            </a:r>
            <a:endParaRPr lang="en-NL" sz="2000" dirty="0"/>
          </a:p>
        </p:txBody>
      </p:sp>
      <p:sp>
        <p:nvSpPr>
          <p:cNvPr id="32" name="Oval 31">
            <a:extLst>
              <a:ext uri="{FF2B5EF4-FFF2-40B4-BE49-F238E27FC236}">
                <a16:creationId xmlns:a16="http://schemas.microsoft.com/office/drawing/2014/main" id="{7669F278-5F02-DD1F-6442-287F9A3F7A22}"/>
              </a:ext>
            </a:extLst>
          </p:cNvPr>
          <p:cNvSpPr/>
          <p:nvPr/>
        </p:nvSpPr>
        <p:spPr>
          <a:xfrm>
            <a:off x="3635896" y="2069845"/>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0</a:t>
            </a:r>
          </a:p>
        </p:txBody>
      </p:sp>
      <p:sp>
        <p:nvSpPr>
          <p:cNvPr id="33" name="Oval 32">
            <a:extLst>
              <a:ext uri="{FF2B5EF4-FFF2-40B4-BE49-F238E27FC236}">
                <a16:creationId xmlns:a16="http://schemas.microsoft.com/office/drawing/2014/main" id="{F85C6DCE-3929-E0E3-C527-BA140C66D13B}"/>
              </a:ext>
            </a:extLst>
          </p:cNvPr>
          <p:cNvSpPr/>
          <p:nvPr/>
        </p:nvSpPr>
        <p:spPr>
          <a:xfrm>
            <a:off x="4067944" y="2751490"/>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1</a:t>
            </a:r>
          </a:p>
        </p:txBody>
      </p:sp>
      <p:sp>
        <p:nvSpPr>
          <p:cNvPr id="34" name="Oval 33">
            <a:extLst>
              <a:ext uri="{FF2B5EF4-FFF2-40B4-BE49-F238E27FC236}">
                <a16:creationId xmlns:a16="http://schemas.microsoft.com/office/drawing/2014/main" id="{D0A47294-67B5-4689-453B-83C886AF18E8}"/>
              </a:ext>
            </a:extLst>
          </p:cNvPr>
          <p:cNvSpPr/>
          <p:nvPr/>
        </p:nvSpPr>
        <p:spPr>
          <a:xfrm>
            <a:off x="3275856" y="2751490"/>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2</a:t>
            </a:r>
          </a:p>
        </p:txBody>
      </p:sp>
      <p:cxnSp>
        <p:nvCxnSpPr>
          <p:cNvPr id="35" name="Straight Arrow Connector 34">
            <a:extLst>
              <a:ext uri="{FF2B5EF4-FFF2-40B4-BE49-F238E27FC236}">
                <a16:creationId xmlns:a16="http://schemas.microsoft.com/office/drawing/2014/main" id="{A18FA8A6-C901-10D6-D0A8-080F472D303A}"/>
              </a:ext>
            </a:extLst>
          </p:cNvPr>
          <p:cNvCxnSpPr>
            <a:stCxn id="32" idx="5"/>
            <a:endCxn id="33" idx="1"/>
          </p:cNvCxnSpPr>
          <p:nvPr/>
        </p:nvCxnSpPr>
        <p:spPr>
          <a:xfrm>
            <a:off x="3881747" y="2315696"/>
            <a:ext cx="228378" cy="47797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A61CC1C-352B-34D2-D44B-F217A3EC1E83}"/>
              </a:ext>
            </a:extLst>
          </p:cNvPr>
          <p:cNvCxnSpPr>
            <a:cxnSpLocks/>
            <a:stCxn id="33" idx="2"/>
            <a:endCxn id="34" idx="6"/>
          </p:cNvCxnSpPr>
          <p:nvPr/>
        </p:nvCxnSpPr>
        <p:spPr>
          <a:xfrm flipH="1">
            <a:off x="3563888" y="2895506"/>
            <a:ext cx="50405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0CAC2280-A907-01A5-164E-5F27C5834FE3}"/>
              </a:ext>
            </a:extLst>
          </p:cNvPr>
          <p:cNvCxnSpPr>
            <a:cxnSpLocks/>
            <a:stCxn id="34" idx="7"/>
            <a:endCxn id="32" idx="3"/>
          </p:cNvCxnSpPr>
          <p:nvPr/>
        </p:nvCxnSpPr>
        <p:spPr>
          <a:xfrm flipV="1">
            <a:off x="3521707" y="2315696"/>
            <a:ext cx="156370" cy="47797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urved Connector 39">
            <a:extLst>
              <a:ext uri="{FF2B5EF4-FFF2-40B4-BE49-F238E27FC236}">
                <a16:creationId xmlns:a16="http://schemas.microsoft.com/office/drawing/2014/main" id="{1F3414C6-995E-3B18-BC9F-86AE13429499}"/>
              </a:ext>
            </a:extLst>
          </p:cNvPr>
          <p:cNvCxnSpPr>
            <a:cxnSpLocks/>
            <a:stCxn id="33" idx="6"/>
            <a:endCxn id="32" idx="6"/>
          </p:cNvCxnSpPr>
          <p:nvPr/>
        </p:nvCxnSpPr>
        <p:spPr>
          <a:xfrm flipH="1" flipV="1">
            <a:off x="3923928" y="2213861"/>
            <a:ext cx="432048" cy="681645"/>
          </a:xfrm>
          <a:prstGeom prst="curvedConnector3">
            <a:avLst>
              <a:gd name="adj1" fmla="val -52911"/>
            </a:avLst>
          </a:prstGeom>
          <a:ln w="127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5EED1242-1375-E241-C6EE-9D7F4AC7FB2C}"/>
              </a:ext>
            </a:extLst>
          </p:cNvPr>
          <p:cNvSpPr/>
          <p:nvPr/>
        </p:nvSpPr>
        <p:spPr>
          <a:xfrm>
            <a:off x="5453296" y="1977572"/>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0</a:t>
            </a:r>
          </a:p>
        </p:txBody>
      </p:sp>
      <p:sp>
        <p:nvSpPr>
          <p:cNvPr id="43" name="Oval 42">
            <a:extLst>
              <a:ext uri="{FF2B5EF4-FFF2-40B4-BE49-F238E27FC236}">
                <a16:creationId xmlns:a16="http://schemas.microsoft.com/office/drawing/2014/main" id="{B94C0301-7142-EB9D-952A-4FF748536A85}"/>
              </a:ext>
            </a:extLst>
          </p:cNvPr>
          <p:cNvSpPr/>
          <p:nvPr/>
        </p:nvSpPr>
        <p:spPr>
          <a:xfrm>
            <a:off x="5885344" y="2659217"/>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1</a:t>
            </a:r>
          </a:p>
        </p:txBody>
      </p:sp>
      <p:sp>
        <p:nvSpPr>
          <p:cNvPr id="44" name="Oval 43">
            <a:extLst>
              <a:ext uri="{FF2B5EF4-FFF2-40B4-BE49-F238E27FC236}">
                <a16:creationId xmlns:a16="http://schemas.microsoft.com/office/drawing/2014/main" id="{19A0053A-220B-C215-834A-7229A75D03B8}"/>
              </a:ext>
            </a:extLst>
          </p:cNvPr>
          <p:cNvSpPr/>
          <p:nvPr/>
        </p:nvSpPr>
        <p:spPr>
          <a:xfrm>
            <a:off x="5093256" y="2659217"/>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2</a:t>
            </a:r>
          </a:p>
        </p:txBody>
      </p:sp>
      <p:cxnSp>
        <p:nvCxnSpPr>
          <p:cNvPr id="45" name="Straight Arrow Connector 44">
            <a:extLst>
              <a:ext uri="{FF2B5EF4-FFF2-40B4-BE49-F238E27FC236}">
                <a16:creationId xmlns:a16="http://schemas.microsoft.com/office/drawing/2014/main" id="{37EF5E11-9C9C-AF62-3B17-A333B24A91FD}"/>
              </a:ext>
            </a:extLst>
          </p:cNvPr>
          <p:cNvCxnSpPr>
            <a:stCxn id="42" idx="5"/>
            <a:endCxn id="43" idx="1"/>
          </p:cNvCxnSpPr>
          <p:nvPr/>
        </p:nvCxnSpPr>
        <p:spPr>
          <a:xfrm>
            <a:off x="5699147" y="2223423"/>
            <a:ext cx="228378" cy="47797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E19C6540-3F3D-FC45-59B5-75C0B01CF179}"/>
              </a:ext>
            </a:extLst>
          </p:cNvPr>
          <p:cNvCxnSpPr>
            <a:cxnSpLocks/>
            <a:stCxn id="43" idx="2"/>
            <a:endCxn id="44" idx="6"/>
          </p:cNvCxnSpPr>
          <p:nvPr/>
        </p:nvCxnSpPr>
        <p:spPr>
          <a:xfrm flipH="1">
            <a:off x="5381288" y="2803233"/>
            <a:ext cx="50405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07196E5A-EF43-A1B1-96BB-3CD30750AD54}"/>
              </a:ext>
            </a:extLst>
          </p:cNvPr>
          <p:cNvCxnSpPr>
            <a:cxnSpLocks/>
            <a:stCxn id="44" idx="7"/>
            <a:endCxn id="42" idx="3"/>
          </p:cNvCxnSpPr>
          <p:nvPr/>
        </p:nvCxnSpPr>
        <p:spPr>
          <a:xfrm flipV="1">
            <a:off x="5339107" y="2223423"/>
            <a:ext cx="156370" cy="47797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Curved Connector 47">
            <a:extLst>
              <a:ext uri="{FF2B5EF4-FFF2-40B4-BE49-F238E27FC236}">
                <a16:creationId xmlns:a16="http://schemas.microsoft.com/office/drawing/2014/main" id="{B7239E57-3F0C-E61B-5365-D174E3929BFF}"/>
              </a:ext>
            </a:extLst>
          </p:cNvPr>
          <p:cNvCxnSpPr>
            <a:cxnSpLocks/>
            <a:stCxn id="43" idx="4"/>
            <a:endCxn id="44" idx="4"/>
          </p:cNvCxnSpPr>
          <p:nvPr/>
        </p:nvCxnSpPr>
        <p:spPr>
          <a:xfrm rot="5400000">
            <a:off x="5633316" y="2551205"/>
            <a:ext cx="12700" cy="792088"/>
          </a:xfrm>
          <a:prstGeom prst="curvedConnector3">
            <a:avLst>
              <a:gd name="adj1" fmla="val 1800000"/>
            </a:avLst>
          </a:prstGeom>
          <a:ln w="127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7650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2C54-0A09-BA26-FF22-F9D7948274F8}"/>
              </a:ext>
            </a:extLst>
          </p:cNvPr>
          <p:cNvSpPr>
            <a:spLocks noGrp="1"/>
          </p:cNvSpPr>
          <p:nvPr>
            <p:ph type="title"/>
          </p:nvPr>
        </p:nvSpPr>
        <p:spPr/>
        <p:txBody>
          <a:bodyPr/>
          <a:lstStyle/>
          <a:p>
            <a:r>
              <a:rPr lang="en-NL" dirty="0"/>
              <a:t>Example</a:t>
            </a:r>
          </a:p>
        </p:txBody>
      </p:sp>
      <p:sp>
        <p:nvSpPr>
          <p:cNvPr id="4" name="Slide Number Placeholder 3">
            <a:extLst>
              <a:ext uri="{FF2B5EF4-FFF2-40B4-BE49-F238E27FC236}">
                <a16:creationId xmlns:a16="http://schemas.microsoft.com/office/drawing/2014/main" id="{4FDCF551-13AB-DE8B-F0D1-354738323B44}"/>
              </a:ext>
            </a:extLst>
          </p:cNvPr>
          <p:cNvSpPr>
            <a:spLocks noGrp="1"/>
          </p:cNvSpPr>
          <p:nvPr>
            <p:ph type="sldNum" sz="quarter" idx="12"/>
          </p:nvPr>
        </p:nvSpPr>
        <p:spPr/>
        <p:txBody>
          <a:bodyPr/>
          <a:lstStyle/>
          <a:p>
            <a:pPr>
              <a:defRPr/>
            </a:pPr>
            <a:fld id="{F7C0A3F7-46F3-44CF-95B7-0304031AA6EA}" type="slidenum">
              <a:rPr lang="en-US" smtClean="0"/>
              <a:pPr>
                <a:defRPr/>
              </a:pPr>
              <a:t>34</a:t>
            </a:fld>
            <a:endParaRPr lang="en-US" dirty="0"/>
          </a:p>
        </p:txBody>
      </p:sp>
      <p:sp>
        <p:nvSpPr>
          <p:cNvPr id="16" name="Oval 15">
            <a:extLst>
              <a:ext uri="{FF2B5EF4-FFF2-40B4-BE49-F238E27FC236}">
                <a16:creationId xmlns:a16="http://schemas.microsoft.com/office/drawing/2014/main" id="{F852F336-1016-F530-BE57-C5DB1838AD2D}"/>
              </a:ext>
            </a:extLst>
          </p:cNvPr>
          <p:cNvSpPr/>
          <p:nvPr/>
        </p:nvSpPr>
        <p:spPr>
          <a:xfrm>
            <a:off x="538182" y="2377499"/>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1</a:t>
            </a:r>
          </a:p>
        </p:txBody>
      </p:sp>
      <p:sp>
        <p:nvSpPr>
          <p:cNvPr id="18" name="Oval 17">
            <a:extLst>
              <a:ext uri="{FF2B5EF4-FFF2-40B4-BE49-F238E27FC236}">
                <a16:creationId xmlns:a16="http://schemas.microsoft.com/office/drawing/2014/main" id="{AE2AEBA4-65D4-3A52-2B6C-CD42A62322FF}"/>
              </a:ext>
            </a:extLst>
          </p:cNvPr>
          <p:cNvSpPr/>
          <p:nvPr/>
        </p:nvSpPr>
        <p:spPr>
          <a:xfrm>
            <a:off x="1131014" y="2921491"/>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3</a:t>
            </a:r>
          </a:p>
        </p:txBody>
      </p:sp>
      <p:sp>
        <p:nvSpPr>
          <p:cNvPr id="19" name="Oval 18">
            <a:extLst>
              <a:ext uri="{FF2B5EF4-FFF2-40B4-BE49-F238E27FC236}">
                <a16:creationId xmlns:a16="http://schemas.microsoft.com/office/drawing/2014/main" id="{2328E951-CA85-C8DE-8BDF-FC301702F442}"/>
              </a:ext>
            </a:extLst>
          </p:cNvPr>
          <p:cNvSpPr/>
          <p:nvPr/>
        </p:nvSpPr>
        <p:spPr>
          <a:xfrm>
            <a:off x="538182" y="2910174"/>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2</a:t>
            </a:r>
          </a:p>
        </p:txBody>
      </p:sp>
      <p:cxnSp>
        <p:nvCxnSpPr>
          <p:cNvPr id="20" name="Straight Arrow Connector 19">
            <a:extLst>
              <a:ext uri="{FF2B5EF4-FFF2-40B4-BE49-F238E27FC236}">
                <a16:creationId xmlns:a16="http://schemas.microsoft.com/office/drawing/2014/main" id="{97C83731-DE36-F4A4-31A2-03B700D7D831}"/>
              </a:ext>
            </a:extLst>
          </p:cNvPr>
          <p:cNvCxnSpPr>
            <a:cxnSpLocks/>
            <a:stCxn id="16" idx="4"/>
            <a:endCxn id="19" idx="0"/>
          </p:cNvCxnSpPr>
          <p:nvPr/>
        </p:nvCxnSpPr>
        <p:spPr>
          <a:xfrm>
            <a:off x="682198" y="2665531"/>
            <a:ext cx="0" cy="24464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3011641-7457-C148-1A98-EE96E2FB6FC4}"/>
              </a:ext>
            </a:extLst>
          </p:cNvPr>
          <p:cNvCxnSpPr>
            <a:cxnSpLocks/>
            <a:stCxn id="19" idx="6"/>
            <a:endCxn id="18" idx="2"/>
          </p:cNvCxnSpPr>
          <p:nvPr/>
        </p:nvCxnSpPr>
        <p:spPr>
          <a:xfrm>
            <a:off x="826214" y="3054190"/>
            <a:ext cx="304800" cy="1131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34A4FDB-3CBC-E6AE-AD2B-10A0DEFAE0D3}"/>
              </a:ext>
            </a:extLst>
          </p:cNvPr>
          <p:cNvCxnSpPr>
            <a:cxnSpLocks/>
            <a:stCxn id="29" idx="4"/>
            <a:endCxn id="16" idx="0"/>
          </p:cNvCxnSpPr>
          <p:nvPr/>
        </p:nvCxnSpPr>
        <p:spPr>
          <a:xfrm flipH="1">
            <a:off x="682198" y="2132856"/>
            <a:ext cx="1370" cy="24464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55B814EF-1C50-5CC3-5E31-817CE845E7C5}"/>
              </a:ext>
            </a:extLst>
          </p:cNvPr>
          <p:cNvCxnSpPr>
            <a:cxnSpLocks/>
            <a:stCxn id="18" idx="1"/>
            <a:endCxn id="16" idx="5"/>
          </p:cNvCxnSpPr>
          <p:nvPr/>
        </p:nvCxnSpPr>
        <p:spPr>
          <a:xfrm flipH="1" flipV="1">
            <a:off x="784033" y="2623350"/>
            <a:ext cx="389162" cy="340322"/>
          </a:xfrm>
          <a:prstGeom prst="straightConnector1">
            <a:avLst/>
          </a:prstGeom>
          <a:ln w="127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urved Connector 27">
            <a:extLst>
              <a:ext uri="{FF2B5EF4-FFF2-40B4-BE49-F238E27FC236}">
                <a16:creationId xmlns:a16="http://schemas.microsoft.com/office/drawing/2014/main" id="{BF718362-D8B5-40CB-7780-092D6EEAD0D7}"/>
              </a:ext>
            </a:extLst>
          </p:cNvPr>
          <p:cNvCxnSpPr>
            <a:cxnSpLocks/>
            <a:stCxn id="101" idx="2"/>
            <a:endCxn id="97" idx="2"/>
          </p:cNvCxnSpPr>
          <p:nvPr/>
        </p:nvCxnSpPr>
        <p:spPr>
          <a:xfrm rot="10800000">
            <a:off x="2900751" y="1955631"/>
            <a:ext cx="27038" cy="2614723"/>
          </a:xfrm>
          <a:prstGeom prst="curvedConnector3">
            <a:avLst>
              <a:gd name="adj1" fmla="val 1759638"/>
            </a:avLst>
          </a:prstGeom>
          <a:ln w="1270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AB087811-8CA5-BC62-CEC0-77FAA0E9256E}"/>
              </a:ext>
            </a:extLst>
          </p:cNvPr>
          <p:cNvSpPr/>
          <p:nvPr/>
        </p:nvSpPr>
        <p:spPr>
          <a:xfrm>
            <a:off x="539552" y="1844824"/>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0</a:t>
            </a:r>
          </a:p>
        </p:txBody>
      </p:sp>
      <p:sp>
        <p:nvSpPr>
          <p:cNvPr id="63" name="Oval 62">
            <a:extLst>
              <a:ext uri="{FF2B5EF4-FFF2-40B4-BE49-F238E27FC236}">
                <a16:creationId xmlns:a16="http://schemas.microsoft.com/office/drawing/2014/main" id="{1FD4AA0A-3880-2865-4E75-8558BFEE70F8}"/>
              </a:ext>
            </a:extLst>
          </p:cNvPr>
          <p:cNvSpPr/>
          <p:nvPr/>
        </p:nvSpPr>
        <p:spPr>
          <a:xfrm>
            <a:off x="547734" y="3418373"/>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4</a:t>
            </a:r>
          </a:p>
        </p:txBody>
      </p:sp>
      <p:sp>
        <p:nvSpPr>
          <p:cNvPr id="65" name="Oval 64">
            <a:extLst>
              <a:ext uri="{FF2B5EF4-FFF2-40B4-BE49-F238E27FC236}">
                <a16:creationId xmlns:a16="http://schemas.microsoft.com/office/drawing/2014/main" id="{3D468D6F-7030-C0D0-2866-852FB7B3B307}"/>
              </a:ext>
            </a:extLst>
          </p:cNvPr>
          <p:cNvSpPr/>
          <p:nvPr/>
        </p:nvSpPr>
        <p:spPr>
          <a:xfrm>
            <a:off x="1025566" y="3750188"/>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5</a:t>
            </a:r>
          </a:p>
        </p:txBody>
      </p:sp>
      <p:sp>
        <p:nvSpPr>
          <p:cNvPr id="66" name="Oval 65">
            <a:extLst>
              <a:ext uri="{FF2B5EF4-FFF2-40B4-BE49-F238E27FC236}">
                <a16:creationId xmlns:a16="http://schemas.microsoft.com/office/drawing/2014/main" id="{92A981A2-1C9C-C5AD-BFC4-FF5C0E4D86C3}"/>
              </a:ext>
            </a:extLst>
          </p:cNvPr>
          <p:cNvSpPr/>
          <p:nvPr/>
        </p:nvSpPr>
        <p:spPr>
          <a:xfrm>
            <a:off x="555668" y="3940939"/>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6</a:t>
            </a:r>
          </a:p>
        </p:txBody>
      </p:sp>
      <p:sp>
        <p:nvSpPr>
          <p:cNvPr id="67" name="Oval 66">
            <a:extLst>
              <a:ext uri="{FF2B5EF4-FFF2-40B4-BE49-F238E27FC236}">
                <a16:creationId xmlns:a16="http://schemas.microsoft.com/office/drawing/2014/main" id="{21A2EB4B-9915-684E-04F5-FB44CED30B5B}"/>
              </a:ext>
            </a:extLst>
          </p:cNvPr>
          <p:cNvSpPr/>
          <p:nvPr/>
        </p:nvSpPr>
        <p:spPr>
          <a:xfrm>
            <a:off x="566590" y="4459547"/>
            <a:ext cx="288032" cy="28803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7</a:t>
            </a:r>
          </a:p>
        </p:txBody>
      </p:sp>
      <p:cxnSp>
        <p:nvCxnSpPr>
          <p:cNvPr id="68" name="Straight Arrow Connector 67">
            <a:extLst>
              <a:ext uri="{FF2B5EF4-FFF2-40B4-BE49-F238E27FC236}">
                <a16:creationId xmlns:a16="http://schemas.microsoft.com/office/drawing/2014/main" id="{55EE1E98-7C77-D5B0-9C2C-80378E19F24A}"/>
              </a:ext>
            </a:extLst>
          </p:cNvPr>
          <p:cNvCxnSpPr>
            <a:cxnSpLocks/>
            <a:stCxn id="19" idx="4"/>
            <a:endCxn id="63" idx="0"/>
          </p:cNvCxnSpPr>
          <p:nvPr/>
        </p:nvCxnSpPr>
        <p:spPr>
          <a:xfrm>
            <a:off x="682198" y="3198206"/>
            <a:ext cx="9552" cy="22016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CBCCDDD4-A1F2-2E13-155A-8FFAD02FABAB}"/>
              </a:ext>
            </a:extLst>
          </p:cNvPr>
          <p:cNvCxnSpPr>
            <a:cxnSpLocks/>
            <a:stCxn id="63" idx="5"/>
            <a:endCxn id="65" idx="1"/>
          </p:cNvCxnSpPr>
          <p:nvPr/>
        </p:nvCxnSpPr>
        <p:spPr>
          <a:xfrm>
            <a:off x="793585" y="3664224"/>
            <a:ext cx="274162" cy="12814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9917061D-61A0-1B8F-A40A-A74AA48749CF}"/>
              </a:ext>
            </a:extLst>
          </p:cNvPr>
          <p:cNvCxnSpPr>
            <a:cxnSpLocks/>
            <a:stCxn id="65" idx="3"/>
            <a:endCxn id="66" idx="6"/>
          </p:cNvCxnSpPr>
          <p:nvPr/>
        </p:nvCxnSpPr>
        <p:spPr>
          <a:xfrm flipH="1">
            <a:off x="843700" y="3996039"/>
            <a:ext cx="224047" cy="8891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5CBF4B9A-DEAC-9657-CE9B-A24164F4366C}"/>
              </a:ext>
            </a:extLst>
          </p:cNvPr>
          <p:cNvCxnSpPr>
            <a:cxnSpLocks/>
            <a:stCxn id="63" idx="4"/>
            <a:endCxn id="66" idx="0"/>
          </p:cNvCxnSpPr>
          <p:nvPr/>
        </p:nvCxnSpPr>
        <p:spPr>
          <a:xfrm>
            <a:off x="691750" y="3706405"/>
            <a:ext cx="7934" cy="23453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3F0EB3D3-E2BE-DAB5-54E7-F03B6801B778}"/>
              </a:ext>
            </a:extLst>
          </p:cNvPr>
          <p:cNvCxnSpPr>
            <a:cxnSpLocks/>
            <a:stCxn id="66" idx="4"/>
            <a:endCxn id="67" idx="0"/>
          </p:cNvCxnSpPr>
          <p:nvPr/>
        </p:nvCxnSpPr>
        <p:spPr>
          <a:xfrm>
            <a:off x="699684" y="4228971"/>
            <a:ext cx="10922" cy="23057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9CB2B110-D013-EA42-5B56-BB3A119D2519}"/>
              </a:ext>
            </a:extLst>
          </p:cNvPr>
          <p:cNvSpPr txBox="1"/>
          <p:nvPr/>
        </p:nvSpPr>
        <p:spPr>
          <a:xfrm>
            <a:off x="270403" y="4941168"/>
            <a:ext cx="1798358" cy="646331"/>
          </a:xfrm>
          <a:prstGeom prst="rect">
            <a:avLst/>
          </a:prstGeom>
          <a:noFill/>
        </p:spPr>
        <p:txBody>
          <a:bodyPr wrap="square" rtlCol="0">
            <a:spAutoFit/>
          </a:bodyPr>
          <a:lstStyle/>
          <a:p>
            <a:r>
              <a:rPr lang="en-GB" sz="1200" dirty="0"/>
              <a:t>O</a:t>
            </a:r>
            <a:r>
              <a:rPr lang="en-NL" sz="1200" dirty="0"/>
              <a:t>riginal CFG is not a strongly connected component.</a:t>
            </a:r>
          </a:p>
        </p:txBody>
      </p:sp>
      <p:sp>
        <p:nvSpPr>
          <p:cNvPr id="90" name="Oval 89">
            <a:extLst>
              <a:ext uri="{FF2B5EF4-FFF2-40B4-BE49-F238E27FC236}">
                <a16:creationId xmlns:a16="http://schemas.microsoft.com/office/drawing/2014/main" id="{6BA2C80C-CB08-51DC-A927-712A89DD9EB3}"/>
              </a:ext>
            </a:extLst>
          </p:cNvPr>
          <p:cNvSpPr/>
          <p:nvPr/>
        </p:nvSpPr>
        <p:spPr>
          <a:xfrm>
            <a:off x="2899381" y="2344289"/>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1</a:t>
            </a:r>
          </a:p>
        </p:txBody>
      </p:sp>
      <p:sp>
        <p:nvSpPr>
          <p:cNvPr id="91" name="Oval 90">
            <a:extLst>
              <a:ext uri="{FF2B5EF4-FFF2-40B4-BE49-F238E27FC236}">
                <a16:creationId xmlns:a16="http://schemas.microsoft.com/office/drawing/2014/main" id="{66EFDBCF-75DE-387C-08B6-CC557771B136}"/>
              </a:ext>
            </a:extLst>
          </p:cNvPr>
          <p:cNvSpPr/>
          <p:nvPr/>
        </p:nvSpPr>
        <p:spPr>
          <a:xfrm>
            <a:off x="3492213" y="2888281"/>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3</a:t>
            </a:r>
          </a:p>
        </p:txBody>
      </p:sp>
      <p:sp>
        <p:nvSpPr>
          <p:cNvPr id="92" name="Oval 91">
            <a:extLst>
              <a:ext uri="{FF2B5EF4-FFF2-40B4-BE49-F238E27FC236}">
                <a16:creationId xmlns:a16="http://schemas.microsoft.com/office/drawing/2014/main" id="{00F22AF1-D4A7-2FF7-4CA2-C7342C100CB7}"/>
              </a:ext>
            </a:extLst>
          </p:cNvPr>
          <p:cNvSpPr/>
          <p:nvPr/>
        </p:nvSpPr>
        <p:spPr>
          <a:xfrm>
            <a:off x="2899381" y="2876964"/>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2</a:t>
            </a:r>
          </a:p>
        </p:txBody>
      </p:sp>
      <p:cxnSp>
        <p:nvCxnSpPr>
          <p:cNvPr id="93" name="Straight Arrow Connector 92">
            <a:extLst>
              <a:ext uri="{FF2B5EF4-FFF2-40B4-BE49-F238E27FC236}">
                <a16:creationId xmlns:a16="http://schemas.microsoft.com/office/drawing/2014/main" id="{262AE2AA-EAF7-52A5-558C-9DB4906572A0}"/>
              </a:ext>
            </a:extLst>
          </p:cNvPr>
          <p:cNvCxnSpPr>
            <a:cxnSpLocks/>
            <a:stCxn id="90" idx="4"/>
            <a:endCxn id="92" idx="0"/>
          </p:cNvCxnSpPr>
          <p:nvPr/>
        </p:nvCxnSpPr>
        <p:spPr>
          <a:xfrm>
            <a:off x="3043397" y="2632321"/>
            <a:ext cx="0" cy="24464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BD6DB30C-DF87-B7A3-1BCD-A5F26667B5CA}"/>
              </a:ext>
            </a:extLst>
          </p:cNvPr>
          <p:cNvCxnSpPr>
            <a:cxnSpLocks/>
            <a:stCxn id="92" idx="6"/>
            <a:endCxn id="91" idx="2"/>
          </p:cNvCxnSpPr>
          <p:nvPr/>
        </p:nvCxnSpPr>
        <p:spPr>
          <a:xfrm>
            <a:off x="3187413" y="3020980"/>
            <a:ext cx="304800" cy="1131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D3E4DB2A-C129-9BD5-62A1-2F097AD4CCCA}"/>
              </a:ext>
            </a:extLst>
          </p:cNvPr>
          <p:cNvCxnSpPr>
            <a:cxnSpLocks/>
            <a:stCxn id="97" idx="4"/>
            <a:endCxn id="90" idx="0"/>
          </p:cNvCxnSpPr>
          <p:nvPr/>
        </p:nvCxnSpPr>
        <p:spPr>
          <a:xfrm flipH="1">
            <a:off x="3043397" y="2099646"/>
            <a:ext cx="1370" cy="24464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78E6C09F-6D03-5873-7230-DA768936D70E}"/>
              </a:ext>
            </a:extLst>
          </p:cNvPr>
          <p:cNvCxnSpPr>
            <a:cxnSpLocks/>
            <a:stCxn id="91" idx="1"/>
            <a:endCxn id="90" idx="5"/>
          </p:cNvCxnSpPr>
          <p:nvPr/>
        </p:nvCxnSpPr>
        <p:spPr>
          <a:xfrm flipH="1" flipV="1">
            <a:off x="3145232" y="2590140"/>
            <a:ext cx="389162" cy="340322"/>
          </a:xfrm>
          <a:prstGeom prst="straightConnector1">
            <a:avLst/>
          </a:prstGeom>
          <a:ln w="127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7" name="Oval 96">
            <a:extLst>
              <a:ext uri="{FF2B5EF4-FFF2-40B4-BE49-F238E27FC236}">
                <a16:creationId xmlns:a16="http://schemas.microsoft.com/office/drawing/2014/main" id="{88B24A16-0A40-3422-FDBB-99B7EF83FF53}"/>
              </a:ext>
            </a:extLst>
          </p:cNvPr>
          <p:cNvSpPr/>
          <p:nvPr/>
        </p:nvSpPr>
        <p:spPr>
          <a:xfrm>
            <a:off x="2900751" y="1811614"/>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0</a:t>
            </a:r>
          </a:p>
        </p:txBody>
      </p:sp>
      <p:sp>
        <p:nvSpPr>
          <p:cNvPr id="98" name="Oval 97">
            <a:extLst>
              <a:ext uri="{FF2B5EF4-FFF2-40B4-BE49-F238E27FC236}">
                <a16:creationId xmlns:a16="http://schemas.microsoft.com/office/drawing/2014/main" id="{E99DE401-37D2-C6CA-14ED-202E992009EC}"/>
              </a:ext>
            </a:extLst>
          </p:cNvPr>
          <p:cNvSpPr/>
          <p:nvPr/>
        </p:nvSpPr>
        <p:spPr>
          <a:xfrm>
            <a:off x="2908933" y="3385163"/>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4</a:t>
            </a:r>
          </a:p>
        </p:txBody>
      </p:sp>
      <p:sp>
        <p:nvSpPr>
          <p:cNvPr id="99" name="Oval 98">
            <a:extLst>
              <a:ext uri="{FF2B5EF4-FFF2-40B4-BE49-F238E27FC236}">
                <a16:creationId xmlns:a16="http://schemas.microsoft.com/office/drawing/2014/main" id="{DE733BAD-7190-C555-985D-CF268C5826E5}"/>
              </a:ext>
            </a:extLst>
          </p:cNvPr>
          <p:cNvSpPr/>
          <p:nvPr/>
        </p:nvSpPr>
        <p:spPr>
          <a:xfrm>
            <a:off x="3386765" y="3716978"/>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5</a:t>
            </a:r>
          </a:p>
        </p:txBody>
      </p:sp>
      <p:sp>
        <p:nvSpPr>
          <p:cNvPr id="100" name="Oval 99">
            <a:extLst>
              <a:ext uri="{FF2B5EF4-FFF2-40B4-BE49-F238E27FC236}">
                <a16:creationId xmlns:a16="http://schemas.microsoft.com/office/drawing/2014/main" id="{51D521B0-205E-9138-1172-B32820F2B66C}"/>
              </a:ext>
            </a:extLst>
          </p:cNvPr>
          <p:cNvSpPr/>
          <p:nvPr/>
        </p:nvSpPr>
        <p:spPr>
          <a:xfrm>
            <a:off x="2916867" y="3907729"/>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6</a:t>
            </a:r>
          </a:p>
        </p:txBody>
      </p:sp>
      <p:sp>
        <p:nvSpPr>
          <p:cNvPr id="101" name="Oval 100">
            <a:extLst>
              <a:ext uri="{FF2B5EF4-FFF2-40B4-BE49-F238E27FC236}">
                <a16:creationId xmlns:a16="http://schemas.microsoft.com/office/drawing/2014/main" id="{5F2B14BD-AC6D-7D20-2875-D8EF6A220074}"/>
              </a:ext>
            </a:extLst>
          </p:cNvPr>
          <p:cNvSpPr/>
          <p:nvPr/>
        </p:nvSpPr>
        <p:spPr>
          <a:xfrm>
            <a:off x="2927789" y="4426337"/>
            <a:ext cx="288032" cy="28803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7</a:t>
            </a:r>
          </a:p>
        </p:txBody>
      </p:sp>
      <p:cxnSp>
        <p:nvCxnSpPr>
          <p:cNvPr id="102" name="Straight Arrow Connector 101">
            <a:extLst>
              <a:ext uri="{FF2B5EF4-FFF2-40B4-BE49-F238E27FC236}">
                <a16:creationId xmlns:a16="http://schemas.microsoft.com/office/drawing/2014/main" id="{0277B4FB-FB1E-4118-2631-7C70E409756E}"/>
              </a:ext>
            </a:extLst>
          </p:cNvPr>
          <p:cNvCxnSpPr>
            <a:cxnSpLocks/>
            <a:stCxn id="92" idx="4"/>
            <a:endCxn id="98" idx="0"/>
          </p:cNvCxnSpPr>
          <p:nvPr/>
        </p:nvCxnSpPr>
        <p:spPr>
          <a:xfrm>
            <a:off x="3043397" y="3164996"/>
            <a:ext cx="9552" cy="22016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4660A5F4-6CAF-8984-0699-085D80AAD0F6}"/>
              </a:ext>
            </a:extLst>
          </p:cNvPr>
          <p:cNvCxnSpPr>
            <a:cxnSpLocks/>
            <a:stCxn id="98" idx="5"/>
            <a:endCxn id="99" idx="1"/>
          </p:cNvCxnSpPr>
          <p:nvPr/>
        </p:nvCxnSpPr>
        <p:spPr>
          <a:xfrm>
            <a:off x="3154784" y="3631014"/>
            <a:ext cx="274162" cy="12814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0F2AB201-BD6C-18AD-5113-037608443CAE}"/>
              </a:ext>
            </a:extLst>
          </p:cNvPr>
          <p:cNvCxnSpPr>
            <a:cxnSpLocks/>
            <a:stCxn id="99" idx="3"/>
            <a:endCxn id="100" idx="6"/>
          </p:cNvCxnSpPr>
          <p:nvPr/>
        </p:nvCxnSpPr>
        <p:spPr>
          <a:xfrm flipH="1">
            <a:off x="3204899" y="3962829"/>
            <a:ext cx="224047" cy="8891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7C55E054-ECF7-C9A5-DF73-F14471A5D571}"/>
              </a:ext>
            </a:extLst>
          </p:cNvPr>
          <p:cNvCxnSpPr>
            <a:cxnSpLocks/>
            <a:stCxn id="98" idx="4"/>
            <a:endCxn id="100" idx="0"/>
          </p:cNvCxnSpPr>
          <p:nvPr/>
        </p:nvCxnSpPr>
        <p:spPr>
          <a:xfrm>
            <a:off x="3052949" y="3673195"/>
            <a:ext cx="7934" cy="23453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4DF54D0F-F460-20BA-0379-98476D5183A8}"/>
              </a:ext>
            </a:extLst>
          </p:cNvPr>
          <p:cNvCxnSpPr>
            <a:cxnSpLocks/>
            <a:stCxn id="100" idx="4"/>
            <a:endCxn id="101" idx="0"/>
          </p:cNvCxnSpPr>
          <p:nvPr/>
        </p:nvCxnSpPr>
        <p:spPr>
          <a:xfrm>
            <a:off x="3060883" y="4195761"/>
            <a:ext cx="10922" cy="23057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799126F6-396F-74DC-F8AA-5CEB83FDD49A}"/>
              </a:ext>
            </a:extLst>
          </p:cNvPr>
          <p:cNvSpPr txBox="1"/>
          <p:nvPr/>
        </p:nvSpPr>
        <p:spPr>
          <a:xfrm>
            <a:off x="2020030" y="4911451"/>
            <a:ext cx="6853567" cy="1384995"/>
          </a:xfrm>
          <a:prstGeom prst="rect">
            <a:avLst/>
          </a:prstGeom>
          <a:noFill/>
        </p:spPr>
        <p:txBody>
          <a:bodyPr wrap="square" rtlCol="0">
            <a:spAutoFit/>
          </a:bodyPr>
          <a:lstStyle/>
          <a:p>
            <a:pPr marL="171450" indent="-171450">
              <a:buFont typeface="Arial" panose="020B0604020202020204" pitchFamily="34" charset="0"/>
              <a:buChar char="•"/>
            </a:pPr>
            <a:r>
              <a:rPr lang="en-US" sz="1200" dirty="0"/>
              <a:t>To be able to target the non cyclic path e.g. [0,1,2,4,6,7] as a source of that we also want to test, we add a fake edge from exit 7 back to entry node 0 (and also making the CFG strongly connected, so we can use McCabe theorem on it)</a:t>
            </a:r>
          </a:p>
          <a:p>
            <a:pPr marL="171450" indent="-171450">
              <a:buFont typeface="Arial" panose="020B0604020202020204" pitchFamily="34" charset="0"/>
              <a:buChar char="•"/>
            </a:pPr>
            <a:r>
              <a:rPr lang="en-US" sz="1200" dirty="0"/>
              <a:t>This allows non-cyclic logics to be represented as circuits. E.g. the non-cyclic path [0,1,2,4,6,7] in the original program is represented as a circuit [0,1,2,4,6,7,0] in the modified CFG. </a:t>
            </a:r>
          </a:p>
          <a:p>
            <a:pPr marL="171450" indent="-171450">
              <a:buFont typeface="Arial" panose="020B0604020202020204" pitchFamily="34" charset="0"/>
              <a:buChar char="•"/>
            </a:pPr>
            <a:r>
              <a:rPr lang="en-US" sz="1200" dirty="0"/>
              <a:t>Circuits in the new CFG:  [1,2,3,1] , [0,1,2,4,6,7,0], [0,1,2,4,5,6,7,0]. These are also linearly independent from each other.</a:t>
            </a:r>
            <a:endParaRPr lang="en-NL" sz="1200" dirty="0"/>
          </a:p>
        </p:txBody>
      </p:sp>
      <p:sp>
        <p:nvSpPr>
          <p:cNvPr id="111" name="Right Arrow 110">
            <a:extLst>
              <a:ext uri="{FF2B5EF4-FFF2-40B4-BE49-F238E27FC236}">
                <a16:creationId xmlns:a16="http://schemas.microsoft.com/office/drawing/2014/main" id="{262152A6-AC82-221E-CC72-93F5D5397B36}"/>
              </a:ext>
            </a:extLst>
          </p:cNvPr>
          <p:cNvSpPr/>
          <p:nvPr/>
        </p:nvSpPr>
        <p:spPr>
          <a:xfrm>
            <a:off x="1558707" y="3083045"/>
            <a:ext cx="648072" cy="38406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2" name="TextBox 111">
            <a:extLst>
              <a:ext uri="{FF2B5EF4-FFF2-40B4-BE49-F238E27FC236}">
                <a16:creationId xmlns:a16="http://schemas.microsoft.com/office/drawing/2014/main" id="{BE452BDA-DADE-01DE-1AD7-9021ED0B6C1D}"/>
              </a:ext>
            </a:extLst>
          </p:cNvPr>
          <p:cNvSpPr txBox="1"/>
          <p:nvPr/>
        </p:nvSpPr>
        <p:spPr>
          <a:xfrm>
            <a:off x="4219509" y="2041160"/>
            <a:ext cx="4549414" cy="2246769"/>
          </a:xfrm>
          <a:prstGeom prst="rect">
            <a:avLst/>
          </a:prstGeom>
          <a:solidFill>
            <a:srgbClr val="C3DDFF">
              <a:alpha val="50196"/>
            </a:srgbClr>
          </a:solidFill>
          <a:ln>
            <a:solidFill>
              <a:schemeClr val="tx1"/>
            </a:solidFill>
          </a:ln>
        </p:spPr>
        <p:txBody>
          <a:bodyPr wrap="square" rtlCol="0">
            <a:spAutoFit/>
          </a:bodyPr>
          <a:lstStyle/>
          <a:p>
            <a:pPr marL="285750" indent="-285750">
              <a:buFont typeface="Arial" panose="020B0604020202020204" pitchFamily="34" charset="0"/>
              <a:buChar char="•"/>
            </a:pPr>
            <a:r>
              <a:rPr lang="en-NL" sz="2000" dirty="0"/>
              <a:t># linerarly independent circuits = 3</a:t>
            </a:r>
          </a:p>
          <a:p>
            <a:pPr marL="285750" indent="-285750">
              <a:buFont typeface="Arial" panose="020B0604020202020204" pitchFamily="34" charset="0"/>
              <a:buChar char="•"/>
            </a:pPr>
            <a:r>
              <a:rPr lang="en-GB" sz="2000" dirty="0"/>
              <a:t>Can you give them?</a:t>
            </a:r>
          </a:p>
          <a:p>
            <a:pPr marL="285750" indent="-285750">
              <a:buFont typeface="Arial" panose="020B0604020202020204" pitchFamily="34" charset="0"/>
              <a:buChar char="•"/>
            </a:pPr>
            <a:r>
              <a:rPr lang="en-GB" sz="2000" dirty="0">
                <a:highlight>
                  <a:srgbClr val="FFFF00"/>
                </a:highlight>
              </a:rPr>
              <a:t>#</a:t>
            </a:r>
            <a:r>
              <a:rPr lang="en-GB" sz="2000" dirty="0" err="1">
                <a:highlight>
                  <a:srgbClr val="FFFF00"/>
                </a:highlight>
              </a:rPr>
              <a:t>lics</a:t>
            </a:r>
            <a:r>
              <a:rPr lang="en-GB" sz="2000" dirty="0">
                <a:highlight>
                  <a:srgbClr val="FFFF00"/>
                </a:highlight>
              </a:rPr>
              <a:t> = E – N + 1</a:t>
            </a:r>
            <a:r>
              <a:rPr lang="en-GB" sz="2000" dirty="0"/>
              <a:t> (McCabe theorem)</a:t>
            </a:r>
          </a:p>
          <a:p>
            <a:pPr marL="285750" indent="-285750">
              <a:buFont typeface="Arial" panose="020B0604020202020204" pitchFamily="34" charset="0"/>
              <a:buChar char="•"/>
            </a:pPr>
            <a:r>
              <a:rPr lang="en-GB" sz="2000" dirty="0"/>
              <a:t>E = number of edges in the extended CFG = original E + 1</a:t>
            </a:r>
            <a:br>
              <a:rPr lang="en-NL" sz="2000" dirty="0"/>
            </a:br>
            <a:endParaRPr lang="en-NL" sz="2000" dirty="0"/>
          </a:p>
          <a:p>
            <a:pPr marL="285750" indent="-285750">
              <a:buFont typeface="Arial" panose="020B0604020202020204" pitchFamily="34" charset="0"/>
              <a:buChar char="•"/>
            </a:pPr>
            <a:r>
              <a:rPr lang="en-NL" sz="2000" dirty="0"/>
              <a:t>So</a:t>
            </a:r>
            <a:r>
              <a:rPr lang="en-NL" sz="2000" dirty="0">
                <a:highlight>
                  <a:srgbClr val="FFFF00"/>
                </a:highlight>
              </a:rPr>
              <a:t>, #lics = E</a:t>
            </a:r>
            <a:r>
              <a:rPr lang="en-NL" sz="2000" baseline="-25000" dirty="0">
                <a:highlight>
                  <a:srgbClr val="FFFF00"/>
                </a:highlight>
              </a:rPr>
              <a:t>original</a:t>
            </a:r>
            <a:r>
              <a:rPr lang="en-NL" sz="2000" dirty="0">
                <a:highlight>
                  <a:srgbClr val="FFFF00"/>
                </a:highlight>
              </a:rPr>
              <a:t> – N + 2 </a:t>
            </a:r>
          </a:p>
        </p:txBody>
      </p:sp>
    </p:spTree>
    <p:extLst>
      <p:ext uri="{BB962C8B-B14F-4D97-AF65-F5344CB8AC3E}">
        <p14:creationId xmlns:p14="http://schemas.microsoft.com/office/powerpoint/2010/main" val="8506644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2C54-0A09-BA26-FF22-F9D7948274F8}"/>
              </a:ext>
            </a:extLst>
          </p:cNvPr>
          <p:cNvSpPr>
            <a:spLocks noGrp="1"/>
          </p:cNvSpPr>
          <p:nvPr>
            <p:ph type="title"/>
          </p:nvPr>
        </p:nvSpPr>
        <p:spPr/>
        <p:txBody>
          <a:bodyPr/>
          <a:lstStyle/>
          <a:p>
            <a:r>
              <a:rPr lang="en-NL" dirty="0"/>
              <a:t>Relation with test coverage</a:t>
            </a:r>
          </a:p>
        </p:txBody>
      </p:sp>
      <p:sp>
        <p:nvSpPr>
          <p:cNvPr id="4" name="Slide Number Placeholder 3">
            <a:extLst>
              <a:ext uri="{FF2B5EF4-FFF2-40B4-BE49-F238E27FC236}">
                <a16:creationId xmlns:a16="http://schemas.microsoft.com/office/drawing/2014/main" id="{4FDCF551-13AB-DE8B-F0D1-354738323B44}"/>
              </a:ext>
            </a:extLst>
          </p:cNvPr>
          <p:cNvSpPr>
            <a:spLocks noGrp="1"/>
          </p:cNvSpPr>
          <p:nvPr>
            <p:ph type="sldNum" sz="quarter" idx="12"/>
          </p:nvPr>
        </p:nvSpPr>
        <p:spPr/>
        <p:txBody>
          <a:bodyPr/>
          <a:lstStyle/>
          <a:p>
            <a:pPr>
              <a:defRPr/>
            </a:pPr>
            <a:fld id="{F7C0A3F7-46F3-44CF-95B7-0304031AA6EA}" type="slidenum">
              <a:rPr lang="en-US" smtClean="0"/>
              <a:pPr>
                <a:defRPr/>
              </a:pPr>
              <a:t>35</a:t>
            </a:fld>
            <a:endParaRPr lang="en-US"/>
          </a:p>
        </p:txBody>
      </p:sp>
      <p:cxnSp>
        <p:nvCxnSpPr>
          <p:cNvPr id="28" name="Curved Connector 27">
            <a:extLst>
              <a:ext uri="{FF2B5EF4-FFF2-40B4-BE49-F238E27FC236}">
                <a16:creationId xmlns:a16="http://schemas.microsoft.com/office/drawing/2014/main" id="{BF718362-D8B5-40CB-7780-092D6EEAD0D7}"/>
              </a:ext>
            </a:extLst>
          </p:cNvPr>
          <p:cNvCxnSpPr>
            <a:cxnSpLocks/>
            <a:stCxn id="101" idx="2"/>
            <a:endCxn id="97" idx="2"/>
          </p:cNvCxnSpPr>
          <p:nvPr/>
        </p:nvCxnSpPr>
        <p:spPr>
          <a:xfrm rot="10800000">
            <a:off x="1043608" y="1988841"/>
            <a:ext cx="27038" cy="2614723"/>
          </a:xfrm>
          <a:prstGeom prst="curvedConnector3">
            <a:avLst>
              <a:gd name="adj1" fmla="val 1759638"/>
            </a:avLst>
          </a:prstGeom>
          <a:ln w="1270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90" name="Oval 89">
            <a:extLst>
              <a:ext uri="{FF2B5EF4-FFF2-40B4-BE49-F238E27FC236}">
                <a16:creationId xmlns:a16="http://schemas.microsoft.com/office/drawing/2014/main" id="{6BA2C80C-CB08-51DC-A927-712A89DD9EB3}"/>
              </a:ext>
            </a:extLst>
          </p:cNvPr>
          <p:cNvSpPr/>
          <p:nvPr/>
        </p:nvSpPr>
        <p:spPr>
          <a:xfrm>
            <a:off x="1042238" y="2377499"/>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1</a:t>
            </a:r>
          </a:p>
        </p:txBody>
      </p:sp>
      <p:sp>
        <p:nvSpPr>
          <p:cNvPr id="91" name="Oval 90">
            <a:extLst>
              <a:ext uri="{FF2B5EF4-FFF2-40B4-BE49-F238E27FC236}">
                <a16:creationId xmlns:a16="http://schemas.microsoft.com/office/drawing/2014/main" id="{66EFDBCF-75DE-387C-08B6-CC557771B136}"/>
              </a:ext>
            </a:extLst>
          </p:cNvPr>
          <p:cNvSpPr/>
          <p:nvPr/>
        </p:nvSpPr>
        <p:spPr>
          <a:xfrm>
            <a:off x="1635070" y="2921491"/>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3</a:t>
            </a:r>
          </a:p>
        </p:txBody>
      </p:sp>
      <p:sp>
        <p:nvSpPr>
          <p:cNvPr id="92" name="Oval 91">
            <a:extLst>
              <a:ext uri="{FF2B5EF4-FFF2-40B4-BE49-F238E27FC236}">
                <a16:creationId xmlns:a16="http://schemas.microsoft.com/office/drawing/2014/main" id="{00F22AF1-D4A7-2FF7-4CA2-C7342C100CB7}"/>
              </a:ext>
            </a:extLst>
          </p:cNvPr>
          <p:cNvSpPr/>
          <p:nvPr/>
        </p:nvSpPr>
        <p:spPr>
          <a:xfrm>
            <a:off x="1042238" y="2910174"/>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2</a:t>
            </a:r>
          </a:p>
        </p:txBody>
      </p:sp>
      <p:cxnSp>
        <p:nvCxnSpPr>
          <p:cNvPr id="93" name="Straight Arrow Connector 92">
            <a:extLst>
              <a:ext uri="{FF2B5EF4-FFF2-40B4-BE49-F238E27FC236}">
                <a16:creationId xmlns:a16="http://schemas.microsoft.com/office/drawing/2014/main" id="{262AE2AA-EAF7-52A5-558C-9DB4906572A0}"/>
              </a:ext>
            </a:extLst>
          </p:cNvPr>
          <p:cNvCxnSpPr>
            <a:cxnSpLocks/>
            <a:stCxn id="90" idx="4"/>
            <a:endCxn id="92" idx="0"/>
          </p:cNvCxnSpPr>
          <p:nvPr/>
        </p:nvCxnSpPr>
        <p:spPr>
          <a:xfrm>
            <a:off x="1186254" y="2665531"/>
            <a:ext cx="0" cy="24464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BD6DB30C-DF87-B7A3-1BCD-A5F26667B5CA}"/>
              </a:ext>
            </a:extLst>
          </p:cNvPr>
          <p:cNvCxnSpPr>
            <a:cxnSpLocks/>
            <a:stCxn id="92" idx="6"/>
            <a:endCxn id="91" idx="2"/>
          </p:cNvCxnSpPr>
          <p:nvPr/>
        </p:nvCxnSpPr>
        <p:spPr>
          <a:xfrm>
            <a:off x="1330270" y="3054190"/>
            <a:ext cx="304800" cy="1131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D3E4DB2A-C129-9BD5-62A1-2F097AD4CCCA}"/>
              </a:ext>
            </a:extLst>
          </p:cNvPr>
          <p:cNvCxnSpPr>
            <a:cxnSpLocks/>
            <a:stCxn id="97" idx="4"/>
            <a:endCxn id="90" idx="0"/>
          </p:cNvCxnSpPr>
          <p:nvPr/>
        </p:nvCxnSpPr>
        <p:spPr>
          <a:xfrm flipH="1">
            <a:off x="1186254" y="2132856"/>
            <a:ext cx="1370" cy="24464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78E6C09F-6D03-5873-7230-DA768936D70E}"/>
              </a:ext>
            </a:extLst>
          </p:cNvPr>
          <p:cNvCxnSpPr>
            <a:cxnSpLocks/>
            <a:stCxn id="91" idx="1"/>
            <a:endCxn id="90" idx="5"/>
          </p:cNvCxnSpPr>
          <p:nvPr/>
        </p:nvCxnSpPr>
        <p:spPr>
          <a:xfrm flipH="1" flipV="1">
            <a:off x="1288089" y="2623350"/>
            <a:ext cx="389162" cy="340322"/>
          </a:xfrm>
          <a:prstGeom prst="straightConnector1">
            <a:avLst/>
          </a:prstGeom>
          <a:ln w="127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7" name="Oval 96">
            <a:extLst>
              <a:ext uri="{FF2B5EF4-FFF2-40B4-BE49-F238E27FC236}">
                <a16:creationId xmlns:a16="http://schemas.microsoft.com/office/drawing/2014/main" id="{88B24A16-0A40-3422-FDBB-99B7EF83FF53}"/>
              </a:ext>
            </a:extLst>
          </p:cNvPr>
          <p:cNvSpPr/>
          <p:nvPr/>
        </p:nvSpPr>
        <p:spPr>
          <a:xfrm>
            <a:off x="1043608" y="1844824"/>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0</a:t>
            </a:r>
          </a:p>
        </p:txBody>
      </p:sp>
      <p:sp>
        <p:nvSpPr>
          <p:cNvPr id="98" name="Oval 97">
            <a:extLst>
              <a:ext uri="{FF2B5EF4-FFF2-40B4-BE49-F238E27FC236}">
                <a16:creationId xmlns:a16="http://schemas.microsoft.com/office/drawing/2014/main" id="{E99DE401-37D2-C6CA-14ED-202E992009EC}"/>
              </a:ext>
            </a:extLst>
          </p:cNvPr>
          <p:cNvSpPr/>
          <p:nvPr/>
        </p:nvSpPr>
        <p:spPr>
          <a:xfrm>
            <a:off x="1051790" y="3418373"/>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4</a:t>
            </a:r>
          </a:p>
        </p:txBody>
      </p:sp>
      <p:sp>
        <p:nvSpPr>
          <p:cNvPr id="99" name="Oval 98">
            <a:extLst>
              <a:ext uri="{FF2B5EF4-FFF2-40B4-BE49-F238E27FC236}">
                <a16:creationId xmlns:a16="http://schemas.microsoft.com/office/drawing/2014/main" id="{DE733BAD-7190-C555-985D-CF268C5826E5}"/>
              </a:ext>
            </a:extLst>
          </p:cNvPr>
          <p:cNvSpPr/>
          <p:nvPr/>
        </p:nvSpPr>
        <p:spPr>
          <a:xfrm>
            <a:off x="1529622" y="3750188"/>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5</a:t>
            </a:r>
          </a:p>
        </p:txBody>
      </p:sp>
      <p:sp>
        <p:nvSpPr>
          <p:cNvPr id="100" name="Oval 99">
            <a:extLst>
              <a:ext uri="{FF2B5EF4-FFF2-40B4-BE49-F238E27FC236}">
                <a16:creationId xmlns:a16="http://schemas.microsoft.com/office/drawing/2014/main" id="{51D521B0-205E-9138-1172-B32820F2B66C}"/>
              </a:ext>
            </a:extLst>
          </p:cNvPr>
          <p:cNvSpPr/>
          <p:nvPr/>
        </p:nvSpPr>
        <p:spPr>
          <a:xfrm>
            <a:off x="1059724" y="3940939"/>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6</a:t>
            </a:r>
          </a:p>
        </p:txBody>
      </p:sp>
      <p:sp>
        <p:nvSpPr>
          <p:cNvPr id="101" name="Oval 100">
            <a:extLst>
              <a:ext uri="{FF2B5EF4-FFF2-40B4-BE49-F238E27FC236}">
                <a16:creationId xmlns:a16="http://schemas.microsoft.com/office/drawing/2014/main" id="{5F2B14BD-AC6D-7D20-2875-D8EF6A220074}"/>
              </a:ext>
            </a:extLst>
          </p:cNvPr>
          <p:cNvSpPr/>
          <p:nvPr/>
        </p:nvSpPr>
        <p:spPr>
          <a:xfrm>
            <a:off x="1070646" y="4459547"/>
            <a:ext cx="288032" cy="28803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7</a:t>
            </a:r>
          </a:p>
        </p:txBody>
      </p:sp>
      <p:cxnSp>
        <p:nvCxnSpPr>
          <p:cNvPr id="102" name="Straight Arrow Connector 101">
            <a:extLst>
              <a:ext uri="{FF2B5EF4-FFF2-40B4-BE49-F238E27FC236}">
                <a16:creationId xmlns:a16="http://schemas.microsoft.com/office/drawing/2014/main" id="{0277B4FB-FB1E-4118-2631-7C70E409756E}"/>
              </a:ext>
            </a:extLst>
          </p:cNvPr>
          <p:cNvCxnSpPr>
            <a:cxnSpLocks/>
            <a:stCxn id="92" idx="4"/>
            <a:endCxn id="98" idx="0"/>
          </p:cNvCxnSpPr>
          <p:nvPr/>
        </p:nvCxnSpPr>
        <p:spPr>
          <a:xfrm>
            <a:off x="1186254" y="3198206"/>
            <a:ext cx="9552" cy="22016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4660A5F4-6CAF-8984-0699-085D80AAD0F6}"/>
              </a:ext>
            </a:extLst>
          </p:cNvPr>
          <p:cNvCxnSpPr>
            <a:cxnSpLocks/>
            <a:stCxn id="98" idx="5"/>
            <a:endCxn id="99" idx="1"/>
          </p:cNvCxnSpPr>
          <p:nvPr/>
        </p:nvCxnSpPr>
        <p:spPr>
          <a:xfrm>
            <a:off x="1297641" y="3664224"/>
            <a:ext cx="274162" cy="12814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0F2AB201-BD6C-18AD-5113-037608443CAE}"/>
              </a:ext>
            </a:extLst>
          </p:cNvPr>
          <p:cNvCxnSpPr>
            <a:cxnSpLocks/>
            <a:stCxn id="99" idx="3"/>
            <a:endCxn id="100" idx="6"/>
          </p:cNvCxnSpPr>
          <p:nvPr/>
        </p:nvCxnSpPr>
        <p:spPr>
          <a:xfrm flipH="1">
            <a:off x="1347756" y="3996039"/>
            <a:ext cx="224047" cy="8891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7C55E054-ECF7-C9A5-DF73-F14471A5D571}"/>
              </a:ext>
            </a:extLst>
          </p:cNvPr>
          <p:cNvCxnSpPr>
            <a:cxnSpLocks/>
            <a:stCxn id="98" idx="4"/>
            <a:endCxn id="100" idx="0"/>
          </p:cNvCxnSpPr>
          <p:nvPr/>
        </p:nvCxnSpPr>
        <p:spPr>
          <a:xfrm>
            <a:off x="1195806" y="3706405"/>
            <a:ext cx="7934" cy="23453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4DF54D0F-F460-20BA-0379-98476D5183A8}"/>
              </a:ext>
            </a:extLst>
          </p:cNvPr>
          <p:cNvCxnSpPr>
            <a:cxnSpLocks/>
            <a:stCxn id="100" idx="4"/>
            <a:endCxn id="101" idx="0"/>
          </p:cNvCxnSpPr>
          <p:nvPr/>
        </p:nvCxnSpPr>
        <p:spPr>
          <a:xfrm>
            <a:off x="1203740" y="4228971"/>
            <a:ext cx="10922" cy="23057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4F6CCD9-748E-CEC3-F44F-1258FA08CA4A}"/>
              </a:ext>
            </a:extLst>
          </p:cNvPr>
          <p:cNvSpPr txBox="1"/>
          <p:nvPr/>
        </p:nvSpPr>
        <p:spPr>
          <a:xfrm>
            <a:off x="2627784" y="1721246"/>
            <a:ext cx="5878252" cy="4247317"/>
          </a:xfrm>
          <a:prstGeom prst="rect">
            <a:avLst/>
          </a:prstGeom>
          <a:noFill/>
        </p:spPr>
        <p:txBody>
          <a:bodyPr wrap="square" rtlCol="0">
            <a:spAutoFit/>
          </a:bodyPr>
          <a:lstStyle/>
          <a:p>
            <a:r>
              <a:rPr lang="en-GB" b="1" dirty="0"/>
              <a:t>Premise</a:t>
            </a:r>
            <a:r>
              <a:rPr lang="en-GB" dirty="0"/>
              <a:t>: the circuits are the main source of complexity in your program.</a:t>
            </a:r>
          </a:p>
          <a:p>
            <a:endParaRPr lang="en-GB" dirty="0"/>
          </a:p>
          <a:p>
            <a:r>
              <a:rPr lang="en-GB" dirty="0"/>
              <a:t>So: aim to cover at least all independent “circuits” in your program: </a:t>
            </a:r>
          </a:p>
          <a:p>
            <a:endParaRPr lang="en-GB" dirty="0"/>
          </a:p>
          <a:p>
            <a:pPr marL="285750" indent="-285750">
              <a:buFont typeface="Arial" panose="020B0604020202020204" pitchFamily="34" charset="0"/>
              <a:buChar char="•"/>
            </a:pPr>
            <a:r>
              <a:rPr lang="en-GB" dirty="0"/>
              <a:t>[0,1,2,4,6,7,</a:t>
            </a:r>
            <a:r>
              <a:rPr lang="en-GB" strike="sngStrike" dirty="0">
                <a:solidFill>
                  <a:srgbClr val="FF0000"/>
                </a:solidFill>
              </a:rPr>
              <a:t>0</a:t>
            </a:r>
            <a:r>
              <a:rPr lang="en-GB" dirty="0"/>
              <a:t>] ,  [0,1,2,4,5,6,7,</a:t>
            </a:r>
            <a:r>
              <a:rPr lang="en-GB" strike="sngStrike" dirty="0">
                <a:solidFill>
                  <a:srgbClr val="FF0000"/>
                </a:solidFill>
              </a:rPr>
              <a:t>0</a:t>
            </a:r>
            <a:r>
              <a:rPr lang="en-GB" dirty="0"/>
              <a:t>],   [1,2,3,1] </a:t>
            </a:r>
          </a:p>
          <a:p>
            <a:pPr marL="285750" indent="-285750">
              <a:buFont typeface="Arial" panose="020B0604020202020204" pitchFamily="34" charset="0"/>
              <a:buChar char="•"/>
            </a:pPr>
            <a:r>
              <a:rPr lang="en-GB" dirty="0"/>
              <a:t>You can remove the fake edge from the TR.</a:t>
            </a:r>
          </a:p>
          <a:p>
            <a:pPr marL="285750" indent="-285750">
              <a:buFont typeface="Arial" panose="020B0604020202020204" pitchFamily="34" charset="0"/>
              <a:buChar char="•"/>
            </a:pPr>
            <a:endParaRPr lang="en-GB" dirty="0"/>
          </a:p>
          <a:p>
            <a:r>
              <a:rPr lang="en-GB" dirty="0"/>
              <a:t>Observations:</a:t>
            </a:r>
          </a:p>
          <a:p>
            <a:pPr marL="285750" indent="-285750">
              <a:buFont typeface="Arial" panose="020B0604020202020204" pitchFamily="34" charset="0"/>
              <a:buChar char="•"/>
            </a:pPr>
            <a:r>
              <a:rPr lang="en-GB" dirty="0"/>
              <a:t>The paths in McCabe TR are linearly independent, so each has something unique.</a:t>
            </a:r>
          </a:p>
          <a:p>
            <a:pPr marL="285750" indent="-285750">
              <a:buFont typeface="Arial" panose="020B0604020202020204" pitchFamily="34" charset="0"/>
              <a:buChar char="•"/>
            </a:pPr>
            <a:r>
              <a:rPr lang="en-GB" dirty="0"/>
              <a:t>McCabe number is not the same as #paths in the program. The later can be exponential or unbounded. #McCabe TR grows much slower. </a:t>
            </a:r>
            <a:endParaRPr lang="en-NL" dirty="0"/>
          </a:p>
        </p:txBody>
      </p:sp>
      <p:sp>
        <p:nvSpPr>
          <p:cNvPr id="5" name="Rounded Rectangle 4">
            <a:extLst>
              <a:ext uri="{FF2B5EF4-FFF2-40B4-BE49-F238E27FC236}">
                <a16:creationId xmlns:a16="http://schemas.microsoft.com/office/drawing/2014/main" id="{179CBEC1-AC62-AC78-B194-201A1BF2BCEE}"/>
              </a:ext>
            </a:extLst>
          </p:cNvPr>
          <p:cNvSpPr/>
          <p:nvPr/>
        </p:nvSpPr>
        <p:spPr>
          <a:xfrm>
            <a:off x="2487878" y="1542315"/>
            <a:ext cx="6109720" cy="1667208"/>
          </a:xfrm>
          <a:prstGeom prst="roundRect">
            <a:avLst>
              <a:gd name="adj" fmla="val 25954"/>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363475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2C54-0A09-BA26-FF22-F9D7948274F8}"/>
              </a:ext>
            </a:extLst>
          </p:cNvPr>
          <p:cNvSpPr>
            <a:spLocks noGrp="1"/>
          </p:cNvSpPr>
          <p:nvPr>
            <p:ph type="title"/>
          </p:nvPr>
        </p:nvSpPr>
        <p:spPr/>
        <p:txBody>
          <a:bodyPr/>
          <a:lstStyle/>
          <a:p>
            <a:r>
              <a:rPr lang="en-NL" sz="3600" dirty="0"/>
              <a:t>max. linearly independent set of circuits</a:t>
            </a:r>
          </a:p>
        </p:txBody>
      </p:sp>
      <p:sp>
        <p:nvSpPr>
          <p:cNvPr id="90" name="Oval 89">
            <a:extLst>
              <a:ext uri="{FF2B5EF4-FFF2-40B4-BE49-F238E27FC236}">
                <a16:creationId xmlns:a16="http://schemas.microsoft.com/office/drawing/2014/main" id="{6BA2C80C-CB08-51DC-A927-712A89DD9EB3}"/>
              </a:ext>
            </a:extLst>
          </p:cNvPr>
          <p:cNvSpPr/>
          <p:nvPr/>
        </p:nvSpPr>
        <p:spPr>
          <a:xfrm>
            <a:off x="1644486" y="1856087"/>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0</a:t>
            </a:r>
          </a:p>
        </p:txBody>
      </p:sp>
      <p:sp>
        <p:nvSpPr>
          <p:cNvPr id="91" name="Oval 90">
            <a:extLst>
              <a:ext uri="{FF2B5EF4-FFF2-40B4-BE49-F238E27FC236}">
                <a16:creationId xmlns:a16="http://schemas.microsoft.com/office/drawing/2014/main" id="{66EFDBCF-75DE-387C-08B6-CC557771B136}"/>
              </a:ext>
            </a:extLst>
          </p:cNvPr>
          <p:cNvSpPr/>
          <p:nvPr/>
        </p:nvSpPr>
        <p:spPr>
          <a:xfrm>
            <a:off x="2339752" y="2426307"/>
            <a:ext cx="288032" cy="288032"/>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2</a:t>
            </a:r>
          </a:p>
        </p:txBody>
      </p:sp>
      <p:sp>
        <p:nvSpPr>
          <p:cNvPr id="92" name="Oval 91">
            <a:extLst>
              <a:ext uri="{FF2B5EF4-FFF2-40B4-BE49-F238E27FC236}">
                <a16:creationId xmlns:a16="http://schemas.microsoft.com/office/drawing/2014/main" id="{00F22AF1-D4A7-2FF7-4CA2-C7342C100CB7}"/>
              </a:ext>
            </a:extLst>
          </p:cNvPr>
          <p:cNvSpPr/>
          <p:nvPr/>
        </p:nvSpPr>
        <p:spPr>
          <a:xfrm>
            <a:off x="1644486" y="2860334"/>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3</a:t>
            </a:r>
          </a:p>
        </p:txBody>
      </p:sp>
      <p:cxnSp>
        <p:nvCxnSpPr>
          <p:cNvPr id="93" name="Straight Arrow Connector 92">
            <a:extLst>
              <a:ext uri="{FF2B5EF4-FFF2-40B4-BE49-F238E27FC236}">
                <a16:creationId xmlns:a16="http://schemas.microsoft.com/office/drawing/2014/main" id="{262AE2AA-EAF7-52A5-558C-9DB4906572A0}"/>
              </a:ext>
            </a:extLst>
          </p:cNvPr>
          <p:cNvCxnSpPr>
            <a:cxnSpLocks/>
            <a:stCxn id="90" idx="3"/>
            <a:endCxn id="45" idx="7"/>
          </p:cNvCxnSpPr>
          <p:nvPr/>
        </p:nvCxnSpPr>
        <p:spPr>
          <a:xfrm flipH="1">
            <a:off x="1144533" y="2101938"/>
            <a:ext cx="542134" cy="36655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BD6DB30C-DF87-B7A3-1BCD-A5F26667B5CA}"/>
              </a:ext>
            </a:extLst>
          </p:cNvPr>
          <p:cNvCxnSpPr>
            <a:cxnSpLocks/>
            <a:stCxn id="90" idx="5"/>
            <a:endCxn id="91" idx="1"/>
          </p:cNvCxnSpPr>
          <p:nvPr/>
        </p:nvCxnSpPr>
        <p:spPr>
          <a:xfrm>
            <a:off x="1890337" y="2101938"/>
            <a:ext cx="491596" cy="36655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9" name="Oval 98">
            <a:extLst>
              <a:ext uri="{FF2B5EF4-FFF2-40B4-BE49-F238E27FC236}">
                <a16:creationId xmlns:a16="http://schemas.microsoft.com/office/drawing/2014/main" id="{DE733BAD-7190-C555-985D-CF268C5826E5}"/>
              </a:ext>
            </a:extLst>
          </p:cNvPr>
          <p:cNvSpPr/>
          <p:nvPr/>
        </p:nvSpPr>
        <p:spPr>
          <a:xfrm>
            <a:off x="2339752" y="3383234"/>
            <a:ext cx="288032" cy="288032"/>
          </a:xfrm>
          <a:prstGeom prst="ellipse">
            <a:avLst/>
          </a:prstGeom>
          <a:solidFill>
            <a:srgbClr val="0A87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5</a:t>
            </a:r>
          </a:p>
        </p:txBody>
      </p:sp>
      <p:sp>
        <p:nvSpPr>
          <p:cNvPr id="100" name="Oval 99">
            <a:extLst>
              <a:ext uri="{FF2B5EF4-FFF2-40B4-BE49-F238E27FC236}">
                <a16:creationId xmlns:a16="http://schemas.microsoft.com/office/drawing/2014/main" id="{51D521B0-205E-9138-1172-B32820F2B66C}"/>
              </a:ext>
            </a:extLst>
          </p:cNvPr>
          <p:cNvSpPr/>
          <p:nvPr/>
        </p:nvSpPr>
        <p:spPr>
          <a:xfrm>
            <a:off x="1644486" y="3814237"/>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6</a:t>
            </a:r>
          </a:p>
        </p:txBody>
      </p:sp>
      <p:cxnSp>
        <p:nvCxnSpPr>
          <p:cNvPr id="103" name="Straight Arrow Connector 102">
            <a:extLst>
              <a:ext uri="{FF2B5EF4-FFF2-40B4-BE49-F238E27FC236}">
                <a16:creationId xmlns:a16="http://schemas.microsoft.com/office/drawing/2014/main" id="{4660A5F4-6CAF-8984-0699-085D80AAD0F6}"/>
              </a:ext>
            </a:extLst>
          </p:cNvPr>
          <p:cNvCxnSpPr>
            <a:cxnSpLocks/>
            <a:stCxn id="92" idx="5"/>
            <a:endCxn id="99" idx="1"/>
          </p:cNvCxnSpPr>
          <p:nvPr/>
        </p:nvCxnSpPr>
        <p:spPr>
          <a:xfrm>
            <a:off x="1890337" y="3106185"/>
            <a:ext cx="491596" cy="31923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0F2AB201-BD6C-18AD-5113-037608443CAE}"/>
              </a:ext>
            </a:extLst>
          </p:cNvPr>
          <p:cNvCxnSpPr>
            <a:cxnSpLocks/>
            <a:stCxn id="99" idx="3"/>
            <a:endCxn id="100" idx="6"/>
          </p:cNvCxnSpPr>
          <p:nvPr/>
        </p:nvCxnSpPr>
        <p:spPr>
          <a:xfrm flipH="1">
            <a:off x="1932518" y="3629085"/>
            <a:ext cx="449415" cy="32916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7C55E054-ECF7-C9A5-DF73-F14471A5D571}"/>
              </a:ext>
            </a:extLst>
          </p:cNvPr>
          <p:cNvCxnSpPr>
            <a:cxnSpLocks/>
            <a:stCxn id="92" idx="3"/>
            <a:endCxn id="46" idx="7"/>
          </p:cNvCxnSpPr>
          <p:nvPr/>
        </p:nvCxnSpPr>
        <p:spPr>
          <a:xfrm flipH="1">
            <a:off x="1144533" y="3106185"/>
            <a:ext cx="542134" cy="31923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70C610A4-1A53-0AC8-7E87-01586061C18D}"/>
              </a:ext>
            </a:extLst>
          </p:cNvPr>
          <p:cNvCxnSpPr>
            <a:cxnSpLocks/>
            <a:stCxn id="91" idx="3"/>
            <a:endCxn id="92" idx="6"/>
          </p:cNvCxnSpPr>
          <p:nvPr/>
        </p:nvCxnSpPr>
        <p:spPr>
          <a:xfrm flipH="1">
            <a:off x="1932518" y="2672158"/>
            <a:ext cx="449415" cy="33219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AD35CBAB-117D-680B-7AD8-7EB11442ADAA}"/>
              </a:ext>
            </a:extLst>
          </p:cNvPr>
          <p:cNvSpPr/>
          <p:nvPr/>
        </p:nvSpPr>
        <p:spPr>
          <a:xfrm>
            <a:off x="898682" y="2426307"/>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1</a:t>
            </a:r>
          </a:p>
        </p:txBody>
      </p:sp>
      <p:sp>
        <p:nvSpPr>
          <p:cNvPr id="46" name="Oval 45">
            <a:extLst>
              <a:ext uri="{FF2B5EF4-FFF2-40B4-BE49-F238E27FC236}">
                <a16:creationId xmlns:a16="http://schemas.microsoft.com/office/drawing/2014/main" id="{5C749D3F-52BF-639B-7A24-728737D5DC3D}"/>
              </a:ext>
            </a:extLst>
          </p:cNvPr>
          <p:cNvSpPr/>
          <p:nvPr/>
        </p:nvSpPr>
        <p:spPr>
          <a:xfrm>
            <a:off x="898682" y="3383234"/>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4</a:t>
            </a:r>
          </a:p>
        </p:txBody>
      </p:sp>
      <p:cxnSp>
        <p:nvCxnSpPr>
          <p:cNvPr id="49" name="Straight Arrow Connector 48">
            <a:extLst>
              <a:ext uri="{FF2B5EF4-FFF2-40B4-BE49-F238E27FC236}">
                <a16:creationId xmlns:a16="http://schemas.microsoft.com/office/drawing/2014/main" id="{CD62A1DB-DC3E-7215-E33C-66B1792EBF5A}"/>
              </a:ext>
            </a:extLst>
          </p:cNvPr>
          <p:cNvCxnSpPr>
            <a:cxnSpLocks/>
            <a:stCxn id="45" idx="5"/>
            <a:endCxn id="92" idx="2"/>
          </p:cNvCxnSpPr>
          <p:nvPr/>
        </p:nvCxnSpPr>
        <p:spPr>
          <a:xfrm>
            <a:off x="1144533" y="2672158"/>
            <a:ext cx="499953" cy="33219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8BED15CD-C2BD-EEC1-D162-0E845E0D016E}"/>
              </a:ext>
            </a:extLst>
          </p:cNvPr>
          <p:cNvCxnSpPr>
            <a:cxnSpLocks/>
            <a:stCxn id="46" idx="5"/>
            <a:endCxn id="100" idx="2"/>
          </p:cNvCxnSpPr>
          <p:nvPr/>
        </p:nvCxnSpPr>
        <p:spPr>
          <a:xfrm>
            <a:off x="1144533" y="3629085"/>
            <a:ext cx="499953" cy="32916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253F93EB-2B56-38E1-7521-2FE7FB7D3F61}"/>
              </a:ext>
            </a:extLst>
          </p:cNvPr>
          <p:cNvSpPr txBox="1"/>
          <p:nvPr/>
        </p:nvSpPr>
        <p:spPr>
          <a:xfrm>
            <a:off x="394869" y="4567973"/>
            <a:ext cx="2296607" cy="646331"/>
          </a:xfrm>
          <a:prstGeom prst="rect">
            <a:avLst/>
          </a:prstGeom>
          <a:noFill/>
        </p:spPr>
        <p:txBody>
          <a:bodyPr wrap="square" rtlCol="0">
            <a:spAutoFit/>
          </a:bodyPr>
          <a:lstStyle/>
          <a:p>
            <a:pPr algn="ctr"/>
            <a:r>
              <a:rPr lang="en-NL" dirty="0"/>
              <a:t>N=7, E=8 in the original graph</a:t>
            </a:r>
          </a:p>
        </p:txBody>
      </p:sp>
      <p:sp>
        <p:nvSpPr>
          <p:cNvPr id="63" name="TextBox 62">
            <a:extLst>
              <a:ext uri="{FF2B5EF4-FFF2-40B4-BE49-F238E27FC236}">
                <a16:creationId xmlns:a16="http://schemas.microsoft.com/office/drawing/2014/main" id="{7BC8E4C7-0914-DE5B-3FBF-B1E065DFF44F}"/>
              </a:ext>
            </a:extLst>
          </p:cNvPr>
          <p:cNvSpPr txBox="1"/>
          <p:nvPr/>
        </p:nvSpPr>
        <p:spPr>
          <a:xfrm>
            <a:off x="1195071" y="1965408"/>
            <a:ext cx="312906" cy="369332"/>
          </a:xfrm>
          <a:prstGeom prst="rect">
            <a:avLst/>
          </a:prstGeom>
          <a:noFill/>
        </p:spPr>
        <p:txBody>
          <a:bodyPr wrap="none" rtlCol="0">
            <a:spAutoFit/>
          </a:bodyPr>
          <a:lstStyle/>
          <a:p>
            <a:r>
              <a:rPr lang="en-NL" dirty="0">
                <a:solidFill>
                  <a:srgbClr val="FF0000"/>
                </a:solidFill>
              </a:rPr>
              <a:t>a</a:t>
            </a:r>
          </a:p>
        </p:txBody>
      </p:sp>
      <p:sp>
        <p:nvSpPr>
          <p:cNvPr id="65" name="TextBox 64">
            <a:extLst>
              <a:ext uri="{FF2B5EF4-FFF2-40B4-BE49-F238E27FC236}">
                <a16:creationId xmlns:a16="http://schemas.microsoft.com/office/drawing/2014/main" id="{702725CB-A67D-B21C-3D46-1A4EEE35B8F2}"/>
              </a:ext>
            </a:extLst>
          </p:cNvPr>
          <p:cNvSpPr txBox="1"/>
          <p:nvPr/>
        </p:nvSpPr>
        <p:spPr>
          <a:xfrm>
            <a:off x="2070109" y="1968379"/>
            <a:ext cx="312906" cy="369332"/>
          </a:xfrm>
          <a:prstGeom prst="rect">
            <a:avLst/>
          </a:prstGeom>
          <a:noFill/>
        </p:spPr>
        <p:txBody>
          <a:bodyPr wrap="none" rtlCol="0">
            <a:spAutoFit/>
          </a:bodyPr>
          <a:lstStyle/>
          <a:p>
            <a:r>
              <a:rPr lang="en-NL" dirty="0">
                <a:solidFill>
                  <a:srgbClr val="FF0000"/>
                </a:solidFill>
              </a:rPr>
              <a:t>b</a:t>
            </a:r>
          </a:p>
        </p:txBody>
      </p:sp>
      <p:sp>
        <p:nvSpPr>
          <p:cNvPr id="66" name="TextBox 65">
            <a:extLst>
              <a:ext uri="{FF2B5EF4-FFF2-40B4-BE49-F238E27FC236}">
                <a16:creationId xmlns:a16="http://schemas.microsoft.com/office/drawing/2014/main" id="{E3906DBB-DDFF-9CE4-DB02-0B0A88B3E7F2}"/>
              </a:ext>
            </a:extLst>
          </p:cNvPr>
          <p:cNvSpPr txBox="1"/>
          <p:nvPr/>
        </p:nvSpPr>
        <p:spPr>
          <a:xfrm>
            <a:off x="1102694" y="2717363"/>
            <a:ext cx="300082" cy="369332"/>
          </a:xfrm>
          <a:prstGeom prst="rect">
            <a:avLst/>
          </a:prstGeom>
          <a:noFill/>
        </p:spPr>
        <p:txBody>
          <a:bodyPr wrap="none" rtlCol="0">
            <a:spAutoFit/>
          </a:bodyPr>
          <a:lstStyle/>
          <a:p>
            <a:r>
              <a:rPr lang="en-NL" dirty="0">
                <a:solidFill>
                  <a:srgbClr val="FF0000"/>
                </a:solidFill>
              </a:rPr>
              <a:t>c</a:t>
            </a:r>
          </a:p>
        </p:txBody>
      </p:sp>
      <p:sp>
        <p:nvSpPr>
          <p:cNvPr id="67" name="TextBox 66">
            <a:extLst>
              <a:ext uri="{FF2B5EF4-FFF2-40B4-BE49-F238E27FC236}">
                <a16:creationId xmlns:a16="http://schemas.microsoft.com/office/drawing/2014/main" id="{7A22E7A9-2CF2-B5EF-522E-A28F46D1029A}"/>
              </a:ext>
            </a:extLst>
          </p:cNvPr>
          <p:cNvSpPr txBox="1"/>
          <p:nvPr/>
        </p:nvSpPr>
        <p:spPr>
          <a:xfrm>
            <a:off x="2126100" y="2688128"/>
            <a:ext cx="312906" cy="369332"/>
          </a:xfrm>
          <a:prstGeom prst="rect">
            <a:avLst/>
          </a:prstGeom>
          <a:noFill/>
        </p:spPr>
        <p:txBody>
          <a:bodyPr wrap="none" rtlCol="0">
            <a:spAutoFit/>
          </a:bodyPr>
          <a:lstStyle/>
          <a:p>
            <a:r>
              <a:rPr lang="en-NL" dirty="0">
                <a:solidFill>
                  <a:srgbClr val="FF0000"/>
                </a:solidFill>
              </a:rPr>
              <a:t>d</a:t>
            </a:r>
          </a:p>
        </p:txBody>
      </p:sp>
      <p:sp>
        <p:nvSpPr>
          <p:cNvPr id="68" name="TextBox 67">
            <a:extLst>
              <a:ext uri="{FF2B5EF4-FFF2-40B4-BE49-F238E27FC236}">
                <a16:creationId xmlns:a16="http://schemas.microsoft.com/office/drawing/2014/main" id="{2DB51E81-8E3B-6C50-E32A-D59563452F96}"/>
              </a:ext>
            </a:extLst>
          </p:cNvPr>
          <p:cNvSpPr txBox="1"/>
          <p:nvPr/>
        </p:nvSpPr>
        <p:spPr>
          <a:xfrm>
            <a:off x="1345498" y="3111484"/>
            <a:ext cx="312906" cy="369332"/>
          </a:xfrm>
          <a:prstGeom prst="rect">
            <a:avLst/>
          </a:prstGeom>
          <a:noFill/>
        </p:spPr>
        <p:txBody>
          <a:bodyPr wrap="none" rtlCol="0">
            <a:spAutoFit/>
          </a:bodyPr>
          <a:lstStyle/>
          <a:p>
            <a:r>
              <a:rPr lang="en-NL" dirty="0">
                <a:solidFill>
                  <a:srgbClr val="FF0000"/>
                </a:solidFill>
              </a:rPr>
              <a:t>e</a:t>
            </a:r>
          </a:p>
        </p:txBody>
      </p:sp>
      <p:sp>
        <p:nvSpPr>
          <p:cNvPr id="69" name="TextBox 68">
            <a:extLst>
              <a:ext uri="{FF2B5EF4-FFF2-40B4-BE49-F238E27FC236}">
                <a16:creationId xmlns:a16="http://schemas.microsoft.com/office/drawing/2014/main" id="{ABDDFF7F-33D4-7B22-C032-9401AFD85142}"/>
              </a:ext>
            </a:extLst>
          </p:cNvPr>
          <p:cNvSpPr txBox="1"/>
          <p:nvPr/>
        </p:nvSpPr>
        <p:spPr>
          <a:xfrm>
            <a:off x="1873714" y="3118645"/>
            <a:ext cx="248786" cy="369332"/>
          </a:xfrm>
          <a:prstGeom prst="rect">
            <a:avLst/>
          </a:prstGeom>
          <a:noFill/>
        </p:spPr>
        <p:txBody>
          <a:bodyPr wrap="none" rtlCol="0">
            <a:spAutoFit/>
          </a:bodyPr>
          <a:lstStyle/>
          <a:p>
            <a:r>
              <a:rPr lang="en-NL" dirty="0">
                <a:solidFill>
                  <a:srgbClr val="FF0000"/>
                </a:solidFill>
              </a:rPr>
              <a:t>f</a:t>
            </a:r>
          </a:p>
        </p:txBody>
      </p:sp>
      <p:sp>
        <p:nvSpPr>
          <p:cNvPr id="70" name="TextBox 69">
            <a:extLst>
              <a:ext uri="{FF2B5EF4-FFF2-40B4-BE49-F238E27FC236}">
                <a16:creationId xmlns:a16="http://schemas.microsoft.com/office/drawing/2014/main" id="{A24A4606-1570-02FE-8955-FCB0ACF617CC}"/>
              </a:ext>
            </a:extLst>
          </p:cNvPr>
          <p:cNvSpPr txBox="1"/>
          <p:nvPr/>
        </p:nvSpPr>
        <p:spPr>
          <a:xfrm>
            <a:off x="1115526" y="3667070"/>
            <a:ext cx="312906" cy="369332"/>
          </a:xfrm>
          <a:prstGeom prst="rect">
            <a:avLst/>
          </a:prstGeom>
          <a:noFill/>
        </p:spPr>
        <p:txBody>
          <a:bodyPr wrap="none" rtlCol="0">
            <a:spAutoFit/>
          </a:bodyPr>
          <a:lstStyle/>
          <a:p>
            <a:r>
              <a:rPr lang="en-NL" dirty="0">
                <a:solidFill>
                  <a:srgbClr val="FF0000"/>
                </a:solidFill>
              </a:rPr>
              <a:t>g</a:t>
            </a:r>
          </a:p>
        </p:txBody>
      </p:sp>
      <p:sp>
        <p:nvSpPr>
          <p:cNvPr id="71" name="TextBox 70">
            <a:extLst>
              <a:ext uri="{FF2B5EF4-FFF2-40B4-BE49-F238E27FC236}">
                <a16:creationId xmlns:a16="http://schemas.microsoft.com/office/drawing/2014/main" id="{0735C8C7-0B2E-D22A-CD90-8DFEEBF1596E}"/>
              </a:ext>
            </a:extLst>
          </p:cNvPr>
          <p:cNvSpPr txBox="1"/>
          <p:nvPr/>
        </p:nvSpPr>
        <p:spPr>
          <a:xfrm>
            <a:off x="2170862" y="3685379"/>
            <a:ext cx="312906" cy="369332"/>
          </a:xfrm>
          <a:prstGeom prst="rect">
            <a:avLst/>
          </a:prstGeom>
          <a:noFill/>
        </p:spPr>
        <p:txBody>
          <a:bodyPr wrap="none" rtlCol="0">
            <a:spAutoFit/>
          </a:bodyPr>
          <a:lstStyle/>
          <a:p>
            <a:r>
              <a:rPr lang="en-NL" dirty="0">
                <a:solidFill>
                  <a:srgbClr val="FF0000"/>
                </a:solidFill>
              </a:rPr>
              <a:t>h</a:t>
            </a:r>
          </a:p>
        </p:txBody>
      </p:sp>
      <p:graphicFrame>
        <p:nvGraphicFramePr>
          <p:cNvPr id="72" name="Table 72">
            <a:extLst>
              <a:ext uri="{FF2B5EF4-FFF2-40B4-BE49-F238E27FC236}">
                <a16:creationId xmlns:a16="http://schemas.microsoft.com/office/drawing/2014/main" id="{9359D264-52A7-7DB3-0F5E-455B2D47602E}"/>
              </a:ext>
            </a:extLst>
          </p:cNvPr>
          <p:cNvGraphicFramePr>
            <a:graphicFrameLocks noGrp="1"/>
          </p:cNvGraphicFramePr>
          <p:nvPr>
            <p:extLst>
              <p:ext uri="{D42A27DB-BD31-4B8C-83A1-F6EECF244321}">
                <p14:modId xmlns:p14="http://schemas.microsoft.com/office/powerpoint/2010/main" val="2023039790"/>
              </p:ext>
            </p:extLst>
          </p:nvPr>
        </p:nvGraphicFramePr>
        <p:xfrm>
          <a:off x="4813928" y="1857266"/>
          <a:ext cx="3070440" cy="1854200"/>
        </p:xfrm>
        <a:graphic>
          <a:graphicData uri="http://schemas.openxmlformats.org/drawingml/2006/table">
            <a:tbl>
              <a:tblPr firstRow="1" bandRow="1">
                <a:tableStyleId>{5C22544A-7EE6-4342-B048-85BDC9FD1C3A}</a:tableStyleId>
              </a:tblPr>
              <a:tblGrid>
                <a:gridCol w="341160">
                  <a:extLst>
                    <a:ext uri="{9D8B030D-6E8A-4147-A177-3AD203B41FA5}">
                      <a16:colId xmlns:a16="http://schemas.microsoft.com/office/drawing/2014/main" val="899960465"/>
                    </a:ext>
                  </a:extLst>
                </a:gridCol>
                <a:gridCol w="341160">
                  <a:extLst>
                    <a:ext uri="{9D8B030D-6E8A-4147-A177-3AD203B41FA5}">
                      <a16:colId xmlns:a16="http://schemas.microsoft.com/office/drawing/2014/main" val="1659297995"/>
                    </a:ext>
                  </a:extLst>
                </a:gridCol>
                <a:gridCol w="341160">
                  <a:extLst>
                    <a:ext uri="{9D8B030D-6E8A-4147-A177-3AD203B41FA5}">
                      <a16:colId xmlns:a16="http://schemas.microsoft.com/office/drawing/2014/main" val="4140660347"/>
                    </a:ext>
                  </a:extLst>
                </a:gridCol>
                <a:gridCol w="341160">
                  <a:extLst>
                    <a:ext uri="{9D8B030D-6E8A-4147-A177-3AD203B41FA5}">
                      <a16:colId xmlns:a16="http://schemas.microsoft.com/office/drawing/2014/main" val="858179531"/>
                    </a:ext>
                  </a:extLst>
                </a:gridCol>
                <a:gridCol w="341160">
                  <a:extLst>
                    <a:ext uri="{9D8B030D-6E8A-4147-A177-3AD203B41FA5}">
                      <a16:colId xmlns:a16="http://schemas.microsoft.com/office/drawing/2014/main" val="1382995923"/>
                    </a:ext>
                  </a:extLst>
                </a:gridCol>
                <a:gridCol w="341160">
                  <a:extLst>
                    <a:ext uri="{9D8B030D-6E8A-4147-A177-3AD203B41FA5}">
                      <a16:colId xmlns:a16="http://schemas.microsoft.com/office/drawing/2014/main" val="1378598743"/>
                    </a:ext>
                  </a:extLst>
                </a:gridCol>
                <a:gridCol w="341160">
                  <a:extLst>
                    <a:ext uri="{9D8B030D-6E8A-4147-A177-3AD203B41FA5}">
                      <a16:colId xmlns:a16="http://schemas.microsoft.com/office/drawing/2014/main" val="2946101433"/>
                    </a:ext>
                  </a:extLst>
                </a:gridCol>
                <a:gridCol w="341160">
                  <a:extLst>
                    <a:ext uri="{9D8B030D-6E8A-4147-A177-3AD203B41FA5}">
                      <a16:colId xmlns:a16="http://schemas.microsoft.com/office/drawing/2014/main" val="2612106229"/>
                    </a:ext>
                  </a:extLst>
                </a:gridCol>
                <a:gridCol w="341160">
                  <a:extLst>
                    <a:ext uri="{9D8B030D-6E8A-4147-A177-3AD203B41FA5}">
                      <a16:colId xmlns:a16="http://schemas.microsoft.com/office/drawing/2014/main" val="3368396947"/>
                    </a:ext>
                  </a:extLst>
                </a:gridCol>
              </a:tblGrid>
              <a:tr h="370840">
                <a:tc>
                  <a:txBody>
                    <a:bodyPr/>
                    <a:lstStyle/>
                    <a:p>
                      <a:r>
                        <a:rPr lang="en-NL" b="0" dirty="0">
                          <a:solidFill>
                            <a:schemeClr val="tx1"/>
                          </a:solidFill>
                        </a:rPr>
                        <a:t>a</a:t>
                      </a:r>
                    </a:p>
                  </a:txBody>
                  <a:tcPr>
                    <a:solidFill>
                      <a:schemeClr val="accent1">
                        <a:lumMod val="20000"/>
                        <a:lumOff val="80000"/>
                      </a:schemeClr>
                    </a:solidFill>
                  </a:tcPr>
                </a:tc>
                <a:tc>
                  <a:txBody>
                    <a:bodyPr/>
                    <a:lstStyle/>
                    <a:p>
                      <a:r>
                        <a:rPr lang="en-NL" b="0" dirty="0">
                          <a:solidFill>
                            <a:schemeClr val="tx1"/>
                          </a:solidFill>
                        </a:rPr>
                        <a:t>b</a:t>
                      </a:r>
                    </a:p>
                  </a:txBody>
                  <a:tcPr>
                    <a:solidFill>
                      <a:schemeClr val="accent1">
                        <a:lumMod val="20000"/>
                        <a:lumOff val="80000"/>
                      </a:schemeClr>
                    </a:solidFill>
                  </a:tcPr>
                </a:tc>
                <a:tc>
                  <a:txBody>
                    <a:bodyPr/>
                    <a:lstStyle/>
                    <a:p>
                      <a:r>
                        <a:rPr lang="en-NL" b="0" dirty="0">
                          <a:solidFill>
                            <a:schemeClr val="tx1"/>
                          </a:solidFill>
                        </a:rPr>
                        <a:t>c</a:t>
                      </a:r>
                    </a:p>
                  </a:txBody>
                  <a:tcPr>
                    <a:solidFill>
                      <a:schemeClr val="accent1">
                        <a:lumMod val="20000"/>
                        <a:lumOff val="80000"/>
                      </a:schemeClr>
                    </a:solidFill>
                  </a:tcPr>
                </a:tc>
                <a:tc>
                  <a:txBody>
                    <a:bodyPr/>
                    <a:lstStyle/>
                    <a:p>
                      <a:r>
                        <a:rPr lang="en-NL" b="0" dirty="0">
                          <a:solidFill>
                            <a:schemeClr val="tx1"/>
                          </a:solidFill>
                        </a:rPr>
                        <a:t>d</a:t>
                      </a:r>
                    </a:p>
                  </a:txBody>
                  <a:tcPr>
                    <a:solidFill>
                      <a:schemeClr val="accent1">
                        <a:lumMod val="20000"/>
                        <a:lumOff val="80000"/>
                      </a:schemeClr>
                    </a:solidFill>
                  </a:tcPr>
                </a:tc>
                <a:tc>
                  <a:txBody>
                    <a:bodyPr/>
                    <a:lstStyle/>
                    <a:p>
                      <a:r>
                        <a:rPr lang="en-NL" b="0" dirty="0">
                          <a:solidFill>
                            <a:schemeClr val="tx1"/>
                          </a:solidFill>
                        </a:rPr>
                        <a:t>e</a:t>
                      </a:r>
                    </a:p>
                  </a:txBody>
                  <a:tcPr>
                    <a:solidFill>
                      <a:schemeClr val="accent1">
                        <a:lumMod val="20000"/>
                        <a:lumOff val="80000"/>
                      </a:schemeClr>
                    </a:solidFill>
                  </a:tcPr>
                </a:tc>
                <a:tc>
                  <a:txBody>
                    <a:bodyPr/>
                    <a:lstStyle/>
                    <a:p>
                      <a:r>
                        <a:rPr lang="en-NL" b="0" dirty="0">
                          <a:solidFill>
                            <a:schemeClr val="tx1"/>
                          </a:solidFill>
                        </a:rPr>
                        <a:t>f</a:t>
                      </a:r>
                    </a:p>
                  </a:txBody>
                  <a:tcPr>
                    <a:solidFill>
                      <a:schemeClr val="accent1">
                        <a:lumMod val="20000"/>
                        <a:lumOff val="80000"/>
                      </a:schemeClr>
                    </a:solidFill>
                  </a:tcPr>
                </a:tc>
                <a:tc>
                  <a:txBody>
                    <a:bodyPr/>
                    <a:lstStyle/>
                    <a:p>
                      <a:r>
                        <a:rPr lang="en-NL" b="0" dirty="0">
                          <a:solidFill>
                            <a:schemeClr val="tx1"/>
                          </a:solidFill>
                        </a:rPr>
                        <a:t>g</a:t>
                      </a:r>
                    </a:p>
                  </a:txBody>
                  <a:tcPr>
                    <a:solidFill>
                      <a:schemeClr val="accent1">
                        <a:lumMod val="20000"/>
                        <a:lumOff val="80000"/>
                      </a:schemeClr>
                    </a:solidFill>
                  </a:tcPr>
                </a:tc>
                <a:tc>
                  <a:txBody>
                    <a:bodyPr/>
                    <a:lstStyle/>
                    <a:p>
                      <a:r>
                        <a:rPr lang="en-NL" b="0" dirty="0">
                          <a:solidFill>
                            <a:schemeClr val="tx1"/>
                          </a:solidFill>
                        </a:rPr>
                        <a:t>h</a:t>
                      </a:r>
                    </a:p>
                  </a:txBody>
                  <a:tcPr>
                    <a:solidFill>
                      <a:schemeClr val="accent1">
                        <a:lumMod val="20000"/>
                        <a:lumOff val="80000"/>
                      </a:schemeClr>
                    </a:solidFill>
                  </a:tcPr>
                </a:tc>
                <a:tc>
                  <a:txBody>
                    <a:bodyPr/>
                    <a:lstStyle/>
                    <a:p>
                      <a:r>
                        <a:rPr lang="en-NL" b="0" dirty="0">
                          <a:solidFill>
                            <a:schemeClr val="tx1"/>
                          </a:solidFill>
                        </a:rPr>
                        <a:t>i</a:t>
                      </a:r>
                    </a:p>
                  </a:txBody>
                  <a:tcPr>
                    <a:solidFill>
                      <a:schemeClr val="accent1">
                        <a:lumMod val="20000"/>
                        <a:lumOff val="80000"/>
                      </a:schemeClr>
                    </a:solidFill>
                  </a:tcPr>
                </a:tc>
                <a:extLst>
                  <a:ext uri="{0D108BD9-81ED-4DB2-BD59-A6C34878D82A}">
                    <a16:rowId xmlns:a16="http://schemas.microsoft.com/office/drawing/2014/main" val="1136059162"/>
                  </a:ext>
                </a:extLst>
              </a:tr>
              <a:tr h="370840">
                <a:tc>
                  <a:txBody>
                    <a:bodyPr/>
                    <a:lstStyle/>
                    <a:p>
                      <a:r>
                        <a:rPr lang="en-NL" dirty="0"/>
                        <a:t>1</a:t>
                      </a:r>
                    </a:p>
                  </a:txBody>
                  <a:tcPr>
                    <a:solidFill>
                      <a:schemeClr val="tx2">
                        <a:lumMod val="20000"/>
                        <a:lumOff val="80000"/>
                      </a:schemeClr>
                    </a:solidFill>
                  </a:tcPr>
                </a:tc>
                <a:tc>
                  <a:txBody>
                    <a:bodyPr/>
                    <a:lstStyle/>
                    <a:p>
                      <a:r>
                        <a:rPr lang="en-NL" dirty="0"/>
                        <a:t>0</a:t>
                      </a:r>
                    </a:p>
                  </a:txBody>
                  <a:tcPr>
                    <a:solidFill>
                      <a:schemeClr val="tx2">
                        <a:lumMod val="20000"/>
                        <a:lumOff val="80000"/>
                      </a:schemeClr>
                    </a:solidFill>
                  </a:tcPr>
                </a:tc>
                <a:tc>
                  <a:txBody>
                    <a:bodyPr/>
                    <a:lstStyle/>
                    <a:p>
                      <a:r>
                        <a:rPr lang="en-NL" dirty="0"/>
                        <a:t>1</a:t>
                      </a:r>
                    </a:p>
                  </a:txBody>
                  <a:tcPr>
                    <a:solidFill>
                      <a:schemeClr val="tx2">
                        <a:lumMod val="20000"/>
                        <a:lumOff val="80000"/>
                      </a:schemeClr>
                    </a:solidFill>
                  </a:tcPr>
                </a:tc>
                <a:tc>
                  <a:txBody>
                    <a:bodyPr/>
                    <a:lstStyle/>
                    <a:p>
                      <a:r>
                        <a:rPr lang="en-NL" dirty="0"/>
                        <a:t>0</a:t>
                      </a:r>
                    </a:p>
                  </a:txBody>
                  <a:tcPr>
                    <a:solidFill>
                      <a:schemeClr val="tx2">
                        <a:lumMod val="20000"/>
                        <a:lumOff val="80000"/>
                      </a:schemeClr>
                    </a:solidFill>
                  </a:tcPr>
                </a:tc>
                <a:tc>
                  <a:txBody>
                    <a:bodyPr/>
                    <a:lstStyle/>
                    <a:p>
                      <a:r>
                        <a:rPr lang="en-NL" dirty="0"/>
                        <a:t>1</a:t>
                      </a:r>
                    </a:p>
                  </a:txBody>
                  <a:tcPr>
                    <a:solidFill>
                      <a:schemeClr val="tx2">
                        <a:lumMod val="20000"/>
                        <a:lumOff val="80000"/>
                      </a:schemeClr>
                    </a:solidFill>
                  </a:tcPr>
                </a:tc>
                <a:tc>
                  <a:txBody>
                    <a:bodyPr/>
                    <a:lstStyle/>
                    <a:p>
                      <a:r>
                        <a:rPr lang="en-NL" dirty="0"/>
                        <a:t>0</a:t>
                      </a:r>
                    </a:p>
                  </a:txBody>
                  <a:tcPr>
                    <a:solidFill>
                      <a:schemeClr val="tx2">
                        <a:lumMod val="20000"/>
                        <a:lumOff val="80000"/>
                      </a:schemeClr>
                    </a:solidFill>
                  </a:tcPr>
                </a:tc>
                <a:tc>
                  <a:txBody>
                    <a:bodyPr/>
                    <a:lstStyle/>
                    <a:p>
                      <a:r>
                        <a:rPr lang="en-NL" dirty="0"/>
                        <a:t>1</a:t>
                      </a:r>
                    </a:p>
                  </a:txBody>
                  <a:tcPr>
                    <a:solidFill>
                      <a:schemeClr val="tx2">
                        <a:lumMod val="20000"/>
                        <a:lumOff val="80000"/>
                      </a:schemeClr>
                    </a:solidFill>
                  </a:tcPr>
                </a:tc>
                <a:tc>
                  <a:txBody>
                    <a:bodyPr/>
                    <a:lstStyle/>
                    <a:p>
                      <a:r>
                        <a:rPr lang="en-NL" dirty="0"/>
                        <a:t>0</a:t>
                      </a:r>
                    </a:p>
                  </a:txBody>
                  <a:tcPr>
                    <a:solidFill>
                      <a:schemeClr val="tx2">
                        <a:lumMod val="20000"/>
                        <a:lumOff val="80000"/>
                      </a:schemeClr>
                    </a:solidFill>
                  </a:tcPr>
                </a:tc>
                <a:tc>
                  <a:txBody>
                    <a:bodyPr/>
                    <a:lstStyle/>
                    <a:p>
                      <a:r>
                        <a:rPr lang="en-NL" dirty="0"/>
                        <a:t>1</a:t>
                      </a:r>
                    </a:p>
                  </a:txBody>
                  <a:tcPr>
                    <a:solidFill>
                      <a:schemeClr val="tx2">
                        <a:lumMod val="20000"/>
                        <a:lumOff val="80000"/>
                      </a:schemeClr>
                    </a:solidFill>
                  </a:tcPr>
                </a:tc>
                <a:extLst>
                  <a:ext uri="{0D108BD9-81ED-4DB2-BD59-A6C34878D82A}">
                    <a16:rowId xmlns:a16="http://schemas.microsoft.com/office/drawing/2014/main" val="2304128760"/>
                  </a:ext>
                </a:extLst>
              </a:tr>
              <a:tr h="370840">
                <a:tc>
                  <a:txBody>
                    <a:bodyPr/>
                    <a:lstStyle/>
                    <a:p>
                      <a:r>
                        <a:rPr lang="en-NL" dirty="0"/>
                        <a:t>0</a:t>
                      </a:r>
                    </a:p>
                  </a:txBody>
                  <a:tcPr>
                    <a:solidFill>
                      <a:schemeClr val="tx2">
                        <a:lumMod val="20000"/>
                        <a:lumOff val="80000"/>
                      </a:schemeClr>
                    </a:solidFill>
                  </a:tcPr>
                </a:tc>
                <a:tc>
                  <a:txBody>
                    <a:bodyPr/>
                    <a:lstStyle/>
                    <a:p>
                      <a:r>
                        <a:rPr lang="en-NL" dirty="0"/>
                        <a:t>1</a:t>
                      </a:r>
                    </a:p>
                  </a:txBody>
                  <a:tcPr>
                    <a:solidFill>
                      <a:schemeClr val="tx2">
                        <a:lumMod val="20000"/>
                        <a:lumOff val="80000"/>
                      </a:schemeClr>
                    </a:solidFill>
                  </a:tcPr>
                </a:tc>
                <a:tc>
                  <a:txBody>
                    <a:bodyPr/>
                    <a:lstStyle/>
                    <a:p>
                      <a:r>
                        <a:rPr lang="en-NL" dirty="0"/>
                        <a:t>0</a:t>
                      </a:r>
                    </a:p>
                  </a:txBody>
                  <a:tcPr>
                    <a:solidFill>
                      <a:schemeClr val="tx2">
                        <a:lumMod val="20000"/>
                        <a:lumOff val="80000"/>
                      </a:schemeClr>
                    </a:solidFill>
                  </a:tcPr>
                </a:tc>
                <a:tc>
                  <a:txBody>
                    <a:bodyPr/>
                    <a:lstStyle/>
                    <a:p>
                      <a:r>
                        <a:rPr lang="en-NL" dirty="0"/>
                        <a:t>1</a:t>
                      </a:r>
                    </a:p>
                  </a:txBody>
                  <a:tcPr>
                    <a:solidFill>
                      <a:schemeClr val="tx2">
                        <a:lumMod val="20000"/>
                        <a:lumOff val="80000"/>
                      </a:schemeClr>
                    </a:solidFill>
                  </a:tcPr>
                </a:tc>
                <a:tc>
                  <a:txBody>
                    <a:bodyPr/>
                    <a:lstStyle/>
                    <a:p>
                      <a:r>
                        <a:rPr lang="en-NL" dirty="0"/>
                        <a:t>1</a:t>
                      </a:r>
                    </a:p>
                  </a:txBody>
                  <a:tcPr>
                    <a:solidFill>
                      <a:schemeClr val="tx2">
                        <a:lumMod val="20000"/>
                        <a:lumOff val="80000"/>
                      </a:schemeClr>
                    </a:solidFill>
                  </a:tcPr>
                </a:tc>
                <a:tc>
                  <a:txBody>
                    <a:bodyPr/>
                    <a:lstStyle/>
                    <a:p>
                      <a:r>
                        <a:rPr lang="en-NL" dirty="0"/>
                        <a:t>0</a:t>
                      </a:r>
                    </a:p>
                  </a:txBody>
                  <a:tcPr>
                    <a:solidFill>
                      <a:schemeClr val="tx2">
                        <a:lumMod val="20000"/>
                        <a:lumOff val="80000"/>
                      </a:schemeClr>
                    </a:solidFill>
                  </a:tcPr>
                </a:tc>
                <a:tc>
                  <a:txBody>
                    <a:bodyPr/>
                    <a:lstStyle/>
                    <a:p>
                      <a:r>
                        <a:rPr lang="en-NL" dirty="0"/>
                        <a:t>1</a:t>
                      </a:r>
                    </a:p>
                  </a:txBody>
                  <a:tcPr>
                    <a:solidFill>
                      <a:schemeClr val="tx2">
                        <a:lumMod val="20000"/>
                        <a:lumOff val="80000"/>
                      </a:schemeClr>
                    </a:solidFill>
                  </a:tcPr>
                </a:tc>
                <a:tc>
                  <a:txBody>
                    <a:bodyPr/>
                    <a:lstStyle/>
                    <a:p>
                      <a:r>
                        <a:rPr lang="en-NL" dirty="0"/>
                        <a:t>0</a:t>
                      </a:r>
                    </a:p>
                  </a:txBody>
                  <a:tcPr>
                    <a:solidFill>
                      <a:schemeClr val="tx2">
                        <a:lumMod val="20000"/>
                        <a:lumOff val="80000"/>
                      </a:schemeClr>
                    </a:solidFill>
                  </a:tcPr>
                </a:tc>
                <a:tc>
                  <a:txBody>
                    <a:bodyPr/>
                    <a:lstStyle/>
                    <a:p>
                      <a:r>
                        <a:rPr lang="en-NL" dirty="0"/>
                        <a:t>1</a:t>
                      </a:r>
                    </a:p>
                  </a:txBody>
                  <a:tcPr>
                    <a:solidFill>
                      <a:schemeClr val="tx2">
                        <a:lumMod val="20000"/>
                        <a:lumOff val="80000"/>
                      </a:schemeClr>
                    </a:solidFill>
                  </a:tcPr>
                </a:tc>
                <a:extLst>
                  <a:ext uri="{0D108BD9-81ED-4DB2-BD59-A6C34878D82A}">
                    <a16:rowId xmlns:a16="http://schemas.microsoft.com/office/drawing/2014/main" val="4285323"/>
                  </a:ext>
                </a:extLst>
              </a:tr>
              <a:tr h="370840">
                <a:tc>
                  <a:txBody>
                    <a:bodyPr/>
                    <a:lstStyle/>
                    <a:p>
                      <a:r>
                        <a:rPr lang="en-NL" dirty="0"/>
                        <a:t>1</a:t>
                      </a:r>
                    </a:p>
                  </a:txBody>
                  <a:tcPr>
                    <a:solidFill>
                      <a:schemeClr val="tx2">
                        <a:lumMod val="20000"/>
                        <a:lumOff val="80000"/>
                      </a:schemeClr>
                    </a:solidFill>
                  </a:tcPr>
                </a:tc>
                <a:tc>
                  <a:txBody>
                    <a:bodyPr/>
                    <a:lstStyle/>
                    <a:p>
                      <a:r>
                        <a:rPr lang="en-NL" dirty="0"/>
                        <a:t>0</a:t>
                      </a:r>
                    </a:p>
                  </a:txBody>
                  <a:tcPr>
                    <a:solidFill>
                      <a:schemeClr val="tx2">
                        <a:lumMod val="20000"/>
                        <a:lumOff val="80000"/>
                      </a:schemeClr>
                    </a:solidFill>
                  </a:tcPr>
                </a:tc>
                <a:tc>
                  <a:txBody>
                    <a:bodyPr/>
                    <a:lstStyle/>
                    <a:p>
                      <a:r>
                        <a:rPr lang="en-NL" dirty="0"/>
                        <a:t>1</a:t>
                      </a:r>
                    </a:p>
                  </a:txBody>
                  <a:tcPr>
                    <a:solidFill>
                      <a:schemeClr val="tx2">
                        <a:lumMod val="20000"/>
                        <a:lumOff val="80000"/>
                      </a:schemeClr>
                    </a:solidFill>
                  </a:tcPr>
                </a:tc>
                <a:tc>
                  <a:txBody>
                    <a:bodyPr/>
                    <a:lstStyle/>
                    <a:p>
                      <a:r>
                        <a:rPr lang="en-NL" dirty="0"/>
                        <a:t>0</a:t>
                      </a:r>
                    </a:p>
                  </a:txBody>
                  <a:tcPr>
                    <a:solidFill>
                      <a:schemeClr val="tx2">
                        <a:lumMod val="20000"/>
                        <a:lumOff val="80000"/>
                      </a:schemeClr>
                    </a:solidFill>
                  </a:tcPr>
                </a:tc>
                <a:tc>
                  <a:txBody>
                    <a:bodyPr/>
                    <a:lstStyle/>
                    <a:p>
                      <a:r>
                        <a:rPr lang="en-NL" dirty="0"/>
                        <a:t>0</a:t>
                      </a:r>
                    </a:p>
                  </a:txBody>
                  <a:tcPr>
                    <a:solidFill>
                      <a:schemeClr val="tx2">
                        <a:lumMod val="20000"/>
                        <a:lumOff val="80000"/>
                      </a:schemeClr>
                    </a:solidFill>
                  </a:tcPr>
                </a:tc>
                <a:tc>
                  <a:txBody>
                    <a:bodyPr/>
                    <a:lstStyle/>
                    <a:p>
                      <a:r>
                        <a:rPr lang="en-NL" dirty="0"/>
                        <a:t>1</a:t>
                      </a:r>
                    </a:p>
                  </a:txBody>
                  <a:tcPr>
                    <a:solidFill>
                      <a:schemeClr val="tx2">
                        <a:lumMod val="20000"/>
                        <a:lumOff val="80000"/>
                      </a:schemeClr>
                    </a:solidFill>
                  </a:tcPr>
                </a:tc>
                <a:tc>
                  <a:txBody>
                    <a:bodyPr/>
                    <a:lstStyle/>
                    <a:p>
                      <a:r>
                        <a:rPr lang="en-NL" dirty="0"/>
                        <a:t>0</a:t>
                      </a:r>
                    </a:p>
                  </a:txBody>
                  <a:tcPr>
                    <a:solidFill>
                      <a:schemeClr val="tx2">
                        <a:lumMod val="20000"/>
                        <a:lumOff val="80000"/>
                      </a:schemeClr>
                    </a:solidFill>
                  </a:tcPr>
                </a:tc>
                <a:tc>
                  <a:txBody>
                    <a:bodyPr/>
                    <a:lstStyle/>
                    <a:p>
                      <a:r>
                        <a:rPr lang="en-NL" dirty="0"/>
                        <a:t>1</a:t>
                      </a:r>
                    </a:p>
                  </a:txBody>
                  <a:tcPr>
                    <a:solidFill>
                      <a:schemeClr val="tx2">
                        <a:lumMod val="20000"/>
                        <a:lumOff val="80000"/>
                      </a:schemeClr>
                    </a:solidFill>
                  </a:tcPr>
                </a:tc>
                <a:tc>
                  <a:txBody>
                    <a:bodyPr/>
                    <a:lstStyle/>
                    <a:p>
                      <a:r>
                        <a:rPr lang="en-NL" dirty="0"/>
                        <a:t>1</a:t>
                      </a:r>
                    </a:p>
                  </a:txBody>
                  <a:tcPr>
                    <a:solidFill>
                      <a:schemeClr val="tx2">
                        <a:lumMod val="20000"/>
                        <a:lumOff val="80000"/>
                      </a:schemeClr>
                    </a:solidFill>
                  </a:tcPr>
                </a:tc>
                <a:extLst>
                  <a:ext uri="{0D108BD9-81ED-4DB2-BD59-A6C34878D82A}">
                    <a16:rowId xmlns:a16="http://schemas.microsoft.com/office/drawing/2014/main" val="179890931"/>
                  </a:ext>
                </a:extLst>
              </a:tr>
              <a:tr h="370840">
                <a:tc>
                  <a:txBody>
                    <a:bodyPr/>
                    <a:lstStyle/>
                    <a:p>
                      <a:r>
                        <a:rPr lang="en-NL" dirty="0"/>
                        <a:t>0</a:t>
                      </a:r>
                    </a:p>
                  </a:txBody>
                  <a:tcPr>
                    <a:solidFill>
                      <a:schemeClr val="tx2">
                        <a:lumMod val="20000"/>
                        <a:lumOff val="80000"/>
                      </a:schemeClr>
                    </a:solidFill>
                  </a:tcPr>
                </a:tc>
                <a:tc>
                  <a:txBody>
                    <a:bodyPr/>
                    <a:lstStyle/>
                    <a:p>
                      <a:r>
                        <a:rPr lang="en-NL" dirty="0"/>
                        <a:t>1</a:t>
                      </a:r>
                    </a:p>
                  </a:txBody>
                  <a:tcPr>
                    <a:solidFill>
                      <a:schemeClr val="tx2">
                        <a:lumMod val="20000"/>
                        <a:lumOff val="80000"/>
                      </a:schemeClr>
                    </a:solidFill>
                  </a:tcPr>
                </a:tc>
                <a:tc>
                  <a:txBody>
                    <a:bodyPr/>
                    <a:lstStyle/>
                    <a:p>
                      <a:r>
                        <a:rPr lang="en-NL" dirty="0"/>
                        <a:t>0</a:t>
                      </a:r>
                    </a:p>
                  </a:txBody>
                  <a:tcPr>
                    <a:solidFill>
                      <a:schemeClr val="tx2">
                        <a:lumMod val="20000"/>
                        <a:lumOff val="80000"/>
                      </a:schemeClr>
                    </a:solidFill>
                  </a:tcPr>
                </a:tc>
                <a:tc>
                  <a:txBody>
                    <a:bodyPr/>
                    <a:lstStyle/>
                    <a:p>
                      <a:r>
                        <a:rPr lang="en-NL" dirty="0"/>
                        <a:t>1</a:t>
                      </a:r>
                    </a:p>
                  </a:txBody>
                  <a:tcPr>
                    <a:solidFill>
                      <a:schemeClr val="tx2">
                        <a:lumMod val="20000"/>
                        <a:lumOff val="80000"/>
                      </a:schemeClr>
                    </a:solidFill>
                  </a:tcPr>
                </a:tc>
                <a:tc>
                  <a:txBody>
                    <a:bodyPr/>
                    <a:lstStyle/>
                    <a:p>
                      <a:r>
                        <a:rPr lang="en-NL" dirty="0"/>
                        <a:t>0</a:t>
                      </a:r>
                    </a:p>
                  </a:txBody>
                  <a:tcPr>
                    <a:solidFill>
                      <a:schemeClr val="tx2">
                        <a:lumMod val="20000"/>
                        <a:lumOff val="80000"/>
                      </a:schemeClr>
                    </a:solidFill>
                  </a:tcPr>
                </a:tc>
                <a:tc>
                  <a:txBody>
                    <a:bodyPr/>
                    <a:lstStyle/>
                    <a:p>
                      <a:r>
                        <a:rPr lang="en-NL" dirty="0"/>
                        <a:t>1</a:t>
                      </a:r>
                    </a:p>
                  </a:txBody>
                  <a:tcPr>
                    <a:solidFill>
                      <a:schemeClr val="tx2">
                        <a:lumMod val="20000"/>
                        <a:lumOff val="80000"/>
                      </a:schemeClr>
                    </a:solidFill>
                  </a:tcPr>
                </a:tc>
                <a:tc>
                  <a:txBody>
                    <a:bodyPr/>
                    <a:lstStyle/>
                    <a:p>
                      <a:r>
                        <a:rPr lang="en-NL" dirty="0"/>
                        <a:t>0</a:t>
                      </a:r>
                    </a:p>
                  </a:txBody>
                  <a:tcPr>
                    <a:solidFill>
                      <a:schemeClr val="tx2">
                        <a:lumMod val="20000"/>
                        <a:lumOff val="80000"/>
                      </a:schemeClr>
                    </a:solidFill>
                  </a:tcPr>
                </a:tc>
                <a:tc>
                  <a:txBody>
                    <a:bodyPr/>
                    <a:lstStyle/>
                    <a:p>
                      <a:r>
                        <a:rPr lang="en-NL" dirty="0"/>
                        <a:t>1</a:t>
                      </a:r>
                    </a:p>
                  </a:txBody>
                  <a:tcPr>
                    <a:solidFill>
                      <a:schemeClr val="tx2">
                        <a:lumMod val="20000"/>
                        <a:lumOff val="80000"/>
                      </a:schemeClr>
                    </a:solidFill>
                  </a:tcPr>
                </a:tc>
                <a:tc>
                  <a:txBody>
                    <a:bodyPr/>
                    <a:lstStyle/>
                    <a:p>
                      <a:r>
                        <a:rPr lang="en-NL" dirty="0"/>
                        <a:t>1</a:t>
                      </a:r>
                    </a:p>
                  </a:txBody>
                  <a:tcPr>
                    <a:solidFill>
                      <a:schemeClr val="tx2">
                        <a:lumMod val="20000"/>
                        <a:lumOff val="80000"/>
                      </a:schemeClr>
                    </a:solidFill>
                  </a:tcPr>
                </a:tc>
                <a:extLst>
                  <a:ext uri="{0D108BD9-81ED-4DB2-BD59-A6C34878D82A}">
                    <a16:rowId xmlns:a16="http://schemas.microsoft.com/office/drawing/2014/main" val="1914919647"/>
                  </a:ext>
                </a:extLst>
              </a:tr>
            </a:tbl>
          </a:graphicData>
        </a:graphic>
      </p:graphicFrame>
      <p:graphicFrame>
        <p:nvGraphicFramePr>
          <p:cNvPr id="73" name="Table 73">
            <a:extLst>
              <a:ext uri="{FF2B5EF4-FFF2-40B4-BE49-F238E27FC236}">
                <a16:creationId xmlns:a16="http://schemas.microsoft.com/office/drawing/2014/main" id="{31F094D7-982B-B461-779B-B60D9D27BAC8}"/>
              </a:ext>
            </a:extLst>
          </p:cNvPr>
          <p:cNvGraphicFramePr>
            <a:graphicFrameLocks noGrp="1"/>
          </p:cNvGraphicFramePr>
          <p:nvPr>
            <p:extLst>
              <p:ext uri="{D42A27DB-BD31-4B8C-83A1-F6EECF244321}">
                <p14:modId xmlns:p14="http://schemas.microsoft.com/office/powerpoint/2010/main" val="4166096110"/>
              </p:ext>
            </p:extLst>
          </p:nvPr>
        </p:nvGraphicFramePr>
        <p:xfrm>
          <a:off x="3499577" y="1862832"/>
          <a:ext cx="1236006" cy="1854200"/>
        </p:xfrm>
        <a:graphic>
          <a:graphicData uri="http://schemas.openxmlformats.org/drawingml/2006/table">
            <a:tbl>
              <a:tblPr firstRow="1" bandRow="1">
                <a:tableStyleId>{5C22544A-7EE6-4342-B048-85BDC9FD1C3A}</a:tableStyleId>
              </a:tblPr>
              <a:tblGrid>
                <a:gridCol w="1236006">
                  <a:extLst>
                    <a:ext uri="{9D8B030D-6E8A-4147-A177-3AD203B41FA5}">
                      <a16:colId xmlns:a16="http://schemas.microsoft.com/office/drawing/2014/main" val="2035910578"/>
                    </a:ext>
                  </a:extLst>
                </a:gridCol>
              </a:tblGrid>
              <a:tr h="370840">
                <a:tc>
                  <a:txBody>
                    <a:bodyPr/>
                    <a:lstStyle/>
                    <a:p>
                      <a:pPr algn="ctr"/>
                      <a:r>
                        <a:rPr lang="en-NL" b="0" dirty="0">
                          <a:solidFill>
                            <a:schemeClr val="tx1"/>
                          </a:solidFill>
                        </a:rPr>
                        <a:t>circuit</a:t>
                      </a:r>
                    </a:p>
                  </a:txBody>
                  <a:tcPr>
                    <a:solidFill>
                      <a:schemeClr val="accent1">
                        <a:lumMod val="20000"/>
                        <a:lumOff val="80000"/>
                      </a:schemeClr>
                    </a:solidFill>
                  </a:tcPr>
                </a:tc>
                <a:extLst>
                  <a:ext uri="{0D108BD9-81ED-4DB2-BD59-A6C34878D82A}">
                    <a16:rowId xmlns:a16="http://schemas.microsoft.com/office/drawing/2014/main" val="316864056"/>
                  </a:ext>
                </a:extLst>
              </a:tr>
              <a:tr h="370840">
                <a:tc>
                  <a:txBody>
                    <a:bodyPr/>
                    <a:lstStyle/>
                    <a:p>
                      <a:pPr algn="ctr"/>
                      <a:r>
                        <a:rPr lang="en-NL" dirty="0"/>
                        <a:t>c</a:t>
                      </a:r>
                      <a:r>
                        <a:rPr lang="en-NL" baseline="-25000" dirty="0"/>
                        <a:t>1</a:t>
                      </a:r>
                      <a:r>
                        <a:rPr lang="en-NL" dirty="0"/>
                        <a:t> = acegi</a:t>
                      </a:r>
                    </a:p>
                  </a:txBody>
                  <a:tcPr>
                    <a:solidFill>
                      <a:schemeClr val="tx2">
                        <a:lumMod val="20000"/>
                        <a:lumOff val="80000"/>
                      </a:schemeClr>
                    </a:solidFill>
                  </a:tcPr>
                </a:tc>
                <a:extLst>
                  <a:ext uri="{0D108BD9-81ED-4DB2-BD59-A6C34878D82A}">
                    <a16:rowId xmlns:a16="http://schemas.microsoft.com/office/drawing/2014/main" val="3930418351"/>
                  </a:ext>
                </a:extLst>
              </a:tr>
              <a:tr h="370840">
                <a:tc>
                  <a:txBody>
                    <a:bodyPr/>
                    <a:lstStyle/>
                    <a:p>
                      <a:pPr algn="ctr"/>
                      <a:r>
                        <a:rPr lang="en-NL" dirty="0"/>
                        <a:t>c</a:t>
                      </a:r>
                      <a:r>
                        <a:rPr lang="en-NL" baseline="-25000" dirty="0"/>
                        <a:t>2</a:t>
                      </a:r>
                      <a:r>
                        <a:rPr lang="en-NL" dirty="0"/>
                        <a:t> = bdegi</a:t>
                      </a:r>
                    </a:p>
                  </a:txBody>
                  <a:tcPr>
                    <a:solidFill>
                      <a:schemeClr val="tx2">
                        <a:lumMod val="20000"/>
                        <a:lumOff val="80000"/>
                      </a:schemeClr>
                    </a:solidFill>
                  </a:tcPr>
                </a:tc>
                <a:extLst>
                  <a:ext uri="{0D108BD9-81ED-4DB2-BD59-A6C34878D82A}">
                    <a16:rowId xmlns:a16="http://schemas.microsoft.com/office/drawing/2014/main" val="2319219645"/>
                  </a:ext>
                </a:extLst>
              </a:tr>
              <a:tr h="370840">
                <a:tc>
                  <a:txBody>
                    <a:bodyPr/>
                    <a:lstStyle/>
                    <a:p>
                      <a:pPr algn="ctr"/>
                      <a:r>
                        <a:rPr lang="en-NL" dirty="0"/>
                        <a:t>c</a:t>
                      </a:r>
                      <a:r>
                        <a:rPr lang="en-NL" baseline="-25000" dirty="0"/>
                        <a:t>3</a:t>
                      </a:r>
                      <a:r>
                        <a:rPr lang="en-NL" dirty="0"/>
                        <a:t> = acfhi</a:t>
                      </a:r>
                    </a:p>
                  </a:txBody>
                  <a:tcPr>
                    <a:solidFill>
                      <a:schemeClr val="tx2">
                        <a:lumMod val="20000"/>
                        <a:lumOff val="80000"/>
                      </a:schemeClr>
                    </a:solidFill>
                  </a:tcPr>
                </a:tc>
                <a:extLst>
                  <a:ext uri="{0D108BD9-81ED-4DB2-BD59-A6C34878D82A}">
                    <a16:rowId xmlns:a16="http://schemas.microsoft.com/office/drawing/2014/main" val="1296617149"/>
                  </a:ext>
                </a:extLst>
              </a:tr>
              <a:tr h="370840">
                <a:tc>
                  <a:txBody>
                    <a:bodyPr/>
                    <a:lstStyle/>
                    <a:p>
                      <a:pPr algn="ctr"/>
                      <a:r>
                        <a:rPr lang="en-NL" dirty="0"/>
                        <a:t>c</a:t>
                      </a:r>
                      <a:r>
                        <a:rPr lang="en-NL" baseline="-25000" dirty="0"/>
                        <a:t>4</a:t>
                      </a:r>
                      <a:r>
                        <a:rPr lang="en-NL" dirty="0"/>
                        <a:t> = bdfh</a:t>
                      </a:r>
                    </a:p>
                  </a:txBody>
                  <a:tcPr>
                    <a:solidFill>
                      <a:schemeClr val="tx2">
                        <a:lumMod val="20000"/>
                        <a:lumOff val="80000"/>
                      </a:schemeClr>
                    </a:solidFill>
                  </a:tcPr>
                </a:tc>
                <a:extLst>
                  <a:ext uri="{0D108BD9-81ED-4DB2-BD59-A6C34878D82A}">
                    <a16:rowId xmlns:a16="http://schemas.microsoft.com/office/drawing/2014/main" val="4060286400"/>
                  </a:ext>
                </a:extLst>
              </a:tr>
            </a:tbl>
          </a:graphicData>
        </a:graphic>
      </p:graphicFrame>
      <p:cxnSp>
        <p:nvCxnSpPr>
          <p:cNvPr id="75" name="Curved Connector 74">
            <a:extLst>
              <a:ext uri="{FF2B5EF4-FFF2-40B4-BE49-F238E27FC236}">
                <a16:creationId xmlns:a16="http://schemas.microsoft.com/office/drawing/2014/main" id="{50722E3E-F999-0394-9261-D7DC07C67E7F}"/>
              </a:ext>
            </a:extLst>
          </p:cNvPr>
          <p:cNvCxnSpPr>
            <a:stCxn id="100" idx="3"/>
            <a:endCxn id="90" idx="1"/>
          </p:cNvCxnSpPr>
          <p:nvPr/>
        </p:nvCxnSpPr>
        <p:spPr>
          <a:xfrm rot="5400000" flipH="1">
            <a:off x="605757" y="2979178"/>
            <a:ext cx="2161820" cy="12700"/>
          </a:xfrm>
          <a:prstGeom prst="curvedConnector5">
            <a:avLst>
              <a:gd name="adj1" fmla="val -10574"/>
              <a:gd name="adj2" fmla="val 9929386"/>
              <a:gd name="adj3" fmla="val 104207"/>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D86F9125-7F7C-EC2C-BB2C-793D281494A9}"/>
              </a:ext>
            </a:extLst>
          </p:cNvPr>
          <p:cNvSpPr txBox="1"/>
          <p:nvPr/>
        </p:nvSpPr>
        <p:spPr>
          <a:xfrm>
            <a:off x="399366" y="3917603"/>
            <a:ext cx="235962" cy="369332"/>
          </a:xfrm>
          <a:prstGeom prst="rect">
            <a:avLst/>
          </a:prstGeom>
          <a:noFill/>
        </p:spPr>
        <p:txBody>
          <a:bodyPr wrap="none" rtlCol="0">
            <a:spAutoFit/>
          </a:bodyPr>
          <a:lstStyle/>
          <a:p>
            <a:r>
              <a:rPr lang="en-NL" dirty="0">
                <a:solidFill>
                  <a:srgbClr val="FF0000"/>
                </a:solidFill>
              </a:rPr>
              <a:t>i</a:t>
            </a:r>
          </a:p>
        </p:txBody>
      </p:sp>
      <p:sp>
        <p:nvSpPr>
          <p:cNvPr id="79" name="TextBox 78">
            <a:extLst>
              <a:ext uri="{FF2B5EF4-FFF2-40B4-BE49-F238E27FC236}">
                <a16:creationId xmlns:a16="http://schemas.microsoft.com/office/drawing/2014/main" id="{5118406E-14BA-80D3-A0EB-51BF96A001C2}"/>
              </a:ext>
            </a:extLst>
          </p:cNvPr>
          <p:cNvSpPr txBox="1"/>
          <p:nvPr/>
        </p:nvSpPr>
        <p:spPr>
          <a:xfrm>
            <a:off x="2955009" y="3809321"/>
            <a:ext cx="6081487" cy="2585323"/>
          </a:xfrm>
          <a:prstGeom prst="rect">
            <a:avLst/>
          </a:prstGeom>
          <a:noFill/>
        </p:spPr>
        <p:txBody>
          <a:bodyPr wrap="square" rtlCol="0">
            <a:spAutoFit/>
          </a:bodyPr>
          <a:lstStyle/>
          <a:p>
            <a:r>
              <a:rPr lang="en-NL" dirty="0"/>
              <a:t>Notice that c</a:t>
            </a:r>
            <a:r>
              <a:rPr lang="en-NL" baseline="-25000" dirty="0"/>
              <a:t>4</a:t>
            </a:r>
            <a:r>
              <a:rPr lang="en-NL" dirty="0"/>
              <a:t> = c</a:t>
            </a:r>
            <a:r>
              <a:rPr lang="en-NL" baseline="-25000" dirty="0"/>
              <a:t>2</a:t>
            </a:r>
            <a:r>
              <a:rPr lang="en-NL" dirty="0"/>
              <a:t>+c</a:t>
            </a:r>
            <a:r>
              <a:rPr lang="en-NL" baseline="-25000" dirty="0"/>
              <a:t>3</a:t>
            </a:r>
            <a:r>
              <a:rPr lang="en-NL" dirty="0"/>
              <a:t> – c</a:t>
            </a:r>
            <a:r>
              <a:rPr lang="en-NL" baseline="-25000" dirty="0"/>
              <a:t>1</a:t>
            </a:r>
            <a:r>
              <a:rPr lang="en-NL" dirty="0"/>
              <a:t>, so {c</a:t>
            </a:r>
            <a:r>
              <a:rPr lang="en-NL" baseline="-25000" dirty="0"/>
              <a:t>1</a:t>
            </a:r>
            <a:r>
              <a:rPr lang="en-NL" dirty="0"/>
              <a:t>,c</a:t>
            </a:r>
            <a:r>
              <a:rPr lang="en-NL" baseline="-25000" dirty="0"/>
              <a:t>2</a:t>
            </a:r>
            <a:r>
              <a:rPr lang="en-NL" dirty="0"/>
              <a:t>,c</a:t>
            </a:r>
            <a:r>
              <a:rPr lang="en-NL" baseline="-25000" dirty="0"/>
              <a:t>3</a:t>
            </a:r>
            <a:r>
              <a:rPr lang="en-NL" dirty="0"/>
              <a:t>,c</a:t>
            </a:r>
            <a:r>
              <a:rPr lang="en-NL" baseline="-25000" dirty="0"/>
              <a:t>4</a:t>
            </a:r>
            <a:r>
              <a:rPr lang="en-NL" dirty="0"/>
              <a:t>} does </a:t>
            </a:r>
            <a:r>
              <a:rPr lang="en-NL" b="1" dirty="0">
                <a:solidFill>
                  <a:srgbClr val="C00000"/>
                </a:solidFill>
              </a:rPr>
              <a:t>not</a:t>
            </a:r>
            <a:r>
              <a:rPr lang="en-NL" dirty="0"/>
              <a:t> form a set circuits that are linearly independent from each other.</a:t>
            </a:r>
          </a:p>
          <a:p>
            <a:endParaRPr lang="en-NL" dirty="0"/>
          </a:p>
          <a:p>
            <a:pPr marL="285750" indent="-285750">
              <a:buFont typeface="Arial" panose="020B0604020202020204" pitchFamily="34" charset="0"/>
              <a:buChar char="•"/>
            </a:pPr>
            <a:r>
              <a:rPr lang="en-NL" dirty="0"/>
              <a:t>{c</a:t>
            </a:r>
            <a:r>
              <a:rPr lang="en-NL" baseline="-25000" dirty="0"/>
              <a:t>1</a:t>
            </a:r>
            <a:r>
              <a:rPr lang="en-NL" dirty="0"/>
              <a:t>,c</a:t>
            </a:r>
            <a:r>
              <a:rPr lang="en-NL" baseline="-25000" dirty="0"/>
              <a:t>4</a:t>
            </a:r>
            <a:r>
              <a:rPr lang="en-NL" dirty="0"/>
              <a:t>} is a linearly independent set, but </a:t>
            </a:r>
            <a:r>
              <a:rPr lang="en-NL" dirty="0">
                <a:solidFill>
                  <a:srgbClr val="C00000"/>
                </a:solidFill>
              </a:rPr>
              <a:t>not</a:t>
            </a:r>
            <a:r>
              <a:rPr lang="en-NL" dirty="0"/>
              <a:t> maximal in size.</a:t>
            </a:r>
          </a:p>
          <a:p>
            <a:pPr marL="285750" indent="-285750">
              <a:buFont typeface="Arial" panose="020B0604020202020204" pitchFamily="34" charset="0"/>
              <a:buChar char="•"/>
            </a:pPr>
            <a:r>
              <a:rPr lang="en-NL" dirty="0"/>
              <a:t>{c</a:t>
            </a:r>
            <a:r>
              <a:rPr lang="en-NL" baseline="-25000" dirty="0"/>
              <a:t>1</a:t>
            </a:r>
            <a:r>
              <a:rPr lang="en-NL" dirty="0"/>
              <a:t>,c</a:t>
            </a:r>
            <a:r>
              <a:rPr lang="en-NL" baseline="-25000" dirty="0"/>
              <a:t>2</a:t>
            </a:r>
            <a:r>
              <a:rPr lang="en-NL" dirty="0"/>
              <a:t>,c</a:t>
            </a:r>
            <a:r>
              <a:rPr lang="en-NL" baseline="-25000" dirty="0"/>
              <a:t>3</a:t>
            </a:r>
            <a:r>
              <a:rPr lang="en-NL" dirty="0"/>
              <a:t>} is also a linearly independent set, and </a:t>
            </a:r>
            <a:r>
              <a:rPr lang="en-NL" dirty="0">
                <a:highlight>
                  <a:srgbClr val="FFFF00"/>
                </a:highlight>
              </a:rPr>
              <a:t>maximal</a:t>
            </a:r>
            <a:r>
              <a:rPr lang="en-NL" dirty="0"/>
              <a:t> in size.</a:t>
            </a:r>
          </a:p>
          <a:p>
            <a:pPr marL="285750" indent="-285750">
              <a:buFont typeface="Arial" panose="020B0604020202020204" pitchFamily="34" charset="0"/>
              <a:buChar char="•"/>
            </a:pPr>
            <a:r>
              <a:rPr lang="en-NL" dirty="0"/>
              <a:t>Maximal linearly independent set of circuits can be seen as describing “elementary” cycles in your CFG.</a:t>
            </a:r>
          </a:p>
        </p:txBody>
      </p:sp>
      <p:sp>
        <p:nvSpPr>
          <p:cNvPr id="80" name="TextBox 79">
            <a:extLst>
              <a:ext uri="{FF2B5EF4-FFF2-40B4-BE49-F238E27FC236}">
                <a16:creationId xmlns:a16="http://schemas.microsoft.com/office/drawing/2014/main" id="{955C610A-6059-B035-D5E3-BFC7B599A978}"/>
              </a:ext>
            </a:extLst>
          </p:cNvPr>
          <p:cNvSpPr txBox="1"/>
          <p:nvPr/>
        </p:nvSpPr>
        <p:spPr>
          <a:xfrm>
            <a:off x="5331350" y="1583420"/>
            <a:ext cx="1864613" cy="307777"/>
          </a:xfrm>
          <a:prstGeom prst="rect">
            <a:avLst/>
          </a:prstGeom>
          <a:noFill/>
        </p:spPr>
        <p:txBody>
          <a:bodyPr wrap="none" rtlCol="0">
            <a:spAutoFit/>
          </a:bodyPr>
          <a:lstStyle/>
          <a:p>
            <a:r>
              <a:rPr lang="en-NL" sz="1400" dirty="0"/>
              <a:t>vector representation</a:t>
            </a:r>
          </a:p>
        </p:txBody>
      </p:sp>
    </p:spTree>
    <p:extLst>
      <p:ext uri="{BB962C8B-B14F-4D97-AF65-F5344CB8AC3E}">
        <p14:creationId xmlns:p14="http://schemas.microsoft.com/office/powerpoint/2010/main" val="2672260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2C54-0A09-BA26-FF22-F9D7948274F8}"/>
              </a:ext>
            </a:extLst>
          </p:cNvPr>
          <p:cNvSpPr>
            <a:spLocks noGrp="1"/>
          </p:cNvSpPr>
          <p:nvPr>
            <p:ph type="title"/>
          </p:nvPr>
        </p:nvSpPr>
        <p:spPr/>
        <p:txBody>
          <a:bodyPr/>
          <a:lstStyle/>
          <a:p>
            <a:r>
              <a:rPr lang="en-NL" dirty="0"/>
              <a:t>#McCabe-TR growth</a:t>
            </a:r>
          </a:p>
        </p:txBody>
      </p:sp>
      <p:sp>
        <p:nvSpPr>
          <p:cNvPr id="4" name="Slide Number Placeholder 3">
            <a:extLst>
              <a:ext uri="{FF2B5EF4-FFF2-40B4-BE49-F238E27FC236}">
                <a16:creationId xmlns:a16="http://schemas.microsoft.com/office/drawing/2014/main" id="{4FDCF551-13AB-DE8B-F0D1-354738323B44}"/>
              </a:ext>
            </a:extLst>
          </p:cNvPr>
          <p:cNvSpPr>
            <a:spLocks noGrp="1"/>
          </p:cNvSpPr>
          <p:nvPr>
            <p:ph type="sldNum" sz="quarter" idx="12"/>
          </p:nvPr>
        </p:nvSpPr>
        <p:spPr/>
        <p:txBody>
          <a:bodyPr/>
          <a:lstStyle/>
          <a:p>
            <a:pPr>
              <a:defRPr/>
            </a:pPr>
            <a:fld id="{F7C0A3F7-46F3-44CF-95B7-0304031AA6EA}" type="slidenum">
              <a:rPr lang="en-US" smtClean="0"/>
              <a:pPr>
                <a:defRPr/>
              </a:pPr>
              <a:t>37</a:t>
            </a:fld>
            <a:endParaRPr lang="en-US"/>
          </a:p>
        </p:txBody>
      </p:sp>
      <p:sp>
        <p:nvSpPr>
          <p:cNvPr id="90" name="Oval 89">
            <a:extLst>
              <a:ext uri="{FF2B5EF4-FFF2-40B4-BE49-F238E27FC236}">
                <a16:creationId xmlns:a16="http://schemas.microsoft.com/office/drawing/2014/main" id="{6BA2C80C-CB08-51DC-A927-712A89DD9EB3}"/>
              </a:ext>
            </a:extLst>
          </p:cNvPr>
          <p:cNvSpPr/>
          <p:nvPr/>
        </p:nvSpPr>
        <p:spPr>
          <a:xfrm>
            <a:off x="2020760" y="1822301"/>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91" name="Oval 90">
            <a:extLst>
              <a:ext uri="{FF2B5EF4-FFF2-40B4-BE49-F238E27FC236}">
                <a16:creationId xmlns:a16="http://schemas.microsoft.com/office/drawing/2014/main" id="{66EFDBCF-75DE-387C-08B6-CC557771B136}"/>
              </a:ext>
            </a:extLst>
          </p:cNvPr>
          <p:cNvSpPr/>
          <p:nvPr/>
        </p:nvSpPr>
        <p:spPr>
          <a:xfrm>
            <a:off x="2386083" y="2112977"/>
            <a:ext cx="288032" cy="288032"/>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92" name="Oval 91">
            <a:extLst>
              <a:ext uri="{FF2B5EF4-FFF2-40B4-BE49-F238E27FC236}">
                <a16:creationId xmlns:a16="http://schemas.microsoft.com/office/drawing/2014/main" id="{00F22AF1-D4A7-2FF7-4CA2-C7342C100CB7}"/>
              </a:ext>
            </a:extLst>
          </p:cNvPr>
          <p:cNvSpPr/>
          <p:nvPr/>
        </p:nvSpPr>
        <p:spPr>
          <a:xfrm>
            <a:off x="2025215" y="2277002"/>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dirty="0"/>
          </a:p>
        </p:txBody>
      </p:sp>
      <p:cxnSp>
        <p:nvCxnSpPr>
          <p:cNvPr id="93" name="Straight Arrow Connector 92">
            <a:extLst>
              <a:ext uri="{FF2B5EF4-FFF2-40B4-BE49-F238E27FC236}">
                <a16:creationId xmlns:a16="http://schemas.microsoft.com/office/drawing/2014/main" id="{262AE2AA-EAF7-52A5-558C-9DB4906572A0}"/>
              </a:ext>
            </a:extLst>
          </p:cNvPr>
          <p:cNvCxnSpPr>
            <a:cxnSpLocks/>
            <a:stCxn id="90" idx="3"/>
            <a:endCxn id="45" idx="7"/>
          </p:cNvCxnSpPr>
          <p:nvPr/>
        </p:nvCxnSpPr>
        <p:spPr>
          <a:xfrm flipH="1">
            <a:off x="1898531" y="2068152"/>
            <a:ext cx="164410" cy="8700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BD6DB30C-DF87-B7A3-1BCD-A5F26667B5CA}"/>
              </a:ext>
            </a:extLst>
          </p:cNvPr>
          <p:cNvCxnSpPr>
            <a:cxnSpLocks/>
            <a:stCxn id="90" idx="5"/>
            <a:endCxn id="91" idx="1"/>
          </p:cNvCxnSpPr>
          <p:nvPr/>
        </p:nvCxnSpPr>
        <p:spPr>
          <a:xfrm>
            <a:off x="2266611" y="2068152"/>
            <a:ext cx="161653" cy="8700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9" name="Oval 98">
            <a:extLst>
              <a:ext uri="{FF2B5EF4-FFF2-40B4-BE49-F238E27FC236}">
                <a16:creationId xmlns:a16="http://schemas.microsoft.com/office/drawing/2014/main" id="{DE733BAD-7190-C555-985D-CF268C5826E5}"/>
              </a:ext>
            </a:extLst>
          </p:cNvPr>
          <p:cNvSpPr/>
          <p:nvPr/>
        </p:nvSpPr>
        <p:spPr>
          <a:xfrm>
            <a:off x="2428264" y="2604679"/>
            <a:ext cx="288032" cy="288032"/>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100" name="Oval 99">
            <a:extLst>
              <a:ext uri="{FF2B5EF4-FFF2-40B4-BE49-F238E27FC236}">
                <a16:creationId xmlns:a16="http://schemas.microsoft.com/office/drawing/2014/main" id="{51D521B0-205E-9138-1172-B32820F2B66C}"/>
              </a:ext>
            </a:extLst>
          </p:cNvPr>
          <p:cNvSpPr/>
          <p:nvPr/>
        </p:nvSpPr>
        <p:spPr>
          <a:xfrm>
            <a:off x="2010012" y="2840162"/>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dirty="0"/>
          </a:p>
        </p:txBody>
      </p:sp>
      <p:cxnSp>
        <p:nvCxnSpPr>
          <p:cNvPr id="103" name="Straight Arrow Connector 102">
            <a:extLst>
              <a:ext uri="{FF2B5EF4-FFF2-40B4-BE49-F238E27FC236}">
                <a16:creationId xmlns:a16="http://schemas.microsoft.com/office/drawing/2014/main" id="{4660A5F4-6CAF-8984-0699-085D80AAD0F6}"/>
              </a:ext>
            </a:extLst>
          </p:cNvPr>
          <p:cNvCxnSpPr>
            <a:cxnSpLocks/>
            <a:stCxn id="92" idx="5"/>
            <a:endCxn id="99" idx="1"/>
          </p:cNvCxnSpPr>
          <p:nvPr/>
        </p:nvCxnSpPr>
        <p:spPr>
          <a:xfrm>
            <a:off x="2271066" y="2522853"/>
            <a:ext cx="199379" cy="12400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0F2AB201-BD6C-18AD-5113-037608443CAE}"/>
              </a:ext>
            </a:extLst>
          </p:cNvPr>
          <p:cNvCxnSpPr>
            <a:cxnSpLocks/>
            <a:stCxn id="99" idx="3"/>
            <a:endCxn id="100" idx="6"/>
          </p:cNvCxnSpPr>
          <p:nvPr/>
        </p:nvCxnSpPr>
        <p:spPr>
          <a:xfrm flipH="1">
            <a:off x="2298044" y="2850530"/>
            <a:ext cx="172401" cy="13364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7C55E054-ECF7-C9A5-DF73-F14471A5D571}"/>
              </a:ext>
            </a:extLst>
          </p:cNvPr>
          <p:cNvCxnSpPr>
            <a:cxnSpLocks/>
            <a:stCxn id="92" idx="3"/>
            <a:endCxn id="46" idx="7"/>
          </p:cNvCxnSpPr>
          <p:nvPr/>
        </p:nvCxnSpPr>
        <p:spPr>
          <a:xfrm flipH="1">
            <a:off x="1894995" y="2522853"/>
            <a:ext cx="172401" cy="13703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70C610A4-1A53-0AC8-7E87-01586061C18D}"/>
              </a:ext>
            </a:extLst>
          </p:cNvPr>
          <p:cNvCxnSpPr>
            <a:cxnSpLocks/>
            <a:stCxn id="91" idx="3"/>
            <a:endCxn id="92" idx="6"/>
          </p:cNvCxnSpPr>
          <p:nvPr/>
        </p:nvCxnSpPr>
        <p:spPr>
          <a:xfrm flipH="1">
            <a:off x="2313247" y="2358828"/>
            <a:ext cx="115017" cy="6219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9DCF293A-3A12-2356-C9C5-09C4AA6BABEE}"/>
              </a:ext>
            </a:extLst>
          </p:cNvPr>
          <p:cNvSpPr txBox="1"/>
          <p:nvPr/>
        </p:nvSpPr>
        <p:spPr>
          <a:xfrm>
            <a:off x="2915816" y="1916832"/>
            <a:ext cx="4237057" cy="1200329"/>
          </a:xfrm>
          <a:prstGeom prst="rect">
            <a:avLst/>
          </a:prstGeom>
          <a:noFill/>
        </p:spPr>
        <p:txBody>
          <a:bodyPr wrap="none" rtlCol="0">
            <a:spAutoFit/>
          </a:bodyPr>
          <a:lstStyle/>
          <a:p>
            <a:r>
              <a:rPr lang="en-NL" dirty="0"/>
              <a:t>#McCabe-TR = #independent paths = 3</a:t>
            </a:r>
          </a:p>
          <a:p>
            <a:r>
              <a:rPr lang="en-NL" dirty="0"/>
              <a:t>#tests needed to cover all edges = 2</a:t>
            </a:r>
          </a:p>
          <a:p>
            <a:r>
              <a:rPr lang="en-NL" dirty="0"/>
              <a:t>#tests needed to cover McCabe = 3</a:t>
            </a:r>
          </a:p>
          <a:p>
            <a:r>
              <a:rPr lang="en-NL" dirty="0"/>
              <a:t>#tests needed to cover all paths = 4 </a:t>
            </a:r>
          </a:p>
        </p:txBody>
      </p:sp>
      <p:sp>
        <p:nvSpPr>
          <p:cNvPr id="45" name="Oval 44">
            <a:extLst>
              <a:ext uri="{FF2B5EF4-FFF2-40B4-BE49-F238E27FC236}">
                <a16:creationId xmlns:a16="http://schemas.microsoft.com/office/drawing/2014/main" id="{AD35CBAB-117D-680B-7AD8-7EB11442ADAA}"/>
              </a:ext>
            </a:extLst>
          </p:cNvPr>
          <p:cNvSpPr/>
          <p:nvPr/>
        </p:nvSpPr>
        <p:spPr>
          <a:xfrm>
            <a:off x="1652680" y="2112977"/>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46" name="Oval 45">
            <a:extLst>
              <a:ext uri="{FF2B5EF4-FFF2-40B4-BE49-F238E27FC236}">
                <a16:creationId xmlns:a16="http://schemas.microsoft.com/office/drawing/2014/main" id="{5C749D3F-52BF-639B-7A24-728737D5DC3D}"/>
              </a:ext>
            </a:extLst>
          </p:cNvPr>
          <p:cNvSpPr/>
          <p:nvPr/>
        </p:nvSpPr>
        <p:spPr>
          <a:xfrm>
            <a:off x="1649144" y="2617703"/>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dirty="0"/>
          </a:p>
        </p:txBody>
      </p:sp>
      <p:cxnSp>
        <p:nvCxnSpPr>
          <p:cNvPr id="49" name="Straight Arrow Connector 48">
            <a:extLst>
              <a:ext uri="{FF2B5EF4-FFF2-40B4-BE49-F238E27FC236}">
                <a16:creationId xmlns:a16="http://schemas.microsoft.com/office/drawing/2014/main" id="{CD62A1DB-DC3E-7215-E33C-66B1792EBF5A}"/>
              </a:ext>
            </a:extLst>
          </p:cNvPr>
          <p:cNvCxnSpPr>
            <a:cxnSpLocks/>
            <a:stCxn id="45" idx="5"/>
            <a:endCxn id="92" idx="2"/>
          </p:cNvCxnSpPr>
          <p:nvPr/>
        </p:nvCxnSpPr>
        <p:spPr>
          <a:xfrm>
            <a:off x="1898531" y="2358828"/>
            <a:ext cx="126684" cy="6219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8BED15CD-C2BD-EEC1-D162-0E845E0D016E}"/>
              </a:ext>
            </a:extLst>
          </p:cNvPr>
          <p:cNvCxnSpPr>
            <a:cxnSpLocks/>
            <a:stCxn id="46" idx="5"/>
            <a:endCxn id="100" idx="2"/>
          </p:cNvCxnSpPr>
          <p:nvPr/>
        </p:nvCxnSpPr>
        <p:spPr>
          <a:xfrm>
            <a:off x="1894995" y="2863554"/>
            <a:ext cx="115017" cy="1206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4" name="Oval 113">
            <a:extLst>
              <a:ext uri="{FF2B5EF4-FFF2-40B4-BE49-F238E27FC236}">
                <a16:creationId xmlns:a16="http://schemas.microsoft.com/office/drawing/2014/main" id="{BAF07F3E-BBA6-D626-D571-27A55A736F11}"/>
              </a:ext>
            </a:extLst>
          </p:cNvPr>
          <p:cNvSpPr/>
          <p:nvPr/>
        </p:nvSpPr>
        <p:spPr>
          <a:xfrm>
            <a:off x="1958714" y="3702909"/>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115" name="Oval 114">
            <a:extLst>
              <a:ext uri="{FF2B5EF4-FFF2-40B4-BE49-F238E27FC236}">
                <a16:creationId xmlns:a16="http://schemas.microsoft.com/office/drawing/2014/main" id="{B47F63F5-B34F-BC91-0721-52E470D63B7E}"/>
              </a:ext>
            </a:extLst>
          </p:cNvPr>
          <p:cNvSpPr/>
          <p:nvPr/>
        </p:nvSpPr>
        <p:spPr>
          <a:xfrm>
            <a:off x="2324037" y="3993585"/>
            <a:ext cx="288032" cy="288032"/>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116" name="Oval 115">
            <a:extLst>
              <a:ext uri="{FF2B5EF4-FFF2-40B4-BE49-F238E27FC236}">
                <a16:creationId xmlns:a16="http://schemas.microsoft.com/office/drawing/2014/main" id="{3D76CBA2-51CB-ED4F-1139-9A60CCBCFA65}"/>
              </a:ext>
            </a:extLst>
          </p:cNvPr>
          <p:cNvSpPr/>
          <p:nvPr/>
        </p:nvSpPr>
        <p:spPr>
          <a:xfrm>
            <a:off x="1963169" y="4157610"/>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dirty="0"/>
          </a:p>
        </p:txBody>
      </p:sp>
      <p:cxnSp>
        <p:nvCxnSpPr>
          <p:cNvPr id="117" name="Straight Arrow Connector 116">
            <a:extLst>
              <a:ext uri="{FF2B5EF4-FFF2-40B4-BE49-F238E27FC236}">
                <a16:creationId xmlns:a16="http://schemas.microsoft.com/office/drawing/2014/main" id="{6C6225AB-29A6-0924-C8A1-1C3E1A9D9637}"/>
              </a:ext>
            </a:extLst>
          </p:cNvPr>
          <p:cNvCxnSpPr>
            <a:cxnSpLocks/>
            <a:stCxn id="114" idx="3"/>
            <a:endCxn id="125" idx="7"/>
          </p:cNvCxnSpPr>
          <p:nvPr/>
        </p:nvCxnSpPr>
        <p:spPr>
          <a:xfrm flipH="1">
            <a:off x="1836485" y="3948760"/>
            <a:ext cx="164410" cy="8700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00842D69-CE7D-9FAF-C9D4-A817D55902DD}"/>
              </a:ext>
            </a:extLst>
          </p:cNvPr>
          <p:cNvCxnSpPr>
            <a:cxnSpLocks/>
            <a:stCxn id="114" idx="5"/>
            <a:endCxn id="115" idx="1"/>
          </p:cNvCxnSpPr>
          <p:nvPr/>
        </p:nvCxnSpPr>
        <p:spPr>
          <a:xfrm>
            <a:off x="2204565" y="3948760"/>
            <a:ext cx="161653" cy="8700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9" name="Oval 118">
            <a:extLst>
              <a:ext uri="{FF2B5EF4-FFF2-40B4-BE49-F238E27FC236}">
                <a16:creationId xmlns:a16="http://schemas.microsoft.com/office/drawing/2014/main" id="{ED93DB28-95F9-0738-4C68-ECF139AD791D}"/>
              </a:ext>
            </a:extLst>
          </p:cNvPr>
          <p:cNvSpPr/>
          <p:nvPr/>
        </p:nvSpPr>
        <p:spPr>
          <a:xfrm>
            <a:off x="2366218" y="4485287"/>
            <a:ext cx="288032" cy="288032"/>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120" name="Oval 119">
            <a:extLst>
              <a:ext uri="{FF2B5EF4-FFF2-40B4-BE49-F238E27FC236}">
                <a16:creationId xmlns:a16="http://schemas.microsoft.com/office/drawing/2014/main" id="{29401057-2D9F-CC60-AAA3-A8B7240A3B8F}"/>
              </a:ext>
            </a:extLst>
          </p:cNvPr>
          <p:cNvSpPr/>
          <p:nvPr/>
        </p:nvSpPr>
        <p:spPr>
          <a:xfrm>
            <a:off x="1947966" y="4720770"/>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dirty="0"/>
          </a:p>
        </p:txBody>
      </p:sp>
      <p:cxnSp>
        <p:nvCxnSpPr>
          <p:cNvPr id="121" name="Straight Arrow Connector 120">
            <a:extLst>
              <a:ext uri="{FF2B5EF4-FFF2-40B4-BE49-F238E27FC236}">
                <a16:creationId xmlns:a16="http://schemas.microsoft.com/office/drawing/2014/main" id="{F344707C-E24C-E8E1-DFF3-D7DB741D230C}"/>
              </a:ext>
            </a:extLst>
          </p:cNvPr>
          <p:cNvCxnSpPr>
            <a:cxnSpLocks/>
            <a:stCxn id="116" idx="5"/>
            <a:endCxn id="119" idx="1"/>
          </p:cNvCxnSpPr>
          <p:nvPr/>
        </p:nvCxnSpPr>
        <p:spPr>
          <a:xfrm>
            <a:off x="2209020" y="4403461"/>
            <a:ext cx="199379" cy="12400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A8976608-FC57-AD1A-5C26-D0371C40362C}"/>
              </a:ext>
            </a:extLst>
          </p:cNvPr>
          <p:cNvCxnSpPr>
            <a:cxnSpLocks/>
            <a:stCxn id="119" idx="3"/>
            <a:endCxn id="120" idx="6"/>
          </p:cNvCxnSpPr>
          <p:nvPr/>
        </p:nvCxnSpPr>
        <p:spPr>
          <a:xfrm flipH="1">
            <a:off x="2235998" y="4731138"/>
            <a:ext cx="172401" cy="13364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08CF99A4-1DC5-0220-D5C4-6A6B22F2AC18}"/>
              </a:ext>
            </a:extLst>
          </p:cNvPr>
          <p:cNvCxnSpPr>
            <a:cxnSpLocks/>
            <a:stCxn id="116" idx="3"/>
            <a:endCxn id="126" idx="7"/>
          </p:cNvCxnSpPr>
          <p:nvPr/>
        </p:nvCxnSpPr>
        <p:spPr>
          <a:xfrm flipH="1">
            <a:off x="1832949" y="4403461"/>
            <a:ext cx="172401" cy="13703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F9723133-4F2C-EF33-D50D-69D58B8FF5BD}"/>
              </a:ext>
            </a:extLst>
          </p:cNvPr>
          <p:cNvCxnSpPr>
            <a:cxnSpLocks/>
            <a:stCxn id="115" idx="3"/>
            <a:endCxn id="116" idx="6"/>
          </p:cNvCxnSpPr>
          <p:nvPr/>
        </p:nvCxnSpPr>
        <p:spPr>
          <a:xfrm flipH="1">
            <a:off x="2251201" y="4239436"/>
            <a:ext cx="115017" cy="6219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5" name="Oval 124">
            <a:extLst>
              <a:ext uri="{FF2B5EF4-FFF2-40B4-BE49-F238E27FC236}">
                <a16:creationId xmlns:a16="http://schemas.microsoft.com/office/drawing/2014/main" id="{68117DF5-383E-D85A-C2CD-8B01E1F26FAC}"/>
              </a:ext>
            </a:extLst>
          </p:cNvPr>
          <p:cNvSpPr/>
          <p:nvPr/>
        </p:nvSpPr>
        <p:spPr>
          <a:xfrm>
            <a:off x="1590634" y="3993585"/>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126" name="Oval 125">
            <a:extLst>
              <a:ext uri="{FF2B5EF4-FFF2-40B4-BE49-F238E27FC236}">
                <a16:creationId xmlns:a16="http://schemas.microsoft.com/office/drawing/2014/main" id="{C17783AE-BEA5-34AA-A107-1F7CA819590E}"/>
              </a:ext>
            </a:extLst>
          </p:cNvPr>
          <p:cNvSpPr/>
          <p:nvPr/>
        </p:nvSpPr>
        <p:spPr>
          <a:xfrm>
            <a:off x="1587098" y="4498311"/>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dirty="0"/>
          </a:p>
        </p:txBody>
      </p:sp>
      <p:cxnSp>
        <p:nvCxnSpPr>
          <p:cNvPr id="127" name="Straight Arrow Connector 126">
            <a:extLst>
              <a:ext uri="{FF2B5EF4-FFF2-40B4-BE49-F238E27FC236}">
                <a16:creationId xmlns:a16="http://schemas.microsoft.com/office/drawing/2014/main" id="{6EC98ABF-EBC5-2B59-6D7D-37714EC9B16F}"/>
              </a:ext>
            </a:extLst>
          </p:cNvPr>
          <p:cNvCxnSpPr>
            <a:cxnSpLocks/>
            <a:stCxn id="125" idx="5"/>
            <a:endCxn id="116" idx="2"/>
          </p:cNvCxnSpPr>
          <p:nvPr/>
        </p:nvCxnSpPr>
        <p:spPr>
          <a:xfrm>
            <a:off x="1836485" y="4239436"/>
            <a:ext cx="126684" cy="6219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6044D573-FD54-072C-C7FA-78B8ABACB6E0}"/>
              </a:ext>
            </a:extLst>
          </p:cNvPr>
          <p:cNvCxnSpPr>
            <a:cxnSpLocks/>
            <a:stCxn id="126" idx="5"/>
            <a:endCxn id="120" idx="2"/>
          </p:cNvCxnSpPr>
          <p:nvPr/>
        </p:nvCxnSpPr>
        <p:spPr>
          <a:xfrm>
            <a:off x="1832949" y="4744162"/>
            <a:ext cx="115017" cy="1206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9" name="Oval 128">
            <a:extLst>
              <a:ext uri="{FF2B5EF4-FFF2-40B4-BE49-F238E27FC236}">
                <a16:creationId xmlns:a16="http://schemas.microsoft.com/office/drawing/2014/main" id="{59C9FC17-1B34-1BBC-5F8E-41E50BDB3D6B}"/>
              </a:ext>
            </a:extLst>
          </p:cNvPr>
          <p:cNvSpPr/>
          <p:nvPr/>
        </p:nvSpPr>
        <p:spPr>
          <a:xfrm>
            <a:off x="2366218" y="5088329"/>
            <a:ext cx="288032" cy="288032"/>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130" name="Oval 129">
            <a:extLst>
              <a:ext uri="{FF2B5EF4-FFF2-40B4-BE49-F238E27FC236}">
                <a16:creationId xmlns:a16="http://schemas.microsoft.com/office/drawing/2014/main" id="{F83539D6-DEA6-9EC4-96B6-8F28ABD7DCBA}"/>
              </a:ext>
            </a:extLst>
          </p:cNvPr>
          <p:cNvSpPr/>
          <p:nvPr/>
        </p:nvSpPr>
        <p:spPr>
          <a:xfrm>
            <a:off x="1947966" y="5323812"/>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131" name="Oval 130">
            <a:extLst>
              <a:ext uri="{FF2B5EF4-FFF2-40B4-BE49-F238E27FC236}">
                <a16:creationId xmlns:a16="http://schemas.microsoft.com/office/drawing/2014/main" id="{6516D538-1470-7991-97B6-BDD119ABC152}"/>
              </a:ext>
            </a:extLst>
          </p:cNvPr>
          <p:cNvSpPr/>
          <p:nvPr/>
        </p:nvSpPr>
        <p:spPr>
          <a:xfrm>
            <a:off x="1587098" y="5101353"/>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132" name="Oval 131">
            <a:extLst>
              <a:ext uri="{FF2B5EF4-FFF2-40B4-BE49-F238E27FC236}">
                <a16:creationId xmlns:a16="http://schemas.microsoft.com/office/drawing/2014/main" id="{EC613A15-21E2-12F3-AC6A-531B3B984B36}"/>
              </a:ext>
            </a:extLst>
          </p:cNvPr>
          <p:cNvSpPr/>
          <p:nvPr/>
        </p:nvSpPr>
        <p:spPr>
          <a:xfrm>
            <a:off x="2366218" y="5673710"/>
            <a:ext cx="288032" cy="288032"/>
          </a:xfrm>
          <a:prstGeom prst="ellipse">
            <a:avLst/>
          </a:prstGeom>
          <a:solidFill>
            <a:srgbClr val="0A87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133" name="Oval 132">
            <a:extLst>
              <a:ext uri="{FF2B5EF4-FFF2-40B4-BE49-F238E27FC236}">
                <a16:creationId xmlns:a16="http://schemas.microsoft.com/office/drawing/2014/main" id="{8A6A9800-802A-74BA-D9AB-07169BEC4DF4}"/>
              </a:ext>
            </a:extLst>
          </p:cNvPr>
          <p:cNvSpPr/>
          <p:nvPr/>
        </p:nvSpPr>
        <p:spPr>
          <a:xfrm>
            <a:off x="1947966" y="6024877"/>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134" name="Oval 133">
            <a:extLst>
              <a:ext uri="{FF2B5EF4-FFF2-40B4-BE49-F238E27FC236}">
                <a16:creationId xmlns:a16="http://schemas.microsoft.com/office/drawing/2014/main" id="{3D8A60EB-B3D1-A0F9-41EE-24F385BD02ED}"/>
              </a:ext>
            </a:extLst>
          </p:cNvPr>
          <p:cNvSpPr/>
          <p:nvPr/>
        </p:nvSpPr>
        <p:spPr>
          <a:xfrm>
            <a:off x="1587098" y="5686734"/>
            <a:ext cx="288032" cy="28803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dirty="0"/>
          </a:p>
        </p:txBody>
      </p:sp>
      <p:cxnSp>
        <p:nvCxnSpPr>
          <p:cNvPr id="135" name="Straight Arrow Connector 134">
            <a:extLst>
              <a:ext uri="{FF2B5EF4-FFF2-40B4-BE49-F238E27FC236}">
                <a16:creationId xmlns:a16="http://schemas.microsoft.com/office/drawing/2014/main" id="{7CDAD7D4-349E-1715-5B22-38F87C3558FD}"/>
              </a:ext>
            </a:extLst>
          </p:cNvPr>
          <p:cNvCxnSpPr>
            <a:cxnSpLocks/>
            <a:stCxn id="120" idx="3"/>
            <a:endCxn id="131" idx="7"/>
          </p:cNvCxnSpPr>
          <p:nvPr/>
        </p:nvCxnSpPr>
        <p:spPr>
          <a:xfrm flipH="1">
            <a:off x="1832949" y="4966621"/>
            <a:ext cx="157198" cy="17691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1D872B3D-068F-34BB-7991-B02B6236C1B2}"/>
              </a:ext>
            </a:extLst>
          </p:cNvPr>
          <p:cNvCxnSpPr>
            <a:cxnSpLocks/>
            <a:stCxn id="120" idx="5"/>
            <a:endCxn id="129" idx="1"/>
          </p:cNvCxnSpPr>
          <p:nvPr/>
        </p:nvCxnSpPr>
        <p:spPr>
          <a:xfrm>
            <a:off x="2193817" y="4966621"/>
            <a:ext cx="214582" cy="16388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Straight Arrow Connector 141">
            <a:extLst>
              <a:ext uri="{FF2B5EF4-FFF2-40B4-BE49-F238E27FC236}">
                <a16:creationId xmlns:a16="http://schemas.microsoft.com/office/drawing/2014/main" id="{C7ABCA83-D641-555A-8ABE-0977E05F6C0F}"/>
              </a:ext>
            </a:extLst>
          </p:cNvPr>
          <p:cNvCxnSpPr>
            <a:cxnSpLocks/>
            <a:stCxn id="131" idx="5"/>
            <a:endCxn id="130" idx="2"/>
          </p:cNvCxnSpPr>
          <p:nvPr/>
        </p:nvCxnSpPr>
        <p:spPr>
          <a:xfrm>
            <a:off x="1832949" y="5347204"/>
            <a:ext cx="115017" cy="1206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C05D907E-3C68-0C5F-DF49-DDD44F243AF9}"/>
              </a:ext>
            </a:extLst>
          </p:cNvPr>
          <p:cNvCxnSpPr>
            <a:cxnSpLocks/>
            <a:stCxn id="129" idx="3"/>
            <a:endCxn id="130" idx="6"/>
          </p:cNvCxnSpPr>
          <p:nvPr/>
        </p:nvCxnSpPr>
        <p:spPr>
          <a:xfrm flipH="1">
            <a:off x="2235998" y="5334180"/>
            <a:ext cx="172401" cy="13364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9" name="Straight Arrow Connector 148">
            <a:extLst>
              <a:ext uri="{FF2B5EF4-FFF2-40B4-BE49-F238E27FC236}">
                <a16:creationId xmlns:a16="http://schemas.microsoft.com/office/drawing/2014/main" id="{B9E82797-D05F-B396-7FE3-80E5F6DE5D9D}"/>
              </a:ext>
            </a:extLst>
          </p:cNvPr>
          <p:cNvCxnSpPr>
            <a:cxnSpLocks/>
            <a:stCxn id="130" idx="3"/>
            <a:endCxn id="134" idx="7"/>
          </p:cNvCxnSpPr>
          <p:nvPr/>
        </p:nvCxnSpPr>
        <p:spPr>
          <a:xfrm flipH="1">
            <a:off x="1832949" y="5569663"/>
            <a:ext cx="157198" cy="15925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2" name="Straight Arrow Connector 151">
            <a:extLst>
              <a:ext uri="{FF2B5EF4-FFF2-40B4-BE49-F238E27FC236}">
                <a16:creationId xmlns:a16="http://schemas.microsoft.com/office/drawing/2014/main" id="{92592409-2C56-51D9-92A2-8ABCCDE03BC2}"/>
              </a:ext>
            </a:extLst>
          </p:cNvPr>
          <p:cNvCxnSpPr>
            <a:cxnSpLocks/>
            <a:stCxn id="130" idx="5"/>
            <a:endCxn id="132" idx="1"/>
          </p:cNvCxnSpPr>
          <p:nvPr/>
        </p:nvCxnSpPr>
        <p:spPr>
          <a:xfrm>
            <a:off x="2193817" y="5569663"/>
            <a:ext cx="214582" cy="14622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5" name="Straight Arrow Connector 154">
            <a:extLst>
              <a:ext uri="{FF2B5EF4-FFF2-40B4-BE49-F238E27FC236}">
                <a16:creationId xmlns:a16="http://schemas.microsoft.com/office/drawing/2014/main" id="{691653FE-E88C-4F37-96BA-67199E2133DD}"/>
              </a:ext>
            </a:extLst>
          </p:cNvPr>
          <p:cNvCxnSpPr>
            <a:cxnSpLocks/>
            <a:stCxn id="134" idx="5"/>
            <a:endCxn id="133" idx="1"/>
          </p:cNvCxnSpPr>
          <p:nvPr/>
        </p:nvCxnSpPr>
        <p:spPr>
          <a:xfrm>
            <a:off x="1832949" y="5932585"/>
            <a:ext cx="157198" cy="13447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Straight Arrow Connector 157">
            <a:extLst>
              <a:ext uri="{FF2B5EF4-FFF2-40B4-BE49-F238E27FC236}">
                <a16:creationId xmlns:a16="http://schemas.microsoft.com/office/drawing/2014/main" id="{50E06980-0E43-710B-B7D6-853196608D1F}"/>
              </a:ext>
            </a:extLst>
          </p:cNvPr>
          <p:cNvCxnSpPr>
            <a:cxnSpLocks/>
            <a:stCxn id="132" idx="3"/>
            <a:endCxn id="133" idx="7"/>
          </p:cNvCxnSpPr>
          <p:nvPr/>
        </p:nvCxnSpPr>
        <p:spPr>
          <a:xfrm flipH="1">
            <a:off x="2193817" y="5919561"/>
            <a:ext cx="214582" cy="14749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1" name="TextBox 160">
            <a:extLst>
              <a:ext uri="{FF2B5EF4-FFF2-40B4-BE49-F238E27FC236}">
                <a16:creationId xmlns:a16="http://schemas.microsoft.com/office/drawing/2014/main" id="{8C559723-83E1-A425-E5EE-CC9692AAC882}"/>
              </a:ext>
            </a:extLst>
          </p:cNvPr>
          <p:cNvSpPr txBox="1"/>
          <p:nvPr/>
        </p:nvSpPr>
        <p:spPr>
          <a:xfrm>
            <a:off x="2915816" y="4477674"/>
            <a:ext cx="4237057" cy="1200329"/>
          </a:xfrm>
          <a:prstGeom prst="rect">
            <a:avLst/>
          </a:prstGeom>
          <a:noFill/>
        </p:spPr>
        <p:txBody>
          <a:bodyPr wrap="none" rtlCol="0">
            <a:spAutoFit/>
          </a:bodyPr>
          <a:lstStyle/>
          <a:p>
            <a:r>
              <a:rPr lang="en-NL" dirty="0"/>
              <a:t>#McCabe-TR = #independent paths = 5</a:t>
            </a:r>
          </a:p>
          <a:p>
            <a:r>
              <a:rPr lang="en-NL" dirty="0"/>
              <a:t>#tests needed to cover all edges = 2</a:t>
            </a:r>
          </a:p>
          <a:p>
            <a:r>
              <a:rPr lang="en-NL" dirty="0"/>
              <a:t>#tests needed to cover McCabe = 5</a:t>
            </a:r>
          </a:p>
          <a:p>
            <a:r>
              <a:rPr lang="en-NL" dirty="0"/>
              <a:t>#tests needed to cover all paths = 16</a:t>
            </a:r>
          </a:p>
        </p:txBody>
      </p:sp>
      <p:sp>
        <p:nvSpPr>
          <p:cNvPr id="3" name="TextBox 2">
            <a:extLst>
              <a:ext uri="{FF2B5EF4-FFF2-40B4-BE49-F238E27FC236}">
                <a16:creationId xmlns:a16="http://schemas.microsoft.com/office/drawing/2014/main" id="{253F93EB-2B56-38E1-7521-2FE7FB7D3F61}"/>
              </a:ext>
            </a:extLst>
          </p:cNvPr>
          <p:cNvSpPr txBox="1"/>
          <p:nvPr/>
        </p:nvSpPr>
        <p:spPr>
          <a:xfrm>
            <a:off x="288352" y="2354471"/>
            <a:ext cx="1159292" cy="369332"/>
          </a:xfrm>
          <a:prstGeom prst="rect">
            <a:avLst/>
          </a:prstGeom>
          <a:noFill/>
        </p:spPr>
        <p:txBody>
          <a:bodyPr wrap="none" rtlCol="0">
            <a:spAutoFit/>
          </a:bodyPr>
          <a:lstStyle/>
          <a:p>
            <a:r>
              <a:rPr lang="en-NL" dirty="0"/>
              <a:t>N=7, E=8</a:t>
            </a:r>
          </a:p>
        </p:txBody>
      </p:sp>
      <p:sp>
        <p:nvSpPr>
          <p:cNvPr id="5" name="TextBox 4">
            <a:extLst>
              <a:ext uri="{FF2B5EF4-FFF2-40B4-BE49-F238E27FC236}">
                <a16:creationId xmlns:a16="http://schemas.microsoft.com/office/drawing/2014/main" id="{3A9B096A-F76A-F56B-A447-646D9296A569}"/>
              </a:ext>
            </a:extLst>
          </p:cNvPr>
          <p:cNvSpPr txBox="1"/>
          <p:nvPr/>
        </p:nvSpPr>
        <p:spPr>
          <a:xfrm>
            <a:off x="267879" y="4744162"/>
            <a:ext cx="1415772" cy="369332"/>
          </a:xfrm>
          <a:prstGeom prst="rect">
            <a:avLst/>
          </a:prstGeom>
          <a:noFill/>
        </p:spPr>
        <p:txBody>
          <a:bodyPr wrap="none" rtlCol="0">
            <a:spAutoFit/>
          </a:bodyPr>
          <a:lstStyle/>
          <a:p>
            <a:r>
              <a:rPr lang="en-NL" dirty="0"/>
              <a:t>N=13, E=16</a:t>
            </a:r>
          </a:p>
        </p:txBody>
      </p:sp>
    </p:spTree>
    <p:extLst>
      <p:ext uri="{BB962C8B-B14F-4D97-AF65-F5344CB8AC3E}">
        <p14:creationId xmlns:p14="http://schemas.microsoft.com/office/powerpoint/2010/main" val="36102038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dirty="0"/>
              <a:t>Unfeasible test requirement</a:t>
            </a:r>
          </a:p>
        </p:txBody>
      </p:sp>
      <p:sp>
        <p:nvSpPr>
          <p:cNvPr id="23555" name="Content Placeholder 2"/>
          <p:cNvSpPr>
            <a:spLocks noGrp="1"/>
          </p:cNvSpPr>
          <p:nvPr>
            <p:ph idx="1"/>
          </p:nvPr>
        </p:nvSpPr>
        <p:spPr/>
        <p:txBody>
          <a:bodyPr/>
          <a:lstStyle/>
          <a:p>
            <a:r>
              <a:rPr lang="en-US" sz="2800" dirty="0"/>
              <a:t>A test requirement is </a:t>
            </a:r>
            <a:r>
              <a:rPr lang="en-US" sz="2800" b="1" dirty="0">
                <a:solidFill>
                  <a:schemeClr val="accent1">
                    <a:lumMod val="50000"/>
                  </a:schemeClr>
                </a:solidFill>
              </a:rPr>
              <a:t>unfeasible</a:t>
            </a:r>
            <a:r>
              <a:rPr lang="en-US" sz="2800" dirty="0"/>
              <a:t> if it turns out that there is no real execution that can cover it</a:t>
            </a:r>
          </a:p>
          <a:p>
            <a:r>
              <a:rPr lang="en-US" sz="2800" dirty="0"/>
              <a:t>For example, we cannot test a Kelvin thermometer below 0 K.</a:t>
            </a:r>
          </a:p>
        </p:txBody>
      </p:sp>
      <p:sp>
        <p:nvSpPr>
          <p:cNvPr id="4" name="Slide Number Placeholder 3"/>
          <p:cNvSpPr>
            <a:spLocks noGrp="1"/>
          </p:cNvSpPr>
          <p:nvPr>
            <p:ph type="sldNum" sz="quarter" idx="12"/>
          </p:nvPr>
        </p:nvSpPr>
        <p:spPr/>
        <p:txBody>
          <a:bodyPr/>
          <a:lstStyle/>
          <a:p>
            <a:pPr>
              <a:defRPr/>
            </a:pPr>
            <a:fld id="{5BB10AC5-3AAD-4D58-B367-DDAAF198250F}" type="slidenum">
              <a:rPr lang="en-US" smtClean="0"/>
              <a:pPr>
                <a:defRPr/>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ounded Rectangle 30">
            <a:extLst>
              <a:ext uri="{FF2B5EF4-FFF2-40B4-BE49-F238E27FC236}">
                <a16:creationId xmlns:a16="http://schemas.microsoft.com/office/drawing/2014/main" id="{79F84925-EAF9-3B4E-B83C-9FD790293386}"/>
              </a:ext>
            </a:extLst>
          </p:cNvPr>
          <p:cNvSpPr/>
          <p:nvPr/>
        </p:nvSpPr>
        <p:spPr>
          <a:xfrm>
            <a:off x="611102" y="1557997"/>
            <a:ext cx="3346503" cy="2231044"/>
          </a:xfrm>
          <a:prstGeom prst="roundRect">
            <a:avLst>
              <a:gd name="adj" fmla="val 16194"/>
            </a:avLst>
          </a:prstGeom>
          <a:solidFill>
            <a:schemeClr val="accent6">
              <a:lumMod val="60000"/>
              <a:lumOff val="40000"/>
              <a:alpha val="2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78" name="Title 1"/>
          <p:cNvSpPr>
            <a:spLocks noGrp="1"/>
          </p:cNvSpPr>
          <p:nvPr>
            <p:ph type="title"/>
          </p:nvPr>
        </p:nvSpPr>
        <p:spPr/>
        <p:txBody>
          <a:bodyPr/>
          <a:lstStyle/>
          <a:p>
            <a:r>
              <a:rPr lang="en-US"/>
              <a:t>Typical unfeasibility in loops</a:t>
            </a:r>
          </a:p>
        </p:txBody>
      </p:sp>
      <p:sp>
        <p:nvSpPr>
          <p:cNvPr id="24579" name="Content Placeholder 2"/>
          <p:cNvSpPr>
            <a:spLocks noGrp="1"/>
          </p:cNvSpPr>
          <p:nvPr>
            <p:ph idx="1"/>
          </p:nvPr>
        </p:nvSpPr>
        <p:spPr>
          <a:xfrm>
            <a:off x="500063" y="4214813"/>
            <a:ext cx="8229600" cy="2214562"/>
          </a:xfrm>
        </p:spPr>
        <p:txBody>
          <a:bodyPr/>
          <a:lstStyle/>
          <a:p>
            <a:r>
              <a:rPr lang="en-US" sz="2800" dirty="0"/>
              <a:t>Some loops </a:t>
            </a:r>
            <a:r>
              <a:rPr lang="en-US" sz="2800" i="1" u="sng" dirty="0"/>
              <a:t>always</a:t>
            </a:r>
            <a:r>
              <a:rPr lang="en-US" sz="2800" dirty="0"/>
              <a:t> iterate at least once. E.g. above if </a:t>
            </a:r>
            <a:r>
              <a:rPr lang="en-US" sz="2800" i="1" dirty="0"/>
              <a:t>a</a:t>
            </a:r>
            <a:r>
              <a:rPr lang="en-US" sz="2800" dirty="0"/>
              <a:t> is never empty </a:t>
            </a:r>
            <a:r>
              <a:rPr lang="en-US" sz="2800" dirty="0">
                <a:sym typeface="Wingdings" pitchFamily="2" charset="2"/>
              </a:rPr>
              <a:t>  prime path 125 is unfeasible.</a:t>
            </a:r>
          </a:p>
          <a:p>
            <a:r>
              <a:rPr lang="en-US" sz="2800" dirty="0"/>
              <a:t>(Def 2.37/2</a:t>
            </a:r>
            <a:r>
              <a:rPr lang="en-US" sz="2800" baseline="30000" dirty="0"/>
              <a:t>nd</a:t>
            </a:r>
            <a:r>
              <a:rPr lang="en-US" sz="2800" dirty="0"/>
              <a:t> Ed. 7.36) A test-path </a:t>
            </a:r>
            <a:r>
              <a:rPr lang="en-US" sz="2800" i="1" dirty="0"/>
              <a:t>p</a:t>
            </a:r>
            <a:r>
              <a:rPr lang="en-US" sz="2800" dirty="0"/>
              <a:t> tours </a:t>
            </a:r>
            <a:r>
              <a:rPr lang="en-US" sz="2800" i="1" dirty="0"/>
              <a:t>q </a:t>
            </a:r>
            <a:r>
              <a:rPr lang="en-US" sz="2800" i="1" u="sng" dirty="0"/>
              <a:t>with </a:t>
            </a:r>
            <a:r>
              <a:rPr lang="en-US" sz="2800" i="1" u="sng" dirty="0" err="1"/>
              <a:t>sidetrips</a:t>
            </a:r>
            <a:r>
              <a:rPr lang="en-US" sz="2800" i="1" dirty="0"/>
              <a:t> </a:t>
            </a:r>
            <a:r>
              <a:rPr lang="en-US" sz="2800" dirty="0"/>
              <a:t>if all </a:t>
            </a:r>
            <a:r>
              <a:rPr lang="en-US" sz="2800" i="1" dirty="0"/>
              <a:t>edges</a:t>
            </a:r>
            <a:r>
              <a:rPr lang="en-US" sz="2800" dirty="0"/>
              <a:t> in </a:t>
            </a:r>
            <a:r>
              <a:rPr lang="en-US" sz="2800" i="1" dirty="0"/>
              <a:t>q</a:t>
            </a:r>
            <a:r>
              <a:rPr lang="en-US" sz="2800" dirty="0"/>
              <a:t> appear in </a:t>
            </a:r>
            <a:r>
              <a:rPr lang="en-US" sz="2800" i="1" dirty="0"/>
              <a:t>p</a:t>
            </a:r>
            <a:r>
              <a:rPr lang="en-US" sz="2800" dirty="0"/>
              <a:t>, and they appear in the same order.</a:t>
            </a:r>
          </a:p>
          <a:p>
            <a:endParaRPr lang="en-US" sz="2800" dirty="0">
              <a:sym typeface="Wingdings" pitchFamily="2" charset="2"/>
            </a:endParaRPr>
          </a:p>
        </p:txBody>
      </p:sp>
      <p:sp>
        <p:nvSpPr>
          <p:cNvPr id="4" name="Slide Number Placeholder 3"/>
          <p:cNvSpPr>
            <a:spLocks noGrp="1"/>
          </p:cNvSpPr>
          <p:nvPr>
            <p:ph type="sldNum" sz="quarter" idx="12"/>
          </p:nvPr>
        </p:nvSpPr>
        <p:spPr/>
        <p:txBody>
          <a:bodyPr/>
          <a:lstStyle/>
          <a:p>
            <a:pPr>
              <a:defRPr/>
            </a:pPr>
            <a:fld id="{53736F01-FBB6-440E-89CC-3576731DED0B}" type="slidenum">
              <a:rPr lang="en-US" smtClean="0"/>
              <a:pPr>
                <a:defRPr/>
              </a:pPr>
              <a:t>39</a:t>
            </a:fld>
            <a:endParaRPr lang="en-US"/>
          </a:p>
        </p:txBody>
      </p:sp>
      <p:sp>
        <p:nvSpPr>
          <p:cNvPr id="24581" name="TextBox 4"/>
          <p:cNvSpPr txBox="1">
            <a:spLocks noChangeArrowheads="1"/>
          </p:cNvSpPr>
          <p:nvPr/>
        </p:nvSpPr>
        <p:spPr bwMode="auto">
          <a:xfrm>
            <a:off x="1143000" y="2000250"/>
            <a:ext cx="184150" cy="369888"/>
          </a:xfrm>
          <a:prstGeom prst="rect">
            <a:avLst/>
          </a:prstGeom>
          <a:noFill/>
          <a:ln w="9525">
            <a:noFill/>
            <a:miter lim="800000"/>
            <a:headEnd/>
            <a:tailEnd/>
          </a:ln>
        </p:spPr>
        <p:txBody>
          <a:bodyPr wrap="none">
            <a:spAutoFit/>
          </a:bodyPr>
          <a:lstStyle/>
          <a:p>
            <a:endParaRPr lang="en-US"/>
          </a:p>
        </p:txBody>
      </p:sp>
      <p:sp>
        <p:nvSpPr>
          <p:cNvPr id="6" name="TextBox 5"/>
          <p:cNvSpPr txBox="1"/>
          <p:nvPr/>
        </p:nvSpPr>
        <p:spPr>
          <a:xfrm>
            <a:off x="928688" y="1704975"/>
            <a:ext cx="2773362" cy="1938338"/>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a:defRPr/>
            </a:pPr>
            <a:r>
              <a:rPr lang="en-US" sz="2400" dirty="0" err="1"/>
              <a:t>i</a:t>
            </a:r>
            <a:r>
              <a:rPr lang="en-US" sz="2400" dirty="0"/>
              <a:t> = a.length-1 ;</a:t>
            </a:r>
          </a:p>
          <a:p>
            <a:pPr>
              <a:defRPr/>
            </a:pPr>
            <a:r>
              <a:rPr lang="en-US" sz="2400" b="1" dirty="0">
                <a:solidFill>
                  <a:schemeClr val="accent6">
                    <a:lumMod val="75000"/>
                  </a:schemeClr>
                </a:solidFill>
              </a:rPr>
              <a:t>while</a:t>
            </a:r>
            <a:r>
              <a:rPr lang="en-US" sz="2400" dirty="0"/>
              <a:t> (i</a:t>
            </a:r>
            <a:r>
              <a:rPr lang="en-US" sz="2400" dirty="0">
                <a:sym typeface="Symbol"/>
              </a:rPr>
              <a:t></a:t>
            </a:r>
            <a:r>
              <a:rPr lang="en-US" sz="2400" dirty="0"/>
              <a:t>0)  {</a:t>
            </a:r>
            <a:br>
              <a:rPr lang="en-US" sz="2400" dirty="0"/>
            </a:br>
            <a:r>
              <a:rPr lang="en-US" sz="2400" dirty="0"/>
              <a:t>    </a:t>
            </a:r>
            <a:r>
              <a:rPr lang="en-US" sz="2400" b="1" dirty="0">
                <a:solidFill>
                  <a:schemeClr val="accent6">
                    <a:lumMod val="75000"/>
                  </a:schemeClr>
                </a:solidFill>
              </a:rPr>
              <a:t>if</a:t>
            </a:r>
            <a:r>
              <a:rPr lang="en-US" sz="2400" dirty="0"/>
              <a:t> (a[</a:t>
            </a:r>
            <a:r>
              <a:rPr lang="en-US" sz="2400" dirty="0" err="1"/>
              <a:t>i</a:t>
            </a:r>
            <a:r>
              <a:rPr lang="en-US" sz="2400" dirty="0"/>
              <a:t>]==0)  </a:t>
            </a:r>
            <a:r>
              <a:rPr lang="en-US" sz="2400" b="1" dirty="0">
                <a:solidFill>
                  <a:schemeClr val="accent6">
                    <a:lumMod val="75000"/>
                  </a:schemeClr>
                </a:solidFill>
              </a:rPr>
              <a:t>break</a:t>
            </a:r>
            <a:r>
              <a:rPr lang="en-US" sz="2400" dirty="0"/>
              <a:t> ;</a:t>
            </a:r>
          </a:p>
          <a:p>
            <a:pPr>
              <a:defRPr/>
            </a:pPr>
            <a:r>
              <a:rPr lang="en-US" sz="2400" dirty="0"/>
              <a:t>    </a:t>
            </a:r>
            <a:r>
              <a:rPr lang="en-US" sz="2400" dirty="0" err="1"/>
              <a:t>i</a:t>
            </a:r>
            <a:r>
              <a:rPr lang="en-US" sz="2400" dirty="0"/>
              <a:t>--</a:t>
            </a:r>
          </a:p>
          <a:p>
            <a:pPr>
              <a:defRPr/>
            </a:pPr>
            <a:r>
              <a:rPr lang="en-US" sz="2400" dirty="0"/>
              <a:t>}</a:t>
            </a:r>
          </a:p>
        </p:txBody>
      </p:sp>
      <p:grpSp>
        <p:nvGrpSpPr>
          <p:cNvPr id="24585" name="Group 9"/>
          <p:cNvGrpSpPr>
            <a:grpSpLocks/>
          </p:cNvGrpSpPr>
          <p:nvPr/>
        </p:nvGrpSpPr>
        <p:grpSpPr bwMode="auto">
          <a:xfrm>
            <a:off x="5954713" y="1833563"/>
            <a:ext cx="555625" cy="469900"/>
            <a:chOff x="4738" y="2684"/>
            <a:chExt cx="350" cy="296"/>
          </a:xfrm>
        </p:grpSpPr>
        <p:sp>
          <p:nvSpPr>
            <p:cNvPr id="24601" name="Oval 10"/>
            <p:cNvSpPr>
              <a:spLocks noChangeArrowheads="1"/>
            </p:cNvSpPr>
            <p:nvPr/>
          </p:nvSpPr>
          <p:spPr bwMode="auto">
            <a:xfrm>
              <a:off x="47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24602" name="Text Box 11"/>
            <p:cNvSpPr txBox="1">
              <a:spLocks noChangeArrowheads="1"/>
            </p:cNvSpPr>
            <p:nvPr/>
          </p:nvSpPr>
          <p:spPr bwMode="auto">
            <a:xfrm>
              <a:off x="4815" y="2707"/>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2</a:t>
              </a:r>
            </a:p>
          </p:txBody>
        </p:sp>
      </p:grpSp>
      <p:grpSp>
        <p:nvGrpSpPr>
          <p:cNvPr id="24586" name="Group 12"/>
          <p:cNvGrpSpPr>
            <a:grpSpLocks/>
          </p:cNvGrpSpPr>
          <p:nvPr/>
        </p:nvGrpSpPr>
        <p:grpSpPr bwMode="auto">
          <a:xfrm>
            <a:off x="4837113" y="1835151"/>
            <a:ext cx="555625" cy="469900"/>
            <a:chOff x="3838" y="2684"/>
            <a:chExt cx="350" cy="296"/>
          </a:xfrm>
        </p:grpSpPr>
        <p:sp>
          <p:nvSpPr>
            <p:cNvPr id="24599" name="Oval 13"/>
            <p:cNvSpPr>
              <a:spLocks noChangeArrowheads="1"/>
            </p:cNvSpPr>
            <p:nvPr/>
          </p:nvSpPr>
          <p:spPr bwMode="auto">
            <a:xfrm>
              <a:off x="38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24600" name="Text Box 14"/>
            <p:cNvSpPr txBox="1">
              <a:spLocks noChangeArrowheads="1"/>
            </p:cNvSpPr>
            <p:nvPr/>
          </p:nvSpPr>
          <p:spPr bwMode="auto">
            <a:xfrm>
              <a:off x="3915" y="2707"/>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1</a:t>
              </a:r>
            </a:p>
          </p:txBody>
        </p:sp>
      </p:grpSp>
      <p:sp>
        <p:nvSpPr>
          <p:cNvPr id="24587" name="Line 18"/>
          <p:cNvSpPr>
            <a:spLocks noChangeShapeType="1"/>
          </p:cNvSpPr>
          <p:nvPr/>
        </p:nvSpPr>
        <p:spPr bwMode="auto">
          <a:xfrm flipV="1">
            <a:off x="6513513" y="2306638"/>
            <a:ext cx="711200" cy="611188"/>
          </a:xfrm>
          <a:prstGeom prst="line">
            <a:avLst/>
          </a:prstGeom>
          <a:noFill/>
          <a:ln w="19050">
            <a:solidFill>
              <a:schemeClr val="tx1"/>
            </a:solidFill>
            <a:round/>
            <a:headEnd type="none" w="sm" len="sm"/>
            <a:tailEnd type="arrow" w="med" len="med"/>
          </a:ln>
        </p:spPr>
        <p:txBody>
          <a:bodyPr/>
          <a:lstStyle/>
          <a:p>
            <a:endParaRPr lang="en-US"/>
          </a:p>
        </p:txBody>
      </p:sp>
      <p:grpSp>
        <p:nvGrpSpPr>
          <p:cNvPr id="24588" name="Group 20"/>
          <p:cNvGrpSpPr>
            <a:grpSpLocks/>
          </p:cNvGrpSpPr>
          <p:nvPr/>
        </p:nvGrpSpPr>
        <p:grpSpPr bwMode="auto">
          <a:xfrm>
            <a:off x="5954713" y="2744788"/>
            <a:ext cx="555625" cy="469900"/>
            <a:chOff x="4288" y="1746"/>
            <a:chExt cx="350" cy="296"/>
          </a:xfrm>
        </p:grpSpPr>
        <p:sp>
          <p:nvSpPr>
            <p:cNvPr id="24597" name="Oval 21"/>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24598" name="Text Box 22"/>
            <p:cNvSpPr txBox="1">
              <a:spLocks noChangeArrowheads="1"/>
            </p:cNvSpPr>
            <p:nvPr/>
          </p:nvSpPr>
          <p:spPr bwMode="auto">
            <a:xfrm>
              <a:off x="4364" y="1769"/>
              <a:ext cx="197" cy="233"/>
            </a:xfrm>
            <a:prstGeom prst="rect">
              <a:avLst/>
            </a:prstGeom>
            <a:noFill/>
            <a:ln w="12700">
              <a:noFill/>
              <a:miter lim="800000"/>
              <a:headEnd type="none" w="sm" len="sm"/>
              <a:tailEnd type="none" w="sm" len="sm"/>
            </a:ln>
          </p:spPr>
          <p:txBody>
            <a:bodyPr wrap="none">
              <a:spAutoFit/>
            </a:bodyPr>
            <a:lstStyle/>
            <a:p>
              <a:pPr algn="r"/>
              <a:r>
                <a:rPr lang="en-US">
                  <a:solidFill>
                    <a:srgbClr val="FFFF00"/>
                  </a:solidFill>
                </a:rPr>
                <a:t>3</a:t>
              </a:r>
            </a:p>
          </p:txBody>
        </p:sp>
      </p:grpSp>
      <p:grpSp>
        <p:nvGrpSpPr>
          <p:cNvPr id="24589" name="Group 27"/>
          <p:cNvGrpSpPr>
            <a:grpSpLocks/>
          </p:cNvGrpSpPr>
          <p:nvPr/>
        </p:nvGrpSpPr>
        <p:grpSpPr bwMode="auto">
          <a:xfrm>
            <a:off x="7088188" y="1835151"/>
            <a:ext cx="555625" cy="469900"/>
            <a:chOff x="3838" y="2684"/>
            <a:chExt cx="350" cy="296"/>
          </a:xfrm>
        </p:grpSpPr>
        <p:sp>
          <p:nvSpPr>
            <p:cNvPr id="24595" name="Oval 28"/>
            <p:cNvSpPr>
              <a:spLocks noChangeArrowheads="1"/>
            </p:cNvSpPr>
            <p:nvPr/>
          </p:nvSpPr>
          <p:spPr bwMode="auto">
            <a:xfrm>
              <a:off x="3838" y="2684"/>
              <a:ext cx="350" cy="296"/>
            </a:xfrm>
            <a:prstGeom prst="ellipse">
              <a:avLst/>
            </a:prstGeom>
            <a:solidFill>
              <a:schemeClr val="accent2"/>
            </a:solidFill>
            <a:ln w="19050">
              <a:solidFill>
                <a:schemeClr val="tx1"/>
              </a:solidFill>
              <a:round/>
              <a:headEnd type="none" w="sm" len="sm"/>
              <a:tailEnd type="none" w="sm" len="sm"/>
            </a:ln>
          </p:spPr>
          <p:txBody>
            <a:bodyPr wrap="none" anchor="ctr"/>
            <a:lstStyle/>
            <a:p>
              <a:endParaRPr lang="nl-NL">
                <a:solidFill>
                  <a:schemeClr val="bg1"/>
                </a:solidFill>
              </a:endParaRPr>
            </a:p>
          </p:txBody>
        </p:sp>
        <p:sp>
          <p:nvSpPr>
            <p:cNvPr id="24596" name="Text Box 29"/>
            <p:cNvSpPr txBox="1">
              <a:spLocks noChangeArrowheads="1"/>
            </p:cNvSpPr>
            <p:nvPr/>
          </p:nvSpPr>
          <p:spPr bwMode="auto">
            <a:xfrm>
              <a:off x="3915" y="2707"/>
              <a:ext cx="197" cy="233"/>
            </a:xfrm>
            <a:prstGeom prst="rect">
              <a:avLst/>
            </a:prstGeom>
            <a:noFill/>
            <a:ln w="12700">
              <a:noFill/>
              <a:miter lim="800000"/>
              <a:headEnd type="none" w="sm" len="sm"/>
              <a:tailEnd type="none" w="sm" len="sm"/>
            </a:ln>
          </p:spPr>
          <p:txBody>
            <a:bodyPr wrap="none">
              <a:spAutoFit/>
            </a:bodyPr>
            <a:lstStyle/>
            <a:p>
              <a:r>
                <a:rPr lang="en-US" dirty="0">
                  <a:solidFill>
                    <a:schemeClr val="bg1"/>
                  </a:solidFill>
                </a:rPr>
                <a:t>5</a:t>
              </a:r>
            </a:p>
          </p:txBody>
        </p:sp>
      </p:grpSp>
      <p:sp>
        <p:nvSpPr>
          <p:cNvPr id="24590" name="Line 34"/>
          <p:cNvSpPr>
            <a:spLocks noChangeShapeType="1"/>
          </p:cNvSpPr>
          <p:nvPr/>
        </p:nvSpPr>
        <p:spPr bwMode="auto">
          <a:xfrm flipH="1">
            <a:off x="6228184" y="2303398"/>
            <a:ext cx="3175" cy="446088"/>
          </a:xfrm>
          <a:prstGeom prst="line">
            <a:avLst/>
          </a:prstGeom>
          <a:noFill/>
          <a:ln w="19050">
            <a:solidFill>
              <a:schemeClr val="tx1"/>
            </a:solidFill>
            <a:round/>
            <a:headEnd type="none" w="sm" len="sm"/>
            <a:tailEnd type="arrow" w="med" len="med"/>
          </a:ln>
        </p:spPr>
        <p:txBody>
          <a:bodyPr/>
          <a:lstStyle/>
          <a:p>
            <a:endParaRPr lang="en-US"/>
          </a:p>
        </p:txBody>
      </p:sp>
      <p:sp>
        <p:nvSpPr>
          <p:cNvPr id="24591" name="Line 37"/>
          <p:cNvSpPr>
            <a:spLocks noChangeShapeType="1"/>
          </p:cNvSpPr>
          <p:nvPr/>
        </p:nvSpPr>
        <p:spPr bwMode="auto">
          <a:xfrm>
            <a:off x="4276725" y="2070101"/>
            <a:ext cx="531813" cy="0"/>
          </a:xfrm>
          <a:prstGeom prst="line">
            <a:avLst/>
          </a:prstGeom>
          <a:noFill/>
          <a:ln w="19050">
            <a:solidFill>
              <a:schemeClr val="tx1"/>
            </a:solidFill>
            <a:round/>
            <a:headEnd type="none" w="sm" len="sm"/>
            <a:tailEnd type="arrow" w="med" len="med"/>
          </a:ln>
        </p:spPr>
        <p:txBody>
          <a:bodyPr/>
          <a:lstStyle/>
          <a:p>
            <a:endParaRPr lang="en-US"/>
          </a:p>
        </p:txBody>
      </p:sp>
      <p:sp>
        <p:nvSpPr>
          <p:cNvPr id="24592" name="Line 39"/>
          <p:cNvSpPr>
            <a:spLocks noChangeShapeType="1"/>
          </p:cNvSpPr>
          <p:nvPr/>
        </p:nvSpPr>
        <p:spPr bwMode="auto">
          <a:xfrm>
            <a:off x="6521450" y="2068513"/>
            <a:ext cx="531813" cy="0"/>
          </a:xfrm>
          <a:prstGeom prst="line">
            <a:avLst/>
          </a:prstGeom>
          <a:noFill/>
          <a:ln w="19050">
            <a:solidFill>
              <a:schemeClr val="tx1"/>
            </a:solidFill>
            <a:round/>
            <a:headEnd type="none" w="sm" len="sm"/>
            <a:tailEnd type="arrow" w="med" len="med"/>
          </a:ln>
        </p:spPr>
        <p:txBody>
          <a:bodyPr/>
          <a:lstStyle/>
          <a:p>
            <a:endParaRPr lang="en-US"/>
          </a:p>
        </p:txBody>
      </p:sp>
      <p:sp>
        <p:nvSpPr>
          <p:cNvPr id="24593" name="Line 40"/>
          <p:cNvSpPr>
            <a:spLocks noChangeShapeType="1"/>
          </p:cNvSpPr>
          <p:nvPr/>
        </p:nvSpPr>
        <p:spPr bwMode="auto">
          <a:xfrm>
            <a:off x="5405438" y="2068513"/>
            <a:ext cx="531813" cy="0"/>
          </a:xfrm>
          <a:prstGeom prst="line">
            <a:avLst/>
          </a:prstGeom>
          <a:noFill/>
          <a:ln w="19050">
            <a:solidFill>
              <a:schemeClr val="tx1"/>
            </a:solidFill>
            <a:round/>
            <a:headEnd type="none" w="sm" len="sm"/>
            <a:tailEnd type="arrow" w="med" len="med"/>
          </a:ln>
        </p:spPr>
        <p:txBody>
          <a:bodyPr/>
          <a:lstStyle/>
          <a:p>
            <a:endParaRPr lang="en-US"/>
          </a:p>
        </p:txBody>
      </p:sp>
      <p:sp>
        <p:nvSpPr>
          <p:cNvPr id="24594" name="Line 41"/>
          <p:cNvSpPr>
            <a:spLocks noChangeShapeType="1"/>
          </p:cNvSpPr>
          <p:nvPr/>
        </p:nvSpPr>
        <p:spPr bwMode="auto">
          <a:xfrm>
            <a:off x="5435570" y="2980628"/>
            <a:ext cx="501681" cy="0"/>
          </a:xfrm>
          <a:prstGeom prst="line">
            <a:avLst/>
          </a:prstGeom>
          <a:noFill/>
          <a:ln w="19050">
            <a:solidFill>
              <a:schemeClr val="tx1"/>
            </a:solidFill>
            <a:round/>
            <a:headEnd type="arrow" w="med" len="med"/>
            <a:tailEnd/>
          </a:ln>
        </p:spPr>
        <p:txBody>
          <a:bodyPr/>
          <a:lstStyle/>
          <a:p>
            <a:endParaRPr lang="en-US"/>
          </a:p>
        </p:txBody>
      </p:sp>
      <p:sp>
        <p:nvSpPr>
          <p:cNvPr id="26" name="TextBox 25"/>
          <p:cNvSpPr txBox="1"/>
          <p:nvPr/>
        </p:nvSpPr>
        <p:spPr>
          <a:xfrm>
            <a:off x="4429125" y="3357563"/>
            <a:ext cx="4143375" cy="708025"/>
          </a:xfrm>
          <a:prstGeom prst="rect">
            <a:avLst/>
          </a:prstGeom>
          <a:noFill/>
          <a:ln>
            <a:solidFill>
              <a:schemeClr val="accent6">
                <a:lumMod val="40000"/>
                <a:lumOff val="60000"/>
              </a:schemeClr>
            </a:solidFill>
          </a:ln>
        </p:spPr>
        <p:txBody>
          <a:bodyPr>
            <a:spAutoFit/>
          </a:bodyPr>
          <a:lstStyle/>
          <a:p>
            <a:pPr>
              <a:defRPr/>
            </a:pPr>
            <a:r>
              <a:rPr lang="en-US" sz="2000" dirty="0">
                <a:latin typeface="+mn-lt"/>
              </a:rPr>
              <a:t>123425 does not tour 125,  but with </a:t>
            </a:r>
            <a:r>
              <a:rPr lang="en-US" sz="2000" dirty="0" err="1">
                <a:latin typeface="+mn-lt"/>
              </a:rPr>
              <a:t>sidetrips</a:t>
            </a:r>
            <a:r>
              <a:rPr lang="en-US" sz="2000" dirty="0">
                <a:latin typeface="+mn-lt"/>
              </a:rPr>
              <a:t> it does.</a:t>
            </a:r>
          </a:p>
        </p:txBody>
      </p:sp>
      <p:grpSp>
        <p:nvGrpSpPr>
          <p:cNvPr id="27" name="Group 20"/>
          <p:cNvGrpSpPr>
            <a:grpSpLocks/>
          </p:cNvGrpSpPr>
          <p:nvPr/>
        </p:nvGrpSpPr>
        <p:grpSpPr bwMode="auto">
          <a:xfrm>
            <a:off x="4910106" y="2738438"/>
            <a:ext cx="555625" cy="469900"/>
            <a:chOff x="4288" y="1746"/>
            <a:chExt cx="350" cy="296"/>
          </a:xfrm>
        </p:grpSpPr>
        <p:sp>
          <p:nvSpPr>
            <p:cNvPr id="28" name="Oval 21"/>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29" name="Text Box 22"/>
            <p:cNvSpPr txBox="1">
              <a:spLocks noChangeArrowheads="1"/>
            </p:cNvSpPr>
            <p:nvPr/>
          </p:nvSpPr>
          <p:spPr bwMode="auto">
            <a:xfrm>
              <a:off x="4364" y="1769"/>
              <a:ext cx="197" cy="233"/>
            </a:xfrm>
            <a:prstGeom prst="rect">
              <a:avLst/>
            </a:prstGeom>
            <a:noFill/>
            <a:ln w="12700">
              <a:noFill/>
              <a:miter lim="800000"/>
              <a:headEnd type="none" w="sm" len="sm"/>
              <a:tailEnd type="none" w="sm" len="sm"/>
            </a:ln>
          </p:spPr>
          <p:txBody>
            <a:bodyPr wrap="none">
              <a:spAutoFit/>
            </a:bodyPr>
            <a:lstStyle/>
            <a:p>
              <a:pPr algn="r"/>
              <a:r>
                <a:rPr lang="en-US" dirty="0">
                  <a:solidFill>
                    <a:srgbClr val="FFFF00"/>
                  </a:solidFill>
                </a:rPr>
                <a:t>4</a:t>
              </a:r>
            </a:p>
          </p:txBody>
        </p:sp>
      </p:grpSp>
      <p:sp>
        <p:nvSpPr>
          <p:cNvPr id="30" name="Line 41"/>
          <p:cNvSpPr>
            <a:spLocks noChangeShapeType="1"/>
          </p:cNvSpPr>
          <p:nvPr/>
        </p:nvSpPr>
        <p:spPr bwMode="auto">
          <a:xfrm flipH="1">
            <a:off x="5435569" y="2266951"/>
            <a:ext cx="604835" cy="514350"/>
          </a:xfrm>
          <a:prstGeom prst="line">
            <a:avLst/>
          </a:prstGeom>
          <a:noFill/>
          <a:ln w="19050">
            <a:solidFill>
              <a:schemeClr val="tx1"/>
            </a:solidFill>
            <a:round/>
            <a:headEnd type="arrow" w="med" len="med"/>
            <a:tailEn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sz="4000"/>
              <a:t>Generalizing Graph-based Coverage Criterion (CC)</a:t>
            </a:r>
          </a:p>
        </p:txBody>
      </p:sp>
      <p:sp>
        <p:nvSpPr>
          <p:cNvPr id="25603" name="Content Placeholder 2"/>
          <p:cNvSpPr>
            <a:spLocks noGrp="1"/>
          </p:cNvSpPr>
          <p:nvPr>
            <p:ph idx="1"/>
          </p:nvPr>
        </p:nvSpPr>
        <p:spPr/>
        <p:txBody>
          <a:bodyPr/>
          <a:lstStyle/>
          <a:p>
            <a:r>
              <a:rPr lang="en-US" sz="2800"/>
              <a:t>Obviously, sidetrip is weaker that strict touring.</a:t>
            </a:r>
          </a:p>
          <a:p>
            <a:r>
              <a:rPr lang="en-US" sz="2800"/>
              <a:t>Every CC we have so far (C2.1, 2.2, 2.3, 2.4, 2.7) can be thought to be parameterized by the used concept of “tour”.  We can opt to use a weaker “tour”, suggesting this strategy:</a:t>
            </a:r>
          </a:p>
          <a:p>
            <a:pPr lvl="1"/>
            <a:r>
              <a:rPr lang="en-US"/>
              <a:t>First try to meet your CC with the strongest concept of tour.</a:t>
            </a:r>
          </a:p>
          <a:p>
            <a:pPr lvl="1"/>
            <a:r>
              <a:rPr lang="en-US"/>
              <a:t>If you still have some paths uncovered which you suspect to be unfeasible, try again with a weaker touring.</a:t>
            </a:r>
          </a:p>
        </p:txBody>
      </p:sp>
      <p:sp>
        <p:nvSpPr>
          <p:cNvPr id="4" name="Slide Number Placeholder 3"/>
          <p:cNvSpPr>
            <a:spLocks noGrp="1"/>
          </p:cNvSpPr>
          <p:nvPr>
            <p:ph type="sldNum" sz="quarter" idx="12"/>
          </p:nvPr>
        </p:nvSpPr>
        <p:spPr/>
        <p:txBody>
          <a:bodyPr/>
          <a:lstStyle/>
          <a:p>
            <a:pPr>
              <a:defRPr/>
            </a:pPr>
            <a:fld id="{640C99C3-8FA1-411F-85F1-8978CE65C14D}" type="slidenum">
              <a:rPr lang="en-US" smtClean="0"/>
              <a:pPr>
                <a:defRPr/>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ounded Rectangle 46">
            <a:extLst>
              <a:ext uri="{FF2B5EF4-FFF2-40B4-BE49-F238E27FC236}">
                <a16:creationId xmlns:a16="http://schemas.microsoft.com/office/drawing/2014/main" id="{6614408A-0A31-D847-BAF8-3ADFB1443064}"/>
              </a:ext>
            </a:extLst>
          </p:cNvPr>
          <p:cNvSpPr/>
          <p:nvPr/>
        </p:nvSpPr>
        <p:spPr>
          <a:xfrm>
            <a:off x="611102" y="1557997"/>
            <a:ext cx="3346503" cy="2170728"/>
          </a:xfrm>
          <a:prstGeom prst="roundRect">
            <a:avLst>
              <a:gd name="adj" fmla="val 16194"/>
            </a:avLst>
          </a:prstGeom>
          <a:solidFill>
            <a:schemeClr val="accent6">
              <a:lumMod val="60000"/>
              <a:lumOff val="40000"/>
              <a:alpha val="2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26" name="Title 1"/>
          <p:cNvSpPr>
            <a:spLocks noGrp="1"/>
          </p:cNvSpPr>
          <p:nvPr>
            <p:ph type="title"/>
          </p:nvPr>
        </p:nvSpPr>
        <p:spPr/>
        <p:txBody>
          <a:bodyPr/>
          <a:lstStyle/>
          <a:p>
            <a:r>
              <a:rPr lang="en-US"/>
              <a:t>Oh, another scenario...</a:t>
            </a:r>
          </a:p>
        </p:txBody>
      </p:sp>
      <p:sp>
        <p:nvSpPr>
          <p:cNvPr id="26627" name="Content Placeholder 2"/>
          <p:cNvSpPr>
            <a:spLocks noGrp="1"/>
          </p:cNvSpPr>
          <p:nvPr>
            <p:ph idx="1"/>
          </p:nvPr>
        </p:nvSpPr>
        <p:spPr>
          <a:xfrm>
            <a:off x="457200" y="3729675"/>
            <a:ext cx="8229600" cy="2625725"/>
          </a:xfrm>
        </p:spPr>
        <p:txBody>
          <a:bodyPr/>
          <a:lstStyle/>
          <a:p>
            <a:r>
              <a:rPr lang="en-US" sz="2400" dirty="0"/>
              <a:t>Often, loops always break in the middle. E.g. above if </a:t>
            </a:r>
            <a:r>
              <a:rPr lang="en-US" sz="2400" i="1" dirty="0"/>
              <a:t>a</a:t>
            </a:r>
            <a:r>
              <a:rPr lang="en-US" sz="2400" dirty="0"/>
              <a:t> always contain a 0</a:t>
            </a:r>
            <a:r>
              <a:rPr lang="en-US" sz="2400" dirty="0">
                <a:sym typeface="Wingdings" pitchFamily="2" charset="2"/>
              </a:rPr>
              <a:t>, then 125 is infeasible. </a:t>
            </a:r>
          </a:p>
          <a:p>
            <a:r>
              <a:rPr lang="en-US" sz="2400" dirty="0">
                <a:sym typeface="Wingdings" pitchFamily="2" charset="2"/>
              </a:rPr>
              <a:t>Notice: e.g. 1235 does </a:t>
            </a:r>
            <a:r>
              <a:rPr lang="en-US" sz="2400" b="1" dirty="0">
                <a:sym typeface="Wingdings" pitchFamily="2" charset="2"/>
              </a:rPr>
              <a:t>not</a:t>
            </a:r>
            <a:r>
              <a:rPr lang="en-US" sz="2400" dirty="0">
                <a:sym typeface="Wingdings" pitchFamily="2" charset="2"/>
              </a:rPr>
              <a:t> tour 125, not even with </a:t>
            </a:r>
            <a:r>
              <a:rPr lang="en-US" sz="2400" dirty="0" err="1">
                <a:sym typeface="Wingdings" pitchFamily="2" charset="2"/>
              </a:rPr>
              <a:t>sidetrip</a:t>
            </a:r>
            <a:r>
              <a:rPr lang="en-US" sz="2400" dirty="0">
                <a:sym typeface="Wingdings" pitchFamily="2" charset="2"/>
              </a:rPr>
              <a:t>!</a:t>
            </a:r>
            <a:endParaRPr lang="en-US" sz="2400" dirty="0"/>
          </a:p>
          <a:p>
            <a:r>
              <a:rPr lang="en-US" sz="2400" dirty="0"/>
              <a:t>(Def 2.38/2</a:t>
            </a:r>
            <a:r>
              <a:rPr lang="en-US" sz="2400" baseline="30000" dirty="0"/>
              <a:t>nd</a:t>
            </a:r>
            <a:r>
              <a:rPr lang="en-US" sz="2400" dirty="0"/>
              <a:t> Ed. 7.37) A test-path </a:t>
            </a:r>
            <a:r>
              <a:rPr lang="en-US" sz="2400" i="1" dirty="0"/>
              <a:t>p</a:t>
            </a:r>
            <a:r>
              <a:rPr lang="en-US" sz="2400" dirty="0"/>
              <a:t> tours </a:t>
            </a:r>
            <a:r>
              <a:rPr lang="en-US" sz="2400" i="1" dirty="0"/>
              <a:t>q </a:t>
            </a:r>
            <a:r>
              <a:rPr lang="en-US" sz="2400" i="1" u="sng" dirty="0"/>
              <a:t>with detours</a:t>
            </a:r>
            <a:r>
              <a:rPr lang="en-US" sz="2400" dirty="0"/>
              <a:t> if all nodes in </a:t>
            </a:r>
            <a:r>
              <a:rPr lang="en-US" sz="2400" i="1" dirty="0"/>
              <a:t>q</a:t>
            </a:r>
            <a:r>
              <a:rPr lang="en-US" sz="2400" dirty="0"/>
              <a:t> appear in </a:t>
            </a:r>
            <a:r>
              <a:rPr lang="en-US" sz="2400" i="1" dirty="0"/>
              <a:t>p</a:t>
            </a:r>
            <a:r>
              <a:rPr lang="en-US" sz="2400" dirty="0"/>
              <a:t>, and they appear in the same order (</a:t>
            </a:r>
            <a:r>
              <a:rPr lang="en-US" sz="2400" i="1" dirty="0"/>
              <a:t>q</a:t>
            </a:r>
            <a:r>
              <a:rPr lang="en-US" sz="2400" dirty="0"/>
              <a:t> is a subsequence of </a:t>
            </a:r>
            <a:r>
              <a:rPr lang="en-US" sz="2400" i="1" dirty="0"/>
              <a:t>p</a:t>
            </a:r>
            <a:r>
              <a:rPr lang="en-US" sz="2400" dirty="0"/>
              <a:t>).</a:t>
            </a:r>
          </a:p>
          <a:p>
            <a:r>
              <a:rPr lang="en-US" sz="2400" dirty="0"/>
              <a:t>Weaker than </a:t>
            </a:r>
            <a:r>
              <a:rPr lang="en-US" sz="2400" dirty="0" err="1"/>
              <a:t>sidetrip</a:t>
            </a:r>
            <a:r>
              <a:rPr lang="en-US" sz="2400" dirty="0"/>
              <a:t>.</a:t>
            </a:r>
          </a:p>
          <a:p>
            <a:endParaRPr lang="en-US" sz="2400" dirty="0"/>
          </a:p>
        </p:txBody>
      </p:sp>
      <p:sp>
        <p:nvSpPr>
          <p:cNvPr id="4" name="Slide Number Placeholder 3"/>
          <p:cNvSpPr>
            <a:spLocks noGrp="1"/>
          </p:cNvSpPr>
          <p:nvPr>
            <p:ph type="sldNum" sz="quarter" idx="12"/>
          </p:nvPr>
        </p:nvSpPr>
        <p:spPr/>
        <p:txBody>
          <a:bodyPr/>
          <a:lstStyle/>
          <a:p>
            <a:pPr>
              <a:defRPr/>
            </a:pPr>
            <a:fld id="{B0CAEF6F-E436-4006-9493-0140187A0237}" type="slidenum">
              <a:rPr lang="en-US" smtClean="0"/>
              <a:pPr>
                <a:defRPr/>
              </a:pPr>
              <a:t>41</a:t>
            </a:fld>
            <a:endParaRPr lang="en-US"/>
          </a:p>
        </p:txBody>
      </p:sp>
      <p:grpSp>
        <p:nvGrpSpPr>
          <p:cNvPr id="24" name="Group 9"/>
          <p:cNvGrpSpPr>
            <a:grpSpLocks/>
          </p:cNvGrpSpPr>
          <p:nvPr/>
        </p:nvGrpSpPr>
        <p:grpSpPr bwMode="auto">
          <a:xfrm>
            <a:off x="6174829" y="1886269"/>
            <a:ext cx="555625" cy="469900"/>
            <a:chOff x="4738" y="2684"/>
            <a:chExt cx="350" cy="296"/>
          </a:xfrm>
        </p:grpSpPr>
        <p:sp>
          <p:nvSpPr>
            <p:cNvPr id="25" name="Oval 10"/>
            <p:cNvSpPr>
              <a:spLocks noChangeArrowheads="1"/>
            </p:cNvSpPr>
            <p:nvPr/>
          </p:nvSpPr>
          <p:spPr bwMode="auto">
            <a:xfrm>
              <a:off x="47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26" name="Text Box 11"/>
            <p:cNvSpPr txBox="1">
              <a:spLocks noChangeArrowheads="1"/>
            </p:cNvSpPr>
            <p:nvPr/>
          </p:nvSpPr>
          <p:spPr bwMode="auto">
            <a:xfrm>
              <a:off x="4815" y="2707"/>
              <a:ext cx="197" cy="233"/>
            </a:xfrm>
            <a:prstGeom prst="rect">
              <a:avLst/>
            </a:prstGeom>
            <a:noFill/>
            <a:ln w="12700">
              <a:noFill/>
              <a:miter lim="800000"/>
              <a:headEnd type="none" w="sm" len="sm"/>
              <a:tailEnd type="none" w="sm" len="sm"/>
            </a:ln>
          </p:spPr>
          <p:txBody>
            <a:bodyPr wrap="none">
              <a:spAutoFit/>
            </a:bodyPr>
            <a:lstStyle/>
            <a:p>
              <a:r>
                <a:rPr lang="en-US">
                  <a:solidFill>
                    <a:srgbClr val="FFFF00"/>
                  </a:solidFill>
                </a:rPr>
                <a:t>2</a:t>
              </a:r>
            </a:p>
          </p:txBody>
        </p:sp>
      </p:grpSp>
      <p:grpSp>
        <p:nvGrpSpPr>
          <p:cNvPr id="27" name="Group 12"/>
          <p:cNvGrpSpPr>
            <a:grpSpLocks/>
          </p:cNvGrpSpPr>
          <p:nvPr/>
        </p:nvGrpSpPr>
        <p:grpSpPr bwMode="auto">
          <a:xfrm>
            <a:off x="5057229" y="1887857"/>
            <a:ext cx="555625" cy="469900"/>
            <a:chOff x="3838" y="2684"/>
            <a:chExt cx="350" cy="296"/>
          </a:xfrm>
        </p:grpSpPr>
        <p:sp>
          <p:nvSpPr>
            <p:cNvPr id="28" name="Oval 13"/>
            <p:cNvSpPr>
              <a:spLocks noChangeArrowheads="1"/>
            </p:cNvSpPr>
            <p:nvPr/>
          </p:nvSpPr>
          <p:spPr bwMode="auto">
            <a:xfrm>
              <a:off x="38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29" name="Text Box 14"/>
            <p:cNvSpPr txBox="1">
              <a:spLocks noChangeArrowheads="1"/>
            </p:cNvSpPr>
            <p:nvPr/>
          </p:nvSpPr>
          <p:spPr bwMode="auto">
            <a:xfrm>
              <a:off x="3915" y="2707"/>
              <a:ext cx="197" cy="233"/>
            </a:xfrm>
            <a:prstGeom prst="rect">
              <a:avLst/>
            </a:prstGeom>
            <a:noFill/>
            <a:ln w="12700">
              <a:noFill/>
              <a:miter lim="800000"/>
              <a:headEnd type="none" w="sm" len="sm"/>
              <a:tailEnd type="none" w="sm" len="sm"/>
            </a:ln>
          </p:spPr>
          <p:txBody>
            <a:bodyPr wrap="none">
              <a:spAutoFit/>
            </a:bodyPr>
            <a:lstStyle/>
            <a:p>
              <a:r>
                <a:rPr lang="en-US" dirty="0">
                  <a:solidFill>
                    <a:srgbClr val="FFFF00"/>
                  </a:solidFill>
                </a:rPr>
                <a:t>1</a:t>
              </a:r>
            </a:p>
          </p:txBody>
        </p:sp>
      </p:grpSp>
      <p:sp>
        <p:nvSpPr>
          <p:cNvPr id="30" name="Line 18"/>
          <p:cNvSpPr>
            <a:spLocks noChangeShapeType="1"/>
          </p:cNvSpPr>
          <p:nvPr/>
        </p:nvSpPr>
        <p:spPr bwMode="auto">
          <a:xfrm flipV="1">
            <a:off x="6733629" y="2359344"/>
            <a:ext cx="711200" cy="611188"/>
          </a:xfrm>
          <a:prstGeom prst="line">
            <a:avLst/>
          </a:prstGeom>
          <a:noFill/>
          <a:ln w="19050">
            <a:solidFill>
              <a:schemeClr val="tx1"/>
            </a:solidFill>
            <a:round/>
            <a:headEnd type="none" w="sm" len="sm"/>
            <a:tailEnd type="arrow" w="med" len="med"/>
          </a:ln>
        </p:spPr>
        <p:txBody>
          <a:bodyPr/>
          <a:lstStyle/>
          <a:p>
            <a:endParaRPr lang="en-US"/>
          </a:p>
        </p:txBody>
      </p:sp>
      <p:grpSp>
        <p:nvGrpSpPr>
          <p:cNvPr id="31" name="Group 20"/>
          <p:cNvGrpSpPr>
            <a:grpSpLocks/>
          </p:cNvGrpSpPr>
          <p:nvPr/>
        </p:nvGrpSpPr>
        <p:grpSpPr bwMode="auto">
          <a:xfrm>
            <a:off x="6174829" y="2797494"/>
            <a:ext cx="555625" cy="469900"/>
            <a:chOff x="4288" y="1746"/>
            <a:chExt cx="350" cy="296"/>
          </a:xfrm>
        </p:grpSpPr>
        <p:sp>
          <p:nvSpPr>
            <p:cNvPr id="32" name="Oval 21"/>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33" name="Text Box 22"/>
            <p:cNvSpPr txBox="1">
              <a:spLocks noChangeArrowheads="1"/>
            </p:cNvSpPr>
            <p:nvPr/>
          </p:nvSpPr>
          <p:spPr bwMode="auto">
            <a:xfrm>
              <a:off x="4364" y="1769"/>
              <a:ext cx="197" cy="233"/>
            </a:xfrm>
            <a:prstGeom prst="rect">
              <a:avLst/>
            </a:prstGeom>
            <a:noFill/>
            <a:ln w="12700">
              <a:noFill/>
              <a:miter lim="800000"/>
              <a:headEnd type="none" w="sm" len="sm"/>
              <a:tailEnd type="none" w="sm" len="sm"/>
            </a:ln>
          </p:spPr>
          <p:txBody>
            <a:bodyPr wrap="none">
              <a:spAutoFit/>
            </a:bodyPr>
            <a:lstStyle/>
            <a:p>
              <a:pPr algn="r"/>
              <a:r>
                <a:rPr lang="en-US">
                  <a:solidFill>
                    <a:srgbClr val="FFFF00"/>
                  </a:solidFill>
                </a:rPr>
                <a:t>3</a:t>
              </a:r>
            </a:p>
          </p:txBody>
        </p:sp>
      </p:grpSp>
      <p:grpSp>
        <p:nvGrpSpPr>
          <p:cNvPr id="34" name="Group 27"/>
          <p:cNvGrpSpPr>
            <a:grpSpLocks/>
          </p:cNvGrpSpPr>
          <p:nvPr/>
        </p:nvGrpSpPr>
        <p:grpSpPr bwMode="auto">
          <a:xfrm>
            <a:off x="7308304" y="1887857"/>
            <a:ext cx="555625" cy="469900"/>
            <a:chOff x="3838" y="2684"/>
            <a:chExt cx="350" cy="296"/>
          </a:xfrm>
        </p:grpSpPr>
        <p:sp>
          <p:nvSpPr>
            <p:cNvPr id="35" name="Oval 28"/>
            <p:cNvSpPr>
              <a:spLocks noChangeArrowheads="1"/>
            </p:cNvSpPr>
            <p:nvPr/>
          </p:nvSpPr>
          <p:spPr bwMode="auto">
            <a:xfrm>
              <a:off x="3838" y="2684"/>
              <a:ext cx="350" cy="296"/>
            </a:xfrm>
            <a:prstGeom prst="ellipse">
              <a:avLst/>
            </a:prstGeom>
            <a:solidFill>
              <a:schemeClr val="accent2"/>
            </a:solidFill>
            <a:ln w="19050">
              <a:solidFill>
                <a:schemeClr val="tx1"/>
              </a:solidFill>
              <a:round/>
              <a:headEnd type="none" w="sm" len="sm"/>
              <a:tailEnd type="none" w="sm" len="sm"/>
            </a:ln>
          </p:spPr>
          <p:txBody>
            <a:bodyPr wrap="none" anchor="ctr"/>
            <a:lstStyle/>
            <a:p>
              <a:endParaRPr lang="nl-NL">
                <a:solidFill>
                  <a:schemeClr val="bg1"/>
                </a:solidFill>
              </a:endParaRPr>
            </a:p>
          </p:txBody>
        </p:sp>
        <p:sp>
          <p:nvSpPr>
            <p:cNvPr id="36" name="Text Box 29"/>
            <p:cNvSpPr txBox="1">
              <a:spLocks noChangeArrowheads="1"/>
            </p:cNvSpPr>
            <p:nvPr/>
          </p:nvSpPr>
          <p:spPr bwMode="auto">
            <a:xfrm>
              <a:off x="3915" y="2707"/>
              <a:ext cx="197" cy="233"/>
            </a:xfrm>
            <a:prstGeom prst="rect">
              <a:avLst/>
            </a:prstGeom>
            <a:noFill/>
            <a:ln w="12700">
              <a:noFill/>
              <a:miter lim="800000"/>
              <a:headEnd type="none" w="sm" len="sm"/>
              <a:tailEnd type="none" w="sm" len="sm"/>
            </a:ln>
          </p:spPr>
          <p:txBody>
            <a:bodyPr wrap="none">
              <a:spAutoFit/>
            </a:bodyPr>
            <a:lstStyle/>
            <a:p>
              <a:r>
                <a:rPr lang="en-US" dirty="0">
                  <a:solidFill>
                    <a:schemeClr val="bg1"/>
                  </a:solidFill>
                </a:rPr>
                <a:t>5</a:t>
              </a:r>
            </a:p>
          </p:txBody>
        </p:sp>
      </p:grpSp>
      <p:sp>
        <p:nvSpPr>
          <p:cNvPr id="37" name="Line 34"/>
          <p:cNvSpPr>
            <a:spLocks noChangeShapeType="1"/>
          </p:cNvSpPr>
          <p:nvPr/>
        </p:nvSpPr>
        <p:spPr bwMode="auto">
          <a:xfrm flipH="1">
            <a:off x="6448300" y="2356104"/>
            <a:ext cx="3175" cy="446088"/>
          </a:xfrm>
          <a:prstGeom prst="line">
            <a:avLst/>
          </a:prstGeom>
          <a:noFill/>
          <a:ln w="19050">
            <a:solidFill>
              <a:schemeClr val="tx1"/>
            </a:solidFill>
            <a:round/>
            <a:headEnd type="none" w="sm" len="sm"/>
            <a:tailEnd type="arrow" w="med" len="med"/>
          </a:ln>
        </p:spPr>
        <p:txBody>
          <a:bodyPr/>
          <a:lstStyle/>
          <a:p>
            <a:endParaRPr lang="en-US"/>
          </a:p>
        </p:txBody>
      </p:sp>
      <p:sp>
        <p:nvSpPr>
          <p:cNvPr id="38" name="Line 37"/>
          <p:cNvSpPr>
            <a:spLocks noChangeShapeType="1"/>
          </p:cNvSpPr>
          <p:nvPr/>
        </p:nvSpPr>
        <p:spPr bwMode="auto">
          <a:xfrm>
            <a:off x="4496841" y="2122807"/>
            <a:ext cx="531813" cy="0"/>
          </a:xfrm>
          <a:prstGeom prst="line">
            <a:avLst/>
          </a:prstGeom>
          <a:noFill/>
          <a:ln w="19050">
            <a:solidFill>
              <a:schemeClr val="tx1"/>
            </a:solidFill>
            <a:round/>
            <a:headEnd type="none" w="sm" len="sm"/>
            <a:tailEnd type="arrow" w="med" len="med"/>
          </a:ln>
        </p:spPr>
        <p:txBody>
          <a:bodyPr/>
          <a:lstStyle/>
          <a:p>
            <a:endParaRPr lang="en-US"/>
          </a:p>
        </p:txBody>
      </p:sp>
      <p:sp>
        <p:nvSpPr>
          <p:cNvPr id="39" name="Line 39"/>
          <p:cNvSpPr>
            <a:spLocks noChangeShapeType="1"/>
          </p:cNvSpPr>
          <p:nvPr/>
        </p:nvSpPr>
        <p:spPr bwMode="auto">
          <a:xfrm>
            <a:off x="6741566" y="2121219"/>
            <a:ext cx="531813" cy="0"/>
          </a:xfrm>
          <a:prstGeom prst="line">
            <a:avLst/>
          </a:prstGeom>
          <a:noFill/>
          <a:ln w="19050">
            <a:solidFill>
              <a:schemeClr val="tx1"/>
            </a:solidFill>
            <a:round/>
            <a:headEnd type="none" w="sm" len="sm"/>
            <a:tailEnd type="arrow" w="med" len="med"/>
          </a:ln>
        </p:spPr>
        <p:txBody>
          <a:bodyPr/>
          <a:lstStyle/>
          <a:p>
            <a:endParaRPr lang="en-US"/>
          </a:p>
        </p:txBody>
      </p:sp>
      <p:sp>
        <p:nvSpPr>
          <p:cNvPr id="40" name="Line 40"/>
          <p:cNvSpPr>
            <a:spLocks noChangeShapeType="1"/>
          </p:cNvSpPr>
          <p:nvPr/>
        </p:nvSpPr>
        <p:spPr bwMode="auto">
          <a:xfrm>
            <a:off x="5625554" y="2121219"/>
            <a:ext cx="531813" cy="0"/>
          </a:xfrm>
          <a:prstGeom prst="line">
            <a:avLst/>
          </a:prstGeom>
          <a:noFill/>
          <a:ln w="19050">
            <a:solidFill>
              <a:schemeClr val="tx1"/>
            </a:solidFill>
            <a:round/>
            <a:headEnd type="none" w="sm" len="sm"/>
            <a:tailEnd type="arrow" w="med" len="med"/>
          </a:ln>
        </p:spPr>
        <p:txBody>
          <a:bodyPr/>
          <a:lstStyle/>
          <a:p>
            <a:endParaRPr lang="en-US"/>
          </a:p>
        </p:txBody>
      </p:sp>
      <p:sp>
        <p:nvSpPr>
          <p:cNvPr id="41" name="Line 41"/>
          <p:cNvSpPr>
            <a:spLocks noChangeShapeType="1"/>
          </p:cNvSpPr>
          <p:nvPr/>
        </p:nvSpPr>
        <p:spPr bwMode="auto">
          <a:xfrm>
            <a:off x="5655686" y="3033334"/>
            <a:ext cx="501681" cy="0"/>
          </a:xfrm>
          <a:prstGeom prst="line">
            <a:avLst/>
          </a:prstGeom>
          <a:noFill/>
          <a:ln w="19050">
            <a:solidFill>
              <a:schemeClr val="tx1"/>
            </a:solidFill>
            <a:round/>
            <a:headEnd type="arrow" w="med" len="med"/>
            <a:tailEnd/>
          </a:ln>
        </p:spPr>
        <p:txBody>
          <a:bodyPr/>
          <a:lstStyle/>
          <a:p>
            <a:endParaRPr lang="en-US"/>
          </a:p>
        </p:txBody>
      </p:sp>
      <p:grpSp>
        <p:nvGrpSpPr>
          <p:cNvPr id="42" name="Group 20"/>
          <p:cNvGrpSpPr>
            <a:grpSpLocks/>
          </p:cNvGrpSpPr>
          <p:nvPr/>
        </p:nvGrpSpPr>
        <p:grpSpPr bwMode="auto">
          <a:xfrm>
            <a:off x="5130222" y="2791144"/>
            <a:ext cx="555625" cy="469900"/>
            <a:chOff x="4288" y="1746"/>
            <a:chExt cx="350" cy="296"/>
          </a:xfrm>
        </p:grpSpPr>
        <p:sp>
          <p:nvSpPr>
            <p:cNvPr id="43" name="Oval 21"/>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solidFill>
                  <a:srgbClr val="FFFF00"/>
                </a:solidFill>
              </a:endParaRPr>
            </a:p>
          </p:txBody>
        </p:sp>
        <p:sp>
          <p:nvSpPr>
            <p:cNvPr id="44" name="Text Box 22"/>
            <p:cNvSpPr txBox="1">
              <a:spLocks noChangeArrowheads="1"/>
            </p:cNvSpPr>
            <p:nvPr/>
          </p:nvSpPr>
          <p:spPr bwMode="auto">
            <a:xfrm>
              <a:off x="4364" y="1769"/>
              <a:ext cx="197" cy="233"/>
            </a:xfrm>
            <a:prstGeom prst="rect">
              <a:avLst/>
            </a:prstGeom>
            <a:noFill/>
            <a:ln w="12700">
              <a:noFill/>
              <a:miter lim="800000"/>
              <a:headEnd type="none" w="sm" len="sm"/>
              <a:tailEnd type="none" w="sm" len="sm"/>
            </a:ln>
          </p:spPr>
          <p:txBody>
            <a:bodyPr wrap="none">
              <a:spAutoFit/>
            </a:bodyPr>
            <a:lstStyle/>
            <a:p>
              <a:pPr algn="r"/>
              <a:r>
                <a:rPr lang="en-US" dirty="0">
                  <a:solidFill>
                    <a:srgbClr val="FFFF00"/>
                  </a:solidFill>
                </a:rPr>
                <a:t>4</a:t>
              </a:r>
            </a:p>
          </p:txBody>
        </p:sp>
      </p:grpSp>
      <p:sp>
        <p:nvSpPr>
          <p:cNvPr id="45" name="Line 41"/>
          <p:cNvSpPr>
            <a:spLocks noChangeShapeType="1"/>
          </p:cNvSpPr>
          <p:nvPr/>
        </p:nvSpPr>
        <p:spPr bwMode="auto">
          <a:xfrm flipH="1">
            <a:off x="5655685" y="2319657"/>
            <a:ext cx="604835" cy="514350"/>
          </a:xfrm>
          <a:prstGeom prst="line">
            <a:avLst/>
          </a:prstGeom>
          <a:noFill/>
          <a:ln w="19050">
            <a:solidFill>
              <a:schemeClr val="tx1"/>
            </a:solidFill>
            <a:round/>
            <a:headEnd type="arrow" w="med" len="med"/>
            <a:tailEnd/>
          </a:ln>
        </p:spPr>
        <p:txBody>
          <a:bodyPr/>
          <a:lstStyle/>
          <a:p>
            <a:endParaRPr lang="en-US"/>
          </a:p>
        </p:txBody>
      </p:sp>
      <p:sp>
        <p:nvSpPr>
          <p:cNvPr id="46" name="TextBox 45">
            <a:extLst>
              <a:ext uri="{FF2B5EF4-FFF2-40B4-BE49-F238E27FC236}">
                <a16:creationId xmlns:a16="http://schemas.microsoft.com/office/drawing/2014/main" id="{F1CE710D-7938-6344-92F6-DAD5759A12A4}"/>
              </a:ext>
            </a:extLst>
          </p:cNvPr>
          <p:cNvSpPr txBox="1"/>
          <p:nvPr/>
        </p:nvSpPr>
        <p:spPr>
          <a:xfrm>
            <a:off x="1085273" y="1638934"/>
            <a:ext cx="2773362" cy="1938338"/>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a:defRPr/>
            </a:pPr>
            <a:r>
              <a:rPr lang="en-US" sz="2400" dirty="0" err="1"/>
              <a:t>i</a:t>
            </a:r>
            <a:r>
              <a:rPr lang="en-US" sz="2400" dirty="0"/>
              <a:t> = a.length-1 ;</a:t>
            </a:r>
          </a:p>
          <a:p>
            <a:pPr>
              <a:defRPr/>
            </a:pPr>
            <a:r>
              <a:rPr lang="en-US" sz="2400" b="1" dirty="0">
                <a:solidFill>
                  <a:schemeClr val="accent6">
                    <a:lumMod val="75000"/>
                  </a:schemeClr>
                </a:solidFill>
              </a:rPr>
              <a:t>while</a:t>
            </a:r>
            <a:r>
              <a:rPr lang="en-US" sz="2400" dirty="0"/>
              <a:t> (i</a:t>
            </a:r>
            <a:r>
              <a:rPr lang="en-US" sz="2400" dirty="0">
                <a:sym typeface="Symbol"/>
              </a:rPr>
              <a:t></a:t>
            </a:r>
            <a:r>
              <a:rPr lang="en-US" sz="2400" dirty="0"/>
              <a:t>0)  {</a:t>
            </a:r>
            <a:br>
              <a:rPr lang="en-US" sz="2400" dirty="0"/>
            </a:br>
            <a:r>
              <a:rPr lang="en-US" sz="2400" dirty="0"/>
              <a:t>    </a:t>
            </a:r>
            <a:r>
              <a:rPr lang="en-US" sz="2400" b="1" dirty="0">
                <a:solidFill>
                  <a:schemeClr val="accent6">
                    <a:lumMod val="75000"/>
                  </a:schemeClr>
                </a:solidFill>
              </a:rPr>
              <a:t>if</a:t>
            </a:r>
            <a:r>
              <a:rPr lang="en-US" sz="2400" dirty="0"/>
              <a:t> (a[</a:t>
            </a:r>
            <a:r>
              <a:rPr lang="en-US" sz="2400" dirty="0" err="1"/>
              <a:t>i</a:t>
            </a:r>
            <a:r>
              <a:rPr lang="en-US" sz="2400" dirty="0"/>
              <a:t>]==0)  </a:t>
            </a:r>
            <a:r>
              <a:rPr lang="en-US" sz="2400" b="1" dirty="0">
                <a:solidFill>
                  <a:schemeClr val="accent6">
                    <a:lumMod val="75000"/>
                  </a:schemeClr>
                </a:solidFill>
              </a:rPr>
              <a:t>break</a:t>
            </a:r>
            <a:r>
              <a:rPr lang="en-US" sz="2400" dirty="0"/>
              <a:t> ;</a:t>
            </a:r>
          </a:p>
          <a:p>
            <a:pPr>
              <a:defRPr/>
            </a:pPr>
            <a:r>
              <a:rPr lang="en-US" sz="2400" dirty="0"/>
              <a:t>    </a:t>
            </a:r>
            <a:r>
              <a:rPr lang="en-US" sz="2400" dirty="0" err="1"/>
              <a:t>i</a:t>
            </a:r>
            <a:r>
              <a:rPr lang="en-US" sz="2400" dirty="0"/>
              <a:t>--</a:t>
            </a:r>
          </a:p>
          <a:p>
            <a:pPr>
              <a:defRPr/>
            </a:pPr>
            <a:r>
              <a:rPr lang="en-US" sz="2400" dirty="0"/>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Rounded Rectangle 75">
            <a:extLst>
              <a:ext uri="{FF2B5EF4-FFF2-40B4-BE49-F238E27FC236}">
                <a16:creationId xmlns:a16="http://schemas.microsoft.com/office/drawing/2014/main" id="{7514ED53-97D4-BF48-A22E-6CA26927D311}"/>
              </a:ext>
            </a:extLst>
          </p:cNvPr>
          <p:cNvSpPr/>
          <p:nvPr/>
        </p:nvSpPr>
        <p:spPr>
          <a:xfrm>
            <a:off x="6385796" y="2242422"/>
            <a:ext cx="2494183" cy="1682075"/>
          </a:xfrm>
          <a:prstGeom prst="roundRect">
            <a:avLst>
              <a:gd name="adj" fmla="val 29216"/>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ounded Rectangle 74">
            <a:extLst>
              <a:ext uri="{FF2B5EF4-FFF2-40B4-BE49-F238E27FC236}">
                <a16:creationId xmlns:a16="http://schemas.microsoft.com/office/drawing/2014/main" id="{AF801FAE-B2A8-FC4D-AD53-6A3AB9B9C8DE}"/>
              </a:ext>
            </a:extLst>
          </p:cNvPr>
          <p:cNvSpPr/>
          <p:nvPr/>
        </p:nvSpPr>
        <p:spPr>
          <a:xfrm>
            <a:off x="3477754" y="2242422"/>
            <a:ext cx="2783475" cy="1682075"/>
          </a:xfrm>
          <a:prstGeom prst="roundRect">
            <a:avLst>
              <a:gd name="adj" fmla="val 29216"/>
            </a:avLst>
          </a:prstGeom>
          <a:solidFill>
            <a:schemeClr val="accent6">
              <a:lumMod val="60000"/>
              <a:lumOff val="40000"/>
              <a:alpha val="2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ounded Rectangle 73">
            <a:extLst>
              <a:ext uri="{FF2B5EF4-FFF2-40B4-BE49-F238E27FC236}">
                <a16:creationId xmlns:a16="http://schemas.microsoft.com/office/drawing/2014/main" id="{689637C4-6C22-5D46-B87F-43882DD8898A}"/>
              </a:ext>
            </a:extLst>
          </p:cNvPr>
          <p:cNvSpPr/>
          <p:nvPr/>
        </p:nvSpPr>
        <p:spPr>
          <a:xfrm>
            <a:off x="499278" y="2246987"/>
            <a:ext cx="2783475" cy="1682075"/>
          </a:xfrm>
          <a:prstGeom prst="roundRect">
            <a:avLst>
              <a:gd name="adj" fmla="val 29216"/>
            </a:avLst>
          </a:prstGeom>
          <a:solidFill>
            <a:schemeClr val="accent2">
              <a:lumMod val="60000"/>
              <a:lumOff val="40000"/>
              <a:alpha val="2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ounded Rectangle 24">
            <a:extLst>
              <a:ext uri="{FF2B5EF4-FFF2-40B4-BE49-F238E27FC236}">
                <a16:creationId xmlns:a16="http://schemas.microsoft.com/office/drawing/2014/main" id="{7AE72761-6D55-F240-A283-C7644A4BA1BC}"/>
              </a:ext>
            </a:extLst>
          </p:cNvPr>
          <p:cNvSpPr/>
          <p:nvPr/>
        </p:nvSpPr>
        <p:spPr>
          <a:xfrm>
            <a:off x="1169599" y="1459403"/>
            <a:ext cx="6769488" cy="628160"/>
          </a:xfrm>
          <a:prstGeom prst="roundRect">
            <a:avLst>
              <a:gd name="adj" fmla="val 45801"/>
            </a:avLst>
          </a:prstGeom>
          <a:solidFill>
            <a:schemeClr val="bg2">
              <a:lumMod val="75000"/>
              <a:alpha val="2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94" name="Title 5"/>
          <p:cNvSpPr>
            <a:spLocks noGrp="1"/>
          </p:cNvSpPr>
          <p:nvPr>
            <p:ph type="title"/>
          </p:nvPr>
        </p:nvSpPr>
        <p:spPr>
          <a:xfrm>
            <a:off x="457200" y="274638"/>
            <a:ext cx="8229600" cy="939801"/>
          </a:xfrm>
        </p:spPr>
        <p:txBody>
          <a:bodyPr/>
          <a:lstStyle/>
          <a:p>
            <a:r>
              <a:rPr lang="en-US" sz="4000" dirty="0"/>
              <a:t>Mapping your program to its CFG</a:t>
            </a:r>
            <a:br>
              <a:rPr lang="en-US" sz="4000" dirty="0"/>
            </a:br>
            <a:r>
              <a:rPr lang="en-US" sz="2000" i="1" dirty="0"/>
              <a:t>various ways, depending on the purpose</a:t>
            </a:r>
          </a:p>
        </p:txBody>
      </p:sp>
      <p:sp>
        <p:nvSpPr>
          <p:cNvPr id="33795" name="Content Placeholder 59"/>
          <p:cNvSpPr>
            <a:spLocks noGrp="1"/>
          </p:cNvSpPr>
          <p:nvPr>
            <p:ph idx="1"/>
          </p:nvPr>
        </p:nvSpPr>
        <p:spPr>
          <a:xfrm>
            <a:off x="214313" y="3929063"/>
            <a:ext cx="8643937" cy="2357437"/>
          </a:xfrm>
        </p:spPr>
        <p:txBody>
          <a:bodyPr/>
          <a:lstStyle/>
          <a:p>
            <a:r>
              <a:rPr lang="en-US" sz="2400" dirty="0"/>
              <a:t>See Sec. 2.3.1. AO (2</a:t>
            </a:r>
            <a:r>
              <a:rPr lang="en-US" sz="2400" baseline="30000" dirty="0"/>
              <a:t>nd</a:t>
            </a:r>
            <a:r>
              <a:rPr lang="en-US" sz="2400" dirty="0"/>
              <a:t> Ed. 7.3.1) use left; I usually use middle.</a:t>
            </a:r>
          </a:p>
          <a:p>
            <a:r>
              <a:rPr lang="en-US" sz="2400" dirty="0"/>
              <a:t>(Sec 2.3.1/2</a:t>
            </a:r>
            <a:r>
              <a:rPr lang="en-US" sz="2400" baseline="30000" dirty="0"/>
              <a:t>nd</a:t>
            </a:r>
            <a:r>
              <a:rPr lang="en-US" sz="2400" dirty="0"/>
              <a:t> Ed. 7.3.1) Define a </a:t>
            </a:r>
            <a:r>
              <a:rPr lang="en-US" sz="2400" i="1" u="sng" dirty="0"/>
              <a:t>block</a:t>
            </a:r>
            <a:r>
              <a:rPr lang="en-US" sz="2400" dirty="0"/>
              <a:t> a maximum sequence of “instructions” so that if one instruction is executed, all the others are always executed as well. Note that this implies:</a:t>
            </a:r>
          </a:p>
          <a:p>
            <a:pPr lvl="1"/>
            <a:r>
              <a:rPr lang="en-US" sz="2000" dirty="0"/>
              <a:t>a block does not contain a jump or branching instruction, except if it is the last one</a:t>
            </a:r>
          </a:p>
          <a:p>
            <a:pPr lvl="1"/>
            <a:r>
              <a:rPr lang="en-US" sz="2000" dirty="0"/>
              <a:t>no instruction except the first one, can be the target of a jump/branching instruction in the program. </a:t>
            </a:r>
          </a:p>
          <a:p>
            <a:endParaRPr lang="en-US" sz="2400" dirty="0"/>
          </a:p>
        </p:txBody>
      </p:sp>
      <p:sp>
        <p:nvSpPr>
          <p:cNvPr id="3" name="Slide Number Placeholder 2"/>
          <p:cNvSpPr>
            <a:spLocks noGrp="1"/>
          </p:cNvSpPr>
          <p:nvPr>
            <p:ph type="sldNum" sz="quarter" idx="12"/>
          </p:nvPr>
        </p:nvSpPr>
        <p:spPr/>
        <p:txBody>
          <a:bodyPr/>
          <a:lstStyle/>
          <a:p>
            <a:pPr>
              <a:defRPr/>
            </a:pPr>
            <a:fld id="{9D43E94D-8800-40B8-A2E4-03F368510837}" type="slidenum">
              <a:rPr lang="en-US" smtClean="0"/>
              <a:pPr>
                <a:defRPr/>
              </a:pPr>
              <a:t>42</a:t>
            </a:fld>
            <a:endParaRPr lang="en-US" dirty="0"/>
          </a:p>
        </p:txBody>
      </p:sp>
      <p:sp>
        <p:nvSpPr>
          <p:cNvPr id="8" name="TextBox 7"/>
          <p:cNvSpPr txBox="1"/>
          <p:nvPr/>
        </p:nvSpPr>
        <p:spPr>
          <a:xfrm>
            <a:off x="1431925" y="1571625"/>
            <a:ext cx="6211888" cy="461963"/>
          </a:xfrm>
          <a:prstGeom prst="rect">
            <a:avLst/>
          </a:prstGeom>
          <a:noFill/>
        </p:spPr>
        <p:txBody>
          <a:bodyPr wrap="none">
            <a:spAutoFit/>
          </a:bodyPr>
          <a:lstStyle/>
          <a:p>
            <a:pPr>
              <a:defRPr/>
            </a:pPr>
            <a:r>
              <a:rPr lang="en-US" sz="2400" dirty="0">
                <a:latin typeface="+mn-lt"/>
              </a:rPr>
              <a:t>P1(x)  {  </a:t>
            </a:r>
            <a:r>
              <a:rPr lang="en-US" sz="2400" b="1" dirty="0">
                <a:latin typeface="+mn-lt"/>
              </a:rPr>
              <a:t>if</a:t>
            </a:r>
            <a:r>
              <a:rPr lang="en-US" sz="2400" dirty="0">
                <a:latin typeface="+mn-lt"/>
              </a:rPr>
              <a:t> (x==0)  { x++ ; return 0 } </a:t>
            </a:r>
            <a:r>
              <a:rPr lang="en-US" sz="2400" b="1" dirty="0">
                <a:latin typeface="+mn-lt"/>
              </a:rPr>
              <a:t>else</a:t>
            </a:r>
            <a:r>
              <a:rPr lang="en-US" sz="2400" dirty="0">
                <a:latin typeface="+mn-lt"/>
              </a:rPr>
              <a:t> return x  }</a:t>
            </a:r>
          </a:p>
        </p:txBody>
      </p:sp>
      <p:sp>
        <p:nvSpPr>
          <p:cNvPr id="14" name="Rectangle 13"/>
          <p:cNvSpPr/>
          <p:nvPr/>
        </p:nvSpPr>
        <p:spPr bwMode="auto">
          <a:xfrm>
            <a:off x="796925" y="3286124"/>
            <a:ext cx="1131888" cy="489559"/>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x++ ; </a:t>
            </a:r>
          </a:p>
          <a:p>
            <a:pPr algn="ctr">
              <a:defRPr/>
            </a:pPr>
            <a:r>
              <a:rPr lang="en-US" b="1" dirty="0">
                <a:solidFill>
                  <a:schemeClr val="tx1"/>
                </a:solidFill>
              </a:rPr>
              <a:t>return 0</a:t>
            </a:r>
          </a:p>
        </p:txBody>
      </p:sp>
      <p:sp>
        <p:nvSpPr>
          <p:cNvPr id="15" name="Rectangle 14"/>
          <p:cNvSpPr/>
          <p:nvPr/>
        </p:nvSpPr>
        <p:spPr bwMode="auto">
          <a:xfrm>
            <a:off x="1466770" y="2419193"/>
            <a:ext cx="1000125" cy="315423"/>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dummy</a:t>
            </a:r>
          </a:p>
        </p:txBody>
      </p:sp>
      <p:cxnSp>
        <p:nvCxnSpPr>
          <p:cNvPr id="16" name="Straight Arrow Connector 15"/>
          <p:cNvCxnSpPr>
            <a:cxnSpLocks/>
            <a:stCxn id="15" idx="2"/>
            <a:endCxn id="14" idx="0"/>
          </p:cNvCxnSpPr>
          <p:nvPr/>
        </p:nvCxnSpPr>
        <p:spPr bwMode="auto">
          <a:xfrm flipH="1">
            <a:off x="1362869" y="2734616"/>
            <a:ext cx="603964" cy="55150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cxnSpLocks/>
            <a:stCxn id="15" idx="2"/>
            <a:endCxn id="47" idx="0"/>
          </p:cNvCxnSpPr>
          <p:nvPr/>
        </p:nvCxnSpPr>
        <p:spPr bwMode="auto">
          <a:xfrm>
            <a:off x="1966833" y="2734616"/>
            <a:ext cx="566918" cy="5499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7" name="Rectangle 46"/>
          <p:cNvSpPr/>
          <p:nvPr/>
        </p:nvSpPr>
        <p:spPr bwMode="auto">
          <a:xfrm>
            <a:off x="2035970" y="3284537"/>
            <a:ext cx="995561" cy="491145"/>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return x</a:t>
            </a:r>
          </a:p>
        </p:txBody>
      </p:sp>
      <p:sp>
        <p:nvSpPr>
          <p:cNvPr id="50" name="TextBox 49"/>
          <p:cNvSpPr txBox="1"/>
          <p:nvPr/>
        </p:nvSpPr>
        <p:spPr>
          <a:xfrm>
            <a:off x="1046956" y="2749678"/>
            <a:ext cx="631825" cy="369888"/>
          </a:xfrm>
          <a:prstGeom prst="rect">
            <a:avLst/>
          </a:prstGeom>
          <a:noFill/>
          <a:ln>
            <a:noFill/>
          </a:ln>
        </p:spPr>
        <p:txBody>
          <a:bodyPr wrap="none">
            <a:spAutoFit/>
          </a:bodyPr>
          <a:lstStyle/>
          <a:p>
            <a:pPr>
              <a:defRPr/>
            </a:pPr>
            <a:r>
              <a:rPr lang="en-US" dirty="0">
                <a:solidFill>
                  <a:schemeClr val="accent6">
                    <a:lumMod val="75000"/>
                  </a:schemeClr>
                </a:solidFill>
                <a:latin typeface="+mn-lt"/>
              </a:rPr>
              <a:t>x==0</a:t>
            </a:r>
          </a:p>
        </p:txBody>
      </p:sp>
      <p:sp>
        <p:nvSpPr>
          <p:cNvPr id="51" name="TextBox 50"/>
          <p:cNvSpPr txBox="1"/>
          <p:nvPr/>
        </p:nvSpPr>
        <p:spPr>
          <a:xfrm>
            <a:off x="2274195" y="2777330"/>
            <a:ext cx="592138" cy="369888"/>
          </a:xfrm>
          <a:prstGeom prst="rect">
            <a:avLst/>
          </a:prstGeom>
          <a:noFill/>
          <a:ln>
            <a:noFill/>
          </a:ln>
        </p:spPr>
        <p:txBody>
          <a:bodyPr wrap="none">
            <a:spAutoFit/>
          </a:bodyPr>
          <a:lstStyle/>
          <a:p>
            <a:pPr>
              <a:defRPr/>
            </a:pPr>
            <a:r>
              <a:rPr lang="en-US" dirty="0">
                <a:solidFill>
                  <a:schemeClr val="accent6">
                    <a:lumMod val="75000"/>
                  </a:schemeClr>
                </a:solidFill>
                <a:latin typeface="+mn-lt"/>
              </a:rPr>
              <a:t>x!=0</a:t>
            </a:r>
          </a:p>
        </p:txBody>
      </p:sp>
      <p:sp>
        <p:nvSpPr>
          <p:cNvPr id="52" name="Rectangle 51"/>
          <p:cNvSpPr/>
          <p:nvPr/>
        </p:nvSpPr>
        <p:spPr bwMode="auto">
          <a:xfrm>
            <a:off x="3779912" y="3070385"/>
            <a:ext cx="1128315" cy="502631"/>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x++ ; </a:t>
            </a:r>
          </a:p>
          <a:p>
            <a:pPr algn="ctr">
              <a:defRPr/>
            </a:pPr>
            <a:r>
              <a:rPr lang="en-US" b="1" dirty="0">
                <a:solidFill>
                  <a:schemeClr val="tx1"/>
                </a:solidFill>
              </a:rPr>
              <a:t>return 0</a:t>
            </a:r>
          </a:p>
        </p:txBody>
      </p:sp>
      <p:sp>
        <p:nvSpPr>
          <p:cNvPr id="53" name="Rectangle 52"/>
          <p:cNvSpPr/>
          <p:nvPr/>
        </p:nvSpPr>
        <p:spPr bwMode="auto">
          <a:xfrm>
            <a:off x="4365799" y="2536852"/>
            <a:ext cx="1146175" cy="236537"/>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(x==0)</a:t>
            </a:r>
          </a:p>
        </p:txBody>
      </p:sp>
      <p:cxnSp>
        <p:nvCxnSpPr>
          <p:cNvPr id="54" name="Straight Arrow Connector 53"/>
          <p:cNvCxnSpPr>
            <a:cxnSpLocks/>
            <a:stCxn id="53" idx="2"/>
            <a:endCxn id="52" idx="0"/>
          </p:cNvCxnSpPr>
          <p:nvPr/>
        </p:nvCxnSpPr>
        <p:spPr bwMode="auto">
          <a:xfrm flipH="1">
            <a:off x="4344070" y="2773389"/>
            <a:ext cx="594817" cy="29699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cxnSpLocks/>
            <a:stCxn id="53" idx="2"/>
            <a:endCxn id="56" idx="0"/>
          </p:cNvCxnSpPr>
          <p:nvPr/>
        </p:nvCxnSpPr>
        <p:spPr bwMode="auto">
          <a:xfrm>
            <a:off x="4938887" y="2773389"/>
            <a:ext cx="573087" cy="31007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6" name="Rectangle 55"/>
          <p:cNvSpPr/>
          <p:nvPr/>
        </p:nvSpPr>
        <p:spPr bwMode="auto">
          <a:xfrm>
            <a:off x="5029672" y="3083460"/>
            <a:ext cx="964604" cy="489556"/>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return x</a:t>
            </a:r>
          </a:p>
        </p:txBody>
      </p:sp>
      <p:sp>
        <p:nvSpPr>
          <p:cNvPr id="18" name="Rectangle 17"/>
          <p:cNvSpPr/>
          <p:nvPr/>
        </p:nvSpPr>
        <p:spPr bwMode="auto">
          <a:xfrm>
            <a:off x="6575177" y="2871676"/>
            <a:ext cx="785813" cy="336177"/>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x++ </a:t>
            </a:r>
          </a:p>
        </p:txBody>
      </p:sp>
      <p:sp>
        <p:nvSpPr>
          <p:cNvPr id="19" name="Rectangle 18"/>
          <p:cNvSpPr/>
          <p:nvPr/>
        </p:nvSpPr>
        <p:spPr bwMode="auto">
          <a:xfrm>
            <a:off x="6860927" y="2388704"/>
            <a:ext cx="1146175" cy="271834"/>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(x==0)</a:t>
            </a:r>
          </a:p>
        </p:txBody>
      </p:sp>
      <p:cxnSp>
        <p:nvCxnSpPr>
          <p:cNvPr id="20" name="Straight Arrow Connector 19"/>
          <p:cNvCxnSpPr>
            <a:cxnSpLocks/>
            <a:stCxn id="19" idx="2"/>
            <a:endCxn id="18" idx="0"/>
          </p:cNvCxnSpPr>
          <p:nvPr/>
        </p:nvCxnSpPr>
        <p:spPr bwMode="auto">
          <a:xfrm flipH="1">
            <a:off x="6968084" y="2660538"/>
            <a:ext cx="465931" cy="21113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cxnSpLocks/>
            <a:stCxn id="19" idx="2"/>
            <a:endCxn id="22" idx="0"/>
          </p:cNvCxnSpPr>
          <p:nvPr/>
        </p:nvCxnSpPr>
        <p:spPr bwMode="auto">
          <a:xfrm>
            <a:off x="7434015" y="2660538"/>
            <a:ext cx="687038" cy="68534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bwMode="auto">
          <a:xfrm>
            <a:off x="7580509" y="3345886"/>
            <a:ext cx="1081087" cy="299138"/>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return x</a:t>
            </a:r>
          </a:p>
        </p:txBody>
      </p:sp>
      <p:sp>
        <p:nvSpPr>
          <p:cNvPr id="27" name="Rectangle 26"/>
          <p:cNvSpPr/>
          <p:nvPr/>
        </p:nvSpPr>
        <p:spPr bwMode="auto">
          <a:xfrm>
            <a:off x="6444208" y="3361233"/>
            <a:ext cx="1081088" cy="283791"/>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return 0</a:t>
            </a:r>
          </a:p>
        </p:txBody>
      </p:sp>
      <p:cxnSp>
        <p:nvCxnSpPr>
          <p:cNvPr id="28" name="Straight Arrow Connector 27"/>
          <p:cNvCxnSpPr>
            <a:cxnSpLocks/>
            <a:stCxn id="18" idx="2"/>
            <a:endCxn id="27" idx="0"/>
          </p:cNvCxnSpPr>
          <p:nvPr/>
        </p:nvCxnSpPr>
        <p:spPr bwMode="auto">
          <a:xfrm>
            <a:off x="6968084" y="3207853"/>
            <a:ext cx="16668" cy="15338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p:cNvSpPr/>
          <p:nvPr/>
        </p:nvSpPr>
        <p:spPr>
          <a:xfrm>
            <a:off x="857250" y="5072063"/>
            <a:ext cx="500063" cy="500062"/>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5" name="Rectangle 14"/>
          <p:cNvSpPr/>
          <p:nvPr/>
        </p:nvSpPr>
        <p:spPr>
          <a:xfrm>
            <a:off x="1714500" y="3429000"/>
            <a:ext cx="1143000" cy="428625"/>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4" name="Rectangle 13"/>
          <p:cNvSpPr/>
          <p:nvPr/>
        </p:nvSpPr>
        <p:spPr>
          <a:xfrm>
            <a:off x="1714500" y="2857500"/>
            <a:ext cx="1143000" cy="50006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Rectangle 12"/>
          <p:cNvSpPr/>
          <p:nvPr/>
        </p:nvSpPr>
        <p:spPr>
          <a:xfrm>
            <a:off x="4214813" y="2286000"/>
            <a:ext cx="571500" cy="500063"/>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ectangle 11"/>
          <p:cNvSpPr/>
          <p:nvPr/>
        </p:nvSpPr>
        <p:spPr>
          <a:xfrm>
            <a:off x="1357312" y="3929063"/>
            <a:ext cx="2566615" cy="500062"/>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Rectangle 10"/>
          <p:cNvSpPr/>
          <p:nvPr/>
        </p:nvSpPr>
        <p:spPr>
          <a:xfrm>
            <a:off x="2714625" y="2286000"/>
            <a:ext cx="1357313" cy="50006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6"/>
          <p:cNvSpPr/>
          <p:nvPr/>
        </p:nvSpPr>
        <p:spPr>
          <a:xfrm>
            <a:off x="1571625" y="2286000"/>
            <a:ext cx="1071563" cy="50006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4825" name="Title 5"/>
          <p:cNvSpPr>
            <a:spLocks noGrp="1"/>
          </p:cNvSpPr>
          <p:nvPr>
            <p:ph type="title"/>
          </p:nvPr>
        </p:nvSpPr>
        <p:spPr/>
        <p:txBody>
          <a:bodyPr/>
          <a:lstStyle/>
          <a:p>
            <a:r>
              <a:rPr lang="en-US"/>
              <a:t>Mapping your program to its CFG</a:t>
            </a:r>
          </a:p>
        </p:txBody>
      </p:sp>
      <p:sp>
        <p:nvSpPr>
          <p:cNvPr id="3" name="Slide Number Placeholder 2"/>
          <p:cNvSpPr>
            <a:spLocks noGrp="1"/>
          </p:cNvSpPr>
          <p:nvPr>
            <p:ph type="sldNum" sz="quarter" idx="12"/>
          </p:nvPr>
        </p:nvSpPr>
        <p:spPr/>
        <p:txBody>
          <a:bodyPr/>
          <a:lstStyle/>
          <a:p>
            <a:pPr>
              <a:defRPr/>
            </a:pPr>
            <a:fld id="{19E08CEC-5BD2-405E-BC9C-75CB647179D0}" type="slidenum">
              <a:rPr lang="en-US" smtClean="0"/>
              <a:pPr>
                <a:defRPr/>
              </a:pPr>
              <a:t>43</a:t>
            </a:fld>
            <a:endParaRPr lang="en-US"/>
          </a:p>
        </p:txBody>
      </p:sp>
      <p:sp>
        <p:nvSpPr>
          <p:cNvPr id="9" name="TextBox 8"/>
          <p:cNvSpPr txBox="1"/>
          <p:nvPr/>
        </p:nvSpPr>
        <p:spPr>
          <a:xfrm>
            <a:off x="928688" y="1643063"/>
            <a:ext cx="4500562" cy="3970337"/>
          </a:xfrm>
          <a:prstGeom prst="rect">
            <a:avLst/>
          </a:prstGeom>
          <a:noFill/>
          <a:ln>
            <a:noFill/>
          </a:ln>
        </p:spPr>
        <p:txBody>
          <a:bodyPr>
            <a:spAutoFit/>
          </a:bodyPr>
          <a:lstStyle/>
          <a:p>
            <a:pPr>
              <a:lnSpc>
                <a:spcPct val="150000"/>
              </a:lnSpc>
              <a:defRPr/>
            </a:pPr>
            <a:r>
              <a:rPr lang="en-US" sz="2400" dirty="0">
                <a:latin typeface="+mn-lt"/>
              </a:rPr>
              <a:t>P2(a)  {  </a:t>
            </a:r>
          </a:p>
          <a:p>
            <a:pPr>
              <a:lnSpc>
                <a:spcPct val="150000"/>
              </a:lnSpc>
              <a:defRPr/>
            </a:pPr>
            <a:r>
              <a:rPr lang="en-US" sz="2400" dirty="0">
                <a:latin typeface="+mn-lt"/>
              </a:rPr>
              <a:t>   </a:t>
            </a:r>
            <a:r>
              <a:rPr lang="en-US" sz="2400" b="1" dirty="0">
                <a:latin typeface="+mn-lt"/>
              </a:rPr>
              <a:t>for</a:t>
            </a:r>
            <a:r>
              <a:rPr lang="en-US" sz="2400" dirty="0">
                <a:latin typeface="+mn-lt"/>
              </a:rPr>
              <a:t> (</a:t>
            </a:r>
            <a:r>
              <a:rPr lang="en-US" sz="2400" dirty="0" err="1">
                <a:latin typeface="+mn-lt"/>
              </a:rPr>
              <a:t>int</a:t>
            </a:r>
            <a:r>
              <a:rPr lang="en-US" sz="2400" dirty="0">
                <a:latin typeface="+mn-lt"/>
              </a:rPr>
              <a:t> </a:t>
            </a:r>
            <a:r>
              <a:rPr lang="en-US" sz="2400" dirty="0" err="1">
                <a:latin typeface="+mn-lt"/>
              </a:rPr>
              <a:t>i</a:t>
            </a:r>
            <a:r>
              <a:rPr lang="en-US" sz="2400" dirty="0">
                <a:latin typeface="+mn-lt"/>
              </a:rPr>
              <a:t>=0;   </a:t>
            </a:r>
            <a:r>
              <a:rPr lang="en-US" sz="2400" dirty="0" err="1">
                <a:latin typeface="+mn-lt"/>
              </a:rPr>
              <a:t>i</a:t>
            </a:r>
            <a:r>
              <a:rPr lang="en-US" sz="2400" dirty="0">
                <a:latin typeface="+mn-lt"/>
              </a:rPr>
              <a:t>&lt;</a:t>
            </a:r>
            <a:r>
              <a:rPr lang="en-US" sz="2400" dirty="0" err="1">
                <a:latin typeface="+mn-lt"/>
              </a:rPr>
              <a:t>a.length</a:t>
            </a:r>
            <a:r>
              <a:rPr lang="en-US" sz="2400" dirty="0">
                <a:latin typeface="+mn-lt"/>
              </a:rPr>
              <a:t> ;  </a:t>
            </a:r>
            <a:r>
              <a:rPr lang="en-US" sz="2400" dirty="0" err="1">
                <a:latin typeface="+mn-lt"/>
              </a:rPr>
              <a:t>i</a:t>
            </a:r>
            <a:r>
              <a:rPr lang="en-US" sz="2400" dirty="0">
                <a:latin typeface="+mn-lt"/>
              </a:rPr>
              <a:t>++)  {</a:t>
            </a:r>
          </a:p>
          <a:p>
            <a:pPr>
              <a:lnSpc>
                <a:spcPct val="150000"/>
              </a:lnSpc>
              <a:defRPr/>
            </a:pPr>
            <a:r>
              <a:rPr lang="en-US" sz="2400" dirty="0">
                <a:latin typeface="+mn-lt"/>
              </a:rPr>
              <a:t>       </a:t>
            </a:r>
            <a:r>
              <a:rPr lang="en-US" sz="2400" b="1" dirty="0">
                <a:latin typeface="+mn-lt"/>
              </a:rPr>
              <a:t>if</a:t>
            </a:r>
            <a:r>
              <a:rPr lang="en-US" sz="2400" dirty="0">
                <a:latin typeface="+mn-lt"/>
              </a:rPr>
              <a:t> (a[</a:t>
            </a:r>
            <a:r>
              <a:rPr lang="en-US" sz="2400" dirty="0" err="1">
                <a:latin typeface="+mn-lt"/>
              </a:rPr>
              <a:t>i</a:t>
            </a:r>
            <a:r>
              <a:rPr lang="en-US" sz="2400" dirty="0">
                <a:latin typeface="+mn-lt"/>
              </a:rPr>
              <a:t>]==0)  </a:t>
            </a:r>
            <a:r>
              <a:rPr lang="en-US" sz="2400" b="1" dirty="0">
                <a:latin typeface="+mn-lt"/>
              </a:rPr>
              <a:t>break</a:t>
            </a:r>
            <a:r>
              <a:rPr lang="en-US" sz="2400" dirty="0">
                <a:latin typeface="+mn-lt"/>
              </a:rPr>
              <a:t> ;</a:t>
            </a:r>
          </a:p>
          <a:p>
            <a:pPr>
              <a:lnSpc>
                <a:spcPct val="150000"/>
              </a:lnSpc>
              <a:defRPr/>
            </a:pPr>
            <a:r>
              <a:rPr lang="en-US" sz="2400" dirty="0">
                <a:latin typeface="+mn-lt"/>
              </a:rPr>
              <a:t>       </a:t>
            </a:r>
            <a:r>
              <a:rPr lang="en-US" sz="2400" b="1" dirty="0">
                <a:latin typeface="+mn-lt"/>
              </a:rPr>
              <a:t>if</a:t>
            </a:r>
            <a:r>
              <a:rPr lang="en-US" sz="2400" dirty="0">
                <a:latin typeface="+mn-lt"/>
              </a:rPr>
              <a:t> (odd a[</a:t>
            </a:r>
            <a:r>
              <a:rPr lang="en-US" sz="2400" dirty="0" err="1">
                <a:latin typeface="+mn-lt"/>
              </a:rPr>
              <a:t>i</a:t>
            </a:r>
            <a:r>
              <a:rPr lang="en-US" sz="2400" dirty="0">
                <a:latin typeface="+mn-lt"/>
              </a:rPr>
              <a:t>]) </a:t>
            </a:r>
            <a:r>
              <a:rPr lang="en-US" sz="2400" b="1" dirty="0">
                <a:latin typeface="+mn-lt"/>
              </a:rPr>
              <a:t>continue</a:t>
            </a:r>
            <a:r>
              <a:rPr lang="en-US" sz="2400" dirty="0">
                <a:latin typeface="+mn-lt"/>
              </a:rPr>
              <a:t> ;</a:t>
            </a:r>
          </a:p>
          <a:p>
            <a:pPr>
              <a:lnSpc>
                <a:spcPct val="150000"/>
              </a:lnSpc>
              <a:defRPr/>
            </a:pPr>
            <a:r>
              <a:rPr lang="en-US" sz="2400" dirty="0">
                <a:latin typeface="+mn-lt"/>
              </a:rPr>
              <a:t>       b[</a:t>
            </a:r>
            <a:r>
              <a:rPr lang="en-US" sz="2400" dirty="0" err="1">
                <a:latin typeface="+mn-lt"/>
              </a:rPr>
              <a:t>i</a:t>
            </a:r>
            <a:r>
              <a:rPr lang="en-US" sz="2400" dirty="0">
                <a:latin typeface="+mn-lt"/>
              </a:rPr>
              <a:t>] = a[</a:t>
            </a:r>
            <a:r>
              <a:rPr lang="en-US" sz="2400" dirty="0" err="1">
                <a:latin typeface="+mn-lt"/>
              </a:rPr>
              <a:t>i</a:t>
            </a:r>
            <a:r>
              <a:rPr lang="en-US" sz="2400" dirty="0">
                <a:latin typeface="+mn-lt"/>
              </a:rPr>
              <a:t>] ; a[</a:t>
            </a:r>
            <a:r>
              <a:rPr lang="en-US" sz="2400" dirty="0" err="1">
                <a:latin typeface="+mn-lt"/>
              </a:rPr>
              <a:t>i</a:t>
            </a:r>
            <a:r>
              <a:rPr lang="en-US" sz="2400" dirty="0">
                <a:latin typeface="+mn-lt"/>
              </a:rPr>
              <a:t>] = 0 </a:t>
            </a:r>
          </a:p>
          <a:p>
            <a:pPr>
              <a:lnSpc>
                <a:spcPct val="150000"/>
              </a:lnSpc>
              <a:defRPr/>
            </a:pPr>
            <a:r>
              <a:rPr lang="en-US" sz="2400" dirty="0">
                <a:latin typeface="+mn-lt"/>
              </a:rPr>
              <a:t>    }</a:t>
            </a:r>
          </a:p>
          <a:p>
            <a:pPr>
              <a:lnSpc>
                <a:spcPct val="150000"/>
              </a:lnSpc>
              <a:defRPr/>
            </a:pPr>
            <a:r>
              <a:rPr lang="en-US" sz="2400" dirty="0">
                <a:latin typeface="+mn-lt"/>
              </a:rPr>
              <a:t>}</a:t>
            </a:r>
          </a:p>
        </p:txBody>
      </p:sp>
      <p:sp>
        <p:nvSpPr>
          <p:cNvPr id="31" name="TextBox 30"/>
          <p:cNvSpPr txBox="1"/>
          <p:nvPr/>
        </p:nvSpPr>
        <p:spPr>
          <a:xfrm>
            <a:off x="857250" y="5643563"/>
            <a:ext cx="3286125" cy="708025"/>
          </a:xfrm>
          <a:prstGeom prst="rect">
            <a:avLst/>
          </a:prstGeom>
          <a:noFill/>
        </p:spPr>
        <p:txBody>
          <a:bodyPr>
            <a:spAutoFit/>
          </a:bodyPr>
          <a:lstStyle/>
          <a:p>
            <a:pPr>
              <a:defRPr/>
            </a:pPr>
            <a:r>
              <a:rPr lang="en-US" sz="2000" i="1" dirty="0">
                <a:latin typeface="+mn-lt"/>
              </a:rPr>
              <a:t>Add “end-of-program” as a virtual node.</a:t>
            </a:r>
          </a:p>
        </p:txBody>
      </p:sp>
      <p:sp>
        <p:nvSpPr>
          <p:cNvPr id="16" name="Rectangle 15"/>
          <p:cNvSpPr/>
          <p:nvPr/>
        </p:nvSpPr>
        <p:spPr bwMode="auto">
          <a:xfrm>
            <a:off x="6715125" y="4146550"/>
            <a:ext cx="431800" cy="4318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3</a:t>
            </a:r>
          </a:p>
        </p:txBody>
      </p:sp>
      <p:sp>
        <p:nvSpPr>
          <p:cNvPr id="17" name="Rectangle 16"/>
          <p:cNvSpPr/>
          <p:nvPr/>
        </p:nvSpPr>
        <p:spPr bwMode="auto">
          <a:xfrm>
            <a:off x="6715125" y="3429000"/>
            <a:ext cx="431800" cy="4318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2</a:t>
            </a:r>
          </a:p>
        </p:txBody>
      </p:sp>
      <p:sp>
        <p:nvSpPr>
          <p:cNvPr id="18" name="Rectangle 17"/>
          <p:cNvSpPr/>
          <p:nvPr/>
        </p:nvSpPr>
        <p:spPr bwMode="auto">
          <a:xfrm>
            <a:off x="6715125" y="4929188"/>
            <a:ext cx="431800" cy="4318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4</a:t>
            </a:r>
          </a:p>
        </p:txBody>
      </p:sp>
      <p:sp>
        <p:nvSpPr>
          <p:cNvPr id="20" name="Rectangle 19"/>
          <p:cNvSpPr/>
          <p:nvPr/>
        </p:nvSpPr>
        <p:spPr bwMode="auto">
          <a:xfrm>
            <a:off x="6715125" y="2717800"/>
            <a:ext cx="431800" cy="43180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1</a:t>
            </a:r>
          </a:p>
        </p:txBody>
      </p:sp>
      <p:sp>
        <p:nvSpPr>
          <p:cNvPr id="21" name="Rectangle 20"/>
          <p:cNvSpPr/>
          <p:nvPr/>
        </p:nvSpPr>
        <p:spPr bwMode="auto">
          <a:xfrm>
            <a:off x="6715125" y="2000250"/>
            <a:ext cx="431800" cy="4318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0</a:t>
            </a:r>
          </a:p>
        </p:txBody>
      </p:sp>
      <p:cxnSp>
        <p:nvCxnSpPr>
          <p:cNvPr id="23" name="Straight Arrow Connector 22"/>
          <p:cNvCxnSpPr>
            <a:stCxn id="21" idx="2"/>
            <a:endCxn id="20" idx="0"/>
          </p:cNvCxnSpPr>
          <p:nvPr/>
        </p:nvCxnSpPr>
        <p:spPr bwMode="auto">
          <a:xfrm rot="5400000">
            <a:off x="6788944" y="2575719"/>
            <a:ext cx="28575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20" idx="2"/>
            <a:endCxn id="17" idx="0"/>
          </p:cNvCxnSpPr>
          <p:nvPr/>
        </p:nvCxnSpPr>
        <p:spPr bwMode="auto">
          <a:xfrm rot="5400000">
            <a:off x="6792913" y="3289300"/>
            <a:ext cx="27781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Curved Connector 27"/>
          <p:cNvCxnSpPr>
            <a:stCxn id="29" idx="1"/>
            <a:endCxn id="20" idx="1"/>
          </p:cNvCxnSpPr>
          <p:nvPr/>
        </p:nvCxnSpPr>
        <p:spPr bwMode="auto">
          <a:xfrm rot="10800000">
            <a:off x="6715126" y="2933700"/>
            <a:ext cx="17115" cy="2943696"/>
          </a:xfrm>
          <a:prstGeom prst="curvedConnector3">
            <a:avLst>
              <a:gd name="adj1" fmla="val 5641613"/>
            </a:avLst>
          </a:prstGeom>
          <a:ln>
            <a:tailEnd type="arrow"/>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bwMode="auto">
          <a:xfrm>
            <a:off x="7429500" y="3432175"/>
            <a:ext cx="431800" cy="4318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6</a:t>
            </a:r>
          </a:p>
        </p:txBody>
      </p:sp>
      <p:cxnSp>
        <p:nvCxnSpPr>
          <p:cNvPr id="33" name="Straight Arrow Connector 32"/>
          <p:cNvCxnSpPr>
            <a:stCxn id="17" idx="2"/>
            <a:endCxn id="16" idx="0"/>
          </p:cNvCxnSpPr>
          <p:nvPr/>
        </p:nvCxnSpPr>
        <p:spPr bwMode="auto">
          <a:xfrm rot="5400000">
            <a:off x="6788944" y="4004469"/>
            <a:ext cx="28575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16" idx="2"/>
            <a:endCxn id="18" idx="0"/>
          </p:cNvCxnSpPr>
          <p:nvPr/>
        </p:nvCxnSpPr>
        <p:spPr bwMode="auto">
          <a:xfrm rot="5400000">
            <a:off x="6757194" y="4753769"/>
            <a:ext cx="34925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7" idx="3"/>
            <a:endCxn id="32" idx="1"/>
          </p:cNvCxnSpPr>
          <p:nvPr/>
        </p:nvCxnSpPr>
        <p:spPr bwMode="auto">
          <a:xfrm>
            <a:off x="7146925" y="3644900"/>
            <a:ext cx="282575" cy="31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1" name="Curved Connector 50"/>
          <p:cNvCxnSpPr>
            <a:stCxn id="20" idx="3"/>
            <a:endCxn id="32" idx="0"/>
          </p:cNvCxnSpPr>
          <p:nvPr/>
        </p:nvCxnSpPr>
        <p:spPr bwMode="auto">
          <a:xfrm>
            <a:off x="7146925" y="2933700"/>
            <a:ext cx="498475" cy="498475"/>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bwMode="auto">
          <a:xfrm>
            <a:off x="6732240" y="5661496"/>
            <a:ext cx="431800" cy="4318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5</a:t>
            </a:r>
          </a:p>
        </p:txBody>
      </p:sp>
      <p:cxnSp>
        <p:nvCxnSpPr>
          <p:cNvPr id="34" name="Straight Arrow Connector 33"/>
          <p:cNvCxnSpPr>
            <a:stCxn id="18" idx="2"/>
            <a:endCxn id="29" idx="0"/>
          </p:cNvCxnSpPr>
          <p:nvPr/>
        </p:nvCxnSpPr>
        <p:spPr bwMode="auto">
          <a:xfrm>
            <a:off x="6931025" y="5360988"/>
            <a:ext cx="17115" cy="30050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Curved Connector 34"/>
          <p:cNvCxnSpPr>
            <a:stCxn id="16" idx="3"/>
            <a:endCxn id="29" idx="3"/>
          </p:cNvCxnSpPr>
          <p:nvPr/>
        </p:nvCxnSpPr>
        <p:spPr bwMode="auto">
          <a:xfrm>
            <a:off x="7146925" y="4362450"/>
            <a:ext cx="17115" cy="1514946"/>
          </a:xfrm>
          <a:prstGeom prst="curvedConnector3">
            <a:avLst>
              <a:gd name="adj1" fmla="val 3709150"/>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15" grpId="0" animBg="1"/>
      <p:bldP spid="14" grpId="0" animBg="1"/>
      <p:bldP spid="13" grpId="0" animBg="1"/>
      <p:bldP spid="12" grpId="0" animBg="1"/>
      <p:bldP spid="11" grpId="0" animBg="1"/>
      <p:bldP spid="7" grpId="0" animBg="1"/>
      <p:bldP spid="31"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3500438" y="3143250"/>
            <a:ext cx="1285875" cy="285750"/>
          </a:xfrm>
          <a:prstGeom prst="rect">
            <a:avLst/>
          </a:prstGeom>
          <a:solidFill>
            <a:srgbClr val="FFC000"/>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a:defRPr/>
            </a:pPr>
            <a:endParaRPr lang="en-US"/>
          </a:p>
        </p:txBody>
      </p:sp>
      <p:sp>
        <p:nvSpPr>
          <p:cNvPr id="7" name="Rectangle 6"/>
          <p:cNvSpPr/>
          <p:nvPr/>
        </p:nvSpPr>
        <p:spPr>
          <a:xfrm>
            <a:off x="1000125" y="3500438"/>
            <a:ext cx="1285875" cy="285750"/>
          </a:xfrm>
          <a:prstGeom prst="rect">
            <a:avLst/>
          </a:prstGeom>
          <a:solidFill>
            <a:schemeClr val="accent5">
              <a:lumMod val="40000"/>
              <a:lumOff val="6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a:defRPr/>
            </a:pPr>
            <a:endParaRPr lang="en-US"/>
          </a:p>
        </p:txBody>
      </p:sp>
      <p:sp>
        <p:nvSpPr>
          <p:cNvPr id="6" name="Rectangle 5"/>
          <p:cNvSpPr/>
          <p:nvPr/>
        </p:nvSpPr>
        <p:spPr>
          <a:xfrm>
            <a:off x="1714500" y="2000250"/>
            <a:ext cx="3286125" cy="1143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5845" name="Title 1"/>
          <p:cNvSpPr>
            <a:spLocks noGrp="1"/>
          </p:cNvSpPr>
          <p:nvPr>
            <p:ph type="title"/>
          </p:nvPr>
        </p:nvSpPr>
        <p:spPr/>
        <p:txBody>
          <a:bodyPr/>
          <a:lstStyle/>
          <a:p>
            <a:r>
              <a:rPr lang="en-US"/>
              <a:t>Discussion: exception</a:t>
            </a:r>
          </a:p>
        </p:txBody>
      </p:sp>
      <p:sp>
        <p:nvSpPr>
          <p:cNvPr id="3" name="Slide Number Placeholder 2"/>
          <p:cNvSpPr>
            <a:spLocks noGrp="1"/>
          </p:cNvSpPr>
          <p:nvPr>
            <p:ph type="sldNum" sz="quarter" idx="12"/>
          </p:nvPr>
        </p:nvSpPr>
        <p:spPr/>
        <p:txBody>
          <a:bodyPr/>
          <a:lstStyle/>
          <a:p>
            <a:pPr>
              <a:defRPr/>
            </a:pPr>
            <a:fld id="{AAA62B86-096D-45D1-9CB0-1D318CB98DC9}" type="slidenum">
              <a:rPr lang="en-US" smtClean="0"/>
              <a:pPr>
                <a:defRPr/>
              </a:pPr>
              <a:t>44</a:t>
            </a:fld>
            <a:endParaRPr lang="en-US"/>
          </a:p>
        </p:txBody>
      </p:sp>
      <p:sp>
        <p:nvSpPr>
          <p:cNvPr id="4" name="TextBox 3"/>
          <p:cNvSpPr txBox="1"/>
          <p:nvPr/>
        </p:nvSpPr>
        <p:spPr>
          <a:xfrm>
            <a:off x="785813" y="1571625"/>
            <a:ext cx="4275137" cy="2678113"/>
          </a:xfrm>
          <a:prstGeom prst="rect">
            <a:avLst/>
          </a:prstGeom>
          <a:noFill/>
        </p:spPr>
        <p:txBody>
          <a:bodyPr wrap="none">
            <a:spAutoFit/>
          </a:bodyPr>
          <a:lstStyle/>
          <a:p>
            <a:pPr>
              <a:defRPr/>
            </a:pPr>
            <a:r>
              <a:rPr lang="en-US" sz="2400" dirty="0">
                <a:latin typeface="+mn-lt"/>
              </a:rPr>
              <a:t>P3(...) {</a:t>
            </a:r>
          </a:p>
          <a:p>
            <a:pPr>
              <a:defRPr/>
            </a:pPr>
            <a:r>
              <a:rPr lang="en-US" sz="2400" dirty="0">
                <a:latin typeface="+mn-lt"/>
              </a:rPr>
              <a:t>    </a:t>
            </a:r>
            <a:r>
              <a:rPr lang="en-US" sz="2400" b="1" dirty="0">
                <a:latin typeface="+mn-lt"/>
              </a:rPr>
              <a:t>try</a:t>
            </a:r>
            <a:r>
              <a:rPr lang="en-US" sz="2400" dirty="0">
                <a:latin typeface="+mn-lt"/>
              </a:rPr>
              <a:t> {  File f = </a:t>
            </a:r>
            <a:r>
              <a:rPr lang="en-US" sz="2400" dirty="0" err="1">
                <a:latin typeface="+mn-lt"/>
              </a:rPr>
              <a:t>openFile</a:t>
            </a:r>
            <a:r>
              <a:rPr lang="en-US" sz="2400" dirty="0">
                <a:latin typeface="+mn-lt"/>
              </a:rPr>
              <a:t>(“input”) </a:t>
            </a:r>
          </a:p>
          <a:p>
            <a:pPr>
              <a:defRPr/>
            </a:pPr>
            <a:r>
              <a:rPr lang="en-US" sz="2400" dirty="0">
                <a:latin typeface="+mn-lt"/>
              </a:rPr>
              <a:t>             x = </a:t>
            </a:r>
            <a:r>
              <a:rPr lang="en-US" sz="2400" dirty="0" err="1">
                <a:latin typeface="+mn-lt"/>
              </a:rPr>
              <a:t>f.readInt</a:t>
            </a:r>
            <a:r>
              <a:rPr lang="en-US" sz="2400" dirty="0">
                <a:latin typeface="+mn-lt"/>
              </a:rPr>
              <a:t>() </a:t>
            </a:r>
          </a:p>
          <a:p>
            <a:pPr>
              <a:defRPr/>
            </a:pPr>
            <a:r>
              <a:rPr lang="en-US" sz="2400" dirty="0">
                <a:latin typeface="+mn-lt"/>
              </a:rPr>
              <a:t>             y = (Double) 1/x    }</a:t>
            </a:r>
          </a:p>
          <a:p>
            <a:pPr>
              <a:defRPr/>
            </a:pPr>
            <a:r>
              <a:rPr lang="en-US" sz="2400" dirty="0">
                <a:latin typeface="+mn-lt"/>
              </a:rPr>
              <a:t>    </a:t>
            </a:r>
            <a:r>
              <a:rPr lang="en-US" sz="2400" b="1" dirty="0">
                <a:latin typeface="+mn-lt"/>
              </a:rPr>
              <a:t>catch</a:t>
            </a:r>
            <a:r>
              <a:rPr lang="en-US" sz="2400" dirty="0">
                <a:latin typeface="+mn-lt"/>
              </a:rPr>
              <a:t> (Exception e) {  y = -1 }</a:t>
            </a:r>
          </a:p>
          <a:p>
            <a:pPr>
              <a:defRPr/>
            </a:pPr>
            <a:r>
              <a:rPr lang="en-US" sz="2400" dirty="0">
                <a:latin typeface="+mn-lt"/>
              </a:rPr>
              <a:t>    </a:t>
            </a:r>
            <a:r>
              <a:rPr lang="en-US" sz="2400" b="1" dirty="0">
                <a:latin typeface="+mn-lt"/>
              </a:rPr>
              <a:t>return</a:t>
            </a:r>
            <a:r>
              <a:rPr lang="en-US" sz="2400" dirty="0">
                <a:latin typeface="+mn-lt"/>
              </a:rPr>
              <a:t> y </a:t>
            </a:r>
          </a:p>
          <a:p>
            <a:pPr>
              <a:defRPr/>
            </a:pPr>
            <a:r>
              <a:rPr lang="en-US" sz="2400" dirty="0">
                <a:latin typeface="+mn-lt"/>
              </a:rPr>
              <a:t>} </a:t>
            </a:r>
          </a:p>
        </p:txBody>
      </p:sp>
      <p:sp>
        <p:nvSpPr>
          <p:cNvPr id="5" name="TextBox 4"/>
          <p:cNvSpPr txBox="1"/>
          <p:nvPr/>
        </p:nvSpPr>
        <p:spPr>
          <a:xfrm>
            <a:off x="428625" y="4357688"/>
            <a:ext cx="8358188" cy="1477328"/>
          </a:xfrm>
          <a:prstGeom prst="rect">
            <a:avLst/>
          </a:prstGeom>
          <a:noFill/>
        </p:spPr>
        <p:txBody>
          <a:bodyPr>
            <a:spAutoFit/>
          </a:bodyPr>
          <a:lstStyle/>
          <a:p>
            <a:pPr algn="just">
              <a:defRPr/>
            </a:pPr>
            <a:r>
              <a:rPr lang="en-US" dirty="0">
                <a:latin typeface="+mn-lt"/>
              </a:rPr>
              <a:t>Every  instruction can potentially throw an exception. Yet representing each instruction as its own node in our CFG will increase the size of the graph, and thus also the size of the TR. We can decide to abstract over this, as in the CFG above. But you should be aware of the loss of information. E.g. when a test set manages to cover the exception edge 0</a:t>
            </a:r>
            <a:r>
              <a:rPr lang="en-US" dirty="0">
                <a:latin typeface="+mn-lt"/>
                <a:sym typeface="Wingdings" pitchFamily="2" charset="2"/>
              </a:rPr>
              <a:t>1, we are still unsure if we have tested all sources of this exception.</a:t>
            </a:r>
            <a:r>
              <a:rPr lang="en-US" dirty="0">
                <a:latin typeface="+mn-lt"/>
              </a:rPr>
              <a:t> </a:t>
            </a:r>
          </a:p>
        </p:txBody>
      </p:sp>
      <p:grpSp>
        <p:nvGrpSpPr>
          <p:cNvPr id="2" name="Group 35"/>
          <p:cNvGrpSpPr>
            <a:grpSpLocks/>
          </p:cNvGrpSpPr>
          <p:nvPr/>
        </p:nvGrpSpPr>
        <p:grpSpPr bwMode="auto">
          <a:xfrm>
            <a:off x="6500813" y="2000250"/>
            <a:ext cx="1428750" cy="1357313"/>
            <a:chOff x="6500826" y="2143116"/>
            <a:chExt cx="1428760" cy="1357322"/>
          </a:xfrm>
        </p:grpSpPr>
        <p:sp>
          <p:nvSpPr>
            <p:cNvPr id="12" name="Rectangle 11"/>
            <p:cNvSpPr/>
            <p:nvPr/>
          </p:nvSpPr>
          <p:spPr>
            <a:xfrm>
              <a:off x="6500826" y="3068635"/>
              <a:ext cx="431803" cy="43180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1</a:t>
              </a:r>
            </a:p>
          </p:txBody>
        </p:sp>
        <p:sp>
          <p:nvSpPr>
            <p:cNvPr id="13" name="Rectangle 12"/>
            <p:cNvSpPr/>
            <p:nvPr/>
          </p:nvSpPr>
          <p:spPr>
            <a:xfrm>
              <a:off x="7497783" y="2143116"/>
              <a:ext cx="431803" cy="4318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1</a:t>
              </a:r>
            </a:p>
          </p:txBody>
        </p:sp>
        <p:sp>
          <p:nvSpPr>
            <p:cNvPr id="14" name="Rectangle 13"/>
            <p:cNvSpPr/>
            <p:nvPr/>
          </p:nvSpPr>
          <p:spPr>
            <a:xfrm>
              <a:off x="6500826" y="2143116"/>
              <a:ext cx="431803" cy="43180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0</a:t>
              </a:r>
            </a:p>
          </p:txBody>
        </p:sp>
        <p:cxnSp>
          <p:nvCxnSpPr>
            <p:cNvPr id="15" name="Straight Arrow Connector 14"/>
            <p:cNvCxnSpPr>
              <a:stCxn id="14" idx="3"/>
              <a:endCxn id="13" idx="1"/>
            </p:cNvCxnSpPr>
            <p:nvPr/>
          </p:nvCxnSpPr>
          <p:spPr>
            <a:xfrm>
              <a:off x="6932629" y="2359017"/>
              <a:ext cx="565154" cy="1588"/>
            </a:xfrm>
            <a:prstGeom prst="straightConnector1">
              <a:avLst/>
            </a:prstGeom>
            <a:ln w="38100">
              <a:prstDash val="sysDash"/>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3" idx="2"/>
              <a:endCxn id="12" idx="3"/>
            </p:cNvCxnSpPr>
            <p:nvPr/>
          </p:nvCxnSpPr>
          <p:spPr>
            <a:xfrm rot="5400000">
              <a:off x="6968347" y="2539200"/>
              <a:ext cx="709618" cy="7810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14" idx="2"/>
              <a:endCxn id="12" idx="0"/>
            </p:cNvCxnSpPr>
            <p:nvPr/>
          </p:nvCxnSpPr>
          <p:spPr>
            <a:xfrm rot="5400000">
              <a:off x="6471457" y="2821777"/>
              <a:ext cx="492128" cy="15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animBg="1"/>
      <p:bldP spid="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3"/>
          <p:cNvSpPr>
            <a:spLocks noGrp="1"/>
          </p:cNvSpPr>
          <p:nvPr>
            <p:ph type="title"/>
          </p:nvPr>
        </p:nvSpPr>
        <p:spPr/>
        <p:txBody>
          <a:bodyPr/>
          <a:lstStyle/>
          <a:p>
            <a:r>
              <a:rPr lang="en-US"/>
              <a:t>More discussion</a:t>
            </a:r>
          </a:p>
        </p:txBody>
      </p:sp>
      <p:sp>
        <p:nvSpPr>
          <p:cNvPr id="37891" name="Content Placeholder 4"/>
          <p:cNvSpPr>
            <a:spLocks noGrp="1"/>
          </p:cNvSpPr>
          <p:nvPr>
            <p:ph idx="1"/>
          </p:nvPr>
        </p:nvSpPr>
        <p:spPr/>
        <p:txBody>
          <a:bodyPr/>
          <a:lstStyle/>
          <a:p>
            <a:r>
              <a:rPr lang="en-US" dirty="0"/>
              <a:t>What to do with dynamic binding ? </a:t>
            </a:r>
          </a:p>
          <a:p>
            <a:endParaRPr lang="en-US" dirty="0"/>
          </a:p>
          <a:p>
            <a:endParaRPr lang="en-US" dirty="0"/>
          </a:p>
          <a:p>
            <a:endParaRPr lang="en-US" dirty="0"/>
          </a:p>
          <a:p>
            <a:r>
              <a:rPr lang="en-US" dirty="0"/>
              <a:t>What to do with recursion? </a:t>
            </a:r>
            <a:br>
              <a:rPr lang="en-US" dirty="0"/>
            </a:br>
            <a:endParaRPr lang="en-US" dirty="0"/>
          </a:p>
          <a:p>
            <a:endParaRPr lang="en-US" dirty="0"/>
          </a:p>
        </p:txBody>
      </p:sp>
      <p:sp>
        <p:nvSpPr>
          <p:cNvPr id="3" name="Slide Number Placeholder 2"/>
          <p:cNvSpPr>
            <a:spLocks noGrp="1"/>
          </p:cNvSpPr>
          <p:nvPr>
            <p:ph type="sldNum" sz="quarter" idx="12"/>
          </p:nvPr>
        </p:nvSpPr>
        <p:spPr/>
        <p:txBody>
          <a:bodyPr/>
          <a:lstStyle/>
          <a:p>
            <a:pPr>
              <a:defRPr/>
            </a:pPr>
            <a:fld id="{162F6396-3A86-4DF1-A342-BC89F5D3FC61}" type="slidenum">
              <a:rPr lang="en-US" smtClean="0"/>
              <a:pPr>
                <a:defRPr/>
              </a:pPr>
              <a:t>45</a:t>
            </a:fld>
            <a:endParaRPr lang="en-US"/>
          </a:p>
        </p:txBody>
      </p:sp>
      <p:sp>
        <p:nvSpPr>
          <p:cNvPr id="6" name="TextBox 5"/>
          <p:cNvSpPr txBox="1"/>
          <p:nvPr/>
        </p:nvSpPr>
        <p:spPr>
          <a:xfrm>
            <a:off x="971600" y="4725144"/>
            <a:ext cx="2651239" cy="1569660"/>
          </a:xfrm>
          <a:prstGeom prst="rect">
            <a:avLst/>
          </a:prstGeom>
          <a:noFill/>
          <a:ln>
            <a:solidFill>
              <a:schemeClr val="tx1"/>
            </a:solidFill>
          </a:ln>
        </p:spPr>
        <p:txBody>
          <a:bodyPr wrap="none">
            <a:spAutoFit/>
          </a:bodyPr>
          <a:lstStyle/>
          <a:p>
            <a:pPr>
              <a:defRPr/>
            </a:pPr>
            <a:r>
              <a:rPr lang="en-US" sz="2400" dirty="0">
                <a:latin typeface="+mn-lt"/>
              </a:rPr>
              <a:t>f(x) {</a:t>
            </a:r>
            <a:br>
              <a:rPr lang="en-US" sz="2400" dirty="0">
                <a:latin typeface="+mn-lt"/>
              </a:rPr>
            </a:br>
            <a:r>
              <a:rPr lang="en-US" sz="2400" b="1" dirty="0">
                <a:latin typeface="+mn-lt"/>
              </a:rPr>
              <a:t>   </a:t>
            </a:r>
            <a:r>
              <a:rPr lang="en-US" sz="2400" b="1" u="sng" dirty="0">
                <a:latin typeface="+mn-lt"/>
              </a:rPr>
              <a:t>if</a:t>
            </a:r>
            <a:r>
              <a:rPr lang="en-US" sz="2400" b="1" dirty="0">
                <a:latin typeface="+mn-lt"/>
              </a:rPr>
              <a:t>  </a:t>
            </a:r>
            <a:r>
              <a:rPr lang="en-US" sz="2400" dirty="0">
                <a:latin typeface="+mn-lt"/>
              </a:rPr>
              <a:t>(x</a:t>
            </a:r>
            <a:r>
              <a:rPr lang="en-US" sz="2400" dirty="0">
                <a:latin typeface="+mn-lt"/>
                <a:sym typeface="Symbol"/>
              </a:rPr>
              <a:t>0)  </a:t>
            </a:r>
            <a:r>
              <a:rPr lang="en-US" sz="2400" b="1" dirty="0">
                <a:latin typeface="+mn-lt"/>
                <a:sym typeface="Symbol"/>
              </a:rPr>
              <a:t>return</a:t>
            </a:r>
            <a:r>
              <a:rPr lang="en-US" sz="2400" dirty="0">
                <a:latin typeface="+mn-lt"/>
                <a:sym typeface="Symbol"/>
              </a:rPr>
              <a:t> 0  </a:t>
            </a:r>
          </a:p>
          <a:p>
            <a:pPr>
              <a:defRPr/>
            </a:pPr>
            <a:r>
              <a:rPr lang="en-US" sz="2400" b="1" dirty="0">
                <a:latin typeface="+mn-lt"/>
                <a:sym typeface="Symbol"/>
              </a:rPr>
              <a:t>   </a:t>
            </a:r>
            <a:r>
              <a:rPr lang="en-US" sz="2400" b="1" u="sng" dirty="0">
                <a:latin typeface="+mn-lt"/>
                <a:sym typeface="Symbol"/>
              </a:rPr>
              <a:t>else</a:t>
            </a:r>
            <a:r>
              <a:rPr lang="en-US" sz="2400" dirty="0">
                <a:latin typeface="+mn-lt"/>
                <a:sym typeface="Symbol"/>
              </a:rPr>
              <a:t>  </a:t>
            </a:r>
            <a:r>
              <a:rPr lang="en-US" sz="2400" b="1" dirty="0">
                <a:latin typeface="+mn-lt"/>
                <a:sym typeface="Symbol"/>
              </a:rPr>
              <a:t>return</a:t>
            </a:r>
            <a:r>
              <a:rPr lang="en-US" sz="2400" dirty="0">
                <a:latin typeface="+mn-lt"/>
                <a:sym typeface="Symbol"/>
              </a:rPr>
              <a:t> f(x-1)</a:t>
            </a:r>
          </a:p>
          <a:p>
            <a:pPr>
              <a:defRPr/>
            </a:pPr>
            <a:r>
              <a:rPr lang="en-US" sz="2400" dirty="0">
                <a:latin typeface="+mn-lt"/>
                <a:sym typeface="Symbol"/>
              </a:rPr>
              <a:t>}</a:t>
            </a:r>
            <a:endParaRPr lang="en-US" sz="2400" dirty="0">
              <a:latin typeface="+mn-lt"/>
            </a:endParaRPr>
          </a:p>
        </p:txBody>
      </p:sp>
      <p:sp>
        <p:nvSpPr>
          <p:cNvPr id="7" name="TextBox 6"/>
          <p:cNvSpPr txBox="1"/>
          <p:nvPr/>
        </p:nvSpPr>
        <p:spPr>
          <a:xfrm>
            <a:off x="1547664" y="2420888"/>
            <a:ext cx="3865562" cy="1200150"/>
          </a:xfrm>
          <a:prstGeom prst="rect">
            <a:avLst/>
          </a:prstGeom>
          <a:noFill/>
          <a:ln>
            <a:solidFill>
              <a:schemeClr val="tx1"/>
            </a:solidFill>
          </a:ln>
        </p:spPr>
        <p:txBody>
          <a:bodyPr wrap="none">
            <a:spAutoFit/>
          </a:bodyPr>
          <a:lstStyle/>
          <a:p>
            <a:pPr>
              <a:defRPr/>
            </a:pPr>
            <a:r>
              <a:rPr lang="en-US" sz="2400" dirty="0">
                <a:latin typeface="+mn-lt"/>
              </a:rPr>
              <a:t>register(Course c, Student s) {</a:t>
            </a:r>
          </a:p>
          <a:p>
            <a:pPr>
              <a:defRPr/>
            </a:pPr>
            <a:r>
              <a:rPr lang="en-US" sz="2400" dirty="0">
                <a:latin typeface="+mn-lt"/>
              </a:rPr>
              <a:t>    if (! </a:t>
            </a:r>
            <a:r>
              <a:rPr lang="en-US" sz="2400" dirty="0" err="1">
                <a:latin typeface="+mn-lt"/>
              </a:rPr>
              <a:t>c.full</a:t>
            </a:r>
            <a:r>
              <a:rPr lang="en-US" sz="2400" dirty="0">
                <a:latin typeface="+mn-lt"/>
              </a:rPr>
              <a:t>()) </a:t>
            </a:r>
            <a:r>
              <a:rPr lang="en-US" sz="2400" dirty="0" err="1">
                <a:latin typeface="+mn-lt"/>
              </a:rPr>
              <a:t>c.add</a:t>
            </a:r>
            <a:r>
              <a:rPr lang="en-US" sz="2400" dirty="0">
                <a:latin typeface="+mn-lt"/>
              </a:rPr>
              <a:t>(s) ;</a:t>
            </a:r>
            <a:br>
              <a:rPr lang="en-US" sz="2400" dirty="0">
                <a:latin typeface="+mn-lt"/>
              </a:rPr>
            </a:br>
            <a:r>
              <a:rPr lang="en-US" sz="2400" dirty="0">
                <a:latin typeface="+mn-lt"/>
                <a:sym typeface="Symbol"/>
              </a:rPr>
              <a:t>}</a:t>
            </a:r>
            <a:endParaRPr lang="en-US" sz="2400" dirty="0">
              <a:latin typeface="+mn-lt"/>
            </a:endParaRPr>
          </a:p>
        </p:txBody>
      </p:sp>
      <p:sp>
        <p:nvSpPr>
          <p:cNvPr id="8" name="TextBox 7"/>
          <p:cNvSpPr txBox="1"/>
          <p:nvPr/>
        </p:nvSpPr>
        <p:spPr>
          <a:xfrm>
            <a:off x="5868144" y="2348880"/>
            <a:ext cx="2857500" cy="1384300"/>
          </a:xfrm>
          <a:prstGeom prst="rect">
            <a:avLst/>
          </a:prstGeom>
          <a:noFill/>
        </p:spPr>
        <p:txBody>
          <a:bodyPr>
            <a:spAutoFit/>
          </a:bodyPr>
          <a:lstStyle/>
          <a:p>
            <a:pPr>
              <a:defRPr/>
            </a:pPr>
            <a:r>
              <a:rPr lang="en-US" sz="1400" i="1" dirty="0">
                <a:latin typeface="+mn-lt"/>
              </a:rPr>
              <a:t>You don’t know ahead which “add” will be called; it depends on the run-time type of c. E.g. it may refuse to add certain type of students.  Graph-based coverage alone is not strong enough to express this aspect.</a:t>
            </a:r>
          </a:p>
        </p:txBody>
      </p:sp>
      <p:sp>
        <p:nvSpPr>
          <p:cNvPr id="9" name="TextBox 8"/>
          <p:cNvSpPr txBox="1"/>
          <p:nvPr/>
        </p:nvSpPr>
        <p:spPr>
          <a:xfrm>
            <a:off x="4200125" y="4725144"/>
            <a:ext cx="4087657" cy="1569660"/>
          </a:xfrm>
          <a:prstGeom prst="rect">
            <a:avLst/>
          </a:prstGeom>
          <a:noFill/>
          <a:ln>
            <a:solidFill>
              <a:schemeClr val="tx1"/>
            </a:solidFill>
          </a:ln>
        </p:spPr>
        <p:txBody>
          <a:bodyPr wrap="none">
            <a:spAutoFit/>
          </a:bodyPr>
          <a:lstStyle/>
          <a:p>
            <a:pPr>
              <a:defRPr/>
            </a:pPr>
            <a:r>
              <a:rPr lang="en-US" sz="2400" dirty="0">
                <a:latin typeface="+mn-lt"/>
              </a:rPr>
              <a:t>g(x) {</a:t>
            </a:r>
            <a:br>
              <a:rPr lang="en-US" sz="2400" dirty="0">
                <a:latin typeface="+mn-lt"/>
              </a:rPr>
            </a:br>
            <a:r>
              <a:rPr lang="en-US" sz="2400" b="1" dirty="0">
                <a:latin typeface="+mn-lt"/>
              </a:rPr>
              <a:t>   </a:t>
            </a:r>
            <a:r>
              <a:rPr lang="en-US" sz="2400" b="1" u="sng" dirty="0">
                <a:latin typeface="+mn-lt"/>
              </a:rPr>
              <a:t>if</a:t>
            </a:r>
            <a:r>
              <a:rPr lang="en-US" sz="2400" b="1" dirty="0">
                <a:latin typeface="+mn-lt"/>
              </a:rPr>
              <a:t>  </a:t>
            </a:r>
            <a:r>
              <a:rPr lang="en-US" sz="2400" dirty="0">
                <a:latin typeface="+mn-lt"/>
              </a:rPr>
              <a:t>(x</a:t>
            </a:r>
            <a:r>
              <a:rPr lang="en-US" sz="2400" dirty="0">
                <a:latin typeface="+mn-lt"/>
                <a:sym typeface="Symbol"/>
              </a:rPr>
              <a:t>0)  </a:t>
            </a:r>
            <a:r>
              <a:rPr lang="en-US" sz="2400" b="1" dirty="0">
                <a:latin typeface="+mn-lt"/>
                <a:sym typeface="Symbol"/>
              </a:rPr>
              <a:t>return</a:t>
            </a:r>
            <a:r>
              <a:rPr lang="en-US" sz="2400" dirty="0">
                <a:latin typeface="+mn-lt"/>
                <a:sym typeface="Symbol"/>
              </a:rPr>
              <a:t> 0  </a:t>
            </a:r>
          </a:p>
          <a:p>
            <a:pPr>
              <a:defRPr/>
            </a:pPr>
            <a:r>
              <a:rPr lang="en-US" sz="2400" b="1" dirty="0">
                <a:latin typeface="+mn-lt"/>
                <a:sym typeface="Symbol"/>
              </a:rPr>
              <a:t>   </a:t>
            </a:r>
            <a:r>
              <a:rPr lang="en-US" sz="2400" b="1" u="sng" dirty="0">
                <a:latin typeface="+mn-lt"/>
                <a:sym typeface="Symbol"/>
              </a:rPr>
              <a:t>else</a:t>
            </a:r>
            <a:r>
              <a:rPr lang="en-US" sz="2400" dirty="0">
                <a:latin typeface="+mn-lt"/>
                <a:sym typeface="Symbol"/>
              </a:rPr>
              <a:t>  { x = g(x-1) ; </a:t>
            </a:r>
            <a:r>
              <a:rPr lang="en-US" sz="2400" b="1" dirty="0">
                <a:latin typeface="+mn-lt"/>
                <a:sym typeface="Symbol"/>
              </a:rPr>
              <a:t>return</a:t>
            </a:r>
            <a:r>
              <a:rPr lang="en-US" sz="2400" dirty="0">
                <a:latin typeface="+mn-lt"/>
                <a:sym typeface="Symbol"/>
              </a:rPr>
              <a:t> x+1 } </a:t>
            </a:r>
          </a:p>
          <a:p>
            <a:pPr>
              <a:defRPr/>
            </a:pPr>
            <a:r>
              <a:rPr lang="en-US" sz="2400" dirty="0">
                <a:latin typeface="+mn-lt"/>
                <a:sym typeface="Symbol"/>
              </a:rPr>
              <a:t>}</a:t>
            </a:r>
            <a:endParaRPr lang="en-US" sz="2400" dirty="0">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1D7E9B5-8951-54AD-9E74-D3261647F496}"/>
              </a:ext>
            </a:extLst>
          </p:cNvPr>
          <p:cNvSpPr/>
          <p:nvPr/>
        </p:nvSpPr>
        <p:spPr>
          <a:xfrm>
            <a:off x="938557" y="4214338"/>
            <a:ext cx="1473203" cy="40955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0" name="Rectangle 9">
            <a:extLst>
              <a:ext uri="{FF2B5EF4-FFF2-40B4-BE49-F238E27FC236}">
                <a16:creationId xmlns:a16="http://schemas.microsoft.com/office/drawing/2014/main" id="{3A77FF1D-C4A1-B96F-422A-88727A2872A5}"/>
              </a:ext>
            </a:extLst>
          </p:cNvPr>
          <p:cNvSpPr/>
          <p:nvPr/>
        </p:nvSpPr>
        <p:spPr>
          <a:xfrm>
            <a:off x="932212" y="3834199"/>
            <a:ext cx="1479548" cy="37455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 name="Rectangle 2">
            <a:extLst>
              <a:ext uri="{FF2B5EF4-FFF2-40B4-BE49-F238E27FC236}">
                <a16:creationId xmlns:a16="http://schemas.microsoft.com/office/drawing/2014/main" id="{FE3EAEC2-8227-E49D-016A-FE65B472BD27}"/>
              </a:ext>
            </a:extLst>
          </p:cNvPr>
          <p:cNvSpPr/>
          <p:nvPr/>
        </p:nvSpPr>
        <p:spPr>
          <a:xfrm>
            <a:off x="1196629" y="3089567"/>
            <a:ext cx="693394" cy="49310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 name="Rectangle 1">
            <a:extLst>
              <a:ext uri="{FF2B5EF4-FFF2-40B4-BE49-F238E27FC236}">
                <a16:creationId xmlns:a16="http://schemas.microsoft.com/office/drawing/2014/main" id="{6BE1EF8D-1473-F09B-6720-6880F55F27A5}"/>
              </a:ext>
            </a:extLst>
          </p:cNvPr>
          <p:cNvSpPr/>
          <p:nvPr/>
        </p:nvSpPr>
        <p:spPr>
          <a:xfrm>
            <a:off x="1890024" y="3080687"/>
            <a:ext cx="1241815" cy="49310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Title 5"/>
          <p:cNvSpPr>
            <a:spLocks noGrp="1"/>
          </p:cNvSpPr>
          <p:nvPr>
            <p:ph type="title"/>
          </p:nvPr>
        </p:nvSpPr>
        <p:spPr>
          <a:xfrm>
            <a:off x="472098" y="285813"/>
            <a:ext cx="8229600" cy="913551"/>
          </a:xfrm>
        </p:spPr>
        <p:txBody>
          <a:bodyPr/>
          <a:lstStyle/>
          <a:p>
            <a:r>
              <a:rPr lang="en-US" dirty="0"/>
              <a:t>CFG of recursive programs</a:t>
            </a:r>
          </a:p>
        </p:txBody>
      </p:sp>
      <p:sp>
        <p:nvSpPr>
          <p:cNvPr id="4" name="Slide Number Placeholder 3"/>
          <p:cNvSpPr>
            <a:spLocks noGrp="1"/>
          </p:cNvSpPr>
          <p:nvPr>
            <p:ph type="sldNum" sz="quarter" idx="12"/>
          </p:nvPr>
        </p:nvSpPr>
        <p:spPr/>
        <p:txBody>
          <a:bodyPr/>
          <a:lstStyle/>
          <a:p>
            <a:pPr>
              <a:defRPr/>
            </a:pPr>
            <a:fld id="{F7C0A3F7-46F3-44CF-95B7-0304031AA6EA}" type="slidenum">
              <a:rPr lang="en-US" smtClean="0"/>
              <a:pPr>
                <a:defRPr/>
              </a:pPr>
              <a:t>46</a:t>
            </a:fld>
            <a:endParaRPr lang="en-US" dirty="0"/>
          </a:p>
        </p:txBody>
      </p:sp>
      <p:sp>
        <p:nvSpPr>
          <p:cNvPr id="7" name="Rectangle 6"/>
          <p:cNvSpPr/>
          <p:nvPr/>
        </p:nvSpPr>
        <p:spPr>
          <a:xfrm>
            <a:off x="4538146" y="3259518"/>
            <a:ext cx="864096" cy="43204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6">
                    <a:lumMod val="60000"/>
                    <a:lumOff val="40000"/>
                  </a:schemeClr>
                </a:solidFill>
              </a:rPr>
              <a:t>0</a:t>
            </a:r>
            <a:br>
              <a:rPr lang="en-US" sz="1400" dirty="0">
                <a:solidFill>
                  <a:schemeClr val="tx1"/>
                </a:solidFill>
              </a:rPr>
            </a:br>
            <a:r>
              <a:rPr lang="en-US" sz="1400" dirty="0">
                <a:solidFill>
                  <a:schemeClr val="tx1"/>
                </a:solidFill>
              </a:rPr>
              <a:t>x</a:t>
            </a:r>
            <a:r>
              <a:rPr lang="en-US" sz="1400" dirty="0">
                <a:solidFill>
                  <a:schemeClr val="tx1"/>
                </a:solidFill>
                <a:sym typeface="Symbol"/>
              </a:rPr>
              <a:t>0</a:t>
            </a:r>
            <a:endParaRPr lang="en-US" sz="1400" dirty="0">
              <a:solidFill>
                <a:schemeClr val="tx1"/>
              </a:solidFill>
            </a:endParaRPr>
          </a:p>
        </p:txBody>
      </p:sp>
      <p:sp>
        <p:nvSpPr>
          <p:cNvPr id="5" name="TextBox 4"/>
          <p:cNvSpPr txBox="1"/>
          <p:nvPr/>
        </p:nvSpPr>
        <p:spPr>
          <a:xfrm>
            <a:off x="611560" y="2708920"/>
            <a:ext cx="2650919" cy="2308324"/>
          </a:xfrm>
          <a:prstGeom prst="rect">
            <a:avLst/>
          </a:prstGeom>
          <a:noFill/>
          <a:ln>
            <a:solidFill>
              <a:schemeClr val="tx1"/>
            </a:solidFill>
          </a:ln>
        </p:spPr>
        <p:txBody>
          <a:bodyPr wrap="none">
            <a:spAutoFit/>
          </a:bodyPr>
          <a:lstStyle/>
          <a:p>
            <a:pPr>
              <a:defRPr/>
            </a:pPr>
            <a:r>
              <a:rPr lang="en-US" sz="2400" dirty="0">
                <a:latin typeface="+mn-lt"/>
              </a:rPr>
              <a:t>f(x) { </a:t>
            </a:r>
            <a:br>
              <a:rPr lang="en-US" sz="2400" dirty="0">
                <a:latin typeface="+mn-lt"/>
              </a:rPr>
            </a:br>
            <a:r>
              <a:rPr lang="en-US" sz="2400" b="1" dirty="0">
                <a:latin typeface="+mn-lt"/>
              </a:rPr>
              <a:t>   </a:t>
            </a:r>
            <a:r>
              <a:rPr lang="en-US" sz="2400" b="1" u="sng" dirty="0">
                <a:latin typeface="+mn-lt"/>
              </a:rPr>
              <a:t>if</a:t>
            </a:r>
            <a:r>
              <a:rPr lang="en-US" sz="2400" b="1" dirty="0">
                <a:latin typeface="+mn-lt"/>
              </a:rPr>
              <a:t>  </a:t>
            </a:r>
            <a:r>
              <a:rPr lang="en-US" sz="2400" dirty="0">
                <a:latin typeface="+mn-lt"/>
              </a:rPr>
              <a:t>(x</a:t>
            </a:r>
            <a:r>
              <a:rPr lang="en-US" sz="2400" dirty="0">
                <a:latin typeface="+mn-lt"/>
                <a:sym typeface="Symbol"/>
              </a:rPr>
              <a:t>0)  </a:t>
            </a:r>
            <a:r>
              <a:rPr lang="en-US" sz="2400" b="1" dirty="0">
                <a:latin typeface="+mn-lt"/>
                <a:sym typeface="Symbol"/>
              </a:rPr>
              <a:t>return</a:t>
            </a:r>
            <a:r>
              <a:rPr lang="en-US" sz="2400" dirty="0">
                <a:latin typeface="+mn-lt"/>
                <a:sym typeface="Symbol"/>
              </a:rPr>
              <a:t> 0  </a:t>
            </a:r>
          </a:p>
          <a:p>
            <a:pPr>
              <a:defRPr/>
            </a:pPr>
            <a:r>
              <a:rPr lang="en-US" sz="2400" b="1" dirty="0">
                <a:latin typeface="+mn-lt"/>
                <a:sym typeface="Symbol"/>
              </a:rPr>
              <a:t>   </a:t>
            </a:r>
            <a:r>
              <a:rPr lang="en-US" sz="2400" b="1" u="sng" dirty="0">
                <a:latin typeface="+mn-lt"/>
                <a:sym typeface="Symbol"/>
              </a:rPr>
              <a:t>else</a:t>
            </a:r>
            <a:r>
              <a:rPr lang="en-US" sz="2400" dirty="0">
                <a:latin typeface="+mn-lt"/>
                <a:sym typeface="Symbol"/>
              </a:rPr>
              <a:t>  {</a:t>
            </a:r>
          </a:p>
          <a:p>
            <a:pPr>
              <a:defRPr/>
            </a:pPr>
            <a:r>
              <a:rPr lang="en-US" sz="2400" b="1" dirty="0">
                <a:latin typeface="+mn-lt"/>
                <a:sym typeface="Symbol"/>
              </a:rPr>
              <a:t>    </a:t>
            </a:r>
            <a:r>
              <a:rPr lang="en-US" sz="2400" dirty="0">
                <a:latin typeface="+mn-lt"/>
                <a:sym typeface="Symbol"/>
              </a:rPr>
              <a:t>r</a:t>
            </a:r>
            <a:r>
              <a:rPr lang="en-US" sz="2400" b="1" dirty="0">
                <a:latin typeface="+mn-lt"/>
                <a:sym typeface="Symbol"/>
              </a:rPr>
              <a:t> = </a:t>
            </a:r>
            <a:r>
              <a:rPr lang="en-US" sz="2400" dirty="0">
                <a:latin typeface="+mn-lt"/>
                <a:sym typeface="Symbol"/>
              </a:rPr>
              <a:t>f(x-1)</a:t>
            </a:r>
            <a:br>
              <a:rPr lang="en-US" sz="2400" dirty="0">
                <a:latin typeface="+mn-lt"/>
                <a:sym typeface="Symbol"/>
              </a:rPr>
            </a:br>
            <a:r>
              <a:rPr lang="en-US" sz="2400" dirty="0">
                <a:latin typeface="+mn-lt"/>
                <a:sym typeface="Symbol"/>
              </a:rPr>
              <a:t>    </a:t>
            </a:r>
            <a:r>
              <a:rPr lang="en-US" sz="2400" b="1" dirty="0">
                <a:latin typeface="+mn-lt"/>
                <a:sym typeface="Symbol"/>
              </a:rPr>
              <a:t>return</a:t>
            </a:r>
            <a:r>
              <a:rPr lang="en-US" sz="2400" dirty="0">
                <a:latin typeface="+mn-lt"/>
                <a:sym typeface="Symbol"/>
              </a:rPr>
              <a:t> r+1</a:t>
            </a:r>
          </a:p>
          <a:p>
            <a:pPr>
              <a:defRPr/>
            </a:pPr>
            <a:r>
              <a:rPr lang="en-US" sz="2400" dirty="0">
                <a:latin typeface="+mn-lt"/>
                <a:sym typeface="Symbol"/>
              </a:rPr>
              <a:t>} </a:t>
            </a:r>
            <a:r>
              <a:rPr lang="en-US" dirty="0">
                <a:highlight>
                  <a:srgbClr val="C0C0C0"/>
                </a:highlight>
                <a:latin typeface="+mn-lt"/>
                <a:sym typeface="Symbol"/>
              </a:rPr>
              <a:t>&lt;end&gt;</a:t>
            </a:r>
            <a:endParaRPr lang="en-US" dirty="0">
              <a:highlight>
                <a:srgbClr val="C0C0C0"/>
              </a:highlight>
              <a:latin typeface="+mn-lt"/>
            </a:endParaRPr>
          </a:p>
        </p:txBody>
      </p:sp>
      <p:sp>
        <p:nvSpPr>
          <p:cNvPr id="8" name="Rectangle 7"/>
          <p:cNvSpPr/>
          <p:nvPr/>
        </p:nvSpPr>
        <p:spPr>
          <a:xfrm>
            <a:off x="5622067" y="3255385"/>
            <a:ext cx="1109596" cy="43204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6">
                    <a:lumMod val="60000"/>
                    <a:lumOff val="40000"/>
                  </a:schemeClr>
                </a:solidFill>
              </a:rPr>
              <a:t>2</a:t>
            </a:r>
          </a:p>
          <a:p>
            <a:pPr algn="ctr"/>
            <a:r>
              <a:rPr lang="en-US" sz="1400" b="1" dirty="0">
                <a:solidFill>
                  <a:schemeClr val="tx1"/>
                </a:solidFill>
              </a:rPr>
              <a:t>return</a:t>
            </a:r>
            <a:r>
              <a:rPr lang="en-US" sz="1400" dirty="0">
                <a:solidFill>
                  <a:schemeClr val="tx1"/>
                </a:solidFill>
              </a:rPr>
              <a:t> 0</a:t>
            </a:r>
          </a:p>
        </p:txBody>
      </p:sp>
      <p:sp>
        <p:nvSpPr>
          <p:cNvPr id="9" name="Rectangle 8"/>
          <p:cNvSpPr/>
          <p:nvPr/>
        </p:nvSpPr>
        <p:spPr>
          <a:xfrm>
            <a:off x="4416346" y="4303164"/>
            <a:ext cx="1107695" cy="688190"/>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6">
                    <a:lumMod val="60000"/>
                    <a:lumOff val="40000"/>
                  </a:schemeClr>
                </a:solidFill>
              </a:rPr>
              <a:t>1</a:t>
            </a:r>
          </a:p>
          <a:p>
            <a:pPr algn="ctr"/>
            <a:r>
              <a:rPr lang="en-US" sz="1400" dirty="0">
                <a:solidFill>
                  <a:schemeClr val="tx1"/>
                </a:solidFill>
              </a:rPr>
              <a:t>call f(x-1)</a:t>
            </a:r>
          </a:p>
        </p:txBody>
      </p:sp>
      <p:cxnSp>
        <p:nvCxnSpPr>
          <p:cNvPr id="11" name="Straight Arrow Connector 10"/>
          <p:cNvCxnSpPr>
            <a:stCxn id="7" idx="3"/>
            <a:endCxn id="8" idx="1"/>
          </p:cNvCxnSpPr>
          <p:nvPr/>
        </p:nvCxnSpPr>
        <p:spPr>
          <a:xfrm flipV="1">
            <a:off x="5402242" y="3471409"/>
            <a:ext cx="219825" cy="413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cxnSpLocks/>
            <a:stCxn id="7" idx="2"/>
            <a:endCxn id="9" idx="0"/>
          </p:cNvCxnSpPr>
          <p:nvPr/>
        </p:nvCxnSpPr>
        <p:spPr>
          <a:xfrm>
            <a:off x="4970194" y="3691566"/>
            <a:ext cx="0" cy="611598"/>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cxnSpLocks/>
            <a:endCxn id="18" idx="0"/>
          </p:cNvCxnSpPr>
          <p:nvPr/>
        </p:nvCxnSpPr>
        <p:spPr>
          <a:xfrm flipH="1">
            <a:off x="4970194" y="2465421"/>
            <a:ext cx="15037" cy="3445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urved Connector 21"/>
          <p:cNvCxnSpPr>
            <a:cxnSpLocks/>
            <a:stCxn id="9" idx="1"/>
            <a:endCxn id="18" idx="1"/>
          </p:cNvCxnSpPr>
          <p:nvPr/>
        </p:nvCxnSpPr>
        <p:spPr>
          <a:xfrm rot="10800000" flipH="1">
            <a:off x="4416346" y="2949343"/>
            <a:ext cx="121800" cy="1697917"/>
          </a:xfrm>
          <a:prstGeom prst="curvedConnector3">
            <a:avLst>
              <a:gd name="adj1" fmla="val -187685"/>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5621293" y="4287789"/>
            <a:ext cx="1107696" cy="688190"/>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6">
                    <a:lumMod val="60000"/>
                    <a:lumOff val="40000"/>
                  </a:schemeClr>
                </a:solidFill>
              </a:rPr>
              <a:t>3</a:t>
            </a:r>
          </a:p>
          <a:p>
            <a:pPr algn="ctr"/>
            <a:r>
              <a:rPr lang="en-US" sz="1400" dirty="0">
                <a:solidFill>
                  <a:schemeClr val="tx1"/>
                </a:solidFill>
              </a:rPr>
              <a:t>r = </a:t>
            </a:r>
            <a:r>
              <a:rPr lang="en-US" sz="1400" b="1" dirty="0" err="1">
                <a:solidFill>
                  <a:schemeClr val="tx1"/>
                </a:solidFill>
              </a:rPr>
              <a:t>retval</a:t>
            </a:r>
            <a:endParaRPr lang="en-US" sz="1400" dirty="0">
              <a:solidFill>
                <a:schemeClr val="tx1"/>
              </a:solidFill>
            </a:endParaRPr>
          </a:p>
        </p:txBody>
      </p:sp>
      <p:cxnSp>
        <p:nvCxnSpPr>
          <p:cNvPr id="34" name="Straight Arrow Connector 33"/>
          <p:cNvCxnSpPr>
            <a:cxnSpLocks/>
            <a:endCxn id="35" idx="1"/>
          </p:cNvCxnSpPr>
          <p:nvPr/>
        </p:nvCxnSpPr>
        <p:spPr>
          <a:xfrm flipV="1">
            <a:off x="6728989" y="2979041"/>
            <a:ext cx="298033" cy="3051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cxnSpLocks/>
            <a:stCxn id="35" idx="2"/>
          </p:cNvCxnSpPr>
          <p:nvPr/>
        </p:nvCxnSpPr>
        <p:spPr>
          <a:xfrm flipH="1">
            <a:off x="6728989" y="3144261"/>
            <a:ext cx="730081" cy="1157582"/>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urved Connector 37"/>
          <p:cNvCxnSpPr>
            <a:cxnSpLocks/>
            <a:stCxn id="70" idx="3"/>
            <a:endCxn id="35" idx="3"/>
          </p:cNvCxnSpPr>
          <p:nvPr/>
        </p:nvCxnSpPr>
        <p:spPr>
          <a:xfrm flipV="1">
            <a:off x="6728989" y="2979041"/>
            <a:ext cx="1162129" cy="2519934"/>
          </a:xfrm>
          <a:prstGeom prst="curvedConnector3">
            <a:avLst>
              <a:gd name="adj1" fmla="val 11967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4664427" y="5991671"/>
            <a:ext cx="2645626" cy="461665"/>
          </a:xfrm>
          <a:prstGeom prst="rect">
            <a:avLst/>
          </a:prstGeom>
          <a:noFill/>
        </p:spPr>
        <p:txBody>
          <a:bodyPr wrap="square" rtlCol="0">
            <a:spAutoFit/>
          </a:bodyPr>
          <a:lstStyle/>
          <a:p>
            <a:pPr algn="r"/>
            <a:r>
              <a:rPr lang="en-US" sz="1200" i="1" dirty="0"/>
              <a:t>Constrain: </a:t>
            </a:r>
            <a:r>
              <a:rPr lang="en-US" sz="1200" b="1" i="1" dirty="0"/>
              <a:t>both</a:t>
            </a:r>
            <a:r>
              <a:rPr lang="en-US" sz="1200" i="1" dirty="0"/>
              <a:t> red arrows should be taken in equal number of times</a:t>
            </a:r>
          </a:p>
        </p:txBody>
      </p:sp>
      <p:sp>
        <p:nvSpPr>
          <p:cNvPr id="35" name="Rectangle 34"/>
          <p:cNvSpPr/>
          <p:nvPr/>
        </p:nvSpPr>
        <p:spPr>
          <a:xfrm>
            <a:off x="7027022" y="2813820"/>
            <a:ext cx="864096" cy="330441"/>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&lt;end&gt;</a:t>
            </a:r>
          </a:p>
        </p:txBody>
      </p:sp>
      <p:sp>
        <p:nvSpPr>
          <p:cNvPr id="14" name="TextBox 13">
            <a:extLst>
              <a:ext uri="{FF2B5EF4-FFF2-40B4-BE49-F238E27FC236}">
                <a16:creationId xmlns:a16="http://schemas.microsoft.com/office/drawing/2014/main" id="{18C194E9-B8D2-0A48-A4AE-E3C0441F1FFF}"/>
              </a:ext>
            </a:extLst>
          </p:cNvPr>
          <p:cNvSpPr txBox="1"/>
          <p:nvPr/>
        </p:nvSpPr>
        <p:spPr>
          <a:xfrm>
            <a:off x="448102" y="1374951"/>
            <a:ext cx="8003232" cy="707886"/>
          </a:xfrm>
          <a:prstGeom prst="rect">
            <a:avLst/>
          </a:prstGeom>
          <a:noFill/>
        </p:spPr>
        <p:txBody>
          <a:bodyPr wrap="square" rtlCol="0">
            <a:spAutoFit/>
          </a:bodyPr>
          <a:lstStyle/>
          <a:p>
            <a:r>
              <a:rPr lang="en-US" sz="2000" dirty="0"/>
              <a:t>Constructing the CFG of a recursive program is more complicated. Let’s look at two simple examples.</a:t>
            </a:r>
          </a:p>
        </p:txBody>
      </p:sp>
      <p:cxnSp>
        <p:nvCxnSpPr>
          <p:cNvPr id="62" name="Straight Arrow Connector 61">
            <a:extLst>
              <a:ext uri="{FF2B5EF4-FFF2-40B4-BE49-F238E27FC236}">
                <a16:creationId xmlns:a16="http://schemas.microsoft.com/office/drawing/2014/main" id="{44C8E899-369A-9A4D-96F7-8B367079D394}"/>
              </a:ext>
            </a:extLst>
          </p:cNvPr>
          <p:cNvCxnSpPr>
            <a:cxnSpLocks/>
            <a:stCxn id="35" idx="0"/>
          </p:cNvCxnSpPr>
          <p:nvPr/>
        </p:nvCxnSpPr>
        <p:spPr>
          <a:xfrm flipV="1">
            <a:off x="7459070" y="2375799"/>
            <a:ext cx="0" cy="43802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704C5EA-F0AB-5E94-2540-2A8D2972A883}"/>
              </a:ext>
            </a:extLst>
          </p:cNvPr>
          <p:cNvSpPr txBox="1"/>
          <p:nvPr/>
        </p:nvSpPr>
        <p:spPr>
          <a:xfrm>
            <a:off x="1252882" y="2774929"/>
            <a:ext cx="955786" cy="369332"/>
          </a:xfrm>
          <a:prstGeom prst="rect">
            <a:avLst/>
          </a:prstGeom>
          <a:noFill/>
        </p:spPr>
        <p:txBody>
          <a:bodyPr wrap="square">
            <a:spAutoFit/>
          </a:bodyPr>
          <a:lstStyle/>
          <a:p>
            <a:r>
              <a:rPr lang="en-US" dirty="0">
                <a:highlight>
                  <a:srgbClr val="C0C0C0"/>
                </a:highlight>
                <a:latin typeface="+mn-lt"/>
                <a:sym typeface="Symbol"/>
              </a:rPr>
              <a:t>&lt;start&gt;</a:t>
            </a:r>
            <a:endParaRPr lang="en-NL" dirty="0"/>
          </a:p>
        </p:txBody>
      </p:sp>
      <p:sp>
        <p:nvSpPr>
          <p:cNvPr id="18" name="Rectangle 17">
            <a:extLst>
              <a:ext uri="{FF2B5EF4-FFF2-40B4-BE49-F238E27FC236}">
                <a16:creationId xmlns:a16="http://schemas.microsoft.com/office/drawing/2014/main" id="{386F0D27-C674-C256-E640-3173A662F7A5}"/>
              </a:ext>
            </a:extLst>
          </p:cNvPr>
          <p:cNvSpPr/>
          <p:nvPr/>
        </p:nvSpPr>
        <p:spPr>
          <a:xfrm>
            <a:off x="4538146" y="2809936"/>
            <a:ext cx="864096" cy="278812"/>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&lt;start&gt;</a:t>
            </a:r>
          </a:p>
        </p:txBody>
      </p:sp>
      <p:cxnSp>
        <p:nvCxnSpPr>
          <p:cNvPr id="20" name="Straight Arrow Connector 19">
            <a:extLst>
              <a:ext uri="{FF2B5EF4-FFF2-40B4-BE49-F238E27FC236}">
                <a16:creationId xmlns:a16="http://schemas.microsoft.com/office/drawing/2014/main" id="{74B36860-EE01-2806-B852-FA0F5BA9881C}"/>
              </a:ext>
            </a:extLst>
          </p:cNvPr>
          <p:cNvCxnSpPr>
            <a:cxnSpLocks/>
            <a:stCxn id="18" idx="2"/>
            <a:endCxn id="7" idx="0"/>
          </p:cNvCxnSpPr>
          <p:nvPr/>
        </p:nvCxnSpPr>
        <p:spPr>
          <a:xfrm>
            <a:off x="4970194" y="3088748"/>
            <a:ext cx="0" cy="1707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0" name="Rectangle 69">
            <a:extLst>
              <a:ext uri="{FF2B5EF4-FFF2-40B4-BE49-F238E27FC236}">
                <a16:creationId xmlns:a16="http://schemas.microsoft.com/office/drawing/2014/main" id="{BC74FCB2-8F78-0CE5-AEA8-23879C06D7B2}"/>
              </a:ext>
            </a:extLst>
          </p:cNvPr>
          <p:cNvSpPr/>
          <p:nvPr/>
        </p:nvSpPr>
        <p:spPr>
          <a:xfrm>
            <a:off x="5621293" y="5218170"/>
            <a:ext cx="1107696" cy="56161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6">
                    <a:lumMod val="60000"/>
                    <a:lumOff val="40000"/>
                  </a:schemeClr>
                </a:solidFill>
              </a:rPr>
              <a:t>4</a:t>
            </a:r>
            <a:br>
              <a:rPr lang="en-US" sz="1400" b="1" dirty="0">
                <a:solidFill>
                  <a:schemeClr val="tx1"/>
                </a:solidFill>
              </a:rPr>
            </a:br>
            <a:r>
              <a:rPr lang="en-US" sz="1400" b="1" dirty="0">
                <a:solidFill>
                  <a:schemeClr val="tx1"/>
                </a:solidFill>
              </a:rPr>
              <a:t>return </a:t>
            </a:r>
            <a:r>
              <a:rPr lang="en-US" sz="1400" dirty="0">
                <a:solidFill>
                  <a:schemeClr val="tx1"/>
                </a:solidFill>
              </a:rPr>
              <a:t>r+1</a:t>
            </a:r>
          </a:p>
        </p:txBody>
      </p:sp>
      <p:cxnSp>
        <p:nvCxnSpPr>
          <p:cNvPr id="72" name="Straight Arrow Connector 71">
            <a:extLst>
              <a:ext uri="{FF2B5EF4-FFF2-40B4-BE49-F238E27FC236}">
                <a16:creationId xmlns:a16="http://schemas.microsoft.com/office/drawing/2014/main" id="{1B7312E0-2A59-D36F-7815-7CE4531831F6}"/>
              </a:ext>
            </a:extLst>
          </p:cNvPr>
          <p:cNvCxnSpPr>
            <a:cxnSpLocks/>
            <a:stCxn id="33" idx="2"/>
            <a:endCxn id="70" idx="0"/>
          </p:cNvCxnSpPr>
          <p:nvPr/>
        </p:nvCxnSpPr>
        <p:spPr>
          <a:xfrm>
            <a:off x="6175141" y="4975979"/>
            <a:ext cx="0" cy="2421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547C399A-9362-F400-549F-FA780A198956}"/>
              </a:ext>
            </a:extLst>
          </p:cNvPr>
          <p:cNvSpPr txBox="1"/>
          <p:nvPr/>
        </p:nvSpPr>
        <p:spPr>
          <a:xfrm>
            <a:off x="4431382" y="4967590"/>
            <a:ext cx="1107697" cy="261610"/>
          </a:xfrm>
          <a:prstGeom prst="rect">
            <a:avLst/>
          </a:prstGeom>
          <a:noFill/>
        </p:spPr>
        <p:txBody>
          <a:bodyPr wrap="square" rtlCol="0">
            <a:spAutoFit/>
          </a:bodyPr>
          <a:lstStyle/>
          <a:p>
            <a:pPr algn="ctr"/>
            <a:r>
              <a:rPr lang="en-NL" sz="1050" dirty="0"/>
              <a:t>call site</a:t>
            </a:r>
          </a:p>
        </p:txBody>
      </p:sp>
      <p:sp>
        <p:nvSpPr>
          <p:cNvPr id="78" name="TextBox 77">
            <a:extLst>
              <a:ext uri="{FF2B5EF4-FFF2-40B4-BE49-F238E27FC236}">
                <a16:creationId xmlns:a16="http://schemas.microsoft.com/office/drawing/2014/main" id="{00922088-9DDA-09FB-F34B-5724FCCF8188}"/>
              </a:ext>
            </a:extLst>
          </p:cNvPr>
          <p:cNvSpPr txBox="1"/>
          <p:nvPr/>
        </p:nvSpPr>
        <p:spPr>
          <a:xfrm>
            <a:off x="5303262" y="4943921"/>
            <a:ext cx="1107697" cy="261610"/>
          </a:xfrm>
          <a:prstGeom prst="rect">
            <a:avLst/>
          </a:prstGeom>
          <a:noFill/>
        </p:spPr>
        <p:txBody>
          <a:bodyPr wrap="square" rtlCol="0">
            <a:spAutoFit/>
          </a:bodyPr>
          <a:lstStyle/>
          <a:p>
            <a:pPr algn="ctr"/>
            <a:r>
              <a:rPr lang="en-NL" sz="1050" dirty="0"/>
              <a:t>call site</a:t>
            </a:r>
          </a:p>
        </p:txBody>
      </p:sp>
      <p:sp>
        <p:nvSpPr>
          <p:cNvPr id="21" name="TextBox 20">
            <a:extLst>
              <a:ext uri="{FF2B5EF4-FFF2-40B4-BE49-F238E27FC236}">
                <a16:creationId xmlns:a16="http://schemas.microsoft.com/office/drawing/2014/main" id="{60656023-986B-5736-58DF-D935432CDCCD}"/>
              </a:ext>
            </a:extLst>
          </p:cNvPr>
          <p:cNvSpPr txBox="1"/>
          <p:nvPr/>
        </p:nvSpPr>
        <p:spPr>
          <a:xfrm>
            <a:off x="4985230" y="3764631"/>
            <a:ext cx="730082" cy="415498"/>
          </a:xfrm>
          <a:prstGeom prst="rect">
            <a:avLst/>
          </a:prstGeom>
          <a:noFill/>
        </p:spPr>
        <p:txBody>
          <a:bodyPr wrap="square" rtlCol="0">
            <a:spAutoFit/>
          </a:bodyPr>
          <a:lstStyle/>
          <a:p>
            <a:r>
              <a:rPr lang="en-NL" sz="1050" dirty="0"/>
              <a:t>recursive call</a:t>
            </a:r>
          </a:p>
        </p:txBody>
      </p:sp>
      <p:sp>
        <p:nvSpPr>
          <p:cNvPr id="23" name="TextBox 22">
            <a:extLst>
              <a:ext uri="{FF2B5EF4-FFF2-40B4-BE49-F238E27FC236}">
                <a16:creationId xmlns:a16="http://schemas.microsoft.com/office/drawing/2014/main" id="{730A8532-9FDB-0563-D80C-CF12F542813D}"/>
              </a:ext>
            </a:extLst>
          </p:cNvPr>
          <p:cNvSpPr txBox="1"/>
          <p:nvPr/>
        </p:nvSpPr>
        <p:spPr>
          <a:xfrm>
            <a:off x="7023582" y="3714309"/>
            <a:ext cx="985895" cy="415498"/>
          </a:xfrm>
          <a:prstGeom prst="rect">
            <a:avLst/>
          </a:prstGeom>
          <a:noFill/>
        </p:spPr>
        <p:txBody>
          <a:bodyPr wrap="square" rtlCol="0">
            <a:spAutoFit/>
          </a:bodyPr>
          <a:lstStyle/>
          <a:p>
            <a:r>
              <a:rPr lang="en-NL" sz="1050" dirty="0"/>
              <a:t>return from recursion</a:t>
            </a:r>
          </a:p>
        </p:txBody>
      </p:sp>
    </p:spTree>
    <p:extLst>
      <p:ext uri="{BB962C8B-B14F-4D97-AF65-F5344CB8AC3E}">
        <p14:creationId xmlns:p14="http://schemas.microsoft.com/office/powerpoint/2010/main" val="4283867616"/>
      </p:ext>
    </p:extLst>
  </p:cSld>
  <p:clrMapOvr>
    <a:masterClrMapping/>
  </p:clrMapOvr>
</p:sld>
</file>

<file path=ppt/theme/theme1.xml><?xml version="1.0" encoding="utf-8"?>
<a:theme xmlns:a="http://schemas.openxmlformats.org/drawingml/2006/main" name="organization">
  <a:themeElements>
    <a:clrScheme name="Verve">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organization</Template>
  <TotalTime>27416</TotalTime>
  <Words>5182</Words>
  <Application>Microsoft Macintosh PowerPoint</Application>
  <PresentationFormat>On-screen Show (4:3)</PresentationFormat>
  <Paragraphs>807</Paragraphs>
  <Slides>46</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organization</vt:lpstr>
      <vt:lpstr>Graph-based Test Coverage (A&amp;O Ch. 1, 2.1 – 2.3) (2nd Ed: 2,3,5,7.1 – 7.3)</vt:lpstr>
      <vt:lpstr>Plan</vt:lpstr>
      <vt:lpstr>Are we good now?</vt:lpstr>
      <vt:lpstr>Test Coverage</vt:lpstr>
      <vt:lpstr>Simple example: line coverage</vt:lpstr>
      <vt:lpstr>Simple example: line coverage</vt:lpstr>
      <vt:lpstr>Is it a good measure?</vt:lpstr>
      <vt:lpstr>Graph-based test coverage</vt:lpstr>
      <vt:lpstr>Graph terminology</vt:lpstr>
      <vt:lpstr>CFG and Test Path</vt:lpstr>
      <vt:lpstr>More terminology</vt:lpstr>
      <vt:lpstr>CFG-based TR</vt:lpstr>
      <vt:lpstr>Paths as test requirements</vt:lpstr>
      <vt:lpstr>Some basic graph coverage criteria</vt:lpstr>
      <vt:lpstr>Examples</vt:lpstr>
      <vt:lpstr>Subsumption</vt:lpstr>
      <vt:lpstr>Examples subsumption</vt:lpstr>
      <vt:lpstr>Few notes on TR and  subsumption</vt:lpstr>
      <vt:lpstr>What if we insist on covering ALL paths?</vt:lpstr>
      <vt:lpstr>Prime paths coverage</vt:lpstr>
      <vt:lpstr>Example</vt:lpstr>
      <vt:lpstr>Few notes on PPC</vt:lpstr>
      <vt:lpstr>Identifying Prime Paths</vt:lpstr>
      <vt:lpstr>AO’s PPs Algorithm (to get the set of prime paths)</vt:lpstr>
      <vt:lpstr>Example</vt:lpstr>
      <vt:lpstr>Example</vt:lpstr>
      <vt:lpstr>McCabe Complexity of a Program</vt:lpstr>
      <vt:lpstr>McCabe’s Original Theorem</vt:lpstr>
      <vt:lpstr>Connection with program complexity and testing</vt:lpstr>
      <vt:lpstr>Linearly Independent Circuits</vt:lpstr>
      <vt:lpstr>linearly (in)dependent circuits</vt:lpstr>
      <vt:lpstr>Some note: circuit vs cyclic simple path</vt:lpstr>
      <vt:lpstr>Counting Linearly Independent Circuits</vt:lpstr>
      <vt:lpstr>Example</vt:lpstr>
      <vt:lpstr>Relation with test coverage</vt:lpstr>
      <vt:lpstr>max. linearly independent set of circuits</vt:lpstr>
      <vt:lpstr>#McCabe-TR growth</vt:lpstr>
      <vt:lpstr>Unfeasible test requirement</vt:lpstr>
      <vt:lpstr>Typical unfeasibility in loops</vt:lpstr>
      <vt:lpstr>Generalizing Graph-based Coverage Criterion (CC)</vt:lpstr>
      <vt:lpstr>Oh, another scenario...</vt:lpstr>
      <vt:lpstr>Mapping your program to its CFG various ways, depending on the purpose</vt:lpstr>
      <vt:lpstr>Mapping your program to its CFG</vt:lpstr>
      <vt:lpstr>Discussion: exception</vt:lpstr>
      <vt:lpstr>More discussion</vt:lpstr>
      <vt:lpstr>CFG of recursive programs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Concepts of Software Testing</dc:title>
  <dc:creator>underdark</dc:creator>
  <cp:lastModifiedBy>Prasetya, S.W.B. (Wishnu)</cp:lastModifiedBy>
  <cp:revision>491</cp:revision>
  <cp:lastPrinted>2019-04-28T20:21:40Z</cp:lastPrinted>
  <dcterms:created xsi:type="dcterms:W3CDTF">2012-03-04T10:04:20Z</dcterms:created>
  <dcterms:modified xsi:type="dcterms:W3CDTF">2026-04-23T11:00:56Z</dcterms:modified>
</cp:coreProperties>
</file>