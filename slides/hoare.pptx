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72"/>
  </p:notesMasterIdLst>
  <p:handoutMasterIdLst>
    <p:handoutMasterId r:id="rId73"/>
  </p:handoutMasterIdLst>
  <p:sldIdLst>
    <p:sldId id="256" r:id="rId2"/>
    <p:sldId id="282" r:id="rId3"/>
    <p:sldId id="284" r:id="rId4"/>
    <p:sldId id="330" r:id="rId5"/>
    <p:sldId id="331" r:id="rId6"/>
    <p:sldId id="310" r:id="rId7"/>
    <p:sldId id="257" r:id="rId8"/>
    <p:sldId id="258" r:id="rId9"/>
    <p:sldId id="259" r:id="rId10"/>
    <p:sldId id="260" r:id="rId11"/>
    <p:sldId id="261" r:id="rId12"/>
    <p:sldId id="336" r:id="rId13"/>
    <p:sldId id="337" r:id="rId14"/>
    <p:sldId id="262" r:id="rId15"/>
    <p:sldId id="263" r:id="rId16"/>
    <p:sldId id="314" r:id="rId17"/>
    <p:sldId id="332" r:id="rId18"/>
    <p:sldId id="333" r:id="rId19"/>
    <p:sldId id="334" r:id="rId20"/>
    <p:sldId id="341" r:id="rId21"/>
    <p:sldId id="264" r:id="rId22"/>
    <p:sldId id="335" r:id="rId23"/>
    <p:sldId id="267" r:id="rId24"/>
    <p:sldId id="339" r:id="rId25"/>
    <p:sldId id="268" r:id="rId26"/>
    <p:sldId id="340" r:id="rId27"/>
    <p:sldId id="269" r:id="rId28"/>
    <p:sldId id="272" r:id="rId29"/>
    <p:sldId id="307" r:id="rId30"/>
    <p:sldId id="283" r:id="rId31"/>
    <p:sldId id="285" r:id="rId32"/>
    <p:sldId id="290" r:id="rId33"/>
    <p:sldId id="291" r:id="rId34"/>
    <p:sldId id="293" r:id="rId35"/>
    <p:sldId id="292" r:id="rId36"/>
    <p:sldId id="309" r:id="rId37"/>
    <p:sldId id="311" r:id="rId38"/>
    <p:sldId id="297" r:id="rId39"/>
    <p:sldId id="298" r:id="rId40"/>
    <p:sldId id="300" r:id="rId41"/>
    <p:sldId id="299" r:id="rId42"/>
    <p:sldId id="317" r:id="rId43"/>
    <p:sldId id="342" r:id="rId44"/>
    <p:sldId id="316" r:id="rId45"/>
    <p:sldId id="318" r:id="rId46"/>
    <p:sldId id="343" r:id="rId47"/>
    <p:sldId id="319" r:id="rId48"/>
    <p:sldId id="322" r:id="rId49"/>
    <p:sldId id="320" r:id="rId50"/>
    <p:sldId id="321" r:id="rId51"/>
    <p:sldId id="344" r:id="rId52"/>
    <p:sldId id="345" r:id="rId53"/>
    <p:sldId id="346" r:id="rId54"/>
    <p:sldId id="323" r:id="rId55"/>
    <p:sldId id="328" r:id="rId56"/>
    <p:sldId id="329" r:id="rId57"/>
    <p:sldId id="348" r:id="rId58"/>
    <p:sldId id="324" r:id="rId59"/>
    <p:sldId id="325" r:id="rId60"/>
    <p:sldId id="327" r:id="rId61"/>
    <p:sldId id="349" r:id="rId62"/>
    <p:sldId id="350" r:id="rId63"/>
    <p:sldId id="351" r:id="rId64"/>
    <p:sldId id="356" r:id="rId65"/>
    <p:sldId id="352" r:id="rId66"/>
    <p:sldId id="353" r:id="rId67"/>
    <p:sldId id="354" r:id="rId68"/>
    <p:sldId id="278" r:id="rId69"/>
    <p:sldId id="277" r:id="rId70"/>
    <p:sldId id="355" r:id="rId7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nderdarkprime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B0F0"/>
    <a:srgbClr val="0000CC"/>
    <a:srgbClr val="6699FF"/>
    <a:srgbClr val="990033"/>
    <a:srgbClr val="004824"/>
    <a:srgbClr val="FFDB75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 autoAdjust="0"/>
    <p:restoredTop sz="94558" autoAdjust="0"/>
  </p:normalViewPr>
  <p:slideViewPr>
    <p:cSldViewPr>
      <p:cViewPr varScale="1">
        <p:scale>
          <a:sx n="91" d="100"/>
          <a:sy n="91" d="100"/>
        </p:scale>
        <p:origin x="124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37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6"/>
    </p:cViewPr>
  </p:sorterViewPr>
  <p:notesViewPr>
    <p:cSldViewPr>
      <p:cViewPr varScale="1">
        <p:scale>
          <a:sx n="86" d="100"/>
          <a:sy n="86" d="100"/>
        </p:scale>
        <p:origin x="-3126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08-02-10T11:07:02.516" idx="2">
    <p:pos x="10" y="10"/>
    <p:text>Discuss this abstractly.
More detailed discussion about proof plan --&gt; separately to other slide pack.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61B6F1-98F4-4FDF-8FFD-71C9329AF088}" type="datetimeFigureOut">
              <a:rPr lang="en-US"/>
              <a:pPr>
                <a:defRPr/>
              </a:pPr>
              <a:t>6/12/20</a:t>
            </a:fld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D74C67-8476-42E1-B446-DA7518EFF7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42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F673508-6B96-48C9-B4C2-C72A1D960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34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91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8E8FC-DCCE-4A84-907C-DBB79CE8E41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599D68-48AA-42E3-A1A4-301899A3FB6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99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120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F947DB-0A09-4D37-8EE9-DF5F2A737BB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2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22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88FD81-4C63-46FF-AFDB-AA22BF6B368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1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28600" indent="-228600">
              <a:defRPr/>
            </a:pPr>
            <a:endParaRPr lang="nl-NL" dirty="0"/>
          </a:p>
        </p:txBody>
      </p:sp>
      <p:sp>
        <p:nvSpPr>
          <p:cNvPr id="532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3CC02A-C5B4-4381-8E90-819E87741BF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14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427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2F927C-2FEA-4FB4-9C01-4AF0D313EF7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56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530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591969-9D46-4528-AC66-70104C27002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00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63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1726DA-5B8F-4BF6-A85F-E1BC46557EA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2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73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EB80CF-F8D1-47DA-9DAD-983177E5077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14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837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9D3BC7-0CC4-49CC-8BFA-44F9289217F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42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981581-F110-4C7B-ADF7-6D52CD7999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07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89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90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39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3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93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noProof="0" dirty="0"/>
              <a:t>How to prove that </a:t>
            </a:r>
            <a:r>
              <a:rPr lang="en-US" noProof="0" dirty="0" err="1"/>
              <a:t>wp</a:t>
            </a:r>
            <a:r>
              <a:rPr lang="en-US" noProof="0" dirty="0"/>
              <a:t> (S1;S2) upholds </a:t>
            </a:r>
            <a:r>
              <a:rPr lang="en-US" noProof="0" dirty="0" err="1"/>
              <a:t>wp</a:t>
            </a:r>
            <a:r>
              <a:rPr lang="en-US" noProof="0" dirty="0"/>
              <a:t> </a:t>
            </a:r>
            <a:r>
              <a:rPr lang="en-US" noProof="0" dirty="0" err="1"/>
              <a:t>characterizion</a:t>
            </a:r>
            <a:r>
              <a:rPr lang="en-US" noProof="0" dirty="0"/>
              <a:t>. We will need to prove this inductively. </a:t>
            </a:r>
          </a:p>
          <a:p>
            <a:r>
              <a:rPr lang="en-US" noProof="0" dirty="0"/>
              <a:t>We will prove the equivalence in each direction.</a:t>
            </a:r>
          </a:p>
          <a:p>
            <a:r>
              <a:rPr lang="en-US" noProof="0" dirty="0"/>
              <a:t>(1) For the </a:t>
            </a:r>
            <a:r>
              <a:rPr lang="en-US" noProof="0" dirty="0">
                <a:sym typeface="Wingdings" pitchFamily="2" charset="2"/>
              </a:rPr>
              <a:t> ==&gt; direction (the picture above)</a:t>
            </a:r>
          </a:p>
          <a:p>
            <a:r>
              <a:rPr lang="en-US" noProof="0" dirty="0">
                <a:sym typeface="Wingdings" pitchFamily="2" charset="2"/>
              </a:rPr>
              <a:t>   Assume P  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(S1 ; S2) Q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1. {def of 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} P  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S1 (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S2 Q)</a:t>
            </a:r>
          </a:p>
          <a:p>
            <a:r>
              <a:rPr lang="en-US" noProof="0" dirty="0">
                <a:sym typeface="Wingdings" pitchFamily="2" charset="2"/>
              </a:rPr>
              <a:t>   2. { IH }  {P} S1 {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S2 Q}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3. { IH } {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S2 Q}  S2 {Q}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4. {SEQ Rule on 2+3}  {P} S1;S2 {Q}</a:t>
            </a:r>
            <a:endParaRPr lang="en-US" noProof="0" dirty="0"/>
          </a:p>
        </p:txBody>
      </p:sp>
      <p:sp>
        <p:nvSpPr>
          <p:cNvPr id="6246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AAAFA5-0B55-4983-9772-519992C1423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noProof="0" dirty="0">
                <a:sym typeface="Wingdings" pitchFamily="2" charset="2"/>
              </a:rPr>
              <a:t>(2) For the  direction:</a:t>
            </a:r>
          </a:p>
          <a:p>
            <a:r>
              <a:rPr lang="en-US" noProof="0" dirty="0">
                <a:sym typeface="Wingdings" pitchFamily="2" charset="2"/>
              </a:rPr>
              <a:t>     ** Assume {P} S1 ; S2 {Q}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We want to prove that P  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(S1;S2) Q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Prove this by </a:t>
            </a:r>
            <a:r>
              <a:rPr lang="en-US" noProof="0" dirty="0" err="1">
                <a:sym typeface="Wingdings" pitchFamily="2" charset="2"/>
              </a:rPr>
              <a:t>contraduction</a:t>
            </a:r>
            <a:r>
              <a:rPr lang="en-US" noProof="0" dirty="0">
                <a:sym typeface="Wingdings" pitchFamily="2" charset="2"/>
              </a:rPr>
              <a:t>. </a:t>
            </a:r>
          </a:p>
          <a:p>
            <a:r>
              <a:rPr lang="en-US" noProof="0" dirty="0">
                <a:sym typeface="Wingdings" pitchFamily="2" charset="2"/>
              </a:rPr>
              <a:t>      Suppose P  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(S1;S2) Q is NOT valid. So there is some state s in P that is not in </a:t>
            </a:r>
            <a:r>
              <a:rPr lang="en-US" noProof="0" dirty="0" err="1">
                <a:sym typeface="Wingdings" pitchFamily="2" charset="2"/>
              </a:rPr>
              <a:t>wp</a:t>
            </a:r>
            <a:r>
              <a:rPr lang="en-US" noProof="0" dirty="0">
                <a:sym typeface="Wingdings" pitchFamily="2" charset="2"/>
              </a:rPr>
              <a:t> (S1;S2) Q.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By the assumption *, executing S1;S2 on s will bring us to Q.</a:t>
            </a:r>
          </a:p>
          <a:p>
            <a:r>
              <a:rPr lang="en-US" noProof="0" dirty="0">
                <a:sym typeface="Wingdings" pitchFamily="2" charset="2"/>
              </a:rPr>
              <a:t>      See the picture above. There are two scenarios. 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(a) Executing S1 on s brings us to some intermediate state INSIDE W (red line above). 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     Since V is the weakest pre-</a:t>
            </a:r>
            <a:r>
              <a:rPr lang="en-US" noProof="0" dirty="0" err="1">
                <a:sym typeface="Wingdings" pitchFamily="2" charset="2"/>
              </a:rPr>
              <a:t>cond</a:t>
            </a:r>
            <a:r>
              <a:rPr lang="en-US" noProof="0" dirty="0">
                <a:sym typeface="Wingdings" pitchFamily="2" charset="2"/>
              </a:rPr>
              <a:t> of S1 </a:t>
            </a:r>
            <a:r>
              <a:rPr lang="en-US" noProof="0" dirty="0" err="1">
                <a:sym typeface="Wingdings" pitchFamily="2" charset="2"/>
              </a:rPr>
              <a:t>wrt</a:t>
            </a:r>
            <a:r>
              <a:rPr lang="en-US" noProof="0" dirty="0">
                <a:sym typeface="Wingdings" pitchFamily="2" charset="2"/>
              </a:rPr>
              <a:t> W, it follows that s must be inside V. Contradiction.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 (b) Executing S1 on s brings us to some intermediate state t OUTSIDE W (blue line above).</a:t>
            </a:r>
            <a:br>
              <a:rPr lang="en-US" noProof="0" dirty="0">
                <a:sym typeface="Wingdings" pitchFamily="2" charset="2"/>
              </a:rPr>
            </a:br>
            <a:r>
              <a:rPr lang="en-US" noProof="0" dirty="0">
                <a:sym typeface="Wingdings" pitchFamily="2" charset="2"/>
              </a:rPr>
              <a:t>            Subsequently, executing S2 on t must get us to Q. However, since W is the weakest pre-</a:t>
            </a:r>
            <a:r>
              <a:rPr lang="en-US" noProof="0" dirty="0" err="1">
                <a:sym typeface="Wingdings" pitchFamily="2" charset="2"/>
              </a:rPr>
              <a:t>cond</a:t>
            </a:r>
            <a:endParaRPr lang="en-US" noProof="0" dirty="0">
              <a:sym typeface="Wingdings" pitchFamily="2" charset="2"/>
            </a:endParaRPr>
          </a:p>
          <a:p>
            <a:r>
              <a:rPr lang="en-US" noProof="0" dirty="0">
                <a:sym typeface="Wingdings" pitchFamily="2" charset="2"/>
              </a:rPr>
              <a:t>             </a:t>
            </a:r>
            <a:r>
              <a:rPr lang="en-US" noProof="0" dirty="0" err="1">
                <a:sym typeface="Wingdings" pitchFamily="2" charset="2"/>
              </a:rPr>
              <a:t>os</a:t>
            </a:r>
            <a:r>
              <a:rPr lang="en-US" noProof="0" dirty="0">
                <a:sym typeface="Wingdings" pitchFamily="2" charset="2"/>
              </a:rPr>
              <a:t> S2 </a:t>
            </a:r>
            <a:r>
              <a:rPr lang="en-US" noProof="0" dirty="0" err="1">
                <a:sym typeface="Wingdings" pitchFamily="2" charset="2"/>
              </a:rPr>
              <a:t>wrt</a:t>
            </a:r>
            <a:r>
              <a:rPr lang="en-US" noProof="0" dirty="0">
                <a:sym typeface="Wingdings" pitchFamily="2" charset="2"/>
              </a:rPr>
              <a:t> Q, it follows that t must be inside W. Contradiction.</a:t>
            </a:r>
            <a:endParaRPr lang="en-US" noProof="0" dirty="0"/>
          </a:p>
        </p:txBody>
      </p:sp>
      <p:sp>
        <p:nvSpPr>
          <p:cNvPr id="6246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AAAFA5-0B55-4983-9772-519992C1423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82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noProof="0" dirty="0"/>
              <a:t>This picture is just meant to give a </a:t>
            </a:r>
            <a:r>
              <a:rPr lang="en-US" noProof="0" dirty="0" err="1"/>
              <a:t>visualisation</a:t>
            </a:r>
            <a:r>
              <a:rPr lang="en-US" noProof="0" dirty="0"/>
              <a:t> of the formula. </a:t>
            </a:r>
          </a:p>
          <a:p>
            <a:endParaRPr lang="en-US" noProof="0" dirty="0"/>
          </a:p>
          <a:p>
            <a:r>
              <a:rPr lang="en-US" noProof="0" dirty="0"/>
              <a:t>To prove that the above def of </a:t>
            </a:r>
            <a:r>
              <a:rPr lang="en-US" noProof="0" dirty="0" err="1"/>
              <a:t>wp</a:t>
            </a:r>
            <a:r>
              <a:rPr lang="en-US" noProof="0" dirty="0"/>
              <a:t> also maintains the </a:t>
            </a:r>
            <a:r>
              <a:rPr lang="en-US" noProof="0" dirty="0" err="1"/>
              <a:t>wp</a:t>
            </a:r>
            <a:r>
              <a:rPr lang="en-US" noProof="0" dirty="0"/>
              <a:t>-characterization, we will again need to prove this inductively. </a:t>
            </a:r>
          </a:p>
          <a:p>
            <a:r>
              <a:rPr lang="en-US" noProof="0" dirty="0"/>
              <a:t>We can again prove the equivalence in one direction at a time, just as in the case of SEQ. I will not handle the proof</a:t>
            </a:r>
          </a:p>
          <a:p>
            <a:r>
              <a:rPr lang="en-US" noProof="0" dirty="0"/>
              <a:t>here. In principle it proceeds pretty much as in the proof of SEQ,</a:t>
            </a:r>
          </a:p>
        </p:txBody>
      </p:sp>
      <p:sp>
        <p:nvSpPr>
          <p:cNvPr id="6349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4A4EC1-D6A1-40B0-AFD6-C0D9E524B2B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287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349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4A4EC1-D6A1-40B0-AFD6-C0D9E524B2B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535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45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8C7435-DF27-4B62-A861-3BA7B2CA6A1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17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14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96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C121C-0D8B-4A1F-9F83-DA0BCE813D5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83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066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F620FA-4228-4964-9F4C-B84AC3BF016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4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716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36C6AE-D225-4369-AB6B-091C063D21D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4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27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BF579C-0497-4303-BF04-1D066268F65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51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373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DF40DC-98CF-471C-9801-64907174872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23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47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7DE650-997D-4B8F-9843-57D4C745F38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719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AutoNum type="arabicParenBoth"/>
            </a:pPr>
            <a:r>
              <a:rPr lang="nl-NL" dirty="0" err="1"/>
              <a:t>Inv</a:t>
            </a:r>
            <a:r>
              <a:rPr lang="nl-NL" dirty="0"/>
              <a:t>:  </a:t>
            </a:r>
            <a:r>
              <a:rPr lang="nl-NL" dirty="0" err="1"/>
              <a:t>true</a:t>
            </a:r>
            <a:endParaRPr lang="nl-NL" dirty="0"/>
          </a:p>
          <a:p>
            <a:pPr marL="228600" indent="-228600">
              <a:buAutoNum type="arabicParenBoth"/>
            </a:pPr>
            <a:r>
              <a:rPr lang="nl-NL" dirty="0" err="1"/>
              <a:t>Inv</a:t>
            </a:r>
            <a:r>
              <a:rPr lang="nl-NL" dirty="0"/>
              <a:t>: i&lt;=n</a:t>
            </a:r>
          </a:p>
          <a:p>
            <a:pPr marL="228600" indent="-228600">
              <a:buAutoNum type="arabicParenBoth"/>
            </a:pPr>
            <a:r>
              <a:rPr lang="nl-NL" dirty="0"/>
              <a:t>s = 2*i  /\  i&lt;=n /\ n=10</a:t>
            </a:r>
          </a:p>
        </p:txBody>
      </p:sp>
      <p:sp>
        <p:nvSpPr>
          <p:cNvPr id="757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4CDEE-CED8-4183-A2D1-EF00DAAA256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542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78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0F4C0F-5672-40F4-991F-F9DA9311444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005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88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F57F49-C7A1-424B-A81E-5F7267976E5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02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987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A43DCA-08CF-445E-A572-2D47D405B1D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544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090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441D-DADB-4DF7-9674-AB428A9FAEE8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75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arenBoth"/>
            </a:pPr>
            <a:r>
              <a:rPr lang="en-US" dirty="0"/>
              <a:t> n –</a:t>
            </a:r>
            <a:r>
              <a:rPr lang="en-US" baseline="0" dirty="0"/>
              <a:t> 1, require </a:t>
            </a:r>
            <a:r>
              <a:rPr lang="en-US" baseline="0" dirty="0" err="1"/>
              <a:t>i</a:t>
            </a:r>
            <a:r>
              <a:rPr lang="en-US" baseline="0" dirty="0"/>
              <a:t>&lt;=n as </a:t>
            </a:r>
            <a:r>
              <a:rPr lang="en-US" baseline="0" dirty="0" err="1"/>
              <a:t>inv</a:t>
            </a:r>
            <a:endParaRPr lang="en-US" baseline="0" dirty="0"/>
          </a:p>
          <a:p>
            <a:pPr marL="228600" indent="-228600">
              <a:buAutoNum type="arabicParenBoth"/>
            </a:pPr>
            <a:r>
              <a:rPr lang="en-US" baseline="0" dirty="0"/>
              <a:t>3candy + apple,  Require I: candy&gt;=0  /\  apple&gt;=0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290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this choice of I and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4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162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C868D-CD93-44A3-A472-9BEC5163A48D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105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C868D-CD93-44A3-A472-9BEC5163A48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977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x+y</a:t>
            </a:r>
            <a:r>
              <a:rPr lang="en-US" baseline="0" dirty="0"/>
              <a:t> = 0) [y/x][x/y] </a:t>
            </a:r>
            <a:r>
              <a:rPr lang="en-US" baseline="0" dirty="0">
                <a:sym typeface="Wingdings"/>
              </a:rPr>
              <a:t> </a:t>
            </a:r>
            <a:r>
              <a:rPr lang="en-US" baseline="0" dirty="0" err="1">
                <a:sym typeface="Wingdings"/>
              </a:rPr>
              <a:t>x+x</a:t>
            </a:r>
            <a:r>
              <a:rPr lang="en-US" baseline="0" dirty="0">
                <a:sym typeface="Wingdings"/>
              </a:rPr>
              <a:t> = 0</a:t>
            </a:r>
          </a:p>
          <a:p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</a:t>
            </a:r>
            <a:r>
              <a:rPr lang="en-US" dirty="0" err="1"/>
              <a:t>x+y</a:t>
            </a:r>
            <a:r>
              <a:rPr lang="en-US" baseline="0" dirty="0"/>
              <a:t> = 0) [x/y][y/x] </a:t>
            </a:r>
            <a:r>
              <a:rPr lang="en-US" baseline="0" dirty="0">
                <a:sym typeface="Wingdings"/>
              </a:rPr>
              <a:t></a:t>
            </a:r>
            <a:r>
              <a:rPr lang="en-US" baseline="0" dirty="0" err="1">
                <a:sym typeface="Wingdings"/>
              </a:rPr>
              <a:t>y+y</a:t>
            </a:r>
            <a:r>
              <a:rPr lang="en-US" baseline="0" dirty="0">
                <a:sym typeface="Wingdings"/>
              </a:rPr>
              <a:t> = 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>
              <a:sym typeface="Wingding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</a:t>
            </a:r>
            <a:r>
              <a:rPr lang="en-US" dirty="0" err="1"/>
              <a:t>x+y</a:t>
            </a:r>
            <a:r>
              <a:rPr lang="en-US" baseline="0" dirty="0"/>
              <a:t> = 0) [</a:t>
            </a:r>
            <a:r>
              <a:rPr lang="en-US" baseline="0" dirty="0" err="1"/>
              <a:t>y,x</a:t>
            </a:r>
            <a:r>
              <a:rPr lang="en-US" baseline="0" dirty="0"/>
              <a:t>/</a:t>
            </a:r>
            <a:r>
              <a:rPr lang="en-US" baseline="0" dirty="0" err="1"/>
              <a:t>x,y</a:t>
            </a:r>
            <a:r>
              <a:rPr lang="en-US" baseline="0" dirty="0"/>
              <a:t>] </a:t>
            </a:r>
            <a:r>
              <a:rPr lang="en-US" baseline="0" dirty="0">
                <a:sym typeface="Wingdings"/>
              </a:rPr>
              <a:t> </a:t>
            </a:r>
            <a:r>
              <a:rPr lang="en-US" baseline="0" dirty="0" err="1">
                <a:sym typeface="Wingdings"/>
              </a:rPr>
              <a:t>y+x</a:t>
            </a:r>
            <a:r>
              <a:rPr lang="en-US" baseline="0" dirty="0">
                <a:sym typeface="Wingdings"/>
              </a:rPr>
              <a:t> = 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>
              <a:sym typeface="Wingding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012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89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16525-3813-47EA-8842-B7E7A6DEB7B4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465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994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25D8A-3482-4006-B6A7-DEECAF524056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246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4965B0-26A9-4119-B714-AFE56E9AF97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568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19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59E02B-C0DE-4B5F-88AC-BC5678B9D986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452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29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5A2D0-68F6-4D27-9B0B-6B9906B31406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491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29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5A2D0-68F6-4D27-9B0B-6B9906B31406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fld id="{7F6F07E9-6B80-445E-A790-39D3062C585A}" type="datetime1">
              <a:rPr lang="en-US"/>
              <a:pPr>
                <a:defRPr/>
              </a:pPr>
              <a:t>6/12/20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C4C95-5111-4739-8858-EE49FB567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74CF1-175A-4C02-9570-0FB523111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AA115-9240-49DE-8B41-463EB44CD4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D096D-912D-4C38-ACCA-25FCD75EF2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E29A1-1632-4F81-82D1-AC667E766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89BEA-1C58-40DB-8729-2A2D40E07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D2B9E-FE5E-41F6-ABE2-CB97829A13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ADD3C0-F3BB-489B-A9E6-A2326CE035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C44A9-21BB-4B1A-8811-657D97A681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CFC9-3740-4B96-ABFB-A100F463CC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2171700" cy="6122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77813"/>
            <a:ext cx="6362700" cy="6122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3B866-F2A6-4C8B-BA87-0FD437E355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7813"/>
            <a:ext cx="8534400" cy="7889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C53DF-6066-46FB-9C49-A876D46FD9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7813"/>
            <a:ext cx="8534400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38FEAF86-4238-40D9-9C64-E4390E2A65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9703" name="Freeform 7"/>
          <p:cNvSpPr>
            <a:spLocks noChangeArrowheads="1"/>
          </p:cNvSpPr>
          <p:nvPr/>
        </p:nvSpPr>
        <p:spPr bwMode="auto">
          <a:xfrm flipV="1">
            <a:off x="228600" y="457200"/>
            <a:ext cx="83820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4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r" eaLnBrk="1" hangingPunct="1"/>
            <a:r>
              <a:rPr lang="en-US" dirty="0"/>
              <a:t>Hoare Logic</a:t>
            </a:r>
            <a:br>
              <a:rPr lang="en-US" dirty="0"/>
            </a:br>
            <a:r>
              <a:rPr lang="en-US" sz="2800" dirty="0"/>
              <a:t>LN chapter 5, 6, 9.3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buFont typeface="Wingdings" charset="2"/>
              <a:buNone/>
            </a:pPr>
            <a:r>
              <a:rPr lang="en-US" sz="1500" i="1"/>
              <a:t>Hoare Logic is used to reason about the correctness of programs. In the end, it reduces a program and its specification to a set of verifications conditions.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Part I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Hoare triple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Rules for basic statements	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// SEQ, IF,  ASG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Weakest pre-condition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Example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/>
              <a:t>Part II : loop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/>
              <a:t>Handling few more basic constructs</a:t>
            </a:r>
          </a:p>
          <a:p>
            <a:pPr lvl="1">
              <a:buFont typeface="Wingdings" pitchFamily="2" charset="2"/>
              <a:buChar char="n"/>
              <a:defRPr/>
            </a:pPr>
            <a:r>
              <a:rPr lang="en-US" dirty="0"/>
              <a:t>array</a:t>
            </a:r>
          </a:p>
          <a:p>
            <a:pPr lvl="1">
              <a:buFont typeface="Wingdings" pitchFamily="2" charset="2"/>
              <a:buChar char="n"/>
              <a:defRPr/>
            </a:pPr>
            <a:r>
              <a:rPr lang="en-US" dirty="0"/>
              <a:t>specification at the program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F26A7B-E5AD-4EA3-B365-AE20E2E05E9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/>
              <a:t>Part 1 : reasoning about basic statements</a:t>
            </a:r>
            <a:endParaRPr lang="nl-NL" sz="3600"/>
          </a:p>
        </p:txBody>
      </p:sp>
      <p:sp>
        <p:nvSpPr>
          <p:cNvPr id="5123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5FCE9C-C478-4680-9EC0-D9E6B135669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FACEEC-2B2D-5F4E-9CBA-B6D8C4A4C7C5}"/>
              </a:ext>
            </a:extLst>
          </p:cNvPr>
          <p:cNvSpPr/>
          <p:nvPr/>
        </p:nvSpPr>
        <p:spPr>
          <a:xfrm>
            <a:off x="1142999" y="2514600"/>
            <a:ext cx="6705601" cy="1028866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Hoare triple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“Hoare triple” is a simple way to specify the relation between a program’s input and end result.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Meaning: if the program is executed on a state satisfying the pre-condition, it will terminate in a state satisfying the post-condition. (so-called “total correctness interpretation”).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07DD29-DADE-4342-AADF-963135A71396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E83C0-9886-774E-9537-6C3833353D00}"/>
              </a:ext>
            </a:extLst>
          </p:cNvPr>
          <p:cNvSpPr txBox="1"/>
          <p:nvPr/>
        </p:nvSpPr>
        <p:spPr>
          <a:xfrm>
            <a:off x="1622684" y="2781466"/>
            <a:ext cx="5859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{* y</a:t>
            </a:r>
            <a:r>
              <a:rPr lang="en-US" sz="2800" dirty="0">
                <a:sym typeface="Symbol" pitchFamily="16" charset="2"/>
              </a:rPr>
              <a:t>0</a:t>
            </a:r>
            <a:r>
              <a:rPr lang="en-US" sz="2800" dirty="0"/>
              <a:t> *}    </a:t>
            </a:r>
            <a:r>
              <a:rPr lang="en-US" sz="2800" dirty="0" err="1"/>
              <a:t>Pr</a:t>
            </a:r>
            <a:r>
              <a:rPr lang="en-US" sz="2800" dirty="0"/>
              <a:t>(</a:t>
            </a:r>
            <a:r>
              <a:rPr lang="en-US" sz="2800" dirty="0" err="1"/>
              <a:t>x,y</a:t>
            </a:r>
            <a:r>
              <a:rPr lang="en-US" sz="2800" dirty="0"/>
              <a:t>)    {* return = x/y *}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9F1AC983-B1E0-8748-8FD7-261A84C5D9C5}"/>
              </a:ext>
            </a:extLst>
          </p:cNvPr>
          <p:cNvSpPr/>
          <p:nvPr/>
        </p:nvSpPr>
        <p:spPr>
          <a:xfrm rot="5400000">
            <a:off x="1957143" y="3062209"/>
            <a:ext cx="581514" cy="16002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BC25BC2-A5D9-614D-A8C6-EE619A262F10}"/>
              </a:ext>
            </a:extLst>
          </p:cNvPr>
          <p:cNvSpPr/>
          <p:nvPr/>
        </p:nvSpPr>
        <p:spPr>
          <a:xfrm rot="5400000">
            <a:off x="3552336" y="3209602"/>
            <a:ext cx="578828" cy="13081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9AB40510-D2F1-CE49-9DE1-666927650E62}"/>
              </a:ext>
            </a:extLst>
          </p:cNvPr>
          <p:cNvSpPr/>
          <p:nvPr/>
        </p:nvSpPr>
        <p:spPr>
          <a:xfrm rot="5400000">
            <a:off x="5779843" y="2617709"/>
            <a:ext cx="568814" cy="25019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F6468-53FB-4641-B553-5F5514380B13}"/>
              </a:ext>
            </a:extLst>
          </p:cNvPr>
          <p:cNvSpPr txBox="1"/>
          <p:nvPr/>
        </p:nvSpPr>
        <p:spPr>
          <a:xfrm>
            <a:off x="2851150" y="4123369"/>
            <a:ext cx="198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program being specified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58213-EC5F-0940-80DC-2FE86DEAFE7B}"/>
              </a:ext>
            </a:extLst>
          </p:cNvPr>
          <p:cNvSpPr txBox="1"/>
          <p:nvPr/>
        </p:nvSpPr>
        <p:spPr>
          <a:xfrm>
            <a:off x="869951" y="4153066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pre-condition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5EE68-FAB2-1A4A-B024-138F64FCDB2B}"/>
              </a:ext>
            </a:extLst>
          </p:cNvPr>
          <p:cNvSpPr txBox="1"/>
          <p:nvPr/>
        </p:nvSpPr>
        <p:spPr>
          <a:xfrm>
            <a:off x="5619751" y="4123369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post-condition</a:t>
            </a:r>
          </a:p>
        </p:txBody>
      </p:sp>
    </p:spTree>
    <p:extLst>
      <p:ext uri="{BB962C8B-B14F-4D97-AF65-F5344CB8AC3E}">
        <p14:creationId xmlns:p14="http://schemas.microsoft.com/office/powerpoint/2010/main" val="402279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FACEEC-2B2D-5F4E-9CBA-B6D8C4A4C7C5}"/>
              </a:ext>
            </a:extLst>
          </p:cNvPr>
          <p:cNvSpPr/>
          <p:nvPr/>
        </p:nvSpPr>
        <p:spPr>
          <a:xfrm>
            <a:off x="2209800" y="1632300"/>
            <a:ext cx="4495801" cy="1028866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and total correctness interpretation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2941598"/>
            <a:ext cx="8382000" cy="3034434"/>
          </a:xfrm>
        </p:spPr>
        <p:txBody>
          <a:bodyPr/>
          <a:lstStyle/>
          <a:p>
            <a:r>
              <a:rPr lang="en-US" b="1" dirty="0"/>
              <a:t>Total correctness interpretation </a:t>
            </a:r>
            <a:r>
              <a:rPr lang="en-US" dirty="0"/>
              <a:t>of Hoare triple: if the program is executed on a state satisfying P, it will </a:t>
            </a:r>
            <a:r>
              <a:rPr lang="en-US" b="1" dirty="0"/>
              <a:t>terminate</a:t>
            </a:r>
            <a:r>
              <a:rPr lang="en-US" dirty="0"/>
              <a:t> in a state satisfying Q.</a:t>
            </a:r>
          </a:p>
          <a:p>
            <a:r>
              <a:rPr lang="en-US" b="1" dirty="0"/>
              <a:t>Partial correctness interpretation</a:t>
            </a:r>
            <a:r>
              <a:rPr lang="en-US" dirty="0"/>
              <a:t>: if the program is executed on a state satisfying P, and if it terminates, it will terminate in a state satisfying Q.</a:t>
            </a:r>
          </a:p>
          <a:p>
            <a:r>
              <a:rPr lang="en-US" dirty="0"/>
              <a:t>Partial correctness is of course less complete, but on the other hand easier to prove. Useful in situations where we can afford to postpone concerns about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07DD29-DADE-4342-AADF-963135A71396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E83C0-9886-774E-9537-6C3833353D00}"/>
              </a:ext>
            </a:extLst>
          </p:cNvPr>
          <p:cNvSpPr txBox="1"/>
          <p:nvPr/>
        </p:nvSpPr>
        <p:spPr>
          <a:xfrm>
            <a:off x="2689485" y="1899166"/>
            <a:ext cx="3706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{* P *}    </a:t>
            </a:r>
            <a:r>
              <a:rPr lang="en-US" sz="2800" dirty="0" err="1"/>
              <a:t>Pr</a:t>
            </a:r>
            <a:r>
              <a:rPr lang="en-US" sz="2800" dirty="0"/>
              <a:t>(x)    {* Q *}</a:t>
            </a:r>
          </a:p>
        </p:txBody>
      </p:sp>
    </p:spTree>
    <p:extLst>
      <p:ext uri="{BB962C8B-B14F-4D97-AF65-F5344CB8AC3E}">
        <p14:creationId xmlns:p14="http://schemas.microsoft.com/office/powerpoint/2010/main" val="659184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 to capture with standard Hoare triples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382000" cy="4876800"/>
          </a:xfrm>
        </p:spPr>
        <p:txBody>
          <a:bodyPr/>
          <a:lstStyle/>
          <a:p>
            <a:r>
              <a:rPr lang="en-US" dirty="0"/>
              <a:t>We have to note that Hoare triples have limitation. Not every type of behavioral properties can be (or can naturally be) captured with Hoare triples. Examples:</a:t>
            </a:r>
          </a:p>
          <a:p>
            <a:pPr lvl="1"/>
            <a:r>
              <a:rPr lang="en-US" dirty="0"/>
              <a:t>Certain actions within a program must occur in a certain order. An alternative formalism to express this:  CSP</a:t>
            </a:r>
          </a:p>
          <a:p>
            <a:pPr lvl="1"/>
            <a:r>
              <a:rPr lang="en-US" dirty="0"/>
              <a:t>A certain state in the program must be visited infinitely often. Alternative formalism:  temporal logic.</a:t>
            </a:r>
          </a:p>
          <a:p>
            <a:pPr lvl="1"/>
            <a:r>
              <a:rPr lang="en-US" dirty="0"/>
              <a:t>A certain goal must be reached despite the presence of adversaries in the program’s environment that may try to fake information. Alternative formalism: logic of belief.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E73FE6-BE92-4C41-A122-5F8B5FAA352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2CE77D-F6B7-964A-95F3-0461C2A5E637}"/>
              </a:ext>
            </a:extLst>
          </p:cNvPr>
          <p:cNvSpPr/>
          <p:nvPr/>
        </p:nvSpPr>
        <p:spPr>
          <a:xfrm>
            <a:off x="914400" y="34290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Hoare Logic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A5358A-6A4D-3343-8170-FBD8E7AC2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76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Hoare Logic is a logic to prove the correctness of a program in terms of the validity of Hoare triples. It provides a set of inference rules like the one below, to ”decompose” statement sequence (SEQ Rule):</a:t>
            </a:r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1216C1-D25F-41D2-AABB-A0214D9EB20A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14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D48BB55-3626-4665-9789-F008420E3E00}" type="slidenum">
              <a:rPr lang="en-US" altLang="en-US" sz="1200">
                <a:latin typeface="+mj-lt"/>
              </a:rPr>
              <a:pPr algn="r">
                <a:defRPr/>
              </a:pPr>
              <a:t>7</a:t>
            </a:fld>
            <a:endParaRPr lang="en-US" altLang="en-US" sz="1200">
              <a:latin typeface="+mj-lt"/>
            </a:endParaRPr>
          </a:p>
        </p:txBody>
      </p:sp>
      <p:sp>
        <p:nvSpPr>
          <p:cNvPr id="8198" name="Text Box 24"/>
          <p:cNvSpPr txBox="1">
            <a:spLocks noChangeArrowheads="1"/>
          </p:cNvSpPr>
          <p:nvPr/>
        </p:nvSpPr>
        <p:spPr bwMode="auto">
          <a:xfrm>
            <a:off x="1066800" y="3667125"/>
            <a:ext cx="7023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dirty="0"/>
              <a:t> *}    ,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</a:t>
            </a:r>
          </a:p>
          <a:p>
            <a:r>
              <a:rPr lang="en-US" sz="2400" dirty="0"/>
              <a:t>-----------------------------------------------------------------  </a:t>
            </a:r>
          </a:p>
          <a:p>
            <a:r>
              <a:rPr lang="en-US" sz="2400" dirty="0"/>
              <a:t>    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;</a:t>
            </a:r>
            <a:r>
              <a:rPr lang="en-US" sz="2400" dirty="0"/>
              <a:t>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937A0AA-2EB2-7E43-99E7-F3373334426B}"/>
              </a:ext>
            </a:extLst>
          </p:cNvPr>
          <p:cNvSpPr/>
          <p:nvPr/>
        </p:nvSpPr>
        <p:spPr>
          <a:xfrm>
            <a:off x="1028700" y="1295400"/>
            <a:ext cx="7086600" cy="13716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E4974E-58B5-4175-B680-63E6172DCB57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17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15348F4-0003-4135-8626-72D3B126B365}" type="slidenum">
              <a:rPr lang="en-US" altLang="en-US" sz="1200">
                <a:latin typeface="+mj-lt"/>
              </a:rPr>
              <a:pPr algn="r">
                <a:defRPr/>
              </a:pPr>
              <a:t>8</a:t>
            </a:fld>
            <a:endParaRPr lang="en-US" altLang="en-US" sz="1200">
              <a:latin typeface="+mj-lt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for IF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2490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{* </a:t>
            </a:r>
            <a:r>
              <a:rPr lang="en-US" b="1" i="1"/>
              <a:t>P</a:t>
            </a:r>
            <a:r>
              <a:rPr lang="en-US" b="1"/>
              <a:t> /\ </a:t>
            </a:r>
            <a:r>
              <a:rPr lang="en-US" b="1" i="1"/>
              <a:t>g</a:t>
            </a:r>
            <a:r>
              <a:rPr lang="en-US" b="1"/>
              <a:t> *}   </a:t>
            </a:r>
            <a:r>
              <a:rPr lang="en-US" b="1" i="1"/>
              <a:t>S</a:t>
            </a:r>
            <a:r>
              <a:rPr lang="en-US" b="1" baseline="-25000"/>
              <a:t>1</a:t>
            </a:r>
            <a:r>
              <a:rPr lang="en-US" b="1"/>
              <a:t>   {* </a:t>
            </a:r>
            <a:r>
              <a:rPr lang="en-US" b="1" i="1"/>
              <a:t>Q</a:t>
            </a:r>
            <a:r>
              <a:rPr lang="en-US" b="1"/>
              <a:t> *}</a:t>
            </a:r>
          </a:p>
        </p:txBody>
      </p:sp>
      <p:sp>
        <p:nvSpPr>
          <p:cNvPr id="9222" name="Oval 5"/>
          <p:cNvSpPr>
            <a:spLocks noChangeArrowheads="1"/>
          </p:cNvSpPr>
          <p:nvPr/>
        </p:nvSpPr>
        <p:spPr bwMode="auto">
          <a:xfrm>
            <a:off x="2895600" y="4038600"/>
            <a:ext cx="838200" cy="18288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9223" name="Oval 6"/>
          <p:cNvSpPr>
            <a:spLocks noChangeArrowheads="1"/>
          </p:cNvSpPr>
          <p:nvPr/>
        </p:nvSpPr>
        <p:spPr bwMode="auto">
          <a:xfrm>
            <a:off x="5257800" y="4343400"/>
            <a:ext cx="838200" cy="12192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209800" y="4648200"/>
            <a:ext cx="2286000" cy="609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200400" y="4419600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3048000" y="5105400"/>
            <a:ext cx="487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  <a:sym typeface="Symbol" pitchFamily="16" charset="2"/>
              </a:rPr>
              <a:t></a:t>
            </a:r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9227" name="Freeform 11"/>
          <p:cNvSpPr>
            <a:spLocks/>
          </p:cNvSpPr>
          <p:nvPr/>
        </p:nvSpPr>
        <p:spPr bwMode="auto">
          <a:xfrm>
            <a:off x="3733800" y="4343400"/>
            <a:ext cx="1524000" cy="304800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191000" y="39624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S</a:t>
            </a:r>
            <a:r>
              <a:rPr lang="en-US" b="1" baseline="-25000"/>
              <a:t>1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124200" y="4038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9230" name="Freeform 15"/>
          <p:cNvSpPr>
            <a:spLocks/>
          </p:cNvSpPr>
          <p:nvPr/>
        </p:nvSpPr>
        <p:spPr bwMode="auto">
          <a:xfrm flipV="1">
            <a:off x="3733800" y="5486400"/>
            <a:ext cx="1752600" cy="304800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1" name="Text Box 16"/>
          <p:cNvSpPr txBox="1">
            <a:spLocks noChangeArrowheads="1"/>
          </p:cNvSpPr>
          <p:nvPr/>
        </p:nvSpPr>
        <p:spPr bwMode="auto">
          <a:xfrm>
            <a:off x="4572000" y="53340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S</a:t>
            </a:r>
            <a:r>
              <a:rPr lang="en-US" b="1" baseline="-25000"/>
              <a:t>2</a:t>
            </a:r>
          </a:p>
        </p:txBody>
      </p:sp>
      <p:sp>
        <p:nvSpPr>
          <p:cNvPr id="9232" name="Text Box 17"/>
          <p:cNvSpPr txBox="1">
            <a:spLocks noChangeArrowheads="1"/>
          </p:cNvSpPr>
          <p:nvPr/>
        </p:nvSpPr>
        <p:spPr bwMode="auto">
          <a:xfrm>
            <a:off x="4724400" y="5791200"/>
            <a:ext cx="2654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{* </a:t>
            </a:r>
            <a:r>
              <a:rPr lang="en-US" b="1" i="1"/>
              <a:t>P</a:t>
            </a:r>
            <a:r>
              <a:rPr lang="en-US" b="1"/>
              <a:t> /\ </a:t>
            </a:r>
            <a:r>
              <a:rPr lang="en-US" b="1">
                <a:sym typeface="Symbol" pitchFamily="16" charset="2"/>
              </a:rPr>
              <a:t></a:t>
            </a:r>
            <a:r>
              <a:rPr lang="en-US" b="1" i="1"/>
              <a:t>g</a:t>
            </a:r>
            <a:r>
              <a:rPr lang="en-US" b="1"/>
              <a:t> *}   </a:t>
            </a:r>
            <a:r>
              <a:rPr lang="en-US" b="1" i="1"/>
              <a:t>S</a:t>
            </a:r>
            <a:r>
              <a:rPr lang="en-US" b="1" baseline="-25000"/>
              <a:t>2</a:t>
            </a:r>
            <a:r>
              <a:rPr lang="en-US" b="1"/>
              <a:t>   {* </a:t>
            </a:r>
            <a:r>
              <a:rPr lang="en-US" b="1" i="1"/>
              <a:t>Q </a:t>
            </a:r>
            <a:r>
              <a:rPr lang="en-US" b="1"/>
              <a:t>*}</a:t>
            </a:r>
          </a:p>
        </p:txBody>
      </p:sp>
      <p:sp>
        <p:nvSpPr>
          <p:cNvPr id="9234" name="Text Box 19"/>
          <p:cNvSpPr txBox="1">
            <a:spLocks noChangeArrowheads="1"/>
          </p:cNvSpPr>
          <p:nvPr/>
        </p:nvSpPr>
        <p:spPr bwMode="auto">
          <a:xfrm>
            <a:off x="1292225" y="1524000"/>
            <a:ext cx="655955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    {* 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990033"/>
                </a:solidFill>
              </a:rPr>
              <a:t>/\ </a:t>
            </a:r>
            <a:r>
              <a:rPr lang="en-US" sz="2000" b="1" i="1" dirty="0">
                <a:solidFill>
                  <a:srgbClr val="990033"/>
                </a:solidFill>
              </a:rPr>
              <a:t>g</a:t>
            </a:r>
            <a:r>
              <a:rPr lang="en-US" sz="2000" b="1" dirty="0">
                <a:solidFill>
                  <a:srgbClr val="990033"/>
                </a:solidFill>
              </a:rPr>
              <a:t> </a:t>
            </a:r>
            <a:r>
              <a:rPr lang="en-US" sz="2000" dirty="0"/>
              <a:t>*}  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  {* </a:t>
            </a:r>
            <a:r>
              <a:rPr lang="en-US" sz="2000" i="1" dirty="0"/>
              <a:t>Q</a:t>
            </a:r>
            <a:r>
              <a:rPr lang="en-US" sz="2000" dirty="0"/>
              <a:t> *}    ,   {* 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990033"/>
                </a:solidFill>
              </a:rPr>
              <a:t>/\ </a:t>
            </a:r>
            <a:r>
              <a:rPr lang="en-US" sz="2000" b="1" dirty="0">
                <a:solidFill>
                  <a:srgbClr val="990033"/>
                </a:solidFill>
                <a:sym typeface="Symbol" pitchFamily="16" charset="2"/>
              </a:rPr>
              <a:t></a:t>
            </a:r>
            <a:r>
              <a:rPr lang="en-US" sz="2000" b="1" i="1" dirty="0">
                <a:solidFill>
                  <a:srgbClr val="990033"/>
                </a:solidFill>
                <a:sym typeface="Symbol" pitchFamily="16" charset="2"/>
              </a:rPr>
              <a:t>g</a:t>
            </a:r>
            <a:r>
              <a:rPr lang="en-US" sz="2000" b="1" dirty="0">
                <a:solidFill>
                  <a:srgbClr val="990033"/>
                </a:solidFill>
              </a:rPr>
              <a:t> </a:t>
            </a:r>
            <a:r>
              <a:rPr lang="en-US" sz="2000" dirty="0"/>
              <a:t>*}  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  {* </a:t>
            </a:r>
            <a:r>
              <a:rPr lang="en-US" sz="2000" i="1" dirty="0"/>
              <a:t>Q</a:t>
            </a:r>
            <a:r>
              <a:rPr lang="en-US" sz="2000" dirty="0"/>
              <a:t> *}</a:t>
            </a:r>
          </a:p>
          <a:p>
            <a:r>
              <a:rPr lang="en-US" sz="2000" dirty="0"/>
              <a:t>--------------------------------------------------------------------------  </a:t>
            </a:r>
          </a:p>
          <a:p>
            <a:r>
              <a:rPr lang="en-US" sz="2000" dirty="0"/>
              <a:t>                   {* </a:t>
            </a:r>
            <a:r>
              <a:rPr lang="en-US" sz="2000" i="1" dirty="0"/>
              <a:t>P</a:t>
            </a:r>
            <a:r>
              <a:rPr lang="en-US" sz="2000" dirty="0"/>
              <a:t> *}  </a:t>
            </a:r>
            <a:r>
              <a:rPr lang="en-US" sz="2000" b="1" dirty="0">
                <a:solidFill>
                  <a:srgbClr val="0070C0"/>
                </a:solidFill>
              </a:rPr>
              <a:t>if</a:t>
            </a:r>
            <a:r>
              <a:rPr lang="en-US" sz="2000" dirty="0"/>
              <a:t>  </a:t>
            </a:r>
            <a:r>
              <a:rPr lang="en-US" sz="2000" b="1" i="1" dirty="0">
                <a:solidFill>
                  <a:srgbClr val="990033"/>
                </a:solidFill>
              </a:rPr>
              <a:t>g</a:t>
            </a:r>
            <a:r>
              <a:rPr lang="en-US" sz="2000" dirty="0"/>
              <a:t>  </a:t>
            </a:r>
            <a:r>
              <a:rPr lang="en-US" sz="2000" b="1" dirty="0">
                <a:solidFill>
                  <a:srgbClr val="0070C0"/>
                </a:solidFill>
              </a:rPr>
              <a:t>then</a:t>
            </a:r>
            <a:r>
              <a:rPr lang="en-US" sz="2000" b="1" dirty="0"/>
              <a:t> 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 </a:t>
            </a:r>
            <a:r>
              <a:rPr lang="en-US" sz="2000" b="1" dirty="0">
                <a:solidFill>
                  <a:srgbClr val="0070C0"/>
                </a:solidFill>
              </a:rPr>
              <a:t>else</a:t>
            </a:r>
            <a:r>
              <a:rPr lang="en-US" sz="2000" b="1" dirty="0"/>
              <a:t> 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dirty="0"/>
              <a:t>  </a:t>
            </a:r>
            <a:r>
              <a:rPr lang="en-US" sz="2000" dirty="0"/>
              <a:t>{* </a:t>
            </a:r>
            <a:r>
              <a:rPr lang="en-US" sz="2000" i="1" dirty="0"/>
              <a:t>Q</a:t>
            </a:r>
            <a:r>
              <a:rPr lang="en-US" sz="2000" dirty="0"/>
              <a:t> *}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0661D2-11BD-AC4F-B3E5-8C3BF6C343E0}"/>
              </a:ext>
            </a:extLst>
          </p:cNvPr>
          <p:cNvSpPr/>
          <p:nvPr/>
        </p:nvSpPr>
        <p:spPr>
          <a:xfrm>
            <a:off x="2514600" y="1257300"/>
            <a:ext cx="38100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FF004E-3109-4CCB-801B-359909874D13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1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6DFF422-E4C6-459D-9C84-3675C65FFBAB}" type="slidenum">
              <a:rPr lang="en-US" altLang="en-US" sz="1200">
                <a:latin typeface="+mj-lt"/>
              </a:rPr>
              <a:pPr algn="r">
                <a:defRPr/>
              </a:pPr>
              <a:t>9</a:t>
            </a:fld>
            <a:endParaRPr lang="en-US" altLang="en-US" sz="1200">
              <a:latin typeface="+mj-lt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for assignment, attemp-1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581400"/>
            <a:ext cx="8686800" cy="28194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Idea:</a:t>
            </a:r>
            <a:r>
              <a:rPr lang="en-US" b="1" dirty="0"/>
              <a:t> let’s </a:t>
            </a:r>
            <a:r>
              <a:rPr lang="en-US" dirty="0"/>
              <a:t>first construct a pre-condition</a:t>
            </a:r>
            <a:r>
              <a:rPr lang="en-US" i="1" dirty="0"/>
              <a:t> W</a:t>
            </a:r>
            <a:r>
              <a:rPr lang="en-US" dirty="0"/>
              <a:t>, that holds before the assignment, </a:t>
            </a:r>
            <a:r>
              <a:rPr lang="en-US" b="1" dirty="0"/>
              <a:t>if and only if </a:t>
            </a:r>
            <a:r>
              <a:rPr lang="en-US" dirty="0"/>
              <a:t>Q holds after the assignment.</a:t>
            </a:r>
          </a:p>
          <a:p>
            <a:pPr eaLnBrk="1" hangingPunct="1"/>
            <a:r>
              <a:rPr lang="en-US" dirty="0">
                <a:sym typeface="Symbol" pitchFamily="16" charset="2"/>
              </a:rPr>
              <a:t>Then we can equivalently prove  </a:t>
            </a:r>
            <a:r>
              <a:rPr lang="en-US" i="1" dirty="0">
                <a:sym typeface="Symbol" pitchFamily="16" charset="2"/>
              </a:rPr>
              <a:t>P </a:t>
            </a:r>
            <a:r>
              <a:rPr lang="en-US" dirty="0">
                <a:sym typeface="Symbol" pitchFamily="16" charset="2"/>
              </a:rPr>
              <a:t>  </a:t>
            </a:r>
            <a:r>
              <a:rPr lang="en-US" i="1" dirty="0">
                <a:sym typeface="Symbol" pitchFamily="16" charset="2"/>
              </a:rPr>
              <a:t>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409700"/>
            <a:ext cx="3467100" cy="1200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 </a:t>
            </a:r>
            <a:r>
              <a:rPr lang="en-US" sz="2400" dirty="0">
                <a:sym typeface="Symbol" pitchFamily="18" charset="2"/>
              </a:rPr>
              <a:t>    </a:t>
            </a:r>
            <a:br>
              <a:rPr lang="en-US" sz="2400" dirty="0">
                <a:sym typeface="Symbol" pitchFamily="18" charset="2"/>
              </a:rPr>
            </a:br>
            <a:r>
              <a:rPr lang="en-US" sz="2400" dirty="0">
                <a:sym typeface="Symbol" pitchFamily="18" charset="2"/>
              </a:rPr>
              <a:t>--------------------------------</a:t>
            </a:r>
          </a:p>
          <a:p>
            <a:pPr algn="ctr">
              <a:defRPr/>
            </a:pPr>
            <a:r>
              <a:rPr lang="en-US" sz="2400" dirty="0">
                <a:sym typeface="Symbol" pitchFamily="18" charset="2"/>
              </a:rPr>
              <a:t>{* </a:t>
            </a:r>
            <a:r>
              <a:rPr lang="en-US" sz="2400" i="1" dirty="0">
                <a:sym typeface="Symbol" pitchFamily="18" charset="2"/>
              </a:rPr>
              <a:t>P</a:t>
            </a:r>
            <a:r>
              <a:rPr lang="en-US" sz="2400" dirty="0"/>
              <a:t> *}   </a:t>
            </a:r>
            <a:r>
              <a:rPr lang="en-US" sz="2400" b="1" dirty="0">
                <a:solidFill>
                  <a:srgbClr val="0000CC"/>
                </a:solidFill>
              </a:rPr>
              <a:t>x:=</a:t>
            </a:r>
            <a:r>
              <a:rPr lang="en-US" sz="2400" b="1" i="1" dirty="0">
                <a:solidFill>
                  <a:srgbClr val="0000CC"/>
                </a:solidFill>
              </a:rPr>
              <a:t>e</a:t>
            </a:r>
            <a:r>
              <a:rPr lang="en-US" sz="2400" b="1" dirty="0">
                <a:solidFill>
                  <a:srgbClr val="0000CC"/>
                </a:solidFill>
              </a:rPr>
              <a:t>  </a:t>
            </a:r>
            <a:r>
              <a:rPr lang="en-US" sz="2400" dirty="0"/>
              <a:t>{* </a:t>
            </a:r>
            <a:r>
              <a:rPr lang="en-US" sz="2400" i="1" dirty="0"/>
              <a:t>Q</a:t>
            </a:r>
            <a:r>
              <a:rPr lang="en-US" sz="2400" dirty="0"/>
              <a:t> *}</a:t>
            </a:r>
            <a:endParaRPr lang="nl-NL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113B06-2A05-4715-9A37-DCD7C047274B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E45AF8A-0488-46C8-935B-F11F9604BC4A}" type="slidenum">
              <a:rPr lang="en-US" altLang="en-US" sz="1200">
                <a:latin typeface="+mj-lt"/>
              </a:rPr>
              <a:pPr algn="r">
                <a:defRPr/>
              </a:pPr>
              <a:t>10</a:t>
            </a:fld>
            <a:endParaRPr lang="en-US" altLang="en-US" sz="1200">
              <a:latin typeface="+mj-lt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48768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7030A0"/>
                </a:solidFill>
              </a:rPr>
              <a:t>{* W? *} </a:t>
            </a: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x:=10   </a:t>
            </a:r>
            <a:r>
              <a:rPr lang="en-US" dirty="0"/>
              <a:t>{*  x=y  *}</a:t>
            </a:r>
            <a:br>
              <a:rPr lang="en-US" dirty="0"/>
            </a:br>
            <a:endParaRPr lang="en-US" dirty="0"/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>
                <a:solidFill>
                  <a:srgbClr val="7030A0"/>
                </a:solidFill>
              </a:rPr>
              <a:t>{* W? *}</a:t>
            </a: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x:=</a:t>
            </a:r>
            <a:r>
              <a:rPr lang="en-US" b="1" dirty="0" err="1">
                <a:solidFill>
                  <a:srgbClr val="0070C0"/>
                </a:solidFill>
              </a:rPr>
              <a:t>x+a</a:t>
            </a:r>
            <a:r>
              <a:rPr lang="en-US" b="1" dirty="0">
                <a:solidFill>
                  <a:srgbClr val="0070C0"/>
                </a:solidFill>
              </a:rPr>
              <a:t>  </a:t>
            </a:r>
            <a:r>
              <a:rPr lang="en-US" dirty="0"/>
              <a:t>{*  x=y  *}</a:t>
            </a:r>
            <a:br>
              <a:rPr lang="en-US" dirty="0"/>
            </a:br>
            <a:endParaRPr lang="en-US" dirty="0"/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/>
              <a:t>More generally, such a </a:t>
            </a:r>
            <a:r>
              <a:rPr lang="en-US" i="1" dirty="0"/>
              <a:t>W</a:t>
            </a:r>
            <a:r>
              <a:rPr lang="en-US" dirty="0"/>
              <a:t> can be obtained by applying this substitution: </a:t>
            </a:r>
            <a:r>
              <a:rPr lang="en-US" i="1" dirty="0"/>
              <a:t>Q</a:t>
            </a:r>
            <a:r>
              <a:rPr lang="en-US" dirty="0"/>
              <a:t>[</a:t>
            </a:r>
            <a:r>
              <a:rPr lang="en-US" i="1" dirty="0"/>
              <a:t>e</a:t>
            </a:r>
            <a:r>
              <a:rPr lang="en-US" dirty="0"/>
              <a:t>/</a:t>
            </a:r>
            <a:r>
              <a:rPr lang="en-US" i="1" dirty="0"/>
              <a:t>x</a:t>
            </a:r>
            <a:r>
              <a:rPr lang="en-US" dirty="0"/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9D224-CA24-694B-A574-9DFBCD8C85B2}"/>
              </a:ext>
            </a:extLst>
          </p:cNvPr>
          <p:cNvSpPr txBox="1"/>
          <p:nvPr/>
        </p:nvSpPr>
        <p:spPr>
          <a:xfrm>
            <a:off x="609600" y="1981200"/>
            <a:ext cx="1570495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W:    10=y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C0B8D-065E-5548-A2F7-2FA9F4D31340}"/>
              </a:ext>
            </a:extLst>
          </p:cNvPr>
          <p:cNvSpPr txBox="1"/>
          <p:nvPr/>
        </p:nvSpPr>
        <p:spPr>
          <a:xfrm>
            <a:off x="609600" y="3276600"/>
            <a:ext cx="1817357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W:   </a:t>
            </a:r>
            <a:r>
              <a:rPr lang="en-US" sz="2400" dirty="0" err="1"/>
              <a:t>x+a</a:t>
            </a:r>
            <a:r>
              <a:rPr lang="en-US" sz="2400" dirty="0"/>
              <a:t> = 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01A9C7-2836-4EF7-AD60-FD3222689919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B7B16C-95F9-425B-9572-020BEACFB622}" type="slidenum">
              <a:rPr lang="en-US" altLang="en-US" sz="1200">
                <a:latin typeface="+mj-lt"/>
              </a:rPr>
              <a:pPr algn="r">
                <a:defRPr/>
              </a:pPr>
              <a:t>11</a:t>
            </a:fld>
            <a:endParaRPr lang="en-US" altLang="en-US" sz="1200">
              <a:latin typeface="+mj-lt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Assignment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Theorem: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Q  holds after x:=e  </a:t>
            </a:r>
            <a:r>
              <a:rPr lang="en-US" i="1" dirty="0" err="1"/>
              <a:t>iff</a:t>
            </a:r>
            <a:r>
              <a:rPr lang="en-US" i="1" dirty="0"/>
              <a:t>  Q[e/x] holds before the 	assignment.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Which leads to the following “proof rule”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{* </a:t>
            </a:r>
            <a:r>
              <a:rPr lang="en-US" i="1" dirty="0"/>
              <a:t>P</a:t>
            </a:r>
            <a:r>
              <a:rPr lang="en-US" dirty="0"/>
              <a:t> *}  x:=</a:t>
            </a:r>
            <a:r>
              <a:rPr lang="en-US" i="1" dirty="0"/>
              <a:t>e</a:t>
            </a:r>
            <a:r>
              <a:rPr lang="en-US" dirty="0"/>
              <a:t>  {* </a:t>
            </a:r>
            <a:r>
              <a:rPr lang="en-US" i="1" dirty="0"/>
              <a:t>Q</a:t>
            </a:r>
            <a:r>
              <a:rPr lang="en-US" dirty="0"/>
              <a:t> *}        =        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>
                <a:sym typeface="Symbol" pitchFamily="16" charset="2"/>
              </a:rPr>
              <a:t>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[</a:t>
            </a:r>
            <a:r>
              <a:rPr lang="en-US" i="1" dirty="0">
                <a:sym typeface="Symbol" pitchFamily="16" charset="2"/>
              </a:rPr>
              <a:t>e</a:t>
            </a:r>
            <a:r>
              <a:rPr lang="en-US" dirty="0">
                <a:sym typeface="Symbol" pitchFamily="16" charset="2"/>
              </a:rPr>
              <a:t>/x]</a:t>
            </a:r>
          </a:p>
          <a:p>
            <a:pPr eaLnBrk="1" hangingPunct="1"/>
            <a:endParaRPr lang="en-US" dirty="0">
              <a:sym typeface="Symbol" pitchFamily="16" charset="2"/>
            </a:endParaRP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1066800" y="3733800"/>
            <a:ext cx="6324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CD0EAE-9795-D246-BBB5-C4786F16715A}"/>
              </a:ext>
            </a:extLst>
          </p:cNvPr>
          <p:cNvSpPr/>
          <p:nvPr/>
        </p:nvSpPr>
        <p:spPr>
          <a:xfrm>
            <a:off x="838200" y="3810000"/>
            <a:ext cx="65532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81D4-4ED2-8649-8D2C-732EABD9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other basic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7CC2-4D7B-F04D-B355-1DEE912D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Pre-condition strengthening: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Post-condition weakening: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08D5-E9AC-0B41-AADB-B01F5F8E6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B00FF6-A778-0D47-8A28-75FC709BA4B6}"/>
              </a:ext>
            </a:extLst>
          </p:cNvPr>
          <p:cNvSpPr/>
          <p:nvPr/>
        </p:nvSpPr>
        <p:spPr>
          <a:xfrm>
            <a:off x="1447800" y="1828800"/>
            <a:ext cx="5791200" cy="1676400"/>
          </a:xfrm>
          <a:prstGeom prst="roundRect">
            <a:avLst>
              <a:gd name="adj" fmla="val 33495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7EEA4AB3-AD6E-364E-BEA0-2BAD639A6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66836"/>
            <a:ext cx="53816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⊢ </a:t>
            </a:r>
            <a:r>
              <a:rPr lang="en-US" sz="2400" i="1" dirty="0"/>
              <a:t>P </a:t>
            </a:r>
            <a:r>
              <a:rPr lang="en-US" sz="2400" dirty="0"/>
              <a:t>⇒</a:t>
            </a:r>
            <a:r>
              <a:rPr lang="en-US" sz="2400" i="1" dirty="0"/>
              <a:t> Q </a:t>
            </a:r>
            <a:r>
              <a:rPr lang="en-US" sz="2400" dirty="0"/>
              <a:t>  ,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</a:t>
            </a:r>
          </a:p>
          <a:p>
            <a:r>
              <a:rPr lang="en-US" sz="2400" dirty="0"/>
              <a:t>-------------------------------------------------  </a:t>
            </a:r>
          </a:p>
          <a:p>
            <a:r>
              <a:rPr lang="en-US" sz="2400" dirty="0"/>
              <a:t>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8ABD8D-F91B-6840-A9D9-37914CEA11CE}"/>
              </a:ext>
            </a:extLst>
          </p:cNvPr>
          <p:cNvSpPr/>
          <p:nvPr/>
        </p:nvSpPr>
        <p:spPr>
          <a:xfrm>
            <a:off x="1469571" y="4486365"/>
            <a:ext cx="5791200" cy="1676400"/>
          </a:xfrm>
          <a:prstGeom prst="roundRect">
            <a:avLst>
              <a:gd name="adj" fmla="val 33495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0698ECD3-4BF9-E044-9806-A80F28BFE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371" y="4724401"/>
            <a:ext cx="53816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dirty="0"/>
              <a:t> *}  ,   ⊢ </a:t>
            </a:r>
            <a:r>
              <a:rPr lang="en-US" sz="2400" i="1" dirty="0"/>
              <a:t>Q </a:t>
            </a:r>
            <a:r>
              <a:rPr lang="en-US" sz="2400" dirty="0"/>
              <a:t>⇒</a:t>
            </a:r>
            <a:r>
              <a:rPr lang="en-US" sz="2400" i="1" dirty="0"/>
              <a:t> R </a:t>
            </a:r>
            <a:r>
              <a:rPr lang="en-US" sz="2400" dirty="0"/>
              <a:t> </a:t>
            </a:r>
          </a:p>
          <a:p>
            <a:r>
              <a:rPr lang="en-US" sz="2400" dirty="0"/>
              <a:t>-------------------------------------------------  </a:t>
            </a:r>
          </a:p>
          <a:p>
            <a:r>
              <a:rPr lang="en-US" sz="2400" dirty="0"/>
              <a:t>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</p:spTree>
    <p:extLst>
      <p:ext uri="{BB962C8B-B14F-4D97-AF65-F5344CB8AC3E}">
        <p14:creationId xmlns:p14="http://schemas.microsoft.com/office/powerpoint/2010/main" val="100660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81D4-4ED2-8649-8D2C-732EABD9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other basic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7CC2-4D7B-F04D-B355-1DEE912D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Conjunction of Hoare triples: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Disjunction of Hoare triples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08D5-E9AC-0B41-AADB-B01F5F8E6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B00FF6-A778-0D47-8A28-75FC709BA4B6}"/>
              </a:ext>
            </a:extLst>
          </p:cNvPr>
          <p:cNvSpPr/>
          <p:nvPr/>
        </p:nvSpPr>
        <p:spPr>
          <a:xfrm>
            <a:off x="1447800" y="1939107"/>
            <a:ext cx="6324600" cy="1413693"/>
          </a:xfrm>
          <a:prstGeom prst="roundRect">
            <a:avLst>
              <a:gd name="adj" fmla="val 2310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7EEA4AB3-AD6E-364E-BEA0-2BAD639A6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570" y="2042164"/>
            <a:ext cx="643142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{* </a:t>
            </a:r>
            <a:r>
              <a:rPr lang="en-US" sz="2400" i="1" dirty="0"/>
              <a:t>P</a:t>
            </a:r>
            <a:r>
              <a:rPr lang="en-US" sz="2400" i="1" baseline="-25000" dirty="0"/>
              <a:t>1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i="1" baseline="-25000" dirty="0"/>
              <a:t>1</a:t>
            </a:r>
            <a:r>
              <a:rPr lang="en-US" sz="2400" dirty="0"/>
              <a:t> *}   ,  {* </a:t>
            </a:r>
            <a:r>
              <a:rPr lang="en-US" sz="2400" i="1" dirty="0"/>
              <a:t>P</a:t>
            </a:r>
            <a:r>
              <a:rPr lang="en-US" sz="2400" i="1" baseline="-25000" dirty="0"/>
              <a:t>2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i="1" baseline="-25000" dirty="0"/>
              <a:t>2</a:t>
            </a:r>
            <a:r>
              <a:rPr lang="en-US" sz="2400" dirty="0"/>
              <a:t> *} </a:t>
            </a:r>
          </a:p>
          <a:p>
            <a:r>
              <a:rPr lang="en-US" sz="2400" dirty="0"/>
              <a:t>----------------------------------------------------------  </a:t>
            </a:r>
          </a:p>
          <a:p>
            <a:r>
              <a:rPr lang="en-US" sz="2400" dirty="0"/>
              <a:t>              {* </a:t>
            </a:r>
            <a:r>
              <a:rPr lang="en-US" sz="2400" i="1" dirty="0"/>
              <a:t>P</a:t>
            </a:r>
            <a:r>
              <a:rPr lang="en-US" sz="2400" i="1" baseline="-25000" dirty="0"/>
              <a:t>1</a:t>
            </a:r>
            <a:r>
              <a:rPr lang="en-US" sz="2400" i="1" dirty="0"/>
              <a:t> </a:t>
            </a:r>
            <a:r>
              <a:rPr lang="en-US" sz="2400" dirty="0"/>
              <a:t>/\</a:t>
            </a:r>
            <a:r>
              <a:rPr lang="en-US" sz="2400" i="1" dirty="0"/>
              <a:t> P</a:t>
            </a:r>
            <a:r>
              <a:rPr lang="en-US" sz="2400" i="1" baseline="-25000" dirty="0"/>
              <a:t>2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i="1" baseline="-25000" dirty="0"/>
              <a:t>1</a:t>
            </a:r>
            <a:r>
              <a:rPr lang="en-US" sz="2400" i="1" dirty="0"/>
              <a:t> </a:t>
            </a:r>
            <a:r>
              <a:rPr lang="en-US" sz="2400" dirty="0"/>
              <a:t>/\</a:t>
            </a:r>
            <a:r>
              <a:rPr lang="en-US" sz="2400" i="1" dirty="0"/>
              <a:t> Q</a:t>
            </a:r>
            <a:r>
              <a:rPr lang="en-US" sz="2400" i="1" baseline="-25000" dirty="0"/>
              <a:t>2</a:t>
            </a:r>
            <a:r>
              <a:rPr lang="en-US" sz="2400" dirty="0"/>
              <a:t> *}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D76890-DA1D-044E-9A3D-4674C80F68AB}"/>
              </a:ext>
            </a:extLst>
          </p:cNvPr>
          <p:cNvSpPr/>
          <p:nvPr/>
        </p:nvSpPr>
        <p:spPr>
          <a:xfrm>
            <a:off x="1447800" y="4508861"/>
            <a:ext cx="6324600" cy="1413693"/>
          </a:xfrm>
          <a:prstGeom prst="roundRect">
            <a:avLst>
              <a:gd name="adj" fmla="val 2310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24">
            <a:extLst>
              <a:ext uri="{FF2B5EF4-FFF2-40B4-BE49-F238E27FC236}">
                <a16:creationId xmlns:a16="http://schemas.microsoft.com/office/drawing/2014/main" id="{F9242ACC-44C7-844B-A93B-287673F48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570" y="4611918"/>
            <a:ext cx="643142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{* </a:t>
            </a:r>
            <a:r>
              <a:rPr lang="en-US" sz="2400" i="1" dirty="0"/>
              <a:t>P</a:t>
            </a:r>
            <a:r>
              <a:rPr lang="en-US" sz="2400" i="1" baseline="-25000" dirty="0"/>
              <a:t>1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i="1" baseline="-25000" dirty="0"/>
              <a:t>1</a:t>
            </a:r>
            <a:r>
              <a:rPr lang="en-US" sz="2400" dirty="0"/>
              <a:t> *}   ,  {* </a:t>
            </a:r>
            <a:r>
              <a:rPr lang="en-US" sz="2400" i="1" dirty="0"/>
              <a:t>P</a:t>
            </a:r>
            <a:r>
              <a:rPr lang="en-US" sz="2400" i="1" baseline="-25000" dirty="0"/>
              <a:t>2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i="1" baseline="-25000" dirty="0"/>
              <a:t>2</a:t>
            </a:r>
            <a:r>
              <a:rPr lang="en-US" sz="2400" dirty="0"/>
              <a:t> *} </a:t>
            </a:r>
          </a:p>
          <a:p>
            <a:r>
              <a:rPr lang="en-US" sz="2400" dirty="0"/>
              <a:t>----------------------------------------------------------  </a:t>
            </a:r>
          </a:p>
          <a:p>
            <a:r>
              <a:rPr lang="en-US" sz="2400" dirty="0"/>
              <a:t>              {* </a:t>
            </a:r>
            <a:r>
              <a:rPr lang="en-US" sz="2400" i="1" dirty="0"/>
              <a:t>P</a:t>
            </a:r>
            <a:r>
              <a:rPr lang="en-US" sz="2400" i="1" baseline="-25000" dirty="0"/>
              <a:t>1</a:t>
            </a:r>
            <a:r>
              <a:rPr lang="en-US" sz="2400" i="1" dirty="0"/>
              <a:t> </a:t>
            </a:r>
            <a:r>
              <a:rPr lang="en-US" sz="2400" dirty="0"/>
              <a:t>\/</a:t>
            </a:r>
            <a:r>
              <a:rPr lang="en-US" sz="2400" i="1" dirty="0"/>
              <a:t> P</a:t>
            </a:r>
            <a:r>
              <a:rPr lang="en-US" sz="2400" i="1" baseline="-25000" dirty="0"/>
              <a:t>2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i="1" baseline="-25000" dirty="0"/>
              <a:t>1</a:t>
            </a:r>
            <a:r>
              <a:rPr lang="en-US" sz="2400" i="1" dirty="0"/>
              <a:t> </a:t>
            </a:r>
            <a:r>
              <a:rPr lang="en-US" sz="2400" dirty="0"/>
              <a:t>\/</a:t>
            </a:r>
            <a:r>
              <a:rPr lang="en-US" sz="2400" i="1" dirty="0"/>
              <a:t> Q</a:t>
            </a:r>
            <a:r>
              <a:rPr lang="en-US" sz="2400" i="1" baseline="-25000" dirty="0"/>
              <a:t>2</a:t>
            </a:r>
            <a:r>
              <a:rPr lang="en-US" sz="2400" dirty="0"/>
              <a:t> *} </a:t>
            </a:r>
          </a:p>
        </p:txBody>
      </p:sp>
    </p:spTree>
    <p:extLst>
      <p:ext uri="{BB962C8B-B14F-4D97-AF65-F5344CB8AC3E}">
        <p14:creationId xmlns:p14="http://schemas.microsoft.com/office/powerpoint/2010/main" val="2077777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F69C28-E206-4A17-8481-F412177FF35C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65CE2A8-E5A3-4232-B216-2E7F87031EB4}" type="slidenum">
              <a:rPr lang="en-US" altLang="en-US" sz="1200">
                <a:latin typeface="+mj-lt"/>
              </a:rPr>
              <a:pPr algn="r">
                <a:defRPr/>
              </a:pPr>
              <a:t>14</a:t>
            </a:fld>
            <a:endParaRPr lang="en-US" altLang="en-US" sz="1200">
              <a:latin typeface="+mj-lt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does a proof proceed now 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6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6" charset="2"/>
              </a:rPr>
              <a:t> *}</a:t>
            </a:r>
            <a:r>
              <a:rPr lang="en-US" dirty="0">
                <a:sym typeface="Symbol" pitchFamily="16" charset="2"/>
              </a:rPr>
              <a:t>    </a:t>
            </a:r>
            <a:r>
              <a:rPr lang="en-US" dirty="0" err="1"/>
              <a:t>tmp</a:t>
            </a:r>
            <a:r>
              <a:rPr lang="en-US" dirty="0"/>
              <a:t>:= x  ; x:=y ; y:=</a:t>
            </a:r>
            <a:r>
              <a:rPr lang="en-US" dirty="0" err="1"/>
              <a:t>tmp</a:t>
            </a:r>
            <a:r>
              <a:rPr lang="en-US" dirty="0"/>
              <a:t>   </a:t>
            </a: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6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6" charset="2"/>
              </a:rPr>
              <a:t> *}</a:t>
            </a:r>
            <a:r>
              <a:rPr lang="en-US" dirty="0"/>
              <a:t>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Rule for SEQ requires you to come up with intermediate assertions: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6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6" charset="2"/>
              </a:rPr>
              <a:t> *}</a:t>
            </a:r>
            <a:r>
              <a:rPr lang="en-US" dirty="0">
                <a:sym typeface="Symbol" pitchFamily="16" charset="2"/>
              </a:rPr>
              <a:t>    </a:t>
            </a:r>
            <a:r>
              <a:rPr lang="en-US" dirty="0" err="1"/>
              <a:t>tmp</a:t>
            </a:r>
            <a:r>
              <a:rPr lang="en-US" dirty="0"/>
              <a:t>:= x  </a:t>
            </a:r>
            <a:r>
              <a:rPr lang="en-US" dirty="0">
                <a:solidFill>
                  <a:srgbClr val="CC0000"/>
                </a:solidFill>
              </a:rPr>
              <a:t>{* ? *}</a:t>
            </a:r>
            <a:r>
              <a:rPr lang="en-US" dirty="0"/>
              <a:t> ; x:=y </a:t>
            </a:r>
            <a:r>
              <a:rPr lang="en-US" dirty="0">
                <a:solidFill>
                  <a:srgbClr val="CC0000"/>
                </a:solidFill>
              </a:rPr>
              <a:t>{* ? *}</a:t>
            </a:r>
            <a:r>
              <a:rPr lang="en-US" dirty="0"/>
              <a:t> ; y:=</a:t>
            </a:r>
            <a:r>
              <a:rPr lang="en-US" dirty="0" err="1"/>
              <a:t>tmp</a:t>
            </a:r>
            <a:r>
              <a:rPr lang="en-US" dirty="0"/>
              <a:t>   </a:t>
            </a: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6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6" charset="2"/>
              </a:rPr>
              <a:t> *}</a:t>
            </a:r>
            <a:r>
              <a:rPr lang="en-US" dirty="0"/>
              <a:t>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If we manage to come up with the intermediate assertions, Hoare logic’s rules tell us how to prove the claim. However, the rules </a:t>
            </a:r>
            <a:r>
              <a:rPr lang="en-US" b="1" dirty="0"/>
              <a:t>do not</a:t>
            </a:r>
            <a:r>
              <a:rPr lang="en-US" dirty="0"/>
              <a:t> tell us how to come up with these intermediate assertions in the first place,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807057-A1F2-5E4E-A465-2640BCBFB11B}"/>
              </a:ext>
            </a:extLst>
          </p:cNvPr>
          <p:cNvSpPr/>
          <p:nvPr/>
        </p:nvSpPr>
        <p:spPr>
          <a:xfrm>
            <a:off x="2362200" y="1828800"/>
            <a:ext cx="4419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E3963-BDD3-410C-BBB4-B82CD9BA0223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4C8C9D8-500C-4D5E-8870-8FE2C411324D}" type="slidenum">
              <a:rPr lang="en-US" altLang="en-US" sz="1200">
                <a:latin typeface="+mj-lt"/>
              </a:rPr>
              <a:pPr algn="r">
                <a:defRPr/>
              </a:pPr>
              <a:t>15</a:t>
            </a:fld>
            <a:endParaRPr lang="en-US" altLang="en-US" sz="1200">
              <a:latin typeface="+mj-lt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Weakest pre-condition (</a:t>
            </a:r>
            <a:r>
              <a:rPr lang="en-US" dirty="0" err="1"/>
              <a:t>wp</a:t>
            </a:r>
            <a:r>
              <a:rPr lang="en-US" dirty="0"/>
              <a:t>), LN Sec. 6.2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Imagine we have this function: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                 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 : Stmt </a:t>
            </a:r>
            <a:r>
              <a:rPr lang="en-US" dirty="0">
                <a:sym typeface="Symbol" pitchFamily="16" charset="2"/>
              </a:rPr>
              <a:t></a:t>
            </a:r>
            <a:r>
              <a:rPr lang="en-US" dirty="0">
                <a:sym typeface="Wingdings" charset="2"/>
              </a:rPr>
              <a:t> </a:t>
            </a:r>
            <a:r>
              <a:rPr lang="en-US" dirty="0" err="1">
                <a:sym typeface="Wingdings" charset="2"/>
              </a:rPr>
              <a:t>Pred</a:t>
            </a:r>
            <a:r>
              <a:rPr lang="en-US" dirty="0">
                <a:sym typeface="Wingdings" charset="2"/>
              </a:rPr>
              <a:t> </a:t>
            </a:r>
            <a:r>
              <a:rPr lang="en-US" dirty="0">
                <a:sym typeface="Symbol" pitchFamily="16" charset="2"/>
              </a:rPr>
              <a:t></a:t>
            </a:r>
            <a:r>
              <a:rPr lang="en-US" dirty="0">
                <a:sym typeface="Wingdings" charset="2"/>
              </a:rPr>
              <a:t> </a:t>
            </a:r>
            <a:r>
              <a:rPr lang="en-US" dirty="0" err="1">
                <a:sym typeface="Wingdings" charset="2"/>
              </a:rPr>
              <a:t>Pred</a:t>
            </a:r>
            <a:br>
              <a:rPr lang="en-US" dirty="0">
                <a:sym typeface="Wingdings" charset="2"/>
              </a:rPr>
            </a:br>
            <a:br>
              <a:rPr lang="en-US" dirty="0">
                <a:sym typeface="Wingdings" charset="2"/>
              </a:rPr>
            </a:br>
            <a:r>
              <a:rPr lang="en-US" dirty="0">
                <a:sym typeface="Wingdings" charset="2"/>
              </a:rPr>
              <a:t>such that </a:t>
            </a:r>
            <a:r>
              <a:rPr lang="en-US" b="1" dirty="0" err="1">
                <a:solidFill>
                  <a:srgbClr val="0070C0"/>
                </a:solidFill>
                <a:sym typeface="Wingdings" charset="2"/>
              </a:rPr>
              <a:t>wp</a:t>
            </a:r>
            <a:r>
              <a:rPr lang="en-US" dirty="0">
                <a:sym typeface="Wingdings" charset="2"/>
              </a:rPr>
              <a:t> </a:t>
            </a:r>
            <a:r>
              <a:rPr lang="en-US" i="1" dirty="0">
                <a:sym typeface="Wingdings" charset="2"/>
              </a:rPr>
              <a:t>S Q</a:t>
            </a:r>
            <a:r>
              <a:rPr lang="en-US" dirty="0">
                <a:sym typeface="Wingdings" charset="2"/>
              </a:rPr>
              <a:t> gives a </a:t>
            </a:r>
            <a:r>
              <a:rPr lang="en-US" b="1" i="1" dirty="0">
                <a:sym typeface="Wingdings" charset="2"/>
              </a:rPr>
              <a:t>valid</a:t>
            </a:r>
            <a:r>
              <a:rPr lang="en-US" dirty="0">
                <a:sym typeface="Wingdings" charset="2"/>
              </a:rPr>
              <a:t> pre-cond. That is, executing </a:t>
            </a:r>
            <a:r>
              <a:rPr lang="en-US" i="1" dirty="0">
                <a:sym typeface="Wingdings" charset="2"/>
              </a:rPr>
              <a:t>S</a:t>
            </a:r>
            <a:r>
              <a:rPr lang="en-US" dirty="0">
                <a:sym typeface="Wingdings" charset="2"/>
              </a:rPr>
              <a:t> in any state in this pre-</a:t>
            </a:r>
            <a:r>
              <a:rPr lang="en-US" dirty="0" err="1">
                <a:sym typeface="Wingdings" charset="2"/>
              </a:rPr>
              <a:t>cond</a:t>
            </a:r>
            <a:r>
              <a:rPr lang="en-US" dirty="0">
                <a:sym typeface="Wingdings" charset="2"/>
              </a:rPr>
              <a:t> results in a state in </a:t>
            </a:r>
            <a:r>
              <a:rPr lang="en-US" i="1" dirty="0">
                <a:sym typeface="Wingdings" charset="2"/>
              </a:rPr>
              <a:t>Q</a:t>
            </a:r>
            <a:r>
              <a:rPr lang="en-US" dirty="0">
                <a:sym typeface="Wingdings" charset="2"/>
              </a:rPr>
              <a:t>. Again, we can have two variations of such a function:</a:t>
            </a:r>
          </a:p>
          <a:p>
            <a:pPr lvl="1" eaLnBrk="1" hangingPunct="1"/>
            <a:r>
              <a:rPr lang="en-US" dirty="0">
                <a:sym typeface="Wingdings" charset="2"/>
              </a:rPr>
              <a:t>Partial correctness based  </a:t>
            </a:r>
            <a:r>
              <a:rPr lang="en-US" dirty="0" err="1">
                <a:sym typeface="Wingdings" charset="2"/>
              </a:rPr>
              <a:t>wp</a:t>
            </a:r>
            <a:r>
              <a:rPr lang="en-US" dirty="0">
                <a:sym typeface="Wingdings" charset="2"/>
              </a:rPr>
              <a:t> assumes </a:t>
            </a:r>
            <a:r>
              <a:rPr lang="en-US" i="1" dirty="0">
                <a:sym typeface="Wingdings" charset="2"/>
              </a:rPr>
              <a:t>S</a:t>
            </a:r>
            <a:r>
              <a:rPr lang="en-US" dirty="0">
                <a:sym typeface="Wingdings" charset="2"/>
              </a:rPr>
              <a:t> to always terminates.</a:t>
            </a:r>
          </a:p>
          <a:p>
            <a:pPr lvl="1" eaLnBrk="1" hangingPunct="1"/>
            <a:r>
              <a:rPr lang="en-US" dirty="0">
                <a:sym typeface="Wingdings" charset="2"/>
              </a:rPr>
              <a:t>Total correctness </a:t>
            </a:r>
            <a:r>
              <a:rPr lang="en-US" dirty="0" err="1">
                <a:sym typeface="Wingdings" charset="2"/>
              </a:rPr>
              <a:t>wp</a:t>
            </a:r>
            <a:r>
              <a:rPr lang="en-US" dirty="0">
                <a:sym typeface="Wingdings" charset="2"/>
              </a:rPr>
              <a:t>  the produced pre-condition guarantees that </a:t>
            </a:r>
            <a:r>
              <a:rPr lang="en-US" i="1" dirty="0">
                <a:sym typeface="Wingdings" charset="2"/>
              </a:rPr>
              <a:t>S</a:t>
            </a:r>
            <a:r>
              <a:rPr lang="en-US" dirty="0">
                <a:sym typeface="Wingdings" charset="2"/>
              </a:rPr>
              <a:t> terminates when executed on that pre-condition.</a:t>
            </a:r>
          </a:p>
          <a:p>
            <a:pPr eaLnBrk="1" hangingPunct="1"/>
            <a:r>
              <a:rPr lang="en-US" dirty="0">
                <a:sym typeface="Wingdings" charset="2"/>
              </a:rPr>
              <a:t>Even better: let </a:t>
            </a:r>
            <a:r>
              <a:rPr lang="en-US" b="1" dirty="0" err="1">
                <a:solidFill>
                  <a:srgbClr val="0070C0"/>
                </a:solidFill>
                <a:sym typeface="Wingdings" charset="2"/>
              </a:rPr>
              <a:t>wp</a:t>
            </a:r>
            <a:r>
              <a:rPr lang="en-US" dirty="0">
                <a:sym typeface="Wingdings" charset="2"/>
              </a:rPr>
              <a:t> construct the </a:t>
            </a:r>
            <a:r>
              <a:rPr lang="en-US" b="1" i="1" dirty="0">
                <a:sym typeface="Wingdings" charset="2"/>
              </a:rPr>
              <a:t>weakest </a:t>
            </a:r>
            <a:r>
              <a:rPr lang="en-US" i="1" dirty="0">
                <a:sym typeface="Wingdings" charset="2"/>
              </a:rPr>
              <a:t>valid</a:t>
            </a:r>
            <a:r>
              <a:rPr lang="en-US" dirty="0">
                <a:sym typeface="Wingdings" charset="2"/>
              </a:rPr>
              <a:t> pre-cond.</a:t>
            </a:r>
            <a:br>
              <a:rPr lang="en-US" dirty="0">
                <a:sym typeface="Wingdings" charset="2"/>
              </a:rPr>
            </a:br>
            <a:endParaRPr lang="en-US" dirty="0">
              <a:sym typeface="Wingdings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Weaker and stronger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8305800" cy="4572000"/>
          </a:xfrm>
        </p:spPr>
        <p:txBody>
          <a:bodyPr/>
          <a:lstStyle/>
          <a:p>
            <a:r>
              <a:rPr lang="en-US" sz="2800" dirty="0"/>
              <a:t>If p </a:t>
            </a:r>
            <a:r>
              <a:rPr lang="en-US" sz="2800" dirty="0">
                <a:sym typeface="Symbol"/>
              </a:rPr>
              <a:t> q is </a:t>
            </a:r>
            <a:r>
              <a:rPr lang="en-US" sz="2800" i="1" dirty="0">
                <a:sym typeface="Symbol"/>
              </a:rPr>
              <a:t>valid</a:t>
            </a:r>
            <a:r>
              <a:rPr lang="en-US" sz="2800" dirty="0">
                <a:sym typeface="Symbol"/>
              </a:rPr>
              <a:t>, we say that </a:t>
            </a:r>
            <a:r>
              <a:rPr lang="en-US" sz="2800" i="1" dirty="0">
                <a:sym typeface="Symbol"/>
              </a:rPr>
              <a:t>p </a:t>
            </a:r>
            <a:r>
              <a:rPr lang="en-US" sz="2800" dirty="0">
                <a:sym typeface="Symbol"/>
              </a:rPr>
              <a:t>is stronger than </a:t>
            </a:r>
            <a:r>
              <a:rPr lang="en-US" sz="2800" i="1" dirty="0">
                <a:sym typeface="Symbol"/>
              </a:rPr>
              <a:t>q</a:t>
            </a:r>
            <a:endParaRPr lang="en-US" sz="2800" dirty="0">
              <a:sym typeface="Symbol"/>
            </a:endParaRPr>
          </a:p>
          <a:p>
            <a:r>
              <a:rPr lang="en-US" sz="2800" dirty="0">
                <a:sym typeface="Symbol"/>
              </a:rPr>
              <a:t>Conversely</a:t>
            </a:r>
            <a:r>
              <a:rPr lang="en-US" sz="2800" i="1" dirty="0">
                <a:sym typeface="Symbol"/>
              </a:rPr>
              <a:t>, q</a:t>
            </a:r>
            <a:r>
              <a:rPr lang="en-US" sz="2800" dirty="0">
                <a:sym typeface="Symbol"/>
              </a:rPr>
              <a:t> is weaker than </a:t>
            </a:r>
            <a:r>
              <a:rPr lang="en-US" sz="2800" i="1" dirty="0">
                <a:sym typeface="Symbol"/>
              </a:rPr>
              <a:t>p</a:t>
            </a:r>
            <a:r>
              <a:rPr lang="en-US" sz="2800" dirty="0">
                <a:sym typeface="Symbol"/>
              </a:rPr>
              <a:t>.</a:t>
            </a:r>
          </a:p>
          <a:p>
            <a:r>
              <a:rPr lang="en-US" sz="2800" dirty="0">
                <a:sym typeface="Symbol"/>
              </a:rPr>
              <a:t>A state-predicate </a:t>
            </a:r>
            <a:r>
              <a:rPr lang="en-US" sz="2800" i="1" dirty="0">
                <a:sym typeface="Symbol"/>
              </a:rPr>
              <a:t>p </a:t>
            </a:r>
            <a:r>
              <a:rPr lang="en-US" sz="2800" dirty="0">
                <a:sym typeface="Symbol"/>
              </a:rPr>
              <a:t>can also be seen as characterizing a set of states, namely those states on which </a:t>
            </a:r>
            <a:r>
              <a:rPr lang="en-US" sz="2800" i="1" dirty="0">
                <a:sym typeface="Symbol"/>
              </a:rPr>
              <a:t>p</a:t>
            </a:r>
            <a:r>
              <a:rPr lang="en-US" sz="2800" dirty="0">
                <a:sym typeface="Symbol"/>
              </a:rPr>
              <a:t> is true.</a:t>
            </a:r>
          </a:p>
          <a:p>
            <a:r>
              <a:rPr lang="en-US" sz="2800" i="1" dirty="0">
                <a:sym typeface="Symbol"/>
              </a:rPr>
              <a:t>“p </a:t>
            </a:r>
            <a:r>
              <a:rPr lang="en-US" sz="2800" dirty="0">
                <a:sym typeface="Symbol"/>
              </a:rPr>
              <a:t>is stronger than </a:t>
            </a:r>
            <a:r>
              <a:rPr lang="en-US" sz="2800" i="1" dirty="0">
                <a:sym typeface="Symbol"/>
              </a:rPr>
              <a:t>q</a:t>
            </a:r>
            <a:r>
              <a:rPr lang="en-US" sz="2800" dirty="0">
                <a:sym typeface="Symbol"/>
              </a:rPr>
              <a:t>” is the same as saying, in terms of set, that  “</a:t>
            </a:r>
            <a:r>
              <a:rPr lang="en-US" sz="2800" i="1" dirty="0">
                <a:sym typeface="Symbol"/>
              </a:rPr>
              <a:t>p</a:t>
            </a:r>
            <a:r>
              <a:rPr lang="en-US" sz="2800" dirty="0">
                <a:sym typeface="Symbol"/>
              </a:rPr>
              <a:t> is subset of </a:t>
            </a:r>
            <a:r>
              <a:rPr lang="en-US" sz="2800" i="1" dirty="0">
                <a:sym typeface="Symbol"/>
              </a:rPr>
              <a:t>q</a:t>
            </a:r>
            <a:r>
              <a:rPr lang="en-US" sz="2800" dirty="0">
                <a:sym typeface="Symbol"/>
              </a:rPr>
              <a:t>“.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CBF92A-0A6E-BC45-AF9B-FFC6BF515B44}"/>
              </a:ext>
            </a:extLst>
          </p:cNvPr>
          <p:cNvSpPr/>
          <p:nvPr/>
        </p:nvSpPr>
        <p:spPr>
          <a:xfrm>
            <a:off x="1828800" y="4267200"/>
            <a:ext cx="48768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685800" y="18288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17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Weakest pre-condition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We can “characterize”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dirty="0"/>
              <a:t>as follows (Def. 6.2.3):</a:t>
            </a:r>
            <a:br>
              <a:rPr lang="en-US" dirty="0"/>
            </a:br>
            <a:br>
              <a:rPr lang="en-US" dirty="0"/>
            </a:br>
            <a:r>
              <a:rPr lang="en-US" dirty="0">
                <a:sym typeface="Symbol" pitchFamily="16" charset="2"/>
              </a:rPr>
              <a:t>         {*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*}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 *}      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   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 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i="1" dirty="0">
                <a:sym typeface="Symbol" pitchFamily="16" charset="2"/>
              </a:rPr>
              <a:t> S Q</a:t>
            </a:r>
            <a:endParaRPr lang="en-US" dirty="0"/>
          </a:p>
          <a:p>
            <a:pPr lvl="1" eaLnBrk="1" hangingPunct="1"/>
            <a:endParaRPr lang="en-US" dirty="0">
              <a:sym typeface="Symbol" pitchFamily="16" charset="2"/>
            </a:endParaRPr>
          </a:p>
          <a:p>
            <a:pPr eaLnBrk="1" hangingPunct="1"/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i="1" dirty="0">
                <a:sym typeface="Symbol" pitchFamily="16" charset="2"/>
              </a:rPr>
              <a:t>Corollary-1</a:t>
            </a:r>
            <a:r>
              <a:rPr lang="en-US" dirty="0">
                <a:sym typeface="Symbol" pitchFamily="16" charset="2"/>
              </a:rPr>
              <a:t>: Such </a:t>
            </a:r>
            <a:r>
              <a:rPr lang="en-US" dirty="0" err="1"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always produces a valid pre-cond. You can prove:  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                       {*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</a:t>
            </a:r>
            <a:r>
              <a:rPr lang="en-US" i="1" dirty="0">
                <a:sym typeface="Symbol" pitchFamily="16" charset="2"/>
              </a:rPr>
              <a:t>S Q</a:t>
            </a:r>
            <a:r>
              <a:rPr lang="en-US" dirty="0">
                <a:sym typeface="Symbol" pitchFamily="16" charset="2"/>
              </a:rPr>
              <a:t> *}  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*}</a:t>
            </a:r>
          </a:p>
          <a:p>
            <a:pPr eaLnBrk="1" hangingPunct="1">
              <a:buFont typeface="Wingdings" charset="2"/>
              <a:buNone/>
            </a:pPr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i="1" dirty="0">
                <a:sym typeface="Symbol" pitchFamily="16" charset="2"/>
              </a:rPr>
              <a:t>Corollary-2 </a:t>
            </a:r>
            <a:r>
              <a:rPr lang="en-US" dirty="0">
                <a:sym typeface="Symbol" pitchFamily="16" charset="2"/>
              </a:rPr>
              <a:t>: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reduces program verification problems to proving implications, for which we already have a “tool” for (Predicate Logic).</a:t>
            </a:r>
          </a:p>
          <a:p>
            <a:pPr lvl="1" eaLnBrk="1" hangingPunct="1"/>
            <a:endParaRPr lang="en-US" dirty="0">
              <a:sym typeface="Symbol" pitchFamily="16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2379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685800" y="18288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18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Weakest pre-condition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Again, the characterization of </a:t>
            </a:r>
            <a:r>
              <a:rPr lang="en-US" dirty="0" err="1"/>
              <a:t>wp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>
                <a:sym typeface="Symbol" pitchFamily="16" charset="2"/>
              </a:rPr>
              <a:t>         {*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*}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 *}      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   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 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i="1" dirty="0">
                <a:sym typeface="Symbol" pitchFamily="16" charset="2"/>
              </a:rPr>
              <a:t> S Q</a:t>
            </a:r>
            <a:endParaRPr lang="en-US" dirty="0"/>
          </a:p>
          <a:p>
            <a:pPr lvl="1" eaLnBrk="1" hangingPunct="1"/>
            <a:endParaRPr lang="en-US" dirty="0">
              <a:sym typeface="Symbol" pitchFamily="16" charset="2"/>
            </a:endParaRPr>
          </a:p>
          <a:p>
            <a:pPr eaLnBrk="1" hangingPunct="1"/>
            <a:endParaRPr lang="en-US" dirty="0">
              <a:sym typeface="Symbol" pitchFamily="16" charset="2"/>
            </a:endParaRPr>
          </a:p>
          <a:p>
            <a:pPr algn="just" eaLnBrk="1" hangingPunct="1"/>
            <a:r>
              <a:rPr lang="en-US" i="1" dirty="0">
                <a:sym typeface="Symbol" pitchFamily="16" charset="2"/>
              </a:rPr>
              <a:t>Corollary-3</a:t>
            </a:r>
            <a:r>
              <a:rPr lang="en-US" dirty="0">
                <a:sym typeface="Symbol" pitchFamily="16" charset="2"/>
              </a:rPr>
              <a:t>: the reduction is complete. That is, if the implication above is not valid, so is the specification.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Also interesting: a counter example demonstrating the invalidity of the implication essentially describes an input for the program/statement S, that leads to a final state that is not in Q. Such an input is useful for debugging S.</a:t>
            </a:r>
          </a:p>
          <a:p>
            <a:pPr lvl="1" eaLnBrk="1" hangingPunct="1"/>
            <a:endParaRPr lang="en-US" dirty="0">
              <a:sym typeface="Symbol" pitchFamily="16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26047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762000" y="24384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19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But...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28800"/>
            <a:ext cx="8686800" cy="4572000"/>
          </a:xfrm>
        </p:spPr>
        <p:txBody>
          <a:bodyPr/>
          <a:lstStyle/>
          <a:p>
            <a:pPr eaLnBrk="1" hangingPunct="1"/>
            <a:r>
              <a:rPr lang="en-US" dirty="0"/>
              <a:t>But this characterization is </a:t>
            </a:r>
            <a:r>
              <a:rPr lang="en-US" b="1" dirty="0"/>
              <a:t>not constructive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>
                <a:sym typeface="Symbol" pitchFamily="16" charset="2"/>
              </a:rPr>
              <a:t>         {*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*}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 *}      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   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 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i="1" dirty="0">
                <a:sym typeface="Symbol" pitchFamily="16" charset="2"/>
              </a:rPr>
              <a:t> S Q</a:t>
            </a:r>
            <a:endParaRPr lang="en-US" dirty="0"/>
          </a:p>
          <a:p>
            <a:pPr lvl="1" eaLnBrk="1" hangingPunct="1"/>
            <a:endParaRPr lang="en-US" dirty="0">
              <a:sym typeface="Symbol" pitchFamily="16" charset="2"/>
            </a:endParaRPr>
          </a:p>
          <a:p>
            <a:pPr eaLnBrk="1" hangingPunct="1"/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dirty="0">
                <a:sym typeface="Symbol" pitchFamily="16" charset="2"/>
              </a:rPr>
              <a:t>That is, it does not tell us how to actually calculate this weakest pre-condition that </a:t>
            </a:r>
            <a:r>
              <a:rPr lang="en-US" dirty="0" err="1"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is supposed to produce.</a:t>
            </a:r>
          </a:p>
          <a:p>
            <a:pPr eaLnBrk="1" hangingPunct="1"/>
            <a:r>
              <a:rPr lang="en-US" dirty="0">
                <a:sym typeface="Symbol" pitchFamily="16" charset="2"/>
              </a:rPr>
              <a:t>To be actually usable, we need to come up with a constructive definition for </a:t>
            </a:r>
            <a:r>
              <a:rPr lang="en-US" dirty="0" err="1"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537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CE9D2B-9BCB-904F-B5FD-B0C93FDA5F3B}"/>
              </a:ext>
            </a:extLst>
          </p:cNvPr>
          <p:cNvSpPr/>
          <p:nvPr/>
        </p:nvSpPr>
        <p:spPr>
          <a:xfrm>
            <a:off x="1371600" y="560070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1371600" y="358140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20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Some notes before we attempt to define </a:t>
            </a:r>
            <a:r>
              <a:rPr lang="en-US" dirty="0" err="1"/>
              <a:t>wp</a:t>
            </a:r>
            <a:r>
              <a:rPr lang="en-US" dirty="0"/>
              <a:t>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sz="2000" dirty="0"/>
              <a:t>This is the meta property we want to have (I swap the places, but that does not matter):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ym typeface="Symbol" pitchFamily="16" charset="2"/>
              </a:rPr>
              <a:t>                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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 </a:t>
            </a:r>
            <a:br>
              <a:rPr lang="en-US" sz="2000" dirty="0">
                <a:sym typeface="Symbol" pitchFamily="16" charset="2"/>
              </a:rPr>
            </a:br>
            <a:endParaRPr lang="en-US" sz="2000" dirty="0">
              <a:sym typeface="Symbol" pitchFamily="16" charset="2"/>
            </a:endParaRPr>
          </a:p>
          <a:p>
            <a:pPr eaLnBrk="1" hangingPunct="1"/>
            <a:r>
              <a:rPr lang="en-US" sz="2000" dirty="0">
                <a:sym typeface="Symbol" pitchFamily="16" charset="2"/>
              </a:rPr>
              <a:t>A definition/implementation of </a:t>
            </a:r>
            <a:r>
              <a:rPr lang="en-US" sz="2000" dirty="0" err="1">
                <a:sym typeface="Symbol" pitchFamily="16" charset="2"/>
              </a:rPr>
              <a:t>wp</a:t>
            </a:r>
            <a:r>
              <a:rPr lang="en-US" sz="2000" dirty="0">
                <a:sym typeface="Symbol" pitchFamily="16" charset="2"/>
              </a:rPr>
              <a:t> should be at least “</a:t>
            </a:r>
            <a:r>
              <a:rPr lang="en-US" sz="2000" b="1" dirty="0">
                <a:sym typeface="Symbol" pitchFamily="16" charset="2"/>
              </a:rPr>
              <a:t>sound</a:t>
            </a:r>
            <a:r>
              <a:rPr lang="en-US" sz="2000" dirty="0">
                <a:sym typeface="Symbol" pitchFamily="16" charset="2"/>
              </a:rPr>
              <a:t>”; it should produce a safe pre-condition:</a:t>
            </a:r>
            <a:br>
              <a:rPr lang="en-US" sz="2000" dirty="0">
                <a:sym typeface="Wingdings" pitchFamily="2" charset="2"/>
              </a:rPr>
            </a:br>
            <a:br>
              <a:rPr lang="en-US" sz="2000" dirty="0">
                <a:sym typeface="Symbol" pitchFamily="16" charset="2"/>
              </a:rPr>
            </a:br>
            <a:r>
              <a:rPr lang="en-US" sz="2000" dirty="0">
                <a:sym typeface="Symbol" pitchFamily="16" charset="2"/>
              </a:rPr>
              <a:t>              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⇒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</a:t>
            </a:r>
          </a:p>
          <a:p>
            <a:pPr eaLnBrk="1" hangingPunct="1"/>
            <a:endParaRPr lang="en-US" sz="2000" dirty="0">
              <a:sym typeface="Symbol" pitchFamily="16" charset="2"/>
            </a:endParaRPr>
          </a:p>
          <a:p>
            <a:pPr eaLnBrk="1" hangingPunct="1"/>
            <a:r>
              <a:rPr lang="en-US" sz="2000" dirty="0">
                <a:sym typeface="Symbol" pitchFamily="16" charset="2"/>
              </a:rPr>
              <a:t>A </a:t>
            </a:r>
            <a:r>
              <a:rPr lang="en-US" sz="2000" dirty="0" err="1">
                <a:sym typeface="Symbol" pitchFamily="16" charset="2"/>
              </a:rPr>
              <a:t>wp</a:t>
            </a:r>
            <a:r>
              <a:rPr lang="en-US" sz="2000" dirty="0">
                <a:sym typeface="Symbol" pitchFamily="16" charset="2"/>
              </a:rPr>
              <a:t> definition that satisfies the reverse property is called “</a:t>
            </a:r>
            <a:r>
              <a:rPr lang="en-US" sz="2000" b="1" dirty="0">
                <a:sym typeface="Symbol" pitchFamily="16" charset="2"/>
              </a:rPr>
              <a:t>complete</a:t>
            </a:r>
            <a:r>
              <a:rPr lang="en-US" sz="2000" dirty="0">
                <a:sym typeface="Symbol" pitchFamily="16" charset="2"/>
              </a:rPr>
              <a:t>”. I formulate it in contraposition to emphasize that it means, if the implication is invalid, the Hoare triple is also not valid:</a:t>
            </a:r>
            <a:br>
              <a:rPr lang="en-US" sz="2000" dirty="0">
                <a:sym typeface="Symbol" pitchFamily="16" charset="2"/>
              </a:rPr>
            </a:br>
            <a:endParaRPr lang="en-US" sz="2000" dirty="0">
              <a:sym typeface="Symbol" pitchFamily="16" charset="2"/>
            </a:endParaRPr>
          </a:p>
          <a:p>
            <a:pPr marL="0" indent="0" eaLnBrk="1" hangingPunct="1">
              <a:buNone/>
            </a:pPr>
            <a:r>
              <a:rPr lang="en-US" sz="2000" i="1" dirty="0">
                <a:sym typeface="Symbol" pitchFamily="16" charset="2"/>
              </a:rPr>
              <a:t>                   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⇒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F6EABA-CC74-D249-AFD0-D840106E661E}"/>
              </a:ext>
            </a:extLst>
          </p:cNvPr>
          <p:cNvCxnSpPr/>
          <p:nvPr/>
        </p:nvCxnSpPr>
        <p:spPr>
          <a:xfrm flipH="1">
            <a:off x="1981200" y="5715000"/>
            <a:ext cx="152400" cy="457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578BDB-6572-CA48-A50C-8BB8BF76BB43}"/>
              </a:ext>
            </a:extLst>
          </p:cNvPr>
          <p:cNvCxnSpPr>
            <a:cxnSpLocks/>
          </p:cNvCxnSpPr>
          <p:nvPr/>
        </p:nvCxnSpPr>
        <p:spPr>
          <a:xfrm flipH="1">
            <a:off x="4343400" y="5715000"/>
            <a:ext cx="1905000" cy="4286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920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0B57EA-A6C9-074F-A46F-0B157B79F51A}"/>
              </a:ext>
            </a:extLst>
          </p:cNvPr>
          <p:cNvSpPr/>
          <p:nvPr/>
        </p:nvSpPr>
        <p:spPr>
          <a:xfrm>
            <a:off x="914400" y="32893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B5559E-0213-424B-8452-8B5F6A6B059B}"/>
              </a:ext>
            </a:extLst>
          </p:cNvPr>
          <p:cNvSpPr/>
          <p:nvPr/>
        </p:nvSpPr>
        <p:spPr>
          <a:xfrm>
            <a:off x="914400" y="198755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21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Weakest pre-condition of skip and assignment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019300" y="2057400"/>
            <a:ext cx="51054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/>
              <a:t>    </a:t>
            </a:r>
            <a:r>
              <a:rPr lang="en-US" sz="2800" b="1" dirty="0" err="1">
                <a:solidFill>
                  <a:srgbClr val="0070C0"/>
                </a:solidFill>
              </a:rPr>
              <a:t>wp</a:t>
            </a:r>
            <a:r>
              <a:rPr lang="en-US" sz="2800" dirty="0"/>
              <a:t>   </a:t>
            </a:r>
            <a:r>
              <a:rPr lang="en-US" sz="2800" b="1" dirty="0">
                <a:solidFill>
                  <a:srgbClr val="C00000"/>
                </a:solidFill>
              </a:rPr>
              <a:t>skip</a:t>
            </a:r>
            <a:r>
              <a:rPr lang="en-US" sz="2800" dirty="0"/>
              <a:t>   </a:t>
            </a:r>
            <a:r>
              <a:rPr lang="en-US" sz="2800" i="1" dirty="0"/>
              <a:t>Q</a:t>
            </a:r>
            <a:r>
              <a:rPr lang="en-US" sz="2800" dirty="0"/>
              <a:t>        =         </a:t>
            </a:r>
            <a:r>
              <a:rPr lang="en-US" sz="2800" i="1" dirty="0"/>
              <a:t>Q</a:t>
            </a:r>
            <a:br>
              <a:rPr lang="en-US" sz="2800" i="1" dirty="0"/>
            </a:br>
            <a:br>
              <a:rPr lang="en-US" sz="2800" dirty="0"/>
            </a:br>
            <a:r>
              <a:rPr lang="en-US" sz="2800" dirty="0"/>
              <a:t>    </a:t>
            </a:r>
          </a:p>
          <a:p>
            <a:r>
              <a:rPr lang="en-US" sz="2800" b="1" dirty="0"/>
              <a:t>   </a:t>
            </a:r>
            <a:r>
              <a:rPr lang="en-US" sz="2800" b="1" dirty="0" err="1">
                <a:solidFill>
                  <a:srgbClr val="0070C0"/>
                </a:solidFill>
              </a:rPr>
              <a:t>wp</a:t>
            </a:r>
            <a:r>
              <a:rPr lang="en-US" sz="2800" dirty="0"/>
              <a:t>   </a:t>
            </a:r>
            <a:r>
              <a:rPr lang="en-US" sz="2800" b="1" dirty="0">
                <a:solidFill>
                  <a:srgbClr val="C00000"/>
                </a:solidFill>
              </a:rPr>
              <a:t>(x:=</a:t>
            </a:r>
            <a:r>
              <a:rPr lang="en-US" sz="2800" b="1" i="1" dirty="0">
                <a:solidFill>
                  <a:srgbClr val="C00000"/>
                </a:solidFill>
              </a:rPr>
              <a:t>e</a:t>
            </a:r>
            <a:r>
              <a:rPr lang="en-US" sz="2800" b="1" dirty="0">
                <a:solidFill>
                  <a:srgbClr val="C00000"/>
                </a:solidFill>
              </a:rPr>
              <a:t>)   </a:t>
            </a:r>
            <a:r>
              <a:rPr lang="en-US" sz="2800" i="1" dirty="0"/>
              <a:t>Q</a:t>
            </a:r>
            <a:r>
              <a:rPr lang="en-US" sz="2800" dirty="0"/>
              <a:t>     =    </a:t>
            </a:r>
            <a:r>
              <a:rPr lang="en-US" sz="2800" i="1" dirty="0"/>
              <a:t>Q</a:t>
            </a:r>
            <a:r>
              <a:rPr lang="en-US" sz="2800" dirty="0"/>
              <a:t>[</a:t>
            </a:r>
            <a:r>
              <a:rPr lang="en-US" sz="2800" i="1" dirty="0"/>
              <a:t>e</a:t>
            </a:r>
            <a:r>
              <a:rPr lang="en-US" sz="2800" dirty="0"/>
              <a:t>/x]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3CF78-00A4-EA40-A1E7-92251C77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those definitions “good”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F9610-6BB4-E44B-8101-D02BA5BB2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is, do they uphold the </a:t>
            </a:r>
            <a:r>
              <a:rPr lang="en-US" dirty="0" err="1"/>
              <a:t>wp</a:t>
            </a:r>
            <a:r>
              <a:rPr lang="en-US" dirty="0"/>
              <a:t> characterization we discussed before?</a:t>
            </a:r>
          </a:p>
          <a:p>
            <a:r>
              <a:rPr lang="en-US" dirty="0"/>
              <a:t>For “skip” it is clear.</a:t>
            </a:r>
          </a:p>
          <a:p>
            <a:r>
              <a:rPr lang="en-US" dirty="0"/>
              <a:t>For assignment, here is the proof (simple)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F1B10-E2C3-9A42-9536-3543B5643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DB2C8-6F1C-5946-84DD-57EA6E85BA18}"/>
              </a:ext>
            </a:extLst>
          </p:cNvPr>
          <p:cNvSpPr txBox="1"/>
          <p:nvPr/>
        </p:nvSpPr>
        <p:spPr>
          <a:xfrm>
            <a:off x="990600" y="3276600"/>
            <a:ext cx="6858000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 {P}  </a:t>
            </a:r>
            <a:r>
              <a:rPr lang="en-US" sz="2400" b="1" dirty="0">
                <a:solidFill>
                  <a:srgbClr val="C00000"/>
                </a:solidFill>
              </a:rPr>
              <a:t>x:=e </a:t>
            </a:r>
            <a:r>
              <a:rPr lang="en-US" sz="2400" dirty="0"/>
              <a:t>{Q} </a:t>
            </a:r>
          </a:p>
          <a:p>
            <a:r>
              <a:rPr lang="en-US" sz="2400" dirty="0"/>
              <a:t>= </a:t>
            </a:r>
            <a:r>
              <a:rPr lang="en-US" sz="2400" dirty="0">
                <a:solidFill>
                  <a:srgbClr val="7030A0"/>
                </a:solidFill>
              </a:rPr>
              <a:t>{ Hoare logic rule for assignment}</a:t>
            </a:r>
            <a:endParaRPr lang="en-US" sz="2400" dirty="0"/>
          </a:p>
          <a:p>
            <a:r>
              <a:rPr lang="en-US" sz="2400" dirty="0"/>
              <a:t>    P ⇒ Q[e/x]</a:t>
            </a:r>
          </a:p>
          <a:p>
            <a:r>
              <a:rPr lang="en-US" sz="2400" dirty="0"/>
              <a:t>=  </a:t>
            </a:r>
            <a:r>
              <a:rPr lang="en-US" sz="2400" dirty="0">
                <a:solidFill>
                  <a:srgbClr val="7030A0"/>
                </a:solidFill>
              </a:rPr>
              <a:t>{ def. </a:t>
            </a:r>
            <a:r>
              <a:rPr lang="en-US" sz="2400" dirty="0" err="1">
                <a:solidFill>
                  <a:srgbClr val="7030A0"/>
                </a:solidFill>
              </a:rPr>
              <a:t>wp</a:t>
            </a:r>
            <a:r>
              <a:rPr lang="en-US" sz="2400" dirty="0">
                <a:solidFill>
                  <a:srgbClr val="7030A0"/>
                </a:solidFill>
              </a:rPr>
              <a:t> on assignment } </a:t>
            </a:r>
          </a:p>
          <a:p>
            <a:r>
              <a:rPr lang="en-US" sz="2400" dirty="0"/>
              <a:t>   P ⇒  </a:t>
            </a: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C00000"/>
                </a:solidFill>
              </a:rPr>
              <a:t>x:=e</a:t>
            </a:r>
            <a:r>
              <a:rPr lang="en-US" sz="2400" dirty="0"/>
              <a:t>) Q</a:t>
            </a:r>
          </a:p>
        </p:txBody>
      </p:sp>
    </p:spTree>
    <p:extLst>
      <p:ext uri="{BB962C8B-B14F-4D97-AF65-F5344CB8AC3E}">
        <p14:creationId xmlns:p14="http://schemas.microsoft.com/office/powerpoint/2010/main" val="51376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7AD57F2-77A8-5E4D-B0E5-78E7633F8EB5}"/>
              </a:ext>
            </a:extLst>
          </p:cNvPr>
          <p:cNvSpPr/>
          <p:nvPr/>
        </p:nvSpPr>
        <p:spPr>
          <a:xfrm>
            <a:off x="952500" y="1558924"/>
            <a:ext cx="70866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EB083C-93FE-4E85-B166-E6093DD54750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9F33C3B-7060-4F48-9473-B2F6D96FB77D}" type="slidenum">
              <a:rPr lang="en-US" altLang="en-US" sz="1200">
                <a:latin typeface="+mj-lt"/>
              </a:rPr>
              <a:pPr algn="r">
                <a:defRPr/>
              </a:pPr>
              <a:t>23</a:t>
            </a:fld>
            <a:endParaRPr lang="en-US" altLang="en-US" sz="1200">
              <a:latin typeface="+mj-lt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wp  of  SEQ</a:t>
            </a:r>
          </a:p>
        </p:txBody>
      </p:sp>
      <p:sp>
        <p:nvSpPr>
          <p:cNvPr id="17413" name="Text Box 9"/>
          <p:cNvSpPr txBox="1">
            <a:spLocks noChangeArrowheads="1"/>
          </p:cNvSpPr>
          <p:nvPr/>
        </p:nvSpPr>
        <p:spPr bwMode="auto">
          <a:xfrm>
            <a:off x="1028700" y="1558925"/>
            <a:ext cx="6781800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    </a:t>
            </a:r>
            <a:br>
              <a:rPr lang="en-US" sz="2400" dirty="0"/>
            </a:b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(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;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)   </a:t>
            </a:r>
            <a:r>
              <a:rPr lang="en-US" sz="2400" i="1" dirty="0"/>
              <a:t>Q</a:t>
            </a:r>
            <a:r>
              <a:rPr lang="en-US" sz="2400" dirty="0"/>
              <a:t>    =     </a:t>
            </a: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 (</a:t>
            </a: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 </a:t>
            </a:r>
            <a:r>
              <a:rPr lang="en-US" sz="2400" i="1" dirty="0"/>
              <a:t>Q</a:t>
            </a:r>
            <a:r>
              <a:rPr lang="en-US" sz="2400" dirty="0"/>
              <a:t>)</a:t>
            </a:r>
          </a:p>
          <a:p>
            <a:pPr algn="ctr"/>
            <a:endParaRPr lang="en-US" sz="2400" dirty="0"/>
          </a:p>
        </p:txBody>
      </p:sp>
      <p:sp>
        <p:nvSpPr>
          <p:cNvPr id="17414" name="Oval 10"/>
          <p:cNvSpPr>
            <a:spLocks noChangeArrowheads="1"/>
          </p:cNvSpPr>
          <p:nvPr/>
        </p:nvSpPr>
        <p:spPr bwMode="auto">
          <a:xfrm>
            <a:off x="6858000" y="4419600"/>
            <a:ext cx="838200" cy="1371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p:sp>
        <p:nvSpPr>
          <p:cNvPr id="17415" name="Oval 11"/>
          <p:cNvSpPr>
            <a:spLocks noChangeArrowheads="1"/>
          </p:cNvSpPr>
          <p:nvPr/>
        </p:nvSpPr>
        <p:spPr bwMode="auto">
          <a:xfrm>
            <a:off x="4724400" y="4572000"/>
            <a:ext cx="838200" cy="13716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W</a:t>
            </a: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876800" y="5917168"/>
            <a:ext cx="12506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=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b="1" dirty="0"/>
              <a:t> S</a:t>
            </a:r>
            <a:r>
              <a:rPr lang="en-US" b="1" baseline="-25000" dirty="0"/>
              <a:t>2</a:t>
            </a:r>
            <a:r>
              <a:rPr lang="en-US" b="1" dirty="0"/>
              <a:t> Q</a:t>
            </a:r>
          </a:p>
        </p:txBody>
      </p:sp>
      <p:sp>
        <p:nvSpPr>
          <p:cNvPr id="17417" name="Oval 13"/>
          <p:cNvSpPr>
            <a:spLocks noChangeArrowheads="1"/>
          </p:cNvSpPr>
          <p:nvPr/>
        </p:nvSpPr>
        <p:spPr bwMode="auto">
          <a:xfrm>
            <a:off x="1485901" y="4724399"/>
            <a:ext cx="1860550" cy="9906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       V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2481355" y="5571296"/>
            <a:ext cx="209223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=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b="1" dirty="0"/>
              <a:t> S</a:t>
            </a:r>
            <a:r>
              <a:rPr lang="en-US" b="1" baseline="-25000" dirty="0"/>
              <a:t>1</a:t>
            </a:r>
            <a:r>
              <a:rPr lang="en-US" b="1" dirty="0"/>
              <a:t> W</a:t>
            </a:r>
            <a:br>
              <a:rPr lang="en-US" b="1" dirty="0"/>
            </a:br>
            <a:r>
              <a:rPr lang="en-US" b="1" dirty="0"/>
              <a:t>=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b="1" dirty="0"/>
              <a:t> S</a:t>
            </a:r>
            <a:r>
              <a:rPr lang="en-US" b="1" baseline="-25000" dirty="0"/>
              <a:t>1</a:t>
            </a:r>
            <a:r>
              <a:rPr lang="en-US" b="1" dirty="0"/>
              <a:t> (</a:t>
            </a:r>
            <a:r>
              <a:rPr lang="en-US" b="1" dirty="0" err="1"/>
              <a:t>wp</a:t>
            </a:r>
            <a:r>
              <a:rPr lang="en-US" b="1" dirty="0"/>
              <a:t> S</a:t>
            </a:r>
            <a:r>
              <a:rPr lang="en-US" b="1" baseline="-25000" dirty="0"/>
              <a:t>2</a:t>
            </a:r>
            <a:r>
              <a:rPr lang="en-US" b="1" dirty="0"/>
              <a:t> Q)</a:t>
            </a:r>
          </a:p>
        </p:txBody>
      </p:sp>
      <p:cxnSp>
        <p:nvCxnSpPr>
          <p:cNvPr id="11" name="Straight Arrow Connector 10"/>
          <p:cNvCxnSpPr>
            <a:stCxn id="17415" idx="6"/>
            <a:endCxn id="17414" idx="2"/>
          </p:cNvCxnSpPr>
          <p:nvPr/>
        </p:nvCxnSpPr>
        <p:spPr>
          <a:xfrm flipV="1">
            <a:off x="5562600" y="5105400"/>
            <a:ext cx="1295400" cy="15240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7417" idx="6"/>
            <a:endCxn id="17415" idx="2"/>
          </p:cNvCxnSpPr>
          <p:nvPr/>
        </p:nvCxnSpPr>
        <p:spPr>
          <a:xfrm>
            <a:off x="3346451" y="5219699"/>
            <a:ext cx="1377949" cy="38101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29" name="TextBox 39"/>
          <p:cNvSpPr txBox="1">
            <a:spLocks noChangeArrowheads="1"/>
          </p:cNvSpPr>
          <p:nvPr/>
        </p:nvSpPr>
        <p:spPr bwMode="auto">
          <a:xfrm>
            <a:off x="6019800" y="5181600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2</a:t>
            </a:r>
            <a:endParaRPr lang="nl-NL" sz="2000" baseline="-25000"/>
          </a:p>
        </p:txBody>
      </p:sp>
      <p:sp>
        <p:nvSpPr>
          <p:cNvPr id="17430" name="TextBox 40"/>
          <p:cNvSpPr txBox="1">
            <a:spLocks noChangeArrowheads="1"/>
          </p:cNvSpPr>
          <p:nvPr/>
        </p:nvSpPr>
        <p:spPr bwMode="auto">
          <a:xfrm>
            <a:off x="3733800" y="4724400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1</a:t>
            </a:r>
            <a:endParaRPr lang="nl-NL" sz="2000" baseline="-25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3E8896-EA95-404E-A6D5-26685D90B9A2}"/>
              </a:ext>
            </a:extLst>
          </p:cNvPr>
          <p:cNvSpPr txBox="1"/>
          <p:nvPr/>
        </p:nvSpPr>
        <p:spPr>
          <a:xfrm>
            <a:off x="304800" y="303530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Proving that this def. of </a:t>
            </a:r>
            <a:r>
              <a:rPr lang="en-US" dirty="0" err="1"/>
              <a:t>wp</a:t>
            </a:r>
            <a:r>
              <a:rPr lang="en-US" dirty="0"/>
              <a:t> upholds the </a:t>
            </a:r>
            <a:r>
              <a:rPr lang="en-US" dirty="0" err="1"/>
              <a:t>wp</a:t>
            </a:r>
            <a:r>
              <a:rPr lang="en-US" dirty="0"/>
              <a:t>-characterization is more complicated now and involves an inductive argument. We will only give a sketch here. The first part of the argument is that any pre-</a:t>
            </a:r>
            <a:r>
              <a:rPr lang="en-US" dirty="0" err="1"/>
              <a:t>cond</a:t>
            </a:r>
            <a:r>
              <a:rPr lang="en-US" dirty="0"/>
              <a:t> P that implies V below will also satisfies {P} S</a:t>
            </a:r>
            <a:r>
              <a:rPr lang="en-US" baseline="-25000" dirty="0"/>
              <a:t>1</a:t>
            </a:r>
            <a:r>
              <a:rPr lang="en-US" dirty="0"/>
              <a:t>;S</a:t>
            </a:r>
            <a:r>
              <a:rPr lang="en-US" baseline="-25000" dirty="0"/>
              <a:t>2</a:t>
            </a:r>
            <a:r>
              <a:rPr lang="en-US" dirty="0"/>
              <a:t> {Q}.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A0A024-2D47-F447-97F9-366ACFE3F914}"/>
              </a:ext>
            </a:extLst>
          </p:cNvPr>
          <p:cNvSpPr/>
          <p:nvPr/>
        </p:nvSpPr>
        <p:spPr>
          <a:xfrm>
            <a:off x="1654176" y="4994363"/>
            <a:ext cx="762000" cy="48877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/>
      <p:bldP spid="17415" grpId="0" animBg="1"/>
      <p:bldP spid="41996" grpId="0"/>
      <p:bldP spid="17417" grpId="0" animBg="1"/>
      <p:bldP spid="41998" grpId="0"/>
      <p:bldP spid="17429" grpId="0"/>
      <p:bldP spid="17430" grpId="0"/>
      <p:bldP spid="2" grpId="0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7AD57F2-77A8-5E4D-B0E5-78E7633F8EB5}"/>
              </a:ext>
            </a:extLst>
          </p:cNvPr>
          <p:cNvSpPr/>
          <p:nvPr/>
        </p:nvSpPr>
        <p:spPr>
          <a:xfrm>
            <a:off x="952500" y="1558924"/>
            <a:ext cx="70866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EB083C-93FE-4E85-B166-E6093DD54750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9F33C3B-7060-4F48-9473-B2F6D96FB77D}" type="slidenum">
              <a:rPr lang="en-US" altLang="en-US" sz="1200">
                <a:latin typeface="+mj-lt"/>
              </a:rPr>
              <a:pPr algn="r">
                <a:defRPr/>
              </a:pPr>
              <a:t>24</a:t>
            </a:fld>
            <a:endParaRPr lang="en-US" altLang="en-US" sz="1200">
              <a:latin typeface="+mj-lt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wp  of  SEQ</a:t>
            </a:r>
          </a:p>
        </p:txBody>
      </p:sp>
      <p:sp>
        <p:nvSpPr>
          <p:cNvPr id="17413" name="Text Box 9"/>
          <p:cNvSpPr txBox="1">
            <a:spLocks noChangeArrowheads="1"/>
          </p:cNvSpPr>
          <p:nvPr/>
        </p:nvSpPr>
        <p:spPr bwMode="auto">
          <a:xfrm>
            <a:off x="1028700" y="1558925"/>
            <a:ext cx="6781800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    </a:t>
            </a:r>
            <a:br>
              <a:rPr lang="en-US" sz="2400" dirty="0"/>
            </a:b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(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;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)   </a:t>
            </a:r>
            <a:r>
              <a:rPr lang="en-US" sz="2400" i="1" dirty="0"/>
              <a:t>Q</a:t>
            </a:r>
            <a:r>
              <a:rPr lang="en-US" sz="2400" dirty="0"/>
              <a:t>    =     </a:t>
            </a: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 (</a:t>
            </a:r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 </a:t>
            </a:r>
            <a:r>
              <a:rPr lang="en-US" sz="2400" i="1" dirty="0"/>
              <a:t>Q</a:t>
            </a:r>
            <a:r>
              <a:rPr lang="en-US" sz="2400" dirty="0"/>
              <a:t>)</a:t>
            </a:r>
          </a:p>
          <a:p>
            <a:pPr algn="ctr"/>
            <a:endParaRPr lang="en-US" sz="2400" dirty="0"/>
          </a:p>
        </p:txBody>
      </p:sp>
      <p:sp>
        <p:nvSpPr>
          <p:cNvPr id="17414" name="Oval 10"/>
          <p:cNvSpPr>
            <a:spLocks noChangeArrowheads="1"/>
          </p:cNvSpPr>
          <p:nvPr/>
        </p:nvSpPr>
        <p:spPr bwMode="auto">
          <a:xfrm>
            <a:off x="6477000" y="4734696"/>
            <a:ext cx="838200" cy="1371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p:sp>
        <p:nvSpPr>
          <p:cNvPr id="17415" name="Oval 11"/>
          <p:cNvSpPr>
            <a:spLocks noChangeArrowheads="1"/>
          </p:cNvSpPr>
          <p:nvPr/>
        </p:nvSpPr>
        <p:spPr bwMode="auto">
          <a:xfrm>
            <a:off x="4343400" y="4887096"/>
            <a:ext cx="838200" cy="13716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W</a:t>
            </a: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484981" y="6129331"/>
            <a:ext cx="12506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=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b="1" dirty="0"/>
              <a:t> S</a:t>
            </a:r>
            <a:r>
              <a:rPr lang="en-US" b="1" baseline="-25000" dirty="0"/>
              <a:t>2</a:t>
            </a:r>
            <a:r>
              <a:rPr lang="en-US" b="1" dirty="0"/>
              <a:t> Q</a:t>
            </a:r>
          </a:p>
        </p:txBody>
      </p:sp>
      <p:sp>
        <p:nvSpPr>
          <p:cNvPr id="17417" name="Oval 13"/>
          <p:cNvSpPr>
            <a:spLocks noChangeArrowheads="1"/>
          </p:cNvSpPr>
          <p:nvPr/>
        </p:nvSpPr>
        <p:spPr bwMode="auto">
          <a:xfrm>
            <a:off x="1676400" y="5115696"/>
            <a:ext cx="1295400" cy="8382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V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2057486" y="5833740"/>
            <a:ext cx="209223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=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b="1" dirty="0"/>
              <a:t> S</a:t>
            </a:r>
            <a:r>
              <a:rPr lang="en-US" b="1" baseline="-25000" dirty="0"/>
              <a:t>1</a:t>
            </a:r>
            <a:r>
              <a:rPr lang="en-US" b="1" dirty="0"/>
              <a:t> W</a:t>
            </a:r>
            <a:br>
              <a:rPr lang="en-US" b="1" dirty="0"/>
            </a:br>
            <a:r>
              <a:rPr lang="en-US" b="1" dirty="0"/>
              <a:t>=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b="1" dirty="0"/>
              <a:t> S</a:t>
            </a:r>
            <a:r>
              <a:rPr lang="en-US" b="1" baseline="-25000" dirty="0"/>
              <a:t>1</a:t>
            </a:r>
            <a:r>
              <a:rPr lang="en-US" b="1" dirty="0"/>
              <a:t> (</a:t>
            </a:r>
            <a:r>
              <a:rPr lang="en-US" b="1" dirty="0" err="1"/>
              <a:t>wp</a:t>
            </a:r>
            <a:r>
              <a:rPr lang="en-US" b="1" dirty="0"/>
              <a:t> S</a:t>
            </a:r>
            <a:r>
              <a:rPr lang="en-US" b="1" baseline="-25000" dirty="0"/>
              <a:t>2</a:t>
            </a:r>
            <a:r>
              <a:rPr lang="en-US" b="1" dirty="0"/>
              <a:t> Q)</a:t>
            </a:r>
          </a:p>
        </p:txBody>
      </p:sp>
      <p:cxnSp>
        <p:nvCxnSpPr>
          <p:cNvPr id="11" name="Straight Arrow Connector 10"/>
          <p:cNvCxnSpPr>
            <a:stCxn id="17415" idx="6"/>
            <a:endCxn id="17414" idx="2"/>
          </p:cNvCxnSpPr>
          <p:nvPr/>
        </p:nvCxnSpPr>
        <p:spPr>
          <a:xfrm flipV="1">
            <a:off x="5181600" y="5420496"/>
            <a:ext cx="1295400" cy="15240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7417" idx="6"/>
            <a:endCxn id="17415" idx="2"/>
          </p:cNvCxnSpPr>
          <p:nvPr/>
        </p:nvCxnSpPr>
        <p:spPr>
          <a:xfrm>
            <a:off x="2971800" y="5534796"/>
            <a:ext cx="1371600" cy="3810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876800" y="5191896"/>
            <a:ext cx="1981200" cy="1588"/>
          </a:xfrm>
          <a:prstGeom prst="straightConnector1">
            <a:avLst/>
          </a:prstGeom>
          <a:ln w="25400">
            <a:solidFill>
              <a:srgbClr val="99003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31" idx="6"/>
          </p:cNvCxnSpPr>
          <p:nvPr/>
        </p:nvCxnSpPr>
        <p:spPr>
          <a:xfrm>
            <a:off x="4724400" y="4429896"/>
            <a:ext cx="2133600" cy="685800"/>
          </a:xfrm>
          <a:prstGeom prst="straightConnector1">
            <a:avLst/>
          </a:prstGeom>
          <a:ln w="25400">
            <a:solidFill>
              <a:srgbClr val="0000CC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72000" y="4353696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32" name="Oval 31"/>
          <p:cNvSpPr/>
          <p:nvPr/>
        </p:nvSpPr>
        <p:spPr>
          <a:xfrm>
            <a:off x="4800600" y="5115696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33" name="Oval 32"/>
          <p:cNvSpPr/>
          <p:nvPr/>
        </p:nvSpPr>
        <p:spPr>
          <a:xfrm>
            <a:off x="6858000" y="5115696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17429" name="TextBox 39"/>
          <p:cNvSpPr txBox="1">
            <a:spLocks noChangeArrowheads="1"/>
          </p:cNvSpPr>
          <p:nvPr/>
        </p:nvSpPr>
        <p:spPr bwMode="auto">
          <a:xfrm>
            <a:off x="5638800" y="5496696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2</a:t>
            </a:r>
            <a:endParaRPr lang="nl-NL" sz="2000" baseline="-25000"/>
          </a:p>
        </p:txBody>
      </p:sp>
      <p:sp>
        <p:nvSpPr>
          <p:cNvPr id="17430" name="TextBox 40"/>
          <p:cNvSpPr txBox="1">
            <a:spLocks noChangeArrowheads="1"/>
          </p:cNvSpPr>
          <p:nvPr/>
        </p:nvSpPr>
        <p:spPr bwMode="auto">
          <a:xfrm>
            <a:off x="3352800" y="5039496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1</a:t>
            </a:r>
            <a:endParaRPr lang="nl-NL" sz="2000" baseline="-25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3E8896-EA95-404E-A6D5-26685D90B9A2}"/>
              </a:ext>
            </a:extLst>
          </p:cNvPr>
          <p:cNvSpPr txBox="1"/>
          <p:nvPr/>
        </p:nvSpPr>
        <p:spPr>
          <a:xfrm>
            <a:off x="190500" y="2940955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second part of the argument is to show that if {P} S</a:t>
            </a:r>
            <a:r>
              <a:rPr lang="en-US" baseline="-25000" dirty="0"/>
              <a:t>1</a:t>
            </a:r>
            <a:r>
              <a:rPr lang="en-US" dirty="0"/>
              <a:t>;S</a:t>
            </a:r>
            <a:r>
              <a:rPr lang="en-US" baseline="-25000" dirty="0"/>
              <a:t>2</a:t>
            </a:r>
            <a:r>
              <a:rPr lang="en-US" dirty="0"/>
              <a:t> {Q} holds, then P implies V below. We argue this by contradiction. Suppose there is some state s satisfying P, but not V (see below). Since {P} S</a:t>
            </a:r>
            <a:r>
              <a:rPr lang="en-US" baseline="-25000" dirty="0"/>
              <a:t>1</a:t>
            </a:r>
            <a:r>
              <a:rPr lang="en-US" dirty="0"/>
              <a:t>;S</a:t>
            </a:r>
            <a:r>
              <a:rPr lang="en-US" baseline="-25000" dirty="0"/>
              <a:t>2</a:t>
            </a:r>
            <a:r>
              <a:rPr lang="en-US" dirty="0"/>
              <a:t> {Q}, executing S</a:t>
            </a:r>
            <a:r>
              <a:rPr lang="en-US" baseline="-25000" dirty="0"/>
              <a:t>1</a:t>
            </a:r>
            <a:r>
              <a:rPr lang="en-US" dirty="0"/>
              <a:t>;S</a:t>
            </a:r>
            <a:r>
              <a:rPr lang="en-US" baseline="-25000" dirty="0"/>
              <a:t>2</a:t>
            </a:r>
            <a:r>
              <a:rPr lang="en-US" dirty="0"/>
              <a:t> on s will bring us to Q. But this leads to contradictions depicted below.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67BD3E9-46C2-3944-8791-85FC3221CB0D}"/>
              </a:ext>
            </a:extLst>
          </p:cNvPr>
          <p:cNvSpPr/>
          <p:nvPr/>
        </p:nvSpPr>
        <p:spPr>
          <a:xfrm>
            <a:off x="1654176" y="4487951"/>
            <a:ext cx="762000" cy="8530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1965326" y="4519166"/>
            <a:ext cx="152400" cy="152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5244F-578E-7F43-AE41-67A9A091162A}"/>
              </a:ext>
            </a:extLst>
          </p:cNvPr>
          <p:cNvSpPr txBox="1"/>
          <p:nvPr/>
        </p:nvSpPr>
        <p:spPr>
          <a:xfrm>
            <a:off x="1293736" y="4141284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s</a:t>
            </a:r>
          </a:p>
        </p:txBody>
      </p:sp>
      <p:cxnSp>
        <p:nvCxnSpPr>
          <p:cNvPr id="18" name="Straight Arrow Connector 17"/>
          <p:cNvCxnSpPr>
            <a:cxnSpLocks/>
            <a:stCxn id="34" idx="5"/>
          </p:cNvCxnSpPr>
          <p:nvPr/>
        </p:nvCxnSpPr>
        <p:spPr>
          <a:xfrm>
            <a:off x="2095408" y="4649248"/>
            <a:ext cx="2622642" cy="491479"/>
          </a:xfrm>
          <a:prstGeom prst="straightConnector1">
            <a:avLst/>
          </a:prstGeom>
          <a:ln w="25400">
            <a:solidFill>
              <a:srgbClr val="99003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  <a:stCxn id="34" idx="6"/>
            <a:endCxn id="31" idx="2"/>
          </p:cNvCxnSpPr>
          <p:nvPr/>
        </p:nvCxnSpPr>
        <p:spPr>
          <a:xfrm flipV="1">
            <a:off x="2117726" y="4429896"/>
            <a:ext cx="2454274" cy="165470"/>
          </a:xfrm>
          <a:prstGeom prst="straightConnector1">
            <a:avLst/>
          </a:prstGeom>
          <a:ln w="25400">
            <a:solidFill>
              <a:srgbClr val="0000CC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76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2" grpId="1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5ED4D65-90BB-4F4B-8476-2D3D5395AA64}"/>
              </a:ext>
            </a:extLst>
          </p:cNvPr>
          <p:cNvSpPr/>
          <p:nvPr/>
        </p:nvSpPr>
        <p:spPr>
          <a:xfrm>
            <a:off x="304800" y="1306512"/>
            <a:ext cx="8458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CDAA6B-A73A-4D75-B649-32B045574DF9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54DAFB5-21FD-4E15-AB4B-540EB192066B}" type="slidenum">
              <a:rPr lang="en-US" altLang="en-US" sz="1200">
                <a:latin typeface="+mj-lt"/>
              </a:rPr>
              <a:pPr algn="r">
                <a:defRPr/>
              </a:pPr>
              <a:t>25</a:t>
            </a:fld>
            <a:endParaRPr lang="en-US" altLang="en-US" sz="1200">
              <a:latin typeface="+mj-lt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wp  of   IF</a:t>
            </a:r>
          </a:p>
        </p:txBody>
      </p:sp>
      <p:sp>
        <p:nvSpPr>
          <p:cNvPr id="18437" name="Text Box 9"/>
          <p:cNvSpPr txBox="1">
            <a:spLocks noChangeArrowheads="1"/>
          </p:cNvSpPr>
          <p:nvPr/>
        </p:nvSpPr>
        <p:spPr bwMode="auto">
          <a:xfrm>
            <a:off x="152400" y="1371600"/>
            <a:ext cx="88392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    </a:t>
            </a:r>
            <a:br>
              <a:rPr lang="en-US" sz="2000" dirty="0"/>
            </a:b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(</a:t>
            </a:r>
            <a:r>
              <a:rPr lang="en-US" sz="2000" b="1" dirty="0"/>
              <a:t>if</a:t>
            </a:r>
            <a:r>
              <a:rPr lang="en-US" sz="2000" dirty="0"/>
              <a:t>  </a:t>
            </a:r>
            <a:r>
              <a:rPr lang="en-US" sz="2000" i="1" dirty="0"/>
              <a:t>g</a:t>
            </a:r>
            <a:r>
              <a:rPr lang="en-US" sz="2000" dirty="0"/>
              <a:t>  </a:t>
            </a:r>
            <a:r>
              <a:rPr lang="en-US" sz="2000" b="1" dirty="0"/>
              <a:t>then</a:t>
            </a:r>
            <a:r>
              <a:rPr lang="en-US" sz="2000" dirty="0"/>
              <a:t> 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="1" dirty="0"/>
              <a:t>else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)  </a:t>
            </a:r>
            <a:r>
              <a:rPr lang="en-US" sz="2000" i="1" dirty="0"/>
              <a:t>Q</a:t>
            </a:r>
            <a:r>
              <a:rPr lang="en-US" sz="2000" dirty="0"/>
              <a:t>    =    (</a:t>
            </a:r>
            <a:r>
              <a:rPr lang="en-US" sz="2000" i="1" dirty="0"/>
              <a:t>g</a:t>
            </a:r>
            <a:r>
              <a:rPr lang="en-US" sz="2000" dirty="0"/>
              <a:t> /\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 \/  (</a:t>
            </a:r>
            <a:r>
              <a:rPr lang="en-US" sz="2000" dirty="0">
                <a:sym typeface="Symbol" pitchFamily="16" charset="2"/>
              </a:rPr>
              <a:t></a:t>
            </a:r>
            <a:r>
              <a:rPr lang="en-US" sz="2000" i="1" dirty="0">
                <a:sym typeface="Symbol" pitchFamily="16" charset="2"/>
              </a:rPr>
              <a:t>g</a:t>
            </a:r>
            <a:r>
              <a:rPr lang="en-US" sz="2000" dirty="0">
                <a:sym typeface="Symbol" pitchFamily="16" charset="2"/>
              </a:rPr>
              <a:t> /\ </a:t>
            </a:r>
            <a:r>
              <a:rPr lang="en-US" sz="2000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/>
              <a:t> 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  <a:p>
            <a:pPr algn="ctr"/>
            <a:endParaRPr lang="en-US" sz="2000" dirty="0"/>
          </a:p>
        </p:txBody>
      </p:sp>
      <p:sp>
        <p:nvSpPr>
          <p:cNvPr id="18438" name="Oval 10"/>
          <p:cNvSpPr>
            <a:spLocks noChangeArrowheads="1"/>
          </p:cNvSpPr>
          <p:nvPr/>
        </p:nvSpPr>
        <p:spPr bwMode="auto">
          <a:xfrm>
            <a:off x="6146800" y="3954462"/>
            <a:ext cx="838200" cy="1371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p:sp>
        <p:nvSpPr>
          <p:cNvPr id="41995" name="Oval 11"/>
          <p:cNvSpPr>
            <a:spLocks noChangeArrowheads="1"/>
          </p:cNvSpPr>
          <p:nvPr/>
        </p:nvSpPr>
        <p:spPr bwMode="auto">
          <a:xfrm>
            <a:off x="3327400" y="4259262"/>
            <a:ext cx="1371600" cy="17526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accent1">
                <a:lumMod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W</a:t>
            </a: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013200" y="5935662"/>
            <a:ext cx="1225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= </a:t>
            </a:r>
            <a:r>
              <a:rPr lang="en-US" dirty="0" err="1"/>
              <a:t>wp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en-US" dirty="0"/>
              <a:t> Q</a:t>
            </a:r>
          </a:p>
        </p:txBody>
      </p:sp>
      <p:sp>
        <p:nvSpPr>
          <p:cNvPr id="41997" name="Oval 13"/>
          <p:cNvSpPr>
            <a:spLocks noChangeArrowheads="1"/>
          </p:cNvSpPr>
          <p:nvPr/>
        </p:nvSpPr>
        <p:spPr bwMode="auto">
          <a:xfrm>
            <a:off x="3327400" y="2887662"/>
            <a:ext cx="1295400" cy="1752600"/>
          </a:xfrm>
          <a:prstGeom prst="ellipse">
            <a:avLst/>
          </a:prstGeom>
          <a:solidFill>
            <a:schemeClr val="folHlink">
              <a:alpha val="61000"/>
            </a:schemeClr>
          </a:solidFill>
          <a:ln w="19050">
            <a:solidFill>
              <a:schemeClr val="accent1">
                <a:lumMod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V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2336800" y="2963862"/>
            <a:ext cx="1225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= </a:t>
            </a:r>
            <a:r>
              <a:rPr lang="en-US" dirty="0" err="1"/>
              <a:t>wp</a:t>
            </a:r>
            <a:r>
              <a:rPr lang="en-US" dirty="0"/>
              <a:t> S</a:t>
            </a:r>
            <a:r>
              <a:rPr lang="en-US" baseline="-25000" dirty="0"/>
              <a:t>1</a:t>
            </a:r>
            <a:r>
              <a:rPr lang="en-US" dirty="0"/>
              <a:t> Q</a:t>
            </a:r>
          </a:p>
        </p:txBody>
      </p:sp>
      <p:cxnSp>
        <p:nvCxnSpPr>
          <p:cNvPr id="11" name="Straight Arrow Connector 10"/>
          <p:cNvCxnSpPr>
            <a:stCxn id="41995" idx="6"/>
            <a:endCxn id="18438" idx="3"/>
          </p:cNvCxnSpPr>
          <p:nvPr/>
        </p:nvCxnSpPr>
        <p:spPr>
          <a:xfrm flipV="1">
            <a:off x="4699000" y="5124450"/>
            <a:ext cx="1570038" cy="1111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1997" idx="6"/>
            <a:endCxn id="18438" idx="1"/>
          </p:cNvCxnSpPr>
          <p:nvPr/>
        </p:nvCxnSpPr>
        <p:spPr>
          <a:xfrm>
            <a:off x="4622800" y="3763962"/>
            <a:ext cx="1646238" cy="392113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445" name="TextBox 39"/>
          <p:cNvSpPr txBox="1">
            <a:spLocks noChangeArrowheads="1"/>
          </p:cNvSpPr>
          <p:nvPr/>
        </p:nvSpPr>
        <p:spPr bwMode="auto">
          <a:xfrm>
            <a:off x="5232400" y="5097462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2</a:t>
            </a:r>
            <a:endParaRPr lang="nl-NL" sz="2000" baseline="-25000"/>
          </a:p>
        </p:txBody>
      </p:sp>
      <p:sp>
        <p:nvSpPr>
          <p:cNvPr id="18446" name="TextBox 40"/>
          <p:cNvSpPr txBox="1">
            <a:spLocks noChangeArrowheads="1"/>
          </p:cNvSpPr>
          <p:nvPr/>
        </p:nvSpPr>
        <p:spPr bwMode="auto">
          <a:xfrm>
            <a:off x="5308600" y="3573462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1</a:t>
            </a:r>
            <a:endParaRPr lang="nl-NL" sz="2000" baseline="-25000"/>
          </a:p>
        </p:txBody>
      </p:sp>
      <p:cxnSp>
        <p:nvCxnSpPr>
          <p:cNvPr id="43" name="Straight Connector 42"/>
          <p:cNvCxnSpPr/>
          <p:nvPr/>
        </p:nvCxnSpPr>
        <p:spPr>
          <a:xfrm rot="5400000">
            <a:off x="2146300" y="3840162"/>
            <a:ext cx="3581400" cy="137160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8" name="TextBox 43"/>
          <p:cNvSpPr txBox="1">
            <a:spLocks noChangeArrowheads="1"/>
          </p:cNvSpPr>
          <p:nvPr/>
        </p:nvSpPr>
        <p:spPr bwMode="auto">
          <a:xfrm>
            <a:off x="3022600" y="5707062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C00000"/>
                </a:solidFill>
              </a:rPr>
              <a:t>g</a:t>
            </a:r>
            <a:endParaRPr lang="nl-NL" sz="2000">
              <a:solidFill>
                <a:srgbClr val="C00000"/>
              </a:solidFill>
            </a:endParaRPr>
          </a:p>
        </p:txBody>
      </p:sp>
      <p:sp>
        <p:nvSpPr>
          <p:cNvPr id="18449" name="TextBox 44"/>
          <p:cNvSpPr txBox="1">
            <a:spLocks noChangeArrowheads="1"/>
          </p:cNvSpPr>
          <p:nvPr/>
        </p:nvSpPr>
        <p:spPr bwMode="auto">
          <a:xfrm>
            <a:off x="3327400" y="5935662"/>
            <a:ext cx="5191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C00000"/>
                </a:solidFill>
                <a:sym typeface="Symbol" pitchFamily="16" charset="2"/>
              </a:rPr>
              <a:t></a:t>
            </a:r>
            <a:r>
              <a:rPr lang="en-US" sz="2000">
                <a:solidFill>
                  <a:srgbClr val="C00000"/>
                </a:solidFill>
              </a:rPr>
              <a:t>g</a:t>
            </a:r>
            <a:endParaRPr lang="nl-NL" sz="20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F590047-E584-BD4C-A5A3-BEBA665CDE6A}"/>
              </a:ext>
            </a:extLst>
          </p:cNvPr>
          <p:cNvSpPr/>
          <p:nvPr/>
        </p:nvSpPr>
        <p:spPr>
          <a:xfrm>
            <a:off x="3886200" y="3733800"/>
            <a:ext cx="49530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40E385-A43D-7D4D-AAA0-9FB1BE285D4B}"/>
              </a:ext>
            </a:extLst>
          </p:cNvPr>
          <p:cNvSpPr/>
          <p:nvPr/>
        </p:nvSpPr>
        <p:spPr>
          <a:xfrm>
            <a:off x="228600" y="1865223"/>
            <a:ext cx="8458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CDAA6B-A73A-4D75-B649-32B045574DF9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54DAFB5-21FD-4E15-AB4B-540EB192066B}" type="slidenum">
              <a:rPr lang="en-US" altLang="en-US" sz="1200">
                <a:latin typeface="+mj-lt"/>
              </a:rPr>
              <a:pPr algn="r">
                <a:defRPr/>
              </a:pPr>
              <a:t>26</a:t>
            </a:fld>
            <a:endParaRPr lang="en-US" altLang="en-US" sz="1200">
              <a:latin typeface="+mj-lt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Alternative formulation of </a:t>
            </a:r>
            <a:r>
              <a:rPr lang="en-US" dirty="0" err="1"/>
              <a:t>wp</a:t>
            </a:r>
            <a:r>
              <a:rPr lang="en-US" dirty="0"/>
              <a:t> IF</a:t>
            </a:r>
          </a:p>
        </p:txBody>
      </p:sp>
      <p:sp>
        <p:nvSpPr>
          <p:cNvPr id="18437" name="Text Box 9"/>
          <p:cNvSpPr txBox="1">
            <a:spLocks noChangeArrowheads="1"/>
          </p:cNvSpPr>
          <p:nvPr/>
        </p:nvSpPr>
        <p:spPr bwMode="auto">
          <a:xfrm>
            <a:off x="76200" y="1930311"/>
            <a:ext cx="88392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    </a:t>
            </a:r>
            <a:br>
              <a:rPr lang="en-US" sz="2000" dirty="0"/>
            </a:b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(</a:t>
            </a:r>
            <a:r>
              <a:rPr lang="en-US" sz="2000" b="1" dirty="0"/>
              <a:t>if</a:t>
            </a:r>
            <a:r>
              <a:rPr lang="en-US" sz="2000" dirty="0"/>
              <a:t>  </a:t>
            </a:r>
            <a:r>
              <a:rPr lang="en-US" sz="2000" i="1" dirty="0"/>
              <a:t>g</a:t>
            </a:r>
            <a:r>
              <a:rPr lang="en-US" sz="2000" dirty="0"/>
              <a:t>  </a:t>
            </a:r>
            <a:r>
              <a:rPr lang="en-US" sz="2000" b="1" dirty="0"/>
              <a:t>then</a:t>
            </a:r>
            <a:r>
              <a:rPr lang="en-US" sz="2000" dirty="0"/>
              <a:t> 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="1" dirty="0"/>
              <a:t>else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)  </a:t>
            </a:r>
            <a:r>
              <a:rPr lang="en-US" sz="2000" i="1" dirty="0"/>
              <a:t>Q</a:t>
            </a:r>
            <a:r>
              <a:rPr lang="en-US" sz="2000" dirty="0"/>
              <a:t>    </a:t>
            </a:r>
            <a:r>
              <a:rPr lang="en-US" sz="2400" dirty="0"/>
              <a:t>=</a:t>
            </a:r>
            <a:r>
              <a:rPr lang="en-US" sz="2000" dirty="0"/>
              <a:t>    (</a:t>
            </a:r>
            <a:r>
              <a:rPr lang="en-US" sz="2000" i="1" dirty="0"/>
              <a:t>g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/\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 \/  (</a:t>
            </a:r>
            <a:r>
              <a:rPr lang="en-US" sz="2000" dirty="0">
                <a:sym typeface="Symbol" pitchFamily="16" charset="2"/>
              </a:rPr>
              <a:t></a:t>
            </a:r>
            <a:r>
              <a:rPr lang="en-US" sz="2000" i="1" dirty="0">
                <a:sym typeface="Symbol" pitchFamily="16" charset="2"/>
              </a:rPr>
              <a:t>g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C00000"/>
                </a:solidFill>
                <a:sym typeface="Symbol" pitchFamily="16" charset="2"/>
              </a:rPr>
              <a:t>/\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/>
              <a:t> 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  <a:p>
            <a:pPr algn="ctr"/>
            <a:endParaRPr lang="en-US" sz="2000" dirty="0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886200" y="4132233"/>
            <a:ext cx="5029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(g  </a:t>
            </a:r>
            <a:r>
              <a:rPr lang="en-US" sz="2000" b="1" dirty="0">
                <a:solidFill>
                  <a:srgbClr val="C00000"/>
                </a:solidFill>
                <a:sym typeface="Symbol" pitchFamily="16" charset="2"/>
              </a:rPr>
              <a:t></a:t>
            </a:r>
            <a:r>
              <a:rPr lang="en-US" sz="2000" dirty="0"/>
              <a:t>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S</a:t>
            </a:r>
            <a:r>
              <a:rPr lang="en-US" sz="2000" baseline="-25000" dirty="0"/>
              <a:t>1</a:t>
            </a:r>
            <a:r>
              <a:rPr lang="en-US" sz="2000" dirty="0"/>
              <a:t>  Q)   /\   (</a:t>
            </a:r>
            <a:r>
              <a:rPr lang="en-US" sz="2000" dirty="0">
                <a:sym typeface="Symbol" pitchFamily="16" charset="2"/>
              </a:rPr>
              <a:t>g </a:t>
            </a:r>
            <a:r>
              <a:rPr lang="en-US" sz="2000" b="1" dirty="0">
                <a:solidFill>
                  <a:srgbClr val="C00000"/>
                </a:solidFill>
                <a:sym typeface="Symbol" pitchFamily="16" charset="2"/>
              </a:rPr>
              <a:t>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>
                <a:sym typeface="Symbol" pitchFamily="16" charset="2"/>
              </a:rPr>
              <a:t>  S</a:t>
            </a:r>
            <a:r>
              <a:rPr lang="en-US" sz="2000" baseline="-25000" dirty="0">
                <a:sym typeface="Symbol" pitchFamily="16" charset="2"/>
              </a:rPr>
              <a:t>2</a:t>
            </a:r>
            <a:r>
              <a:rPr lang="en-US" sz="2000" dirty="0">
                <a:sym typeface="Symbol" pitchFamily="16" charset="2"/>
              </a:rPr>
              <a:t>  Q)</a:t>
            </a:r>
            <a:endParaRPr lang="nl-NL" sz="2000" dirty="0"/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733800" y="5091768"/>
            <a:ext cx="5181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formulation for the </a:t>
            </a:r>
            <a:r>
              <a:rPr lang="en-US" b="1" dirty="0" err="1"/>
              <a:t>wp</a:t>
            </a:r>
            <a:r>
              <a:rPr lang="en-US" dirty="0"/>
              <a:t> of if-then-else is more convenient for working out proofs. E.g. in a deductive proof its conjunctive form would translate to proving two goals.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1A8B2-D72F-5F46-B997-423898664405}"/>
              </a:ext>
            </a:extLst>
          </p:cNvPr>
          <p:cNvSpPr txBox="1"/>
          <p:nvPr/>
        </p:nvSpPr>
        <p:spPr>
          <a:xfrm>
            <a:off x="4038600" y="3160078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533395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AA5CC-07B3-4191-BCBD-37506C4EB906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6553200" y="2667000"/>
            <a:ext cx="7620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5" name="Rectangle 4"/>
          <p:cNvSpPr/>
          <p:nvPr/>
        </p:nvSpPr>
        <p:spPr>
          <a:xfrm>
            <a:off x="3124200" y="2667000"/>
            <a:ext cx="3352800" cy="838200"/>
          </a:xfrm>
          <a:prstGeom prst="rect">
            <a:avLst/>
          </a:prstGeom>
          <a:solidFill>
            <a:srgbClr val="FFDB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985B4B3-9B20-4FDA-B015-69B6EE9D4C37}" type="slidenum">
              <a:rPr lang="en-US" altLang="en-US" sz="1200">
                <a:latin typeface="+mj-lt"/>
              </a:rPr>
              <a:pPr algn="r">
                <a:defRPr/>
              </a:pPr>
              <a:t>27</a:t>
            </a:fld>
            <a:endParaRPr lang="en-US" altLang="en-US" sz="1200">
              <a:latin typeface="+mj-lt"/>
            </a:endParaRPr>
          </a:p>
        </p:txBody>
      </p:sp>
      <p:sp>
        <p:nvSpPr>
          <p:cNvPr id="194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does a proof proceed now 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*}</a:t>
            </a:r>
            <a:r>
              <a:rPr lang="en-US" dirty="0">
                <a:sym typeface="Symbol" pitchFamily="18" charset="2"/>
              </a:rPr>
              <a:t>    </a:t>
            </a:r>
            <a:r>
              <a:rPr lang="en-US" dirty="0" err="1"/>
              <a:t>tmp</a:t>
            </a:r>
            <a:r>
              <a:rPr lang="en-US" dirty="0"/>
              <a:t>:= x  ; x:=y ; y:=</a:t>
            </a:r>
            <a:r>
              <a:rPr lang="en-US" dirty="0" err="1"/>
              <a:t>tmp</a:t>
            </a:r>
            <a:r>
              <a:rPr lang="en-US" dirty="0"/>
              <a:t>   </a:t>
            </a: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*}</a:t>
            </a:r>
            <a:r>
              <a:rPr lang="en-US" dirty="0"/>
              <a:t> 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dirty="0"/>
              <a:t>Calculate: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W     =     </a:t>
            </a:r>
            <a:r>
              <a:rPr lang="en-US" dirty="0" err="1"/>
              <a:t>wp</a:t>
            </a:r>
            <a:r>
              <a:rPr lang="en-US" dirty="0"/>
              <a:t>   (</a:t>
            </a:r>
            <a:r>
              <a:rPr lang="en-US" dirty="0" err="1"/>
              <a:t>tmp</a:t>
            </a:r>
            <a:r>
              <a:rPr lang="en-US" dirty="0"/>
              <a:t>:= x ; x:=y ; y:=</a:t>
            </a:r>
            <a:r>
              <a:rPr lang="en-US" dirty="0" err="1"/>
              <a:t>tmp</a:t>
            </a:r>
            <a:r>
              <a:rPr lang="en-US" dirty="0"/>
              <a:t>)   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en-US" dirty="0"/>
              <a:t> 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dirty="0"/>
              <a:t>Then prove: 	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rgbClr val="0000CC"/>
                </a:solidFill>
                <a:sym typeface="Symbol"/>
              </a:rPr>
              <a:t>  W</a:t>
            </a:r>
            <a:br>
              <a:rPr lang="en-US" dirty="0"/>
            </a:br>
            <a:endParaRPr lang="en-US" dirty="0"/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/>
              <a:t>We </a:t>
            </a:r>
            <a:r>
              <a:rPr lang="en-US" u="sng" dirty="0"/>
              <a:t>calculate</a:t>
            </a:r>
            <a:r>
              <a:rPr lang="en-US" dirty="0"/>
              <a:t> the intermediate assertions, rather than manually figuring them out!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609600" y="5105400"/>
            <a:ext cx="4267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609600" y="1794828"/>
            <a:ext cx="6781800" cy="439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1510" name="TextBox 4"/>
          <p:cNvSpPr txBox="1">
            <a:spLocks noChangeArrowheads="1"/>
          </p:cNvSpPr>
          <p:nvPr/>
        </p:nvSpPr>
        <p:spPr bwMode="auto">
          <a:xfrm>
            <a:off x="304800" y="17526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/>
              <a:t>{*  0</a:t>
            </a:r>
            <a:r>
              <a:rPr lang="en-US" sz="2400" dirty="0">
                <a:sym typeface="Symbol" pitchFamily="16" charset="2"/>
              </a:rPr>
              <a:t>i  /\ ¬found /\  (f</a:t>
            </a:r>
            <a:r>
              <a:rPr lang="en-US" sz="2400" dirty="0"/>
              <a:t>ound   =  (</a:t>
            </a:r>
            <a:r>
              <a:rPr lang="en-US" sz="2400" dirty="0">
                <a:sym typeface="Symbol" pitchFamily="16" charset="2"/>
              </a:rPr>
              <a:t>k : 0k&lt;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 :  a[k]=x))  *}</a:t>
            </a:r>
            <a:endParaRPr lang="nl-NL" sz="2400" dirty="0"/>
          </a:p>
          <a:p>
            <a:r>
              <a:rPr lang="en-US" sz="2400" dirty="0"/>
              <a:t>      </a:t>
            </a: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found :=  a[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]=x ;</a:t>
            </a:r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:=i+1</a:t>
            </a:r>
          </a:p>
          <a:p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{* </a:t>
            </a:r>
            <a:r>
              <a:rPr lang="en-US" sz="2400" dirty="0"/>
              <a:t>found   =  (</a:t>
            </a:r>
            <a:r>
              <a:rPr lang="en-US" sz="2400" dirty="0">
                <a:sym typeface="Symbol" pitchFamily="16" charset="2"/>
              </a:rPr>
              <a:t>k : 0k&lt;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 :  a[k]=x)  *} </a:t>
            </a:r>
            <a:endParaRPr lang="nl-NL" sz="2400" dirty="0">
              <a:sym typeface="Symbol" pitchFamily="16" charset="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4267200" y="4343400"/>
            <a:ext cx="4570413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found   =  (</a:t>
            </a:r>
            <a:r>
              <a:rPr lang="en-US" sz="2400">
                <a:sym typeface="Symbol" pitchFamily="16" charset="2"/>
              </a:rPr>
              <a:t>k : 0k&lt;i+1 :  a[k]=x)</a:t>
            </a:r>
          </a:p>
        </p:txBody>
      </p:sp>
      <p:sp>
        <p:nvSpPr>
          <p:cNvPr id="32776" name="Freeform 8"/>
          <p:cNvSpPr>
            <a:spLocks/>
          </p:cNvSpPr>
          <p:nvPr/>
        </p:nvSpPr>
        <p:spPr bwMode="auto">
          <a:xfrm>
            <a:off x="914400" y="3771900"/>
            <a:ext cx="3276600" cy="800100"/>
          </a:xfrm>
          <a:custGeom>
            <a:avLst/>
            <a:gdLst>
              <a:gd name="T0" fmla="*/ 2147483647 w 2064"/>
              <a:gd name="T1" fmla="*/ 2147483647 h 552"/>
              <a:gd name="T2" fmla="*/ 2147483647 w 2064"/>
              <a:gd name="T3" fmla="*/ 2147483647 h 552"/>
              <a:gd name="T4" fmla="*/ 0 w 2064"/>
              <a:gd name="T5" fmla="*/ 2147483647 h 552"/>
              <a:gd name="T6" fmla="*/ 0 60000 65536"/>
              <a:gd name="T7" fmla="*/ 0 60000 65536"/>
              <a:gd name="T8" fmla="*/ 0 60000 65536"/>
              <a:gd name="T9" fmla="*/ 0 w 2064"/>
              <a:gd name="T10" fmla="*/ 0 h 552"/>
              <a:gd name="T11" fmla="*/ 2064 w 206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" h="552">
                <a:moveTo>
                  <a:pt x="2064" y="552"/>
                </a:moveTo>
                <a:cubicBezTo>
                  <a:pt x="1708" y="348"/>
                  <a:pt x="1352" y="144"/>
                  <a:pt x="1008" y="72"/>
                </a:cubicBezTo>
                <a:cubicBezTo>
                  <a:pt x="664" y="0"/>
                  <a:pt x="216" y="96"/>
                  <a:pt x="0" y="12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3048000" y="4953000"/>
            <a:ext cx="685800" cy="8382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6781800" y="4191000"/>
            <a:ext cx="914400" cy="8382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4313238" y="3276600"/>
            <a:ext cx="4830762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(a[</a:t>
            </a:r>
            <a:r>
              <a:rPr lang="en-US" sz="2400" dirty="0" err="1"/>
              <a:t>i</a:t>
            </a:r>
            <a:r>
              <a:rPr lang="en-US" sz="2400" dirty="0"/>
              <a:t>]=x)    =  (</a:t>
            </a:r>
            <a:r>
              <a:rPr lang="en-US" sz="2400" dirty="0">
                <a:sym typeface="Symbol" pitchFamily="16" charset="2"/>
              </a:rPr>
              <a:t>k : 0k&lt;i+1 :  a[k]=x)</a:t>
            </a:r>
          </a:p>
        </p:txBody>
      </p:sp>
      <p:sp>
        <p:nvSpPr>
          <p:cNvPr id="32780" name="Freeform 12"/>
          <p:cNvSpPr>
            <a:spLocks/>
          </p:cNvSpPr>
          <p:nvPr/>
        </p:nvSpPr>
        <p:spPr bwMode="auto">
          <a:xfrm>
            <a:off x="914400" y="2590800"/>
            <a:ext cx="3276600" cy="800100"/>
          </a:xfrm>
          <a:custGeom>
            <a:avLst/>
            <a:gdLst>
              <a:gd name="T0" fmla="*/ 2147483647 w 2064"/>
              <a:gd name="T1" fmla="*/ 2147483647 h 552"/>
              <a:gd name="T2" fmla="*/ 2147483647 w 2064"/>
              <a:gd name="T3" fmla="*/ 2147483647 h 552"/>
              <a:gd name="T4" fmla="*/ 0 w 2064"/>
              <a:gd name="T5" fmla="*/ 2147483647 h 552"/>
              <a:gd name="T6" fmla="*/ 0 60000 65536"/>
              <a:gd name="T7" fmla="*/ 0 60000 65536"/>
              <a:gd name="T8" fmla="*/ 0 60000 65536"/>
              <a:gd name="T9" fmla="*/ 0 w 2064"/>
              <a:gd name="T10" fmla="*/ 0 h 552"/>
              <a:gd name="T11" fmla="*/ 2064 w 206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" h="552">
                <a:moveTo>
                  <a:pt x="2064" y="552"/>
                </a:moveTo>
                <a:cubicBezTo>
                  <a:pt x="1708" y="348"/>
                  <a:pt x="1352" y="144"/>
                  <a:pt x="1008" y="72"/>
                </a:cubicBezTo>
                <a:cubicBezTo>
                  <a:pt x="664" y="0"/>
                  <a:pt x="216" y="96"/>
                  <a:pt x="0" y="12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4114800" y="4191000"/>
            <a:ext cx="1143000" cy="8382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2" name="Oval 14"/>
          <p:cNvSpPr>
            <a:spLocks noChangeArrowheads="1"/>
          </p:cNvSpPr>
          <p:nvPr/>
        </p:nvSpPr>
        <p:spPr bwMode="auto">
          <a:xfrm>
            <a:off x="4038600" y="3048000"/>
            <a:ext cx="1524000" cy="8382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5181600" y="5943600"/>
            <a:ext cx="3779838" cy="5191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wp</a:t>
            </a:r>
            <a:r>
              <a:rPr lang="en-US" sz="2800" dirty="0">
                <a:solidFill>
                  <a:schemeClr val="bg1"/>
                </a:solidFill>
              </a:rPr>
              <a:t>  (x:=e)  Q  =  Q[e/x]</a:t>
            </a:r>
          </a:p>
        </p:txBody>
      </p:sp>
      <p:sp>
        <p:nvSpPr>
          <p:cNvPr id="32786" name="AutoShape 18"/>
          <p:cNvSpPr>
            <a:spLocks/>
          </p:cNvSpPr>
          <p:nvPr/>
        </p:nvSpPr>
        <p:spPr bwMode="auto">
          <a:xfrm rot="5400000">
            <a:off x="3822173" y="-697972"/>
            <a:ext cx="432854" cy="6400800"/>
          </a:xfrm>
          <a:prstGeom prst="rightBrace">
            <a:avLst>
              <a:gd name="adj1" fmla="val 119444"/>
              <a:gd name="adj2" fmla="val 2224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 rot="5400000">
            <a:off x="5559425" y="2746375"/>
            <a:ext cx="5857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ym typeface="Symbol" pitchFamily="16" charset="2"/>
              </a:rPr>
              <a:t>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animBg="1"/>
      <p:bldP spid="32776" grpId="0" animBg="1"/>
      <p:bldP spid="32777" grpId="0" animBg="1"/>
      <p:bldP spid="32777" grpId="1" animBg="1"/>
      <p:bldP spid="32778" grpId="0" animBg="1"/>
      <p:bldP spid="32778" grpId="1" animBg="1"/>
      <p:bldP spid="32779" grpId="0" animBg="1"/>
      <p:bldP spid="32780" grpId="0" animBg="1"/>
      <p:bldP spid="32781" grpId="0" animBg="1"/>
      <p:bldP spid="32782" grpId="0" animBg="1"/>
      <p:bldP spid="32782" grpId="1" animBg="1"/>
      <p:bldP spid="32785" grpId="0" animBg="1"/>
      <p:bldP spid="3278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notes about the verification approach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training, we prove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 W by hands.</a:t>
            </a:r>
          </a:p>
          <a:p>
            <a:r>
              <a:rPr lang="en-US" dirty="0">
                <a:sym typeface="Symbol" pitchFamily="16" charset="2"/>
              </a:rPr>
              <a:t>In practice, to some degree this can be automatically checked using e.g. a SAT solver. With a SAT solver we instead check if: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	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</a:t>
            </a:r>
            <a:r>
              <a:rPr lang="en-US" dirty="0">
                <a:sym typeface="Symbol" pitchFamily="16" charset="2"/>
              </a:rPr>
              <a:t>(</a:t>
            </a:r>
            <a:r>
              <a:rPr lang="en-US" i="1" dirty="0">
                <a:sym typeface="Symbol" pitchFamily="16" charset="2"/>
              </a:rPr>
              <a:t>P </a:t>
            </a:r>
            <a:r>
              <a:rPr lang="en-US" dirty="0">
                <a:sym typeface="Symbol" pitchFamily="16" charset="2"/>
              </a:rPr>
              <a:t>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)   is </a:t>
            </a:r>
            <a:r>
              <a:rPr lang="en-US" dirty="0">
                <a:solidFill>
                  <a:srgbClr val="C00000"/>
                </a:solidFill>
                <a:sym typeface="Symbol" pitchFamily="16" charset="2"/>
              </a:rPr>
              <a:t>satisfiable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If it is, then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 is </a:t>
            </a:r>
            <a:r>
              <a:rPr lang="en-US" b="1" dirty="0">
                <a:sym typeface="Symbol" pitchFamily="16" charset="2"/>
              </a:rPr>
              <a:t>not</a:t>
            </a:r>
            <a:r>
              <a:rPr lang="en-US" dirty="0">
                <a:sym typeface="Symbol" pitchFamily="16" charset="2"/>
              </a:rPr>
              <a:t> valid. Otherwise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 is valid.</a:t>
            </a: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If the definition of </a:t>
            </a:r>
            <a:r>
              <a:rPr lang="en-US" dirty="0" err="1"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is also ”complete” (in addition to being “sound”), the witness of the satisfiability of (</a:t>
            </a:r>
            <a:r>
              <a:rPr lang="en-US" i="1" dirty="0">
                <a:sym typeface="Symbol" pitchFamily="16" charset="2"/>
              </a:rPr>
              <a:t>P </a:t>
            </a:r>
            <a:r>
              <a:rPr lang="en-US" dirty="0">
                <a:sym typeface="Symbol" pitchFamily="16" charset="2"/>
              </a:rPr>
              <a:t>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) is essentially an input that will expose a bug in the program </a:t>
            </a:r>
            <a:r>
              <a:rPr lang="en-US" dirty="0">
                <a:sym typeface="Wingdings" charset="2"/>
              </a:rPr>
              <a:t>  useful for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E9AAC2-5438-40C2-831E-F4CC55BE814D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II : reasoning about loops</a:t>
            </a:r>
            <a:endParaRPr lang="nl-NL" dirty="0"/>
          </a:p>
        </p:txBody>
      </p:sp>
      <p:sp>
        <p:nvSpPr>
          <p:cNvPr id="2867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/>
              <a:t>LN Section 6.3 -- 6.7, and 9.3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E59FC-82DA-48C9-A732-9089C99EA296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433A1A-327F-6E41-B740-7A2E4BC704B2}"/>
              </a:ext>
            </a:extLst>
          </p:cNvPr>
          <p:cNvSpPr/>
          <p:nvPr/>
        </p:nvSpPr>
        <p:spPr>
          <a:xfrm>
            <a:off x="1371600" y="1600200"/>
            <a:ext cx="6553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prove this ?</a:t>
            </a:r>
            <a:endParaRPr lang="nl-NL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495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{* P *}   </a:t>
            </a:r>
            <a:r>
              <a:rPr lang="en-US" sz="2800" b="1" dirty="0"/>
              <a:t>while</a:t>
            </a:r>
            <a:r>
              <a:rPr lang="en-US" sz="2800" dirty="0"/>
              <a:t>  g  </a:t>
            </a:r>
            <a:r>
              <a:rPr lang="en-US" sz="2800" b="1" dirty="0"/>
              <a:t>do</a:t>
            </a:r>
            <a:r>
              <a:rPr lang="en-US" sz="2800" dirty="0"/>
              <a:t> 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sz="2800" dirty="0"/>
              <a:t>   {*  Q *}</a:t>
            </a:r>
          </a:p>
          <a:p>
            <a:endParaRPr lang="en-US" dirty="0"/>
          </a:p>
          <a:p>
            <a:endParaRPr lang="en-US" dirty="0"/>
          </a:p>
          <a:p>
            <a:pPr marL="0" indent="0" algn="just">
              <a:buNone/>
            </a:pPr>
            <a:r>
              <a:rPr lang="en-US" dirty="0"/>
              <a:t>Unfortunately calculating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 won’t work here. Essentially because we do not know upfront how many times the loop will iterate. We might still know that it will iterate for example N times, where N is a parameter of the program, but recall that calculating the </a:t>
            </a:r>
            <a:r>
              <a:rPr lang="en-US" dirty="0" err="1"/>
              <a:t>wp</a:t>
            </a:r>
            <a:r>
              <a:rPr lang="en-US" dirty="0"/>
              <a:t> of SEQ requires us to know concretely how many statements are being composed in the sequence.</a:t>
            </a:r>
            <a:br>
              <a:rPr lang="en-US" dirty="0"/>
            </a:br>
            <a:endParaRPr lang="en-US" i="1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B1141-3730-43F1-8464-31647A68A698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878834"/>
            <a:ext cx="8321919" cy="334820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	iter</a:t>
            </a:r>
            <a:r>
              <a:rPr lang="en-US" baseline="-25000" dirty="0"/>
              <a:t>1</a:t>
            </a:r>
            <a:r>
              <a:rPr lang="en-US" dirty="0"/>
              <a:t>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 //  </a:t>
            </a:r>
            <a:r>
              <a:rPr lang="en-US" dirty="0"/>
              <a:t>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	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</a:t>
            </a:r>
            <a:br>
              <a:rPr lang="en-US" dirty="0"/>
            </a:br>
            <a:r>
              <a:rPr lang="en-US" dirty="0"/>
              <a:t>	iter</a:t>
            </a:r>
            <a:r>
              <a:rPr lang="en-US" baseline="-25000" dirty="0"/>
              <a:t>2</a:t>
            </a:r>
            <a:r>
              <a:rPr lang="en-US" dirty="0"/>
              <a:t>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 //  </a:t>
            </a:r>
            <a:r>
              <a:rPr lang="en-US" dirty="0"/>
              <a:t>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	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</a:t>
            </a:r>
            <a:br>
              <a:rPr lang="en-US" dirty="0"/>
            </a:br>
            <a:r>
              <a:rPr lang="en-US" dirty="0"/>
              <a:t>	…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iter</a:t>
            </a:r>
            <a:r>
              <a:rPr lang="en-US" baseline="-25000" dirty="0" err="1"/>
              <a:t>n</a:t>
            </a:r>
            <a:r>
              <a:rPr lang="en-US" dirty="0"/>
              <a:t>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 //  </a:t>
            </a:r>
            <a:r>
              <a:rPr lang="en-US" dirty="0"/>
              <a:t>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	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	</a:t>
            </a:r>
            <a:r>
              <a:rPr lang="en-US" dirty="0">
                <a:solidFill>
                  <a:srgbClr val="FFC000"/>
                </a:solidFill>
              </a:rPr>
              <a:t>// last iteration</a:t>
            </a:r>
            <a:br>
              <a:rPr lang="en-US" dirty="0"/>
            </a:br>
            <a:r>
              <a:rPr lang="en-US" dirty="0"/>
              <a:t>	exit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g //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Observation: it follows that I /\ ¬g must hold when the loop terminates (after the last iteration). The post-condition Q can be established if I /\ ¬g implies Q.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olidFill>
                <a:schemeClr val="bg1">
                  <a:lumMod val="65000"/>
                </a:schemeClr>
              </a:solidFill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olidFill>
                <a:schemeClr val="bg1">
                  <a:lumMod val="65000"/>
                </a:schemeClr>
              </a:solidFill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nl-NL" dirty="0"/>
          </a:p>
          <a:p>
            <a:pPr>
              <a:buFont typeface="Wingdings" pitchFamily="2" charset="2"/>
              <a:buChar char="n"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E0F5F5-C3BD-4955-8D49-B006CD3E5380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B765EB-7DF1-DD4F-9952-E02AB029061D}"/>
              </a:ext>
            </a:extLst>
          </p:cNvPr>
          <p:cNvSpPr/>
          <p:nvPr/>
        </p:nvSpPr>
        <p:spPr>
          <a:xfrm>
            <a:off x="304800" y="1461209"/>
            <a:ext cx="83820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CB852-25A7-2D46-AC49-0C0C53329A91}"/>
              </a:ext>
            </a:extLst>
          </p:cNvPr>
          <p:cNvSpPr txBox="1"/>
          <p:nvPr/>
        </p:nvSpPr>
        <p:spPr>
          <a:xfrm>
            <a:off x="457201" y="1582644"/>
            <a:ext cx="8093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Come up with a predicate  </a:t>
            </a:r>
            <a:r>
              <a:rPr lang="en-US" sz="2800" b="1" i="1" dirty="0">
                <a:solidFill>
                  <a:srgbClr val="C00000"/>
                </a:solidFill>
              </a:rPr>
              <a:t>I</a:t>
            </a:r>
            <a:r>
              <a:rPr lang="en-US" sz="2800" dirty="0"/>
              <a:t> , so-called “</a:t>
            </a:r>
            <a:r>
              <a:rPr lang="en-US" sz="2800" b="1" dirty="0">
                <a:solidFill>
                  <a:srgbClr val="0070C0"/>
                </a:solidFill>
              </a:rPr>
              <a:t>invariant</a:t>
            </a:r>
            <a:r>
              <a:rPr lang="en-US" sz="2800" dirty="0"/>
              <a:t>” , that holds at the end of every iteration.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079006A-F487-364B-A1F8-5715876BD78A}"/>
              </a:ext>
            </a:extLst>
          </p:cNvPr>
          <p:cNvSpPr/>
          <p:nvPr/>
        </p:nvSpPr>
        <p:spPr>
          <a:xfrm>
            <a:off x="2201740" y="3886200"/>
            <a:ext cx="4740519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what kind of predicate is I ??</a:t>
            </a:r>
            <a:endParaRPr lang="nl-NL" dirty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1524000"/>
          </a:xfrm>
        </p:spPr>
        <p:txBody>
          <a:bodyPr/>
          <a:lstStyle/>
          <a:p>
            <a:r>
              <a:rPr lang="en-US" dirty="0"/>
              <a:t>We need an I that holds at the end of every iteration. Inductively, this means that we can assume it to hold at the start of the iteration (established by the previous iteration).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So, it is sufficient to have an I satisfying this property: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/\ g *}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   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72FA2E-8EA4-4203-9502-8D9C47E9A234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the base case</a:t>
            </a:r>
            <a:endParaRPr lang="nl-NL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077200" cy="44196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 previous inductive argument does not however apply for the first iteration, because it has no previous iteration. Let’s just insist that this first iteration should also maintain the property: </a:t>
            </a:r>
          </a:p>
          <a:p>
            <a:pPr marL="0" indent="0" algn="ctr">
              <a:buNone/>
            </a:pPr>
            <a:r>
              <a:rPr lang="en-US" dirty="0"/>
              <a:t>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/\ g *}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   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Something else is now needed to guarantee that the first iteration can indeed assume I as its pre-condition. We can establish this by requiring that the original precondition P implies this I.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/>
              <a:t>	</a:t>
            </a:r>
          </a:p>
          <a:p>
            <a:pPr algn="just"/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934200"/>
            <a:ext cx="2133600" cy="457200"/>
          </a:xfrm>
        </p:spPr>
        <p:txBody>
          <a:bodyPr/>
          <a:lstStyle/>
          <a:p>
            <a:pPr>
              <a:defRPr/>
            </a:pPr>
            <a:fld id="{31ED0A05-D805-4AF9-AB15-426555051BF8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F1402D-0DEB-B34B-89A0-61360AC5244F}"/>
              </a:ext>
            </a:extLst>
          </p:cNvPr>
          <p:cNvSpPr/>
          <p:nvPr/>
        </p:nvSpPr>
        <p:spPr>
          <a:xfrm>
            <a:off x="762000" y="1828800"/>
            <a:ext cx="5181600" cy="236220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Summarize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Capture this in an inference rule (Rule 6.3.2):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 </a:t>
            </a:r>
            <a:r>
              <a:rPr lang="en-US" dirty="0">
                <a:sym typeface="Symbol"/>
              </a:rPr>
              <a:t> 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					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setting up I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{* g  /\  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 *}    S    {*  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  *}		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  /\ g    Q 			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P *}   </a:t>
            </a:r>
            <a:r>
              <a:rPr lang="en-US" b="1" dirty="0">
                <a:sym typeface="Symbol"/>
              </a:rPr>
              <a:t>while</a:t>
            </a:r>
            <a:r>
              <a:rPr lang="en-US" dirty="0">
                <a:sym typeface="Symbol"/>
              </a:rPr>
              <a:t>  g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{* Q *}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This rule is only good for </a:t>
            </a:r>
            <a:r>
              <a:rPr lang="en-US" b="1" dirty="0">
                <a:sym typeface="Symbol"/>
              </a:rPr>
              <a:t>partial correctness </a:t>
            </a:r>
            <a:r>
              <a:rPr lang="en-US" dirty="0">
                <a:sym typeface="Symbol"/>
              </a:rPr>
              <a:t>though.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7482E5-100D-4091-B230-29A72EF3C47D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867562-FDEC-254B-8C5C-E52D77E74AB6}"/>
              </a:ext>
            </a:extLst>
          </p:cNvPr>
          <p:cNvSpPr/>
          <p:nvPr/>
        </p:nvSpPr>
        <p:spPr>
          <a:xfrm>
            <a:off x="1980271" y="1752600"/>
            <a:ext cx="4724400" cy="1905000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Few things to note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dirty="0"/>
              <a:t>A special instance the previous rule is this (by taking I itself as P):</a:t>
            </a:r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endParaRPr lang="en-US" dirty="0">
              <a:sym typeface="Symbol" pitchFamily="16" charset="2"/>
            </a:endParaRPr>
          </a:p>
          <a:p>
            <a:pPr marL="0" indent="0">
              <a:buNone/>
            </a:pPr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If I satisfies the above two conditions, we can extend an implementation of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to take this I as the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of the loop over Q as the post-condition.</a:t>
            </a:r>
          </a:p>
          <a:p>
            <a:r>
              <a:rPr lang="en-US" dirty="0">
                <a:sym typeface="Symbol" pitchFamily="16" charset="2"/>
              </a:rPr>
              <a:t>This allows you to chain I into the rest of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calculation.</a:t>
            </a:r>
          </a:p>
          <a:p>
            <a:r>
              <a:rPr lang="en-US" dirty="0">
                <a:sym typeface="Symbol" pitchFamily="16" charset="2"/>
              </a:rPr>
              <a:t>Such a modified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function would still be sound, though it is no longer complete (in other words, the resulting pre-condition may not be the weakest one).</a:t>
            </a:r>
            <a:br>
              <a:rPr lang="en-US" dirty="0">
                <a:sym typeface="Symbol" pitchFamily="16" charset="2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58A94B-2E1E-4A47-AACD-945A7A403CDE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1980271" y="1828800"/>
            <a:ext cx="45339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ym typeface="Symbol" pitchFamily="16" charset="2"/>
              </a:rPr>
              <a:t>{* g  /\  I *}    S    {*  I  *}</a:t>
            </a:r>
          </a:p>
          <a:p>
            <a:pPr algn="ctr"/>
            <a:r>
              <a:rPr lang="en-US" sz="2400" dirty="0">
                <a:sym typeface="Symbol" pitchFamily="16" charset="2"/>
              </a:rPr>
              <a:t>I  /\ g    Q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----------------------------------------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 {* I *}   </a:t>
            </a:r>
            <a:r>
              <a:rPr lang="en-US" sz="2400" b="1" dirty="0">
                <a:sym typeface="Symbol" pitchFamily="16" charset="2"/>
              </a:rPr>
              <a:t>while</a:t>
            </a:r>
            <a:r>
              <a:rPr lang="en-US" sz="2400" dirty="0">
                <a:sym typeface="Symbol" pitchFamily="16" charset="2"/>
              </a:rPr>
              <a:t>  g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 S    {* Q *}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64A60F-BA7A-0749-B5F2-5713AAC2F1E1}"/>
              </a:ext>
            </a:extLst>
          </p:cNvPr>
          <p:cNvSpPr/>
          <p:nvPr/>
        </p:nvSpPr>
        <p:spPr>
          <a:xfrm>
            <a:off x="457200" y="4762500"/>
            <a:ext cx="8382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7CB6A2-C5AD-0640-9CB3-54DBFF1DFBB2}"/>
              </a:ext>
            </a:extLst>
          </p:cNvPr>
          <p:cNvSpPr/>
          <p:nvPr/>
        </p:nvSpPr>
        <p:spPr>
          <a:xfrm>
            <a:off x="920904" y="2209800"/>
            <a:ext cx="7239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nl-NL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Prove the correctness of the following loops (partial correctness) :</a:t>
            </a:r>
          </a:p>
          <a:p>
            <a:pPr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{* true *}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=n *}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{*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=0  /\  n=10 *}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=n *}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        {* 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=0 /\ s=0 /\ n=10 *}    </a:t>
            </a:r>
            <a:r>
              <a:rPr lang="en-US" sz="2000" b="1" dirty="0"/>
              <a:t>while</a:t>
            </a:r>
            <a:r>
              <a:rPr lang="en-US" sz="2000" dirty="0"/>
              <a:t>  </a:t>
            </a:r>
            <a:r>
              <a:rPr lang="en-US" sz="2000" dirty="0" err="1"/>
              <a:t>i</a:t>
            </a:r>
            <a:r>
              <a:rPr lang="en-US" sz="2000" dirty="0"/>
              <a:t>&lt;n  </a:t>
            </a:r>
            <a:r>
              <a:rPr lang="en-US" sz="2000" b="1" dirty="0"/>
              <a:t>do</a:t>
            </a:r>
            <a:r>
              <a:rPr lang="en-US" sz="2000" dirty="0"/>
              <a:t>  { s = s+2 ; </a:t>
            </a:r>
            <a:r>
              <a:rPr lang="en-US" sz="2000" dirty="0" err="1"/>
              <a:t>i</a:t>
            </a:r>
            <a:r>
              <a:rPr lang="en-US" sz="2000" dirty="0"/>
              <a:t>++ }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{* s=20 *}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F0701D-9093-4B9F-AB95-FA12DFC4471C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277BE0-FC08-3A42-A69B-DD82DCCE4C83}"/>
              </a:ext>
            </a:extLst>
          </p:cNvPr>
          <p:cNvSpPr/>
          <p:nvPr/>
        </p:nvSpPr>
        <p:spPr>
          <a:xfrm>
            <a:off x="946924" y="3413202"/>
            <a:ext cx="7239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termination</a:t>
            </a:r>
            <a:endParaRPr lang="nl-NL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consider: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{* P *}   </a:t>
            </a:r>
            <a:r>
              <a:rPr lang="en-US" u="sng" dirty="0"/>
              <a:t>while</a:t>
            </a:r>
            <a:r>
              <a:rPr lang="en-US" dirty="0"/>
              <a:t>  g  </a:t>
            </a:r>
            <a:r>
              <a:rPr lang="en-US" u="sng" dirty="0"/>
              <a:t>do</a:t>
            </a:r>
            <a:r>
              <a:rPr lang="en-US" dirty="0"/>
              <a:t>  S   {*  Q *}</a:t>
            </a:r>
          </a:p>
          <a:p>
            <a:endParaRPr lang="en-US" dirty="0"/>
          </a:p>
          <a:p>
            <a:r>
              <a:rPr lang="en-US" dirty="0"/>
              <a:t>Idea:  come up with an integer expression m, called “</a:t>
            </a:r>
            <a:r>
              <a:rPr lang="en-US" b="1" dirty="0">
                <a:solidFill>
                  <a:srgbClr val="0070C0"/>
                </a:solidFill>
              </a:rPr>
              <a:t>termination metric</a:t>
            </a:r>
            <a:r>
              <a:rPr lang="en-US" dirty="0"/>
              <a:t>”, satisfying :</a:t>
            </a:r>
          </a:p>
          <a:p>
            <a:pPr marL="784225" lvl="1" indent="-457200">
              <a:buFont typeface="Garamond" pitchFamily="16" charset="0"/>
              <a:buAutoNum type="arabicPeriod"/>
            </a:pPr>
            <a:r>
              <a:rPr lang="en-US" dirty="0"/>
              <a:t>At the start of every iteration m </a:t>
            </a:r>
            <a:r>
              <a:rPr lang="en-US" dirty="0">
                <a:sym typeface="Symbol" pitchFamily="16" charset="2"/>
              </a:rPr>
              <a:t>&gt; 0</a:t>
            </a:r>
          </a:p>
          <a:p>
            <a:pPr marL="784225" lvl="1" indent="-457200">
              <a:buFont typeface="Garamond" pitchFamily="16" charset="0"/>
              <a:buAutoNum type="arabicPeriod"/>
            </a:pPr>
            <a:r>
              <a:rPr lang="en-US" dirty="0">
                <a:sym typeface="Symbol" pitchFamily="16" charset="2"/>
              </a:rPr>
              <a:t>Each iteration decreases m</a:t>
            </a: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Since m has a lower bound (condition 1), it follows that the loop cannot iterate forever. In other words, it will terminate.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74C1C2-13AB-46DE-A6D1-C46A60AE9404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Capturing the termination conditions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At the start of every iteration m </a:t>
            </a:r>
            <a:r>
              <a:rPr lang="en-US" dirty="0">
                <a:sym typeface="Symbol"/>
              </a:rPr>
              <a:t>&gt; 0 :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>
                <a:sym typeface="Symbol"/>
              </a:rPr>
              <a:t>g    </a:t>
            </a:r>
            <a:r>
              <a:rPr lang="en-US" dirty="0"/>
              <a:t>m </a:t>
            </a:r>
            <a:r>
              <a:rPr lang="en-US" dirty="0">
                <a:sym typeface="Symbol"/>
              </a:rPr>
              <a:t> 0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>
                <a:sym typeface="Symbol"/>
              </a:rPr>
              <a:t>If you have an invariant:   I /\  g    </a:t>
            </a:r>
            <a:r>
              <a:rPr lang="en-US" dirty="0"/>
              <a:t>m </a:t>
            </a:r>
            <a:r>
              <a:rPr lang="en-US" dirty="0">
                <a:sym typeface="Symbol"/>
              </a:rPr>
              <a:t>&gt; 0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Each iteration decreases m :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I /\ g *}    C:=m; S   {* m&lt;C *}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6032A2-1F58-4431-A527-7FA42F9FA706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2C25FA8-5527-B24D-9C80-8B6149C4FAC9}"/>
              </a:ext>
            </a:extLst>
          </p:cNvPr>
          <p:cNvSpPr/>
          <p:nvPr/>
        </p:nvSpPr>
        <p:spPr>
          <a:xfrm>
            <a:off x="762000" y="2286000"/>
            <a:ext cx="5181600" cy="289560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Summarize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76800"/>
          </a:xfrm>
        </p:spPr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Rule B.1.8: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           P </a:t>
            </a:r>
            <a:r>
              <a:rPr lang="en-US" dirty="0">
                <a:sym typeface="Symbol"/>
              </a:rPr>
              <a:t> I		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setting up I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{* g  /\  I *}    S    {*  I  *}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I  /\ g    Q 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olidFill>
                  <a:srgbClr val="0070C0"/>
                </a:solidFill>
                <a:sym typeface="Symbol"/>
              </a:rPr>
              <a:t>{* I /\ g *}    </a:t>
            </a:r>
            <a:r>
              <a:rPr lang="en-US" dirty="0">
                <a:solidFill>
                  <a:srgbClr val="990033"/>
                </a:solidFill>
                <a:sym typeface="Symbol"/>
              </a:rPr>
              <a:t>C:=m</a:t>
            </a:r>
            <a:r>
              <a:rPr lang="en-US" dirty="0">
                <a:solidFill>
                  <a:srgbClr val="0070C0"/>
                </a:solidFill>
                <a:sym typeface="Symbol"/>
              </a:rPr>
              <a:t>; S   {* m&lt;C *} </a:t>
            </a:r>
            <a:r>
              <a:rPr lang="en-US" dirty="0">
                <a:sym typeface="Symbol"/>
              </a:rPr>
              <a:t>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m decreasing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olidFill>
                  <a:srgbClr val="0070C0"/>
                </a:solidFill>
                <a:sym typeface="Symbol"/>
              </a:rPr>
              <a:t>I /\ g   </a:t>
            </a:r>
            <a:r>
              <a:rPr lang="en-US" dirty="0">
                <a:solidFill>
                  <a:srgbClr val="0070C0"/>
                </a:solidFill>
              </a:rPr>
              <a:t>m </a:t>
            </a:r>
            <a:r>
              <a:rPr lang="en-US" dirty="0">
                <a:solidFill>
                  <a:srgbClr val="0070C0"/>
                </a:solidFill>
                <a:sym typeface="Symbol"/>
              </a:rPr>
              <a:t>&gt; 0  </a:t>
            </a:r>
            <a:r>
              <a:rPr lang="en-US" dirty="0">
                <a:sym typeface="Symbol"/>
              </a:rPr>
              <a:t>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 m bounded below</a:t>
            </a:r>
            <a:r>
              <a:rPr lang="en-US" dirty="0">
                <a:sym typeface="Symbol"/>
              </a:rPr>
              <a:t>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P *}   </a:t>
            </a:r>
            <a:r>
              <a:rPr lang="en-US" b="1" dirty="0">
                <a:sym typeface="Symbol"/>
              </a:rPr>
              <a:t>while</a:t>
            </a:r>
            <a:r>
              <a:rPr lang="en-US" dirty="0">
                <a:sym typeface="Symbol"/>
              </a:rPr>
              <a:t>  g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{* Q *}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834550-1A36-49AE-BFF3-3BAB449FF20C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5EBE86-C8D3-9243-AD29-2E0DC0A2D0A7}"/>
              </a:ext>
            </a:extLst>
          </p:cNvPr>
          <p:cNvSpPr/>
          <p:nvPr/>
        </p:nvSpPr>
        <p:spPr>
          <a:xfrm>
            <a:off x="762000" y="2057400"/>
            <a:ext cx="5105400" cy="289560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Alternatively it can be formulated as follows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953000"/>
          </a:xfrm>
        </p:spPr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Rule B.1.7</a:t>
            </a:r>
          </a:p>
          <a:p>
            <a:pPr marL="0" indent="0">
              <a:buNone/>
              <a:defRPr/>
            </a:pP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{* g  /\  I *}    S    {*  I  *}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I  /\ g    Q 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ym typeface="Symbol"/>
              </a:rPr>
              <a:t> {* I /\ g *}    C:=m; S   {* m&lt;C *} 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m decreasing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ym typeface="Symbol"/>
              </a:rPr>
              <a:t>I /\ g   </a:t>
            </a:r>
            <a:r>
              <a:rPr lang="en-US" dirty="0"/>
              <a:t>m </a:t>
            </a:r>
            <a:r>
              <a:rPr lang="en-US" dirty="0">
                <a:sym typeface="Symbol"/>
              </a:rPr>
              <a:t>&gt; 0  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 m bounded below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I *}   </a:t>
            </a:r>
            <a:r>
              <a:rPr lang="en-US" u="sng" dirty="0">
                <a:sym typeface="Symbol"/>
              </a:rPr>
              <a:t>while</a:t>
            </a:r>
            <a:r>
              <a:rPr lang="en-US" dirty="0">
                <a:sym typeface="Symbol"/>
              </a:rPr>
              <a:t>  g  </a:t>
            </a:r>
            <a:r>
              <a:rPr lang="en-US" u="sng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{* Q *}</a:t>
            </a:r>
          </a:p>
          <a:p>
            <a:pPr marL="0" indent="0">
              <a:buNone/>
              <a:defRPr/>
            </a:pPr>
            <a:endParaRPr lang="en-US" dirty="0">
              <a:sym typeface="Symbol"/>
            </a:endParaRPr>
          </a:p>
          <a:p>
            <a:pPr>
              <a:defRPr/>
            </a:pPr>
            <a:r>
              <a:rPr lang="en-US" dirty="0">
                <a:sym typeface="Symbol"/>
              </a:rPr>
              <a:t>This is a special instance of B.1.7. On the other hand, together with the pre-condition strengthening rule it also implies B.1.7.</a:t>
            </a:r>
          </a:p>
          <a:p>
            <a:pPr marL="0" indent="0">
              <a:buNone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A4E6F-3F42-4A97-9EFD-00E16A077F03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DE5C7F-AF4D-254B-A26D-DB69EB0FD1B3}"/>
              </a:ext>
            </a:extLst>
          </p:cNvPr>
          <p:cNvSpPr/>
          <p:nvPr/>
        </p:nvSpPr>
        <p:spPr>
          <a:xfrm>
            <a:off x="952500" y="3320276"/>
            <a:ext cx="7239000" cy="2851924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1B4057-81E7-194E-967E-FD7EE8C3CAEC}"/>
              </a:ext>
            </a:extLst>
          </p:cNvPr>
          <p:cNvSpPr/>
          <p:nvPr/>
        </p:nvSpPr>
        <p:spPr>
          <a:xfrm>
            <a:off x="952500" y="1905000"/>
            <a:ext cx="7239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4953000"/>
          </a:xfrm>
        </p:spPr>
        <p:txBody>
          <a:bodyPr/>
          <a:lstStyle/>
          <a:p>
            <a:r>
              <a:rPr lang="en-US" dirty="0"/>
              <a:t>Prove that the following programs terminate: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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true *}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candy=100 /\ apple=100 }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b="1" dirty="0"/>
            </a:br>
            <a:r>
              <a:rPr lang="en-US" b="1" dirty="0"/>
              <a:t>                 while</a:t>
            </a:r>
            <a:r>
              <a:rPr lang="en-US" dirty="0"/>
              <a:t> candy</a:t>
            </a:r>
            <a:r>
              <a:rPr lang="en-US" dirty="0">
                <a:sym typeface="Symbol"/>
              </a:rPr>
              <a:t>&gt;0 \/ apple&gt;0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{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        </a:t>
            </a:r>
            <a:r>
              <a:rPr lang="en-US" b="1" dirty="0">
                <a:sym typeface="Symbol"/>
              </a:rPr>
              <a:t>if</a:t>
            </a:r>
            <a:r>
              <a:rPr lang="en-US" dirty="0">
                <a:sym typeface="Symbol"/>
              </a:rPr>
              <a:t> candy&gt;0 </a:t>
            </a:r>
            <a:r>
              <a:rPr lang="en-US" b="1" dirty="0">
                <a:sym typeface="Symbol"/>
              </a:rPr>
              <a:t>then</a:t>
            </a:r>
            <a:r>
              <a:rPr lang="en-US" dirty="0">
                <a:sym typeface="Symbol"/>
              </a:rPr>
              <a:t> { candy--  ; apple += 2 }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        </a:t>
            </a:r>
            <a:r>
              <a:rPr lang="en-US" b="1" dirty="0">
                <a:sym typeface="Symbol"/>
              </a:rPr>
              <a:t>else</a:t>
            </a:r>
            <a:r>
              <a:rPr lang="en-US" dirty="0">
                <a:sym typeface="Symbol"/>
              </a:rPr>
              <a:t>  { apple-- }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   }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          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{* true *}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bigger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now consider a less trivial example. The following program claims to check if the array segment a[0..n) consists of only 0’s. Prove it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{* 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dirty="0"/>
            </a:br>
            <a:r>
              <a:rPr lang="en-US" dirty="0"/>
              <a:t>                 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	  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 r := r /\ (a[</a:t>
            </a:r>
            <a:r>
              <a:rPr lang="en-US" dirty="0" err="1"/>
              <a:t>i</a:t>
            </a:r>
            <a:r>
              <a:rPr lang="en-US" dirty="0"/>
              <a:t>]=0)   ;   </a:t>
            </a:r>
            <a:r>
              <a:rPr lang="en-US" dirty="0" err="1"/>
              <a:t>i</a:t>
            </a:r>
            <a:r>
              <a:rPr lang="en-US" dirty="0"/>
              <a:t>++ }</a:t>
            </a:r>
            <a:br>
              <a:rPr lang="en-US" dirty="0"/>
            </a:br>
            <a:r>
              <a:rPr lang="en-US" dirty="0"/>
              <a:t>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0k&lt;n : a[k]=0)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You will need to propose an invariant and a termination metric.</a:t>
            </a:r>
          </a:p>
          <a:p>
            <a:r>
              <a:rPr lang="en-US" dirty="0"/>
              <a:t>This time, the proof will be quite involved. The rule to handle loops also generates multiple conditions. </a:t>
            </a:r>
          </a:p>
          <a:p>
            <a:endParaRPr lang="en-US" dirty="0"/>
          </a:p>
          <a:p>
            <a:pPr>
              <a:buNone/>
            </a:pPr>
            <a:r>
              <a:rPr lang="en-US" dirty="0">
                <a:sym typeface="Symbol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7EF219-2E70-4443-94A4-83A2DB4BA155}"/>
              </a:ext>
            </a:extLst>
          </p:cNvPr>
          <p:cNvSpPr/>
          <p:nvPr/>
        </p:nvSpPr>
        <p:spPr>
          <a:xfrm>
            <a:off x="1066800" y="2667000"/>
            <a:ext cx="6781800" cy="18288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08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BC0C00-87B3-0A48-87E1-E8DA1C4D2470}"/>
              </a:ext>
            </a:extLst>
          </p:cNvPr>
          <p:cNvSpPr/>
          <p:nvPr/>
        </p:nvSpPr>
        <p:spPr>
          <a:xfrm>
            <a:off x="1181100" y="1427356"/>
            <a:ext cx="6781800" cy="18288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and termination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   {* 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dirty="0"/>
            </a:br>
            <a:r>
              <a:rPr lang="en-US" dirty="0"/>
              <a:t>                   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 r := r /\ (a[</a:t>
            </a:r>
            <a:r>
              <a:rPr lang="en-US" dirty="0" err="1"/>
              <a:t>i</a:t>
            </a:r>
            <a:r>
              <a:rPr lang="en-US" dirty="0"/>
              <a:t>]=0)   ;   </a:t>
            </a:r>
            <a:r>
              <a:rPr lang="en-US" dirty="0" err="1"/>
              <a:t>i</a:t>
            </a:r>
            <a:r>
              <a:rPr lang="en-US" dirty="0"/>
              <a:t>++ }</a:t>
            </a:r>
            <a:br>
              <a:rPr lang="en-US" dirty="0"/>
            </a:br>
            <a:r>
              <a:rPr lang="en-US" dirty="0"/>
              <a:t>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: a[k]=0)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US" dirty="0"/>
          </a:p>
          <a:p>
            <a:r>
              <a:rPr lang="en-US" dirty="0"/>
              <a:t>Let’s go with this choice of invariant I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(r  = (</a:t>
            </a:r>
            <a:r>
              <a:rPr lang="en-US" dirty="0">
                <a:sym typeface="Symbol"/>
              </a:rPr>
              <a:t>k : 0k&lt;</a:t>
            </a:r>
            <a:r>
              <a:rPr lang="en-US" b="1" dirty="0" err="1">
                <a:solidFill>
                  <a:srgbClr val="990033"/>
                </a:solidFill>
                <a:sym typeface="Symbol"/>
              </a:rPr>
              <a:t>i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: a[k]=0))   /\   0in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</a:t>
            </a:r>
          </a:p>
          <a:p>
            <a:r>
              <a:rPr lang="en-US" dirty="0">
                <a:sym typeface="Symbol"/>
              </a:rPr>
              <a:t>The choice for the termination metric m is in this case quite obvious, namely: n - </a:t>
            </a:r>
            <a:r>
              <a:rPr lang="en-US" dirty="0" err="1">
                <a:sym typeface="Symbol"/>
              </a:rPr>
              <a:t>i</a:t>
            </a:r>
            <a:endParaRPr lang="en-US" dirty="0">
              <a:sym typeface="Symbol"/>
            </a:endParaRPr>
          </a:p>
          <a:p>
            <a:pPr>
              <a:buNone/>
            </a:pPr>
            <a:r>
              <a:rPr lang="en-US" dirty="0">
                <a:sym typeface="Symbol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7374" y="469213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7595" y="469213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C69D2D-B3A9-2F45-980A-26D4BF40EC3C}"/>
              </a:ext>
            </a:extLst>
          </p:cNvPr>
          <p:cNvSpPr/>
          <p:nvPr/>
        </p:nvSpPr>
        <p:spPr>
          <a:xfrm>
            <a:off x="838200" y="4191000"/>
            <a:ext cx="3810000" cy="685800"/>
          </a:xfrm>
          <a:prstGeom prst="roundRect">
            <a:avLst>
              <a:gd name="adj" fmla="val 14436"/>
            </a:avLst>
          </a:prstGeom>
          <a:noFill/>
          <a:ln>
            <a:solidFill>
              <a:srgbClr val="9900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890C10-A68E-8C45-A9EC-7BA3899A621B}"/>
              </a:ext>
            </a:extLst>
          </p:cNvPr>
          <p:cNvSpPr/>
          <p:nvPr/>
        </p:nvSpPr>
        <p:spPr>
          <a:xfrm>
            <a:off x="5103541" y="4142678"/>
            <a:ext cx="992459" cy="685800"/>
          </a:xfrm>
          <a:prstGeom prst="roundRect">
            <a:avLst>
              <a:gd name="adj" fmla="val 14436"/>
            </a:avLst>
          </a:prstGeom>
          <a:noFill/>
          <a:ln>
            <a:solidFill>
              <a:srgbClr val="9900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F79D6-C459-744B-A573-1BAC2F4AB1CE}"/>
              </a:ext>
            </a:extLst>
          </p:cNvPr>
          <p:cNvSpPr/>
          <p:nvPr/>
        </p:nvSpPr>
        <p:spPr>
          <a:xfrm>
            <a:off x="3720260" y="3244334"/>
            <a:ext cx="170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Segoe UI"/>
              </a:rPr>
              <a:t>Part-2 (no 1,2,3)</a:t>
            </a:r>
            <a:endParaRPr lang="en-GB" b="0" i="0" dirty="0">
              <a:effectLst/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comes down to proving these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(Exit Condition)                 </a:t>
            </a:r>
            <a:r>
              <a:rPr lang="en-US" dirty="0"/>
              <a:t> I /\ </a:t>
            </a:r>
            <a:r>
              <a:rPr lang="en-US" dirty="0">
                <a:sym typeface="Symbol"/>
              </a:rPr>
              <a:t>g  Q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(Initialization Condition) 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{* given-pre-</a:t>
            </a:r>
            <a:r>
              <a:rPr lang="en-US" dirty="0" err="1">
                <a:sym typeface="Symbol"/>
              </a:rPr>
              <a:t>cond</a:t>
            </a:r>
            <a:r>
              <a:rPr lang="en-US" dirty="0">
                <a:sym typeface="Symbol"/>
              </a:rPr>
              <a:t> *}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  {* I  *},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(Invariance)                      </a:t>
            </a:r>
            <a:r>
              <a:rPr lang="en-US" dirty="0"/>
              <a:t>{* I /\ </a:t>
            </a:r>
            <a:r>
              <a:rPr lang="en-US" dirty="0">
                <a:sym typeface="Symbol"/>
              </a:rPr>
              <a:t>g *} body {* I *}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</a:t>
            </a:r>
            <a:r>
              <a:rPr lang="en-US" dirty="0">
                <a:sym typeface="Symbol"/>
              </a:rPr>
              <a:t>   {* I /\ g *} (C:=m ; body)  {* m&lt;C *}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   </a:t>
            </a:r>
            <a:r>
              <a:rPr lang="en-US" dirty="0">
                <a:sym typeface="Symbol"/>
              </a:rPr>
              <a:t>I /\ g   m&gt;0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E69E6-0CBF-014C-8F49-EB646764F802}"/>
              </a:ext>
            </a:extLst>
          </p:cNvPr>
          <p:cNvSpPr txBox="1"/>
          <p:nvPr/>
        </p:nvSpPr>
        <p:spPr>
          <a:xfrm>
            <a:off x="1295400" y="3962400"/>
            <a:ext cx="5865324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Or equivalently, prove: I /\ </a:t>
            </a:r>
            <a:r>
              <a:rPr lang="en-US" sz="2400" dirty="0">
                <a:sym typeface="Symbol"/>
              </a:rPr>
              <a:t>g  </a:t>
            </a:r>
            <a:r>
              <a:rPr lang="en-US" sz="2400" b="1" dirty="0" err="1">
                <a:solidFill>
                  <a:srgbClr val="0070C0"/>
                </a:solidFill>
                <a:sym typeface="Symbol"/>
              </a:rPr>
              <a:t>wp</a:t>
            </a:r>
            <a:r>
              <a:rPr lang="en-US" sz="2400" dirty="0">
                <a:sym typeface="Symbol"/>
              </a:rPr>
              <a:t> body I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Reformulating them in terms of </a:t>
            </a:r>
            <a:r>
              <a:rPr lang="en-US" dirty="0" err="1"/>
              <a:t>wp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the composing statements has no loops, we can convert the Hoare triples into implications towards </a:t>
            </a:r>
            <a:r>
              <a:rPr lang="en-US" dirty="0" err="1"/>
              <a:t>wp</a:t>
            </a:r>
            <a:r>
              <a:rPr lang="en-US" dirty="0"/>
              <a:t>. Hence reducing the problem to pure predicate logic problem: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(Exit Condition) </a:t>
            </a:r>
            <a:r>
              <a:rPr lang="en-US" dirty="0"/>
              <a:t>                 I /\ </a:t>
            </a:r>
            <a:r>
              <a:rPr lang="en-US" dirty="0">
                <a:sym typeface="Symbol"/>
              </a:rPr>
              <a:t>g  Q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(Initialization Condition)  </a:t>
            </a:r>
            <a:br>
              <a:rPr lang="en-US" dirty="0">
                <a:solidFill>
                  <a:srgbClr val="00B050"/>
                </a:solidFill>
                <a:sym typeface="Symbol"/>
              </a:rPr>
            </a:br>
            <a:r>
              <a:rPr lang="en-US" dirty="0">
                <a:solidFill>
                  <a:srgbClr val="00B050"/>
                </a:solidFill>
                <a:sym typeface="Symbol"/>
              </a:rPr>
              <a:t>         </a:t>
            </a:r>
            <a:r>
              <a:rPr lang="en-US" dirty="0"/>
              <a:t>given-pre-</a:t>
            </a:r>
            <a:r>
              <a:rPr lang="en-US" dirty="0" err="1"/>
              <a:t>cond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 </a:t>
            </a:r>
            <a:r>
              <a:rPr lang="en-US" b="1" dirty="0" err="1"/>
              <a:t>wp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) 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(Invariance)                      </a:t>
            </a:r>
            <a:r>
              <a:rPr lang="en-US" dirty="0"/>
              <a:t>I /\ </a:t>
            </a:r>
            <a:r>
              <a:rPr lang="en-US" dirty="0">
                <a:sym typeface="Symbol"/>
              </a:rPr>
              <a:t>g   </a:t>
            </a:r>
            <a:r>
              <a:rPr lang="en-US" b="1" dirty="0" err="1">
                <a:sym typeface="Symbol"/>
              </a:rPr>
              <a:t>wp</a:t>
            </a:r>
            <a:r>
              <a:rPr lang="en-US" dirty="0">
                <a:sym typeface="Symbol"/>
              </a:rPr>
              <a:t> body 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</a:t>
            </a:r>
            <a:r>
              <a:rPr lang="en-US" dirty="0">
                <a:sym typeface="Symbol"/>
              </a:rPr>
              <a:t>   I /\ g  </a:t>
            </a:r>
            <a:r>
              <a:rPr lang="en-US" b="1" dirty="0" err="1">
                <a:sym typeface="Symbol"/>
              </a:rPr>
              <a:t>wp</a:t>
            </a:r>
            <a:r>
              <a:rPr lang="en-US" dirty="0">
                <a:sym typeface="Symbol"/>
              </a:rPr>
              <a:t> (C:=m ; body)  (m&lt;C)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   </a:t>
            </a:r>
            <a:r>
              <a:rPr lang="en-US" dirty="0">
                <a:sym typeface="Symbol"/>
              </a:rPr>
              <a:t>I /\ g   m&gt;0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dirty="0"/>
              <a:t>Now we can use the previous proof system for predicate logic to prove those implications.</a:t>
            </a: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719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03A6BA-A2EE-AF46-9F34-7D244230A5A9}"/>
              </a:ext>
            </a:extLst>
          </p:cNvPr>
          <p:cNvSpPr/>
          <p:nvPr/>
        </p:nvSpPr>
        <p:spPr>
          <a:xfrm>
            <a:off x="563137" y="4267200"/>
            <a:ext cx="5913863" cy="1981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EB781-88E0-3C4F-8EAA-81C091FCBEC9}"/>
              </a:ext>
            </a:extLst>
          </p:cNvPr>
          <p:cNvSpPr/>
          <p:nvPr/>
        </p:nvSpPr>
        <p:spPr>
          <a:xfrm>
            <a:off x="533400" y="1219200"/>
            <a:ext cx="5943600" cy="2743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structure of the proofs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PROOF</a:t>
            </a:r>
            <a:r>
              <a:rPr lang="en-US" dirty="0"/>
              <a:t> PEC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(proof of the exit condition)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[A1]  </a:t>
            </a:r>
            <a:r>
              <a:rPr lang="en-US" dirty="0"/>
              <a:t>r  = (</a:t>
            </a:r>
            <a:r>
              <a:rPr lang="en-US" dirty="0">
                <a:sym typeface="Symbol"/>
              </a:rPr>
              <a:t>k : 0k&lt;</a:t>
            </a:r>
            <a:r>
              <a:rPr lang="en-US" dirty="0" err="1">
                <a:sym typeface="Symbol"/>
              </a:rPr>
              <a:t>i</a:t>
            </a:r>
            <a:r>
              <a:rPr lang="en-US" dirty="0">
                <a:sym typeface="Symbol"/>
              </a:rPr>
              <a:t> : a[k]=0)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dirty="0">
                <a:sym typeface="Symbol"/>
              </a:rPr>
              <a:t>0in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dirty="0" err="1">
                <a:sym typeface="Symbol"/>
              </a:rPr>
              <a:t>in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[G]    </a:t>
            </a:r>
            <a:r>
              <a:rPr lang="en-US" dirty="0"/>
              <a:t>r  = (</a:t>
            </a:r>
            <a:r>
              <a:rPr lang="en-US" dirty="0">
                <a:sym typeface="Symbol"/>
              </a:rPr>
              <a:t>k : 0k&lt;n : a[k]=0)</a:t>
            </a:r>
            <a:br>
              <a:rPr lang="en-US" dirty="0">
                <a:sym typeface="Symbol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....  (the proof itself)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</a:br>
            <a:r>
              <a:rPr lang="en-US" b="1" dirty="0">
                <a:sym typeface="Symbol"/>
              </a:rPr>
              <a:t>END</a:t>
            </a:r>
          </a:p>
          <a:p>
            <a:endParaRPr lang="en-US" dirty="0">
              <a:sym typeface="Symbol"/>
            </a:endParaRPr>
          </a:p>
          <a:p>
            <a:r>
              <a:rPr lang="en-US" b="1" dirty="0">
                <a:sym typeface="Symbol"/>
              </a:rPr>
              <a:t>PROOF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PInit</a:t>
            </a:r>
            <a:r>
              <a:rPr lang="en-US" dirty="0">
                <a:sym typeface="Symbol"/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(proof of the initialization condition)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[A1] </a:t>
            </a:r>
            <a:r>
              <a:rPr lang="en-US" dirty="0"/>
              <a:t>0</a:t>
            </a:r>
            <a:r>
              <a:rPr lang="en-US" dirty="0">
                <a:sym typeface="Symbol" pitchFamily="16" charset="2"/>
              </a:rPr>
              <a:t>n </a:t>
            </a:r>
            <a:br>
              <a:rPr lang="en-US" dirty="0">
                <a:sym typeface="Symbol" pitchFamily="16" charset="2"/>
              </a:rPr>
            </a:br>
            <a:r>
              <a:rPr lang="en-US" b="1" dirty="0">
                <a:solidFill>
                  <a:srgbClr val="0070C0"/>
                </a:solidFill>
                <a:sym typeface="Symbol" pitchFamily="16" charset="2"/>
              </a:rPr>
              <a:t>[ G ] </a:t>
            </a:r>
            <a:r>
              <a:rPr lang="en-US" dirty="0">
                <a:sym typeface="Symbol" pitchFamily="16" charset="2"/>
              </a:rPr>
              <a:t>(true =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k : 0k&lt;0 : a[k]=0)) /\ 00n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// calculated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wp</a:t>
            </a:r>
            <a:br>
              <a:rPr lang="en-US" dirty="0">
                <a:solidFill>
                  <a:srgbClr val="FFC000"/>
                </a:solidFill>
                <a:sym typeface="Symbol"/>
              </a:rPr>
            </a:br>
            <a:r>
              <a:rPr lang="en-US" dirty="0">
                <a:solidFill>
                  <a:srgbClr val="FFC000"/>
                </a:solidFill>
                <a:sym typeface="Symbol"/>
              </a:rPr>
              <a:t>...</a:t>
            </a:r>
            <a:br>
              <a:rPr lang="en-US" dirty="0">
                <a:solidFill>
                  <a:srgbClr val="FFC000"/>
                </a:solidFill>
                <a:sym typeface="Symbol"/>
              </a:rPr>
            </a:br>
            <a:r>
              <a:rPr lang="en-US" b="1" dirty="0">
                <a:sym typeface="Symbol"/>
              </a:rPr>
              <a:t>END</a:t>
            </a:r>
            <a:br>
              <a:rPr lang="en-US" dirty="0">
                <a:sym typeface="Symbol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5486400" cy="480060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ym typeface="Symbol"/>
              </a:rPr>
              <a:t>PROOF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err="1">
                <a:sym typeface="Symbol"/>
              </a:rPr>
              <a:t>PInit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[A1] </a:t>
            </a:r>
            <a:r>
              <a:rPr lang="en-US" sz="2000" dirty="0"/>
              <a:t>0</a:t>
            </a:r>
            <a:r>
              <a:rPr lang="en-US" sz="2000" dirty="0">
                <a:sym typeface="Symbol" pitchFamily="16" charset="2"/>
              </a:rPr>
              <a:t>n </a:t>
            </a:r>
            <a:br>
              <a:rPr lang="en-US" sz="2000" dirty="0">
                <a:sym typeface="Symbol" pitchFamily="16" charset="2"/>
              </a:rPr>
            </a:b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[ G ] </a:t>
            </a:r>
            <a:r>
              <a:rPr lang="en-US" sz="2000" dirty="0">
                <a:sym typeface="Symbol" pitchFamily="16" charset="2"/>
              </a:rPr>
              <a:t>(true = </a:t>
            </a:r>
            <a:r>
              <a:rPr lang="en-US" sz="2000" dirty="0"/>
              <a:t>(</a:t>
            </a:r>
            <a:r>
              <a:rPr lang="en-US" sz="2000" dirty="0">
                <a:sym typeface="Symbol"/>
              </a:rPr>
              <a:t>k : 0k&lt;0 : a[k]=0)) /\ 00n</a:t>
            </a:r>
            <a:br>
              <a:rPr lang="en-US" sz="2000" dirty="0">
                <a:solidFill>
                  <a:srgbClr val="FFC000"/>
                </a:solidFill>
                <a:sym typeface="Symbol"/>
              </a:rPr>
            </a:br>
            <a:r>
              <a:rPr lang="en-US" sz="2000" b="1" dirty="0">
                <a:sym typeface="Symbol"/>
              </a:rPr>
              <a:t>BEGIN</a:t>
            </a:r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1. 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{ follows from A1 } </a:t>
            </a:r>
            <a:r>
              <a:rPr lang="en-US" sz="2000" dirty="0">
                <a:sym typeface="Symbol"/>
              </a:rPr>
              <a:t>00n </a:t>
            </a: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2. 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{ see </a:t>
            </a:r>
            <a:r>
              <a:rPr lang="en-US" sz="2000" dirty="0" err="1">
                <a:solidFill>
                  <a:srgbClr val="7030A0"/>
                </a:solidFill>
                <a:sym typeface="Symbol"/>
              </a:rPr>
              <a:t>subproof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 }  </a:t>
            </a:r>
            <a:r>
              <a:rPr lang="en-US" sz="2000" dirty="0">
                <a:sym typeface="Symbol"/>
              </a:rPr>
              <a:t>true = </a:t>
            </a:r>
            <a:r>
              <a:rPr lang="en-US" sz="2000" dirty="0"/>
              <a:t>(</a:t>
            </a:r>
            <a:r>
              <a:rPr lang="en-US" sz="2000" dirty="0">
                <a:sym typeface="Symbol"/>
              </a:rPr>
              <a:t>k : 0k&lt;0 : a[k]=0)</a:t>
            </a:r>
            <a:br>
              <a:rPr lang="en-US" sz="2000" dirty="0">
                <a:sym typeface="Symbol"/>
              </a:rPr>
            </a:b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3. 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{ conjunction of 1 and 2 } </a:t>
            </a:r>
            <a:r>
              <a:rPr lang="en-US" sz="2000" dirty="0">
                <a:sym typeface="Symbol"/>
              </a:rPr>
              <a:t>G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ym typeface="Symbol"/>
              </a:rPr>
              <a:t>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42E12-4C01-504C-B60B-4A989C7EFB73}"/>
              </a:ext>
            </a:extLst>
          </p:cNvPr>
          <p:cNvSpPr txBox="1"/>
          <p:nvPr/>
        </p:nvSpPr>
        <p:spPr>
          <a:xfrm>
            <a:off x="7015976" y="1916668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calculated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wp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45251-3D47-364E-A91B-BB06755B40D5}"/>
              </a:ext>
            </a:extLst>
          </p:cNvPr>
          <p:cNvSpPr txBox="1"/>
          <p:nvPr/>
        </p:nvSpPr>
        <p:spPr>
          <a:xfrm flipH="1">
            <a:off x="1371600" y="3429000"/>
            <a:ext cx="3657599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EQUATIONAL PROOF</a:t>
            </a:r>
          </a:p>
          <a:p>
            <a:r>
              <a:rPr lang="en-US" dirty="0">
                <a:sym typeface="Symbol"/>
              </a:rPr>
              <a:t>   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k : 0k&lt;0 : a[k]=0)</a:t>
            </a:r>
          </a:p>
          <a:p>
            <a:r>
              <a:rPr lang="en-US" dirty="0">
                <a:sym typeface="Symbol"/>
              </a:rPr>
              <a:t>    = </a:t>
            </a:r>
            <a:r>
              <a:rPr lang="en-US" dirty="0">
                <a:solidFill>
                  <a:srgbClr val="7030A0"/>
                </a:solidFill>
                <a:sym typeface="Symbol"/>
              </a:rPr>
              <a:t>{ the domain is false }</a:t>
            </a:r>
            <a:br>
              <a:rPr lang="en-US" dirty="0">
                <a:solidFill>
                  <a:srgbClr val="7030A0"/>
                </a:solidFill>
                <a:sym typeface="Symbol"/>
              </a:rPr>
            </a:br>
            <a:r>
              <a:rPr lang="en-US" dirty="0">
                <a:sym typeface="Symbol"/>
              </a:rPr>
              <a:t>   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k : false : a[k]=0)) </a:t>
            </a:r>
          </a:p>
          <a:p>
            <a:r>
              <a:rPr lang="en-US" dirty="0">
                <a:sym typeface="Symbol"/>
              </a:rPr>
              <a:t>    = </a:t>
            </a:r>
            <a:r>
              <a:rPr lang="en-US" dirty="0">
                <a:solidFill>
                  <a:srgbClr val="7030A0"/>
                </a:solidFill>
                <a:sym typeface="Symbol"/>
              </a:rPr>
              <a:t>{  over empty domain }</a:t>
            </a:r>
            <a:br>
              <a:rPr lang="en-US" dirty="0">
                <a:solidFill>
                  <a:srgbClr val="7030A0"/>
                </a:solidFill>
                <a:sym typeface="Symbol"/>
              </a:rPr>
            </a:br>
            <a:r>
              <a:rPr lang="en-US" dirty="0">
                <a:sym typeface="Symbol"/>
              </a:rPr>
              <a:t>    true</a:t>
            </a:r>
            <a:br>
              <a:rPr lang="en-US" dirty="0">
                <a:sym typeface="Symbol"/>
              </a:rPr>
            </a:br>
            <a:r>
              <a:rPr lang="en-US" b="1" dirty="0">
                <a:sym typeface="Symbol"/>
              </a:rPr>
              <a:t>END</a:t>
            </a:r>
            <a:endParaRPr lang="en-US" dirty="0"/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32F836E1-0A0E-DD47-880C-1FA08F9A5979}"/>
              </a:ext>
            </a:extLst>
          </p:cNvPr>
          <p:cNvSpPr/>
          <p:nvPr/>
        </p:nvSpPr>
        <p:spPr>
          <a:xfrm>
            <a:off x="6288358" y="1970901"/>
            <a:ext cx="685800" cy="260866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1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I’s invariance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5562600" cy="541020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PROOF</a:t>
            </a:r>
            <a:r>
              <a:rPr lang="en-US" sz="1600" dirty="0"/>
              <a:t> PIC (proof of the invariance condition)</a:t>
            </a:r>
            <a:br>
              <a:rPr lang="en-US" sz="1600" dirty="0"/>
            </a:br>
            <a:r>
              <a:rPr lang="en-US" sz="1600" b="1" dirty="0">
                <a:solidFill>
                  <a:srgbClr val="0070C0"/>
                </a:solidFill>
              </a:rPr>
              <a:t>[A1]  </a:t>
            </a:r>
            <a:r>
              <a:rPr lang="en-US" sz="1600" dirty="0"/>
              <a:t>r  = (</a:t>
            </a:r>
            <a:r>
              <a:rPr lang="en-US" sz="1600" dirty="0">
                <a:sym typeface="Symbol"/>
              </a:rPr>
              <a:t>k : 0k&lt;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sz="1600" dirty="0">
                <a:sym typeface="Symbol"/>
              </a:rPr>
              <a:t>0in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&lt;n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[G1]  </a:t>
            </a:r>
            <a:r>
              <a:rPr lang="en-US" sz="1600" dirty="0"/>
              <a:t>r/\(a[</a:t>
            </a:r>
            <a:r>
              <a:rPr lang="en-US" sz="1600" dirty="0" err="1"/>
              <a:t>i</a:t>
            </a:r>
            <a:r>
              <a:rPr lang="en-US" sz="1600" dirty="0"/>
              <a:t>]=0)  = (</a:t>
            </a:r>
            <a:r>
              <a:rPr lang="en-US" sz="1600" dirty="0">
                <a:sym typeface="Symbol"/>
              </a:rPr>
              <a:t>k : 0k&lt;i+1 : a[k]=0)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[G2]  </a:t>
            </a:r>
            <a:r>
              <a:rPr lang="en-US" sz="1600" dirty="0">
                <a:sym typeface="Symbol"/>
              </a:rPr>
              <a:t>0i+1n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ym typeface="Symbol"/>
              </a:rPr>
              <a:t>BEGIN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1. 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see the </a:t>
            </a:r>
            <a:r>
              <a:rPr lang="en-US" sz="1600" dirty="0" err="1">
                <a:solidFill>
                  <a:srgbClr val="0070C0"/>
                </a:solidFill>
                <a:sym typeface="Symbol"/>
              </a:rPr>
              <a:t>subproof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 below }  </a:t>
            </a:r>
            <a:r>
              <a:rPr lang="en-US" sz="1600" dirty="0">
                <a:sym typeface="Symbol"/>
              </a:rPr>
              <a:t>G1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             </a:t>
            </a:r>
            <a:br>
              <a:rPr lang="en-US" sz="1600" dirty="0">
                <a:sym typeface="Symbol"/>
              </a:rPr>
            </a:b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r>
              <a:rPr lang="en-US" sz="1600" dirty="0">
                <a:sym typeface="Symbol"/>
              </a:rPr>
              <a:t>2. { A2 implies 0i+1 and A3 implies i+1n }  G2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ym typeface="Symbol"/>
              </a:rPr>
              <a:t>END</a:t>
            </a:r>
            <a:br>
              <a:rPr lang="en-US" sz="1600" dirty="0">
                <a:sym typeface="Symbol"/>
              </a:rPr>
            </a:b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07688-A2CC-F541-8811-9DDEEDE72AD4}"/>
              </a:ext>
            </a:extLst>
          </p:cNvPr>
          <p:cNvSpPr txBox="1"/>
          <p:nvPr/>
        </p:nvSpPr>
        <p:spPr>
          <a:xfrm>
            <a:off x="1143000" y="3276600"/>
            <a:ext cx="4343400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ym typeface="Symbol"/>
              </a:rPr>
              <a:t> EQUATIONAL PROOF</a:t>
            </a:r>
            <a:endParaRPr lang="en-US" sz="1600" dirty="0">
              <a:sym typeface="Symbol"/>
            </a:endParaRPr>
          </a:p>
          <a:p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0k&lt;i+1 : a[k]=0) </a:t>
            </a:r>
          </a:p>
          <a:p>
            <a:r>
              <a:rPr lang="en-US" sz="1600" dirty="0">
                <a:sym typeface="Symbol"/>
              </a:rPr>
              <a:t> 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 dom. merge , PIC.A2 }</a:t>
            </a:r>
            <a:br>
              <a:rPr lang="en-US" sz="1600" dirty="0">
                <a:sym typeface="Symbol"/>
              </a:rPr>
            </a:b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0k&lt;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\/ k=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</a:t>
            </a:r>
          </a:p>
          <a:p>
            <a:r>
              <a:rPr lang="en-US" sz="1600" dirty="0">
                <a:sym typeface="Symbol"/>
              </a:rPr>
              <a:t>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 domain-split , justified by 0i (PIC.A2) }  </a:t>
            </a:r>
            <a:br>
              <a:rPr lang="en-US" sz="1600" dirty="0">
                <a:sym typeface="Symbol"/>
              </a:rPr>
            </a:b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0k&lt;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: a[k]=0)  /\ </a:t>
            </a: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k=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 </a:t>
            </a:r>
          </a:p>
          <a:p>
            <a:r>
              <a:rPr lang="en-US" sz="1600" dirty="0">
                <a:sym typeface="Symbol"/>
              </a:rPr>
              <a:t>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 PIC.A1 }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r /\ </a:t>
            </a: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k=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 </a:t>
            </a:r>
          </a:p>
          <a:p>
            <a:r>
              <a:rPr lang="en-US" sz="1600" dirty="0">
                <a:sym typeface="Symbol"/>
              </a:rPr>
              <a:t>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quant. over singleton }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r /\ </a:t>
            </a:r>
            <a:r>
              <a:rPr lang="en-US" sz="1600" dirty="0"/>
              <a:t>(a[</a:t>
            </a:r>
            <a:r>
              <a:rPr lang="en-US" sz="1600" dirty="0" err="1"/>
              <a:t>i</a:t>
            </a:r>
            <a:r>
              <a:rPr lang="en-US" sz="1600" dirty="0"/>
              <a:t>]=0)</a:t>
            </a:r>
            <a:br>
              <a:rPr lang="en-US" sz="1600" dirty="0"/>
            </a:br>
            <a:r>
              <a:rPr lang="en-US" sz="1600" b="1" dirty="0"/>
              <a:t>END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8CED89A8-E8B7-1F48-A899-CF9C5DB9D5F4}"/>
              </a:ext>
            </a:extLst>
          </p:cNvPr>
          <p:cNvSpPr/>
          <p:nvPr/>
        </p:nvSpPr>
        <p:spPr>
          <a:xfrm>
            <a:off x="6406109" y="1586102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EA730-FC6C-4941-B69F-B9397BAEBB10}"/>
              </a:ext>
            </a:extLst>
          </p:cNvPr>
          <p:cNvSpPr txBox="1"/>
          <p:nvPr/>
        </p:nvSpPr>
        <p:spPr>
          <a:xfrm>
            <a:off x="7123760" y="148243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ym typeface="Symbol"/>
              </a:rPr>
              <a:t>I</a:t>
            </a:r>
            <a:r>
              <a:rPr lang="en-US" b="1" baseline="-25000" dirty="0">
                <a:sym typeface="Symbol"/>
              </a:rPr>
              <a:t>1</a:t>
            </a:r>
            <a:endParaRPr lang="en-US" b="1" baseline="-25000" dirty="0"/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B77171F5-409F-D54A-B0A2-3A3DEE2C5A1D}"/>
              </a:ext>
            </a:extLst>
          </p:cNvPr>
          <p:cNvSpPr/>
          <p:nvPr/>
        </p:nvSpPr>
        <p:spPr>
          <a:xfrm>
            <a:off x="6406109" y="1814185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43A5B5-57DA-7848-A682-5653585133F8}"/>
              </a:ext>
            </a:extLst>
          </p:cNvPr>
          <p:cNvSpPr txBox="1"/>
          <p:nvPr/>
        </p:nvSpPr>
        <p:spPr>
          <a:xfrm>
            <a:off x="7123760" y="171052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ym typeface="Symbol"/>
              </a:rPr>
              <a:t>I</a:t>
            </a:r>
            <a:r>
              <a:rPr lang="en-US" b="1" baseline="-25000" dirty="0">
                <a:sym typeface="Symbol"/>
              </a:rPr>
              <a:t>2</a:t>
            </a:r>
            <a:endParaRPr lang="en-US" b="1" baseline="-25000" dirty="0"/>
          </a:p>
        </p:txBody>
      </p:sp>
      <p:sp>
        <p:nvSpPr>
          <p:cNvPr id="24" name="Left Arrow 23">
            <a:extLst>
              <a:ext uri="{FF2B5EF4-FFF2-40B4-BE49-F238E27FC236}">
                <a16:creationId xmlns:a16="http://schemas.microsoft.com/office/drawing/2014/main" id="{3F06CEF8-3106-2A4E-AAF1-F2A4F1D7F797}"/>
              </a:ext>
            </a:extLst>
          </p:cNvPr>
          <p:cNvSpPr/>
          <p:nvPr/>
        </p:nvSpPr>
        <p:spPr>
          <a:xfrm>
            <a:off x="6406109" y="2064930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6A66A-FBDD-5D41-AD52-F302EC709FF7}"/>
              </a:ext>
            </a:extLst>
          </p:cNvPr>
          <p:cNvSpPr txBox="1"/>
          <p:nvPr/>
        </p:nvSpPr>
        <p:spPr>
          <a:xfrm>
            <a:off x="7123760" y="1961265"/>
            <a:ext cx="1088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ym typeface="Symbol"/>
              </a:rPr>
              <a:t>Loop guard</a:t>
            </a:r>
            <a:endParaRPr lang="en-US" sz="1400" dirty="0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6A3704F7-A275-8548-91BC-D1349E0950C7}"/>
              </a:ext>
            </a:extLst>
          </p:cNvPr>
          <p:cNvSpPr/>
          <p:nvPr/>
        </p:nvSpPr>
        <p:spPr>
          <a:xfrm>
            <a:off x="6406109" y="2290069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2CFE1D-AB87-C84B-A144-37470453402B}"/>
              </a:ext>
            </a:extLst>
          </p:cNvPr>
          <p:cNvSpPr txBox="1"/>
          <p:nvPr/>
        </p:nvSpPr>
        <p:spPr>
          <a:xfrm>
            <a:off x="7123760" y="2186404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ym typeface="Symbol"/>
              </a:rPr>
              <a:t>caculated</a:t>
            </a:r>
            <a:r>
              <a:rPr lang="en-US" sz="1400" dirty="0">
                <a:sym typeface="Symbol"/>
              </a:rPr>
              <a:t> from </a:t>
            </a:r>
            <a:r>
              <a:rPr lang="en-US" sz="1400" dirty="0" err="1">
                <a:sym typeface="Symbol"/>
              </a:rPr>
              <a:t>wp</a:t>
            </a:r>
            <a:endParaRPr lang="en-US" sz="1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22" grpId="0" animBg="1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76D4E8-45ED-124A-BF45-1AADCFD09088}"/>
              </a:ext>
            </a:extLst>
          </p:cNvPr>
          <p:cNvSpPr/>
          <p:nvPr/>
        </p:nvSpPr>
        <p:spPr>
          <a:xfrm>
            <a:off x="1447800" y="3810000"/>
            <a:ext cx="4953000" cy="228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C039C-F868-1C4A-B764-4B622611A68F}"/>
              </a:ext>
            </a:extLst>
          </p:cNvPr>
          <p:cNvSpPr/>
          <p:nvPr/>
        </p:nvSpPr>
        <p:spPr>
          <a:xfrm>
            <a:off x="1447800" y="1251254"/>
            <a:ext cx="4953000" cy="228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structure of the proofs of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772400" cy="5181600"/>
          </a:xfrm>
        </p:spPr>
        <p:txBody>
          <a:bodyPr/>
          <a:lstStyle/>
          <a:p>
            <a:r>
              <a:rPr lang="en-US" sz="2000" b="1" dirty="0"/>
              <a:t>PROOF</a:t>
            </a:r>
            <a:r>
              <a:rPr lang="en-US" sz="2000" dirty="0"/>
              <a:t> TC1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(proof of the 1</a:t>
            </a:r>
            <a:r>
              <a:rPr lang="en-US" sz="20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termination condition)</a:t>
            </a:r>
            <a:b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[A1]  </a:t>
            </a:r>
            <a:r>
              <a:rPr lang="en-US" sz="2000" dirty="0"/>
              <a:t>r  = (</a:t>
            </a:r>
            <a:r>
              <a:rPr lang="en-US" sz="2000" dirty="0">
                <a:sym typeface="Symbol"/>
              </a:rPr>
              <a:t>k : 0k&lt;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: a[k]=0)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sz="2000" dirty="0">
                <a:sym typeface="Symbol"/>
              </a:rPr>
              <a:t>0in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&lt;n</a:t>
            </a:r>
            <a:br>
              <a:rPr lang="en-US" sz="2000" dirty="0">
                <a:sym typeface="Symbol"/>
              </a:rPr>
            </a:br>
            <a:r>
              <a:rPr lang="en-US" sz="2000" dirty="0">
                <a:solidFill>
                  <a:srgbClr val="0070C0"/>
                </a:solidFill>
                <a:sym typeface="Symbol"/>
              </a:rPr>
              <a:t>[</a:t>
            </a:r>
            <a:r>
              <a:rPr lang="en-US" sz="2000" b="1" dirty="0">
                <a:solidFill>
                  <a:srgbClr val="0070C0"/>
                </a:solidFill>
                <a:sym typeface="Symbol"/>
              </a:rPr>
              <a:t>G]    </a:t>
            </a:r>
            <a:r>
              <a:rPr lang="en-US" sz="2000" dirty="0">
                <a:sym typeface="Symbol"/>
              </a:rPr>
              <a:t>n -  (i+1)  &lt; n-1                                      </a:t>
            </a:r>
            <a:r>
              <a:rPr lang="en-US" sz="2000" dirty="0">
                <a:solidFill>
                  <a:srgbClr val="FFC000"/>
                </a:solidFill>
                <a:sym typeface="Symbol"/>
              </a:rPr>
              <a:t>// calculated </a:t>
            </a:r>
            <a:r>
              <a:rPr lang="en-US" sz="2000" dirty="0" err="1">
                <a:solidFill>
                  <a:srgbClr val="FFC000"/>
                </a:solidFill>
                <a:sym typeface="Symbol"/>
              </a:rPr>
              <a:t>wp</a:t>
            </a:r>
            <a:endParaRPr lang="en-US" sz="2000" dirty="0">
              <a:solidFill>
                <a:srgbClr val="FFC000"/>
              </a:solidFill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     ....</a:t>
            </a:r>
            <a:br>
              <a:rPr lang="en-US" sz="2000" dirty="0">
                <a:sym typeface="Symbol"/>
              </a:rPr>
            </a:br>
            <a:r>
              <a:rPr lang="en-US" sz="2000" dirty="0">
                <a:sym typeface="Symbol"/>
              </a:rPr>
              <a:t>     </a:t>
            </a:r>
            <a:r>
              <a:rPr lang="en-US" sz="2000" b="1" dirty="0">
                <a:sym typeface="Symbol"/>
              </a:rPr>
              <a:t>END</a:t>
            </a:r>
          </a:p>
          <a:p>
            <a:endParaRPr lang="en-US" sz="2000" dirty="0">
              <a:sym typeface="Symbol"/>
            </a:endParaRPr>
          </a:p>
          <a:p>
            <a:r>
              <a:rPr lang="en-US" sz="2000" b="1" dirty="0">
                <a:sym typeface="Symbol"/>
              </a:rPr>
              <a:t>PROOF</a:t>
            </a:r>
            <a:r>
              <a:rPr lang="en-US" sz="2000" dirty="0">
                <a:sym typeface="Symbol"/>
              </a:rPr>
              <a:t> TC2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</a:rPr>
              <a:t>[A1]  </a:t>
            </a:r>
            <a:r>
              <a:rPr lang="en-US" sz="2000" dirty="0"/>
              <a:t>r  = (</a:t>
            </a:r>
            <a:r>
              <a:rPr lang="en-US" sz="2000" dirty="0">
                <a:sym typeface="Symbol"/>
              </a:rPr>
              <a:t>k : 0k&lt;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: a[k]=0)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sz="2000" dirty="0">
                <a:sym typeface="Symbol"/>
              </a:rPr>
              <a:t>0in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&lt;n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[G]    </a:t>
            </a:r>
            <a:r>
              <a:rPr lang="en-US" sz="2000" dirty="0">
                <a:sym typeface="Symbol"/>
              </a:rPr>
              <a:t>n -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&gt; 0 </a:t>
            </a:r>
            <a:br>
              <a:rPr lang="en-US" sz="2000" dirty="0">
                <a:sym typeface="Symbol"/>
              </a:rPr>
            </a:br>
            <a:r>
              <a:rPr lang="en-US" sz="2000" dirty="0">
                <a:sym typeface="Symbol"/>
              </a:rPr>
              <a:t>....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ym typeface="Symbol"/>
              </a:rPr>
              <a:t>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398ED-86AE-FC42-B45E-81150D642A1B}"/>
              </a:ext>
            </a:extLst>
          </p:cNvPr>
          <p:cNvSpPr txBox="1"/>
          <p:nvPr/>
        </p:nvSpPr>
        <p:spPr>
          <a:xfrm>
            <a:off x="-479684" y="869430"/>
            <a:ext cx="18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983DA1C9-32C7-A24A-864A-D59A06D00AEA}"/>
              </a:ext>
            </a:extLst>
          </p:cNvPr>
          <p:cNvSpPr/>
          <p:nvPr/>
        </p:nvSpPr>
        <p:spPr>
          <a:xfrm>
            <a:off x="5715000" y="2622854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758763-F33C-D142-9DCD-F5D5E4A0DE70}"/>
              </a:ext>
            </a:extLst>
          </p:cNvPr>
          <p:cNvSpPr/>
          <p:nvPr/>
        </p:nvSpPr>
        <p:spPr>
          <a:xfrm>
            <a:off x="5249297" y="2954804"/>
            <a:ext cx="3456368" cy="1938992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955221-1002-174D-9F9A-DB580E60DA5E}"/>
              </a:ext>
            </a:extLst>
          </p:cNvPr>
          <p:cNvSpPr/>
          <p:nvPr/>
        </p:nvSpPr>
        <p:spPr>
          <a:xfrm>
            <a:off x="7048500" y="3352801"/>
            <a:ext cx="838200" cy="457200"/>
          </a:xfrm>
          <a:prstGeom prst="roundRect">
            <a:avLst>
              <a:gd name="adj" fmla="val 32061"/>
            </a:avLst>
          </a:prstGeom>
          <a:solidFill>
            <a:srgbClr val="C0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938737-2F53-4949-AA08-40B857CA85CE}"/>
              </a:ext>
            </a:extLst>
          </p:cNvPr>
          <p:cNvSpPr/>
          <p:nvPr/>
        </p:nvSpPr>
        <p:spPr>
          <a:xfrm>
            <a:off x="609600" y="2954804"/>
            <a:ext cx="3208903" cy="1938992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with</a:t>
            </a:r>
            <a:r>
              <a:rPr lang="nl-NL" dirty="0"/>
              <a:t> breaks, LN Sec. 9.3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BFFF-B963-504D-8057-D7576439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953000"/>
          </a:xfrm>
        </p:spPr>
        <p:txBody>
          <a:bodyPr/>
          <a:lstStyle/>
          <a:p>
            <a:r>
              <a:rPr lang="en-US" dirty="0"/>
              <a:t>There is no “break” statement in </a:t>
            </a:r>
            <a:r>
              <a:rPr lang="en-US" dirty="0" err="1"/>
              <a:t>uPL</a:t>
            </a:r>
            <a:r>
              <a:rPr lang="en-US" dirty="0"/>
              <a:t>, but we can still look at the concept behind it, namely to stop a loop earlier because we know that it has achieved its objective.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prove that breaking the loop early is indeed safe?</a:t>
            </a:r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9007E-39CF-44E3-BC08-211CD164AC3C}" type="slidenum">
              <a:rPr lang="en-US" altLang="en-US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E5C2E6-0FDA-4479-82DB-60D055CF02B7}" type="slidenum">
              <a:rPr lang="en-US" altLang="en-US" sz="1200">
                <a:latin typeface="+mj-lt"/>
              </a:rPr>
              <a:pPr algn="r">
                <a:defRPr/>
              </a:pPr>
              <a:t>51</a:t>
            </a:fld>
            <a:endParaRPr lang="en-US" altLang="en-US" sz="1200">
              <a:latin typeface="+mj-lt"/>
            </a:endParaRPr>
          </a:p>
        </p:txBody>
      </p:sp>
      <p:sp>
        <p:nvSpPr>
          <p:cNvPr id="6149" name="TextBox 5"/>
          <p:cNvSpPr txBox="1">
            <a:spLocks noChangeArrowheads="1"/>
          </p:cNvSpPr>
          <p:nvPr/>
        </p:nvSpPr>
        <p:spPr bwMode="auto">
          <a:xfrm>
            <a:off x="838200" y="2954804"/>
            <a:ext cx="298030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&lt;n </a:t>
            </a:r>
            <a:r>
              <a:rPr lang="en-US" sz="2400" b="1" dirty="0"/>
              <a:t>do</a:t>
            </a:r>
            <a:r>
              <a:rPr lang="en-US" sz="2400" dirty="0"/>
              <a:t>  { </a:t>
            </a:r>
          </a:p>
          <a:p>
            <a:r>
              <a:rPr lang="en-US" sz="2400" dirty="0"/>
              <a:t>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</a:t>
            </a:r>
            <a:r>
              <a:rPr lang="en-US" sz="2400" dirty="0"/>
              <a:t>++ </a:t>
            </a:r>
          </a:p>
          <a:p>
            <a:r>
              <a:rPr lang="en-US" sz="2400" dirty="0"/>
              <a:t>}</a:t>
            </a:r>
            <a:endParaRPr lang="nl-NL" sz="240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DE0785E7-8470-724A-AAC4-877D5A445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954804"/>
            <a:ext cx="306686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&lt;n </a:t>
            </a:r>
            <a:r>
              <a:rPr lang="en-US" sz="2400" b="1" dirty="0">
                <a:solidFill>
                  <a:srgbClr val="990033"/>
                </a:solidFill>
              </a:rPr>
              <a:t>/\ ¬r  </a:t>
            </a:r>
            <a:r>
              <a:rPr lang="en-US" sz="2400" b="1" dirty="0"/>
              <a:t>do</a:t>
            </a:r>
            <a:r>
              <a:rPr lang="en-US" sz="2400" dirty="0"/>
              <a:t>  { </a:t>
            </a:r>
          </a:p>
          <a:p>
            <a:r>
              <a:rPr lang="en-US" sz="2400" dirty="0"/>
              <a:t>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</a:t>
            </a:r>
            <a:r>
              <a:rPr lang="en-US" sz="2400" dirty="0"/>
              <a:t>++ </a:t>
            </a:r>
          </a:p>
          <a:p>
            <a:r>
              <a:rPr lang="en-US" sz="2400" dirty="0"/>
              <a:t>}</a:t>
            </a:r>
            <a:endParaRPr lang="nl-NL" sz="2400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95DC603-3BE8-4645-9D87-CD27B830CC50}"/>
              </a:ext>
            </a:extLst>
          </p:cNvPr>
          <p:cNvSpPr/>
          <p:nvPr/>
        </p:nvSpPr>
        <p:spPr>
          <a:xfrm>
            <a:off x="4114800" y="3543300"/>
            <a:ext cx="905897" cy="7620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601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04A-5A2F-8442-99C4-2CA29AF2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with</a:t>
            </a:r>
            <a:r>
              <a:rPr lang="nl-NL" dirty="0"/>
              <a:t> breaks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BC08-3A0C-FA40-A5E8-DD95B9AA8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loop, which has been proven correct using an </a:t>
            </a:r>
            <a:r>
              <a:rPr lang="en-US" b="1" dirty="0">
                <a:solidFill>
                  <a:srgbClr val="0000CC"/>
                </a:solidFill>
              </a:rPr>
              <a:t>invariant I </a:t>
            </a:r>
            <a:r>
              <a:rPr lang="en-US" dirty="0"/>
              <a:t>and a </a:t>
            </a:r>
            <a:r>
              <a:rPr lang="en-US" b="1" dirty="0">
                <a:solidFill>
                  <a:srgbClr val="0000CC"/>
                </a:solidFill>
              </a:rPr>
              <a:t>termination metric m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Suppose now we optimize the loop by adding a ”break” to let it terminate early in some situation: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validity of (1) implies:</a:t>
            </a:r>
          </a:p>
          <a:p>
            <a:pPr lvl="1"/>
            <a:r>
              <a:rPr lang="en-US" dirty="0"/>
              <a:t>(2) will also terminate</a:t>
            </a:r>
          </a:p>
          <a:p>
            <a:pPr lvl="1"/>
            <a:r>
              <a:rPr lang="en-US" dirty="0"/>
              <a:t>(2) will also maintain I’s invariance</a:t>
            </a:r>
          </a:p>
          <a:p>
            <a:pPr lvl="1"/>
            <a:r>
              <a:rPr lang="en-US" dirty="0"/>
              <a:t>If g becomes false, (2) will terminate in Q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C28F-DF61-C240-AD1D-163C67583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D613CC-EC99-F544-95FC-0410C755B03A}"/>
              </a:ext>
            </a:extLst>
          </p:cNvPr>
          <p:cNvSpPr/>
          <p:nvPr/>
        </p:nvSpPr>
        <p:spPr>
          <a:xfrm>
            <a:off x="1752600" y="2133600"/>
            <a:ext cx="5334000" cy="68071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P *}   </a:t>
            </a:r>
            <a:r>
              <a:rPr lang="en-US" sz="2400" b="1" dirty="0">
                <a:solidFill>
                  <a:schemeClr val="tx1"/>
                </a:solidFill>
              </a:rPr>
              <a:t>while</a:t>
            </a:r>
            <a:r>
              <a:rPr lang="en-US" sz="2400" dirty="0">
                <a:solidFill>
                  <a:schemeClr val="tx1"/>
                </a:solidFill>
              </a:rPr>
              <a:t> g </a:t>
            </a:r>
            <a:r>
              <a:rPr lang="en-US" sz="2400" b="1" dirty="0">
                <a:solidFill>
                  <a:schemeClr val="tx1"/>
                </a:solidFill>
              </a:rPr>
              <a:t>do</a:t>
            </a:r>
            <a:r>
              <a:rPr lang="en-US" sz="2400" dirty="0">
                <a:solidFill>
                  <a:schemeClr val="tx1"/>
                </a:solidFill>
              </a:rPr>
              <a:t> S   {* Q *}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995E38-D31E-1B44-B3B0-ABF876A42F83}"/>
              </a:ext>
            </a:extLst>
          </p:cNvPr>
          <p:cNvSpPr/>
          <p:nvPr/>
        </p:nvSpPr>
        <p:spPr>
          <a:xfrm>
            <a:off x="1741449" y="3810000"/>
            <a:ext cx="53340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P *}   </a:t>
            </a:r>
            <a:r>
              <a:rPr lang="en-US" sz="2400" b="1" dirty="0">
                <a:solidFill>
                  <a:schemeClr val="tx1"/>
                </a:solidFill>
              </a:rPr>
              <a:t>while</a:t>
            </a:r>
            <a:r>
              <a:rPr lang="en-US" sz="2400" dirty="0">
                <a:solidFill>
                  <a:schemeClr val="tx1"/>
                </a:solidFill>
              </a:rPr>
              <a:t> g </a:t>
            </a:r>
            <a:r>
              <a:rPr lang="en-US" sz="2400" b="1" dirty="0">
                <a:solidFill>
                  <a:srgbClr val="C00000"/>
                </a:solidFill>
              </a:rPr>
              <a:t>/\  h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tx1"/>
                </a:solidFill>
              </a:rPr>
              <a:t>do</a:t>
            </a:r>
            <a:r>
              <a:rPr lang="en-US" sz="2400" dirty="0">
                <a:solidFill>
                  <a:schemeClr val="tx1"/>
                </a:solidFill>
              </a:rPr>
              <a:t> S   {* Q *}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77D8C-7BA0-BC41-905D-E3DBDEA7DE8D}"/>
              </a:ext>
            </a:extLst>
          </p:cNvPr>
          <p:cNvSpPr txBox="1"/>
          <p:nvPr/>
        </p:nvSpPr>
        <p:spPr>
          <a:xfrm>
            <a:off x="1042734" y="219960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039C8-5366-3244-B348-AEDFE7A72CC8}"/>
              </a:ext>
            </a:extLst>
          </p:cNvPr>
          <p:cNvSpPr txBox="1"/>
          <p:nvPr/>
        </p:nvSpPr>
        <p:spPr>
          <a:xfrm>
            <a:off x="1042734" y="388396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8218920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04A-5A2F-8442-99C4-2CA29AF2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with</a:t>
            </a:r>
            <a:r>
              <a:rPr lang="nl-NL" dirty="0"/>
              <a:t> breaks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BC08-3A0C-FA40-A5E8-DD95B9AA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514600"/>
            <a:ext cx="8305800" cy="388619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So to prove that (2) is valid, given (1) from the previous slide, we only need to prove that when (2) terminates early because h becomes false, then it will also terminate in Q. In other words, we only need to prove: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where I is the invariant used in (1).</a:t>
            </a:r>
          </a:p>
          <a:p>
            <a:pPr marL="0" indent="0" algn="just">
              <a:buNone/>
            </a:pPr>
            <a:endParaRPr lang="en-US" dirty="0"/>
          </a:p>
          <a:p>
            <a:pPr marL="344487" lvl="1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C28F-DF61-C240-AD1D-163C67583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995E38-D31E-1B44-B3B0-ABF876A42F83}"/>
              </a:ext>
            </a:extLst>
          </p:cNvPr>
          <p:cNvSpPr/>
          <p:nvPr/>
        </p:nvSpPr>
        <p:spPr>
          <a:xfrm>
            <a:off x="1981200" y="1371600"/>
            <a:ext cx="53340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P *}   </a:t>
            </a:r>
            <a:r>
              <a:rPr lang="en-US" sz="2400" b="1" dirty="0">
                <a:solidFill>
                  <a:schemeClr val="tx1"/>
                </a:solidFill>
              </a:rPr>
              <a:t>while</a:t>
            </a:r>
            <a:r>
              <a:rPr lang="en-US" sz="2400" dirty="0">
                <a:solidFill>
                  <a:schemeClr val="tx1"/>
                </a:solidFill>
              </a:rPr>
              <a:t> g </a:t>
            </a:r>
            <a:r>
              <a:rPr lang="en-US" sz="2400" b="1" dirty="0">
                <a:solidFill>
                  <a:srgbClr val="C00000"/>
                </a:solidFill>
              </a:rPr>
              <a:t>/\  h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tx1"/>
                </a:solidFill>
              </a:rPr>
              <a:t>do</a:t>
            </a:r>
            <a:r>
              <a:rPr lang="en-US" sz="2400" dirty="0">
                <a:solidFill>
                  <a:schemeClr val="tx1"/>
                </a:solidFill>
              </a:rPr>
              <a:t> S   {* Q *}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039C8-5366-3244-B348-AEDFE7A72CC8}"/>
              </a:ext>
            </a:extLst>
          </p:cNvPr>
          <p:cNvSpPr txBox="1"/>
          <p:nvPr/>
        </p:nvSpPr>
        <p:spPr>
          <a:xfrm>
            <a:off x="1282485" y="144556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3E4141-4B8F-FE46-9184-02DC152498DB}"/>
              </a:ext>
            </a:extLst>
          </p:cNvPr>
          <p:cNvSpPr/>
          <p:nvPr/>
        </p:nvSpPr>
        <p:spPr>
          <a:xfrm>
            <a:off x="3048000" y="4343400"/>
            <a:ext cx="32004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 /\ g /\ ¬h  ⇒  Q</a:t>
            </a:r>
          </a:p>
        </p:txBody>
      </p:sp>
    </p:spTree>
    <p:extLst>
      <p:ext uri="{BB962C8B-B14F-4D97-AF65-F5344CB8AC3E}">
        <p14:creationId xmlns:p14="http://schemas.microsoft.com/office/powerpoint/2010/main" val="646753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9007E-39CF-44E3-BC08-211CD164AC3C}" type="slidenum">
              <a:rPr lang="en-US" altLang="en-US"/>
              <a:pPr>
                <a:defRPr/>
              </a:pPr>
              <a:t>54</a:t>
            </a:fld>
            <a:endParaRPr lang="en-US" alt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E5C2E6-0FDA-4479-82DB-60D055CF02B7}" type="slidenum">
              <a:rPr lang="en-US" altLang="en-US" sz="1200">
                <a:latin typeface="+mj-lt"/>
              </a:rPr>
              <a:pPr algn="r">
                <a:defRPr/>
              </a:pPr>
              <a:t>54</a:t>
            </a:fld>
            <a:endParaRPr lang="en-US" altLang="en-US" sz="1200">
              <a:latin typeface="+mj-lt"/>
            </a:endParaRPr>
          </a:p>
        </p:txBody>
      </p:sp>
      <p:sp>
        <p:nvSpPr>
          <p:cNvPr id="6149" name="TextBox 5"/>
          <p:cNvSpPr txBox="1">
            <a:spLocks noChangeArrowheads="1"/>
          </p:cNvSpPr>
          <p:nvPr/>
        </p:nvSpPr>
        <p:spPr bwMode="auto">
          <a:xfrm>
            <a:off x="2286000" y="1676400"/>
            <a:ext cx="4286751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{* 0</a:t>
            </a:r>
            <a:r>
              <a:rPr lang="en-US" sz="2400" dirty="0">
                <a:sym typeface="Symbol" pitchFamily="16" charset="2"/>
              </a:rPr>
              <a:t>n</a:t>
            </a:r>
            <a:r>
              <a:rPr lang="en-US" sz="2400" dirty="0"/>
              <a:t> *}  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 err="1"/>
              <a:t>i</a:t>
            </a:r>
            <a:r>
              <a:rPr lang="en-US" sz="2400" dirty="0"/>
              <a:t> := 0 ; r := true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&lt;n </a:t>
            </a:r>
            <a:r>
              <a:rPr lang="en-US" sz="2400" dirty="0">
                <a:solidFill>
                  <a:srgbClr val="C00000"/>
                </a:solidFill>
              </a:rPr>
              <a:t>    </a:t>
            </a:r>
            <a:r>
              <a:rPr lang="en-US" sz="2400" dirty="0"/>
              <a:t>      </a:t>
            </a:r>
            <a:r>
              <a:rPr lang="en-US" sz="2400" b="1" dirty="0"/>
              <a:t>do</a:t>
            </a:r>
            <a:r>
              <a:rPr lang="en-US" sz="2400" dirty="0"/>
              <a:t>  { </a:t>
            </a:r>
          </a:p>
          <a:p>
            <a:r>
              <a:rPr lang="en-US" sz="2400" dirty="0"/>
              <a:t>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</a:t>
            </a:r>
            <a:r>
              <a:rPr lang="en-US" sz="2400" dirty="0"/>
              <a:t>++ </a:t>
            </a:r>
          </a:p>
          <a:p>
            <a:r>
              <a:rPr lang="en-US" sz="2400" dirty="0"/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{*  r  = (</a:t>
            </a:r>
            <a:r>
              <a:rPr lang="en-US" sz="2400" dirty="0">
                <a:sym typeface="Symbol"/>
              </a:rPr>
              <a:t>k : 0k&lt;n : a[k]=0) </a:t>
            </a:r>
            <a:r>
              <a:rPr lang="en-US" sz="2400" dirty="0">
                <a:sym typeface="Symbol" pitchFamily="16" charset="2"/>
              </a:rPr>
              <a:t>*}</a:t>
            </a:r>
            <a:r>
              <a:rPr lang="en-US" sz="2400" dirty="0"/>
              <a:t> </a:t>
            </a:r>
          </a:p>
          <a:p>
            <a:endParaRPr lang="nl-NL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927272" y="2743200"/>
            <a:ext cx="64472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nl-NL" sz="2400" b="1" dirty="0">
                <a:solidFill>
                  <a:srgbClr val="C00000"/>
                </a:solidFill>
              </a:rPr>
              <a:t>/\  </a:t>
            </a:r>
            <a:r>
              <a:rPr lang="nl-NL" sz="2400" b="1" dirty="0">
                <a:solidFill>
                  <a:srgbClr val="C00000"/>
                </a:solidFill>
                <a:sym typeface="Symbol"/>
              </a:rPr>
              <a:t>r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12BF7F-5D59-8242-9CC9-69F3CD2DE71B}"/>
              </a:ext>
            </a:extLst>
          </p:cNvPr>
          <p:cNvSpPr/>
          <p:nvPr/>
        </p:nvSpPr>
        <p:spPr>
          <a:xfrm>
            <a:off x="1981199" y="2362200"/>
            <a:ext cx="4724401" cy="2057399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1D010B-D27E-8C40-AC25-C27F44A98EF4}"/>
              </a:ext>
            </a:extLst>
          </p:cNvPr>
          <p:cNvSpPr/>
          <p:nvPr/>
        </p:nvSpPr>
        <p:spPr>
          <a:xfrm>
            <a:off x="1981198" y="1676400"/>
            <a:ext cx="4724401" cy="533400"/>
          </a:xfrm>
          <a:prstGeom prst="roundRect">
            <a:avLst>
              <a:gd name="adj" fmla="val 26980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F19ACF-1A26-6C4E-A9A4-D22801900058}"/>
              </a:ext>
            </a:extLst>
          </p:cNvPr>
          <p:cNvSpPr/>
          <p:nvPr/>
        </p:nvSpPr>
        <p:spPr>
          <a:xfrm>
            <a:off x="1981197" y="4571999"/>
            <a:ext cx="4724401" cy="533400"/>
          </a:xfrm>
          <a:prstGeom prst="roundRect">
            <a:avLst>
              <a:gd name="adj" fmla="val 24889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F04303-2312-8749-BF92-44306799DF85}"/>
              </a:ext>
            </a:extLst>
          </p:cNvPr>
          <p:cNvSpPr txBox="1"/>
          <p:nvPr/>
        </p:nvSpPr>
        <p:spPr>
          <a:xfrm>
            <a:off x="533400" y="5381387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have proven the basic form of this program (without the break with /\ r) before. Now prove that with the break the program is still correct.</a:t>
            </a:r>
          </a:p>
        </p:txBody>
      </p:sp>
    </p:spTree>
    <p:extLst>
      <p:ext uri="{BB962C8B-B14F-4D97-AF65-F5344CB8AC3E}">
        <p14:creationId xmlns:p14="http://schemas.microsoft.com/office/powerpoint/2010/main" val="11004673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Dealing with more constructs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LN Section 6.10 -- 6.12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89BEA-1C58-40DB-8729-2A2D40E07DD2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539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Simultant</a:t>
            </a:r>
            <a:r>
              <a:rPr lang="en-US" dirty="0"/>
              <a:t>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14600"/>
            <a:ext cx="8686800" cy="3886200"/>
          </a:xfrm>
        </p:spPr>
        <p:txBody>
          <a:bodyPr/>
          <a:lstStyle/>
          <a:p>
            <a:r>
              <a:rPr lang="en-US" dirty="0" err="1">
                <a:sym typeface="Wingdings"/>
              </a:rPr>
              <a:t>Simultant</a:t>
            </a:r>
            <a:r>
              <a:rPr lang="en-US" dirty="0">
                <a:sym typeface="Wingdings"/>
              </a:rPr>
              <a:t> assignment </a:t>
            </a:r>
            <a:r>
              <a:rPr lang="en-US" i="1" dirty="0" err="1">
                <a:sym typeface="Wingdings"/>
              </a:rPr>
              <a:t>x,y</a:t>
            </a:r>
            <a:r>
              <a:rPr lang="en-US" dirty="0">
                <a:sym typeface="Wingdings"/>
              </a:rPr>
              <a:t> := 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,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 evaluates 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and 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 in the current state to values </a:t>
            </a:r>
            <a:r>
              <a:rPr lang="en-US" i="1" dirty="0">
                <a:sym typeface="Wingdings"/>
              </a:rPr>
              <a:t>v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and </a:t>
            </a:r>
            <a:r>
              <a:rPr lang="en-US" i="1" dirty="0">
                <a:sym typeface="Wingdings"/>
              </a:rPr>
              <a:t>v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, then assign these to </a:t>
            </a:r>
            <a:r>
              <a:rPr lang="en-US" i="1" dirty="0">
                <a:sym typeface="Wingdings"/>
              </a:rPr>
              <a:t>x</a:t>
            </a:r>
            <a:r>
              <a:rPr lang="en-US" dirty="0">
                <a:sym typeface="Wingdings"/>
              </a:rPr>
              <a:t> and </a:t>
            </a:r>
            <a:r>
              <a:rPr lang="en-US" i="1" dirty="0">
                <a:sym typeface="Wingdings"/>
              </a:rPr>
              <a:t>y</a:t>
            </a:r>
            <a:r>
              <a:rPr lang="en-US" dirty="0">
                <a:sym typeface="Wingdings"/>
              </a:rPr>
              <a:t> respectively.</a:t>
            </a:r>
          </a:p>
          <a:p>
            <a:endParaRPr lang="en-US" dirty="0">
              <a:sym typeface="Wingdings"/>
            </a:endParaRPr>
          </a:p>
          <a:p>
            <a:pPr marL="0" indent="0">
              <a:buNone/>
            </a:pPr>
            <a:endParaRPr lang="en-US" dirty="0">
              <a:sym typeface="Wingdings"/>
            </a:endParaRPr>
          </a:p>
          <a:p>
            <a:pPr algn="just"/>
            <a:r>
              <a:rPr lang="en-US" dirty="0" err="1">
                <a:sym typeface="Wingdings"/>
              </a:rPr>
              <a:t>Simultant</a:t>
            </a:r>
            <a:r>
              <a:rPr lang="en-US" dirty="0">
                <a:sym typeface="Wingdings"/>
              </a:rPr>
              <a:t> substitution </a:t>
            </a:r>
            <a:r>
              <a:rPr lang="en-US" dirty="0"/>
              <a:t>Q[e</a:t>
            </a:r>
            <a:r>
              <a:rPr lang="en-US" baseline="-25000" dirty="0"/>
              <a:t>1</a:t>
            </a:r>
            <a:r>
              <a:rPr lang="en-US" dirty="0"/>
              <a:t>,e</a:t>
            </a:r>
            <a:r>
              <a:rPr lang="en-US" baseline="-25000" dirty="0"/>
              <a:t>2</a:t>
            </a:r>
            <a:r>
              <a:rPr lang="en-US" dirty="0"/>
              <a:t>/</a:t>
            </a:r>
            <a:r>
              <a:rPr lang="en-US" dirty="0" err="1"/>
              <a:t>x,y</a:t>
            </a:r>
            <a:r>
              <a:rPr lang="en-US" dirty="0"/>
              <a:t>] replaces any free occurrence of x in Q with e</a:t>
            </a:r>
            <a:r>
              <a:rPr lang="en-US" baseline="-25000" dirty="0"/>
              <a:t>1</a:t>
            </a:r>
            <a:r>
              <a:rPr lang="en-US" dirty="0"/>
              <a:t>, and y with e</a:t>
            </a:r>
            <a:r>
              <a:rPr lang="en-US" baseline="-25000" dirty="0"/>
              <a:t>2</a:t>
            </a:r>
            <a:r>
              <a:rPr lang="en-US" dirty="0"/>
              <a:t>. In particular, we should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do the substitution of y </a:t>
            </a:r>
            <a:r>
              <a:rPr lang="en-US" b="1" dirty="0"/>
              <a:t>after</a:t>
            </a:r>
            <a:r>
              <a:rPr lang="en-US" dirty="0"/>
              <a:t> the substitution of x, nor the other way around.</a:t>
            </a:r>
          </a:p>
          <a:p>
            <a:pPr marL="0" indent="0">
              <a:buNone/>
            </a:pPr>
            <a:endParaRPr lang="en-US" dirty="0"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53E31-3B05-8049-B246-D1562B3D2C40}"/>
              </a:ext>
            </a:extLst>
          </p:cNvPr>
          <p:cNvSpPr/>
          <p:nvPr/>
        </p:nvSpPr>
        <p:spPr>
          <a:xfrm>
            <a:off x="2743200" y="1447800"/>
            <a:ext cx="32004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x,y</a:t>
            </a:r>
            <a:r>
              <a:rPr lang="en-US" sz="2400" dirty="0">
                <a:solidFill>
                  <a:schemeClr val="tx1"/>
                </a:solidFill>
              </a:rPr>
              <a:t> := e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,e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9CE13A-E1AD-4B4F-BD34-40EE5EF84AAF}"/>
              </a:ext>
            </a:extLst>
          </p:cNvPr>
          <p:cNvSpPr/>
          <p:nvPr/>
        </p:nvSpPr>
        <p:spPr>
          <a:xfrm>
            <a:off x="1866900" y="3843454"/>
            <a:ext cx="54102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>
                <a:solidFill>
                  <a:schemeClr val="tx1"/>
                </a:solidFill>
              </a:rPr>
              <a:t> (</a:t>
            </a:r>
            <a:r>
              <a:rPr lang="en-US" sz="2400" dirty="0" err="1">
                <a:solidFill>
                  <a:schemeClr val="tx1"/>
                </a:solidFill>
              </a:rPr>
              <a:t>x,y</a:t>
            </a:r>
            <a:r>
              <a:rPr lang="en-US" sz="2400" dirty="0">
                <a:solidFill>
                  <a:schemeClr val="tx1"/>
                </a:solidFill>
              </a:rPr>
              <a:t> := e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,e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) Q  =  Q[e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,e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x,y</a:t>
            </a:r>
            <a:r>
              <a:rPr lang="en-US" sz="2400" dirty="0">
                <a:solidFill>
                  <a:schemeClr val="tx1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1987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B31E94-ECE3-D94E-BA02-FBBA38B2846D}"/>
              </a:ext>
            </a:extLst>
          </p:cNvPr>
          <p:cNvSpPr/>
          <p:nvPr/>
        </p:nvSpPr>
        <p:spPr>
          <a:xfrm>
            <a:off x="5090532" y="4904678"/>
            <a:ext cx="2300868" cy="609600"/>
          </a:xfrm>
          <a:prstGeom prst="roundRect">
            <a:avLst>
              <a:gd name="adj" fmla="val 14436"/>
            </a:avLst>
          </a:prstGeom>
          <a:solidFill>
            <a:srgbClr val="FFC000">
              <a:alpha val="14000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B6CAC35-5021-AC48-9262-149A252F067E}"/>
              </a:ext>
            </a:extLst>
          </p:cNvPr>
          <p:cNvSpPr/>
          <p:nvPr/>
        </p:nvSpPr>
        <p:spPr>
          <a:xfrm>
            <a:off x="5090532" y="3625076"/>
            <a:ext cx="2300868" cy="609600"/>
          </a:xfrm>
          <a:prstGeom prst="roundRect">
            <a:avLst>
              <a:gd name="adj" fmla="val 14436"/>
            </a:avLst>
          </a:prstGeom>
          <a:solidFill>
            <a:srgbClr val="FFC000">
              <a:alpha val="14000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B91FB0-68C1-284F-B3DC-C67550D057B7}"/>
              </a:ext>
            </a:extLst>
          </p:cNvPr>
          <p:cNvSpPr/>
          <p:nvPr/>
        </p:nvSpPr>
        <p:spPr>
          <a:xfrm>
            <a:off x="5105400" y="2362200"/>
            <a:ext cx="2286000" cy="609600"/>
          </a:xfrm>
          <a:prstGeom prst="roundRect">
            <a:avLst>
              <a:gd name="adj" fmla="val 14436"/>
            </a:avLst>
          </a:prstGeom>
          <a:solidFill>
            <a:srgbClr val="FFC000">
              <a:alpha val="14000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3A4F67-D7AE-9345-944E-72242B3C79F4}"/>
              </a:ext>
            </a:extLst>
          </p:cNvPr>
          <p:cNvSpPr/>
          <p:nvPr/>
        </p:nvSpPr>
        <p:spPr>
          <a:xfrm>
            <a:off x="1111405" y="3657600"/>
            <a:ext cx="1905000" cy="6096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65C7D9-00F1-DB42-B808-8C61C7EFE371}"/>
              </a:ext>
            </a:extLst>
          </p:cNvPr>
          <p:cNvSpPr/>
          <p:nvPr/>
        </p:nvSpPr>
        <p:spPr>
          <a:xfrm>
            <a:off x="1143000" y="2362200"/>
            <a:ext cx="1905000" cy="6096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F2B5-FACE-2F4F-874A-30FC67B0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order of assignment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97C1-C117-394D-8F9D-1F733059B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order in which you assign variables matters (you already know this). E.g. these three have different behavior: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C00000"/>
                </a:solidFill>
              </a:rPr>
              <a:t>x:=x*y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7030A0"/>
                </a:solidFill>
              </a:rPr>
              <a:t>y:=</a:t>
            </a:r>
            <a:r>
              <a:rPr lang="en-US" sz="2000" dirty="0" err="1">
                <a:solidFill>
                  <a:srgbClr val="7030A0"/>
                </a:solidFill>
              </a:rPr>
              <a:t>x+y</a:t>
            </a:r>
            <a:r>
              <a:rPr lang="en-US" sz="2000" dirty="0"/>
              <a:t>)  (x=2 /\ y=1)     =       </a:t>
            </a:r>
            <a:r>
              <a:rPr lang="en-US" sz="2000" dirty="0" err="1"/>
              <a:t>xy</a:t>
            </a:r>
            <a:r>
              <a:rPr lang="en-US" sz="2000" dirty="0"/>
              <a:t>=2  /\  </a:t>
            </a:r>
            <a:r>
              <a:rPr lang="en-US" sz="2000" dirty="0" err="1"/>
              <a:t>xy+y</a:t>
            </a:r>
            <a:r>
              <a:rPr lang="en-US" sz="2000" dirty="0"/>
              <a:t>=1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  equivalent to:  x=-2 /\  y=-1 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7030A0"/>
                </a:solidFill>
              </a:rPr>
              <a:t>y:=</a:t>
            </a:r>
            <a:r>
              <a:rPr lang="en-US" sz="2000" dirty="0" err="1">
                <a:solidFill>
                  <a:srgbClr val="7030A0"/>
                </a:solidFill>
              </a:rPr>
              <a:t>x+y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C00000"/>
                </a:solidFill>
              </a:rPr>
              <a:t>x:=x*y</a:t>
            </a:r>
            <a:r>
              <a:rPr lang="en-US" sz="2000" dirty="0"/>
              <a:t>)   (x=2 /\ y=1)    =     x(</a:t>
            </a:r>
            <a:r>
              <a:rPr lang="en-US" sz="2000" dirty="0" err="1"/>
              <a:t>x+y</a:t>
            </a:r>
            <a:r>
              <a:rPr lang="en-US" sz="2000" dirty="0"/>
              <a:t>)=2 /\  </a:t>
            </a:r>
            <a:r>
              <a:rPr lang="en-US" sz="2000" dirty="0" err="1"/>
              <a:t>x+y</a:t>
            </a:r>
            <a:r>
              <a:rPr lang="en-US" sz="2000" dirty="0"/>
              <a:t>=1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 equivalent to: x=2 /\y=-1</a:t>
            </a:r>
          </a:p>
          <a:p>
            <a:pPr marL="0" indent="0">
              <a:buNone/>
            </a:pPr>
            <a:br>
              <a:rPr lang="en-US" sz="2000" b="1" dirty="0">
                <a:solidFill>
                  <a:srgbClr val="0070C0"/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(</a:t>
            </a:r>
            <a:r>
              <a:rPr lang="en-US" sz="2000" dirty="0" err="1"/>
              <a:t>x,y</a:t>
            </a:r>
            <a:r>
              <a:rPr lang="en-US" sz="2000" dirty="0"/>
              <a:t> := x*y, </a:t>
            </a:r>
            <a:r>
              <a:rPr lang="en-US" sz="2000" dirty="0" err="1"/>
              <a:t>x+y</a:t>
            </a:r>
            <a:r>
              <a:rPr lang="en-US" sz="2000" dirty="0"/>
              <a:t>)   (x=2 /\ y=1)    =        </a:t>
            </a:r>
            <a:r>
              <a:rPr lang="en-US" sz="2000" dirty="0" err="1"/>
              <a:t>xy</a:t>
            </a:r>
            <a:r>
              <a:rPr lang="en-US" sz="2000" dirty="0"/>
              <a:t>=2 /\ </a:t>
            </a:r>
            <a:r>
              <a:rPr lang="en-US" sz="2000" dirty="0" err="1"/>
              <a:t>x+y</a:t>
            </a:r>
            <a:r>
              <a:rPr lang="en-US" sz="2000" dirty="0"/>
              <a:t>=1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 which </a:t>
            </a:r>
            <a:r>
              <a:rPr lang="en-US" sz="2000" dirty="0">
                <a:sym typeface="Wingdings" pitchFamily="2" charset="2"/>
              </a:rPr>
              <a:t>has no integer solution.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43944-88B1-FA4F-9587-C7E80A298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86DB4E-FF7D-1D4E-AF91-A463B0026A26}"/>
              </a:ext>
            </a:extLst>
          </p:cNvPr>
          <p:cNvSpPr/>
          <p:nvPr/>
        </p:nvSpPr>
        <p:spPr>
          <a:xfrm>
            <a:off x="1070517" y="4904678"/>
            <a:ext cx="1905000" cy="6096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603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into an array</a:t>
            </a:r>
            <a:endParaRPr lang="nl-NL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3063875"/>
          </a:xfrm>
        </p:spPr>
        <p:txBody>
          <a:bodyPr/>
          <a:lstStyle/>
          <a:p>
            <a:r>
              <a:rPr lang="en-US" dirty="0"/>
              <a:t>Recall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Unfortunately this rule does not extend to  a[e</a:t>
            </a:r>
            <a:r>
              <a:rPr lang="en-US" baseline="-25000" dirty="0"/>
              <a:t>1</a:t>
            </a:r>
            <a:r>
              <a:rPr lang="en-US" dirty="0"/>
              <a:t>]  :=  e</a:t>
            </a:r>
            <a:r>
              <a:rPr lang="en-US" baseline="-25000" dirty="0"/>
              <a:t>2</a:t>
            </a:r>
            <a:r>
              <a:rPr lang="en-US" dirty="0"/>
              <a:t>. Consider these examples, where the pre-condition is obtained by literally applying the above calculation rule:</a:t>
            </a:r>
          </a:p>
          <a:p>
            <a:pPr>
              <a:buFont typeface="Wingdings" charset="2"/>
              <a:buNone/>
            </a:pPr>
            <a:r>
              <a:rPr lang="en-US" dirty="0"/>
              <a:t>		 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C315C8-5F04-44B9-8415-F0F08F131F3A}" type="slidenum">
              <a:rPr lang="en-US" altLang="en-US" smtClean="0"/>
              <a:pPr>
                <a:defRPr/>
              </a:pPr>
              <a:t>58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62034" y="4227777"/>
            <a:ext cx="2220099" cy="461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y = 10  *}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855984" y="4215077"/>
            <a:ext cx="118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a[</a:t>
            </a:r>
            <a:r>
              <a:rPr lang="en-US" sz="2400" dirty="0" err="1"/>
              <a:t>i</a:t>
            </a:r>
            <a:r>
              <a:rPr lang="en-US" sz="2400" dirty="0"/>
              <a:t>] := y</a:t>
            </a:r>
            <a:endParaRPr lang="nl-NL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365697" y="4236760"/>
            <a:ext cx="2260600" cy="461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a[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] = 10  *}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2034" y="4983427"/>
            <a:ext cx="2260600" cy="461962"/>
          </a:xfrm>
          <a:prstGeom prst="rect">
            <a:avLst/>
          </a:prstGeom>
          <a:solidFill>
            <a:srgbClr val="990033"/>
          </a:solidFill>
          <a:ln>
            <a:solidFill>
              <a:srgbClr val="99003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/>
              <a:t>{*  a[0] = 10  *} </a:t>
            </a:r>
            <a:endParaRPr lang="nl-NL" sz="240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78209" y="4964377"/>
            <a:ext cx="1182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a[i] := y</a:t>
            </a:r>
            <a:endParaRPr lang="nl-NL" sz="2400"/>
          </a:p>
        </p:txBody>
      </p:sp>
      <p:sp>
        <p:nvSpPr>
          <p:cNvPr id="10" name="TextBox 9"/>
          <p:cNvSpPr txBox="1"/>
          <p:nvPr/>
        </p:nvSpPr>
        <p:spPr>
          <a:xfrm>
            <a:off x="6365697" y="4958027"/>
            <a:ext cx="2260600" cy="461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{*  a[0] = 10  *}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4294697"/>
            <a:ext cx="16097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00B0F0"/>
                </a:solidFill>
              </a:rPr>
              <a:t>(valid pre-</a:t>
            </a:r>
            <a:r>
              <a:rPr lang="en-US" sz="1600" dirty="0" err="1">
                <a:solidFill>
                  <a:srgbClr val="00B0F0"/>
                </a:solidFill>
              </a:rPr>
              <a:t>cond</a:t>
            </a:r>
            <a:r>
              <a:rPr lang="en-US" sz="1600" dirty="0">
                <a:solidFill>
                  <a:srgbClr val="00B0F0"/>
                </a:solidFill>
              </a:rPr>
              <a:t>)</a:t>
            </a:r>
            <a:endParaRPr lang="nl-NL" sz="16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632" y="5035649"/>
            <a:ext cx="21242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C00000"/>
                </a:solidFill>
              </a:rPr>
              <a:t>(not a valid pre-</a:t>
            </a:r>
            <a:r>
              <a:rPr lang="en-US" sz="1600" dirty="0" err="1">
                <a:solidFill>
                  <a:srgbClr val="C00000"/>
                </a:solidFill>
              </a:rPr>
              <a:t>cond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  <a:endParaRPr lang="nl-NL" sz="1600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2151" y="5751636"/>
            <a:ext cx="3440365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{*  (</a:t>
            </a:r>
            <a:r>
              <a:rPr lang="en-US" sz="2000" dirty="0" err="1">
                <a:solidFill>
                  <a:schemeClr val="tx1"/>
                </a:solidFill>
              </a:rPr>
              <a:t>i</a:t>
            </a:r>
            <a:r>
              <a:rPr lang="en-US" sz="2000" dirty="0">
                <a:solidFill>
                  <a:schemeClr val="tx1"/>
                </a:solidFill>
              </a:rPr>
              <a:t>=0  </a:t>
            </a:r>
            <a:r>
              <a:rPr lang="en-US" sz="2000" dirty="0">
                <a:solidFill>
                  <a:schemeClr val="tx1"/>
                </a:solidFill>
                <a:sym typeface="Symbol"/>
              </a:rPr>
              <a:t> y  |  </a:t>
            </a:r>
            <a:r>
              <a:rPr lang="en-US" sz="2000" dirty="0">
                <a:solidFill>
                  <a:schemeClr val="tx1"/>
                </a:solidFill>
              </a:rPr>
              <a:t>a[0])  = 10  *} </a:t>
            </a:r>
            <a:endParaRPr lang="nl-NL" sz="2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cxnSpLocks/>
            <a:stCxn id="13" idx="0"/>
            <a:endCxn id="8" idx="2"/>
          </p:cNvCxnSpPr>
          <p:nvPr/>
        </p:nvCxnSpPr>
        <p:spPr>
          <a:xfrm flipV="1">
            <a:off x="3592334" y="5445389"/>
            <a:ext cx="0" cy="3062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1554BAD-A98D-804E-8AA8-1ADA7D76B782}"/>
              </a:ext>
            </a:extLst>
          </p:cNvPr>
          <p:cNvSpPr/>
          <p:nvPr/>
        </p:nvSpPr>
        <p:spPr>
          <a:xfrm>
            <a:off x="2424771" y="1742726"/>
            <a:ext cx="4724400" cy="693737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dirty="0">
                <a:solidFill>
                  <a:schemeClr val="tx1"/>
                </a:solidFill>
              </a:rPr>
              <a:t>(x:=e)  Q     =     Q[e/x]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8175C-9890-434C-8DDD-088AF3D1FB28}"/>
              </a:ext>
            </a:extLst>
          </p:cNvPr>
          <p:cNvSpPr txBox="1"/>
          <p:nvPr/>
        </p:nvSpPr>
        <p:spPr>
          <a:xfrm>
            <a:off x="1265743" y="5763057"/>
            <a:ext cx="5725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C00000"/>
                </a:solidFill>
              </a:rPr>
              <a:t>Fix :</a:t>
            </a:r>
            <a:endParaRPr lang="nl-NL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formalism</a:t>
            </a:r>
            <a:endParaRPr lang="nl-NL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 be an array. Introduce this notation to mean the same array as a, except its </a:t>
            </a:r>
            <a:r>
              <a:rPr lang="en-US" dirty="0" err="1"/>
              <a:t>i-th</a:t>
            </a:r>
            <a:r>
              <a:rPr lang="en-US" dirty="0"/>
              <a:t>  element, which is e: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	</a:t>
            </a:r>
          </a:p>
          <a:p>
            <a:r>
              <a:rPr lang="en-US" dirty="0"/>
              <a:t>Formally defined via this equation: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Treat array assignments like a[</a:t>
            </a:r>
            <a:r>
              <a:rPr lang="en-US" dirty="0" err="1"/>
              <a:t>i</a:t>
            </a:r>
            <a:r>
              <a:rPr lang="en-US" dirty="0"/>
              <a:t>] := e as the assignment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	</a:t>
            </a:r>
            <a:r>
              <a:rPr lang="en-US" dirty="0">
                <a:sym typeface="Wingdings" charset="2"/>
              </a:rPr>
              <a:t>a  :=  a(</a:t>
            </a:r>
            <a:r>
              <a:rPr lang="en-US" dirty="0" err="1">
                <a:sym typeface="Wingdings" charset="2"/>
              </a:rPr>
              <a:t>i</a:t>
            </a:r>
            <a:r>
              <a:rPr lang="en-US" dirty="0">
                <a:sym typeface="Wingdings" charset="2"/>
              </a:rPr>
              <a:t> </a:t>
            </a:r>
            <a:r>
              <a:rPr lang="en-US" b="1" dirty="0" err="1">
                <a:sym typeface="Wingdings" charset="2"/>
              </a:rPr>
              <a:t>repby</a:t>
            </a:r>
            <a:r>
              <a:rPr lang="en-US" dirty="0">
                <a:sym typeface="Wingdings" charset="2"/>
              </a:rPr>
              <a:t> e)</a:t>
            </a:r>
            <a:br>
              <a:rPr lang="en-US" dirty="0">
                <a:sym typeface="Wingdings" charset="2"/>
              </a:rPr>
            </a:br>
            <a:r>
              <a:rPr lang="en-US" dirty="0">
                <a:sym typeface="Wingdings" charset="2"/>
              </a:rPr>
              <a:t>This has the same effect, but now we can safely use the old </a:t>
            </a:r>
            <a:r>
              <a:rPr lang="en-US" dirty="0" err="1">
                <a:sym typeface="Wingdings" charset="2"/>
              </a:rPr>
              <a:t>wp</a:t>
            </a:r>
            <a:r>
              <a:rPr lang="en-US" dirty="0">
                <a:sym typeface="Wingdings" charset="2"/>
              </a:rPr>
              <a:t> rule for assignment.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3D191B-AEC6-4401-8D86-FCC00A6E6D8E}" type="slidenum">
              <a:rPr lang="en-US" altLang="en-US" smtClean="0"/>
              <a:pPr>
                <a:defRPr/>
              </a:pPr>
              <a:t>59</a:t>
            </a:fld>
            <a:endParaRPr lang="en-US" alt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B8B04C-4FC9-3449-B6F5-F829339310C4}"/>
              </a:ext>
            </a:extLst>
          </p:cNvPr>
          <p:cNvSpPr/>
          <p:nvPr/>
        </p:nvSpPr>
        <p:spPr>
          <a:xfrm>
            <a:off x="2514600" y="2133600"/>
            <a:ext cx="41148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 (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  </a:t>
            </a:r>
            <a:r>
              <a:rPr lang="en-US" sz="2800" b="1" dirty="0" err="1">
                <a:solidFill>
                  <a:schemeClr val="tx1"/>
                </a:solidFill>
              </a:rPr>
              <a:t>repby</a:t>
            </a:r>
            <a:r>
              <a:rPr lang="en-US" sz="2800" dirty="0">
                <a:solidFill>
                  <a:schemeClr val="tx1"/>
                </a:solidFill>
              </a:rPr>
              <a:t>  e)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0ACD35-F41E-7E48-9D37-520D6E897881}"/>
              </a:ext>
            </a:extLst>
          </p:cNvPr>
          <p:cNvSpPr/>
          <p:nvPr/>
        </p:nvSpPr>
        <p:spPr>
          <a:xfrm>
            <a:off x="1485900" y="3451303"/>
            <a:ext cx="6172200" cy="71739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a(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 err="1">
                <a:solidFill>
                  <a:schemeClr val="tx1"/>
                </a:solidFill>
              </a:rPr>
              <a:t>repby</a:t>
            </a:r>
            <a:r>
              <a:rPr lang="en-US" sz="2400" dirty="0">
                <a:solidFill>
                  <a:schemeClr val="tx1"/>
                </a:solidFill>
              </a:rPr>
              <a:t>  e)[k]     </a:t>
            </a:r>
            <a:r>
              <a:rPr lang="en-US" sz="2400" b="1" dirty="0">
                <a:solidFill>
                  <a:srgbClr val="0070C0"/>
                </a:solidFill>
              </a:rPr>
              <a:t>=</a:t>
            </a:r>
            <a:r>
              <a:rPr lang="en-US" sz="2400" dirty="0">
                <a:solidFill>
                  <a:schemeClr val="tx1"/>
                </a:solidFill>
              </a:rPr>
              <a:t>      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=k  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</a:t>
            </a:r>
            <a:r>
              <a:rPr lang="en-US" sz="2400" dirty="0">
                <a:solidFill>
                  <a:schemeClr val="tx1"/>
                </a:solidFill>
              </a:rPr>
              <a:t>  e  |  a[k]</a:t>
            </a:r>
          </a:p>
        </p:txBody>
      </p:sp>
    </p:spTree>
    <p:extLst>
      <p:ext uri="{BB962C8B-B14F-4D97-AF65-F5344CB8AC3E}">
        <p14:creationId xmlns:p14="http://schemas.microsoft.com/office/powerpoint/2010/main" val="21103389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06244A3-699F-144E-9602-2586672766F6}"/>
              </a:ext>
            </a:extLst>
          </p:cNvPr>
          <p:cNvSpPr/>
          <p:nvPr/>
        </p:nvSpPr>
        <p:spPr>
          <a:xfrm>
            <a:off x="3200207" y="1189037"/>
            <a:ext cx="2439987" cy="548268"/>
          </a:xfrm>
          <a:prstGeom prst="roundRect">
            <a:avLst>
              <a:gd name="adj" fmla="val 32741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NL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1654175"/>
          </a:xfrm>
        </p:spPr>
        <p:txBody>
          <a:bodyPr/>
          <a:lstStyle/>
          <a:p>
            <a:r>
              <a:rPr lang="nl-NL" dirty="0"/>
              <a:t>Prove:     {* </a:t>
            </a:r>
            <a:r>
              <a:rPr lang="nl-NL" dirty="0" err="1"/>
              <a:t>i</a:t>
            </a:r>
            <a:r>
              <a:rPr lang="nl-NL" dirty="0" err="1">
                <a:sym typeface="Symbol" pitchFamily="16" charset="2"/>
              </a:rPr>
              <a:t>k</a:t>
            </a:r>
            <a:r>
              <a:rPr lang="nl-NL" dirty="0"/>
              <a:t> *}     a[k]:= 0 ; a[i]:=1     {* a[k] = 0 *}</a:t>
            </a:r>
            <a:endParaRPr lang="en-US" dirty="0"/>
          </a:p>
          <a:p>
            <a:r>
              <a:rPr lang="en-US" dirty="0"/>
              <a:t>Let’s first calculate the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we need to prove that </a:t>
            </a:r>
            <a:r>
              <a:rPr lang="nl-NL" dirty="0" err="1"/>
              <a:t>i</a:t>
            </a:r>
            <a:r>
              <a:rPr lang="nl-NL" dirty="0" err="1">
                <a:sym typeface="Symbol" pitchFamily="16" charset="2"/>
              </a:rPr>
              <a:t>k</a:t>
            </a:r>
            <a:r>
              <a:rPr lang="nl-NL" dirty="0">
                <a:sym typeface="Symbol" pitchFamily="16" charset="2"/>
              </a:rPr>
              <a:t> </a:t>
            </a:r>
            <a:r>
              <a:rPr lang="nl-NL" dirty="0" err="1">
                <a:sym typeface="Symbol" pitchFamily="16" charset="2"/>
              </a:rPr>
              <a:t>implies</a:t>
            </a:r>
            <a:r>
              <a:rPr lang="nl-NL" dirty="0">
                <a:sym typeface="Symbol" pitchFamily="16" charset="2"/>
              </a:rPr>
              <a:t> </a:t>
            </a:r>
            <a:r>
              <a:rPr lang="nl-NL" dirty="0" err="1">
                <a:sym typeface="Symbol" pitchFamily="16" charset="2"/>
              </a:rPr>
              <a:t>the</a:t>
            </a:r>
            <a:r>
              <a:rPr lang="nl-NL" dirty="0">
                <a:sym typeface="Symbol" pitchFamily="16" charset="2"/>
              </a:rPr>
              <a:t> </a:t>
            </a:r>
            <a:r>
              <a:rPr lang="nl-NL" dirty="0" err="1">
                <a:sym typeface="Symbol" pitchFamily="16" charset="2"/>
              </a:rPr>
              <a:t>wp</a:t>
            </a:r>
            <a:r>
              <a:rPr lang="nl-NL" dirty="0">
                <a:sym typeface="Symbol" pitchFamily="16" charset="2"/>
              </a:rPr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5867400"/>
            <a:ext cx="2133600" cy="457200"/>
          </a:xfrm>
        </p:spPr>
        <p:txBody>
          <a:bodyPr/>
          <a:lstStyle/>
          <a:p>
            <a:pPr>
              <a:defRPr/>
            </a:pPr>
            <a:fld id="{00C12697-8226-47FE-98A3-A38558D932CE}" type="slidenum">
              <a:rPr lang="en-US" altLang="en-US" smtClean="0"/>
              <a:pPr>
                <a:defRPr/>
              </a:pPr>
              <a:t>60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74537" y="5258283"/>
            <a:ext cx="332494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nl-NL" sz="2000" dirty="0">
                <a:solidFill>
                  <a:srgbClr val="0070C0"/>
                </a:solidFill>
              </a:rPr>
              <a:t>{*  a[k] = 0 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68961" y="4734468"/>
            <a:ext cx="34628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/>
              <a:t>a[i]:=1       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//  a := a(i </a:t>
            </a:r>
            <a:r>
              <a:rPr lang="nl-NL" sz="2000" dirty="0" err="1">
                <a:solidFill>
                  <a:schemeClr val="bg1">
                    <a:lumMod val="65000"/>
                  </a:schemeClr>
                </a:solidFill>
              </a:rPr>
              <a:t>repby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 1)</a:t>
            </a:r>
            <a:endParaRPr lang="nl-NL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99937" y="4210653"/>
            <a:ext cx="329954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nl-NL" sz="2000" dirty="0">
                <a:solidFill>
                  <a:srgbClr val="0070C0"/>
                </a:solidFill>
              </a:rPr>
              <a:t>{*  a(i </a:t>
            </a:r>
            <a:r>
              <a:rPr lang="nl-NL" sz="2000" u="sng" dirty="0">
                <a:solidFill>
                  <a:srgbClr val="0070C0"/>
                </a:solidFill>
              </a:rPr>
              <a:t>repby</a:t>
            </a:r>
            <a:r>
              <a:rPr lang="nl-NL" sz="2000" dirty="0">
                <a:solidFill>
                  <a:srgbClr val="0070C0"/>
                </a:solidFill>
              </a:rPr>
              <a:t> 1)[k] = 0 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99937" y="3741424"/>
            <a:ext cx="328327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>
                <a:solidFill>
                  <a:srgbClr val="0070C0"/>
                </a:solidFill>
              </a:rPr>
              <a:t>{*  (i=k  </a:t>
            </a:r>
            <a:r>
              <a:rPr lang="nl-NL" sz="2000" dirty="0">
                <a:solidFill>
                  <a:srgbClr val="0070C0"/>
                </a:solidFill>
                <a:sym typeface="Symbol"/>
              </a:rPr>
              <a:t> 1 | a</a:t>
            </a:r>
            <a:r>
              <a:rPr lang="nl-NL" sz="2000" dirty="0">
                <a:solidFill>
                  <a:srgbClr val="0070C0"/>
                </a:solidFill>
              </a:rPr>
              <a:t>[k])  =   0  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68961" y="3206802"/>
            <a:ext cx="36038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/>
              <a:t>a[k]:=0      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//  a :=  a(k </a:t>
            </a:r>
            <a:r>
              <a:rPr lang="nl-NL" sz="2000" dirty="0" err="1">
                <a:solidFill>
                  <a:schemeClr val="bg1">
                    <a:lumMod val="65000"/>
                  </a:schemeClr>
                </a:solidFill>
              </a:rPr>
              <a:t>repby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 0)</a:t>
            </a:r>
            <a:endParaRPr lang="nl-NL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26432" y="2760863"/>
            <a:ext cx="5241875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nl-NL" sz="2000" dirty="0">
                <a:solidFill>
                  <a:srgbClr val="0070C0"/>
                </a:solidFill>
              </a:rPr>
              <a:t>{*  (1=k </a:t>
            </a:r>
            <a:r>
              <a:rPr lang="nl-NL" sz="2000" dirty="0">
                <a:solidFill>
                  <a:srgbClr val="0070C0"/>
                </a:solidFill>
                <a:sym typeface="Symbol"/>
              </a:rPr>
              <a:t> 1 | </a:t>
            </a:r>
            <a:r>
              <a:rPr lang="nl-NL" sz="2000" dirty="0">
                <a:solidFill>
                  <a:srgbClr val="0070C0"/>
                </a:solidFill>
              </a:rPr>
              <a:t>a(k </a:t>
            </a:r>
            <a:r>
              <a:rPr lang="nl-NL" sz="2000" u="sng" dirty="0">
                <a:solidFill>
                  <a:srgbClr val="0070C0"/>
                </a:solidFill>
              </a:rPr>
              <a:t>repby</a:t>
            </a:r>
            <a:r>
              <a:rPr lang="nl-NL" sz="2000" dirty="0">
                <a:solidFill>
                  <a:srgbClr val="0070C0"/>
                </a:solidFill>
              </a:rPr>
              <a:t> 0)[k]) = 0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5600" y="2282163"/>
            <a:ext cx="3287608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nl-NL" sz="2000" dirty="0">
                <a:solidFill>
                  <a:srgbClr val="0070C0"/>
                </a:solidFill>
              </a:rPr>
              <a:t>{*  i=k  </a:t>
            </a:r>
            <a:r>
              <a:rPr lang="nl-NL" sz="2000" dirty="0">
                <a:solidFill>
                  <a:srgbClr val="0070C0"/>
                </a:solidFill>
                <a:sym typeface="Symbol"/>
              </a:rPr>
              <a:t> 1 | 0</a:t>
            </a:r>
            <a:r>
              <a:rPr lang="nl-NL" sz="2000" dirty="0">
                <a:solidFill>
                  <a:srgbClr val="0070C0"/>
                </a:solidFill>
              </a:rPr>
              <a:t>     =   0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02811" y="4253039"/>
            <a:ext cx="619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wp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78650" y="3822826"/>
            <a:ext cx="12715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def.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repby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4858" y="2809110"/>
            <a:ext cx="619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wp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1585" y="2302252"/>
            <a:ext cx="12715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def.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repby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8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10" grpId="0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DB0D-40E5-DB43-98F6-FD86AB84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a program spec to a statement spec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5567-9636-8949-9783-8776DDFA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program below with the given specification.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1800" dirty="0"/>
              <a:t>Note: “return” in the post-condition is a special variable that refers to the P’s return value.</a:t>
            </a:r>
          </a:p>
          <a:p>
            <a:r>
              <a:rPr lang="en-US" dirty="0"/>
              <a:t>Since we define our Hoare logic at the statement level, we first need to ”reduce” such a program-level specification to a specification in terms of its body.</a:t>
            </a:r>
          </a:p>
          <a:p>
            <a:r>
              <a:rPr lang="en-US" dirty="0"/>
              <a:t>Such reduction raises several issues:</a:t>
            </a:r>
          </a:p>
          <a:p>
            <a:pPr lvl="1"/>
            <a:r>
              <a:rPr lang="en-US" dirty="0"/>
              <a:t>What is the logic of a ”return” statement ?</a:t>
            </a:r>
          </a:p>
          <a:p>
            <a:pPr lvl="1"/>
            <a:r>
              <a:rPr lang="en-US" dirty="0"/>
              <a:t>Should x in the </a:t>
            </a:r>
            <a:r>
              <a:rPr lang="en-US" dirty="0" err="1"/>
              <a:t>poscond</a:t>
            </a:r>
            <a:r>
              <a:rPr lang="en-US" dirty="0"/>
              <a:t> refer to its initial or final value?</a:t>
            </a:r>
          </a:p>
          <a:p>
            <a:pPr lvl="1"/>
            <a:r>
              <a:rPr lang="en-US" dirty="0"/>
              <a:t>How to refer to the “old” value of a variable?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AF349-B683-C24B-A104-2C0D71E2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7C8483-1F6C-FF4A-9668-E4B57424821C}"/>
              </a:ext>
            </a:extLst>
          </p:cNvPr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x &gt; 0 *}    </a:t>
            </a:r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x:int</a:t>
            </a:r>
            <a:r>
              <a:rPr lang="en-US" sz="2400" dirty="0">
                <a:solidFill>
                  <a:schemeClr val="tx1"/>
                </a:solidFill>
              </a:rPr>
              <a:t>)  </a:t>
            </a:r>
            <a:r>
              <a:rPr lang="en-US" sz="2400" dirty="0">
                <a:solidFill>
                  <a:srgbClr val="0000CC"/>
                </a:solidFill>
              </a:rPr>
              <a:t>{ x++ ;  </a:t>
            </a:r>
            <a:r>
              <a:rPr lang="en-US" sz="2400" b="1" dirty="0">
                <a:solidFill>
                  <a:srgbClr val="0000CC"/>
                </a:solidFill>
              </a:rPr>
              <a:t>return</a:t>
            </a:r>
            <a:r>
              <a:rPr lang="en-US" sz="2400" dirty="0">
                <a:solidFill>
                  <a:srgbClr val="0000CC"/>
                </a:solidFill>
              </a:rPr>
              <a:t> x }</a:t>
            </a:r>
            <a:r>
              <a:rPr lang="en-US" sz="2400" dirty="0"/>
              <a:t>   </a:t>
            </a:r>
            <a:r>
              <a:rPr lang="en-US" sz="2400" dirty="0">
                <a:solidFill>
                  <a:schemeClr val="tx1"/>
                </a:solidFill>
              </a:rPr>
              <a:t>{*  return  = x+1 *}</a:t>
            </a:r>
          </a:p>
        </p:txBody>
      </p:sp>
    </p:spTree>
    <p:extLst>
      <p:ext uri="{BB962C8B-B14F-4D97-AF65-F5344CB8AC3E}">
        <p14:creationId xmlns:p14="http://schemas.microsoft.com/office/powerpoint/2010/main" val="1669249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DB0D-40E5-DB43-98F6-FD86AB84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restrictions imposed on </a:t>
            </a:r>
            <a:r>
              <a:rPr lang="en-US" dirty="0" err="1"/>
              <a:t>uPL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5567-9636-8949-9783-8776DDFA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First, it is useful to be aware of some restrictions imposed on </a:t>
            </a:r>
            <a:r>
              <a:rPr lang="en-US" dirty="0" err="1"/>
              <a:t>uPL</a:t>
            </a:r>
            <a:r>
              <a:rPr lang="en-US" dirty="0"/>
              <a:t> which were introduced to simplify the resulting Hoare logic, allowing us to focus our study on its main concepts.</a:t>
            </a:r>
          </a:p>
          <a:p>
            <a:pPr lvl="1"/>
            <a:r>
              <a:rPr lang="en-US" dirty="0"/>
              <a:t>“</a:t>
            </a:r>
            <a:r>
              <a:rPr lang="en-US" b="1" dirty="0"/>
              <a:t>return</a:t>
            </a:r>
            <a:r>
              <a:rPr lang="en-US" dirty="0"/>
              <a:t>” statement should only appear as the last statement in the program.</a:t>
            </a:r>
          </a:p>
          <a:p>
            <a:pPr lvl="1"/>
            <a:r>
              <a:rPr lang="en-US" dirty="0"/>
              <a:t>Formulas in the pre- and post-conditions of a program-level specification of a program P can only refer to P’s parameters or to ”auxiliary variables” (explained later).</a:t>
            </a:r>
          </a:p>
          <a:p>
            <a:pPr lvl="1"/>
            <a:r>
              <a:rPr lang="en-US" dirty="0"/>
              <a:t>Parameters are either </a:t>
            </a:r>
            <a:r>
              <a:rPr lang="en-US" b="1" dirty="0"/>
              <a:t>passed by value</a:t>
            </a:r>
            <a:r>
              <a:rPr lang="en-US" dirty="0"/>
              <a:t>, or </a:t>
            </a:r>
            <a:r>
              <a:rPr lang="en-US" b="1" dirty="0"/>
              <a:t>passed by copy-restore</a:t>
            </a:r>
            <a:r>
              <a:rPr lang="en-US" dirty="0"/>
              <a:t>. In particular </a:t>
            </a:r>
            <a:r>
              <a:rPr lang="en-US" dirty="0" err="1"/>
              <a:t>uPL</a:t>
            </a:r>
            <a:r>
              <a:rPr lang="en-US" dirty="0"/>
              <a:t> does not allow references/pointers to be passed to a program.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AF349-B683-C24B-A104-2C0D71E2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8765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459A96-8793-114A-8E54-3A24CE28D11E}"/>
              </a:ext>
            </a:extLst>
          </p:cNvPr>
          <p:cNvSpPr/>
          <p:nvPr/>
        </p:nvSpPr>
        <p:spPr>
          <a:xfrm>
            <a:off x="1447800" y="2362200"/>
            <a:ext cx="5410200" cy="6858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6295-66EE-5649-A475-D01556F7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copy-restore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8FF1-3C15-B94F-89C5-16BFB6E1D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029200"/>
          </a:xfrm>
        </p:spPr>
        <p:txBody>
          <a:bodyPr/>
          <a:lstStyle/>
          <a:p>
            <a:r>
              <a:rPr lang="en-US" dirty="0"/>
              <a:t>Arrays are by default passed by copy-restore. A parameter with “OUT” marker is passed by copy-restore.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P(</a:t>
            </a:r>
            <a:r>
              <a:rPr lang="en-US" b="1" dirty="0"/>
              <a:t>OUT</a:t>
            </a:r>
            <a:r>
              <a:rPr lang="en-US" dirty="0"/>
              <a:t>  x, </a:t>
            </a:r>
            <a:r>
              <a:rPr lang="en-US" b="1" dirty="0"/>
              <a:t>OUT</a:t>
            </a:r>
            <a:r>
              <a:rPr lang="en-US" dirty="0"/>
              <a:t> y) { x := T ; y := F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behavior of a call e.g.  “P(</a:t>
            </a:r>
            <a:r>
              <a:rPr lang="en-US" dirty="0" err="1"/>
              <a:t>a,b</a:t>
            </a:r>
            <a:r>
              <a:rPr lang="en-US" dirty="0"/>
              <a:t>)” is as follows: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value of a and b are evaluated, and copied to P’s local variables x and y. The the body of P is executed. Then the final values of x and y are copied to a and b, in that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3F099-6335-EE4F-8DA2-38374D76B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15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F6FE14-2B1D-5E4A-A801-924F9522A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33800"/>
            <a:ext cx="6324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BFCB2-5F1B-F04D-9C7B-8ED58D6F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copy-restore,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81B14-A63E-894F-80E2-4187B6D3C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5334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Why don’t we just use pass-by-reference? Well, allowing this could create “</a:t>
            </a:r>
            <a:r>
              <a:rPr lang="en-US" b="1" dirty="0">
                <a:solidFill>
                  <a:srgbClr val="C00000"/>
                </a:solidFill>
              </a:rPr>
              <a:t>aliases</a:t>
            </a:r>
            <a:r>
              <a:rPr lang="en-US" dirty="0"/>
              <a:t>” (different variables pointing to the same data-cell). This complicate complicate the logic of assignment. Recall this logic: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This assignment will now also affect the meaning of x’s aliases! The above logic is too simplistic to handle this.</a:t>
            </a:r>
          </a:p>
          <a:p>
            <a:r>
              <a:rPr lang="en-US" dirty="0"/>
              <a:t>In this course we want to avoid this complication, to focus more on the basic Hoare logic.</a:t>
            </a:r>
          </a:p>
          <a:p>
            <a:r>
              <a:rPr lang="en-US" dirty="0"/>
              <a:t>Pass-by-copy-restore would still allow us to simulate programs with side effect, which is an interesting class to consider.</a:t>
            </a:r>
            <a:br>
              <a:rPr lang="en-US" dirty="0"/>
            </a:br>
            <a:r>
              <a:rPr lang="en-US" dirty="0"/>
              <a:t>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CC9C0-B562-F644-BD3F-5F470EE8B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57F96F-18F4-C849-A571-66D34715CB90}"/>
              </a:ext>
            </a:extLst>
          </p:cNvPr>
          <p:cNvSpPr/>
          <p:nvPr/>
        </p:nvSpPr>
        <p:spPr>
          <a:xfrm>
            <a:off x="1828800" y="2891853"/>
            <a:ext cx="6008557" cy="612098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</a:t>
            </a:r>
            <a:r>
              <a:rPr lang="en-US" sz="2400" i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 *}  x:=</a:t>
            </a:r>
            <a:r>
              <a:rPr lang="en-US" sz="2400" i="1" dirty="0">
                <a:solidFill>
                  <a:schemeClr val="tx1"/>
                </a:solidFill>
              </a:rPr>
              <a:t>e</a:t>
            </a:r>
            <a:r>
              <a:rPr lang="en-US" sz="2400" dirty="0">
                <a:solidFill>
                  <a:schemeClr val="tx1"/>
                </a:solidFill>
              </a:rPr>
              <a:t>  {* </a:t>
            </a:r>
            <a:r>
              <a:rPr lang="en-US" sz="2400" i="1" dirty="0">
                <a:solidFill>
                  <a:schemeClr val="tx1"/>
                </a:solidFill>
              </a:rPr>
              <a:t>Q</a:t>
            </a:r>
            <a:r>
              <a:rPr lang="en-US" sz="2400" dirty="0">
                <a:solidFill>
                  <a:schemeClr val="tx1"/>
                </a:solidFill>
              </a:rPr>
              <a:t> *}     </a:t>
            </a:r>
            <a:r>
              <a:rPr lang="en-US" sz="2400" dirty="0">
                <a:solidFill>
                  <a:srgbClr val="C00000"/>
                </a:solidFill>
              </a:rPr>
              <a:t>=</a:t>
            </a:r>
            <a:r>
              <a:rPr lang="en-US" sz="2400" dirty="0">
                <a:solidFill>
                  <a:schemeClr val="tx1"/>
                </a:solidFill>
              </a:rPr>
              <a:t>    </a:t>
            </a:r>
            <a:r>
              <a:rPr lang="en-US" sz="2400" i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 </a:t>
            </a:r>
            <a:r>
              <a:rPr lang="en-US" sz="2400" i="1" dirty="0">
                <a:solidFill>
                  <a:schemeClr val="tx1"/>
                </a:solidFill>
                <a:sym typeface="Symbol" pitchFamily="16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sym typeface="Symbol" pitchFamily="16" charset="2"/>
              </a:rPr>
              <a:t>e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/x]</a:t>
            </a:r>
          </a:p>
        </p:txBody>
      </p:sp>
    </p:spTree>
    <p:extLst>
      <p:ext uri="{BB962C8B-B14F-4D97-AF65-F5344CB8AC3E}">
        <p14:creationId xmlns:p14="http://schemas.microsoft.com/office/powerpoint/2010/main" val="7487060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C58D-DD10-BD44-89B0-5AB1F39D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variables in the post-condition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08D8-DC28-474B-8703-E09AC2A9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“y” is a pass-by-copy-restore parameter, in the post-condition it refers to its final value. Example: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”x” is a pass-by-value parameter, in the post-condition it refers to its </a:t>
            </a:r>
            <a:r>
              <a:rPr lang="en-US" b="1" dirty="0"/>
              <a:t>initial value. </a:t>
            </a:r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6148D-92A2-8C48-96D2-3EB99D9A5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594414-16F4-1447-A90B-86366BAF1E14}"/>
              </a:ext>
            </a:extLst>
          </p:cNvPr>
          <p:cNvSpPr/>
          <p:nvPr/>
        </p:nvSpPr>
        <p:spPr>
          <a:xfrm>
            <a:off x="1295400" y="4338403"/>
            <a:ext cx="6858000" cy="6858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>
                <a:solidFill>
                  <a:srgbClr val="0070C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dirty="0">
                <a:solidFill>
                  <a:srgbClr val="C00000"/>
                </a:solidFill>
              </a:rPr>
              <a:t>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) { y := x ; x:=0 }  {*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70C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*}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5BBEEC-033B-DD4E-B193-79760BFE0570}"/>
              </a:ext>
            </a:extLst>
          </p:cNvPr>
          <p:cNvSpPr/>
          <p:nvPr/>
        </p:nvSpPr>
        <p:spPr>
          <a:xfrm>
            <a:off x="1447800" y="2285999"/>
            <a:ext cx="6553200" cy="6858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dirty="0">
                <a:solidFill>
                  <a:srgbClr val="C00000"/>
                </a:solidFill>
              </a:rPr>
              <a:t>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) { y := 1 }  {*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&gt;0 *}</a:t>
            </a:r>
          </a:p>
        </p:txBody>
      </p:sp>
    </p:spTree>
    <p:extLst>
      <p:ext uri="{BB962C8B-B14F-4D97-AF65-F5344CB8AC3E}">
        <p14:creationId xmlns:p14="http://schemas.microsoft.com/office/powerpoint/2010/main" val="21334658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DCE3-C737-A340-946A-F8727A59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the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FFF18-A8F8-FF41-B8A4-D2C6D62C6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 dirty="0"/>
              <a:t>Consider again the previous example. To reduce the specification to the statement level we will do the following transformation: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DDB8E-4F6C-8A44-AD38-9E6D0A53D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6B378D-B6D1-AA40-BB15-2778F11DCCC9}"/>
              </a:ext>
            </a:extLst>
          </p:cNvPr>
          <p:cNvSpPr/>
          <p:nvPr/>
        </p:nvSpPr>
        <p:spPr>
          <a:xfrm>
            <a:off x="457200" y="2590800"/>
            <a:ext cx="82296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x &gt; 0 *}    </a:t>
            </a:r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x:int</a:t>
            </a:r>
            <a:r>
              <a:rPr lang="en-US" sz="2400" dirty="0">
                <a:solidFill>
                  <a:schemeClr val="tx1"/>
                </a:solidFill>
              </a:rPr>
              <a:t>)  </a:t>
            </a:r>
            <a:r>
              <a:rPr lang="en-US" sz="2400" dirty="0">
                <a:solidFill>
                  <a:srgbClr val="0000CC"/>
                </a:solidFill>
              </a:rPr>
              <a:t>{ x++ ;  </a:t>
            </a:r>
            <a:r>
              <a:rPr lang="en-US" sz="2400" b="1" dirty="0">
                <a:solidFill>
                  <a:srgbClr val="0000CC"/>
                </a:solidFill>
              </a:rPr>
              <a:t>return</a:t>
            </a:r>
            <a:r>
              <a:rPr lang="en-US" sz="2400" dirty="0">
                <a:solidFill>
                  <a:srgbClr val="0000CC"/>
                </a:solidFill>
              </a:rPr>
              <a:t> x }</a:t>
            </a:r>
            <a:r>
              <a:rPr lang="en-US" sz="2400" dirty="0"/>
              <a:t>   </a:t>
            </a:r>
            <a:r>
              <a:rPr lang="en-US" sz="2400" dirty="0">
                <a:solidFill>
                  <a:schemeClr val="tx1"/>
                </a:solidFill>
              </a:rPr>
              <a:t>{*  return  = x+1 *}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6D6B2-A4AB-8048-A82A-480182BED69F}"/>
              </a:ext>
            </a:extLst>
          </p:cNvPr>
          <p:cNvSpPr txBox="1"/>
          <p:nvPr/>
        </p:nvSpPr>
        <p:spPr>
          <a:xfrm>
            <a:off x="685800" y="4814419"/>
            <a:ext cx="14750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{* x &gt; 0 *}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3894C-6A5F-4F4D-81B6-80B88749F6DC}"/>
              </a:ext>
            </a:extLst>
          </p:cNvPr>
          <p:cNvSpPr txBox="1"/>
          <p:nvPr/>
        </p:nvSpPr>
        <p:spPr>
          <a:xfrm>
            <a:off x="5943600" y="4800600"/>
            <a:ext cx="259558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{* return  = 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+1 *}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D33CD-9BD1-8147-8F75-B7E2F598E71A}"/>
              </a:ext>
            </a:extLst>
          </p:cNvPr>
          <p:cNvSpPr txBox="1"/>
          <p:nvPr/>
        </p:nvSpPr>
        <p:spPr>
          <a:xfrm>
            <a:off x="3313868" y="4808001"/>
            <a:ext cx="2515432" cy="461665"/>
          </a:xfrm>
          <a:prstGeom prst="rect">
            <a:avLst/>
          </a:prstGeom>
          <a:solidFill>
            <a:srgbClr val="00B0F0">
              <a:alpha val="23922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x++  ;  return :=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C8E4A-554D-6E48-9DC5-FED7DF1B34FE}"/>
              </a:ext>
            </a:extLst>
          </p:cNvPr>
          <p:cNvSpPr txBox="1"/>
          <p:nvPr/>
        </p:nvSpPr>
        <p:spPr>
          <a:xfrm>
            <a:off x="2275184" y="4814419"/>
            <a:ext cx="978153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:=x ;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5D9A037-627C-F04F-80CA-5D3ED1A595D4}"/>
              </a:ext>
            </a:extLst>
          </p:cNvPr>
          <p:cNvSpPr/>
          <p:nvPr/>
        </p:nvSpPr>
        <p:spPr>
          <a:xfrm>
            <a:off x="1143000" y="3543300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CCC6E772-8302-9E4C-A7A8-37488F9F41BC}"/>
              </a:ext>
            </a:extLst>
          </p:cNvPr>
          <p:cNvSpPr/>
          <p:nvPr/>
        </p:nvSpPr>
        <p:spPr>
          <a:xfrm>
            <a:off x="4457284" y="3543300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7FC10BB-E073-244D-B127-EB7106152753}"/>
              </a:ext>
            </a:extLst>
          </p:cNvPr>
          <p:cNvSpPr/>
          <p:nvPr/>
        </p:nvSpPr>
        <p:spPr>
          <a:xfrm>
            <a:off x="7467294" y="3543300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3269C-46F4-3541-BF8A-521DCC6DF4BC}"/>
              </a:ext>
            </a:extLst>
          </p:cNvPr>
          <p:cNvSpPr txBox="1"/>
          <p:nvPr/>
        </p:nvSpPr>
        <p:spPr>
          <a:xfrm>
            <a:off x="1310562" y="5571052"/>
            <a:ext cx="290739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Introduce auxiliary variable(s) to remember the initial value of the parameters,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C656EE-7BB1-C542-BA79-D403DFC3A8F2}"/>
              </a:ext>
            </a:extLst>
          </p:cNvPr>
          <p:cNvCxnSpPr>
            <a:cxnSpLocks/>
            <a:stCxn id="14" idx="0"/>
            <a:endCxn id="10" idx="2"/>
          </p:cNvCxnSpPr>
          <p:nvPr/>
        </p:nvCxnSpPr>
        <p:spPr>
          <a:xfrm flipV="1">
            <a:off x="2764260" y="5276084"/>
            <a:ext cx="1" cy="294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C7F7DE-B219-574F-9D18-DF773EA2F7A2}"/>
              </a:ext>
            </a:extLst>
          </p:cNvPr>
          <p:cNvSpPr txBox="1"/>
          <p:nvPr/>
        </p:nvSpPr>
        <p:spPr>
          <a:xfrm>
            <a:off x="5779405" y="5577204"/>
            <a:ext cx="290739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Replace pass-by-value parameters with reference to their initial values.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2F353D-BC45-7043-8F32-19C4AE58CBAE}"/>
              </a:ext>
            </a:extLst>
          </p:cNvPr>
          <p:cNvCxnSpPr>
            <a:cxnSpLocks/>
            <a:stCxn id="21" idx="0"/>
            <a:endCxn id="8" idx="2"/>
          </p:cNvCxnSpPr>
          <p:nvPr/>
        </p:nvCxnSpPr>
        <p:spPr>
          <a:xfrm flipV="1">
            <a:off x="7233103" y="5262265"/>
            <a:ext cx="8288" cy="3149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63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8B73-5F9F-1A46-87EE-7A276662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refer to parameters’ old value?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1BDC-0381-B947-95F2-2D7E9FFF6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program P(OUT x) that increases the value of x by one. How to write a specification of this P? Again, we will use an auxiliary variable to remember x’s old value: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48C7E-30D7-504E-AE9D-B5E3E8784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447473-D514-A74C-8221-7B8F41EA28B0}"/>
              </a:ext>
            </a:extLst>
          </p:cNvPr>
          <p:cNvSpPr/>
          <p:nvPr/>
        </p:nvSpPr>
        <p:spPr>
          <a:xfrm>
            <a:off x="691612" y="2619171"/>
            <a:ext cx="4457700" cy="13716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X</a:t>
            </a:r>
            <a:r>
              <a:rPr lang="en-US" sz="2400" dirty="0">
                <a:solidFill>
                  <a:schemeClr val="tx1"/>
                </a:solidFill>
              </a:rPr>
              <a:t>:=x ; </a:t>
            </a:r>
            <a:r>
              <a:rPr lang="en-US" sz="2400" b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dirty="0">
                <a:solidFill>
                  <a:srgbClr val="C00000"/>
                </a:solidFill>
              </a:rPr>
              <a:t>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) { x := x+1 }  </a:t>
            </a:r>
          </a:p>
          <a:p>
            <a:r>
              <a:rPr lang="en-US" sz="2400" dirty="0">
                <a:solidFill>
                  <a:schemeClr val="tx1"/>
                </a:solidFill>
              </a:rPr>
              <a:t>{*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= </a:t>
            </a:r>
            <a:r>
              <a:rPr lang="en-US" sz="2400" b="1" dirty="0">
                <a:solidFill>
                  <a:schemeClr val="tx1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+1 *}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6CA86-7983-A845-8BE5-891EF6CB6148}"/>
              </a:ext>
            </a:extLst>
          </p:cNvPr>
          <p:cNvSpPr txBox="1"/>
          <p:nvPr/>
        </p:nvSpPr>
        <p:spPr>
          <a:xfrm>
            <a:off x="5301712" y="2732782"/>
            <a:ext cx="34612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Here, </a:t>
            </a:r>
            <a:r>
              <a:rPr lang="en-US" sz="1600" b="1" dirty="0"/>
              <a:t>X</a:t>
            </a:r>
            <a:r>
              <a:rPr lang="en-US" sz="1600" dirty="0"/>
              <a:t> is an </a:t>
            </a:r>
            <a:r>
              <a:rPr lang="en-US" sz="1600" b="1" dirty="0"/>
              <a:t>auxiliary variable</a:t>
            </a:r>
            <a:r>
              <a:rPr lang="en-US" sz="1600" dirty="0"/>
              <a:t>. It is not part of the program P. It is introduced just for the purpose of expressing P’s specification.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DF9BF2-DB12-9641-88A8-2C7079613476}"/>
              </a:ext>
            </a:extLst>
          </p:cNvPr>
          <p:cNvSpPr/>
          <p:nvPr/>
        </p:nvSpPr>
        <p:spPr>
          <a:xfrm>
            <a:off x="246681" y="5277884"/>
            <a:ext cx="5709188" cy="799411"/>
          </a:xfrm>
          <a:prstGeom prst="roundRect">
            <a:avLst>
              <a:gd name="adj" fmla="val 23732"/>
            </a:avLst>
          </a:prstGeom>
          <a:solidFill>
            <a:schemeClr val="accent1">
              <a:lumMod val="40000"/>
              <a:lumOff val="6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X</a:t>
            </a:r>
            <a:r>
              <a:rPr lang="en-US" sz="2400" dirty="0">
                <a:solidFill>
                  <a:schemeClr val="tx1"/>
                </a:solidFill>
              </a:rPr>
              <a:t>:=x ; x := x+1   {*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= </a:t>
            </a:r>
            <a:r>
              <a:rPr lang="en-US" sz="2400" b="1" dirty="0">
                <a:solidFill>
                  <a:schemeClr val="tx1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+1 *}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E4F37250-708E-E845-8BA4-EF8F10ED4AC3}"/>
              </a:ext>
            </a:extLst>
          </p:cNvPr>
          <p:cNvSpPr/>
          <p:nvPr/>
        </p:nvSpPr>
        <p:spPr>
          <a:xfrm>
            <a:off x="2854594" y="4143171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55FB3-0BF4-3C44-AAB2-D831897B97D3}"/>
              </a:ext>
            </a:extLst>
          </p:cNvPr>
          <p:cNvSpPr txBox="1"/>
          <p:nvPr/>
        </p:nvSpPr>
        <p:spPr>
          <a:xfrm>
            <a:off x="6119893" y="5385201"/>
            <a:ext cx="283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corresponding statement-level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8279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9A9947-F3C3-AC45-BD2F-BB26548E1C74}"/>
              </a:ext>
            </a:extLst>
          </p:cNvPr>
          <p:cNvSpPr/>
          <p:nvPr/>
        </p:nvSpPr>
        <p:spPr>
          <a:xfrm>
            <a:off x="1676400" y="3862953"/>
            <a:ext cx="5486400" cy="1471047"/>
          </a:xfrm>
          <a:prstGeom prst="roundRect">
            <a:avLst>
              <a:gd name="adj" fmla="val 22864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unstructured programs</a:t>
            </a:r>
            <a:endParaRPr lang="nl-NL" dirty="0"/>
          </a:p>
        </p:txBody>
      </p:sp>
      <p:sp>
        <p:nvSpPr>
          <p:cNvPr id="41987" name="Content Placeholder 6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181600"/>
          </a:xfrm>
        </p:spPr>
        <p:txBody>
          <a:bodyPr/>
          <a:lstStyle/>
          <a:p>
            <a:r>
              <a:rPr lang="en-US" dirty="0" err="1"/>
              <a:t>uPL</a:t>
            </a:r>
            <a:r>
              <a:rPr lang="en-US" dirty="0"/>
              <a:t> programs are “</a:t>
            </a:r>
            <a:r>
              <a:rPr lang="en-US" b="1" dirty="0"/>
              <a:t>structured</a:t>
            </a:r>
            <a:r>
              <a:rPr lang="en-US" dirty="0"/>
              <a:t>” programs. In such a program, the control flow follows the program’s syntax.</a:t>
            </a:r>
          </a:p>
          <a:p>
            <a:r>
              <a:rPr lang="en-US" dirty="0"/>
              <a:t>Most programs you write in an imperative language like Java or C# are structured.</a:t>
            </a:r>
          </a:p>
          <a:p>
            <a:r>
              <a:rPr lang="en-US" dirty="0"/>
              <a:t>Unstructured programming on the other hand, allows arbitrary jump of control.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</a:t>
            </a:r>
            <a:r>
              <a:rPr lang="en-US" dirty="0">
                <a:solidFill>
                  <a:srgbClr val="0070C0"/>
                </a:solidFill>
              </a:rPr>
              <a:t>start</a:t>
            </a:r>
            <a:r>
              <a:rPr lang="en-US" dirty="0"/>
              <a:t>: </a:t>
            </a:r>
            <a:r>
              <a:rPr lang="en-US" b="1" dirty="0"/>
              <a:t>if</a:t>
            </a:r>
            <a:r>
              <a:rPr lang="en-US" dirty="0"/>
              <a:t> y=0 </a:t>
            </a:r>
            <a:r>
              <a:rPr lang="en-US" b="1" dirty="0"/>
              <a:t>then</a:t>
            </a:r>
            <a:r>
              <a:rPr lang="en-US" dirty="0"/>
              <a:t> </a:t>
            </a:r>
            <a:r>
              <a:rPr lang="en-US" b="1" dirty="0" err="1"/>
              <a:t>goto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exit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                         </a:t>
            </a:r>
            <a:r>
              <a:rPr lang="en-US" b="1" dirty="0"/>
              <a:t>if</a:t>
            </a:r>
            <a:r>
              <a:rPr lang="en-US" dirty="0"/>
              <a:t> x&gt;y </a:t>
            </a:r>
            <a:r>
              <a:rPr lang="en-US" b="1" dirty="0"/>
              <a:t>then</a:t>
            </a:r>
            <a:r>
              <a:rPr lang="en-US" dirty="0"/>
              <a:t> x:=x-y ; </a:t>
            </a:r>
            <a:r>
              <a:rPr lang="en-US" b="1" dirty="0" err="1"/>
              <a:t>goto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start</a:t>
            </a:r>
            <a:br>
              <a:rPr lang="en-US" dirty="0"/>
            </a:br>
            <a:r>
              <a:rPr lang="en-US" dirty="0"/>
              <a:t>                </a:t>
            </a:r>
            <a:r>
              <a:rPr lang="en-US" dirty="0">
                <a:solidFill>
                  <a:srgbClr val="FF0000"/>
                </a:solidFill>
              </a:rPr>
              <a:t>exit</a:t>
            </a:r>
            <a:r>
              <a:rPr lang="en-US" dirty="0"/>
              <a:t>:  ...</a:t>
            </a:r>
            <a:br>
              <a:rPr lang="en-US" dirty="0"/>
            </a:br>
            <a:r>
              <a:rPr lang="en-US" dirty="0"/>
              <a:t>      </a:t>
            </a:r>
          </a:p>
          <a:p>
            <a:r>
              <a:rPr lang="en-US" dirty="0"/>
              <a:t>Hoare logic does </a:t>
            </a:r>
            <a:r>
              <a:rPr lang="en-US" b="1" dirty="0"/>
              <a:t>not</a:t>
            </a:r>
            <a:r>
              <a:rPr lang="en-US" dirty="0"/>
              <a:t> work on unstructured programs. E.g. the rule for sequential composition would be broken!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5D6CB6-DAB5-4D7E-8758-CC68FD1FF365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D090169-ADEE-B844-8EEC-8F5C7BC9A050}"/>
              </a:ext>
            </a:extLst>
          </p:cNvPr>
          <p:cNvSpPr/>
          <p:nvPr/>
        </p:nvSpPr>
        <p:spPr>
          <a:xfrm>
            <a:off x="1600200" y="3731144"/>
            <a:ext cx="6005928" cy="2514600"/>
          </a:xfrm>
          <a:prstGeom prst="roundRect">
            <a:avLst>
              <a:gd name="adj" fmla="val 15093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Floyd Logic</a:t>
            </a:r>
            <a:endParaRPr lang="nl-NL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56E025-D0FF-409B-959F-332D0C560F19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  <p:sp>
        <p:nvSpPr>
          <p:cNvPr id="9" name="Oval 8"/>
          <p:cNvSpPr/>
          <p:nvPr/>
        </p:nvSpPr>
        <p:spPr>
          <a:xfrm>
            <a:off x="3181925" y="4467820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</a:t>
            </a:r>
            <a:endParaRPr lang="nl-NL" dirty="0"/>
          </a:p>
        </p:txBody>
      </p:sp>
      <p:sp>
        <p:nvSpPr>
          <p:cNvPr id="11" name="Oval 10"/>
          <p:cNvSpPr/>
          <p:nvPr/>
        </p:nvSpPr>
        <p:spPr>
          <a:xfrm>
            <a:off x="6020086" y="4467820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  <a:endParaRPr lang="nl-NL" dirty="0"/>
          </a:p>
        </p:txBody>
      </p:sp>
      <p:sp>
        <p:nvSpPr>
          <p:cNvPr id="12" name="Oval 11"/>
          <p:cNvSpPr/>
          <p:nvPr/>
        </p:nvSpPr>
        <p:spPr>
          <a:xfrm>
            <a:off x="6020086" y="5445270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  <a:endParaRPr lang="nl-NL" i="1" dirty="0"/>
          </a:p>
        </p:txBody>
      </p:sp>
      <p:cxnSp>
        <p:nvCxnSpPr>
          <p:cNvPr id="14" name="Straight Arrow Connector 13"/>
          <p:cNvCxnSpPr>
            <a:stCxn id="9" idx="6"/>
            <a:endCxn id="11" idx="2"/>
          </p:cNvCxnSpPr>
          <p:nvPr/>
        </p:nvCxnSpPr>
        <p:spPr>
          <a:xfrm>
            <a:off x="3486725" y="4620220"/>
            <a:ext cx="25333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stCxn id="11" idx="4"/>
            <a:endCxn id="12" idx="0"/>
          </p:cNvCxnSpPr>
          <p:nvPr/>
        </p:nvCxnSpPr>
        <p:spPr>
          <a:xfrm>
            <a:off x="6172486" y="4772620"/>
            <a:ext cx="0" cy="672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9" idx="5"/>
            <a:endCxn id="12" idx="2"/>
          </p:cNvCxnSpPr>
          <p:nvPr/>
        </p:nvCxnSpPr>
        <p:spPr>
          <a:xfrm>
            <a:off x="3442088" y="4727983"/>
            <a:ext cx="2577998" cy="869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70" name="TextBox 49"/>
          <p:cNvSpPr txBox="1">
            <a:spLocks noChangeArrowheads="1"/>
          </p:cNvSpPr>
          <p:nvPr/>
        </p:nvSpPr>
        <p:spPr bwMode="auto">
          <a:xfrm>
            <a:off x="5739400" y="3806844"/>
            <a:ext cx="1564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1" name="TextBox 50"/>
          <p:cNvSpPr txBox="1">
            <a:spLocks noChangeArrowheads="1"/>
          </p:cNvSpPr>
          <p:nvPr/>
        </p:nvSpPr>
        <p:spPr bwMode="auto">
          <a:xfrm>
            <a:off x="4079902" y="4253177"/>
            <a:ext cx="16353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2" name="TextBox 51"/>
          <p:cNvSpPr txBox="1">
            <a:spLocks noChangeArrowheads="1"/>
          </p:cNvSpPr>
          <p:nvPr/>
        </p:nvSpPr>
        <p:spPr bwMode="auto">
          <a:xfrm rot="847637">
            <a:off x="3945157" y="5242122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x</a:t>
            </a:r>
            <a:r>
              <a:rPr lang="en-US" sz="2000" dirty="0" err="1">
                <a:sym typeface="Symbol"/>
              </a:rPr>
              <a:t>≥</a:t>
            </a:r>
            <a:r>
              <a:rPr lang="en-US" sz="2000" dirty="0" err="1"/>
              <a:t>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54" name="Straight Arrow Connector 53"/>
          <p:cNvCxnSpPr>
            <a:cxnSpLocks/>
            <a:endCxn id="9" idx="2"/>
          </p:cNvCxnSpPr>
          <p:nvPr/>
        </p:nvCxnSpPr>
        <p:spPr>
          <a:xfrm>
            <a:off x="2858139" y="4620220"/>
            <a:ext cx="3237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04800" y="1267765"/>
            <a:ext cx="8382000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Consider the following example of an unstructured program</a:t>
            </a:r>
          </a:p>
          <a:p>
            <a:pPr>
              <a:defRPr/>
            </a:pPr>
            <a:r>
              <a:rPr lang="en-US" sz="2400" dirty="0"/>
              <a:t>represented by a graph. The program start in node 0, and 3 is the exit node. Each arrow represent an assignment to execute, guarded by the corresponding condition.</a:t>
            </a:r>
          </a:p>
          <a:p>
            <a:pPr>
              <a:defRPr/>
            </a:pPr>
            <a:r>
              <a:rPr lang="en-US" sz="2400" dirty="0"/>
              <a:t>The red and green boxes specify the pre- and post-condition of this program.</a:t>
            </a:r>
          </a:p>
        </p:txBody>
      </p:sp>
      <p:sp>
        <p:nvSpPr>
          <p:cNvPr id="21" name="TextBox 51"/>
          <p:cNvSpPr txBox="1">
            <a:spLocks noChangeArrowheads="1"/>
          </p:cNvSpPr>
          <p:nvPr/>
        </p:nvSpPr>
        <p:spPr bwMode="auto">
          <a:xfrm>
            <a:off x="6151884" y="4880383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ym typeface="Symbol"/>
              </a:rPr>
              <a:t>x≥n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61" name="Curved Connector 60"/>
          <p:cNvCxnSpPr>
            <a:stCxn id="11" idx="0"/>
            <a:endCxn id="9" idx="0"/>
          </p:cNvCxnSpPr>
          <p:nvPr/>
        </p:nvCxnSpPr>
        <p:spPr>
          <a:xfrm rot="16200000" flipV="1">
            <a:off x="4753406" y="3048739"/>
            <a:ext cx="12700" cy="2838161"/>
          </a:xfrm>
          <a:prstGeom prst="curvedConnector3">
            <a:avLst>
              <a:gd name="adj1" fmla="val 426074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27084" y="4029651"/>
            <a:ext cx="1358064" cy="46166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sym typeface="Symbol"/>
              </a:rPr>
              <a:t>0  x 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4177" y="5649670"/>
            <a:ext cx="689612" cy="461665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x=n</a:t>
            </a:r>
          </a:p>
        </p:txBody>
      </p:sp>
      <p:cxnSp>
        <p:nvCxnSpPr>
          <p:cNvPr id="70" name="Straight Arrow Connector 69"/>
          <p:cNvCxnSpPr>
            <a:cxnSpLocks/>
            <a:stCxn id="12" idx="4"/>
          </p:cNvCxnSpPr>
          <p:nvPr/>
        </p:nvCxnSpPr>
        <p:spPr>
          <a:xfrm>
            <a:off x="6172486" y="5750070"/>
            <a:ext cx="0" cy="2608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Floyd Logic</a:t>
            </a:r>
            <a:endParaRPr lang="nl-NL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56E025-D0FF-409B-959F-332D0C560F19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  <p:sp>
        <p:nvSpPr>
          <p:cNvPr id="9" name="Oval 8"/>
          <p:cNvSpPr/>
          <p:nvPr/>
        </p:nvSpPr>
        <p:spPr>
          <a:xfrm>
            <a:off x="2813049" y="1911351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</a:t>
            </a:r>
            <a:endParaRPr lang="nl-NL" dirty="0"/>
          </a:p>
        </p:txBody>
      </p:sp>
      <p:sp>
        <p:nvSpPr>
          <p:cNvPr id="11" name="Oval 10"/>
          <p:cNvSpPr/>
          <p:nvPr/>
        </p:nvSpPr>
        <p:spPr>
          <a:xfrm>
            <a:off x="5651210" y="1911351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  <a:endParaRPr lang="nl-NL" dirty="0"/>
          </a:p>
        </p:txBody>
      </p:sp>
      <p:sp>
        <p:nvSpPr>
          <p:cNvPr id="12" name="Oval 11"/>
          <p:cNvSpPr/>
          <p:nvPr/>
        </p:nvSpPr>
        <p:spPr>
          <a:xfrm>
            <a:off x="5651210" y="2888801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  <a:endParaRPr lang="nl-NL" i="1" dirty="0"/>
          </a:p>
        </p:txBody>
      </p:sp>
      <p:cxnSp>
        <p:nvCxnSpPr>
          <p:cNvPr id="14" name="Straight Arrow Connector 13"/>
          <p:cNvCxnSpPr>
            <a:stCxn id="9" idx="6"/>
            <a:endCxn id="11" idx="2"/>
          </p:cNvCxnSpPr>
          <p:nvPr/>
        </p:nvCxnSpPr>
        <p:spPr>
          <a:xfrm>
            <a:off x="3117849" y="2063751"/>
            <a:ext cx="25333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stCxn id="11" idx="4"/>
            <a:endCxn id="12" idx="0"/>
          </p:cNvCxnSpPr>
          <p:nvPr/>
        </p:nvCxnSpPr>
        <p:spPr>
          <a:xfrm>
            <a:off x="5803610" y="2216151"/>
            <a:ext cx="0" cy="672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9" idx="5"/>
            <a:endCxn id="12" idx="2"/>
          </p:cNvCxnSpPr>
          <p:nvPr/>
        </p:nvCxnSpPr>
        <p:spPr>
          <a:xfrm>
            <a:off x="3073212" y="2171514"/>
            <a:ext cx="2577998" cy="869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70" name="TextBox 49"/>
          <p:cNvSpPr txBox="1">
            <a:spLocks noChangeArrowheads="1"/>
          </p:cNvSpPr>
          <p:nvPr/>
        </p:nvSpPr>
        <p:spPr bwMode="auto">
          <a:xfrm>
            <a:off x="5370524" y="1250375"/>
            <a:ext cx="1564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1" name="TextBox 50"/>
          <p:cNvSpPr txBox="1">
            <a:spLocks noChangeArrowheads="1"/>
          </p:cNvSpPr>
          <p:nvPr/>
        </p:nvSpPr>
        <p:spPr bwMode="auto">
          <a:xfrm>
            <a:off x="3711026" y="1696708"/>
            <a:ext cx="16353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2" name="TextBox 51"/>
          <p:cNvSpPr txBox="1">
            <a:spLocks noChangeArrowheads="1"/>
          </p:cNvSpPr>
          <p:nvPr/>
        </p:nvSpPr>
        <p:spPr bwMode="auto">
          <a:xfrm rot="847637">
            <a:off x="3576281" y="2685653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x</a:t>
            </a:r>
            <a:r>
              <a:rPr lang="en-US" sz="2000" dirty="0" err="1">
                <a:sym typeface="Symbol"/>
              </a:rPr>
              <a:t>≥</a:t>
            </a:r>
            <a:r>
              <a:rPr lang="en-US" sz="2000" dirty="0" err="1"/>
              <a:t>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54" name="Straight Arrow Connector 53"/>
          <p:cNvCxnSpPr>
            <a:cxnSpLocks/>
            <a:endCxn id="9" idx="2"/>
          </p:cNvCxnSpPr>
          <p:nvPr/>
        </p:nvCxnSpPr>
        <p:spPr>
          <a:xfrm>
            <a:off x="2489263" y="2063751"/>
            <a:ext cx="3237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1"/>
          <p:cNvSpPr txBox="1">
            <a:spLocks noChangeArrowheads="1"/>
          </p:cNvSpPr>
          <p:nvPr/>
        </p:nvSpPr>
        <p:spPr bwMode="auto">
          <a:xfrm>
            <a:off x="5783008" y="2323914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ym typeface="Symbol"/>
              </a:rPr>
              <a:t>x≥n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61" name="Curved Connector 60"/>
          <p:cNvCxnSpPr>
            <a:stCxn id="11" idx="0"/>
            <a:endCxn id="9" idx="0"/>
          </p:cNvCxnSpPr>
          <p:nvPr/>
        </p:nvCxnSpPr>
        <p:spPr>
          <a:xfrm rot="16200000" flipV="1">
            <a:off x="4384530" y="492270"/>
            <a:ext cx="12700" cy="2838161"/>
          </a:xfrm>
          <a:prstGeom prst="curvedConnector3">
            <a:avLst>
              <a:gd name="adj1" fmla="val 426074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7938" y="1456036"/>
            <a:ext cx="2024913" cy="46166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sym typeface="Symbol"/>
              </a:rPr>
              <a:t>pre: </a:t>
            </a:r>
            <a:r>
              <a:rPr lang="en-US" sz="2400" dirty="0">
                <a:solidFill>
                  <a:schemeClr val="bg1"/>
                </a:solidFill>
                <a:sym typeface="Symbol"/>
              </a:rPr>
              <a:t>0  x 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865" y="2794544"/>
            <a:ext cx="1526380" cy="461665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post: </a:t>
            </a:r>
            <a:r>
              <a:rPr lang="en-US" sz="2400" dirty="0">
                <a:solidFill>
                  <a:schemeClr val="bg1"/>
                </a:solidFill>
              </a:rPr>
              <a:t>x=n</a:t>
            </a:r>
          </a:p>
        </p:txBody>
      </p:sp>
      <p:cxnSp>
        <p:nvCxnSpPr>
          <p:cNvPr id="70" name="Straight Arrow Connector 69"/>
          <p:cNvCxnSpPr>
            <a:cxnSpLocks/>
            <a:stCxn id="12" idx="4"/>
          </p:cNvCxnSpPr>
          <p:nvPr/>
        </p:nvCxnSpPr>
        <p:spPr>
          <a:xfrm>
            <a:off x="5803610" y="3193601"/>
            <a:ext cx="0" cy="2608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62DDB0-193C-DB40-97E3-60BC921B6472}"/>
              </a:ext>
            </a:extLst>
          </p:cNvPr>
          <p:cNvSpPr txBox="1"/>
          <p:nvPr/>
        </p:nvSpPr>
        <p:spPr>
          <a:xfrm>
            <a:off x="6019799" y="1764269"/>
            <a:ext cx="1162498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  </a:t>
            </a:r>
            <a:r>
              <a:rPr lang="en-US" sz="2000" dirty="0">
                <a:solidFill>
                  <a:schemeClr val="bg1"/>
                </a:solidFill>
              </a:rPr>
              <a:t>x 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 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BC7807-F01A-124C-B091-81EBDCEEF022}"/>
              </a:ext>
            </a:extLst>
          </p:cNvPr>
          <p:cNvSpPr txBox="1"/>
          <p:nvPr/>
        </p:nvSpPr>
        <p:spPr>
          <a:xfrm>
            <a:off x="1844815" y="2314174"/>
            <a:ext cx="1162498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  </a:t>
            </a:r>
            <a:r>
              <a:rPr lang="en-US" sz="2000" dirty="0">
                <a:solidFill>
                  <a:schemeClr val="bg1"/>
                </a:solidFill>
              </a:rPr>
              <a:t>x 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 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5DAB1A-1158-2A4F-AB4A-8A0CF203AE0E}"/>
              </a:ext>
            </a:extLst>
          </p:cNvPr>
          <p:cNvSpPr txBox="1"/>
          <p:nvPr/>
        </p:nvSpPr>
        <p:spPr>
          <a:xfrm>
            <a:off x="6097970" y="2831787"/>
            <a:ext cx="983935" cy="400110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x 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=  n</a:t>
            </a:r>
            <a:endParaRPr lang="en-US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6875F1-B9FF-794F-8B84-A406A77ED77A}"/>
                  </a:ext>
                </a:extLst>
              </p:cNvPr>
              <p:cNvSpPr txBox="1"/>
              <p:nvPr/>
            </p:nvSpPr>
            <p:spPr>
              <a:xfrm>
                <a:off x="378589" y="3803200"/>
                <a:ext cx="8689211" cy="244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decorate every node with an assertion (blue). Let A</a:t>
                </a:r>
                <a:r>
                  <a:rPr lang="en-US" baseline="-25000" dirty="0"/>
                  <a:t>s</a:t>
                </a:r>
                <a:r>
                  <a:rPr lang="en-US" dirty="0"/>
                  <a:t> be the assertion at node s. Given a pre- and post-condition P and Q, they are valid if: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 assertions are consistent. That is: for every arrow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dirty="0"/>
                  <a:t> {* A</a:t>
                </a:r>
                <a:r>
                  <a:rPr lang="en-US" baseline="-25000" dirty="0"/>
                  <a:t>s</a:t>
                </a:r>
                <a:r>
                  <a:rPr lang="en-US" dirty="0"/>
                  <a:t>*} </a:t>
                </a:r>
                <a:r>
                  <a:rPr lang="en-US" i="1" dirty="0"/>
                  <a:t>a</a:t>
                </a:r>
                <a:r>
                  <a:rPr lang="en-US" dirty="0"/>
                  <a:t> {* A</a:t>
                </a:r>
                <a:r>
                  <a:rPr lang="en-US" baseline="-25000" dirty="0"/>
                  <a:t>t</a:t>
                </a:r>
                <a:r>
                  <a:rPr lang="en-US" dirty="0"/>
                  <a:t> *} holds.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P implies the assertion at the starting node.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 assertion at the exit node implies Q.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There is a termination metric m, with a lower bound 0. Executing any arrow decreases this m.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6875F1-B9FF-794F-8B84-A406A77ED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89" y="3803200"/>
                <a:ext cx="8689211" cy="2447273"/>
              </a:xfrm>
              <a:prstGeom prst="rect">
                <a:avLst/>
              </a:prstGeom>
              <a:blipFill>
                <a:blip r:embed="rId3"/>
                <a:stretch>
                  <a:fillRect l="-584" t="-515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22654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6140</TotalTime>
  <Words>7484</Words>
  <Application>Microsoft Macintosh PowerPoint</Application>
  <PresentationFormat>On-screen Show (4:3)</PresentationFormat>
  <Paragraphs>726</Paragraphs>
  <Slides>70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Cambria Math</vt:lpstr>
      <vt:lpstr>Garamond</vt:lpstr>
      <vt:lpstr>Segoe UI</vt:lpstr>
      <vt:lpstr>Wingdings</vt:lpstr>
      <vt:lpstr>Edge</vt:lpstr>
      <vt:lpstr>Hoare Logic LN chapter 5, 6, 9.3</vt:lpstr>
      <vt:lpstr>Overview</vt:lpstr>
      <vt:lpstr>Part 1 : reasoning about basic statements</vt:lpstr>
      <vt:lpstr>Hoare triple</vt:lpstr>
      <vt:lpstr>Partial and total correctness interpretation</vt:lpstr>
      <vt:lpstr>Difficult to capture with standard Hoare triples</vt:lpstr>
      <vt:lpstr>Hoare Logic</vt:lpstr>
      <vt:lpstr>Inference rule for IF</vt:lpstr>
      <vt:lpstr>Inference rule for assignment, attemp-1</vt:lpstr>
      <vt:lpstr>Examples</vt:lpstr>
      <vt:lpstr>Assignment</vt:lpstr>
      <vt:lpstr>Few other basic rules</vt:lpstr>
      <vt:lpstr>Few other basic rules</vt:lpstr>
      <vt:lpstr>How does a proof proceed now ?</vt:lpstr>
      <vt:lpstr>Weakest pre-condition (wp), LN Sec. 6.2</vt:lpstr>
      <vt:lpstr>Weaker and stronger</vt:lpstr>
      <vt:lpstr>Weakest pre-condition</vt:lpstr>
      <vt:lpstr>Weakest pre-condition</vt:lpstr>
      <vt:lpstr>But... </vt:lpstr>
      <vt:lpstr>Some notes before we attempt to define wp </vt:lpstr>
      <vt:lpstr>Weakest pre-condition of skip and assignment</vt:lpstr>
      <vt:lpstr>Are those definitions “good” ?</vt:lpstr>
      <vt:lpstr>wp  of  SEQ</vt:lpstr>
      <vt:lpstr>wp  of  SEQ</vt:lpstr>
      <vt:lpstr>wp  of   IF</vt:lpstr>
      <vt:lpstr>Alternative formulation of wp IF</vt:lpstr>
      <vt:lpstr>How does a proof proceed now ?</vt:lpstr>
      <vt:lpstr>Example</vt:lpstr>
      <vt:lpstr>Some notes about the verification approach</vt:lpstr>
      <vt:lpstr>Part II : reasoning about loops</vt:lpstr>
      <vt:lpstr>How to prove this ?</vt:lpstr>
      <vt:lpstr>Idea</vt:lpstr>
      <vt:lpstr>Ok, what kind of predicate is I ??</vt:lpstr>
      <vt:lpstr>Establishing the base case</vt:lpstr>
      <vt:lpstr>To Summarize</vt:lpstr>
      <vt:lpstr>Few things to note</vt:lpstr>
      <vt:lpstr>Examples</vt:lpstr>
      <vt:lpstr>Proving termination</vt:lpstr>
      <vt:lpstr>Capturing the termination conditions</vt:lpstr>
      <vt:lpstr>To Summarize</vt:lpstr>
      <vt:lpstr>Alternatively it can be formulated as follows</vt:lpstr>
      <vt:lpstr>Examples</vt:lpstr>
      <vt:lpstr>A bigger example</vt:lpstr>
      <vt:lpstr>Invariant and termination metric</vt:lpstr>
      <vt:lpstr>It comes down to proving these</vt:lpstr>
      <vt:lpstr>Reformulating them in terms of wp</vt:lpstr>
      <vt:lpstr>Top level structure of the proofs </vt:lpstr>
      <vt:lpstr>Proof of init</vt:lpstr>
      <vt:lpstr>Proof of I’s invariance</vt:lpstr>
      <vt:lpstr>Top level structure of the proofs of termination</vt:lpstr>
      <vt:lpstr>Loop with breaks, LN Sec. 9.3</vt:lpstr>
      <vt:lpstr>Loop with breaks</vt:lpstr>
      <vt:lpstr>Loop with breaks</vt:lpstr>
      <vt:lpstr>Example</vt:lpstr>
      <vt:lpstr>Dealing with more constructs </vt:lpstr>
      <vt:lpstr>Simultant assignment</vt:lpstr>
      <vt:lpstr>The order of assignment matters</vt:lpstr>
      <vt:lpstr>Assignment into an array</vt:lpstr>
      <vt:lpstr>The formalism</vt:lpstr>
      <vt:lpstr>Example</vt:lpstr>
      <vt:lpstr>Reducing a program spec to a statement spec</vt:lpstr>
      <vt:lpstr>Some restrictions imposed on uPL</vt:lpstr>
      <vt:lpstr>Pass by copy-restore</vt:lpstr>
      <vt:lpstr>Pass by copy-restore, why?</vt:lpstr>
      <vt:lpstr>Meaning of variables in the post-condition</vt:lpstr>
      <vt:lpstr>Example of the reduction</vt:lpstr>
      <vt:lpstr>How to refer to parameters’ old value?</vt:lpstr>
      <vt:lpstr>Note: unstructured programs</vt:lpstr>
      <vt:lpstr>Floyd Logic</vt:lpstr>
      <vt:lpstr>Floyd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underdark</dc:creator>
  <cp:lastModifiedBy>Prasetya, S.W.B. (Wishnu)</cp:lastModifiedBy>
  <cp:revision>335</cp:revision>
  <cp:lastPrinted>1601-01-01T00:00:00Z</cp:lastPrinted>
  <dcterms:created xsi:type="dcterms:W3CDTF">1601-01-01T00:00:00Z</dcterms:created>
  <dcterms:modified xsi:type="dcterms:W3CDTF">2020-06-12T16:25:24Z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