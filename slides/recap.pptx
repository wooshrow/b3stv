
<file path=[Content_Types].xml><?xml version="1.0" encoding="utf-8"?>
<Types xmlns="http://schemas.openxmlformats.org/package/2006/content-types">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15"/>
  </p:notesMasterIdLst>
  <p:sldIdLst>
    <p:sldId id="373" r:id="rId2"/>
    <p:sldId id="340" r:id="rId3"/>
    <p:sldId id="299" r:id="rId4"/>
    <p:sldId id="330" r:id="rId5"/>
    <p:sldId id="326" r:id="rId6"/>
    <p:sldId id="298" r:id="rId7"/>
    <p:sldId id="262" r:id="rId8"/>
    <p:sldId id="280" r:id="rId9"/>
    <p:sldId id="266" r:id="rId10"/>
    <p:sldId id="256" r:id="rId11"/>
    <p:sldId id="354" r:id="rId12"/>
    <p:sldId id="351" r:id="rId13"/>
    <p:sldId id="352" r:id="rId14"/>
  </p:sldIdLst>
  <p:sldSz cx="9144000" cy="6858000" type="screen4x3"/>
  <p:notesSz cx="6858000" cy="9144000"/>
  <p:defaultTex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E75"/>
    <a:srgbClr val="FFC000"/>
    <a:srgbClr val="C0E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3"/>
    <p:restoredTop sz="80810" autoAdjust="0"/>
  </p:normalViewPr>
  <p:slideViewPr>
    <p:cSldViewPr>
      <p:cViewPr varScale="1">
        <p:scale>
          <a:sx n="77" d="100"/>
          <a:sy n="77" d="100"/>
        </p:scale>
        <p:origin x="2344" y="1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5A40EBA7-2384-435F-9A3C-DD827A7BCFAF}" type="datetimeFigureOut">
              <a:rPr lang="nl-NL"/>
              <a:pPr>
                <a:defRPr/>
              </a:pPr>
              <a:t>10-05-20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F84EA20E-9838-494E-B9DD-2C988F7E650A}" type="slidenum">
              <a:rPr lang="en-US"/>
              <a:pPr>
                <a:defRPr/>
              </a:pPr>
              <a:t>‹#›</a:t>
            </a:fld>
            <a:endParaRPr lang="en-US"/>
          </a:p>
        </p:txBody>
      </p:sp>
    </p:spTree>
    <p:extLst>
      <p:ext uri="{BB962C8B-B14F-4D97-AF65-F5344CB8AC3E}">
        <p14:creationId xmlns:p14="http://schemas.microsoft.com/office/powerpoint/2010/main" val="11751700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F84EA20E-9838-494E-B9DD-2C988F7E650A}" type="slidenum">
              <a:rPr lang="en-US" smtClean="0"/>
              <a:pPr>
                <a:defRPr/>
              </a:pPr>
              <a:t>1</a:t>
            </a:fld>
            <a:endParaRPr lang="en-US"/>
          </a:p>
        </p:txBody>
      </p:sp>
    </p:spTree>
    <p:extLst>
      <p:ext uri="{BB962C8B-B14F-4D97-AF65-F5344CB8AC3E}">
        <p14:creationId xmlns:p14="http://schemas.microsoft.com/office/powerpoint/2010/main" val="16069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F84EA20E-9838-494E-B9DD-2C988F7E650A}" type="slidenum">
              <a:rPr lang="en-US" smtClean="0"/>
              <a:pPr>
                <a:defRPr/>
              </a:pPr>
              <a:t>6</a:t>
            </a:fld>
            <a:endParaRPr lang="en-US"/>
          </a:p>
        </p:txBody>
      </p:sp>
    </p:spTree>
    <p:extLst>
      <p:ext uri="{BB962C8B-B14F-4D97-AF65-F5344CB8AC3E}">
        <p14:creationId xmlns:p14="http://schemas.microsoft.com/office/powerpoint/2010/main" val="2358157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p:spPr>
      </p:sp>
      <p:sp>
        <p:nvSpPr>
          <p:cNvPr id="4403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40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40C2CAF-E3B1-4627-9E06-1FF5B1B475B9}" type="slidenum">
              <a:rPr lang="en-US" smtClean="0">
                <a:latin typeface="Arial" charset="0"/>
                <a:cs typeface="Arial" charset="0"/>
              </a:rPr>
              <a:pPr/>
              <a:t>7</a:t>
            </a:fld>
            <a:endParaRPr lang="en-US">
              <a:latin typeface="Arial" charset="0"/>
              <a:cs typeface="Arial" charset="0"/>
            </a:endParaRPr>
          </a:p>
        </p:txBody>
      </p:sp>
    </p:spTree>
    <p:extLst>
      <p:ext uri="{BB962C8B-B14F-4D97-AF65-F5344CB8AC3E}">
        <p14:creationId xmlns:p14="http://schemas.microsoft.com/office/powerpoint/2010/main" val="3929768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p:spPr>
      </p:sp>
      <p:sp>
        <p:nvSpPr>
          <p:cNvPr id="4710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71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7A35C42-481E-4B4E-B0AD-A7723FEDC834}" type="slidenum">
              <a:rPr lang="en-US" smtClean="0">
                <a:latin typeface="Arial" charset="0"/>
                <a:cs typeface="Arial" charset="0"/>
              </a:rPr>
              <a:pPr/>
              <a:t>8</a:t>
            </a:fld>
            <a:endParaRPr lang="en-US">
              <a:latin typeface="Arial" charset="0"/>
              <a:cs typeface="Arial" charset="0"/>
            </a:endParaRPr>
          </a:p>
        </p:txBody>
      </p:sp>
    </p:spTree>
    <p:extLst>
      <p:ext uri="{BB962C8B-B14F-4D97-AF65-F5344CB8AC3E}">
        <p14:creationId xmlns:p14="http://schemas.microsoft.com/office/powerpoint/2010/main" val="190150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p:spPr>
      </p:sp>
      <p:sp>
        <p:nvSpPr>
          <p:cNvPr id="5017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In C#: assume</a:t>
            </a:r>
            <a:r>
              <a:rPr lang="en-US" baseline="0" dirty="0"/>
              <a:t> </a:t>
            </a:r>
            <a:r>
              <a:rPr lang="en-US" baseline="0" dirty="0" err="1"/>
              <a:t>i</a:t>
            </a:r>
            <a:r>
              <a:rPr lang="en-US" baseline="0" dirty="0"/>
              <a:t>() to be a virtual method.</a:t>
            </a:r>
            <a:endParaRPr lang="en-US" dirty="0"/>
          </a:p>
        </p:txBody>
      </p:sp>
      <p:sp>
        <p:nvSpPr>
          <p:cNvPr id="501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E928582-93B0-4287-BD77-DA0588AC9DF1}" type="slidenum">
              <a:rPr lang="en-US" smtClean="0">
                <a:latin typeface="Arial" charset="0"/>
                <a:cs typeface="Arial" charset="0"/>
              </a:rPr>
              <a:pPr/>
              <a:t>9</a:t>
            </a:fld>
            <a:endParaRPr lang="en-US">
              <a:latin typeface="Arial" charset="0"/>
              <a:cs typeface="Arial" charset="0"/>
            </a:endParaRPr>
          </a:p>
        </p:txBody>
      </p:sp>
    </p:spTree>
    <p:extLst>
      <p:ext uri="{BB962C8B-B14F-4D97-AF65-F5344CB8AC3E}">
        <p14:creationId xmlns:p14="http://schemas.microsoft.com/office/powerpoint/2010/main" val="3751659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29B03665-8E56-46E1-9317-848CC0028892}" type="slidenum">
              <a:rPr lang="en-US" smtClean="0"/>
              <a:pPr>
                <a:defRPr/>
              </a:pPr>
              <a:t>10</a:t>
            </a:fld>
            <a:endParaRPr lang="en-US"/>
          </a:p>
        </p:txBody>
      </p:sp>
    </p:spTree>
    <p:extLst>
      <p:ext uri="{BB962C8B-B14F-4D97-AF65-F5344CB8AC3E}">
        <p14:creationId xmlns:p14="http://schemas.microsoft.com/office/powerpoint/2010/main" val="19556882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p:spPr>
      </p:sp>
      <p:sp>
        <p:nvSpPr>
          <p:cNvPr id="5325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532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128F312-446E-4461-9655-3E0F4025C751}" type="slidenum">
              <a:rPr lang="en-US" smtClean="0">
                <a:latin typeface="Arial" charset="0"/>
                <a:cs typeface="Arial" charset="0"/>
              </a:rPr>
              <a:pPr/>
              <a:t>11</a:t>
            </a:fld>
            <a:endParaRPr lang="en-US">
              <a:latin typeface="Arial" charset="0"/>
              <a:cs typeface="Arial" charset="0"/>
            </a:endParaRPr>
          </a:p>
        </p:txBody>
      </p:sp>
    </p:spTree>
    <p:extLst>
      <p:ext uri="{BB962C8B-B14F-4D97-AF65-F5344CB8AC3E}">
        <p14:creationId xmlns:p14="http://schemas.microsoft.com/office/powerpoint/2010/main" val="2243679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00174"/>
            <a:ext cx="7772400" cy="2357454"/>
          </a:xfrm>
          <a:noFill/>
          <a:ln w="12700">
            <a:solidFill>
              <a:schemeClr val="accent1"/>
            </a:solidFill>
          </a:ln>
        </p:spPr>
        <p:txBody>
          <a:bodyPr/>
          <a:lstStyle/>
          <a:p>
            <a:r>
              <a:rPr lang="en-US"/>
              <a:t>Click to edit Master title style</a:t>
            </a:r>
          </a:p>
        </p:txBody>
      </p:sp>
      <p:sp>
        <p:nvSpPr>
          <p:cNvPr id="3" name="Subtitle 2"/>
          <p:cNvSpPr>
            <a:spLocks noGrp="1"/>
          </p:cNvSpPr>
          <p:nvPr>
            <p:ph type="subTitle" idx="1"/>
          </p:nvPr>
        </p:nvSpPr>
        <p:spPr>
          <a:xfrm>
            <a:off x="1371600" y="4071942"/>
            <a:ext cx="6400800" cy="1785950"/>
          </a:xfrm>
        </p:spPr>
        <p:txBody>
          <a:bodyPr/>
          <a:lstStyle>
            <a:lvl1pPr marL="0" indent="0" algn="ctr">
              <a:buNone/>
              <a:defRPr i="1">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53879DAE-1573-4A9F-82ED-75F6503B463B}" type="datetime1">
              <a:rPr lang="nl-NL"/>
              <a:pPr>
                <a:defRPr/>
              </a:pPr>
              <a:t>10-05-20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736A5D1-1A3C-4350-888E-D411BAFCE70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ln w="12700">
            <a:solidFill>
              <a:schemeClr val="accent1"/>
            </a:solidFill>
          </a:ln>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BAF45CF-9CE3-4630-B53E-CF172BFE62F8}" type="datetime1">
              <a:rPr lang="nl-NL"/>
              <a:pPr>
                <a:defRPr/>
              </a:pPr>
              <a:t>10-05-20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7E6CD0C-1625-4B59-866D-32083D4A500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53945C18-3059-4EC2-9CC8-EB6AE04FFE6E}" type="datetime1">
              <a:rPr lang="nl-NL"/>
              <a:pPr>
                <a:defRPr/>
              </a:pPr>
              <a:t>10-05-20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2554EDA-DF7D-46D8-98F8-780DAD52D42E}"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379B2FC2-CBD6-4865-9453-BEED5F25D572}" type="datetime1">
              <a:rPr lang="nl-NL"/>
              <a:pPr>
                <a:defRPr/>
              </a:pPr>
              <a:t>10-05-20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8E270F6-954C-46C1-B9CD-483DD915BD3B}"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9305B4D0-705E-43D2-8DFC-14878A60A335}" type="datetime1">
              <a:rPr lang="nl-NL"/>
              <a:pPr>
                <a:defRPr/>
              </a:pPr>
              <a:t>10-05-20</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332D27A2-DA30-4B07-AF01-F835F3570AC1}"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accent1"/>
            </a:solidFill>
          </a:ln>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0D8CBF82-2373-4CCD-8B8D-A4514DE08A39}" type="datetime1">
              <a:rPr lang="nl-NL"/>
              <a:pPr>
                <a:defRPr/>
              </a:pPr>
              <a:t>10-05-20</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21F090B6-7D1E-4FF3-A46A-5AEE5FF4A6A8}"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0F17D95-E9FF-4A8F-89D9-FFF32BC31C0F}" type="datetime1">
              <a:rPr lang="nl-NL"/>
              <a:pPr>
                <a:defRPr/>
              </a:pPr>
              <a:t>10-05-20</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D3565ABB-3563-4CA9-B2FF-6852FB256AF8}"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2FB7FDB-2744-44B6-BB45-DA6FA6854C1D}" type="datetime1">
              <a:rPr lang="nl-NL"/>
              <a:pPr>
                <a:defRPr/>
              </a:pPr>
              <a:t>10-05-20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3B86D6-1C0D-43B8-924F-FB054892AF9A}"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D1C965F-F033-4137-BF11-61F8C96A46B0}" type="datetime1">
              <a:rPr lang="nl-NL"/>
              <a:pPr>
                <a:defRPr/>
              </a:pPr>
              <a:t>10-05-20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4C7183E-0AAD-44FF-B01E-6AC92D80D068}"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6033684-4B06-40A7-9821-24C9113DCFE3}" type="datetime1">
              <a:rPr lang="nl-NL"/>
              <a:pPr>
                <a:defRPr/>
              </a:pPr>
              <a:t>10-05-20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6D91FCA-608F-41A6-B32C-22EADC547290}"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12F62FE-A8FC-4D24-9DF2-F642D37A788C}" type="datetime1">
              <a:rPr lang="nl-NL"/>
              <a:pPr>
                <a:defRPr/>
              </a:pPr>
              <a:t>10-05-20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EFDAD7F-7EC2-43D4-88E9-55E3AF21FF0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BC1DBE67-505B-4F1F-8FBE-1F9207514C8E}" type="datetime1">
              <a:rPr lang="nl-NL"/>
              <a:pPr>
                <a:defRPr/>
              </a:pPr>
              <a:t>10-05-20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1DDB10FB-3D77-488A-8A09-B8D2593DEDA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C3144-6702-3843-BEAE-E77A4F592881}"/>
              </a:ext>
            </a:extLst>
          </p:cNvPr>
          <p:cNvSpPr>
            <a:spLocks noGrp="1"/>
          </p:cNvSpPr>
          <p:nvPr>
            <p:ph type="title"/>
          </p:nvPr>
        </p:nvSpPr>
        <p:spPr/>
        <p:txBody>
          <a:bodyPr/>
          <a:lstStyle/>
          <a:p>
            <a:r>
              <a:rPr lang="en-NL" dirty="0"/>
              <a:t>Recap</a:t>
            </a:r>
          </a:p>
        </p:txBody>
      </p:sp>
      <p:sp>
        <p:nvSpPr>
          <p:cNvPr id="3" name="Content Placeholder 2">
            <a:extLst>
              <a:ext uri="{FF2B5EF4-FFF2-40B4-BE49-F238E27FC236}">
                <a16:creationId xmlns:a16="http://schemas.microsoft.com/office/drawing/2014/main" id="{89A5A906-40F9-2543-A689-9D623F6E0B2A}"/>
              </a:ext>
            </a:extLst>
          </p:cNvPr>
          <p:cNvSpPr>
            <a:spLocks noGrp="1"/>
          </p:cNvSpPr>
          <p:nvPr>
            <p:ph idx="1"/>
          </p:nvPr>
        </p:nvSpPr>
        <p:spPr/>
        <p:txBody>
          <a:bodyPr/>
          <a:lstStyle/>
          <a:p>
            <a:r>
              <a:rPr lang="en-NL" dirty="0"/>
              <a:t>Black Box testing vs White Box tesing</a:t>
            </a:r>
          </a:p>
          <a:p>
            <a:r>
              <a:rPr lang="en-NL" dirty="0"/>
              <a:t>White Box: Control Flow Based approach</a:t>
            </a:r>
          </a:p>
          <a:p>
            <a:r>
              <a:rPr lang="en-NL" dirty="0"/>
              <a:t>Black Box:</a:t>
            </a:r>
          </a:p>
          <a:p>
            <a:pPr marL="971550" lvl="1" indent="-514350">
              <a:buFont typeface="+mj-lt"/>
              <a:buAutoNum type="arabicPeriod"/>
            </a:pPr>
            <a:r>
              <a:rPr lang="en-NL" dirty="0"/>
              <a:t>Partition-based approach</a:t>
            </a:r>
          </a:p>
          <a:p>
            <a:pPr marL="971550" lvl="1" indent="-514350">
              <a:buFont typeface="+mj-lt"/>
              <a:buAutoNum type="arabicPeriod"/>
            </a:pPr>
            <a:r>
              <a:rPr lang="en-NL" dirty="0"/>
              <a:t>Model-based testing / MBT</a:t>
            </a:r>
          </a:p>
        </p:txBody>
      </p:sp>
      <p:sp>
        <p:nvSpPr>
          <p:cNvPr id="4" name="Slide Number Placeholder 3">
            <a:extLst>
              <a:ext uri="{FF2B5EF4-FFF2-40B4-BE49-F238E27FC236}">
                <a16:creationId xmlns:a16="http://schemas.microsoft.com/office/drawing/2014/main" id="{23D62750-6C0E-2447-AF78-103295FC3897}"/>
              </a:ext>
            </a:extLst>
          </p:cNvPr>
          <p:cNvSpPr>
            <a:spLocks noGrp="1"/>
          </p:cNvSpPr>
          <p:nvPr>
            <p:ph type="sldNum" sz="quarter" idx="12"/>
          </p:nvPr>
        </p:nvSpPr>
        <p:spPr/>
        <p:txBody>
          <a:bodyPr/>
          <a:lstStyle/>
          <a:p>
            <a:pPr>
              <a:defRPr/>
            </a:pPr>
            <a:fld id="{F7E6CD0C-1625-4B59-866D-32083D4A5005}" type="slidenum">
              <a:rPr lang="en-US" smtClean="0"/>
              <a:pPr>
                <a:defRPr/>
              </a:pPr>
              <a:t>1</a:t>
            </a:fld>
            <a:endParaRPr lang="en-US"/>
          </a:p>
        </p:txBody>
      </p:sp>
    </p:spTree>
    <p:extLst>
      <p:ext uri="{BB962C8B-B14F-4D97-AF65-F5344CB8AC3E}">
        <p14:creationId xmlns:p14="http://schemas.microsoft.com/office/powerpoint/2010/main" val="1195670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0871" y="319673"/>
            <a:ext cx="7200900" cy="867789"/>
          </a:xfrm>
        </p:spPr>
        <p:txBody>
          <a:bodyPr>
            <a:normAutofit fontScale="90000"/>
          </a:bodyPr>
          <a:lstStyle/>
          <a:p>
            <a:r>
              <a:rPr lang="en-US" sz="3600" dirty="0"/>
              <a:t>Partition the input domain into “blocks”</a:t>
            </a:r>
          </a:p>
        </p:txBody>
      </p:sp>
      <p:sp>
        <p:nvSpPr>
          <p:cNvPr id="3" name="Content Placeholder 2"/>
          <p:cNvSpPr>
            <a:spLocks noGrp="1"/>
          </p:cNvSpPr>
          <p:nvPr>
            <p:ph idx="1"/>
          </p:nvPr>
        </p:nvSpPr>
        <p:spPr>
          <a:xfrm>
            <a:off x="539552" y="5001567"/>
            <a:ext cx="8280920" cy="1617867"/>
          </a:xfrm>
        </p:spPr>
        <p:txBody>
          <a:bodyPr>
            <a:normAutofit fontScale="92500" lnSpcReduction="20000"/>
          </a:bodyPr>
          <a:lstStyle/>
          <a:p>
            <a:r>
              <a:rPr lang="en-US" sz="2400" dirty="0">
                <a:sym typeface="Wingdings"/>
              </a:rPr>
              <a:t>In this example the input domain is spanned by 3 characteristics, and there are in total 8 blocks.</a:t>
            </a:r>
          </a:p>
          <a:p>
            <a:r>
              <a:rPr lang="en-US" sz="2400" dirty="0">
                <a:sym typeface="Wingdings"/>
              </a:rPr>
              <a:t>A block combination over the characteristics, e.g. (&lt;10k,&lt;18,0) abstractly specifies a test case.</a:t>
            </a:r>
          </a:p>
          <a:p>
            <a:r>
              <a:rPr lang="en-US" sz="2400" dirty="0">
                <a:sym typeface="Wingdings"/>
              </a:rPr>
              <a:t>There are in total 3x3x2 = 18 such combinations of blocks.</a:t>
            </a:r>
          </a:p>
        </p:txBody>
      </p:sp>
      <p:sp>
        <p:nvSpPr>
          <p:cNvPr id="4" name="Slide Number Placeholder 3"/>
          <p:cNvSpPr>
            <a:spLocks noGrp="1"/>
          </p:cNvSpPr>
          <p:nvPr>
            <p:ph type="sldNum" sz="quarter" idx="12"/>
          </p:nvPr>
        </p:nvSpPr>
        <p:spPr/>
        <p:txBody>
          <a:bodyPr/>
          <a:lstStyle/>
          <a:p>
            <a:fld id="{69E57DC2-970A-4B3E-BB1C-7A09969E49DF}" type="slidenum">
              <a:rPr lang="en-US" smtClean="0"/>
              <a:t>2</a:t>
            </a:fld>
            <a:endParaRPr lang="en-US" dirty="0"/>
          </a:p>
        </p:txBody>
      </p:sp>
      <p:sp>
        <p:nvSpPr>
          <p:cNvPr id="5" name="Oval 4"/>
          <p:cNvSpPr/>
          <p:nvPr/>
        </p:nvSpPr>
        <p:spPr>
          <a:xfrm>
            <a:off x="1593268" y="2102093"/>
            <a:ext cx="1384300" cy="184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flipV="1">
            <a:off x="1428168" y="2533893"/>
            <a:ext cx="1676400" cy="88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403648" y="3283024"/>
            <a:ext cx="1612900" cy="8890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968726" y="2209011"/>
            <a:ext cx="635110" cy="338554"/>
          </a:xfrm>
          <a:prstGeom prst="rect">
            <a:avLst/>
          </a:prstGeom>
          <a:noFill/>
        </p:spPr>
        <p:txBody>
          <a:bodyPr wrap="none" rtlCol="0">
            <a:spAutoFit/>
          </a:bodyPr>
          <a:lstStyle/>
          <a:p>
            <a:r>
              <a:rPr lang="en-US" sz="1600" dirty="0"/>
              <a:t>&lt;10k</a:t>
            </a:r>
          </a:p>
        </p:txBody>
      </p:sp>
      <p:sp>
        <p:nvSpPr>
          <p:cNvPr id="16" name="TextBox 15"/>
          <p:cNvSpPr txBox="1"/>
          <p:nvPr/>
        </p:nvSpPr>
        <p:spPr>
          <a:xfrm>
            <a:off x="1733075" y="2822613"/>
            <a:ext cx="1087157" cy="338554"/>
          </a:xfrm>
          <a:prstGeom prst="rect">
            <a:avLst/>
          </a:prstGeom>
          <a:noFill/>
        </p:spPr>
        <p:txBody>
          <a:bodyPr wrap="none" rtlCol="0">
            <a:spAutoFit/>
          </a:bodyPr>
          <a:lstStyle/>
          <a:p>
            <a:r>
              <a:rPr lang="en-US" sz="1600" dirty="0"/>
              <a:t>[10k..50k)</a:t>
            </a:r>
          </a:p>
        </p:txBody>
      </p:sp>
      <p:sp>
        <p:nvSpPr>
          <p:cNvPr id="17" name="TextBox 16"/>
          <p:cNvSpPr txBox="1"/>
          <p:nvPr/>
        </p:nvSpPr>
        <p:spPr>
          <a:xfrm>
            <a:off x="1950230" y="3460864"/>
            <a:ext cx="627095" cy="338554"/>
          </a:xfrm>
          <a:prstGeom prst="rect">
            <a:avLst/>
          </a:prstGeom>
          <a:noFill/>
        </p:spPr>
        <p:txBody>
          <a:bodyPr wrap="none" rtlCol="0">
            <a:spAutoFit/>
          </a:bodyPr>
          <a:lstStyle/>
          <a:p>
            <a:r>
              <a:rPr lang="en-US" sz="1600" dirty="0"/>
              <a:t>≥50k</a:t>
            </a:r>
          </a:p>
        </p:txBody>
      </p:sp>
      <p:sp>
        <p:nvSpPr>
          <p:cNvPr id="18" name="Oval 17"/>
          <p:cNvSpPr/>
          <p:nvPr/>
        </p:nvSpPr>
        <p:spPr>
          <a:xfrm>
            <a:off x="4027246" y="2102093"/>
            <a:ext cx="1384300" cy="184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p:nvCxnSpPr>
        <p:spPr>
          <a:xfrm flipV="1">
            <a:off x="3862146" y="2533893"/>
            <a:ext cx="1676400" cy="88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862146" y="3219693"/>
            <a:ext cx="1612900" cy="8890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429598" y="2221816"/>
            <a:ext cx="532518" cy="338554"/>
          </a:xfrm>
          <a:prstGeom prst="rect">
            <a:avLst/>
          </a:prstGeom>
          <a:noFill/>
        </p:spPr>
        <p:txBody>
          <a:bodyPr wrap="none" rtlCol="0">
            <a:spAutoFit/>
          </a:bodyPr>
          <a:lstStyle/>
          <a:p>
            <a:r>
              <a:rPr lang="en-US" sz="1600" i="1" dirty="0"/>
              <a:t>&lt;18</a:t>
            </a:r>
          </a:p>
        </p:txBody>
      </p:sp>
      <p:sp>
        <p:nvSpPr>
          <p:cNvPr id="22" name="TextBox 21"/>
          <p:cNvSpPr txBox="1"/>
          <p:nvPr/>
        </p:nvSpPr>
        <p:spPr>
          <a:xfrm>
            <a:off x="4260020" y="2719298"/>
            <a:ext cx="870751" cy="338554"/>
          </a:xfrm>
          <a:prstGeom prst="rect">
            <a:avLst/>
          </a:prstGeom>
          <a:noFill/>
        </p:spPr>
        <p:txBody>
          <a:bodyPr wrap="none" rtlCol="0">
            <a:spAutoFit/>
          </a:bodyPr>
          <a:lstStyle/>
          <a:p>
            <a:r>
              <a:rPr lang="en-US" sz="1600" dirty="0"/>
              <a:t>[18..70]</a:t>
            </a:r>
          </a:p>
        </p:txBody>
      </p:sp>
      <p:sp>
        <p:nvSpPr>
          <p:cNvPr id="23" name="TextBox 22"/>
          <p:cNvSpPr txBox="1"/>
          <p:nvPr/>
        </p:nvSpPr>
        <p:spPr>
          <a:xfrm>
            <a:off x="4489018" y="3383666"/>
            <a:ext cx="532518" cy="338554"/>
          </a:xfrm>
          <a:prstGeom prst="rect">
            <a:avLst/>
          </a:prstGeom>
          <a:noFill/>
        </p:spPr>
        <p:txBody>
          <a:bodyPr wrap="none" rtlCol="0">
            <a:spAutoFit/>
          </a:bodyPr>
          <a:lstStyle/>
          <a:p>
            <a:r>
              <a:rPr lang="en-US" sz="1600" dirty="0"/>
              <a:t>&gt;70</a:t>
            </a:r>
          </a:p>
        </p:txBody>
      </p:sp>
      <p:sp>
        <p:nvSpPr>
          <p:cNvPr id="24" name="TextBox 23"/>
          <p:cNvSpPr txBox="1"/>
          <p:nvPr/>
        </p:nvSpPr>
        <p:spPr>
          <a:xfrm>
            <a:off x="1747385" y="3943593"/>
            <a:ext cx="928459" cy="369332"/>
          </a:xfrm>
          <a:prstGeom prst="rect">
            <a:avLst/>
          </a:prstGeom>
          <a:noFill/>
        </p:spPr>
        <p:txBody>
          <a:bodyPr wrap="none" rtlCol="0">
            <a:spAutoFit/>
          </a:bodyPr>
          <a:lstStyle/>
          <a:p>
            <a:r>
              <a:rPr lang="en-US" dirty="0"/>
              <a:t>income</a:t>
            </a:r>
            <a:endParaRPr lang="en-US" i="1" dirty="0"/>
          </a:p>
        </p:txBody>
      </p:sp>
      <p:sp>
        <p:nvSpPr>
          <p:cNvPr id="25" name="TextBox 24"/>
          <p:cNvSpPr txBox="1"/>
          <p:nvPr/>
        </p:nvSpPr>
        <p:spPr>
          <a:xfrm>
            <a:off x="4482721" y="3920689"/>
            <a:ext cx="569387" cy="369332"/>
          </a:xfrm>
          <a:prstGeom prst="rect">
            <a:avLst/>
          </a:prstGeom>
          <a:noFill/>
        </p:spPr>
        <p:txBody>
          <a:bodyPr wrap="none" rtlCol="0">
            <a:spAutoFit/>
          </a:bodyPr>
          <a:lstStyle/>
          <a:p>
            <a:r>
              <a:rPr lang="en-US" dirty="0"/>
              <a:t>age</a:t>
            </a:r>
          </a:p>
        </p:txBody>
      </p:sp>
      <p:sp>
        <p:nvSpPr>
          <p:cNvPr id="26" name="TextBox 25"/>
          <p:cNvSpPr txBox="1"/>
          <p:nvPr/>
        </p:nvSpPr>
        <p:spPr>
          <a:xfrm>
            <a:off x="3281571" y="2629827"/>
            <a:ext cx="425116" cy="646331"/>
          </a:xfrm>
          <a:prstGeom prst="rect">
            <a:avLst/>
          </a:prstGeom>
          <a:noFill/>
        </p:spPr>
        <p:txBody>
          <a:bodyPr wrap="none" rtlCol="0">
            <a:spAutoFit/>
          </a:bodyPr>
          <a:lstStyle/>
          <a:p>
            <a:r>
              <a:rPr lang="en-US" sz="3600" dirty="0"/>
              <a:t>X</a:t>
            </a:r>
          </a:p>
        </p:txBody>
      </p:sp>
      <p:sp>
        <p:nvSpPr>
          <p:cNvPr id="27" name="TextBox 26"/>
          <p:cNvSpPr txBox="1"/>
          <p:nvPr/>
        </p:nvSpPr>
        <p:spPr>
          <a:xfrm>
            <a:off x="1747385" y="1375673"/>
            <a:ext cx="5898346" cy="523220"/>
          </a:xfrm>
          <a:prstGeom prst="rect">
            <a:avLst/>
          </a:prstGeom>
          <a:noFill/>
        </p:spPr>
        <p:txBody>
          <a:bodyPr wrap="none" rtlCol="0">
            <a:spAutoFit/>
          </a:bodyPr>
          <a:lstStyle/>
          <a:p>
            <a:r>
              <a:rPr lang="en-US" sz="2800" b="1" dirty="0" err="1"/>
              <a:t>incomeTax</a:t>
            </a:r>
            <a:r>
              <a:rPr lang="en-US" sz="2800" i="1" dirty="0"/>
              <a:t>(income, age, #children)</a:t>
            </a:r>
          </a:p>
        </p:txBody>
      </p:sp>
      <p:sp>
        <p:nvSpPr>
          <p:cNvPr id="28" name="Oval 27"/>
          <p:cNvSpPr/>
          <p:nvPr/>
        </p:nvSpPr>
        <p:spPr>
          <a:xfrm>
            <a:off x="6210655" y="2060848"/>
            <a:ext cx="1384300" cy="184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p:nvPr/>
        </p:nvCxnSpPr>
        <p:spPr>
          <a:xfrm>
            <a:off x="6109055" y="2956609"/>
            <a:ext cx="1612900" cy="88900"/>
          </a:xfrm>
          <a:prstGeom prst="line">
            <a:avLst/>
          </a:prstGeom>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6780722" y="2391093"/>
            <a:ext cx="431626" cy="338554"/>
          </a:xfrm>
          <a:prstGeom prst="rect">
            <a:avLst/>
          </a:prstGeom>
          <a:noFill/>
        </p:spPr>
        <p:txBody>
          <a:bodyPr wrap="square" rtlCol="0">
            <a:spAutoFit/>
          </a:bodyPr>
          <a:lstStyle/>
          <a:p>
            <a:pPr algn="ctr"/>
            <a:r>
              <a:rPr lang="en-US" sz="1600" i="1" dirty="0"/>
              <a:t>0</a:t>
            </a:r>
          </a:p>
        </p:txBody>
      </p:sp>
      <p:sp>
        <p:nvSpPr>
          <p:cNvPr id="32" name="TextBox 31"/>
          <p:cNvSpPr txBox="1"/>
          <p:nvPr/>
        </p:nvSpPr>
        <p:spPr>
          <a:xfrm>
            <a:off x="6249635" y="3322009"/>
            <a:ext cx="1297898" cy="338554"/>
          </a:xfrm>
          <a:prstGeom prst="rect">
            <a:avLst/>
          </a:prstGeom>
          <a:noFill/>
        </p:spPr>
        <p:txBody>
          <a:bodyPr wrap="square" rtlCol="0">
            <a:spAutoFit/>
          </a:bodyPr>
          <a:lstStyle/>
          <a:p>
            <a:pPr algn="ctr"/>
            <a:r>
              <a:rPr lang="en-US" sz="1600" i="1" dirty="0"/>
              <a:t>&gt;0</a:t>
            </a:r>
          </a:p>
        </p:txBody>
      </p:sp>
      <p:sp>
        <p:nvSpPr>
          <p:cNvPr id="34" name="TextBox 33"/>
          <p:cNvSpPr txBox="1"/>
          <p:nvPr/>
        </p:nvSpPr>
        <p:spPr>
          <a:xfrm>
            <a:off x="5606607" y="2615664"/>
            <a:ext cx="425116" cy="646331"/>
          </a:xfrm>
          <a:prstGeom prst="rect">
            <a:avLst/>
          </a:prstGeom>
          <a:noFill/>
        </p:spPr>
        <p:txBody>
          <a:bodyPr wrap="none" rtlCol="0">
            <a:spAutoFit/>
          </a:bodyPr>
          <a:lstStyle/>
          <a:p>
            <a:r>
              <a:rPr lang="en-US" sz="3600"/>
              <a:t>X</a:t>
            </a:r>
          </a:p>
        </p:txBody>
      </p:sp>
      <p:sp>
        <p:nvSpPr>
          <p:cNvPr id="35" name="TextBox 34"/>
          <p:cNvSpPr txBox="1"/>
          <p:nvPr/>
        </p:nvSpPr>
        <p:spPr>
          <a:xfrm>
            <a:off x="6379560" y="3934142"/>
            <a:ext cx="1120820" cy="369332"/>
          </a:xfrm>
          <a:prstGeom prst="rect">
            <a:avLst/>
          </a:prstGeom>
          <a:noFill/>
        </p:spPr>
        <p:txBody>
          <a:bodyPr wrap="none" rtlCol="0">
            <a:spAutoFit/>
          </a:bodyPr>
          <a:lstStyle/>
          <a:p>
            <a:r>
              <a:rPr lang="en-US" dirty="0"/>
              <a:t>#children</a:t>
            </a:r>
            <a:endParaRPr lang="en-US" i="1" dirty="0"/>
          </a:p>
        </p:txBody>
      </p:sp>
      <p:sp>
        <p:nvSpPr>
          <p:cNvPr id="6" name="TextBox 5">
            <a:extLst>
              <a:ext uri="{FF2B5EF4-FFF2-40B4-BE49-F238E27FC236}">
                <a16:creationId xmlns:a16="http://schemas.microsoft.com/office/drawing/2014/main" id="{AA35BD94-B0B1-364A-9123-A0CC5541B054}"/>
              </a:ext>
            </a:extLst>
          </p:cNvPr>
          <p:cNvSpPr txBox="1"/>
          <p:nvPr/>
        </p:nvSpPr>
        <p:spPr>
          <a:xfrm>
            <a:off x="3923928" y="4537306"/>
            <a:ext cx="1682679" cy="307777"/>
          </a:xfrm>
          <a:prstGeom prst="rect">
            <a:avLst/>
          </a:prstGeom>
          <a:noFill/>
        </p:spPr>
        <p:txBody>
          <a:bodyPr wrap="square" rtlCol="0">
            <a:spAutoFit/>
          </a:bodyPr>
          <a:lstStyle/>
          <a:p>
            <a:pPr algn="ctr"/>
            <a:r>
              <a:rPr lang="en-US" sz="1400" i="1" dirty="0">
                <a:solidFill>
                  <a:schemeClr val="accent6">
                    <a:lumMod val="60000"/>
                    <a:lumOff val="40000"/>
                  </a:schemeClr>
                </a:solidFill>
              </a:rPr>
              <a:t>characteristics</a:t>
            </a:r>
          </a:p>
        </p:txBody>
      </p:sp>
      <p:cxnSp>
        <p:nvCxnSpPr>
          <p:cNvPr id="8" name="Straight Arrow Connector 7">
            <a:extLst>
              <a:ext uri="{FF2B5EF4-FFF2-40B4-BE49-F238E27FC236}">
                <a16:creationId xmlns:a16="http://schemas.microsoft.com/office/drawing/2014/main" id="{4B49D014-C542-CC44-8A45-2ACB6E3EC8C1}"/>
              </a:ext>
            </a:extLst>
          </p:cNvPr>
          <p:cNvCxnSpPr>
            <a:cxnSpLocks/>
            <a:stCxn id="6" idx="0"/>
            <a:endCxn id="25" idx="2"/>
          </p:cNvCxnSpPr>
          <p:nvPr/>
        </p:nvCxnSpPr>
        <p:spPr>
          <a:xfrm flipV="1">
            <a:off x="4765268" y="4290021"/>
            <a:ext cx="2147" cy="247285"/>
          </a:xfrm>
          <a:prstGeom prst="straightConnector1">
            <a:avLst/>
          </a:prstGeom>
          <a:ln>
            <a:solidFill>
              <a:schemeClr val="accent5">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DBAC8F9-B7FB-414C-BE05-E691880B6C2E}"/>
              </a:ext>
            </a:extLst>
          </p:cNvPr>
          <p:cNvCxnSpPr>
            <a:cxnSpLocks/>
            <a:stCxn id="6" idx="0"/>
            <a:endCxn id="35" idx="1"/>
          </p:cNvCxnSpPr>
          <p:nvPr/>
        </p:nvCxnSpPr>
        <p:spPr>
          <a:xfrm flipV="1">
            <a:off x="4765268" y="4118808"/>
            <a:ext cx="1614292" cy="418498"/>
          </a:xfrm>
          <a:prstGeom prst="straightConnector1">
            <a:avLst/>
          </a:prstGeom>
          <a:ln>
            <a:solidFill>
              <a:schemeClr val="accent5">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8372C8B8-BDC1-194F-AB01-E76AA733BD28}"/>
              </a:ext>
            </a:extLst>
          </p:cNvPr>
          <p:cNvCxnSpPr>
            <a:cxnSpLocks/>
            <a:stCxn id="6" idx="0"/>
            <a:endCxn id="24" idx="3"/>
          </p:cNvCxnSpPr>
          <p:nvPr/>
        </p:nvCxnSpPr>
        <p:spPr>
          <a:xfrm flipH="1" flipV="1">
            <a:off x="2675844" y="4128259"/>
            <a:ext cx="2089424" cy="409047"/>
          </a:xfrm>
          <a:prstGeom prst="straightConnector1">
            <a:avLst/>
          </a:prstGeom>
          <a:ln>
            <a:solidFill>
              <a:schemeClr val="accent5">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313DB82-E8BE-A843-8D29-8473F6BEFB84}"/>
              </a:ext>
            </a:extLst>
          </p:cNvPr>
          <p:cNvSpPr txBox="1"/>
          <p:nvPr/>
        </p:nvSpPr>
        <p:spPr>
          <a:xfrm>
            <a:off x="107504" y="2819194"/>
            <a:ext cx="793968" cy="307777"/>
          </a:xfrm>
          <a:prstGeom prst="rect">
            <a:avLst/>
          </a:prstGeom>
          <a:noFill/>
        </p:spPr>
        <p:txBody>
          <a:bodyPr wrap="square" rtlCol="0">
            <a:spAutoFit/>
          </a:bodyPr>
          <a:lstStyle/>
          <a:p>
            <a:pPr algn="ctr"/>
            <a:r>
              <a:rPr lang="en-US" sz="1400" i="1" dirty="0">
                <a:solidFill>
                  <a:schemeClr val="accent6">
                    <a:lumMod val="60000"/>
                    <a:lumOff val="40000"/>
                  </a:schemeClr>
                </a:solidFill>
              </a:rPr>
              <a:t>blocks</a:t>
            </a:r>
          </a:p>
        </p:txBody>
      </p:sp>
      <p:cxnSp>
        <p:nvCxnSpPr>
          <p:cNvPr id="38" name="Straight Arrow Connector 37">
            <a:extLst>
              <a:ext uri="{FF2B5EF4-FFF2-40B4-BE49-F238E27FC236}">
                <a16:creationId xmlns:a16="http://schemas.microsoft.com/office/drawing/2014/main" id="{7236A324-BFF9-9946-8582-B38F3FCE9BC6}"/>
              </a:ext>
            </a:extLst>
          </p:cNvPr>
          <p:cNvCxnSpPr>
            <a:cxnSpLocks/>
            <a:stCxn id="37" idx="3"/>
            <a:endCxn id="16" idx="1"/>
          </p:cNvCxnSpPr>
          <p:nvPr/>
        </p:nvCxnSpPr>
        <p:spPr>
          <a:xfrm>
            <a:off x="901472" y="2973083"/>
            <a:ext cx="831603" cy="18807"/>
          </a:xfrm>
          <a:prstGeom prst="straightConnector1">
            <a:avLst/>
          </a:prstGeom>
          <a:ln>
            <a:solidFill>
              <a:schemeClr val="accent5">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A975A13E-8240-4543-9021-9967F185999D}"/>
              </a:ext>
            </a:extLst>
          </p:cNvPr>
          <p:cNvCxnSpPr>
            <a:cxnSpLocks/>
            <a:stCxn id="37" idx="3"/>
            <a:endCxn id="15" idx="1"/>
          </p:cNvCxnSpPr>
          <p:nvPr/>
        </p:nvCxnSpPr>
        <p:spPr>
          <a:xfrm flipV="1">
            <a:off x="901472" y="2378288"/>
            <a:ext cx="1067254" cy="594795"/>
          </a:xfrm>
          <a:prstGeom prst="straightConnector1">
            <a:avLst/>
          </a:prstGeom>
          <a:ln>
            <a:solidFill>
              <a:schemeClr val="accent5">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CCCDD3CF-A414-424D-AC24-A5E2D346BBF9}"/>
              </a:ext>
            </a:extLst>
          </p:cNvPr>
          <p:cNvCxnSpPr>
            <a:cxnSpLocks/>
            <a:stCxn id="37" idx="3"/>
            <a:endCxn id="17" idx="1"/>
          </p:cNvCxnSpPr>
          <p:nvPr/>
        </p:nvCxnSpPr>
        <p:spPr>
          <a:xfrm>
            <a:off x="901472" y="2973083"/>
            <a:ext cx="1048758" cy="657058"/>
          </a:xfrm>
          <a:prstGeom prst="straightConnector1">
            <a:avLst/>
          </a:prstGeom>
          <a:ln>
            <a:solidFill>
              <a:schemeClr val="accent5">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1649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sz="4000"/>
              <a:t>Overview of partition-based coverage</a:t>
            </a:r>
          </a:p>
        </p:txBody>
      </p:sp>
      <p:sp>
        <p:nvSpPr>
          <p:cNvPr id="4" name="Slide Number Placeholder 3"/>
          <p:cNvSpPr>
            <a:spLocks noGrp="1"/>
          </p:cNvSpPr>
          <p:nvPr>
            <p:ph type="sldNum" sz="quarter" idx="12"/>
          </p:nvPr>
        </p:nvSpPr>
        <p:spPr/>
        <p:txBody>
          <a:bodyPr/>
          <a:lstStyle/>
          <a:p>
            <a:pPr>
              <a:defRPr/>
            </a:pPr>
            <a:fld id="{8A3BD83C-05B8-4881-BF4B-2E797D81F1C3}" type="slidenum">
              <a:rPr lang="en-US" smtClean="0"/>
              <a:pPr>
                <a:defRPr/>
              </a:pPr>
              <a:t>3</a:t>
            </a:fld>
            <a:endParaRPr lang="en-US"/>
          </a:p>
        </p:txBody>
      </p:sp>
      <p:sp>
        <p:nvSpPr>
          <p:cNvPr id="31" name="Text Box 9"/>
          <p:cNvSpPr txBox="1">
            <a:spLocks noChangeArrowheads="1"/>
          </p:cNvSpPr>
          <p:nvPr/>
        </p:nvSpPr>
        <p:spPr bwMode="auto">
          <a:xfrm>
            <a:off x="3192463" y="5019675"/>
            <a:ext cx="1800225" cy="695325"/>
          </a:xfrm>
          <a:prstGeom prst="rect">
            <a:avLst/>
          </a:prstGeom>
          <a:solidFill>
            <a:schemeClr val="accent1">
              <a:lumMod val="60000"/>
              <a:lumOff val="40000"/>
            </a:schemeClr>
          </a:solidFill>
          <a:ln w="12700">
            <a:solidFill>
              <a:schemeClr val="tx1"/>
            </a:solidFill>
            <a:miter lim="800000"/>
            <a:headEnd type="none" w="sm" len="sm"/>
            <a:tailEnd type="none" w="sm" len="sm"/>
          </a:ln>
        </p:spPr>
        <p:txBody>
          <a:bodyPr>
            <a:spAutoFit/>
          </a:bodyPr>
          <a:lstStyle/>
          <a:p>
            <a:pPr algn="ctr">
              <a:lnSpc>
                <a:spcPct val="70000"/>
              </a:lnSpc>
              <a:spcBef>
                <a:spcPct val="50000"/>
              </a:spcBef>
              <a:defRPr/>
            </a:pPr>
            <a:r>
              <a:rPr lang="en-US" sz="2800" i="1" dirty="0">
                <a:latin typeface="+mn-lt"/>
              </a:rPr>
              <a:t>EACH CHOICE</a:t>
            </a:r>
          </a:p>
        </p:txBody>
      </p:sp>
      <p:sp>
        <p:nvSpPr>
          <p:cNvPr id="33" name="Text Box 12"/>
          <p:cNvSpPr txBox="1">
            <a:spLocks noChangeArrowheads="1"/>
          </p:cNvSpPr>
          <p:nvPr/>
        </p:nvSpPr>
        <p:spPr bwMode="auto">
          <a:xfrm>
            <a:off x="3170238" y="1873250"/>
            <a:ext cx="1800225" cy="360363"/>
          </a:xfrm>
          <a:prstGeom prst="rect">
            <a:avLst/>
          </a:prstGeom>
          <a:solidFill>
            <a:schemeClr val="accent1">
              <a:lumMod val="60000"/>
              <a:lumOff val="40000"/>
            </a:schemeClr>
          </a:solidFill>
          <a:ln w="12700">
            <a:solidFill>
              <a:schemeClr val="tx1"/>
            </a:solidFill>
            <a:miter lim="800000"/>
            <a:headEnd type="none" w="sm" len="sm"/>
            <a:tailEnd type="none" w="sm" len="sm"/>
          </a:ln>
        </p:spPr>
        <p:txBody>
          <a:bodyPr>
            <a:spAutoFit/>
          </a:bodyPr>
          <a:lstStyle/>
          <a:p>
            <a:pPr algn="ctr">
              <a:lnSpc>
                <a:spcPct val="70000"/>
              </a:lnSpc>
              <a:spcBef>
                <a:spcPct val="50000"/>
              </a:spcBef>
              <a:defRPr/>
            </a:pPr>
            <a:r>
              <a:rPr lang="en-US" sz="2800" i="1" dirty="0">
                <a:latin typeface="+mn-lt"/>
              </a:rPr>
              <a:t>ALL</a:t>
            </a:r>
          </a:p>
        </p:txBody>
      </p:sp>
      <p:sp>
        <p:nvSpPr>
          <p:cNvPr id="51" name="Text Box 20"/>
          <p:cNvSpPr txBox="1">
            <a:spLocks noChangeArrowheads="1"/>
          </p:cNvSpPr>
          <p:nvPr/>
        </p:nvSpPr>
        <p:spPr bwMode="auto">
          <a:xfrm>
            <a:off x="1120775" y="2873375"/>
            <a:ext cx="2879725" cy="360363"/>
          </a:xfrm>
          <a:prstGeom prst="rect">
            <a:avLst/>
          </a:prstGeom>
          <a:solidFill>
            <a:schemeClr val="accent1">
              <a:lumMod val="60000"/>
              <a:lumOff val="40000"/>
            </a:schemeClr>
          </a:solidFill>
          <a:ln w="12700">
            <a:solidFill>
              <a:schemeClr val="tx1"/>
            </a:solidFill>
            <a:miter lim="800000"/>
            <a:headEnd type="none" w="sm" len="sm"/>
            <a:tailEnd type="none" w="sm" len="sm"/>
          </a:ln>
        </p:spPr>
        <p:txBody>
          <a:bodyPr>
            <a:spAutoFit/>
          </a:bodyPr>
          <a:lstStyle/>
          <a:p>
            <a:pPr algn="ctr">
              <a:lnSpc>
                <a:spcPct val="70000"/>
              </a:lnSpc>
              <a:spcBef>
                <a:spcPct val="50000"/>
              </a:spcBef>
              <a:defRPr/>
            </a:pPr>
            <a:r>
              <a:rPr lang="en-US" sz="2800" i="1" dirty="0">
                <a:latin typeface="+mn-lt"/>
              </a:rPr>
              <a:t>t-Wise</a:t>
            </a:r>
          </a:p>
        </p:txBody>
      </p:sp>
      <p:sp>
        <p:nvSpPr>
          <p:cNvPr id="49" name="Text Box 23"/>
          <p:cNvSpPr txBox="1">
            <a:spLocks noChangeArrowheads="1"/>
          </p:cNvSpPr>
          <p:nvPr/>
        </p:nvSpPr>
        <p:spPr bwMode="auto">
          <a:xfrm>
            <a:off x="4457700" y="2698750"/>
            <a:ext cx="2879725" cy="720725"/>
          </a:xfrm>
          <a:prstGeom prst="rect">
            <a:avLst/>
          </a:prstGeom>
          <a:solidFill>
            <a:schemeClr val="accent6">
              <a:lumMod val="20000"/>
              <a:lumOff val="80000"/>
            </a:schemeClr>
          </a:solidFill>
          <a:ln w="12700">
            <a:solidFill>
              <a:schemeClr val="tx1"/>
            </a:solidFill>
            <a:miter lim="800000"/>
            <a:headEnd type="none" w="sm" len="sm"/>
            <a:tailEnd type="none" w="sm" len="sm"/>
          </a:ln>
        </p:spPr>
        <p:txBody>
          <a:bodyPr>
            <a:spAutoFit/>
          </a:bodyPr>
          <a:lstStyle/>
          <a:p>
            <a:pPr algn="ctr">
              <a:lnSpc>
                <a:spcPct val="70000"/>
              </a:lnSpc>
              <a:spcBef>
                <a:spcPct val="50000"/>
              </a:spcBef>
              <a:defRPr/>
            </a:pPr>
            <a:r>
              <a:rPr lang="en-US" sz="2800" i="1" dirty="0">
                <a:latin typeface="+mn-lt"/>
              </a:rPr>
              <a:t>Multiple Base Choice Coverage</a:t>
            </a:r>
          </a:p>
        </p:txBody>
      </p:sp>
      <p:sp>
        <p:nvSpPr>
          <p:cNvPr id="47" name="Text Box 29"/>
          <p:cNvSpPr txBox="1">
            <a:spLocks noChangeArrowheads="1"/>
          </p:cNvSpPr>
          <p:nvPr/>
        </p:nvSpPr>
        <p:spPr bwMode="auto">
          <a:xfrm>
            <a:off x="1120775" y="3948113"/>
            <a:ext cx="2879725" cy="360362"/>
          </a:xfrm>
          <a:prstGeom prst="rect">
            <a:avLst/>
          </a:prstGeom>
          <a:solidFill>
            <a:schemeClr val="accent1">
              <a:lumMod val="60000"/>
              <a:lumOff val="40000"/>
            </a:schemeClr>
          </a:solidFill>
          <a:ln w="12700">
            <a:solidFill>
              <a:schemeClr val="tx1"/>
            </a:solidFill>
            <a:miter lim="800000"/>
            <a:headEnd type="none" w="sm" len="sm"/>
            <a:tailEnd type="none" w="sm" len="sm"/>
          </a:ln>
        </p:spPr>
        <p:txBody>
          <a:bodyPr>
            <a:spAutoFit/>
          </a:bodyPr>
          <a:lstStyle/>
          <a:p>
            <a:pPr algn="ctr">
              <a:lnSpc>
                <a:spcPct val="70000"/>
              </a:lnSpc>
              <a:spcBef>
                <a:spcPct val="50000"/>
              </a:spcBef>
              <a:defRPr/>
            </a:pPr>
            <a:r>
              <a:rPr lang="en-US" sz="2800" i="1" dirty="0">
                <a:latin typeface="+mn-lt"/>
              </a:rPr>
              <a:t>Pair-Wise</a:t>
            </a:r>
          </a:p>
        </p:txBody>
      </p:sp>
      <p:sp>
        <p:nvSpPr>
          <p:cNvPr id="45" name="Text Box 32"/>
          <p:cNvSpPr txBox="1">
            <a:spLocks noChangeArrowheads="1"/>
          </p:cNvSpPr>
          <p:nvPr/>
        </p:nvSpPr>
        <p:spPr bwMode="auto">
          <a:xfrm>
            <a:off x="4478338" y="3733800"/>
            <a:ext cx="2879725" cy="719138"/>
          </a:xfrm>
          <a:prstGeom prst="rect">
            <a:avLst/>
          </a:prstGeom>
          <a:solidFill>
            <a:schemeClr val="accent6">
              <a:lumMod val="20000"/>
              <a:lumOff val="80000"/>
            </a:schemeClr>
          </a:solidFill>
          <a:ln w="12700">
            <a:solidFill>
              <a:schemeClr val="tx1"/>
            </a:solidFill>
            <a:miter lim="800000"/>
            <a:headEnd type="none" w="sm" len="sm"/>
            <a:tailEnd type="none" w="sm" len="sm"/>
          </a:ln>
        </p:spPr>
        <p:txBody>
          <a:bodyPr>
            <a:spAutoFit/>
          </a:bodyPr>
          <a:lstStyle/>
          <a:p>
            <a:pPr algn="ctr">
              <a:lnSpc>
                <a:spcPct val="70000"/>
              </a:lnSpc>
              <a:spcBef>
                <a:spcPct val="50000"/>
              </a:spcBef>
              <a:defRPr/>
            </a:pPr>
            <a:r>
              <a:rPr lang="en-US" sz="2800" i="1" dirty="0">
                <a:latin typeface="+mn-lt"/>
              </a:rPr>
              <a:t>Base Choice Coverage</a:t>
            </a:r>
          </a:p>
        </p:txBody>
      </p:sp>
      <p:cxnSp>
        <p:nvCxnSpPr>
          <p:cNvPr id="56" name="Elbow Connector 55"/>
          <p:cNvCxnSpPr>
            <a:stCxn id="33" idx="2"/>
            <a:endCxn id="49" idx="0"/>
          </p:cNvCxnSpPr>
          <p:nvPr/>
        </p:nvCxnSpPr>
        <p:spPr>
          <a:xfrm rot="16200000" flipH="1">
            <a:off x="4751388" y="1552575"/>
            <a:ext cx="465137" cy="1827213"/>
          </a:xfrm>
          <a:prstGeom prst="bentConnector3">
            <a:avLst>
              <a:gd name="adj1" fmla="val 50000"/>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Elbow Connector 56"/>
          <p:cNvCxnSpPr>
            <a:stCxn id="33" idx="2"/>
            <a:endCxn id="51" idx="0"/>
          </p:cNvCxnSpPr>
          <p:nvPr/>
        </p:nvCxnSpPr>
        <p:spPr>
          <a:xfrm rot="5400000">
            <a:off x="2995613" y="1798638"/>
            <a:ext cx="639762" cy="1509712"/>
          </a:xfrm>
          <a:prstGeom prst="bentConnector3">
            <a:avLst>
              <a:gd name="adj1" fmla="val 34695"/>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51" idx="2"/>
            <a:endCxn id="47" idx="0"/>
          </p:cNvCxnSpPr>
          <p:nvPr/>
        </p:nvCxnSpPr>
        <p:spPr>
          <a:xfrm rot="5400000">
            <a:off x="2202656" y="3590132"/>
            <a:ext cx="714375"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a:stCxn id="49" idx="2"/>
            <a:endCxn id="45" idx="0"/>
          </p:cNvCxnSpPr>
          <p:nvPr/>
        </p:nvCxnSpPr>
        <p:spPr>
          <a:xfrm rot="16200000" flipH="1">
            <a:off x="5750719" y="3566319"/>
            <a:ext cx="314325" cy="20637"/>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Elbow Connector 66"/>
          <p:cNvCxnSpPr>
            <a:stCxn id="47" idx="2"/>
            <a:endCxn id="31" idx="0"/>
          </p:cNvCxnSpPr>
          <p:nvPr/>
        </p:nvCxnSpPr>
        <p:spPr>
          <a:xfrm rot="16200000" flipH="1">
            <a:off x="2971007" y="3898106"/>
            <a:ext cx="711200" cy="1531937"/>
          </a:xfrm>
          <a:prstGeom prst="bentConnector3">
            <a:avLst>
              <a:gd name="adj1" fmla="val 59179"/>
            </a:avLst>
          </a:prstGeom>
        </p:spPr>
        <p:style>
          <a:lnRef idx="1">
            <a:schemeClr val="accent1"/>
          </a:lnRef>
          <a:fillRef idx="0">
            <a:schemeClr val="accent1"/>
          </a:fillRef>
          <a:effectRef idx="0">
            <a:schemeClr val="accent1"/>
          </a:effectRef>
          <a:fontRef idx="minor">
            <a:schemeClr val="tx1"/>
          </a:fontRef>
        </p:style>
      </p:cxnSp>
      <p:cxnSp>
        <p:nvCxnSpPr>
          <p:cNvPr id="71" name="Elbow Connector 70"/>
          <p:cNvCxnSpPr>
            <a:stCxn id="45" idx="2"/>
            <a:endCxn id="31" idx="0"/>
          </p:cNvCxnSpPr>
          <p:nvPr/>
        </p:nvCxnSpPr>
        <p:spPr>
          <a:xfrm rot="5400000">
            <a:off x="4722019" y="3823494"/>
            <a:ext cx="566737" cy="182562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7358063" y="3098773"/>
            <a:ext cx="1606425" cy="954107"/>
          </a:xfrm>
          <a:prstGeom prst="rect">
            <a:avLst/>
          </a:prstGeom>
          <a:noFill/>
        </p:spPr>
        <p:txBody>
          <a:bodyPr wrap="square" rtlCol="0">
            <a:spAutoFit/>
          </a:bodyPr>
          <a:lstStyle/>
          <a:p>
            <a:r>
              <a:rPr lang="en-US" sz="1400" dirty="0"/>
              <a:t>(if the base tests cover </a:t>
            </a:r>
            <a:r>
              <a:rPr lang="en-US" sz="1400"/>
              <a:t>all combinations of base blocks)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2569"/>
          </a:xfrm>
        </p:spPr>
        <p:txBody>
          <a:bodyPr/>
          <a:lstStyle/>
          <a:p>
            <a:r>
              <a:rPr lang="en-US" dirty="0"/>
              <a:t>MBT, basic idea</a:t>
            </a:r>
          </a:p>
        </p:txBody>
      </p:sp>
      <p:sp>
        <p:nvSpPr>
          <p:cNvPr id="4" name="Slide Number Placeholder 3"/>
          <p:cNvSpPr>
            <a:spLocks noGrp="1"/>
          </p:cNvSpPr>
          <p:nvPr>
            <p:ph type="sldNum" sz="quarter" idx="12"/>
          </p:nvPr>
        </p:nvSpPr>
        <p:spPr/>
        <p:txBody>
          <a:bodyPr/>
          <a:lstStyle/>
          <a:p>
            <a:pPr>
              <a:defRPr/>
            </a:pPr>
            <a:fld id="{F7E6CD0C-1625-4B59-866D-32083D4A5005}" type="slidenum">
              <a:rPr lang="en-US" smtClean="0"/>
              <a:pPr>
                <a:defRPr/>
              </a:pPr>
              <a:t>4</a:t>
            </a:fld>
            <a:endParaRPr lang="en-US"/>
          </a:p>
        </p:txBody>
      </p:sp>
      <p:sp>
        <p:nvSpPr>
          <p:cNvPr id="5" name="Oval 4"/>
          <p:cNvSpPr/>
          <p:nvPr/>
        </p:nvSpPr>
        <p:spPr>
          <a:xfrm>
            <a:off x="2612312" y="2409586"/>
            <a:ext cx="216024" cy="21602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6" name="Oval 5"/>
          <p:cNvSpPr/>
          <p:nvPr/>
        </p:nvSpPr>
        <p:spPr>
          <a:xfrm>
            <a:off x="3188376" y="2623784"/>
            <a:ext cx="216024" cy="21602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 name="Oval 6"/>
          <p:cNvSpPr/>
          <p:nvPr/>
        </p:nvSpPr>
        <p:spPr>
          <a:xfrm>
            <a:off x="3188376" y="2156417"/>
            <a:ext cx="216024" cy="21602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cxnSp>
        <p:nvCxnSpPr>
          <p:cNvPr id="8" name="Straight Arrow Connector 7"/>
          <p:cNvCxnSpPr>
            <a:stCxn id="8" idx="7"/>
            <a:endCxn id="10" idx="2"/>
          </p:cNvCxnSpPr>
          <p:nvPr/>
        </p:nvCxnSpPr>
        <p:spPr>
          <a:xfrm flipV="1">
            <a:off x="2796700" y="2264429"/>
            <a:ext cx="391676" cy="1767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8" idx="5"/>
            <a:endCxn id="9" idx="2"/>
          </p:cNvCxnSpPr>
          <p:nvPr/>
        </p:nvCxnSpPr>
        <p:spPr>
          <a:xfrm>
            <a:off x="2796700" y="2593974"/>
            <a:ext cx="391676" cy="1378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3796076" y="2136801"/>
            <a:ext cx="216024" cy="21602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12" name="Straight Arrow Connector 11"/>
          <p:cNvCxnSpPr>
            <a:stCxn id="10" idx="6"/>
          </p:cNvCxnSpPr>
          <p:nvPr/>
        </p:nvCxnSpPr>
        <p:spPr>
          <a:xfrm flipV="1">
            <a:off x="3404400" y="2244813"/>
            <a:ext cx="391676" cy="196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767458" y="2025757"/>
            <a:ext cx="312906" cy="369332"/>
          </a:xfrm>
          <a:prstGeom prst="rect">
            <a:avLst/>
          </a:prstGeom>
          <a:noFill/>
        </p:spPr>
        <p:txBody>
          <a:bodyPr wrap="none" rtlCol="0">
            <a:spAutoFit/>
          </a:bodyPr>
          <a:lstStyle/>
          <a:p>
            <a:r>
              <a:rPr lang="en-US" dirty="0"/>
              <a:t>b</a:t>
            </a:r>
          </a:p>
        </p:txBody>
      </p:sp>
      <p:sp>
        <p:nvSpPr>
          <p:cNvPr id="15" name="TextBox 14"/>
          <p:cNvSpPr txBox="1"/>
          <p:nvPr/>
        </p:nvSpPr>
        <p:spPr>
          <a:xfrm>
            <a:off x="2794109" y="2561574"/>
            <a:ext cx="312906" cy="369332"/>
          </a:xfrm>
          <a:prstGeom prst="rect">
            <a:avLst/>
          </a:prstGeom>
          <a:noFill/>
        </p:spPr>
        <p:txBody>
          <a:bodyPr wrap="none" rtlCol="0">
            <a:spAutoFit/>
          </a:bodyPr>
          <a:lstStyle/>
          <a:p>
            <a:r>
              <a:rPr lang="en-US"/>
              <a:t>a</a:t>
            </a:r>
          </a:p>
        </p:txBody>
      </p:sp>
      <p:sp>
        <p:nvSpPr>
          <p:cNvPr id="16" name="TextBox 15"/>
          <p:cNvSpPr txBox="1"/>
          <p:nvPr/>
        </p:nvSpPr>
        <p:spPr>
          <a:xfrm>
            <a:off x="3335773" y="3233386"/>
            <a:ext cx="312906" cy="369332"/>
          </a:xfrm>
          <a:prstGeom prst="rect">
            <a:avLst/>
          </a:prstGeom>
          <a:noFill/>
        </p:spPr>
        <p:txBody>
          <a:bodyPr wrap="none" rtlCol="0">
            <a:spAutoFit/>
          </a:bodyPr>
          <a:lstStyle/>
          <a:p>
            <a:r>
              <a:rPr lang="en-US" dirty="0"/>
              <a:t>b</a:t>
            </a:r>
          </a:p>
        </p:txBody>
      </p:sp>
      <p:cxnSp>
        <p:nvCxnSpPr>
          <p:cNvPr id="18" name="Curved Connector 17"/>
          <p:cNvCxnSpPr>
            <a:stCxn id="9" idx="6"/>
            <a:endCxn id="9" idx="3"/>
          </p:cNvCxnSpPr>
          <p:nvPr/>
        </p:nvCxnSpPr>
        <p:spPr>
          <a:xfrm flipH="1">
            <a:off x="3220012" y="2731796"/>
            <a:ext cx="184388" cy="76376"/>
          </a:xfrm>
          <a:prstGeom prst="curvedConnector4">
            <a:avLst>
              <a:gd name="adj1" fmla="val -123978"/>
              <a:gd name="adj2" fmla="val 62779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451534" y="1872107"/>
            <a:ext cx="312906" cy="369332"/>
          </a:xfrm>
          <a:prstGeom prst="rect">
            <a:avLst/>
          </a:prstGeom>
          <a:noFill/>
        </p:spPr>
        <p:txBody>
          <a:bodyPr wrap="none" rtlCol="0">
            <a:spAutoFit/>
          </a:bodyPr>
          <a:lstStyle/>
          <a:p>
            <a:r>
              <a:rPr lang="en-US" dirty="0"/>
              <a:t>a</a:t>
            </a:r>
          </a:p>
        </p:txBody>
      </p:sp>
      <p:cxnSp>
        <p:nvCxnSpPr>
          <p:cNvPr id="20" name="Straight Arrow Connector 19"/>
          <p:cNvCxnSpPr/>
          <p:nvPr/>
        </p:nvCxnSpPr>
        <p:spPr>
          <a:xfrm flipV="1">
            <a:off x="2401310" y="2507790"/>
            <a:ext cx="211950" cy="98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684584" y="2308319"/>
            <a:ext cx="2731031" cy="461665"/>
          </a:xfrm>
          <a:prstGeom prst="rect">
            <a:avLst/>
          </a:prstGeom>
          <a:noFill/>
        </p:spPr>
        <p:txBody>
          <a:bodyPr wrap="square" rtlCol="0">
            <a:spAutoFit/>
          </a:bodyPr>
          <a:lstStyle/>
          <a:p>
            <a:pPr algn="r"/>
            <a:r>
              <a:rPr lang="en-US" sz="2400" dirty="0"/>
              <a:t>a model </a:t>
            </a:r>
            <a:r>
              <a:rPr lang="en-US" sz="2400" i="1" dirty="0"/>
              <a:t>M</a:t>
            </a:r>
            <a:r>
              <a:rPr lang="en-US" sz="2400" dirty="0"/>
              <a:t> :</a:t>
            </a:r>
          </a:p>
        </p:txBody>
      </p:sp>
      <p:sp>
        <p:nvSpPr>
          <p:cNvPr id="23" name="Rectangle 22"/>
          <p:cNvSpPr/>
          <p:nvPr/>
        </p:nvSpPr>
        <p:spPr>
          <a:xfrm>
            <a:off x="758297" y="3602718"/>
            <a:ext cx="1509103" cy="1368152"/>
          </a:xfrm>
          <a:prstGeom prst="rect">
            <a:avLst/>
          </a:prstGeom>
          <a:solidFill>
            <a:schemeClr val="accent5">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System S</a:t>
            </a:r>
          </a:p>
        </p:txBody>
      </p:sp>
      <p:pic>
        <p:nvPicPr>
          <p:cNvPr id="24" name="Picture 23"/>
          <p:cNvPicPr>
            <a:picLocks noChangeAspect="1"/>
          </p:cNvPicPr>
          <p:nvPr/>
        </p:nvPicPr>
        <p:blipFill>
          <a:blip r:embed="rId2"/>
          <a:stretch>
            <a:fillRect/>
          </a:stretch>
        </p:blipFill>
        <p:spPr>
          <a:xfrm>
            <a:off x="3489226" y="3930815"/>
            <a:ext cx="578465" cy="711957"/>
          </a:xfrm>
          <a:prstGeom prst="rect">
            <a:avLst/>
          </a:prstGeom>
        </p:spPr>
      </p:pic>
      <p:sp>
        <p:nvSpPr>
          <p:cNvPr id="25" name="Cloud 24"/>
          <p:cNvSpPr/>
          <p:nvPr/>
        </p:nvSpPr>
        <p:spPr>
          <a:xfrm>
            <a:off x="2238072" y="1628800"/>
            <a:ext cx="2337552" cy="2071828"/>
          </a:xfrm>
          <a:prstGeom prst="cloud">
            <a:avLst/>
          </a:prstGeom>
          <a:noFill/>
          <a:ln>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p:cNvCxnSpPr>
            <a:stCxn id="24" idx="1"/>
            <a:endCxn id="23" idx="3"/>
          </p:cNvCxnSpPr>
          <p:nvPr/>
        </p:nvCxnSpPr>
        <p:spPr>
          <a:xfrm flipH="1">
            <a:off x="2267400" y="4286794"/>
            <a:ext cx="1221826"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24" idx="0"/>
          </p:cNvCxnSpPr>
          <p:nvPr/>
        </p:nvCxnSpPr>
        <p:spPr>
          <a:xfrm flipH="1" flipV="1">
            <a:off x="3648679" y="3700628"/>
            <a:ext cx="129780" cy="23018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2481797" y="4232060"/>
            <a:ext cx="857927" cy="338554"/>
          </a:xfrm>
          <a:prstGeom prst="rect">
            <a:avLst/>
          </a:prstGeom>
          <a:noFill/>
        </p:spPr>
        <p:txBody>
          <a:bodyPr wrap="none" rtlCol="0">
            <a:spAutoFit/>
          </a:bodyPr>
          <a:lstStyle/>
          <a:p>
            <a:r>
              <a:rPr lang="en-US" sz="1600"/>
              <a:t>interact</a:t>
            </a:r>
          </a:p>
        </p:txBody>
      </p:sp>
      <p:sp>
        <p:nvSpPr>
          <p:cNvPr id="32" name="TextBox 31"/>
          <p:cNvSpPr txBox="1"/>
          <p:nvPr/>
        </p:nvSpPr>
        <p:spPr>
          <a:xfrm>
            <a:off x="4289167" y="3219386"/>
            <a:ext cx="4747329"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tester (a human or algorithm) takes the role of the environment. He/she tests S by interacting with it to determine if </a:t>
            </a:r>
            <a:r>
              <a:rPr lang="en-US" sz="2400" b="1" dirty="0"/>
              <a:t>S conforms M.</a:t>
            </a:r>
          </a:p>
          <a:p>
            <a:pPr marL="342900" indent="-342900">
              <a:buFont typeface="Arial" panose="020B0604020202020204" pitchFamily="34" charset="0"/>
              <a:buChar char="•"/>
            </a:pPr>
            <a:r>
              <a:rPr lang="en-US" sz="2400" dirty="0"/>
              <a:t>Keep in mind that in the </a:t>
            </a:r>
            <a:r>
              <a:rPr lang="en-US" sz="2400" b="1" dirty="0"/>
              <a:t>Black Box setup, </a:t>
            </a:r>
            <a:r>
              <a:rPr lang="en-US" sz="2400" dirty="0"/>
              <a:t>your control and ability to observe is limited.</a:t>
            </a:r>
          </a:p>
        </p:txBody>
      </p:sp>
    </p:spTree>
    <p:extLst>
      <p:ext uri="{BB962C8B-B14F-4D97-AF65-F5344CB8AC3E}">
        <p14:creationId xmlns:p14="http://schemas.microsoft.com/office/powerpoint/2010/main" val="480471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a:extLst>
              <a:ext uri="{FF2B5EF4-FFF2-40B4-BE49-F238E27FC236}">
                <a16:creationId xmlns:a16="http://schemas.microsoft.com/office/drawing/2014/main" id="{4FA4F62F-8649-D64A-9D6A-5F77131A0F5F}"/>
              </a:ext>
            </a:extLst>
          </p:cNvPr>
          <p:cNvSpPr/>
          <p:nvPr/>
        </p:nvSpPr>
        <p:spPr>
          <a:xfrm>
            <a:off x="1655676" y="1772816"/>
            <a:ext cx="5832648" cy="2304256"/>
          </a:xfrm>
          <a:prstGeom prst="roundRect">
            <a:avLst/>
          </a:prstGeom>
          <a:solidFill>
            <a:schemeClr val="accent5">
              <a:lumMod val="60000"/>
              <a:lumOff val="40000"/>
              <a:alpha val="2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54" name="Title 1"/>
          <p:cNvSpPr>
            <a:spLocks noGrp="1"/>
          </p:cNvSpPr>
          <p:nvPr>
            <p:ph type="title"/>
          </p:nvPr>
        </p:nvSpPr>
        <p:spPr/>
        <p:txBody>
          <a:bodyPr/>
          <a:lstStyle/>
          <a:p>
            <a:r>
              <a:rPr lang="en-US" sz="3200" dirty="0"/>
              <a:t>Model Based Testing with an Extended FSM (EFSM)</a:t>
            </a:r>
          </a:p>
        </p:txBody>
      </p:sp>
      <p:sp>
        <p:nvSpPr>
          <p:cNvPr id="3" name="Slide Number Placeholder 2"/>
          <p:cNvSpPr>
            <a:spLocks noGrp="1"/>
          </p:cNvSpPr>
          <p:nvPr>
            <p:ph type="sldNum" sz="quarter" idx="12"/>
          </p:nvPr>
        </p:nvSpPr>
        <p:spPr/>
        <p:txBody>
          <a:bodyPr/>
          <a:lstStyle/>
          <a:p>
            <a:pPr>
              <a:defRPr/>
            </a:pPr>
            <a:fld id="{8B3C1E46-FB08-4111-97FC-C1811CE0BA34}" type="slidenum">
              <a:rPr lang="en-US" smtClean="0"/>
              <a:pPr>
                <a:defRPr/>
              </a:pPr>
              <a:t>5</a:t>
            </a:fld>
            <a:endParaRPr lang="en-US"/>
          </a:p>
        </p:txBody>
      </p:sp>
      <p:cxnSp>
        <p:nvCxnSpPr>
          <p:cNvPr id="7" name="Curved Connector 6"/>
          <p:cNvCxnSpPr>
            <a:cxnSpLocks/>
            <a:stCxn id="10" idx="0"/>
            <a:endCxn id="20" idx="0"/>
          </p:cNvCxnSpPr>
          <p:nvPr/>
        </p:nvCxnSpPr>
        <p:spPr bwMode="auto">
          <a:xfrm rot="16200000" flipH="1">
            <a:off x="3781119" y="1793159"/>
            <a:ext cx="31958" cy="1603786"/>
          </a:xfrm>
          <a:prstGeom prst="curvedConnector3">
            <a:avLst>
              <a:gd name="adj1" fmla="val -715314"/>
            </a:avLst>
          </a:prstGeom>
          <a:ln>
            <a:solidFill>
              <a:schemeClr val="accent5"/>
            </a:solidFill>
            <a:tailEnd type="arrow"/>
          </a:ln>
        </p:spPr>
        <p:style>
          <a:lnRef idx="1">
            <a:schemeClr val="accent1"/>
          </a:lnRef>
          <a:fillRef idx="0">
            <a:schemeClr val="accent1"/>
          </a:fillRef>
          <a:effectRef idx="0">
            <a:schemeClr val="accent1"/>
          </a:effectRef>
          <a:fontRef idx="minor">
            <a:schemeClr val="tx1"/>
          </a:fontRef>
        </p:style>
      </p:cxnSp>
      <p:cxnSp>
        <p:nvCxnSpPr>
          <p:cNvPr id="9" name="Curved Connector 8"/>
          <p:cNvCxnSpPr>
            <a:cxnSpLocks/>
          </p:cNvCxnSpPr>
          <p:nvPr/>
        </p:nvCxnSpPr>
        <p:spPr bwMode="auto">
          <a:xfrm rot="5400000">
            <a:off x="3830673" y="2410725"/>
            <a:ext cx="215415" cy="1369613"/>
          </a:xfrm>
          <a:prstGeom prst="curvedConnector3">
            <a:avLst>
              <a:gd name="adj1" fmla="val 240347"/>
            </a:avLst>
          </a:prstGeom>
          <a:ln>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bwMode="auto">
          <a:xfrm>
            <a:off x="3427043" y="1982420"/>
            <a:ext cx="877163" cy="369332"/>
          </a:xfrm>
          <a:prstGeom prst="rect">
            <a:avLst/>
          </a:prstGeom>
          <a:noFill/>
        </p:spPr>
        <p:txBody>
          <a:bodyPr wrap="none">
            <a:spAutoFit/>
          </a:bodyPr>
          <a:lstStyle/>
          <a:p>
            <a:pPr>
              <a:defRPr/>
            </a:pPr>
            <a:r>
              <a:rPr lang="en-US" dirty="0">
                <a:latin typeface="+mn-lt"/>
              </a:rPr>
              <a:t>Push(x)</a:t>
            </a:r>
          </a:p>
        </p:txBody>
      </p:sp>
      <p:cxnSp>
        <p:nvCxnSpPr>
          <p:cNvPr id="19" name="Shape 18"/>
          <p:cNvCxnSpPr>
            <a:cxnSpLocks/>
            <a:stCxn id="20" idx="2"/>
            <a:endCxn id="20" idx="3"/>
          </p:cNvCxnSpPr>
          <p:nvPr/>
        </p:nvCxnSpPr>
        <p:spPr bwMode="auto">
          <a:xfrm rot="5400000" flipH="1" flipV="1">
            <a:off x="4765186" y="2724514"/>
            <a:ext cx="279677" cy="612068"/>
          </a:xfrm>
          <a:prstGeom prst="curvedConnector4">
            <a:avLst>
              <a:gd name="adj1" fmla="val -135483"/>
              <a:gd name="adj2" fmla="val 137349"/>
            </a:avLst>
          </a:prstGeom>
          <a:ln>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bwMode="auto">
          <a:xfrm>
            <a:off x="2907316" y="3581062"/>
            <a:ext cx="1859612" cy="369332"/>
          </a:xfrm>
          <a:prstGeom prst="rect">
            <a:avLst/>
          </a:prstGeom>
          <a:noFill/>
        </p:spPr>
        <p:txBody>
          <a:bodyPr wrap="none">
            <a:spAutoFit/>
          </a:bodyPr>
          <a:lstStyle/>
          <a:p>
            <a:pPr>
              <a:defRPr/>
            </a:pPr>
            <a:r>
              <a:rPr lang="en-US" dirty="0">
                <a:solidFill>
                  <a:srgbClr val="FF0000"/>
                </a:solidFill>
                <a:latin typeface="+mn-lt"/>
              </a:rPr>
              <a:t>Size()=1  </a:t>
            </a:r>
            <a:r>
              <a:rPr lang="en-US" dirty="0">
                <a:latin typeface="+mn-lt"/>
              </a:rPr>
              <a:t>➝  Pop()</a:t>
            </a:r>
          </a:p>
        </p:txBody>
      </p:sp>
      <p:sp>
        <p:nvSpPr>
          <p:cNvPr id="22" name="TextBox 21"/>
          <p:cNvSpPr txBox="1"/>
          <p:nvPr/>
        </p:nvSpPr>
        <p:spPr bwMode="auto">
          <a:xfrm>
            <a:off x="5515204" y="2708721"/>
            <a:ext cx="1859612" cy="923330"/>
          </a:xfrm>
          <a:prstGeom prst="rect">
            <a:avLst/>
          </a:prstGeom>
          <a:noFill/>
        </p:spPr>
        <p:txBody>
          <a:bodyPr wrap="none">
            <a:spAutoFit/>
          </a:bodyPr>
          <a:lstStyle/>
          <a:p>
            <a:pPr>
              <a:defRPr/>
            </a:pPr>
            <a:r>
              <a:rPr lang="en-US" dirty="0">
                <a:latin typeface="+mn-lt"/>
              </a:rPr>
              <a:t>Push(x) ,</a:t>
            </a:r>
            <a:br>
              <a:rPr lang="en-US" dirty="0">
                <a:latin typeface="+mn-lt"/>
              </a:rPr>
            </a:br>
            <a:r>
              <a:rPr lang="en-US" dirty="0">
                <a:latin typeface="+mn-lt"/>
              </a:rPr>
              <a:t>Top(),</a:t>
            </a:r>
          </a:p>
          <a:p>
            <a:pPr>
              <a:defRPr/>
            </a:pPr>
            <a:r>
              <a:rPr lang="en-US" dirty="0">
                <a:solidFill>
                  <a:srgbClr val="FF0000"/>
                </a:solidFill>
                <a:latin typeface="+mn-lt"/>
              </a:rPr>
              <a:t>Size()&gt;1  </a:t>
            </a:r>
            <a:r>
              <a:rPr lang="en-US" dirty="0">
                <a:latin typeface="+mn-lt"/>
              </a:rPr>
              <a:t>➝  Pop()</a:t>
            </a:r>
          </a:p>
        </p:txBody>
      </p:sp>
      <p:cxnSp>
        <p:nvCxnSpPr>
          <p:cNvPr id="24" name="Straight Arrow Connector 23"/>
          <p:cNvCxnSpPr>
            <a:cxnSpLocks/>
            <a:endCxn id="10" idx="1"/>
          </p:cNvCxnSpPr>
          <p:nvPr/>
        </p:nvCxnSpPr>
        <p:spPr bwMode="auto">
          <a:xfrm flipV="1">
            <a:off x="2197287" y="2858751"/>
            <a:ext cx="185850" cy="3083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bwMode="auto">
          <a:xfrm>
            <a:off x="2087155" y="1916262"/>
            <a:ext cx="820161" cy="400110"/>
          </a:xfrm>
          <a:prstGeom prst="rect">
            <a:avLst/>
          </a:prstGeom>
          <a:noFill/>
        </p:spPr>
        <p:txBody>
          <a:bodyPr wrap="none">
            <a:spAutoFit/>
          </a:bodyPr>
          <a:lstStyle/>
          <a:p>
            <a:pPr>
              <a:defRPr/>
            </a:pPr>
            <a:r>
              <a:rPr lang="en-US" sz="2000" b="1" dirty="0">
                <a:latin typeface="+mn-lt"/>
              </a:rPr>
              <a:t>Stack:</a:t>
            </a:r>
          </a:p>
        </p:txBody>
      </p:sp>
      <p:sp>
        <p:nvSpPr>
          <p:cNvPr id="71" name="TextBox 70"/>
          <p:cNvSpPr txBox="1"/>
          <p:nvPr/>
        </p:nvSpPr>
        <p:spPr>
          <a:xfrm>
            <a:off x="266864" y="4432250"/>
            <a:ext cx="8712646" cy="1323439"/>
          </a:xfrm>
          <a:prstGeom prst="rect">
            <a:avLst/>
          </a:prstGeom>
          <a:noFill/>
        </p:spPr>
        <p:txBody>
          <a:bodyPr wrap="square">
            <a:spAutoFit/>
          </a:bodyPr>
          <a:lstStyle/>
          <a:p>
            <a:pPr>
              <a:defRPr/>
            </a:pPr>
            <a:r>
              <a:rPr lang="en-US" sz="2000" b="1" dirty="0"/>
              <a:t>The EFSM is correct </a:t>
            </a:r>
            <a:r>
              <a:rPr lang="en-US" sz="2000" b="1" dirty="0" err="1"/>
              <a:t>ly</a:t>
            </a:r>
            <a:r>
              <a:rPr lang="en-US" sz="2000" b="1" dirty="0"/>
              <a:t> implemented </a:t>
            </a:r>
            <a:r>
              <a:rPr lang="en-US" sz="2000" dirty="0"/>
              <a:t>if</a:t>
            </a:r>
            <a:r>
              <a:rPr lang="en-US" sz="2000" b="1" dirty="0"/>
              <a:t> </a:t>
            </a:r>
            <a:r>
              <a:rPr lang="en-US" sz="2000" dirty="0"/>
              <a:t>for every admissible sequence 𝜎 of transitions ending in a state s: </a:t>
            </a:r>
          </a:p>
          <a:p>
            <a:pPr marL="800100" lvl="1" indent="-342900">
              <a:buFont typeface="Arial" panose="020B0604020202020204" pitchFamily="34" charset="0"/>
              <a:buChar char="•"/>
              <a:defRPr/>
            </a:pPr>
            <a:r>
              <a:rPr lang="en-US" sz="2000" dirty="0"/>
              <a:t>all predicates decorating </a:t>
            </a:r>
            <a:r>
              <a:rPr lang="en-US" sz="2000" i="1" dirty="0"/>
              <a:t>s</a:t>
            </a:r>
            <a:r>
              <a:rPr lang="en-US" sz="2000" dirty="0"/>
              <a:t> evaluate to true.</a:t>
            </a:r>
          </a:p>
          <a:p>
            <a:pPr marL="800100" lvl="1" indent="-342900">
              <a:buFont typeface="Arial" panose="020B0604020202020204" pitchFamily="34" charset="0"/>
              <a:buChar char="•"/>
              <a:defRPr/>
            </a:pPr>
            <a:r>
              <a:rPr lang="en-US" sz="2000" dirty="0"/>
              <a:t>the post-condition of the last transition in 𝜎 is true. </a:t>
            </a:r>
          </a:p>
        </p:txBody>
      </p:sp>
      <p:sp>
        <p:nvSpPr>
          <p:cNvPr id="10" name="Rounded Rectangle 9">
            <a:extLst>
              <a:ext uri="{FF2B5EF4-FFF2-40B4-BE49-F238E27FC236}">
                <a16:creationId xmlns:a16="http://schemas.microsoft.com/office/drawing/2014/main" id="{904DD460-84FC-E946-9425-C11CA59F161F}"/>
              </a:ext>
            </a:extLst>
          </p:cNvPr>
          <p:cNvSpPr/>
          <p:nvPr/>
        </p:nvSpPr>
        <p:spPr>
          <a:xfrm>
            <a:off x="2383137" y="2579073"/>
            <a:ext cx="1224136" cy="559355"/>
          </a:xfrm>
          <a:prstGeom prst="round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0</a:t>
            </a:r>
          </a:p>
          <a:p>
            <a:pPr algn="ctr"/>
            <a:r>
              <a:rPr lang="en-US" b="1" dirty="0">
                <a:solidFill>
                  <a:srgbClr val="C00000"/>
                </a:solidFill>
              </a:rPr>
              <a:t>Size() = 0</a:t>
            </a:r>
          </a:p>
        </p:txBody>
      </p:sp>
      <p:sp>
        <p:nvSpPr>
          <p:cNvPr id="20" name="Rounded Rectangle 19">
            <a:extLst>
              <a:ext uri="{FF2B5EF4-FFF2-40B4-BE49-F238E27FC236}">
                <a16:creationId xmlns:a16="http://schemas.microsoft.com/office/drawing/2014/main" id="{1D4D8137-CD10-D44A-807F-413B54F3B30B}"/>
              </a:ext>
            </a:extLst>
          </p:cNvPr>
          <p:cNvSpPr/>
          <p:nvPr/>
        </p:nvSpPr>
        <p:spPr>
          <a:xfrm>
            <a:off x="3986923" y="2611031"/>
            <a:ext cx="1224136" cy="559355"/>
          </a:xfrm>
          <a:prstGeom prst="round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a:p>
            <a:pPr algn="ctr"/>
            <a:r>
              <a:rPr lang="en-US" b="1" dirty="0">
                <a:solidFill>
                  <a:srgbClr val="C00000"/>
                </a:solidFill>
              </a:rPr>
              <a:t>Size() &gt; 0</a:t>
            </a:r>
          </a:p>
        </p:txBody>
      </p:sp>
    </p:spTree>
    <p:extLst>
      <p:ext uri="{BB962C8B-B14F-4D97-AF65-F5344CB8AC3E}">
        <p14:creationId xmlns:p14="http://schemas.microsoft.com/office/powerpoint/2010/main" val="2083948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ounded Rectangle 37">
            <a:extLst>
              <a:ext uri="{FF2B5EF4-FFF2-40B4-BE49-F238E27FC236}">
                <a16:creationId xmlns:a16="http://schemas.microsoft.com/office/drawing/2014/main" id="{92DBF4E3-99CA-9844-B90E-0A4B6982B60E}"/>
              </a:ext>
            </a:extLst>
          </p:cNvPr>
          <p:cNvSpPr/>
          <p:nvPr/>
        </p:nvSpPr>
        <p:spPr>
          <a:xfrm>
            <a:off x="184938" y="1568971"/>
            <a:ext cx="3362244" cy="2097062"/>
          </a:xfrm>
          <a:prstGeom prst="roundRect">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B9BDCDF-5D62-F548-9235-2EF8AF832636}"/>
              </a:ext>
            </a:extLst>
          </p:cNvPr>
          <p:cNvSpPr/>
          <p:nvPr/>
        </p:nvSpPr>
        <p:spPr>
          <a:xfrm>
            <a:off x="354387" y="1813520"/>
            <a:ext cx="861547" cy="49019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4C5D628-7C39-384A-983F-8DABCFFF1CCE}"/>
              </a:ext>
            </a:extLst>
          </p:cNvPr>
          <p:cNvSpPr/>
          <p:nvPr/>
        </p:nvSpPr>
        <p:spPr>
          <a:xfrm>
            <a:off x="1524545" y="2639814"/>
            <a:ext cx="1674050" cy="37577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4CBDEA2F-1C6F-144F-9D9C-6DADC7D75481}"/>
              </a:ext>
            </a:extLst>
          </p:cNvPr>
          <p:cNvSpPr/>
          <p:nvPr/>
        </p:nvSpPr>
        <p:spPr>
          <a:xfrm>
            <a:off x="2478626" y="2255302"/>
            <a:ext cx="720080" cy="413941"/>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E5C15457-C3A1-A14A-8061-01669E583467}"/>
              </a:ext>
            </a:extLst>
          </p:cNvPr>
          <p:cNvSpPr/>
          <p:nvPr/>
        </p:nvSpPr>
        <p:spPr>
          <a:xfrm>
            <a:off x="2452325" y="1793825"/>
            <a:ext cx="720080" cy="413941"/>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623D16B1-DABC-E64D-B798-AEDC349F8E18}"/>
              </a:ext>
            </a:extLst>
          </p:cNvPr>
          <p:cNvSpPr/>
          <p:nvPr/>
        </p:nvSpPr>
        <p:spPr>
          <a:xfrm>
            <a:off x="1654243" y="2225873"/>
            <a:ext cx="720080" cy="413941"/>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A1826EAC-8EE7-D24A-9657-C234914CE057}"/>
              </a:ext>
            </a:extLst>
          </p:cNvPr>
          <p:cNvSpPr/>
          <p:nvPr/>
        </p:nvSpPr>
        <p:spPr>
          <a:xfrm>
            <a:off x="1654243" y="1793825"/>
            <a:ext cx="720080" cy="41394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2" name="Title 1"/>
          <p:cNvSpPr>
            <a:spLocks noGrp="1"/>
          </p:cNvSpPr>
          <p:nvPr>
            <p:ph type="title"/>
          </p:nvPr>
        </p:nvSpPr>
        <p:spPr>
          <a:xfrm>
            <a:off x="457200" y="274638"/>
            <a:ext cx="8229600" cy="794629"/>
          </a:xfrm>
        </p:spPr>
        <p:txBody>
          <a:bodyPr/>
          <a:lstStyle/>
          <a:p>
            <a:r>
              <a:rPr lang="en-US" dirty="0"/>
              <a:t>Data-flow based approach</a:t>
            </a:r>
          </a:p>
        </p:txBody>
      </p:sp>
      <p:sp>
        <p:nvSpPr>
          <p:cNvPr id="4" name="Slide Number Placeholder 3"/>
          <p:cNvSpPr>
            <a:spLocks noGrp="1"/>
          </p:cNvSpPr>
          <p:nvPr>
            <p:ph type="sldNum" sz="quarter" idx="12"/>
          </p:nvPr>
        </p:nvSpPr>
        <p:spPr/>
        <p:txBody>
          <a:bodyPr/>
          <a:lstStyle/>
          <a:p>
            <a:pPr>
              <a:defRPr/>
            </a:pPr>
            <a:fld id="{0B00CD6E-4A98-4132-9E0A-B27CC21EA0E5}" type="slidenum">
              <a:rPr lang="en-US" smtClean="0"/>
              <a:pPr>
                <a:defRPr/>
              </a:pPr>
              <a:t>6</a:t>
            </a:fld>
            <a:endParaRPr lang="en-US"/>
          </a:p>
        </p:txBody>
      </p:sp>
      <p:sp>
        <p:nvSpPr>
          <p:cNvPr id="37" name="TextBox 36">
            <a:extLst>
              <a:ext uri="{FF2B5EF4-FFF2-40B4-BE49-F238E27FC236}">
                <a16:creationId xmlns:a16="http://schemas.microsoft.com/office/drawing/2014/main" id="{6DD45985-01DF-9C42-A1CE-0F0671E61C7C}"/>
              </a:ext>
            </a:extLst>
          </p:cNvPr>
          <p:cNvSpPr txBox="1"/>
          <p:nvPr/>
        </p:nvSpPr>
        <p:spPr>
          <a:xfrm>
            <a:off x="347755" y="1821109"/>
            <a:ext cx="3167085" cy="1200329"/>
          </a:xfrm>
          <a:prstGeom prst="rect">
            <a:avLst/>
          </a:prstGeom>
          <a:noFill/>
          <a:ln>
            <a:noFill/>
          </a:ln>
        </p:spPr>
        <p:txBody>
          <a:bodyPr wrap="none">
            <a:spAutoFit/>
          </a:bodyPr>
          <a:lstStyle/>
          <a:p>
            <a:pPr>
              <a:defRPr/>
            </a:pPr>
            <a:r>
              <a:rPr lang="en-US" sz="2400" dirty="0">
                <a:latin typeface="+mn-lt"/>
              </a:rPr>
              <a:t>P(</a:t>
            </a:r>
            <a:r>
              <a:rPr lang="en-US" sz="2400" dirty="0" err="1">
                <a:latin typeface="+mn-lt"/>
              </a:rPr>
              <a:t>x,y</a:t>
            </a:r>
            <a:r>
              <a:rPr lang="en-US" sz="2400" dirty="0">
                <a:latin typeface="+mn-lt"/>
              </a:rPr>
              <a:t>)  {  </a:t>
            </a:r>
            <a:r>
              <a:rPr lang="en-US" sz="2400" b="1" dirty="0">
                <a:latin typeface="+mn-lt"/>
              </a:rPr>
              <a:t>if</a:t>
            </a:r>
            <a:r>
              <a:rPr lang="en-US" sz="2400" dirty="0">
                <a:latin typeface="+mn-lt"/>
              </a:rPr>
              <a:t> (y&lt;0)  y = -y  </a:t>
            </a:r>
            <a:br>
              <a:rPr lang="en-US" sz="2400" dirty="0">
                <a:latin typeface="+mn-lt"/>
              </a:rPr>
            </a:br>
            <a:r>
              <a:rPr lang="en-US" sz="2400" dirty="0">
                <a:latin typeface="+mn-lt"/>
              </a:rPr>
              <a:t>                </a:t>
            </a:r>
            <a:r>
              <a:rPr lang="en-US" sz="2400" b="1" dirty="0">
                <a:latin typeface="+mn-lt"/>
              </a:rPr>
              <a:t>i</a:t>
            </a:r>
            <a:r>
              <a:rPr lang="en-US" sz="2400" dirty="0">
                <a:latin typeface="+mn-lt"/>
              </a:rPr>
              <a:t>f (x&lt;0)  x = 0</a:t>
            </a:r>
            <a:br>
              <a:rPr lang="en-US" sz="2400" dirty="0">
                <a:latin typeface="+mn-lt"/>
              </a:rPr>
            </a:br>
            <a:r>
              <a:rPr lang="en-US" sz="2400" dirty="0">
                <a:latin typeface="+mn-lt"/>
              </a:rPr>
              <a:t>                </a:t>
            </a:r>
            <a:r>
              <a:rPr lang="en-US" sz="2400" b="1" dirty="0">
                <a:latin typeface="+mn-lt"/>
              </a:rPr>
              <a:t>return</a:t>
            </a:r>
            <a:r>
              <a:rPr lang="en-US" sz="2400" dirty="0">
                <a:latin typeface="+mn-lt"/>
              </a:rPr>
              <a:t> </a:t>
            </a:r>
            <a:r>
              <a:rPr lang="en-US" sz="2400" dirty="0" err="1">
                <a:latin typeface="+mn-lt"/>
              </a:rPr>
              <a:t>x+y</a:t>
            </a:r>
            <a:r>
              <a:rPr lang="en-US" sz="2400" dirty="0">
                <a:latin typeface="+mn-lt"/>
              </a:rPr>
              <a:t>     }</a:t>
            </a:r>
          </a:p>
        </p:txBody>
      </p:sp>
      <p:grpSp>
        <p:nvGrpSpPr>
          <p:cNvPr id="3" name="Group 2">
            <a:extLst>
              <a:ext uri="{FF2B5EF4-FFF2-40B4-BE49-F238E27FC236}">
                <a16:creationId xmlns:a16="http://schemas.microsoft.com/office/drawing/2014/main" id="{8186115A-1677-594D-B999-4C233B204E43}"/>
              </a:ext>
            </a:extLst>
          </p:cNvPr>
          <p:cNvGrpSpPr/>
          <p:nvPr/>
        </p:nvGrpSpPr>
        <p:grpSpPr>
          <a:xfrm>
            <a:off x="3654604" y="1556792"/>
            <a:ext cx="5453900" cy="2302926"/>
            <a:chOff x="3764049" y="1751807"/>
            <a:chExt cx="5453900" cy="2302926"/>
          </a:xfrm>
        </p:grpSpPr>
        <p:sp>
          <p:nvSpPr>
            <p:cNvPr id="20" name="Rectangle 19">
              <a:extLst>
                <a:ext uri="{FF2B5EF4-FFF2-40B4-BE49-F238E27FC236}">
                  <a16:creationId xmlns:a16="http://schemas.microsoft.com/office/drawing/2014/main" id="{DCAD737E-97E2-2748-82CC-D7337FC7BB9C}"/>
                </a:ext>
              </a:extLst>
            </p:cNvPr>
            <p:cNvSpPr/>
            <p:nvPr/>
          </p:nvSpPr>
          <p:spPr bwMode="auto">
            <a:xfrm>
              <a:off x="4372377" y="2992438"/>
              <a:ext cx="360362" cy="3603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n0</a:t>
              </a:r>
            </a:p>
          </p:txBody>
        </p:sp>
        <p:sp>
          <p:nvSpPr>
            <p:cNvPr id="23" name="Rectangle 22">
              <a:extLst>
                <a:ext uri="{FF2B5EF4-FFF2-40B4-BE49-F238E27FC236}">
                  <a16:creationId xmlns:a16="http://schemas.microsoft.com/office/drawing/2014/main" id="{8243BDB3-DCA6-F245-AEF7-F590B70E1530}"/>
                </a:ext>
              </a:extLst>
            </p:cNvPr>
            <p:cNvSpPr/>
            <p:nvPr/>
          </p:nvSpPr>
          <p:spPr bwMode="auto">
            <a:xfrm>
              <a:off x="5860252" y="2440592"/>
              <a:ext cx="360362" cy="360362"/>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n2</a:t>
              </a:r>
            </a:p>
          </p:txBody>
        </p:sp>
        <p:sp>
          <p:nvSpPr>
            <p:cNvPr id="24" name="Rectangle 23">
              <a:extLst>
                <a:ext uri="{FF2B5EF4-FFF2-40B4-BE49-F238E27FC236}">
                  <a16:creationId xmlns:a16="http://schemas.microsoft.com/office/drawing/2014/main" id="{CB3B6DE5-8556-6D45-A6A5-AC32BBAC857E}"/>
                </a:ext>
              </a:extLst>
            </p:cNvPr>
            <p:cNvSpPr/>
            <p:nvPr/>
          </p:nvSpPr>
          <p:spPr bwMode="auto">
            <a:xfrm>
              <a:off x="6495250" y="2995613"/>
              <a:ext cx="360362" cy="360362"/>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n3</a:t>
              </a:r>
            </a:p>
          </p:txBody>
        </p:sp>
        <p:sp>
          <p:nvSpPr>
            <p:cNvPr id="25" name="TextBox 24">
              <a:extLst>
                <a:ext uri="{FF2B5EF4-FFF2-40B4-BE49-F238E27FC236}">
                  <a16:creationId xmlns:a16="http://schemas.microsoft.com/office/drawing/2014/main" id="{E36CE0EB-F1A6-554F-ADC5-90E7FE4028DF}"/>
                </a:ext>
              </a:extLst>
            </p:cNvPr>
            <p:cNvSpPr txBox="1"/>
            <p:nvPr/>
          </p:nvSpPr>
          <p:spPr bwMode="auto">
            <a:xfrm>
              <a:off x="3764049" y="2323511"/>
              <a:ext cx="1275862" cy="646331"/>
            </a:xfrm>
            <a:prstGeom prst="rect">
              <a:avLst/>
            </a:prstGeom>
            <a:noFill/>
          </p:spPr>
          <p:txBody>
            <a:bodyPr wrap="none">
              <a:spAutoFit/>
            </a:bodyPr>
            <a:lstStyle/>
            <a:p>
              <a:pPr algn="ctr">
                <a:defRPr/>
              </a:pPr>
              <a:r>
                <a:rPr lang="en-US" dirty="0"/>
                <a:t>use  =</a:t>
              </a:r>
              <a:r>
                <a:rPr lang="en-US" dirty="0">
                  <a:sym typeface="Symbol"/>
                </a:rPr>
                <a:t> </a:t>
              </a:r>
              <a:endParaRPr lang="en-US" dirty="0"/>
            </a:p>
            <a:p>
              <a:pPr algn="ctr">
                <a:defRPr/>
              </a:pPr>
              <a:r>
                <a:rPr lang="en-US" dirty="0">
                  <a:latin typeface="+mn-lt"/>
                </a:rPr>
                <a:t>def  = { </a:t>
              </a:r>
              <a:r>
                <a:rPr lang="en-US" dirty="0" err="1">
                  <a:latin typeface="+mn-lt"/>
                </a:rPr>
                <a:t>x,y</a:t>
              </a:r>
              <a:r>
                <a:rPr lang="en-US" dirty="0">
                  <a:latin typeface="+mn-lt"/>
                </a:rPr>
                <a:t> }</a:t>
              </a:r>
            </a:p>
          </p:txBody>
        </p:sp>
        <p:sp>
          <p:nvSpPr>
            <p:cNvPr id="26" name="TextBox 25">
              <a:extLst>
                <a:ext uri="{FF2B5EF4-FFF2-40B4-BE49-F238E27FC236}">
                  <a16:creationId xmlns:a16="http://schemas.microsoft.com/office/drawing/2014/main" id="{F6DE789A-9353-1D4C-B947-F395546BB126}"/>
                </a:ext>
              </a:extLst>
            </p:cNvPr>
            <p:cNvSpPr txBox="1"/>
            <p:nvPr/>
          </p:nvSpPr>
          <p:spPr bwMode="auto">
            <a:xfrm>
              <a:off x="5495920" y="1751807"/>
              <a:ext cx="1089025" cy="646113"/>
            </a:xfrm>
            <a:prstGeom prst="rect">
              <a:avLst/>
            </a:prstGeom>
            <a:solidFill>
              <a:schemeClr val="bg1"/>
            </a:solidFill>
          </p:spPr>
          <p:txBody>
            <a:bodyPr wrap="none">
              <a:spAutoFit/>
            </a:bodyPr>
            <a:lstStyle/>
            <a:p>
              <a:pPr>
                <a:defRPr/>
              </a:pPr>
              <a:r>
                <a:rPr lang="en-US" dirty="0"/>
                <a:t>use = {y}</a:t>
              </a:r>
            </a:p>
            <a:p>
              <a:pPr>
                <a:defRPr/>
              </a:pPr>
              <a:r>
                <a:rPr lang="en-US" dirty="0">
                  <a:latin typeface="+mn-lt"/>
                </a:rPr>
                <a:t>def  = {y}</a:t>
              </a:r>
            </a:p>
          </p:txBody>
        </p:sp>
        <p:sp>
          <p:nvSpPr>
            <p:cNvPr id="28" name="Rectangle 27">
              <a:extLst>
                <a:ext uri="{FF2B5EF4-FFF2-40B4-BE49-F238E27FC236}">
                  <a16:creationId xmlns:a16="http://schemas.microsoft.com/office/drawing/2014/main" id="{685E44F4-1D62-0041-9A19-4B4E2BA370C0}"/>
                </a:ext>
              </a:extLst>
            </p:cNvPr>
            <p:cNvSpPr/>
            <p:nvPr/>
          </p:nvSpPr>
          <p:spPr bwMode="auto">
            <a:xfrm>
              <a:off x="7166427" y="2440592"/>
              <a:ext cx="360362" cy="360362"/>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n4</a:t>
              </a:r>
            </a:p>
          </p:txBody>
        </p:sp>
        <p:sp>
          <p:nvSpPr>
            <p:cNvPr id="29" name="Rectangle 28">
              <a:extLst>
                <a:ext uri="{FF2B5EF4-FFF2-40B4-BE49-F238E27FC236}">
                  <a16:creationId xmlns:a16="http://schemas.microsoft.com/office/drawing/2014/main" id="{B414174A-91D1-7D41-A918-39A4E428BA3B}"/>
                </a:ext>
              </a:extLst>
            </p:cNvPr>
            <p:cNvSpPr/>
            <p:nvPr/>
          </p:nvSpPr>
          <p:spPr bwMode="auto">
            <a:xfrm>
              <a:off x="7846214" y="2995613"/>
              <a:ext cx="360363" cy="3603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n5</a:t>
              </a:r>
            </a:p>
          </p:txBody>
        </p:sp>
        <p:sp>
          <p:nvSpPr>
            <p:cNvPr id="33" name="TextBox 32">
              <a:extLst>
                <a:ext uri="{FF2B5EF4-FFF2-40B4-BE49-F238E27FC236}">
                  <a16:creationId xmlns:a16="http://schemas.microsoft.com/office/drawing/2014/main" id="{714D0446-FCE0-6A45-83F0-FD9B813026E7}"/>
                </a:ext>
              </a:extLst>
            </p:cNvPr>
            <p:cNvSpPr txBox="1"/>
            <p:nvPr/>
          </p:nvSpPr>
          <p:spPr bwMode="auto">
            <a:xfrm>
              <a:off x="4892406" y="3402127"/>
              <a:ext cx="1088760" cy="646331"/>
            </a:xfrm>
            <a:prstGeom prst="rect">
              <a:avLst/>
            </a:prstGeom>
            <a:noFill/>
          </p:spPr>
          <p:txBody>
            <a:bodyPr wrap="none">
              <a:spAutoFit/>
            </a:bodyPr>
            <a:lstStyle/>
            <a:p>
              <a:pPr algn="ctr">
                <a:defRPr/>
              </a:pPr>
              <a:r>
                <a:rPr lang="en-US" dirty="0"/>
                <a:t>use = {y}</a:t>
              </a:r>
            </a:p>
            <a:p>
              <a:pPr algn="ctr">
                <a:defRPr/>
              </a:pPr>
              <a:r>
                <a:rPr lang="en-US" dirty="0">
                  <a:latin typeface="+mn-lt"/>
                </a:rPr>
                <a:t>def  = </a:t>
              </a:r>
              <a:r>
                <a:rPr lang="en-US" dirty="0">
                  <a:latin typeface="+mn-lt"/>
                  <a:sym typeface="Symbol"/>
                </a:rPr>
                <a:t></a:t>
              </a:r>
              <a:endParaRPr lang="en-US" dirty="0">
                <a:latin typeface="+mn-lt"/>
              </a:endParaRPr>
            </a:p>
          </p:txBody>
        </p:sp>
        <p:sp>
          <p:nvSpPr>
            <p:cNvPr id="34" name="TextBox 33">
              <a:extLst>
                <a:ext uri="{FF2B5EF4-FFF2-40B4-BE49-F238E27FC236}">
                  <a16:creationId xmlns:a16="http://schemas.microsoft.com/office/drawing/2014/main" id="{C8E90AB2-74C5-AA48-8F2B-4778F5572F8F}"/>
                </a:ext>
              </a:extLst>
            </p:cNvPr>
            <p:cNvSpPr txBox="1"/>
            <p:nvPr/>
          </p:nvSpPr>
          <p:spPr bwMode="auto">
            <a:xfrm>
              <a:off x="7776592" y="3349969"/>
              <a:ext cx="1441357" cy="646331"/>
            </a:xfrm>
            <a:prstGeom prst="rect">
              <a:avLst/>
            </a:prstGeom>
            <a:noFill/>
          </p:spPr>
          <p:txBody>
            <a:bodyPr wrap="none">
              <a:spAutoFit/>
            </a:bodyPr>
            <a:lstStyle/>
            <a:p>
              <a:pPr>
                <a:defRPr/>
              </a:pPr>
              <a:r>
                <a:rPr lang="en-US" dirty="0"/>
                <a:t>use  = {</a:t>
              </a:r>
              <a:r>
                <a:rPr lang="en-US" dirty="0" err="1"/>
                <a:t>x,y</a:t>
              </a:r>
              <a:r>
                <a:rPr lang="en-US" dirty="0"/>
                <a:t>}</a:t>
              </a:r>
            </a:p>
            <a:p>
              <a:pPr>
                <a:defRPr/>
              </a:pPr>
              <a:r>
                <a:rPr lang="en-US" dirty="0">
                  <a:latin typeface="+mn-lt"/>
                </a:rPr>
                <a:t>def  = </a:t>
              </a:r>
              <a:r>
                <a:rPr lang="en-US" dirty="0">
                  <a:latin typeface="+mn-lt"/>
                  <a:sym typeface="Symbol"/>
                </a:rPr>
                <a:t>{</a:t>
              </a:r>
              <a:r>
                <a:rPr lang="en-US" dirty="0" err="1">
                  <a:latin typeface="+mn-lt"/>
                  <a:sym typeface="Symbol"/>
                </a:rPr>
                <a:t>retval</a:t>
              </a:r>
              <a:r>
                <a:rPr lang="en-US" dirty="0">
                  <a:latin typeface="+mn-lt"/>
                  <a:sym typeface="Symbol"/>
                </a:rPr>
                <a:t>}</a:t>
              </a:r>
              <a:endParaRPr lang="en-US" dirty="0">
                <a:latin typeface="+mn-lt"/>
              </a:endParaRPr>
            </a:p>
          </p:txBody>
        </p:sp>
        <p:sp>
          <p:nvSpPr>
            <p:cNvPr id="35" name="TextBox 34">
              <a:extLst>
                <a:ext uri="{FF2B5EF4-FFF2-40B4-BE49-F238E27FC236}">
                  <a16:creationId xmlns:a16="http://schemas.microsoft.com/office/drawing/2014/main" id="{64BE9930-41F0-DA47-B332-02683FCAE9FF}"/>
                </a:ext>
              </a:extLst>
            </p:cNvPr>
            <p:cNvSpPr txBox="1"/>
            <p:nvPr/>
          </p:nvSpPr>
          <p:spPr bwMode="auto">
            <a:xfrm>
              <a:off x="6883299" y="1786994"/>
              <a:ext cx="1010213" cy="646331"/>
            </a:xfrm>
            <a:prstGeom prst="rect">
              <a:avLst/>
            </a:prstGeom>
            <a:solidFill>
              <a:schemeClr val="bg1"/>
            </a:solidFill>
          </p:spPr>
          <p:txBody>
            <a:bodyPr wrap="none">
              <a:spAutoFit/>
            </a:bodyPr>
            <a:lstStyle/>
            <a:p>
              <a:pPr algn="ctr">
                <a:defRPr/>
              </a:pPr>
              <a:r>
                <a:rPr lang="en-US" dirty="0"/>
                <a:t>use = </a:t>
              </a:r>
              <a:r>
                <a:rPr lang="en-US" dirty="0">
                  <a:sym typeface="Symbol"/>
                </a:rPr>
                <a:t></a:t>
              </a:r>
              <a:endParaRPr lang="en-US" dirty="0"/>
            </a:p>
            <a:p>
              <a:pPr algn="ctr">
                <a:defRPr/>
              </a:pPr>
              <a:r>
                <a:rPr lang="en-US" dirty="0">
                  <a:latin typeface="+mn-lt"/>
                </a:rPr>
                <a:t>def  ={x}</a:t>
              </a:r>
            </a:p>
          </p:txBody>
        </p:sp>
        <p:cxnSp>
          <p:nvCxnSpPr>
            <p:cNvPr id="36" name="Straight Arrow Connector 35">
              <a:extLst>
                <a:ext uri="{FF2B5EF4-FFF2-40B4-BE49-F238E27FC236}">
                  <a16:creationId xmlns:a16="http://schemas.microsoft.com/office/drawing/2014/main" id="{935647EB-4AEE-5148-8364-E6B6DAD6EC3A}"/>
                </a:ext>
              </a:extLst>
            </p:cNvPr>
            <p:cNvCxnSpPr>
              <a:cxnSpLocks/>
            </p:cNvCxnSpPr>
            <p:nvPr/>
          </p:nvCxnSpPr>
          <p:spPr>
            <a:xfrm>
              <a:off x="4156234" y="3176588"/>
              <a:ext cx="18636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83CCAC83-3E8F-3841-A884-821D9BF73D0E}"/>
                </a:ext>
              </a:extLst>
            </p:cNvPr>
            <p:cNvSpPr/>
            <p:nvPr/>
          </p:nvSpPr>
          <p:spPr bwMode="auto">
            <a:xfrm>
              <a:off x="5256606" y="2995613"/>
              <a:ext cx="360362" cy="360362"/>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n1</a:t>
              </a:r>
            </a:p>
          </p:txBody>
        </p:sp>
        <p:cxnSp>
          <p:nvCxnSpPr>
            <p:cNvPr id="40" name="Elbow Connector 39">
              <a:extLst>
                <a:ext uri="{FF2B5EF4-FFF2-40B4-BE49-F238E27FC236}">
                  <a16:creationId xmlns:a16="http://schemas.microsoft.com/office/drawing/2014/main" id="{D810C156-F9D4-694D-9205-DC36E7DA823E}"/>
                </a:ext>
              </a:extLst>
            </p:cNvPr>
            <p:cNvCxnSpPr>
              <a:stCxn id="45" idx="0"/>
              <a:endCxn id="23" idx="1"/>
            </p:cNvCxnSpPr>
            <p:nvPr/>
          </p:nvCxnSpPr>
          <p:spPr>
            <a:xfrm rot="5400000" flipH="1" flipV="1">
              <a:off x="5461099" y="2596461"/>
              <a:ext cx="374840" cy="42346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a:extLst>
                <a:ext uri="{FF2B5EF4-FFF2-40B4-BE49-F238E27FC236}">
                  <a16:creationId xmlns:a16="http://schemas.microsoft.com/office/drawing/2014/main" id="{FD3682E0-959B-D64E-8E99-49AE26012128}"/>
                </a:ext>
              </a:extLst>
            </p:cNvPr>
            <p:cNvCxnSpPr>
              <a:cxnSpLocks/>
              <a:stCxn id="23" idx="3"/>
              <a:endCxn id="24" idx="0"/>
            </p:cNvCxnSpPr>
            <p:nvPr/>
          </p:nvCxnSpPr>
          <p:spPr>
            <a:xfrm>
              <a:off x="6220614" y="2620773"/>
              <a:ext cx="454817" cy="37484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7057291-452C-F345-B2A4-6ABD584B3B3F}"/>
                </a:ext>
              </a:extLst>
            </p:cNvPr>
            <p:cNvCxnSpPr>
              <a:stCxn id="45" idx="3"/>
              <a:endCxn id="24" idx="1"/>
            </p:cNvCxnSpPr>
            <p:nvPr/>
          </p:nvCxnSpPr>
          <p:spPr>
            <a:xfrm>
              <a:off x="5616968" y="3175794"/>
              <a:ext cx="8782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7485DBE9-F951-9F47-B2CF-217F8458332C}"/>
                </a:ext>
              </a:extLst>
            </p:cNvPr>
            <p:cNvCxnSpPr>
              <a:cxnSpLocks/>
              <a:stCxn id="20" idx="3"/>
              <a:endCxn id="45" idx="1"/>
            </p:cNvCxnSpPr>
            <p:nvPr/>
          </p:nvCxnSpPr>
          <p:spPr>
            <a:xfrm>
              <a:off x="4732739" y="3172619"/>
              <a:ext cx="523867" cy="31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Elbow Connector 63">
              <a:extLst>
                <a:ext uri="{FF2B5EF4-FFF2-40B4-BE49-F238E27FC236}">
                  <a16:creationId xmlns:a16="http://schemas.microsoft.com/office/drawing/2014/main" id="{E0EECC63-73B5-7C40-8157-A8D7043893CF}"/>
                </a:ext>
              </a:extLst>
            </p:cNvPr>
            <p:cNvCxnSpPr>
              <a:cxnSpLocks/>
              <a:stCxn id="74" idx="0"/>
              <a:endCxn id="28" idx="1"/>
            </p:cNvCxnSpPr>
            <p:nvPr/>
          </p:nvCxnSpPr>
          <p:spPr>
            <a:xfrm rot="5400000" flipH="1" flipV="1">
              <a:off x="6794359" y="2624885"/>
              <a:ext cx="376179" cy="36795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D8996D62-90E7-A54B-AD88-05684703CBDA}"/>
                </a:ext>
              </a:extLst>
            </p:cNvPr>
            <p:cNvCxnSpPr>
              <a:cxnSpLocks/>
              <a:stCxn id="24" idx="3"/>
              <a:endCxn id="29" idx="1"/>
            </p:cNvCxnSpPr>
            <p:nvPr/>
          </p:nvCxnSpPr>
          <p:spPr>
            <a:xfrm>
              <a:off x="6855612" y="3175794"/>
              <a:ext cx="9906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a:extLst>
                <a:ext uri="{FF2B5EF4-FFF2-40B4-BE49-F238E27FC236}">
                  <a16:creationId xmlns:a16="http://schemas.microsoft.com/office/drawing/2014/main" id="{CB59A7CB-832A-BB4B-A20A-4D2181EC6C6B}"/>
                </a:ext>
              </a:extLst>
            </p:cNvPr>
            <p:cNvCxnSpPr>
              <a:cxnSpLocks/>
              <a:stCxn id="28" idx="3"/>
              <a:endCxn id="29" idx="0"/>
            </p:cNvCxnSpPr>
            <p:nvPr/>
          </p:nvCxnSpPr>
          <p:spPr>
            <a:xfrm>
              <a:off x="7526789" y="2620773"/>
              <a:ext cx="499607" cy="37484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1A9ED44A-71D5-3E4A-8F51-94F97854F5E7}"/>
                </a:ext>
              </a:extLst>
            </p:cNvPr>
            <p:cNvSpPr/>
            <p:nvPr/>
          </p:nvSpPr>
          <p:spPr>
            <a:xfrm>
              <a:off x="6720683" y="2996952"/>
              <a:ext cx="155573" cy="103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TextBox 92">
              <a:extLst>
                <a:ext uri="{FF2B5EF4-FFF2-40B4-BE49-F238E27FC236}">
                  <a16:creationId xmlns:a16="http://schemas.microsoft.com/office/drawing/2014/main" id="{CF728332-AB13-FA4E-A47C-2FEF476DC3FA}"/>
                </a:ext>
              </a:extLst>
            </p:cNvPr>
            <p:cNvSpPr txBox="1"/>
            <p:nvPr/>
          </p:nvSpPr>
          <p:spPr bwMode="auto">
            <a:xfrm>
              <a:off x="6206289" y="3408402"/>
              <a:ext cx="1088761" cy="646331"/>
            </a:xfrm>
            <a:prstGeom prst="rect">
              <a:avLst/>
            </a:prstGeom>
            <a:noFill/>
          </p:spPr>
          <p:txBody>
            <a:bodyPr wrap="none">
              <a:spAutoFit/>
            </a:bodyPr>
            <a:lstStyle/>
            <a:p>
              <a:pPr algn="ctr">
                <a:defRPr/>
              </a:pPr>
              <a:r>
                <a:rPr lang="en-US" dirty="0"/>
                <a:t>use = {x}</a:t>
              </a:r>
            </a:p>
            <a:p>
              <a:pPr algn="ctr">
                <a:defRPr/>
              </a:pPr>
              <a:r>
                <a:rPr lang="en-US" dirty="0">
                  <a:latin typeface="+mn-lt"/>
                </a:rPr>
                <a:t>def  = </a:t>
              </a:r>
              <a:r>
                <a:rPr lang="en-US" dirty="0">
                  <a:latin typeface="+mn-lt"/>
                  <a:sym typeface="Symbol"/>
                </a:rPr>
                <a:t></a:t>
              </a:r>
              <a:endParaRPr lang="en-US" dirty="0">
                <a:latin typeface="+mn-lt"/>
              </a:endParaRPr>
            </a:p>
          </p:txBody>
        </p:sp>
      </p:grpSp>
      <p:sp>
        <p:nvSpPr>
          <p:cNvPr id="46" name="Rounded Rectangle 45">
            <a:extLst>
              <a:ext uri="{FF2B5EF4-FFF2-40B4-BE49-F238E27FC236}">
                <a16:creationId xmlns:a16="http://schemas.microsoft.com/office/drawing/2014/main" id="{4DD3DCC3-67D9-7240-B8F4-C72A014BB720}"/>
              </a:ext>
            </a:extLst>
          </p:cNvPr>
          <p:cNvSpPr/>
          <p:nvPr/>
        </p:nvSpPr>
        <p:spPr>
          <a:xfrm>
            <a:off x="179512" y="4450621"/>
            <a:ext cx="3362244" cy="2097062"/>
          </a:xfrm>
          <a:prstGeom prst="roundRect">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C8EFA500-A66D-CF4E-B964-FA77DCA80282}"/>
              </a:ext>
            </a:extLst>
          </p:cNvPr>
          <p:cNvSpPr/>
          <p:nvPr/>
        </p:nvSpPr>
        <p:spPr>
          <a:xfrm>
            <a:off x="348961" y="4695170"/>
            <a:ext cx="861547" cy="49019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1EBB7CB9-4E2E-154D-900F-9BF7A15B2B6C}"/>
              </a:ext>
            </a:extLst>
          </p:cNvPr>
          <p:cNvSpPr/>
          <p:nvPr/>
        </p:nvSpPr>
        <p:spPr>
          <a:xfrm>
            <a:off x="1519119" y="5521464"/>
            <a:ext cx="1674050" cy="37577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91B2EDCA-352E-0A4B-87B8-8D8E15766856}"/>
              </a:ext>
            </a:extLst>
          </p:cNvPr>
          <p:cNvSpPr/>
          <p:nvPr/>
        </p:nvSpPr>
        <p:spPr>
          <a:xfrm>
            <a:off x="2473200" y="5136952"/>
            <a:ext cx="720080" cy="413941"/>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6D58A7C7-592B-3548-A37B-5A69A316E4EE}"/>
              </a:ext>
            </a:extLst>
          </p:cNvPr>
          <p:cNvSpPr/>
          <p:nvPr/>
        </p:nvSpPr>
        <p:spPr>
          <a:xfrm>
            <a:off x="2446899" y="4675475"/>
            <a:ext cx="720080" cy="413941"/>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4F931DF1-36B3-9F47-8FE1-00796538414B}"/>
              </a:ext>
            </a:extLst>
          </p:cNvPr>
          <p:cNvSpPr/>
          <p:nvPr/>
        </p:nvSpPr>
        <p:spPr>
          <a:xfrm>
            <a:off x="1648817" y="5107523"/>
            <a:ext cx="720080" cy="413941"/>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982473E2-F7A0-B44E-B067-85363CEA085F}"/>
              </a:ext>
            </a:extLst>
          </p:cNvPr>
          <p:cNvSpPr/>
          <p:nvPr/>
        </p:nvSpPr>
        <p:spPr>
          <a:xfrm>
            <a:off x="1648817" y="4675475"/>
            <a:ext cx="720080" cy="41394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A20229AC-6E75-2648-8280-2BB660AEA0E7}"/>
              </a:ext>
            </a:extLst>
          </p:cNvPr>
          <p:cNvSpPr txBox="1"/>
          <p:nvPr/>
        </p:nvSpPr>
        <p:spPr>
          <a:xfrm>
            <a:off x="342329" y="4702759"/>
            <a:ext cx="3059043" cy="1200329"/>
          </a:xfrm>
          <a:prstGeom prst="rect">
            <a:avLst/>
          </a:prstGeom>
          <a:noFill/>
          <a:ln>
            <a:noFill/>
          </a:ln>
        </p:spPr>
        <p:txBody>
          <a:bodyPr wrap="none">
            <a:spAutoFit/>
          </a:bodyPr>
          <a:lstStyle/>
          <a:p>
            <a:pPr>
              <a:defRPr/>
            </a:pPr>
            <a:r>
              <a:rPr lang="en-US" sz="2400" dirty="0">
                <a:latin typeface="+mn-lt"/>
              </a:rPr>
              <a:t>P(</a:t>
            </a:r>
            <a:r>
              <a:rPr lang="en-US" sz="2400" dirty="0" err="1">
                <a:latin typeface="+mn-lt"/>
              </a:rPr>
              <a:t>x,y</a:t>
            </a:r>
            <a:r>
              <a:rPr lang="en-US" sz="2400" dirty="0">
                <a:latin typeface="+mn-lt"/>
              </a:rPr>
              <a:t>)  {  </a:t>
            </a:r>
            <a:r>
              <a:rPr lang="en-US" sz="2400" b="1" dirty="0">
                <a:latin typeface="+mn-lt"/>
              </a:rPr>
              <a:t>if</a:t>
            </a:r>
            <a:r>
              <a:rPr lang="en-US" sz="2400" dirty="0">
                <a:latin typeface="+mn-lt"/>
              </a:rPr>
              <a:t> (y&lt;0)  x = -y  </a:t>
            </a:r>
            <a:br>
              <a:rPr lang="en-US" sz="2400" dirty="0">
                <a:latin typeface="+mn-lt"/>
              </a:rPr>
            </a:br>
            <a:r>
              <a:rPr lang="en-US" sz="2400" dirty="0">
                <a:latin typeface="+mn-lt"/>
              </a:rPr>
              <a:t>                </a:t>
            </a:r>
            <a:r>
              <a:rPr lang="en-US" sz="2400" b="1" dirty="0">
                <a:latin typeface="+mn-lt"/>
              </a:rPr>
              <a:t>i</a:t>
            </a:r>
            <a:r>
              <a:rPr lang="en-US" sz="2400" dirty="0">
                <a:latin typeface="+mn-lt"/>
              </a:rPr>
              <a:t>f (x&lt;0)  x = 0</a:t>
            </a:r>
            <a:br>
              <a:rPr lang="en-US" sz="2400" dirty="0">
                <a:latin typeface="+mn-lt"/>
              </a:rPr>
            </a:br>
            <a:r>
              <a:rPr lang="en-US" sz="2400" dirty="0">
                <a:latin typeface="+mn-lt"/>
              </a:rPr>
              <a:t>                </a:t>
            </a:r>
            <a:r>
              <a:rPr lang="en-US" sz="2400" b="1" dirty="0">
                <a:latin typeface="+mn-lt"/>
              </a:rPr>
              <a:t>return</a:t>
            </a:r>
            <a:r>
              <a:rPr lang="en-US" sz="2400" dirty="0">
                <a:latin typeface="+mn-lt"/>
              </a:rPr>
              <a:t> x     }</a:t>
            </a:r>
          </a:p>
        </p:txBody>
      </p:sp>
      <p:grpSp>
        <p:nvGrpSpPr>
          <p:cNvPr id="56" name="Group 55">
            <a:extLst>
              <a:ext uri="{FF2B5EF4-FFF2-40B4-BE49-F238E27FC236}">
                <a16:creationId xmlns:a16="http://schemas.microsoft.com/office/drawing/2014/main" id="{4A08A77F-1FF8-594F-8A3D-5A6070285A1B}"/>
              </a:ext>
            </a:extLst>
          </p:cNvPr>
          <p:cNvGrpSpPr/>
          <p:nvPr/>
        </p:nvGrpSpPr>
        <p:grpSpPr>
          <a:xfrm>
            <a:off x="3649178" y="4438442"/>
            <a:ext cx="5453900" cy="2302926"/>
            <a:chOff x="3764049" y="1751807"/>
            <a:chExt cx="5453900" cy="2302926"/>
          </a:xfrm>
        </p:grpSpPr>
        <p:sp>
          <p:nvSpPr>
            <p:cNvPr id="57" name="Rectangle 56">
              <a:extLst>
                <a:ext uri="{FF2B5EF4-FFF2-40B4-BE49-F238E27FC236}">
                  <a16:creationId xmlns:a16="http://schemas.microsoft.com/office/drawing/2014/main" id="{67B1C214-468E-D045-9C51-63CB04F3C457}"/>
                </a:ext>
              </a:extLst>
            </p:cNvPr>
            <p:cNvSpPr/>
            <p:nvPr/>
          </p:nvSpPr>
          <p:spPr bwMode="auto">
            <a:xfrm>
              <a:off x="4372377" y="2992438"/>
              <a:ext cx="360362" cy="3603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n0</a:t>
              </a:r>
            </a:p>
          </p:txBody>
        </p:sp>
        <p:sp>
          <p:nvSpPr>
            <p:cNvPr id="58" name="Rectangle 57">
              <a:extLst>
                <a:ext uri="{FF2B5EF4-FFF2-40B4-BE49-F238E27FC236}">
                  <a16:creationId xmlns:a16="http://schemas.microsoft.com/office/drawing/2014/main" id="{D691D5B4-26BA-174C-BF3B-B9520F44D8E4}"/>
                </a:ext>
              </a:extLst>
            </p:cNvPr>
            <p:cNvSpPr/>
            <p:nvPr/>
          </p:nvSpPr>
          <p:spPr bwMode="auto">
            <a:xfrm>
              <a:off x="5860252" y="2440592"/>
              <a:ext cx="360362" cy="360362"/>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n2</a:t>
              </a:r>
            </a:p>
          </p:txBody>
        </p:sp>
        <p:sp>
          <p:nvSpPr>
            <p:cNvPr id="59" name="Rectangle 58">
              <a:extLst>
                <a:ext uri="{FF2B5EF4-FFF2-40B4-BE49-F238E27FC236}">
                  <a16:creationId xmlns:a16="http://schemas.microsoft.com/office/drawing/2014/main" id="{EC916337-F697-7745-B3EB-BD4DCCE48727}"/>
                </a:ext>
              </a:extLst>
            </p:cNvPr>
            <p:cNvSpPr/>
            <p:nvPr/>
          </p:nvSpPr>
          <p:spPr bwMode="auto">
            <a:xfrm>
              <a:off x="6495250" y="2995613"/>
              <a:ext cx="360362" cy="360362"/>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n3</a:t>
              </a:r>
            </a:p>
          </p:txBody>
        </p:sp>
        <p:sp>
          <p:nvSpPr>
            <p:cNvPr id="60" name="TextBox 59">
              <a:extLst>
                <a:ext uri="{FF2B5EF4-FFF2-40B4-BE49-F238E27FC236}">
                  <a16:creationId xmlns:a16="http://schemas.microsoft.com/office/drawing/2014/main" id="{FB91DBE9-F666-134C-82BE-4B277302A5B6}"/>
                </a:ext>
              </a:extLst>
            </p:cNvPr>
            <p:cNvSpPr txBox="1"/>
            <p:nvPr/>
          </p:nvSpPr>
          <p:spPr bwMode="auto">
            <a:xfrm>
              <a:off x="3764049" y="2323511"/>
              <a:ext cx="1275862" cy="646331"/>
            </a:xfrm>
            <a:prstGeom prst="rect">
              <a:avLst/>
            </a:prstGeom>
            <a:noFill/>
          </p:spPr>
          <p:txBody>
            <a:bodyPr wrap="none">
              <a:spAutoFit/>
            </a:bodyPr>
            <a:lstStyle/>
            <a:p>
              <a:pPr algn="ctr">
                <a:defRPr/>
              </a:pPr>
              <a:r>
                <a:rPr lang="en-US" dirty="0"/>
                <a:t>use  =</a:t>
              </a:r>
              <a:r>
                <a:rPr lang="en-US" dirty="0">
                  <a:sym typeface="Symbol"/>
                </a:rPr>
                <a:t> </a:t>
              </a:r>
              <a:endParaRPr lang="en-US" dirty="0"/>
            </a:p>
            <a:p>
              <a:pPr algn="ctr">
                <a:defRPr/>
              </a:pPr>
              <a:r>
                <a:rPr lang="en-US" dirty="0">
                  <a:latin typeface="+mn-lt"/>
                </a:rPr>
                <a:t>def  = { </a:t>
              </a:r>
              <a:r>
                <a:rPr lang="en-US" dirty="0" err="1">
                  <a:latin typeface="+mn-lt"/>
                </a:rPr>
                <a:t>x,y</a:t>
              </a:r>
              <a:r>
                <a:rPr lang="en-US" dirty="0">
                  <a:latin typeface="+mn-lt"/>
                </a:rPr>
                <a:t> }</a:t>
              </a:r>
            </a:p>
          </p:txBody>
        </p:sp>
        <p:sp>
          <p:nvSpPr>
            <p:cNvPr id="62" name="TextBox 61">
              <a:extLst>
                <a:ext uri="{FF2B5EF4-FFF2-40B4-BE49-F238E27FC236}">
                  <a16:creationId xmlns:a16="http://schemas.microsoft.com/office/drawing/2014/main" id="{B61C966E-43F5-7A41-BCEA-EFE4AF3A6026}"/>
                </a:ext>
              </a:extLst>
            </p:cNvPr>
            <p:cNvSpPr txBox="1"/>
            <p:nvPr/>
          </p:nvSpPr>
          <p:spPr bwMode="auto">
            <a:xfrm>
              <a:off x="5495920" y="1751807"/>
              <a:ext cx="1089025" cy="646113"/>
            </a:xfrm>
            <a:prstGeom prst="rect">
              <a:avLst/>
            </a:prstGeom>
            <a:solidFill>
              <a:schemeClr val="bg1"/>
            </a:solidFill>
          </p:spPr>
          <p:txBody>
            <a:bodyPr wrap="none">
              <a:spAutoFit/>
            </a:bodyPr>
            <a:lstStyle/>
            <a:p>
              <a:pPr>
                <a:defRPr/>
              </a:pPr>
              <a:r>
                <a:rPr lang="en-US" dirty="0"/>
                <a:t>use = {y}</a:t>
              </a:r>
            </a:p>
            <a:p>
              <a:pPr>
                <a:defRPr/>
              </a:pPr>
              <a:r>
                <a:rPr lang="en-US" dirty="0">
                  <a:latin typeface="+mn-lt"/>
                </a:rPr>
                <a:t>def  = {x}</a:t>
              </a:r>
            </a:p>
          </p:txBody>
        </p:sp>
        <p:sp>
          <p:nvSpPr>
            <p:cNvPr id="63" name="Rectangle 62">
              <a:extLst>
                <a:ext uri="{FF2B5EF4-FFF2-40B4-BE49-F238E27FC236}">
                  <a16:creationId xmlns:a16="http://schemas.microsoft.com/office/drawing/2014/main" id="{6B811990-ED49-5D47-A067-E93D5505031D}"/>
                </a:ext>
              </a:extLst>
            </p:cNvPr>
            <p:cNvSpPr/>
            <p:nvPr/>
          </p:nvSpPr>
          <p:spPr bwMode="auto">
            <a:xfrm>
              <a:off x="7166427" y="2440592"/>
              <a:ext cx="360362" cy="360362"/>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n4</a:t>
              </a:r>
            </a:p>
          </p:txBody>
        </p:sp>
        <p:sp>
          <p:nvSpPr>
            <p:cNvPr id="65" name="Rectangle 64">
              <a:extLst>
                <a:ext uri="{FF2B5EF4-FFF2-40B4-BE49-F238E27FC236}">
                  <a16:creationId xmlns:a16="http://schemas.microsoft.com/office/drawing/2014/main" id="{6D3D44A1-F626-7E46-8A23-9C9C0B81E2AA}"/>
                </a:ext>
              </a:extLst>
            </p:cNvPr>
            <p:cNvSpPr/>
            <p:nvPr/>
          </p:nvSpPr>
          <p:spPr bwMode="auto">
            <a:xfrm>
              <a:off x="7846214" y="2995613"/>
              <a:ext cx="360363" cy="3603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n5</a:t>
              </a:r>
            </a:p>
          </p:txBody>
        </p:sp>
        <p:sp>
          <p:nvSpPr>
            <p:cNvPr id="66" name="TextBox 65">
              <a:extLst>
                <a:ext uri="{FF2B5EF4-FFF2-40B4-BE49-F238E27FC236}">
                  <a16:creationId xmlns:a16="http://schemas.microsoft.com/office/drawing/2014/main" id="{31694D8E-B5C7-AA46-ABD6-A9DBAA046747}"/>
                </a:ext>
              </a:extLst>
            </p:cNvPr>
            <p:cNvSpPr txBox="1"/>
            <p:nvPr/>
          </p:nvSpPr>
          <p:spPr bwMode="auto">
            <a:xfrm>
              <a:off x="4892406" y="3402127"/>
              <a:ext cx="1088760" cy="646331"/>
            </a:xfrm>
            <a:prstGeom prst="rect">
              <a:avLst/>
            </a:prstGeom>
            <a:noFill/>
          </p:spPr>
          <p:txBody>
            <a:bodyPr wrap="none">
              <a:spAutoFit/>
            </a:bodyPr>
            <a:lstStyle/>
            <a:p>
              <a:pPr algn="ctr">
                <a:defRPr/>
              </a:pPr>
              <a:r>
                <a:rPr lang="en-US" dirty="0"/>
                <a:t>use = {y}</a:t>
              </a:r>
            </a:p>
            <a:p>
              <a:pPr algn="ctr">
                <a:defRPr/>
              </a:pPr>
              <a:r>
                <a:rPr lang="en-US" dirty="0">
                  <a:latin typeface="+mn-lt"/>
                </a:rPr>
                <a:t>def  = </a:t>
              </a:r>
              <a:r>
                <a:rPr lang="en-US" dirty="0">
                  <a:latin typeface="+mn-lt"/>
                  <a:sym typeface="Symbol"/>
                </a:rPr>
                <a:t></a:t>
              </a:r>
              <a:endParaRPr lang="en-US" dirty="0">
                <a:latin typeface="+mn-lt"/>
              </a:endParaRPr>
            </a:p>
          </p:txBody>
        </p:sp>
        <p:sp>
          <p:nvSpPr>
            <p:cNvPr id="67" name="TextBox 66">
              <a:extLst>
                <a:ext uri="{FF2B5EF4-FFF2-40B4-BE49-F238E27FC236}">
                  <a16:creationId xmlns:a16="http://schemas.microsoft.com/office/drawing/2014/main" id="{72045B90-1B54-9E48-AD85-DB619C3D577E}"/>
                </a:ext>
              </a:extLst>
            </p:cNvPr>
            <p:cNvSpPr txBox="1"/>
            <p:nvPr/>
          </p:nvSpPr>
          <p:spPr bwMode="auto">
            <a:xfrm>
              <a:off x="7776592" y="3349969"/>
              <a:ext cx="1441357" cy="646331"/>
            </a:xfrm>
            <a:prstGeom prst="rect">
              <a:avLst/>
            </a:prstGeom>
            <a:noFill/>
          </p:spPr>
          <p:txBody>
            <a:bodyPr wrap="none">
              <a:spAutoFit/>
            </a:bodyPr>
            <a:lstStyle/>
            <a:p>
              <a:pPr>
                <a:defRPr/>
              </a:pPr>
              <a:r>
                <a:rPr lang="en-US" dirty="0"/>
                <a:t>use  = {x}</a:t>
              </a:r>
            </a:p>
            <a:p>
              <a:pPr>
                <a:defRPr/>
              </a:pPr>
              <a:r>
                <a:rPr lang="en-US" dirty="0">
                  <a:latin typeface="+mn-lt"/>
                </a:rPr>
                <a:t>def  = </a:t>
              </a:r>
              <a:r>
                <a:rPr lang="en-US" dirty="0">
                  <a:latin typeface="+mn-lt"/>
                  <a:sym typeface="Symbol"/>
                </a:rPr>
                <a:t>{</a:t>
              </a:r>
              <a:r>
                <a:rPr lang="en-US" dirty="0" err="1">
                  <a:latin typeface="+mn-lt"/>
                  <a:sym typeface="Symbol"/>
                </a:rPr>
                <a:t>retval</a:t>
              </a:r>
              <a:r>
                <a:rPr lang="en-US" dirty="0">
                  <a:latin typeface="+mn-lt"/>
                  <a:sym typeface="Symbol"/>
                </a:rPr>
                <a:t>}</a:t>
              </a:r>
              <a:endParaRPr lang="en-US" dirty="0">
                <a:latin typeface="+mn-lt"/>
              </a:endParaRPr>
            </a:p>
          </p:txBody>
        </p:sp>
        <p:sp>
          <p:nvSpPr>
            <p:cNvPr id="68" name="TextBox 67">
              <a:extLst>
                <a:ext uri="{FF2B5EF4-FFF2-40B4-BE49-F238E27FC236}">
                  <a16:creationId xmlns:a16="http://schemas.microsoft.com/office/drawing/2014/main" id="{3DA56290-C411-A042-A679-519E58694295}"/>
                </a:ext>
              </a:extLst>
            </p:cNvPr>
            <p:cNvSpPr txBox="1"/>
            <p:nvPr/>
          </p:nvSpPr>
          <p:spPr bwMode="auto">
            <a:xfrm>
              <a:off x="6883299" y="1786994"/>
              <a:ext cx="1010213" cy="646331"/>
            </a:xfrm>
            <a:prstGeom prst="rect">
              <a:avLst/>
            </a:prstGeom>
            <a:solidFill>
              <a:schemeClr val="bg1"/>
            </a:solidFill>
          </p:spPr>
          <p:txBody>
            <a:bodyPr wrap="none">
              <a:spAutoFit/>
            </a:bodyPr>
            <a:lstStyle/>
            <a:p>
              <a:pPr algn="ctr">
                <a:defRPr/>
              </a:pPr>
              <a:r>
                <a:rPr lang="en-US" dirty="0"/>
                <a:t>use = </a:t>
              </a:r>
              <a:r>
                <a:rPr lang="en-US" dirty="0">
                  <a:sym typeface="Symbol"/>
                </a:rPr>
                <a:t></a:t>
              </a:r>
              <a:endParaRPr lang="en-US" dirty="0"/>
            </a:p>
            <a:p>
              <a:pPr algn="ctr">
                <a:defRPr/>
              </a:pPr>
              <a:r>
                <a:rPr lang="en-US" dirty="0">
                  <a:latin typeface="+mn-lt"/>
                </a:rPr>
                <a:t>def  ={x}</a:t>
              </a:r>
            </a:p>
          </p:txBody>
        </p:sp>
        <p:cxnSp>
          <p:nvCxnSpPr>
            <p:cNvPr id="69" name="Straight Arrow Connector 68">
              <a:extLst>
                <a:ext uri="{FF2B5EF4-FFF2-40B4-BE49-F238E27FC236}">
                  <a16:creationId xmlns:a16="http://schemas.microsoft.com/office/drawing/2014/main" id="{E5A32A4B-3635-7E4E-B5FE-F7CE0621B1F2}"/>
                </a:ext>
              </a:extLst>
            </p:cNvPr>
            <p:cNvCxnSpPr>
              <a:cxnSpLocks/>
            </p:cNvCxnSpPr>
            <p:nvPr/>
          </p:nvCxnSpPr>
          <p:spPr>
            <a:xfrm>
              <a:off x="4156234" y="3176588"/>
              <a:ext cx="18636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0687B1A2-FAAF-EA47-9F6B-84EDCCF9D1AB}"/>
                </a:ext>
              </a:extLst>
            </p:cNvPr>
            <p:cNvSpPr/>
            <p:nvPr/>
          </p:nvSpPr>
          <p:spPr bwMode="auto">
            <a:xfrm>
              <a:off x="5256606" y="2995613"/>
              <a:ext cx="360362" cy="360362"/>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n1</a:t>
              </a:r>
            </a:p>
          </p:txBody>
        </p:sp>
        <p:cxnSp>
          <p:nvCxnSpPr>
            <p:cNvPr id="72" name="Elbow Connector 71">
              <a:extLst>
                <a:ext uri="{FF2B5EF4-FFF2-40B4-BE49-F238E27FC236}">
                  <a16:creationId xmlns:a16="http://schemas.microsoft.com/office/drawing/2014/main" id="{21D25E52-652F-FF43-80A6-B3DC76EE01C3}"/>
                </a:ext>
              </a:extLst>
            </p:cNvPr>
            <p:cNvCxnSpPr>
              <a:stCxn id="71" idx="0"/>
              <a:endCxn id="58" idx="1"/>
            </p:cNvCxnSpPr>
            <p:nvPr/>
          </p:nvCxnSpPr>
          <p:spPr>
            <a:xfrm rot="5400000" flipH="1" flipV="1">
              <a:off x="5461099" y="2596461"/>
              <a:ext cx="374840" cy="42346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74">
              <a:extLst>
                <a:ext uri="{FF2B5EF4-FFF2-40B4-BE49-F238E27FC236}">
                  <a16:creationId xmlns:a16="http://schemas.microsoft.com/office/drawing/2014/main" id="{2635BB9C-1BB0-D949-AC55-76424E22BE3B}"/>
                </a:ext>
              </a:extLst>
            </p:cNvPr>
            <p:cNvCxnSpPr>
              <a:cxnSpLocks/>
              <a:stCxn id="58" idx="3"/>
              <a:endCxn id="59" idx="0"/>
            </p:cNvCxnSpPr>
            <p:nvPr/>
          </p:nvCxnSpPr>
          <p:spPr>
            <a:xfrm>
              <a:off x="6220614" y="2620773"/>
              <a:ext cx="454817" cy="37484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2212B206-763D-7B4C-B7B8-B325E91E8901}"/>
                </a:ext>
              </a:extLst>
            </p:cNvPr>
            <p:cNvCxnSpPr>
              <a:stCxn id="71" idx="3"/>
              <a:endCxn id="59" idx="1"/>
            </p:cNvCxnSpPr>
            <p:nvPr/>
          </p:nvCxnSpPr>
          <p:spPr>
            <a:xfrm>
              <a:off x="5616968" y="3175794"/>
              <a:ext cx="8782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0E8B0645-A4B5-F94A-8009-4CAE13F08501}"/>
                </a:ext>
              </a:extLst>
            </p:cNvPr>
            <p:cNvCxnSpPr>
              <a:cxnSpLocks/>
              <a:stCxn id="57" idx="3"/>
              <a:endCxn id="71" idx="1"/>
            </p:cNvCxnSpPr>
            <p:nvPr/>
          </p:nvCxnSpPr>
          <p:spPr>
            <a:xfrm>
              <a:off x="4732739" y="3172619"/>
              <a:ext cx="523867" cy="31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Elbow Connector 77">
              <a:extLst>
                <a:ext uri="{FF2B5EF4-FFF2-40B4-BE49-F238E27FC236}">
                  <a16:creationId xmlns:a16="http://schemas.microsoft.com/office/drawing/2014/main" id="{9A189E49-CC06-104E-B967-6A91A196A0CB}"/>
                </a:ext>
              </a:extLst>
            </p:cNvPr>
            <p:cNvCxnSpPr>
              <a:cxnSpLocks/>
              <a:stCxn id="81" idx="0"/>
              <a:endCxn id="63" idx="1"/>
            </p:cNvCxnSpPr>
            <p:nvPr/>
          </p:nvCxnSpPr>
          <p:spPr>
            <a:xfrm rot="5400000" flipH="1" flipV="1">
              <a:off x="6794359" y="2624885"/>
              <a:ext cx="376179" cy="36795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1C2643A6-32AC-DF45-B9BC-B97EA0B860F0}"/>
                </a:ext>
              </a:extLst>
            </p:cNvPr>
            <p:cNvCxnSpPr>
              <a:cxnSpLocks/>
              <a:stCxn id="59" idx="3"/>
              <a:endCxn id="65" idx="1"/>
            </p:cNvCxnSpPr>
            <p:nvPr/>
          </p:nvCxnSpPr>
          <p:spPr>
            <a:xfrm>
              <a:off x="6855612" y="3175794"/>
              <a:ext cx="9906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Elbow Connector 79">
              <a:extLst>
                <a:ext uri="{FF2B5EF4-FFF2-40B4-BE49-F238E27FC236}">
                  <a16:creationId xmlns:a16="http://schemas.microsoft.com/office/drawing/2014/main" id="{4EA52486-7AA2-EA47-94D9-7A572387F215}"/>
                </a:ext>
              </a:extLst>
            </p:cNvPr>
            <p:cNvCxnSpPr>
              <a:cxnSpLocks/>
              <a:stCxn id="63" idx="3"/>
              <a:endCxn id="65" idx="0"/>
            </p:cNvCxnSpPr>
            <p:nvPr/>
          </p:nvCxnSpPr>
          <p:spPr>
            <a:xfrm>
              <a:off x="7526789" y="2620773"/>
              <a:ext cx="499607" cy="37484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87F1733C-1F1D-334C-9712-5C0625AFEA4F}"/>
                </a:ext>
              </a:extLst>
            </p:cNvPr>
            <p:cNvSpPr/>
            <p:nvPr/>
          </p:nvSpPr>
          <p:spPr>
            <a:xfrm>
              <a:off x="6720683" y="2996952"/>
              <a:ext cx="155573" cy="103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0A700EF8-4B87-EB44-AE1B-0CBAB0D920B6}"/>
                </a:ext>
              </a:extLst>
            </p:cNvPr>
            <p:cNvSpPr txBox="1"/>
            <p:nvPr/>
          </p:nvSpPr>
          <p:spPr bwMode="auto">
            <a:xfrm>
              <a:off x="6206289" y="3408402"/>
              <a:ext cx="1088761" cy="646331"/>
            </a:xfrm>
            <a:prstGeom prst="rect">
              <a:avLst/>
            </a:prstGeom>
            <a:noFill/>
          </p:spPr>
          <p:txBody>
            <a:bodyPr wrap="none">
              <a:spAutoFit/>
            </a:bodyPr>
            <a:lstStyle/>
            <a:p>
              <a:pPr algn="ctr">
                <a:defRPr/>
              </a:pPr>
              <a:r>
                <a:rPr lang="en-US" dirty="0"/>
                <a:t>use = {x}</a:t>
              </a:r>
            </a:p>
            <a:p>
              <a:pPr algn="ctr">
                <a:defRPr/>
              </a:pPr>
              <a:r>
                <a:rPr lang="en-US" dirty="0">
                  <a:latin typeface="+mn-lt"/>
                </a:rPr>
                <a:t>def  = </a:t>
              </a:r>
              <a:r>
                <a:rPr lang="en-US" dirty="0">
                  <a:latin typeface="+mn-lt"/>
                  <a:sym typeface="Symbol"/>
                </a:rPr>
                <a:t></a:t>
              </a:r>
              <a:endParaRPr lang="en-US" dirty="0">
                <a:latin typeface="+mn-lt"/>
              </a:endParaRPr>
            </a:p>
          </p:txBody>
        </p:sp>
      </p:grpSp>
    </p:spTree>
    <p:extLst>
      <p:ext uri="{BB962C8B-B14F-4D97-AF65-F5344CB8AC3E}">
        <p14:creationId xmlns:p14="http://schemas.microsoft.com/office/powerpoint/2010/main" val="334006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6" grpId="0" animBg="1"/>
      <p:bldP spid="47" grpId="0" animBg="1"/>
      <p:bldP spid="48" grpId="0" animBg="1"/>
      <p:bldP spid="49" grpId="0" animBg="1"/>
      <p:bldP spid="50" grpId="0" animBg="1"/>
      <p:bldP spid="52" grpId="0" animBg="1"/>
      <p:bldP spid="53" grpId="0" animBg="1"/>
      <p:bldP spid="5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1F8A3C8F-7909-DF4B-A744-832C55F4E8E1}"/>
              </a:ext>
            </a:extLst>
          </p:cNvPr>
          <p:cNvSpPr/>
          <p:nvPr/>
        </p:nvSpPr>
        <p:spPr>
          <a:xfrm>
            <a:off x="4695732" y="2299649"/>
            <a:ext cx="2472152" cy="459731"/>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Rectangle 1">
            <a:extLst>
              <a:ext uri="{FF2B5EF4-FFF2-40B4-BE49-F238E27FC236}">
                <a16:creationId xmlns:a16="http://schemas.microsoft.com/office/drawing/2014/main" id="{B726DBC5-8C65-644B-B441-6F6A18BC5162}"/>
              </a:ext>
            </a:extLst>
          </p:cNvPr>
          <p:cNvSpPr/>
          <p:nvPr/>
        </p:nvSpPr>
        <p:spPr>
          <a:xfrm>
            <a:off x="4695732" y="2759380"/>
            <a:ext cx="2472152" cy="94686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3" name="Rounded Rectangle 22">
            <a:extLst>
              <a:ext uri="{FF2B5EF4-FFF2-40B4-BE49-F238E27FC236}">
                <a16:creationId xmlns:a16="http://schemas.microsoft.com/office/drawing/2014/main" id="{7E3BB698-2964-8A4A-9698-7E266AED0682}"/>
              </a:ext>
            </a:extLst>
          </p:cNvPr>
          <p:cNvSpPr/>
          <p:nvPr/>
        </p:nvSpPr>
        <p:spPr>
          <a:xfrm>
            <a:off x="107504" y="2032644"/>
            <a:ext cx="4296908" cy="1982550"/>
          </a:xfrm>
          <a:prstGeom prst="roundRect">
            <a:avLst>
              <a:gd name="adj" fmla="val 19760"/>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8" name="Title 1"/>
          <p:cNvSpPr>
            <a:spLocks noGrp="1"/>
          </p:cNvSpPr>
          <p:nvPr>
            <p:ph type="title"/>
          </p:nvPr>
        </p:nvSpPr>
        <p:spPr/>
        <p:txBody>
          <a:bodyPr/>
          <a:lstStyle/>
          <a:p>
            <a:r>
              <a:rPr lang="en-US"/>
              <a:t>Data-flow based coverage</a:t>
            </a:r>
          </a:p>
        </p:txBody>
      </p:sp>
      <p:sp>
        <p:nvSpPr>
          <p:cNvPr id="9219" name="Content Placeholder 2"/>
          <p:cNvSpPr>
            <a:spLocks noGrp="1"/>
          </p:cNvSpPr>
          <p:nvPr>
            <p:ph idx="1"/>
          </p:nvPr>
        </p:nvSpPr>
        <p:spPr>
          <a:xfrm>
            <a:off x="285750" y="4522637"/>
            <a:ext cx="8429625" cy="1714675"/>
          </a:xfrm>
        </p:spPr>
        <p:txBody>
          <a:bodyPr/>
          <a:lstStyle/>
          <a:p>
            <a:r>
              <a:rPr lang="en-US" sz="2400" dirty="0"/>
              <a:t>All du-paths </a:t>
            </a:r>
            <a:r>
              <a:rPr lang="en-US" sz="2400" dirty="0" err="1"/>
              <a:t>Covrg</a:t>
            </a:r>
            <a:r>
              <a:rPr lang="en-US" sz="2400" dirty="0"/>
              <a:t> / </a:t>
            </a:r>
            <a:r>
              <a:rPr lang="en-US" sz="2400" b="1" dirty="0"/>
              <a:t>ADUPC  : </a:t>
            </a:r>
            <a:r>
              <a:rPr lang="en-US" sz="2400" dirty="0"/>
              <a:t>you have to cover all of them</a:t>
            </a:r>
          </a:p>
          <a:p>
            <a:r>
              <a:rPr lang="en-US" sz="2400" dirty="0"/>
              <a:t>All </a:t>
            </a:r>
            <a:r>
              <a:rPr lang="en-US" sz="2400" dirty="0" err="1"/>
              <a:t>Defs</a:t>
            </a:r>
            <a:r>
              <a:rPr lang="en-US" sz="2400" dirty="0"/>
              <a:t> </a:t>
            </a:r>
            <a:r>
              <a:rPr lang="en-US" sz="2400" dirty="0" err="1"/>
              <a:t>Covrg</a:t>
            </a:r>
            <a:r>
              <a:rPr lang="en-US" sz="2400" dirty="0"/>
              <a:t> / </a:t>
            </a:r>
            <a:r>
              <a:rPr lang="en-US" sz="2400" b="1" dirty="0"/>
              <a:t>ADC : </a:t>
            </a:r>
            <a:r>
              <a:rPr lang="en-US" sz="2400" dirty="0"/>
              <a:t>cover one per du(</a:t>
            </a:r>
            <a:r>
              <a:rPr lang="en-US" sz="2400" dirty="0" err="1"/>
              <a:t>i</a:t>
            </a:r>
            <a:r>
              <a:rPr lang="en-US" sz="2400" dirty="0"/>
              <a:t>,*,x), for each </a:t>
            </a:r>
            <a:r>
              <a:rPr lang="en-US" sz="2400" dirty="0" err="1"/>
              <a:t>i</a:t>
            </a:r>
            <a:r>
              <a:rPr lang="en-US" sz="2400" dirty="0"/>
              <a:t> and x</a:t>
            </a:r>
          </a:p>
          <a:p>
            <a:r>
              <a:rPr lang="en-US" sz="2400" dirty="0"/>
              <a:t>All Uses </a:t>
            </a:r>
            <a:r>
              <a:rPr lang="en-US" sz="2400" dirty="0" err="1"/>
              <a:t>Covrg</a:t>
            </a:r>
            <a:r>
              <a:rPr lang="en-US" sz="2400" dirty="0"/>
              <a:t> / </a:t>
            </a:r>
            <a:r>
              <a:rPr lang="en-US" sz="2400" b="1" dirty="0"/>
              <a:t>AUC </a:t>
            </a:r>
            <a:r>
              <a:rPr lang="en-US" sz="2400" dirty="0"/>
              <a:t>: cover one per du(</a:t>
            </a:r>
            <a:r>
              <a:rPr lang="en-US" sz="2400" dirty="0" err="1"/>
              <a:t>i,j,x</a:t>
            </a:r>
            <a:r>
              <a:rPr lang="en-US" sz="2400" dirty="0"/>
              <a:t>). for each </a:t>
            </a:r>
            <a:r>
              <a:rPr lang="en-US" sz="2400" dirty="0" err="1"/>
              <a:t>i,j,x</a:t>
            </a:r>
            <a:endParaRPr lang="en-US" sz="2400" dirty="0"/>
          </a:p>
        </p:txBody>
      </p:sp>
      <p:sp>
        <p:nvSpPr>
          <p:cNvPr id="4" name="Slide Number Placeholder 3"/>
          <p:cNvSpPr>
            <a:spLocks noGrp="1"/>
          </p:cNvSpPr>
          <p:nvPr>
            <p:ph type="sldNum" sz="quarter" idx="12"/>
          </p:nvPr>
        </p:nvSpPr>
        <p:spPr/>
        <p:txBody>
          <a:bodyPr/>
          <a:lstStyle/>
          <a:p>
            <a:pPr>
              <a:defRPr/>
            </a:pPr>
            <a:fld id="{7D27B13B-7955-41F4-B73B-21E8B54FC921}" type="slidenum">
              <a:rPr lang="en-US" smtClean="0"/>
              <a:pPr>
                <a:defRPr/>
              </a:pPr>
              <a:t>7</a:t>
            </a:fld>
            <a:endParaRPr lang="en-US"/>
          </a:p>
        </p:txBody>
      </p:sp>
      <p:sp>
        <p:nvSpPr>
          <p:cNvPr id="9223" name="TextBox 24"/>
          <p:cNvSpPr txBox="1">
            <a:spLocks noChangeArrowheads="1"/>
          </p:cNvSpPr>
          <p:nvPr/>
        </p:nvSpPr>
        <p:spPr bwMode="auto">
          <a:xfrm>
            <a:off x="4742191" y="2382806"/>
            <a:ext cx="2472152" cy="1323439"/>
          </a:xfrm>
          <a:prstGeom prst="rect">
            <a:avLst/>
          </a:prstGeom>
          <a:noFill/>
          <a:ln w="9525">
            <a:noFill/>
            <a:miter lim="800000"/>
            <a:headEnd/>
            <a:tailEnd/>
          </a:ln>
        </p:spPr>
        <p:txBody>
          <a:bodyPr wrap="none">
            <a:spAutoFit/>
          </a:bodyPr>
          <a:lstStyle/>
          <a:p>
            <a:r>
              <a:rPr lang="en-US" sz="2000" dirty="0"/>
              <a:t>du(1,2,x) :  12</a:t>
            </a:r>
          </a:p>
          <a:p>
            <a:r>
              <a:rPr lang="en-US" sz="2000" dirty="0"/>
              <a:t>du(2,3,x) :  23</a:t>
            </a:r>
          </a:p>
          <a:p>
            <a:r>
              <a:rPr lang="en-US" sz="2000" dirty="0"/>
              <a:t>du(2,2,x) :  232</a:t>
            </a:r>
          </a:p>
          <a:p>
            <a:r>
              <a:rPr lang="en-US" sz="2000" dirty="0"/>
              <a:t>du(2,4,x) :  234 , 24 </a:t>
            </a:r>
          </a:p>
        </p:txBody>
      </p:sp>
      <p:sp>
        <p:nvSpPr>
          <p:cNvPr id="25" name="Rectangle 24"/>
          <p:cNvSpPr/>
          <p:nvPr/>
        </p:nvSpPr>
        <p:spPr bwMode="auto">
          <a:xfrm>
            <a:off x="728066" y="2822147"/>
            <a:ext cx="360362" cy="3603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n1</a:t>
            </a:r>
          </a:p>
        </p:txBody>
      </p:sp>
      <p:cxnSp>
        <p:nvCxnSpPr>
          <p:cNvPr id="26" name="Straight Arrow Connector 25"/>
          <p:cNvCxnSpPr>
            <a:stCxn id="25" idx="3"/>
            <a:endCxn id="27" idx="1"/>
          </p:cNvCxnSpPr>
          <p:nvPr/>
        </p:nvCxnSpPr>
        <p:spPr bwMode="auto">
          <a:xfrm>
            <a:off x="1088428" y="3002328"/>
            <a:ext cx="318293" cy="3175"/>
          </a:xfrm>
          <a:prstGeom prst="straightConnector1">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bwMode="auto">
          <a:xfrm>
            <a:off x="1406721" y="2825322"/>
            <a:ext cx="360363" cy="3603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n2</a:t>
            </a:r>
          </a:p>
        </p:txBody>
      </p:sp>
      <p:sp>
        <p:nvSpPr>
          <p:cNvPr id="28" name="Rectangle 27"/>
          <p:cNvSpPr/>
          <p:nvPr/>
        </p:nvSpPr>
        <p:spPr bwMode="auto">
          <a:xfrm>
            <a:off x="2410021" y="2822147"/>
            <a:ext cx="360363" cy="3603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n3</a:t>
            </a:r>
          </a:p>
        </p:txBody>
      </p:sp>
      <p:sp>
        <p:nvSpPr>
          <p:cNvPr id="30" name="TextBox 29"/>
          <p:cNvSpPr txBox="1"/>
          <p:nvPr/>
        </p:nvSpPr>
        <p:spPr bwMode="auto">
          <a:xfrm>
            <a:off x="293558" y="3146980"/>
            <a:ext cx="1113958" cy="646331"/>
          </a:xfrm>
          <a:prstGeom prst="rect">
            <a:avLst/>
          </a:prstGeom>
          <a:noFill/>
        </p:spPr>
        <p:txBody>
          <a:bodyPr wrap="none">
            <a:spAutoFit/>
          </a:bodyPr>
          <a:lstStyle/>
          <a:p>
            <a:pPr algn="ctr">
              <a:defRPr/>
            </a:pPr>
            <a:r>
              <a:rPr lang="en-US" dirty="0"/>
              <a:t>use = </a:t>
            </a:r>
            <a:r>
              <a:rPr lang="en-US" dirty="0">
                <a:sym typeface="Symbol"/>
              </a:rPr>
              <a:t></a:t>
            </a:r>
            <a:endParaRPr lang="en-US" dirty="0"/>
          </a:p>
          <a:p>
            <a:pPr algn="ctr">
              <a:defRPr/>
            </a:pPr>
            <a:r>
              <a:rPr lang="en-US" dirty="0">
                <a:latin typeface="+mn-lt"/>
              </a:rPr>
              <a:t>def  = { x }</a:t>
            </a:r>
          </a:p>
        </p:txBody>
      </p:sp>
      <p:sp>
        <p:nvSpPr>
          <p:cNvPr id="31" name="TextBox 30"/>
          <p:cNvSpPr txBox="1"/>
          <p:nvPr/>
        </p:nvSpPr>
        <p:spPr bwMode="auto">
          <a:xfrm>
            <a:off x="909834" y="2107772"/>
            <a:ext cx="1089025" cy="646112"/>
          </a:xfrm>
          <a:prstGeom prst="rect">
            <a:avLst/>
          </a:prstGeom>
          <a:noFill/>
        </p:spPr>
        <p:txBody>
          <a:bodyPr wrap="none">
            <a:spAutoFit/>
          </a:bodyPr>
          <a:lstStyle/>
          <a:p>
            <a:pPr>
              <a:defRPr/>
            </a:pPr>
            <a:r>
              <a:rPr lang="en-US" dirty="0"/>
              <a:t>use = {x}</a:t>
            </a:r>
          </a:p>
          <a:p>
            <a:pPr>
              <a:defRPr/>
            </a:pPr>
            <a:r>
              <a:rPr lang="en-US" dirty="0">
                <a:latin typeface="+mn-lt"/>
              </a:rPr>
              <a:t>def ={x}</a:t>
            </a:r>
          </a:p>
        </p:txBody>
      </p:sp>
      <p:cxnSp>
        <p:nvCxnSpPr>
          <p:cNvPr id="32" name="Straight Arrow Connector 31"/>
          <p:cNvCxnSpPr>
            <a:stCxn id="27" idx="3"/>
            <a:endCxn id="28" idx="1"/>
          </p:cNvCxnSpPr>
          <p:nvPr/>
        </p:nvCxnSpPr>
        <p:spPr bwMode="auto">
          <a:xfrm flipV="1">
            <a:off x="1767084" y="3001534"/>
            <a:ext cx="642937" cy="3175"/>
          </a:xfrm>
          <a:prstGeom prst="straightConnector1">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bwMode="auto">
          <a:xfrm>
            <a:off x="2960963" y="2822147"/>
            <a:ext cx="360363" cy="3603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n4</a:t>
            </a:r>
          </a:p>
        </p:txBody>
      </p:sp>
      <p:cxnSp>
        <p:nvCxnSpPr>
          <p:cNvPr id="34" name="Straight Arrow Connector 33"/>
          <p:cNvCxnSpPr>
            <a:stCxn id="28" idx="3"/>
            <a:endCxn id="33" idx="1"/>
          </p:cNvCxnSpPr>
          <p:nvPr/>
        </p:nvCxnSpPr>
        <p:spPr bwMode="auto">
          <a:xfrm>
            <a:off x="2770384" y="3002328"/>
            <a:ext cx="190579" cy="0"/>
          </a:xfrm>
          <a:prstGeom prst="straightConnector1">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bwMode="auto">
          <a:xfrm>
            <a:off x="2152846" y="2107772"/>
            <a:ext cx="1087438" cy="646112"/>
          </a:xfrm>
          <a:prstGeom prst="rect">
            <a:avLst/>
          </a:prstGeom>
          <a:noFill/>
        </p:spPr>
        <p:txBody>
          <a:bodyPr wrap="none">
            <a:spAutoFit/>
          </a:bodyPr>
          <a:lstStyle/>
          <a:p>
            <a:pPr algn="ctr">
              <a:defRPr/>
            </a:pPr>
            <a:r>
              <a:rPr lang="en-US" dirty="0"/>
              <a:t>use = {x}</a:t>
            </a:r>
          </a:p>
          <a:p>
            <a:pPr algn="ctr">
              <a:defRPr/>
            </a:pPr>
            <a:r>
              <a:rPr lang="en-US" dirty="0">
                <a:latin typeface="+mn-lt"/>
              </a:rPr>
              <a:t>def =</a:t>
            </a:r>
            <a:r>
              <a:rPr lang="en-US" dirty="0">
                <a:sym typeface="Symbol"/>
              </a:rPr>
              <a:t></a:t>
            </a:r>
            <a:endParaRPr lang="en-US" dirty="0">
              <a:latin typeface="+mn-lt"/>
            </a:endParaRPr>
          </a:p>
        </p:txBody>
      </p:sp>
      <p:sp>
        <p:nvSpPr>
          <p:cNvPr id="37" name="TextBox 36"/>
          <p:cNvSpPr txBox="1"/>
          <p:nvPr/>
        </p:nvSpPr>
        <p:spPr bwMode="auto">
          <a:xfrm>
            <a:off x="3315387" y="2689853"/>
            <a:ext cx="1089025" cy="646113"/>
          </a:xfrm>
          <a:prstGeom prst="rect">
            <a:avLst/>
          </a:prstGeom>
          <a:noFill/>
        </p:spPr>
        <p:txBody>
          <a:bodyPr wrap="none">
            <a:spAutoFit/>
          </a:bodyPr>
          <a:lstStyle/>
          <a:p>
            <a:pPr>
              <a:defRPr/>
            </a:pPr>
            <a:r>
              <a:rPr lang="en-US" dirty="0"/>
              <a:t>use  ={x}</a:t>
            </a:r>
          </a:p>
          <a:p>
            <a:pPr>
              <a:defRPr/>
            </a:pPr>
            <a:r>
              <a:rPr lang="en-US" dirty="0">
                <a:latin typeface="+mn-lt"/>
              </a:rPr>
              <a:t>def  = </a:t>
            </a:r>
            <a:r>
              <a:rPr lang="en-US" dirty="0">
                <a:latin typeface="+mn-lt"/>
                <a:sym typeface="Symbol"/>
              </a:rPr>
              <a:t></a:t>
            </a:r>
            <a:endParaRPr lang="en-US" dirty="0">
              <a:latin typeface="+mn-lt"/>
            </a:endParaRPr>
          </a:p>
        </p:txBody>
      </p:sp>
      <p:cxnSp>
        <p:nvCxnSpPr>
          <p:cNvPr id="40" name="Straight Arrow Connector 39"/>
          <p:cNvCxnSpPr>
            <a:cxnSpLocks/>
            <a:endCxn id="25" idx="1"/>
          </p:cNvCxnSpPr>
          <p:nvPr/>
        </p:nvCxnSpPr>
        <p:spPr bwMode="auto">
          <a:xfrm flipV="1">
            <a:off x="429219" y="3002328"/>
            <a:ext cx="298847" cy="10582"/>
          </a:xfrm>
          <a:prstGeom prst="straightConnector1">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1" name="Curved Connector 40"/>
          <p:cNvCxnSpPr>
            <a:stCxn id="28" idx="0"/>
            <a:endCxn id="27" idx="0"/>
          </p:cNvCxnSpPr>
          <p:nvPr/>
        </p:nvCxnSpPr>
        <p:spPr bwMode="auto">
          <a:xfrm rot="16200000" flipH="1" flipV="1">
            <a:off x="2086171" y="2322085"/>
            <a:ext cx="3175" cy="1003300"/>
          </a:xfrm>
          <a:prstGeom prst="curvedConnector3">
            <a:avLst>
              <a:gd name="adj1" fmla="val -7209082"/>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2" name="Curved Connector 41"/>
          <p:cNvCxnSpPr>
            <a:stCxn id="27" idx="2"/>
            <a:endCxn id="33" idx="2"/>
          </p:cNvCxnSpPr>
          <p:nvPr/>
        </p:nvCxnSpPr>
        <p:spPr bwMode="auto">
          <a:xfrm rot="5400000" flipH="1" flipV="1">
            <a:off x="2362436" y="2406976"/>
            <a:ext cx="3175" cy="1554242"/>
          </a:xfrm>
          <a:prstGeom prst="curvedConnector3">
            <a:avLst>
              <a:gd name="adj1" fmla="val -7200000"/>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7E58AA7-66A5-4A4D-813A-F7515BD23401}"/>
              </a:ext>
            </a:extLst>
          </p:cNvPr>
          <p:cNvSpPr txBox="1"/>
          <p:nvPr/>
        </p:nvSpPr>
        <p:spPr>
          <a:xfrm>
            <a:off x="7732619" y="2499650"/>
            <a:ext cx="1366630" cy="830997"/>
          </a:xfrm>
          <a:prstGeom prst="rect">
            <a:avLst/>
          </a:prstGeom>
          <a:noFill/>
          <a:ln>
            <a:solidFill>
              <a:srgbClr val="C00000"/>
            </a:solidFill>
          </a:ln>
        </p:spPr>
        <p:txBody>
          <a:bodyPr wrap="square" rtlCol="0">
            <a:spAutoFit/>
          </a:bodyPr>
          <a:lstStyle/>
          <a:p>
            <a:r>
              <a:rPr lang="en-NL" sz="1200" dirty="0"/>
              <a:t>Just for “x”.</a:t>
            </a:r>
          </a:p>
          <a:p>
            <a:r>
              <a:rPr lang="en-NL" sz="1200" dirty="0"/>
              <a:t>You  may have more data-flows for other vars.</a:t>
            </a:r>
          </a:p>
        </p:txBody>
      </p:sp>
      <p:sp>
        <p:nvSpPr>
          <p:cNvPr id="5" name="Left Arrow 4">
            <a:extLst>
              <a:ext uri="{FF2B5EF4-FFF2-40B4-BE49-F238E27FC236}">
                <a16:creationId xmlns:a16="http://schemas.microsoft.com/office/drawing/2014/main" id="{4B40D2B3-397E-3249-8663-740A65A63D2F}"/>
              </a:ext>
            </a:extLst>
          </p:cNvPr>
          <p:cNvSpPr/>
          <p:nvPr/>
        </p:nvSpPr>
        <p:spPr>
          <a:xfrm>
            <a:off x="7333853" y="2772311"/>
            <a:ext cx="352307" cy="287636"/>
          </a:xfrm>
          <a:prstGeom prst="lef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TextBox 6">
            <a:extLst>
              <a:ext uri="{FF2B5EF4-FFF2-40B4-BE49-F238E27FC236}">
                <a16:creationId xmlns:a16="http://schemas.microsoft.com/office/drawing/2014/main" id="{C0209A22-F543-FC47-BCC0-87707586EB6A}"/>
              </a:ext>
            </a:extLst>
          </p:cNvPr>
          <p:cNvSpPr txBox="1"/>
          <p:nvPr/>
        </p:nvSpPr>
        <p:spPr>
          <a:xfrm>
            <a:off x="1480527" y="6302010"/>
            <a:ext cx="2432076" cy="307777"/>
          </a:xfrm>
          <a:prstGeom prst="rect">
            <a:avLst/>
          </a:prstGeom>
          <a:noFill/>
          <a:ln>
            <a:solidFill>
              <a:srgbClr val="C00000"/>
            </a:solidFill>
          </a:ln>
        </p:spPr>
        <p:txBody>
          <a:bodyPr wrap="none" rtlCol="0">
            <a:spAutoFit/>
          </a:bodyPr>
          <a:lstStyle/>
          <a:p>
            <a:r>
              <a:rPr lang="en-NL" sz="1400" dirty="0"/>
              <a:t>watch out, “deceptive” name</a:t>
            </a:r>
          </a:p>
        </p:txBody>
      </p:sp>
      <p:sp>
        <p:nvSpPr>
          <p:cNvPr id="8" name="Up Arrow 7">
            <a:extLst>
              <a:ext uri="{FF2B5EF4-FFF2-40B4-BE49-F238E27FC236}">
                <a16:creationId xmlns:a16="http://schemas.microsoft.com/office/drawing/2014/main" id="{7E359F7D-3DA5-AF43-991D-AF9F2FDA262E}"/>
              </a:ext>
            </a:extLst>
          </p:cNvPr>
          <p:cNvSpPr/>
          <p:nvPr/>
        </p:nvSpPr>
        <p:spPr>
          <a:xfrm>
            <a:off x="1248442" y="5862893"/>
            <a:ext cx="224368" cy="608590"/>
          </a:xfrm>
          <a:prstGeom prst="up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790461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ounded Rectangle 33">
            <a:extLst>
              <a:ext uri="{FF2B5EF4-FFF2-40B4-BE49-F238E27FC236}">
                <a16:creationId xmlns:a16="http://schemas.microsoft.com/office/drawing/2014/main" id="{A949E148-ECFC-EC4F-91E6-2D686BE54EED}"/>
              </a:ext>
            </a:extLst>
          </p:cNvPr>
          <p:cNvSpPr/>
          <p:nvPr/>
        </p:nvSpPr>
        <p:spPr>
          <a:xfrm>
            <a:off x="2741309" y="1212334"/>
            <a:ext cx="3093714" cy="2865444"/>
          </a:xfrm>
          <a:prstGeom prst="roundRect">
            <a:avLst/>
          </a:prstGeom>
          <a:solidFill>
            <a:schemeClr val="accent6">
              <a:lumMod val="40000"/>
              <a:lumOff val="60000"/>
              <a:alpha val="2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ounded Rectangle 35">
            <a:extLst>
              <a:ext uri="{FF2B5EF4-FFF2-40B4-BE49-F238E27FC236}">
                <a16:creationId xmlns:a16="http://schemas.microsoft.com/office/drawing/2014/main" id="{D40008E7-4F35-5543-8156-598D15406AEF}"/>
              </a:ext>
            </a:extLst>
          </p:cNvPr>
          <p:cNvSpPr/>
          <p:nvPr/>
        </p:nvSpPr>
        <p:spPr>
          <a:xfrm>
            <a:off x="-10118" y="1224715"/>
            <a:ext cx="2665170" cy="2836772"/>
          </a:xfrm>
          <a:prstGeom prst="roundRect">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7612BE9-8D9D-0043-BEF7-F60BD7E0DD82}"/>
              </a:ext>
            </a:extLst>
          </p:cNvPr>
          <p:cNvSpPr/>
          <p:nvPr/>
        </p:nvSpPr>
        <p:spPr>
          <a:xfrm>
            <a:off x="6005779" y="3450514"/>
            <a:ext cx="2686761" cy="610973"/>
          </a:xfrm>
          <a:prstGeom prst="rect">
            <a:avLst/>
          </a:prstGeom>
          <a:solidFill>
            <a:srgbClr val="92D050">
              <a:alpha val="6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8F43F182-AA0F-5F4A-BA18-36C3B9018CD7}"/>
              </a:ext>
            </a:extLst>
          </p:cNvPr>
          <p:cNvSpPr/>
          <p:nvPr/>
        </p:nvSpPr>
        <p:spPr>
          <a:xfrm>
            <a:off x="6000038" y="2813992"/>
            <a:ext cx="2686761" cy="61097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A5492E2-C305-2545-870D-BD5CDAD024EE}"/>
              </a:ext>
            </a:extLst>
          </p:cNvPr>
          <p:cNvSpPr/>
          <p:nvPr/>
        </p:nvSpPr>
        <p:spPr>
          <a:xfrm>
            <a:off x="6005779" y="2203019"/>
            <a:ext cx="2686761" cy="61097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40E2F38-1055-F248-A758-6E1F424544A4}"/>
              </a:ext>
            </a:extLst>
          </p:cNvPr>
          <p:cNvSpPr/>
          <p:nvPr/>
        </p:nvSpPr>
        <p:spPr>
          <a:xfrm>
            <a:off x="6000039" y="1242367"/>
            <a:ext cx="2686761" cy="69984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0" name="Title 1"/>
          <p:cNvSpPr>
            <a:spLocks noGrp="1"/>
          </p:cNvSpPr>
          <p:nvPr>
            <p:ph type="title"/>
          </p:nvPr>
        </p:nvSpPr>
        <p:spPr>
          <a:xfrm>
            <a:off x="457200" y="274638"/>
            <a:ext cx="8229600" cy="764529"/>
          </a:xfrm>
        </p:spPr>
        <p:txBody>
          <a:bodyPr/>
          <a:lstStyle/>
          <a:p>
            <a:r>
              <a:rPr lang="en-US" sz="3600" dirty="0"/>
              <a:t>Integration Test</a:t>
            </a:r>
          </a:p>
        </p:txBody>
      </p:sp>
      <p:sp>
        <p:nvSpPr>
          <p:cNvPr id="17411" name="Content Placeholder 2"/>
          <p:cNvSpPr>
            <a:spLocks noGrp="1"/>
          </p:cNvSpPr>
          <p:nvPr>
            <p:ph idx="1"/>
          </p:nvPr>
        </p:nvSpPr>
        <p:spPr>
          <a:xfrm>
            <a:off x="179388" y="4581525"/>
            <a:ext cx="8713787" cy="1990725"/>
          </a:xfrm>
        </p:spPr>
        <p:txBody>
          <a:bodyPr/>
          <a:lstStyle/>
          <a:p>
            <a:r>
              <a:rPr lang="en-US" sz="2400" i="1" dirty="0">
                <a:solidFill>
                  <a:srgbClr val="0070C0"/>
                </a:solidFill>
              </a:rPr>
              <a:t>All Coupling </a:t>
            </a:r>
            <a:r>
              <a:rPr lang="en-US" sz="2400" i="1" dirty="0" err="1">
                <a:solidFill>
                  <a:srgbClr val="0070C0"/>
                </a:solidFill>
              </a:rPr>
              <a:t>Defs</a:t>
            </a:r>
            <a:r>
              <a:rPr lang="en-US" sz="2400" i="1" dirty="0">
                <a:solidFill>
                  <a:srgbClr val="0070C0"/>
                </a:solidFill>
              </a:rPr>
              <a:t> </a:t>
            </a:r>
            <a:r>
              <a:rPr lang="en-US" sz="2400" i="1" dirty="0" err="1">
                <a:solidFill>
                  <a:srgbClr val="0070C0"/>
                </a:solidFill>
              </a:rPr>
              <a:t>Cov</a:t>
            </a:r>
            <a:r>
              <a:rPr lang="en-US" sz="2400" dirty="0"/>
              <a:t>. / ACDC:  for every last-def </a:t>
            </a:r>
            <a:r>
              <a:rPr lang="en-US" sz="2400" i="1" dirty="0"/>
              <a:t>d </a:t>
            </a:r>
            <a:r>
              <a:rPr lang="en-US" sz="2400" dirty="0"/>
              <a:t>of each coupling var </a:t>
            </a:r>
            <a:r>
              <a:rPr lang="en-US" sz="2400" i="1" dirty="0"/>
              <a:t>v</a:t>
            </a:r>
            <a:r>
              <a:rPr lang="en-US" sz="2400" dirty="0"/>
              <a:t>, TR includes one coupling du-path starting from </a:t>
            </a:r>
            <a:r>
              <a:rPr lang="en-US" sz="2400" i="1" dirty="0"/>
              <a:t>d</a:t>
            </a:r>
            <a:r>
              <a:rPr lang="en-US" sz="2400" dirty="0"/>
              <a:t>.</a:t>
            </a:r>
          </a:p>
          <a:p>
            <a:r>
              <a:rPr lang="en-US" sz="2400" i="1" dirty="0">
                <a:solidFill>
                  <a:srgbClr val="0070C0"/>
                </a:solidFill>
                <a:sym typeface="Wingdings" pitchFamily="2" charset="2"/>
              </a:rPr>
              <a:t>All Coupling Uses </a:t>
            </a:r>
            <a:r>
              <a:rPr lang="en-US" sz="2400" i="1" dirty="0" err="1">
                <a:solidFill>
                  <a:srgbClr val="0070C0"/>
                </a:solidFill>
                <a:sym typeface="Wingdings" pitchFamily="2" charset="2"/>
              </a:rPr>
              <a:t>Cov</a:t>
            </a:r>
            <a:r>
              <a:rPr lang="en-US" sz="2400" dirty="0">
                <a:sym typeface="Wingdings" pitchFamily="2" charset="2"/>
              </a:rPr>
              <a:t>. /ACUC: for every last-def </a:t>
            </a:r>
            <a:r>
              <a:rPr lang="en-US" sz="2400" i="1" dirty="0">
                <a:sym typeface="Wingdings" pitchFamily="2" charset="2"/>
              </a:rPr>
              <a:t>d </a:t>
            </a:r>
            <a:r>
              <a:rPr lang="en-US" sz="2400" dirty="0">
                <a:sym typeface="Wingdings" pitchFamily="2" charset="2"/>
              </a:rPr>
              <a:t>and first-use </a:t>
            </a:r>
            <a:r>
              <a:rPr lang="en-US" sz="2400" i="1" dirty="0">
                <a:sym typeface="Wingdings" pitchFamily="2" charset="2"/>
              </a:rPr>
              <a:t>u </a:t>
            </a:r>
            <a:r>
              <a:rPr lang="en-US" sz="2400" dirty="0">
                <a:sym typeface="Wingdings" pitchFamily="2" charset="2"/>
              </a:rPr>
              <a:t>of </a:t>
            </a:r>
            <a:r>
              <a:rPr lang="en-US" sz="2400" i="1" dirty="0">
                <a:sym typeface="Wingdings" pitchFamily="2" charset="2"/>
              </a:rPr>
              <a:t>v, TR </a:t>
            </a:r>
            <a:r>
              <a:rPr lang="en-US" sz="2400" dirty="0">
                <a:sym typeface="Wingdings" pitchFamily="2" charset="2"/>
              </a:rPr>
              <a:t>includes one couple du-path from </a:t>
            </a:r>
            <a:r>
              <a:rPr lang="en-US" sz="2400" i="1" dirty="0">
                <a:sym typeface="Wingdings" pitchFamily="2" charset="2"/>
              </a:rPr>
              <a:t>d</a:t>
            </a:r>
            <a:r>
              <a:rPr lang="en-US" sz="2400" dirty="0">
                <a:sym typeface="Wingdings" pitchFamily="2" charset="2"/>
              </a:rPr>
              <a:t> to </a:t>
            </a:r>
            <a:r>
              <a:rPr lang="en-US" sz="2400" i="1" dirty="0">
                <a:sym typeface="Wingdings" pitchFamily="2" charset="2"/>
              </a:rPr>
              <a:t>u</a:t>
            </a:r>
            <a:r>
              <a:rPr lang="en-US" sz="2400" dirty="0">
                <a:sym typeface="Wingdings" pitchFamily="2" charset="2"/>
              </a:rPr>
              <a:t>.</a:t>
            </a:r>
            <a:endParaRPr lang="en-US" sz="2400" dirty="0"/>
          </a:p>
          <a:p>
            <a:endParaRPr lang="en-US" sz="2400" dirty="0"/>
          </a:p>
          <a:p>
            <a:endParaRPr lang="en-US" sz="2400" dirty="0"/>
          </a:p>
          <a:p>
            <a:endParaRPr lang="en-US" sz="2400" dirty="0"/>
          </a:p>
          <a:p>
            <a:endParaRPr lang="en-US" sz="2400" dirty="0"/>
          </a:p>
        </p:txBody>
      </p:sp>
      <p:sp>
        <p:nvSpPr>
          <p:cNvPr id="4" name="Slide Number Placeholder 3"/>
          <p:cNvSpPr>
            <a:spLocks noGrp="1"/>
          </p:cNvSpPr>
          <p:nvPr>
            <p:ph type="sldNum" sz="quarter" idx="12"/>
          </p:nvPr>
        </p:nvSpPr>
        <p:spPr/>
        <p:txBody>
          <a:bodyPr/>
          <a:lstStyle/>
          <a:p>
            <a:pPr>
              <a:defRPr/>
            </a:pPr>
            <a:fld id="{4222195C-4E8F-49AE-B622-01B2FA64103B}" type="slidenum">
              <a:rPr lang="en-US" smtClean="0"/>
              <a:pPr>
                <a:defRPr/>
              </a:pPr>
              <a:t>8</a:t>
            </a:fld>
            <a:endParaRPr lang="en-US" dirty="0"/>
          </a:p>
        </p:txBody>
      </p:sp>
      <p:sp>
        <p:nvSpPr>
          <p:cNvPr id="31" name="TextBox 30"/>
          <p:cNvSpPr txBox="1"/>
          <p:nvPr/>
        </p:nvSpPr>
        <p:spPr>
          <a:xfrm>
            <a:off x="6000039" y="1224715"/>
            <a:ext cx="2515432" cy="2862322"/>
          </a:xfrm>
          <a:prstGeom prst="rect">
            <a:avLst/>
          </a:prstGeom>
          <a:noFill/>
        </p:spPr>
        <p:txBody>
          <a:bodyPr wrap="none">
            <a:spAutoFit/>
          </a:bodyPr>
          <a:lstStyle/>
          <a:p>
            <a:pPr>
              <a:defRPr/>
            </a:pPr>
            <a:r>
              <a:rPr lang="en-US" sz="2000" b="1" i="1" dirty="0">
                <a:latin typeface="+mn-lt"/>
              </a:rPr>
              <a:t>Coupling </a:t>
            </a:r>
            <a:r>
              <a:rPr lang="en-US" sz="2000" b="1" i="1" dirty="0" err="1">
                <a:latin typeface="+mn-lt"/>
              </a:rPr>
              <a:t>vars</a:t>
            </a:r>
            <a:r>
              <a:rPr lang="en-US" sz="2000" b="1" i="1" dirty="0">
                <a:latin typeface="+mn-lt"/>
              </a:rPr>
              <a:t>:  </a:t>
            </a:r>
            <a:br>
              <a:rPr lang="en-US" sz="2000" dirty="0">
                <a:latin typeface="+mn-lt"/>
              </a:rPr>
            </a:br>
            <a:r>
              <a:rPr lang="en-US" sz="2000" dirty="0">
                <a:latin typeface="+mn-lt"/>
              </a:rPr>
              <a:t>      a, b, </a:t>
            </a:r>
            <a:r>
              <a:rPr lang="en-US" sz="2000" dirty="0" err="1">
                <a:latin typeface="+mn-lt"/>
              </a:rPr>
              <a:t>g.return</a:t>
            </a:r>
            <a:endParaRPr lang="en-US" sz="2000" dirty="0">
              <a:latin typeface="+mn-lt"/>
            </a:endParaRPr>
          </a:p>
          <a:p>
            <a:pPr>
              <a:defRPr/>
            </a:pPr>
            <a:r>
              <a:rPr lang="en-US" sz="2000" b="1" i="1" dirty="0">
                <a:latin typeface="+mn-lt"/>
              </a:rPr>
              <a:t>Coupling du-paths :  </a:t>
            </a:r>
            <a:br>
              <a:rPr lang="en-US" sz="2000" dirty="0">
                <a:latin typeface="+mn-lt"/>
              </a:rPr>
            </a:br>
            <a:r>
              <a:rPr lang="en-US" sz="2000" dirty="0">
                <a:latin typeface="+mn-lt"/>
              </a:rPr>
              <a:t>    </a:t>
            </a:r>
            <a:r>
              <a:rPr lang="en-US" sz="2000" dirty="0">
                <a:solidFill>
                  <a:srgbClr val="FF0000"/>
                </a:solidFill>
                <a:latin typeface="+mn-lt"/>
              </a:rPr>
              <a:t>a</a:t>
            </a:r>
            <a:r>
              <a:rPr lang="en-US" sz="2000" dirty="0">
                <a:latin typeface="+mn-lt"/>
              </a:rPr>
              <a:t>:  [f1,f2,f4,g1,g2] </a:t>
            </a:r>
            <a:br>
              <a:rPr lang="en-US" sz="2000" dirty="0">
                <a:latin typeface="+mn-lt"/>
              </a:rPr>
            </a:br>
            <a:r>
              <a:rPr lang="en-US" sz="2000" dirty="0">
                <a:latin typeface="+mn-lt"/>
              </a:rPr>
              <a:t>         [f3,f4,g1,g2]</a:t>
            </a:r>
            <a:br>
              <a:rPr lang="en-US" sz="2000" dirty="0">
                <a:latin typeface="+mn-lt"/>
              </a:rPr>
            </a:br>
            <a:r>
              <a:rPr lang="en-US" sz="2000" dirty="0">
                <a:latin typeface="+mn-lt"/>
              </a:rPr>
              <a:t>   </a:t>
            </a:r>
            <a:r>
              <a:rPr lang="en-US" sz="2000" dirty="0">
                <a:solidFill>
                  <a:schemeClr val="accent6">
                    <a:lumMod val="60000"/>
                    <a:lumOff val="40000"/>
                  </a:schemeClr>
                </a:solidFill>
                <a:latin typeface="+mn-lt"/>
              </a:rPr>
              <a:t> b</a:t>
            </a:r>
            <a:r>
              <a:rPr lang="en-US" sz="2000" dirty="0">
                <a:latin typeface="+mn-lt"/>
              </a:rPr>
              <a:t>: [f1,f2,f4,g1,g2] </a:t>
            </a:r>
            <a:br>
              <a:rPr lang="en-US" sz="2000" dirty="0">
                <a:latin typeface="+mn-lt"/>
              </a:rPr>
            </a:br>
            <a:r>
              <a:rPr lang="en-US" sz="2000" dirty="0">
                <a:latin typeface="+mn-lt"/>
              </a:rPr>
              <a:t>         [f1,f2,f3,f4,g1,g2]</a:t>
            </a:r>
            <a:br>
              <a:rPr lang="en-US" sz="2000" dirty="0">
                <a:latin typeface="+mn-lt"/>
              </a:rPr>
            </a:br>
            <a:r>
              <a:rPr lang="en-US" sz="2000" dirty="0">
                <a:latin typeface="+mn-lt"/>
              </a:rPr>
              <a:t>    </a:t>
            </a:r>
            <a:r>
              <a:rPr lang="en-US" sz="2000" dirty="0" err="1">
                <a:solidFill>
                  <a:srgbClr val="00B050"/>
                </a:solidFill>
                <a:latin typeface="+mn-lt"/>
              </a:rPr>
              <a:t>g.return</a:t>
            </a:r>
            <a:r>
              <a:rPr lang="en-US" sz="2000" dirty="0">
                <a:latin typeface="+mn-lt"/>
              </a:rPr>
              <a:t>: [g4,f4]</a:t>
            </a:r>
            <a:br>
              <a:rPr lang="en-US" sz="2000" dirty="0">
                <a:latin typeface="+mn-lt"/>
              </a:rPr>
            </a:br>
            <a:r>
              <a:rPr lang="en-US" sz="2000" dirty="0">
                <a:latin typeface="+mn-lt"/>
              </a:rPr>
              <a:t>                     [g5,f4]</a:t>
            </a:r>
          </a:p>
        </p:txBody>
      </p:sp>
      <p:sp>
        <p:nvSpPr>
          <p:cNvPr id="27" name="TextBox 26"/>
          <p:cNvSpPr txBox="1"/>
          <p:nvPr/>
        </p:nvSpPr>
        <p:spPr>
          <a:xfrm>
            <a:off x="107950" y="1643063"/>
            <a:ext cx="1684338" cy="369887"/>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(1)</a:t>
            </a:r>
            <a:r>
              <a:rPr lang="en-US" b="1" dirty="0">
                <a:solidFill>
                  <a:srgbClr val="FF0000"/>
                </a:solidFill>
              </a:rPr>
              <a:t> a </a:t>
            </a:r>
            <a:r>
              <a:rPr lang="en-US" dirty="0"/>
              <a:t>= ...  ;</a:t>
            </a:r>
            <a:r>
              <a:rPr lang="en-US" b="1" dirty="0">
                <a:solidFill>
                  <a:schemeClr val="accent6">
                    <a:lumMod val="60000"/>
                    <a:lumOff val="40000"/>
                  </a:schemeClr>
                </a:solidFill>
              </a:rPr>
              <a:t>b</a:t>
            </a:r>
            <a:r>
              <a:rPr lang="en-US" dirty="0"/>
              <a:t> = ...</a:t>
            </a:r>
          </a:p>
        </p:txBody>
      </p:sp>
      <p:sp>
        <p:nvSpPr>
          <p:cNvPr id="29" name="TextBox 28"/>
          <p:cNvSpPr txBox="1"/>
          <p:nvPr/>
        </p:nvSpPr>
        <p:spPr>
          <a:xfrm>
            <a:off x="1539057" y="2218650"/>
            <a:ext cx="1054100" cy="369888"/>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(3)  </a:t>
            </a:r>
            <a:r>
              <a:rPr lang="en-US" b="1" dirty="0">
                <a:solidFill>
                  <a:srgbClr val="FF0000"/>
                </a:solidFill>
              </a:rPr>
              <a:t>a</a:t>
            </a:r>
            <a:r>
              <a:rPr lang="en-US" dirty="0"/>
              <a:t> = ...</a:t>
            </a:r>
          </a:p>
        </p:txBody>
      </p:sp>
      <p:sp>
        <p:nvSpPr>
          <p:cNvPr id="33" name="TextBox 32"/>
          <p:cNvSpPr txBox="1"/>
          <p:nvPr/>
        </p:nvSpPr>
        <p:spPr>
          <a:xfrm>
            <a:off x="506413" y="2214563"/>
            <a:ext cx="896937" cy="369887"/>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(2)  a&gt;b</a:t>
            </a:r>
          </a:p>
        </p:txBody>
      </p:sp>
      <p:sp>
        <p:nvSpPr>
          <p:cNvPr id="35" name="TextBox 34"/>
          <p:cNvSpPr txBox="1"/>
          <p:nvPr/>
        </p:nvSpPr>
        <p:spPr>
          <a:xfrm>
            <a:off x="259072" y="2971007"/>
            <a:ext cx="1380506" cy="369332"/>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(4) </a:t>
            </a:r>
            <a:r>
              <a:rPr lang="en-US" b="1" dirty="0">
                <a:solidFill>
                  <a:srgbClr val="00B050"/>
                </a:solidFill>
              </a:rPr>
              <a:t>b</a:t>
            </a:r>
            <a:r>
              <a:rPr lang="en-US" dirty="0"/>
              <a:t> = g(</a:t>
            </a:r>
            <a:r>
              <a:rPr lang="en-US" dirty="0" err="1"/>
              <a:t>a,b</a:t>
            </a:r>
            <a:r>
              <a:rPr lang="en-US" dirty="0"/>
              <a:t>)</a:t>
            </a:r>
          </a:p>
        </p:txBody>
      </p:sp>
      <p:sp>
        <p:nvSpPr>
          <p:cNvPr id="37" name="TextBox 36"/>
          <p:cNvSpPr txBox="1"/>
          <p:nvPr/>
        </p:nvSpPr>
        <p:spPr>
          <a:xfrm>
            <a:off x="3201442" y="1573907"/>
            <a:ext cx="1007007" cy="369332"/>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(1) g(</a:t>
            </a:r>
            <a:r>
              <a:rPr lang="en-US" dirty="0" err="1"/>
              <a:t>x,y</a:t>
            </a:r>
            <a:r>
              <a:rPr lang="en-US" dirty="0"/>
              <a:t>)</a:t>
            </a:r>
          </a:p>
        </p:txBody>
      </p:sp>
      <p:sp>
        <p:nvSpPr>
          <p:cNvPr id="38" name="TextBox 37"/>
          <p:cNvSpPr txBox="1"/>
          <p:nvPr/>
        </p:nvSpPr>
        <p:spPr>
          <a:xfrm>
            <a:off x="3231898" y="2135249"/>
            <a:ext cx="941283" cy="369332"/>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(2) </a:t>
            </a:r>
            <a:r>
              <a:rPr lang="en-US" b="1" dirty="0">
                <a:solidFill>
                  <a:srgbClr val="FF0000"/>
                </a:solidFill>
              </a:rPr>
              <a:t>x</a:t>
            </a:r>
            <a:r>
              <a:rPr lang="en-US" dirty="0"/>
              <a:t>&lt;=</a:t>
            </a:r>
            <a:r>
              <a:rPr lang="en-US" b="1" dirty="0">
                <a:solidFill>
                  <a:schemeClr val="accent6">
                    <a:lumMod val="60000"/>
                    <a:lumOff val="40000"/>
                  </a:schemeClr>
                </a:solidFill>
              </a:rPr>
              <a:t>y</a:t>
            </a:r>
          </a:p>
        </p:txBody>
      </p:sp>
      <p:sp>
        <p:nvSpPr>
          <p:cNvPr id="42" name="TextBox 41"/>
          <p:cNvSpPr txBox="1"/>
          <p:nvPr/>
        </p:nvSpPr>
        <p:spPr>
          <a:xfrm>
            <a:off x="3270569" y="2666239"/>
            <a:ext cx="930063" cy="369332"/>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(3) x==y</a:t>
            </a:r>
          </a:p>
        </p:txBody>
      </p:sp>
      <p:sp>
        <p:nvSpPr>
          <p:cNvPr id="43" name="TextBox 42"/>
          <p:cNvSpPr txBox="1"/>
          <p:nvPr/>
        </p:nvSpPr>
        <p:spPr>
          <a:xfrm>
            <a:off x="4282521" y="2145407"/>
            <a:ext cx="1314450" cy="369887"/>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(4) </a:t>
            </a:r>
            <a:r>
              <a:rPr lang="en-US" b="1" dirty="0">
                <a:solidFill>
                  <a:srgbClr val="00B050"/>
                </a:solidFill>
              </a:rPr>
              <a:t>return</a:t>
            </a:r>
            <a:r>
              <a:rPr lang="en-US" dirty="0"/>
              <a:t> ...</a:t>
            </a:r>
          </a:p>
        </p:txBody>
      </p:sp>
      <p:sp>
        <p:nvSpPr>
          <p:cNvPr id="44" name="TextBox 43"/>
          <p:cNvSpPr txBox="1"/>
          <p:nvPr/>
        </p:nvSpPr>
        <p:spPr>
          <a:xfrm>
            <a:off x="4520572" y="3285231"/>
            <a:ext cx="1314450" cy="369888"/>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(5) </a:t>
            </a:r>
            <a:r>
              <a:rPr lang="en-US" b="1" dirty="0">
                <a:solidFill>
                  <a:srgbClr val="00B050"/>
                </a:solidFill>
              </a:rPr>
              <a:t>return</a:t>
            </a:r>
            <a:r>
              <a:rPr lang="en-US" dirty="0"/>
              <a:t> ...</a:t>
            </a:r>
          </a:p>
        </p:txBody>
      </p:sp>
      <p:cxnSp>
        <p:nvCxnSpPr>
          <p:cNvPr id="46" name="Straight Arrow Connector 45"/>
          <p:cNvCxnSpPr>
            <a:stCxn id="27" idx="2"/>
            <a:endCxn id="33" idx="0"/>
          </p:cNvCxnSpPr>
          <p:nvPr/>
        </p:nvCxnSpPr>
        <p:spPr>
          <a:xfrm rot="16200000" flipH="1">
            <a:off x="850900" y="2111375"/>
            <a:ext cx="201613" cy="47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3" idx="3"/>
            <a:endCxn id="29" idx="1"/>
          </p:cNvCxnSpPr>
          <p:nvPr/>
        </p:nvCxnSpPr>
        <p:spPr>
          <a:xfrm>
            <a:off x="1403350" y="2399507"/>
            <a:ext cx="135707" cy="40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3" idx="2"/>
            <a:endCxn id="35" idx="0"/>
          </p:cNvCxnSpPr>
          <p:nvPr/>
        </p:nvCxnSpPr>
        <p:spPr>
          <a:xfrm flipH="1">
            <a:off x="949325" y="2584450"/>
            <a:ext cx="5557" cy="3865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29" idx="2"/>
            <a:endCxn id="35" idx="3"/>
          </p:cNvCxnSpPr>
          <p:nvPr/>
        </p:nvCxnSpPr>
        <p:spPr>
          <a:xfrm flipH="1">
            <a:off x="1639578" y="2588538"/>
            <a:ext cx="426529" cy="5671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7" idx="2"/>
            <a:endCxn id="38" idx="0"/>
          </p:cNvCxnSpPr>
          <p:nvPr/>
        </p:nvCxnSpPr>
        <p:spPr>
          <a:xfrm flipH="1">
            <a:off x="3702540" y="1943239"/>
            <a:ext cx="2406" cy="1920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8" idx="2"/>
            <a:endCxn id="42" idx="0"/>
          </p:cNvCxnSpPr>
          <p:nvPr/>
        </p:nvCxnSpPr>
        <p:spPr>
          <a:xfrm>
            <a:off x="3702540" y="2504581"/>
            <a:ext cx="33061" cy="16165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8" idx="3"/>
            <a:endCxn id="43" idx="1"/>
          </p:cNvCxnSpPr>
          <p:nvPr/>
        </p:nvCxnSpPr>
        <p:spPr>
          <a:xfrm>
            <a:off x="4173181" y="2319915"/>
            <a:ext cx="109340" cy="104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5" name="Rounded Rectangle 54"/>
          <p:cNvSpPr/>
          <p:nvPr/>
        </p:nvSpPr>
        <p:spPr>
          <a:xfrm>
            <a:off x="2843808" y="3145531"/>
            <a:ext cx="1511747" cy="660113"/>
          </a:xfrm>
          <a:prstGeom prst="roundRect">
            <a:avLst/>
          </a:prstGeom>
          <a:solidFill>
            <a:schemeClr val="bg2">
              <a:lumMod val="50000"/>
            </a:schemeClr>
          </a:solidFill>
          <a:ln>
            <a:solidFill>
              <a:schemeClr val="tx1"/>
            </a:solidFill>
            <a:prstDash val="dash"/>
          </a:ln>
        </p:spPr>
        <p:style>
          <a:lnRef idx="2">
            <a:schemeClr val="dk1"/>
          </a:lnRef>
          <a:fillRef idx="1">
            <a:schemeClr val="lt1"/>
          </a:fillRef>
          <a:effectRef idx="0">
            <a:schemeClr val="dk1"/>
          </a:effectRef>
          <a:fontRef idx="minor">
            <a:schemeClr val="dk1"/>
          </a:fontRef>
        </p:style>
        <p:txBody>
          <a:bodyPr anchor="ctr"/>
          <a:lstStyle/>
          <a:p>
            <a:pPr algn="ctr">
              <a:defRPr/>
            </a:pPr>
            <a:endParaRPr lang="en-US"/>
          </a:p>
        </p:txBody>
      </p:sp>
      <p:cxnSp>
        <p:nvCxnSpPr>
          <p:cNvPr id="56" name="Straight Arrow Connector 55"/>
          <p:cNvCxnSpPr>
            <a:cxnSpLocks/>
            <a:stCxn id="55" idx="3"/>
            <a:endCxn id="44" idx="1"/>
          </p:cNvCxnSpPr>
          <p:nvPr/>
        </p:nvCxnSpPr>
        <p:spPr>
          <a:xfrm flipV="1">
            <a:off x="4355555" y="3470175"/>
            <a:ext cx="165017" cy="54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cxnSpLocks/>
            <a:stCxn id="42" idx="2"/>
          </p:cNvCxnSpPr>
          <p:nvPr/>
        </p:nvCxnSpPr>
        <p:spPr>
          <a:xfrm>
            <a:off x="3735601" y="3035571"/>
            <a:ext cx="18377" cy="29462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Shape 58"/>
          <p:cNvCxnSpPr>
            <a:stCxn id="35" idx="2"/>
            <a:endCxn id="37" idx="1"/>
          </p:cNvCxnSpPr>
          <p:nvPr/>
        </p:nvCxnSpPr>
        <p:spPr>
          <a:xfrm rot="5400000" flipH="1" flipV="1">
            <a:off x="1284500" y="1423397"/>
            <a:ext cx="1581766" cy="2252117"/>
          </a:xfrm>
          <a:prstGeom prst="curvedConnector4">
            <a:avLst>
              <a:gd name="adj1" fmla="val -14452"/>
              <a:gd name="adj2" fmla="val 80169"/>
            </a:avLst>
          </a:prstGeom>
          <a:ln>
            <a:prstDash val="dash"/>
            <a:tailEnd type="arrow"/>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10D21A8-B697-7949-B945-C07418C8AE57}"/>
              </a:ext>
            </a:extLst>
          </p:cNvPr>
          <p:cNvSpPr txBox="1"/>
          <p:nvPr/>
        </p:nvSpPr>
        <p:spPr>
          <a:xfrm>
            <a:off x="793815" y="1242367"/>
            <a:ext cx="439544" cy="461665"/>
          </a:xfrm>
          <a:prstGeom prst="rect">
            <a:avLst/>
          </a:prstGeom>
          <a:noFill/>
        </p:spPr>
        <p:txBody>
          <a:bodyPr wrap="none" rtlCol="0">
            <a:spAutoFit/>
          </a:bodyPr>
          <a:lstStyle/>
          <a:p>
            <a:r>
              <a:rPr lang="en-US" sz="2400" dirty="0"/>
              <a:t>f  </a:t>
            </a:r>
          </a:p>
        </p:txBody>
      </p:sp>
      <p:sp>
        <p:nvSpPr>
          <p:cNvPr id="30" name="TextBox 29">
            <a:extLst>
              <a:ext uri="{FF2B5EF4-FFF2-40B4-BE49-F238E27FC236}">
                <a16:creationId xmlns:a16="http://schemas.microsoft.com/office/drawing/2014/main" id="{FBD4D8BD-2C31-5642-9354-5F09E91F5343}"/>
              </a:ext>
            </a:extLst>
          </p:cNvPr>
          <p:cNvSpPr txBox="1"/>
          <p:nvPr/>
        </p:nvSpPr>
        <p:spPr>
          <a:xfrm>
            <a:off x="3445623" y="1065560"/>
            <a:ext cx="356188" cy="461665"/>
          </a:xfrm>
          <a:prstGeom prst="rect">
            <a:avLst/>
          </a:prstGeom>
          <a:noFill/>
        </p:spPr>
        <p:txBody>
          <a:bodyPr wrap="none" rtlCol="0">
            <a:spAutoFit/>
          </a:bodyPr>
          <a:lstStyle/>
          <a:p>
            <a:r>
              <a:rPr lang="en-US" sz="2400" dirty="0"/>
              <a:t>g</a:t>
            </a:r>
          </a:p>
        </p:txBody>
      </p:sp>
      <p:cxnSp>
        <p:nvCxnSpPr>
          <p:cNvPr id="21" name="Curved Connector 20">
            <a:extLst>
              <a:ext uri="{FF2B5EF4-FFF2-40B4-BE49-F238E27FC236}">
                <a16:creationId xmlns:a16="http://schemas.microsoft.com/office/drawing/2014/main" id="{3ACF8211-8AD3-4745-BE89-D5001701EB89}"/>
              </a:ext>
            </a:extLst>
          </p:cNvPr>
          <p:cNvCxnSpPr>
            <a:stCxn id="42" idx="3"/>
          </p:cNvCxnSpPr>
          <p:nvPr/>
        </p:nvCxnSpPr>
        <p:spPr>
          <a:xfrm flipH="1">
            <a:off x="4067944" y="2850905"/>
            <a:ext cx="132688" cy="479292"/>
          </a:xfrm>
          <a:prstGeom prst="curvedConnector4">
            <a:avLst>
              <a:gd name="adj1" fmla="val -172284"/>
              <a:gd name="adj2" fmla="val 69264"/>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0147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Line 38"/>
          <p:cNvSpPr>
            <a:spLocks noChangeShapeType="1"/>
          </p:cNvSpPr>
          <p:nvPr/>
        </p:nvSpPr>
        <p:spPr bwMode="auto">
          <a:xfrm flipV="1">
            <a:off x="819150" y="3633788"/>
            <a:ext cx="76200" cy="152400"/>
          </a:xfrm>
          <a:prstGeom prst="line">
            <a:avLst/>
          </a:prstGeom>
          <a:noFill/>
          <a:ln w="12700">
            <a:solidFill>
              <a:schemeClr val="tx1"/>
            </a:solidFill>
            <a:round/>
            <a:headEnd/>
            <a:tailEnd/>
          </a:ln>
        </p:spPr>
        <p:txBody>
          <a:bodyPr wrap="none" anchor="ctr"/>
          <a:lstStyle/>
          <a:p>
            <a:pPr>
              <a:defRPr/>
            </a:pPr>
            <a:endParaRPr lang="en-US" sz="2400">
              <a:latin typeface="+mn-lt"/>
              <a:cs typeface="Arial" pitchFamily="34" charset="0"/>
            </a:endParaRPr>
          </a:p>
        </p:txBody>
      </p:sp>
      <p:sp>
        <p:nvSpPr>
          <p:cNvPr id="40" name="Line 39"/>
          <p:cNvSpPr>
            <a:spLocks noChangeShapeType="1"/>
          </p:cNvSpPr>
          <p:nvPr/>
        </p:nvSpPr>
        <p:spPr bwMode="auto">
          <a:xfrm flipH="1" flipV="1">
            <a:off x="895350" y="3633788"/>
            <a:ext cx="76200" cy="152400"/>
          </a:xfrm>
          <a:prstGeom prst="line">
            <a:avLst/>
          </a:prstGeom>
          <a:noFill/>
          <a:ln w="12700">
            <a:solidFill>
              <a:schemeClr val="tx1"/>
            </a:solidFill>
            <a:round/>
            <a:headEnd/>
            <a:tailEnd/>
          </a:ln>
        </p:spPr>
        <p:txBody>
          <a:bodyPr wrap="none" anchor="ctr"/>
          <a:lstStyle/>
          <a:p>
            <a:pPr>
              <a:defRPr/>
            </a:pPr>
            <a:endParaRPr lang="en-US" sz="2400">
              <a:latin typeface="+mn-lt"/>
              <a:cs typeface="Arial" pitchFamily="34" charset="0"/>
            </a:endParaRPr>
          </a:p>
        </p:txBody>
      </p:sp>
      <p:sp>
        <p:nvSpPr>
          <p:cNvPr id="41" name="Line 40"/>
          <p:cNvSpPr>
            <a:spLocks noChangeShapeType="1"/>
          </p:cNvSpPr>
          <p:nvPr/>
        </p:nvSpPr>
        <p:spPr bwMode="auto">
          <a:xfrm>
            <a:off x="819150" y="3786188"/>
            <a:ext cx="152400" cy="0"/>
          </a:xfrm>
          <a:prstGeom prst="line">
            <a:avLst/>
          </a:prstGeom>
          <a:noFill/>
          <a:ln w="12700">
            <a:solidFill>
              <a:schemeClr val="tx1"/>
            </a:solidFill>
            <a:round/>
            <a:headEnd/>
            <a:tailEnd/>
          </a:ln>
        </p:spPr>
        <p:txBody>
          <a:bodyPr wrap="none" anchor="ctr"/>
          <a:lstStyle/>
          <a:p>
            <a:pPr>
              <a:defRPr/>
            </a:pPr>
            <a:endParaRPr lang="en-US" sz="2400">
              <a:latin typeface="+mn-lt"/>
              <a:cs typeface="Arial" pitchFamily="34" charset="0"/>
            </a:endParaRPr>
          </a:p>
        </p:txBody>
      </p:sp>
      <p:sp>
        <p:nvSpPr>
          <p:cNvPr id="42" name="Line 41"/>
          <p:cNvSpPr>
            <a:spLocks noChangeShapeType="1"/>
          </p:cNvSpPr>
          <p:nvPr/>
        </p:nvSpPr>
        <p:spPr bwMode="auto">
          <a:xfrm>
            <a:off x="895350" y="3786188"/>
            <a:ext cx="0" cy="228600"/>
          </a:xfrm>
          <a:prstGeom prst="line">
            <a:avLst/>
          </a:prstGeom>
          <a:noFill/>
          <a:ln w="12700">
            <a:solidFill>
              <a:schemeClr val="tx1"/>
            </a:solidFill>
            <a:round/>
            <a:headEnd/>
            <a:tailEnd/>
          </a:ln>
        </p:spPr>
        <p:txBody>
          <a:bodyPr wrap="none" anchor="ctr"/>
          <a:lstStyle/>
          <a:p>
            <a:pPr>
              <a:defRPr/>
            </a:pPr>
            <a:endParaRPr lang="en-US" sz="2400">
              <a:latin typeface="+mn-lt"/>
              <a:cs typeface="Arial" pitchFamily="34" charset="0"/>
            </a:endParaRPr>
          </a:p>
        </p:txBody>
      </p:sp>
      <p:sp>
        <p:nvSpPr>
          <p:cNvPr id="27654" name="Title 4"/>
          <p:cNvSpPr>
            <a:spLocks noGrp="1"/>
          </p:cNvSpPr>
          <p:nvPr>
            <p:ph type="title"/>
          </p:nvPr>
        </p:nvSpPr>
        <p:spPr/>
        <p:txBody>
          <a:bodyPr/>
          <a:lstStyle/>
          <a:p>
            <a:r>
              <a:rPr lang="en-US" sz="4000" dirty="0"/>
              <a:t>The call graph of d() in A,B,C</a:t>
            </a:r>
            <a:endParaRPr lang="en-US" sz="2400" i="1" dirty="0"/>
          </a:p>
        </p:txBody>
      </p:sp>
      <p:sp>
        <p:nvSpPr>
          <p:cNvPr id="4" name="Slide Number Placeholder 3"/>
          <p:cNvSpPr>
            <a:spLocks noGrp="1"/>
          </p:cNvSpPr>
          <p:nvPr>
            <p:ph type="sldNum" sz="quarter" idx="12"/>
          </p:nvPr>
        </p:nvSpPr>
        <p:spPr/>
        <p:txBody>
          <a:bodyPr/>
          <a:lstStyle/>
          <a:p>
            <a:pPr>
              <a:defRPr/>
            </a:pPr>
            <a:fld id="{BDB5378D-868B-4B51-81E4-559CAB448F5B}" type="slidenum">
              <a:rPr lang="en-US" smtClean="0"/>
              <a:pPr>
                <a:defRPr/>
              </a:pPr>
              <a:t>9</a:t>
            </a:fld>
            <a:endParaRPr lang="en-US"/>
          </a:p>
        </p:txBody>
      </p:sp>
      <p:sp>
        <p:nvSpPr>
          <p:cNvPr id="7" name="Rectangle 2"/>
          <p:cNvSpPr>
            <a:spLocks noChangeArrowheads="1"/>
          </p:cNvSpPr>
          <p:nvPr/>
        </p:nvSpPr>
        <p:spPr bwMode="auto">
          <a:xfrm>
            <a:off x="330200" y="5729288"/>
            <a:ext cx="1146175" cy="914400"/>
          </a:xfrm>
          <a:prstGeom prst="rect">
            <a:avLst/>
          </a:prstGeom>
          <a:solidFill>
            <a:srgbClr val="FFFFCC"/>
          </a:solidFill>
          <a:ln w="28575">
            <a:solidFill>
              <a:srgbClr val="000000"/>
            </a:solidFill>
            <a:miter lim="800000"/>
            <a:headEnd/>
            <a:tailEnd/>
          </a:ln>
        </p:spPr>
        <p:txBody>
          <a:bodyPr wrap="none" anchor="ctr"/>
          <a:lstStyle/>
          <a:p>
            <a:pPr>
              <a:defRPr/>
            </a:pPr>
            <a:r>
              <a:rPr lang="nl-NL" b="1" u="sng" dirty="0">
                <a:latin typeface="+mn-lt"/>
                <a:cs typeface="Arial" pitchFamily="34" charset="0"/>
              </a:rPr>
              <a:t>      C      </a:t>
            </a:r>
          </a:p>
          <a:p>
            <a:pPr>
              <a:defRPr/>
            </a:pPr>
            <a:r>
              <a:rPr lang="en-US" dirty="0">
                <a:solidFill>
                  <a:srgbClr val="00005A"/>
                </a:solidFill>
                <a:latin typeface="+mn-lt"/>
                <a:cs typeface="Arial" pitchFamily="34" charset="0"/>
              </a:rPr>
              <a:t>+j () { k() }</a:t>
            </a:r>
          </a:p>
        </p:txBody>
      </p:sp>
      <p:sp>
        <p:nvSpPr>
          <p:cNvPr id="8" name="Rectangle 3"/>
          <p:cNvSpPr>
            <a:spLocks noChangeArrowheads="1"/>
          </p:cNvSpPr>
          <p:nvPr/>
        </p:nvSpPr>
        <p:spPr bwMode="auto">
          <a:xfrm>
            <a:off x="250825" y="4000500"/>
            <a:ext cx="1657350" cy="1084263"/>
          </a:xfrm>
          <a:prstGeom prst="rect">
            <a:avLst/>
          </a:prstGeom>
          <a:solidFill>
            <a:srgbClr val="CCFFFF"/>
          </a:solidFill>
          <a:ln w="28575">
            <a:solidFill>
              <a:srgbClr val="000000"/>
            </a:solidFill>
            <a:miter lim="800000"/>
            <a:headEnd/>
            <a:tailEnd/>
          </a:ln>
        </p:spPr>
        <p:txBody>
          <a:bodyPr wrap="none" anchor="ctr"/>
          <a:lstStyle/>
          <a:p>
            <a:pPr>
              <a:defRPr/>
            </a:pPr>
            <a:r>
              <a:rPr lang="nl-NL" b="1" u="sng" dirty="0">
                <a:latin typeface="+mn-lt"/>
                <a:cs typeface="Arial" pitchFamily="34" charset="0"/>
              </a:rPr>
              <a:t>       B      </a:t>
            </a:r>
          </a:p>
          <a:p>
            <a:pPr>
              <a:defRPr/>
            </a:pPr>
            <a:r>
              <a:rPr lang="en-US" dirty="0">
                <a:solidFill>
                  <a:srgbClr val="00005A"/>
                </a:solidFill>
                <a:cs typeface="Arial" pitchFamily="34" charset="0"/>
              </a:rPr>
              <a:t>+h () { </a:t>
            </a:r>
            <a:r>
              <a:rPr lang="en-US" dirty="0" err="1">
                <a:solidFill>
                  <a:srgbClr val="00005A"/>
                </a:solidFill>
                <a:cs typeface="Arial" pitchFamily="34" charset="0"/>
              </a:rPr>
              <a:t>i</a:t>
            </a:r>
            <a:r>
              <a:rPr lang="en-US" dirty="0">
                <a:solidFill>
                  <a:srgbClr val="00005A"/>
                </a:solidFill>
                <a:cs typeface="Arial" pitchFamily="34" charset="0"/>
              </a:rPr>
              <a:t>() ...} </a:t>
            </a:r>
            <a:endParaRPr lang="en-US" dirty="0">
              <a:solidFill>
                <a:srgbClr val="00005A"/>
              </a:solidFill>
              <a:latin typeface="+mn-lt"/>
              <a:cs typeface="Arial" pitchFamily="34" charset="0"/>
            </a:endParaRPr>
          </a:p>
          <a:p>
            <a:pPr>
              <a:defRPr/>
            </a:pPr>
            <a:r>
              <a:rPr lang="en-US" dirty="0">
                <a:solidFill>
                  <a:srgbClr val="00005A"/>
                </a:solidFill>
                <a:latin typeface="+mn-lt"/>
                <a:cs typeface="Arial" pitchFamily="34" charset="0"/>
              </a:rPr>
              <a:t>+ </a:t>
            </a:r>
            <a:r>
              <a:rPr lang="en-US" dirty="0" err="1">
                <a:solidFill>
                  <a:srgbClr val="00005A"/>
                </a:solidFill>
                <a:latin typeface="+mn-lt"/>
                <a:cs typeface="Arial" pitchFamily="34" charset="0"/>
              </a:rPr>
              <a:t>i</a:t>
            </a:r>
            <a:r>
              <a:rPr lang="en-US" dirty="0">
                <a:solidFill>
                  <a:srgbClr val="00005A"/>
                </a:solidFill>
                <a:latin typeface="+mn-lt"/>
                <a:cs typeface="Arial" pitchFamily="34" charset="0"/>
              </a:rPr>
              <a:t>() { </a:t>
            </a:r>
            <a:r>
              <a:rPr lang="en-US" dirty="0" err="1">
                <a:solidFill>
                  <a:srgbClr val="00005A"/>
                </a:solidFill>
                <a:latin typeface="+mn-lt"/>
                <a:cs typeface="Arial" pitchFamily="34" charset="0"/>
              </a:rPr>
              <a:t>super.i</a:t>
            </a:r>
            <a:r>
              <a:rPr lang="en-US" dirty="0">
                <a:solidFill>
                  <a:srgbClr val="00005A"/>
                </a:solidFill>
                <a:latin typeface="+mn-lt"/>
                <a:cs typeface="Arial" pitchFamily="34" charset="0"/>
              </a:rPr>
              <a:t>() ...}</a:t>
            </a:r>
          </a:p>
          <a:p>
            <a:pPr>
              <a:defRPr/>
            </a:pPr>
            <a:r>
              <a:rPr lang="en-US" dirty="0">
                <a:solidFill>
                  <a:srgbClr val="00005A"/>
                </a:solidFill>
                <a:latin typeface="+mn-lt"/>
                <a:cs typeface="Arial" pitchFamily="34" charset="0"/>
              </a:rPr>
              <a:t>+k() { }</a:t>
            </a:r>
          </a:p>
        </p:txBody>
      </p:sp>
      <p:sp>
        <p:nvSpPr>
          <p:cNvPr id="9" name="Rectangle 4"/>
          <p:cNvSpPr>
            <a:spLocks noChangeArrowheads="1"/>
          </p:cNvSpPr>
          <p:nvPr/>
        </p:nvSpPr>
        <p:spPr bwMode="auto">
          <a:xfrm>
            <a:off x="323850" y="1643063"/>
            <a:ext cx="1233488" cy="1928812"/>
          </a:xfrm>
          <a:prstGeom prst="rect">
            <a:avLst/>
          </a:prstGeom>
          <a:solidFill>
            <a:srgbClr val="FFE1FF"/>
          </a:solidFill>
          <a:ln w="28575">
            <a:solidFill>
              <a:srgbClr val="000000"/>
            </a:solidFill>
            <a:miter lim="800000"/>
            <a:headEnd/>
            <a:tailEnd/>
          </a:ln>
        </p:spPr>
        <p:txBody>
          <a:bodyPr wrap="none" anchor="ctr"/>
          <a:lstStyle/>
          <a:p>
            <a:pPr>
              <a:defRPr/>
            </a:pPr>
            <a:r>
              <a:rPr lang="en-US" b="1" u="sng" dirty="0">
                <a:solidFill>
                  <a:srgbClr val="00005A"/>
                </a:solidFill>
                <a:latin typeface="+mn-lt"/>
                <a:cs typeface="Arial" pitchFamily="34" charset="0"/>
              </a:rPr>
              <a:t>       A       </a:t>
            </a:r>
          </a:p>
          <a:p>
            <a:pPr>
              <a:defRPr/>
            </a:pPr>
            <a:r>
              <a:rPr lang="en-US" dirty="0">
                <a:solidFill>
                  <a:srgbClr val="00005A"/>
                </a:solidFill>
                <a:latin typeface="+mn-lt"/>
                <a:cs typeface="Arial" pitchFamily="34" charset="0"/>
              </a:rPr>
              <a:t>+d () { g() }</a:t>
            </a:r>
          </a:p>
          <a:p>
            <a:pPr>
              <a:defRPr/>
            </a:pPr>
            <a:r>
              <a:rPr lang="en-US" dirty="0">
                <a:solidFill>
                  <a:srgbClr val="00005A"/>
                </a:solidFill>
                <a:latin typeface="+mn-lt"/>
                <a:cs typeface="Arial" pitchFamily="34" charset="0"/>
              </a:rPr>
              <a:t>+g () { h() }</a:t>
            </a:r>
          </a:p>
          <a:p>
            <a:pPr>
              <a:defRPr/>
            </a:pPr>
            <a:r>
              <a:rPr lang="en-US" dirty="0">
                <a:solidFill>
                  <a:srgbClr val="00005A"/>
                </a:solidFill>
                <a:latin typeface="+mn-lt"/>
                <a:cs typeface="Arial" pitchFamily="34" charset="0"/>
              </a:rPr>
              <a:t>+h () { </a:t>
            </a:r>
            <a:r>
              <a:rPr lang="en-US" dirty="0" err="1">
                <a:solidFill>
                  <a:srgbClr val="00005A"/>
                </a:solidFill>
                <a:latin typeface="+mn-lt"/>
                <a:cs typeface="Arial" pitchFamily="34" charset="0"/>
              </a:rPr>
              <a:t>i</a:t>
            </a:r>
            <a:r>
              <a:rPr lang="en-US" dirty="0">
                <a:solidFill>
                  <a:srgbClr val="00005A"/>
                </a:solidFill>
                <a:latin typeface="+mn-lt"/>
                <a:cs typeface="Arial" pitchFamily="34" charset="0"/>
              </a:rPr>
              <a:t>() }</a:t>
            </a:r>
          </a:p>
          <a:p>
            <a:pPr>
              <a:defRPr/>
            </a:pPr>
            <a:r>
              <a:rPr lang="en-US" dirty="0">
                <a:solidFill>
                  <a:srgbClr val="00005A"/>
                </a:solidFill>
                <a:latin typeface="+mn-lt"/>
                <a:cs typeface="Arial" pitchFamily="34" charset="0"/>
              </a:rPr>
              <a:t>+</a:t>
            </a:r>
            <a:r>
              <a:rPr lang="en-US" dirty="0" err="1">
                <a:solidFill>
                  <a:srgbClr val="00005A"/>
                </a:solidFill>
                <a:latin typeface="+mn-lt"/>
                <a:cs typeface="Arial" pitchFamily="34" charset="0"/>
              </a:rPr>
              <a:t>i</a:t>
            </a:r>
            <a:r>
              <a:rPr lang="en-US" dirty="0">
                <a:solidFill>
                  <a:srgbClr val="00005A"/>
                </a:solidFill>
                <a:latin typeface="+mn-lt"/>
                <a:cs typeface="Arial" pitchFamily="34" charset="0"/>
              </a:rPr>
              <a:t> () { j() }</a:t>
            </a:r>
          </a:p>
          <a:p>
            <a:pPr>
              <a:defRPr/>
            </a:pPr>
            <a:r>
              <a:rPr lang="en-US" dirty="0">
                <a:solidFill>
                  <a:srgbClr val="00005A"/>
                </a:solidFill>
                <a:latin typeface="+mn-lt"/>
                <a:cs typeface="Arial" pitchFamily="34" charset="0"/>
              </a:rPr>
              <a:t>+j () {}</a:t>
            </a:r>
          </a:p>
        </p:txBody>
      </p:sp>
      <p:sp>
        <p:nvSpPr>
          <p:cNvPr id="10" name="Rectangle 5"/>
          <p:cNvSpPr>
            <a:spLocks noChangeArrowheads="1"/>
          </p:cNvSpPr>
          <p:nvPr/>
        </p:nvSpPr>
        <p:spPr bwMode="auto">
          <a:xfrm>
            <a:off x="2652713" y="6096000"/>
            <a:ext cx="5562600" cy="457200"/>
          </a:xfrm>
          <a:prstGeom prst="rect">
            <a:avLst/>
          </a:prstGeom>
          <a:solidFill>
            <a:srgbClr val="FFFFCC"/>
          </a:solidFill>
          <a:ln w="28575">
            <a:solidFill>
              <a:srgbClr val="000000"/>
            </a:solidFill>
            <a:miter lim="800000"/>
            <a:headEnd/>
            <a:tailEnd/>
          </a:ln>
        </p:spPr>
        <p:txBody>
          <a:bodyPr wrap="none" anchor="ctr"/>
          <a:lstStyle/>
          <a:p>
            <a:pPr>
              <a:defRPr/>
            </a:pPr>
            <a:endParaRPr lang="nl-NL" sz="2400">
              <a:latin typeface="+mn-lt"/>
              <a:cs typeface="Arial" pitchFamily="34" charset="0"/>
            </a:endParaRPr>
          </a:p>
        </p:txBody>
      </p:sp>
      <p:sp>
        <p:nvSpPr>
          <p:cNvPr id="11" name="Rectangle 6"/>
          <p:cNvSpPr>
            <a:spLocks noChangeArrowheads="1"/>
          </p:cNvSpPr>
          <p:nvPr/>
        </p:nvSpPr>
        <p:spPr bwMode="auto">
          <a:xfrm>
            <a:off x="2652713" y="4033838"/>
            <a:ext cx="5562600" cy="609600"/>
          </a:xfrm>
          <a:prstGeom prst="rect">
            <a:avLst/>
          </a:prstGeom>
          <a:solidFill>
            <a:srgbClr val="CCFFFF"/>
          </a:solidFill>
          <a:ln w="28575">
            <a:solidFill>
              <a:srgbClr val="000000"/>
            </a:solidFill>
            <a:miter lim="800000"/>
            <a:headEnd/>
            <a:tailEnd/>
          </a:ln>
        </p:spPr>
        <p:txBody>
          <a:bodyPr wrap="none" anchor="ctr"/>
          <a:lstStyle/>
          <a:p>
            <a:pPr>
              <a:defRPr/>
            </a:pPr>
            <a:endParaRPr lang="nl-NL" sz="2400">
              <a:latin typeface="+mn-lt"/>
              <a:cs typeface="Arial" pitchFamily="34" charset="0"/>
            </a:endParaRPr>
          </a:p>
        </p:txBody>
      </p:sp>
      <p:sp>
        <p:nvSpPr>
          <p:cNvPr id="12" name="Rectangle 7"/>
          <p:cNvSpPr>
            <a:spLocks noChangeArrowheads="1"/>
          </p:cNvSpPr>
          <p:nvPr/>
        </p:nvSpPr>
        <p:spPr bwMode="auto">
          <a:xfrm>
            <a:off x="2724150" y="2143125"/>
            <a:ext cx="5562600" cy="609600"/>
          </a:xfrm>
          <a:prstGeom prst="rect">
            <a:avLst/>
          </a:prstGeom>
          <a:solidFill>
            <a:srgbClr val="FFE1FF"/>
          </a:solidFill>
          <a:ln w="28575">
            <a:solidFill>
              <a:srgbClr val="000000"/>
            </a:solidFill>
            <a:miter lim="800000"/>
            <a:headEnd/>
            <a:tailEnd/>
          </a:ln>
        </p:spPr>
        <p:txBody>
          <a:bodyPr wrap="none" anchor="ctr"/>
          <a:lstStyle/>
          <a:p>
            <a:pPr>
              <a:defRPr/>
            </a:pPr>
            <a:endParaRPr lang="nl-NL" sz="2400">
              <a:latin typeface="+mn-lt"/>
              <a:cs typeface="Arial" pitchFamily="34" charset="0"/>
            </a:endParaRPr>
          </a:p>
        </p:txBody>
      </p:sp>
      <p:sp>
        <p:nvSpPr>
          <p:cNvPr id="22" name="Line 18"/>
          <p:cNvSpPr>
            <a:spLocks noChangeShapeType="1"/>
          </p:cNvSpPr>
          <p:nvPr/>
        </p:nvSpPr>
        <p:spPr bwMode="auto">
          <a:xfrm>
            <a:off x="1581150" y="2447925"/>
            <a:ext cx="1143000" cy="0"/>
          </a:xfrm>
          <a:prstGeom prst="line">
            <a:avLst/>
          </a:prstGeom>
          <a:noFill/>
          <a:ln w="28575">
            <a:solidFill>
              <a:schemeClr val="tx1"/>
            </a:solidFill>
            <a:round/>
            <a:headEnd/>
            <a:tailEnd type="triangle" w="med" len="med"/>
          </a:ln>
        </p:spPr>
        <p:txBody>
          <a:bodyPr wrap="none" anchor="ctr"/>
          <a:lstStyle/>
          <a:p>
            <a:pPr>
              <a:defRPr/>
            </a:pPr>
            <a:endParaRPr lang="en-US" sz="2400">
              <a:latin typeface="+mn-lt"/>
              <a:cs typeface="Arial" pitchFamily="34" charset="0"/>
            </a:endParaRPr>
          </a:p>
        </p:txBody>
      </p:sp>
      <p:sp>
        <p:nvSpPr>
          <p:cNvPr id="23" name="Text Box 20"/>
          <p:cNvSpPr txBox="1">
            <a:spLocks noChangeArrowheads="1"/>
          </p:cNvSpPr>
          <p:nvPr/>
        </p:nvSpPr>
        <p:spPr bwMode="auto">
          <a:xfrm>
            <a:off x="2716213" y="6156325"/>
            <a:ext cx="320675" cy="400050"/>
          </a:xfrm>
          <a:prstGeom prst="rect">
            <a:avLst/>
          </a:prstGeom>
          <a:noFill/>
          <a:ln w="12700">
            <a:noFill/>
            <a:miter lim="800000"/>
            <a:headEnd/>
            <a:tailEnd/>
          </a:ln>
        </p:spPr>
        <p:txBody>
          <a:bodyPr wrap="none">
            <a:spAutoFit/>
          </a:bodyPr>
          <a:lstStyle/>
          <a:p>
            <a:pPr algn="ctr">
              <a:defRPr/>
            </a:pPr>
            <a:r>
              <a:rPr lang="en-US" sz="2000">
                <a:solidFill>
                  <a:srgbClr val="00005A"/>
                </a:solidFill>
                <a:latin typeface="+mn-lt"/>
                <a:cs typeface="Arial" pitchFamily="34" charset="0"/>
              </a:rPr>
              <a:t>C</a:t>
            </a:r>
          </a:p>
        </p:txBody>
      </p:sp>
      <p:sp>
        <p:nvSpPr>
          <p:cNvPr id="24" name="Text Box 21"/>
          <p:cNvSpPr txBox="1">
            <a:spLocks noChangeArrowheads="1"/>
          </p:cNvSpPr>
          <p:nvPr/>
        </p:nvSpPr>
        <p:spPr bwMode="auto">
          <a:xfrm>
            <a:off x="6686550" y="6172200"/>
            <a:ext cx="403225" cy="400050"/>
          </a:xfrm>
          <a:prstGeom prst="rect">
            <a:avLst/>
          </a:prstGeom>
          <a:noFill/>
          <a:ln w="12700">
            <a:noFill/>
            <a:miter lim="800000"/>
            <a:headEnd/>
            <a:tailEnd/>
          </a:ln>
        </p:spPr>
        <p:txBody>
          <a:bodyPr wrap="none">
            <a:spAutoFit/>
          </a:bodyPr>
          <a:lstStyle/>
          <a:p>
            <a:pPr algn="ctr">
              <a:defRPr/>
            </a:pPr>
            <a:r>
              <a:rPr lang="en-US" sz="2000">
                <a:solidFill>
                  <a:srgbClr val="00005A"/>
                </a:solidFill>
                <a:latin typeface="+mn-lt"/>
                <a:cs typeface="Arial" pitchFamily="34" charset="0"/>
              </a:rPr>
              <a:t>j()</a:t>
            </a:r>
          </a:p>
        </p:txBody>
      </p:sp>
      <p:sp>
        <p:nvSpPr>
          <p:cNvPr id="27" name="Text Box 24"/>
          <p:cNvSpPr txBox="1">
            <a:spLocks noChangeArrowheads="1"/>
          </p:cNvSpPr>
          <p:nvPr/>
        </p:nvSpPr>
        <p:spPr bwMode="auto">
          <a:xfrm>
            <a:off x="2716213" y="4170363"/>
            <a:ext cx="328612" cy="400050"/>
          </a:xfrm>
          <a:prstGeom prst="rect">
            <a:avLst/>
          </a:prstGeom>
          <a:noFill/>
          <a:ln w="12700">
            <a:noFill/>
            <a:miter lim="800000"/>
            <a:headEnd/>
            <a:tailEnd/>
          </a:ln>
        </p:spPr>
        <p:txBody>
          <a:bodyPr wrap="none">
            <a:spAutoFit/>
          </a:bodyPr>
          <a:lstStyle/>
          <a:p>
            <a:pPr algn="ctr">
              <a:defRPr/>
            </a:pPr>
            <a:r>
              <a:rPr lang="en-US" sz="2000" b="1">
                <a:solidFill>
                  <a:srgbClr val="00005A"/>
                </a:solidFill>
                <a:latin typeface="+mn-lt"/>
                <a:cs typeface="Arial" pitchFamily="34" charset="0"/>
              </a:rPr>
              <a:t>B</a:t>
            </a:r>
          </a:p>
        </p:txBody>
      </p:sp>
      <p:sp>
        <p:nvSpPr>
          <p:cNvPr id="28" name="Text Box 25"/>
          <p:cNvSpPr txBox="1">
            <a:spLocks noChangeArrowheads="1"/>
          </p:cNvSpPr>
          <p:nvPr/>
        </p:nvSpPr>
        <p:spPr bwMode="auto">
          <a:xfrm>
            <a:off x="5133975" y="4186238"/>
            <a:ext cx="476250" cy="400050"/>
          </a:xfrm>
          <a:prstGeom prst="rect">
            <a:avLst/>
          </a:prstGeom>
          <a:noFill/>
          <a:ln w="12700">
            <a:noFill/>
            <a:miter lim="800000"/>
            <a:headEnd/>
            <a:tailEnd/>
          </a:ln>
        </p:spPr>
        <p:txBody>
          <a:bodyPr wrap="none">
            <a:spAutoFit/>
          </a:bodyPr>
          <a:lstStyle/>
          <a:p>
            <a:pPr algn="ctr">
              <a:defRPr/>
            </a:pPr>
            <a:r>
              <a:rPr lang="en-US" sz="2000">
                <a:solidFill>
                  <a:srgbClr val="00005A"/>
                </a:solidFill>
                <a:latin typeface="+mn-lt"/>
                <a:cs typeface="Arial" pitchFamily="34" charset="0"/>
              </a:rPr>
              <a:t>h()</a:t>
            </a:r>
          </a:p>
        </p:txBody>
      </p:sp>
      <p:sp>
        <p:nvSpPr>
          <p:cNvPr id="29" name="Text Box 26"/>
          <p:cNvSpPr txBox="1">
            <a:spLocks noChangeArrowheads="1"/>
          </p:cNvSpPr>
          <p:nvPr/>
        </p:nvSpPr>
        <p:spPr bwMode="auto">
          <a:xfrm>
            <a:off x="5924550" y="4186238"/>
            <a:ext cx="401638" cy="400050"/>
          </a:xfrm>
          <a:prstGeom prst="rect">
            <a:avLst/>
          </a:prstGeom>
          <a:noFill/>
          <a:ln w="12700">
            <a:noFill/>
            <a:miter lim="800000"/>
            <a:headEnd/>
            <a:tailEnd/>
          </a:ln>
        </p:spPr>
        <p:txBody>
          <a:bodyPr wrap="none">
            <a:spAutoFit/>
          </a:bodyPr>
          <a:lstStyle/>
          <a:p>
            <a:pPr algn="ctr">
              <a:defRPr/>
            </a:pPr>
            <a:r>
              <a:rPr lang="en-US" sz="2000">
                <a:solidFill>
                  <a:srgbClr val="00005A"/>
                </a:solidFill>
                <a:latin typeface="+mn-lt"/>
                <a:cs typeface="Arial" pitchFamily="34" charset="0"/>
              </a:rPr>
              <a:t>i()</a:t>
            </a:r>
          </a:p>
        </p:txBody>
      </p:sp>
      <p:sp>
        <p:nvSpPr>
          <p:cNvPr id="31" name="Line 28"/>
          <p:cNvSpPr>
            <a:spLocks noChangeShapeType="1"/>
          </p:cNvSpPr>
          <p:nvPr/>
        </p:nvSpPr>
        <p:spPr bwMode="auto">
          <a:xfrm>
            <a:off x="5519738" y="4338638"/>
            <a:ext cx="457200" cy="0"/>
          </a:xfrm>
          <a:prstGeom prst="line">
            <a:avLst/>
          </a:prstGeom>
          <a:noFill/>
          <a:ln w="28575">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32" name="Line 30"/>
          <p:cNvSpPr>
            <a:spLocks noChangeShapeType="1"/>
          </p:cNvSpPr>
          <p:nvPr/>
        </p:nvSpPr>
        <p:spPr bwMode="auto">
          <a:xfrm flipV="1">
            <a:off x="1763713" y="4343400"/>
            <a:ext cx="889000" cy="22225"/>
          </a:xfrm>
          <a:prstGeom prst="line">
            <a:avLst/>
          </a:prstGeom>
          <a:noFill/>
          <a:ln w="28575">
            <a:solidFill>
              <a:schemeClr val="tx1"/>
            </a:solidFill>
            <a:round/>
            <a:headEnd/>
            <a:tailEnd type="triangle" w="med" len="med"/>
          </a:ln>
        </p:spPr>
        <p:txBody>
          <a:bodyPr wrap="none" anchor="ctr"/>
          <a:lstStyle/>
          <a:p>
            <a:pPr>
              <a:defRPr/>
            </a:pPr>
            <a:endParaRPr lang="en-US" sz="2400">
              <a:latin typeface="+mn-lt"/>
              <a:cs typeface="Arial" pitchFamily="34" charset="0"/>
            </a:endParaRPr>
          </a:p>
        </p:txBody>
      </p:sp>
      <p:sp>
        <p:nvSpPr>
          <p:cNvPr id="33" name="Line 32"/>
          <p:cNvSpPr>
            <a:spLocks noChangeShapeType="1"/>
          </p:cNvSpPr>
          <p:nvPr/>
        </p:nvSpPr>
        <p:spPr bwMode="auto">
          <a:xfrm>
            <a:off x="1509713" y="6327775"/>
            <a:ext cx="1143000" cy="0"/>
          </a:xfrm>
          <a:prstGeom prst="line">
            <a:avLst/>
          </a:prstGeom>
          <a:noFill/>
          <a:ln w="28575">
            <a:solidFill>
              <a:schemeClr val="tx1"/>
            </a:solidFill>
            <a:round/>
            <a:headEnd/>
            <a:tailEnd type="triangle" w="med" len="med"/>
          </a:ln>
        </p:spPr>
        <p:txBody>
          <a:bodyPr wrap="none" anchor="ctr"/>
          <a:lstStyle/>
          <a:p>
            <a:pPr>
              <a:defRPr/>
            </a:pPr>
            <a:endParaRPr lang="en-US" sz="2400">
              <a:latin typeface="+mn-lt"/>
              <a:cs typeface="Arial" pitchFamily="34" charset="0"/>
            </a:endParaRPr>
          </a:p>
        </p:txBody>
      </p:sp>
      <p:sp>
        <p:nvSpPr>
          <p:cNvPr id="51" name="Text Box 50"/>
          <p:cNvSpPr txBox="1">
            <a:spLocks noChangeArrowheads="1"/>
          </p:cNvSpPr>
          <p:nvPr/>
        </p:nvSpPr>
        <p:spPr bwMode="auto">
          <a:xfrm>
            <a:off x="2709863" y="3462338"/>
            <a:ext cx="339725" cy="400050"/>
          </a:xfrm>
          <a:prstGeom prst="rect">
            <a:avLst/>
          </a:prstGeom>
          <a:noFill/>
          <a:ln w="12700">
            <a:noFill/>
            <a:miter lim="800000"/>
            <a:headEnd/>
            <a:tailEnd/>
          </a:ln>
        </p:spPr>
        <p:txBody>
          <a:bodyPr wrap="none">
            <a:spAutoFit/>
          </a:bodyPr>
          <a:lstStyle/>
          <a:p>
            <a:pPr algn="ctr">
              <a:defRPr/>
            </a:pPr>
            <a:r>
              <a:rPr lang="en-US" sz="2000" b="1">
                <a:latin typeface="+mn-lt"/>
                <a:cs typeface="Arial" pitchFamily="34" charset="0"/>
              </a:rPr>
              <a:t>A</a:t>
            </a:r>
          </a:p>
        </p:txBody>
      </p:sp>
      <p:sp>
        <p:nvSpPr>
          <p:cNvPr id="52" name="Text Box 51"/>
          <p:cNvSpPr txBox="1">
            <a:spLocks noChangeArrowheads="1"/>
          </p:cNvSpPr>
          <p:nvPr/>
        </p:nvSpPr>
        <p:spPr bwMode="auto">
          <a:xfrm>
            <a:off x="3414713" y="3478213"/>
            <a:ext cx="476250"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d()</a:t>
            </a:r>
          </a:p>
        </p:txBody>
      </p:sp>
      <p:sp>
        <p:nvSpPr>
          <p:cNvPr id="53" name="Text Box 52"/>
          <p:cNvSpPr txBox="1">
            <a:spLocks noChangeArrowheads="1"/>
          </p:cNvSpPr>
          <p:nvPr/>
        </p:nvSpPr>
        <p:spPr bwMode="auto">
          <a:xfrm>
            <a:off x="6688138" y="3478213"/>
            <a:ext cx="403225"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j()</a:t>
            </a:r>
          </a:p>
        </p:txBody>
      </p:sp>
      <p:sp>
        <p:nvSpPr>
          <p:cNvPr id="54" name="Text Box 53"/>
          <p:cNvSpPr txBox="1">
            <a:spLocks noChangeArrowheads="1"/>
          </p:cNvSpPr>
          <p:nvPr/>
        </p:nvSpPr>
        <p:spPr bwMode="auto">
          <a:xfrm>
            <a:off x="4405313" y="3478213"/>
            <a:ext cx="461962"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g()</a:t>
            </a:r>
          </a:p>
        </p:txBody>
      </p:sp>
      <p:sp>
        <p:nvSpPr>
          <p:cNvPr id="55" name="Text Box 54"/>
          <p:cNvSpPr txBox="1">
            <a:spLocks noChangeArrowheads="1"/>
          </p:cNvSpPr>
          <p:nvPr/>
        </p:nvSpPr>
        <p:spPr bwMode="auto">
          <a:xfrm>
            <a:off x="5138738" y="3478213"/>
            <a:ext cx="476250"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h()</a:t>
            </a:r>
          </a:p>
        </p:txBody>
      </p:sp>
      <p:sp>
        <p:nvSpPr>
          <p:cNvPr id="56" name="Text Box 55"/>
          <p:cNvSpPr txBox="1">
            <a:spLocks noChangeArrowheads="1"/>
          </p:cNvSpPr>
          <p:nvPr/>
        </p:nvSpPr>
        <p:spPr bwMode="auto">
          <a:xfrm>
            <a:off x="5926138" y="3478213"/>
            <a:ext cx="401637"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i()</a:t>
            </a:r>
          </a:p>
        </p:txBody>
      </p:sp>
      <p:sp>
        <p:nvSpPr>
          <p:cNvPr id="62" name="Text Box 61"/>
          <p:cNvSpPr txBox="1">
            <a:spLocks noChangeArrowheads="1"/>
          </p:cNvSpPr>
          <p:nvPr/>
        </p:nvSpPr>
        <p:spPr bwMode="auto">
          <a:xfrm>
            <a:off x="2709863" y="4989513"/>
            <a:ext cx="333375"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A</a:t>
            </a:r>
          </a:p>
        </p:txBody>
      </p:sp>
      <p:sp>
        <p:nvSpPr>
          <p:cNvPr id="63" name="Text Box 62"/>
          <p:cNvSpPr txBox="1">
            <a:spLocks noChangeArrowheads="1"/>
          </p:cNvSpPr>
          <p:nvPr/>
        </p:nvSpPr>
        <p:spPr bwMode="auto">
          <a:xfrm>
            <a:off x="3414713" y="5024438"/>
            <a:ext cx="476250"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d()</a:t>
            </a:r>
          </a:p>
        </p:txBody>
      </p:sp>
      <p:sp>
        <p:nvSpPr>
          <p:cNvPr id="64" name="Text Box 63"/>
          <p:cNvSpPr txBox="1">
            <a:spLocks noChangeArrowheads="1"/>
          </p:cNvSpPr>
          <p:nvPr/>
        </p:nvSpPr>
        <p:spPr bwMode="auto">
          <a:xfrm>
            <a:off x="6688138" y="5024438"/>
            <a:ext cx="403225"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j()</a:t>
            </a:r>
          </a:p>
        </p:txBody>
      </p:sp>
      <p:sp>
        <p:nvSpPr>
          <p:cNvPr id="65" name="Text Box 64"/>
          <p:cNvSpPr txBox="1">
            <a:spLocks noChangeArrowheads="1"/>
          </p:cNvSpPr>
          <p:nvPr/>
        </p:nvSpPr>
        <p:spPr bwMode="auto">
          <a:xfrm>
            <a:off x="4405313" y="5024438"/>
            <a:ext cx="461962"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g()</a:t>
            </a:r>
          </a:p>
        </p:txBody>
      </p:sp>
      <p:sp>
        <p:nvSpPr>
          <p:cNvPr id="66" name="Text Box 65"/>
          <p:cNvSpPr txBox="1">
            <a:spLocks noChangeArrowheads="1"/>
          </p:cNvSpPr>
          <p:nvPr/>
        </p:nvSpPr>
        <p:spPr bwMode="auto">
          <a:xfrm>
            <a:off x="5138738" y="5024438"/>
            <a:ext cx="476250"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h()</a:t>
            </a:r>
          </a:p>
        </p:txBody>
      </p:sp>
      <p:sp>
        <p:nvSpPr>
          <p:cNvPr id="67" name="Text Box 66"/>
          <p:cNvSpPr txBox="1">
            <a:spLocks noChangeArrowheads="1"/>
          </p:cNvSpPr>
          <p:nvPr/>
        </p:nvSpPr>
        <p:spPr bwMode="auto">
          <a:xfrm>
            <a:off x="5926138" y="5024438"/>
            <a:ext cx="401637"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i()</a:t>
            </a:r>
          </a:p>
        </p:txBody>
      </p:sp>
      <p:sp>
        <p:nvSpPr>
          <p:cNvPr id="69" name="Text Box 68"/>
          <p:cNvSpPr txBox="1">
            <a:spLocks noChangeArrowheads="1"/>
          </p:cNvSpPr>
          <p:nvPr/>
        </p:nvSpPr>
        <p:spPr bwMode="auto">
          <a:xfrm>
            <a:off x="2709863" y="5562600"/>
            <a:ext cx="323850"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B</a:t>
            </a:r>
          </a:p>
        </p:txBody>
      </p:sp>
      <p:sp>
        <p:nvSpPr>
          <p:cNvPr id="70" name="Text Box 69"/>
          <p:cNvSpPr txBox="1">
            <a:spLocks noChangeArrowheads="1"/>
          </p:cNvSpPr>
          <p:nvPr/>
        </p:nvSpPr>
        <p:spPr bwMode="auto">
          <a:xfrm>
            <a:off x="5138738" y="5597525"/>
            <a:ext cx="476250"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h()</a:t>
            </a:r>
          </a:p>
        </p:txBody>
      </p:sp>
      <p:sp>
        <p:nvSpPr>
          <p:cNvPr id="71" name="Text Box 70"/>
          <p:cNvSpPr txBox="1">
            <a:spLocks noChangeArrowheads="1"/>
          </p:cNvSpPr>
          <p:nvPr/>
        </p:nvSpPr>
        <p:spPr bwMode="auto">
          <a:xfrm>
            <a:off x="5926138" y="5597525"/>
            <a:ext cx="401637"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i()</a:t>
            </a:r>
          </a:p>
        </p:txBody>
      </p:sp>
      <p:sp>
        <p:nvSpPr>
          <p:cNvPr id="72" name="Text Box 71"/>
          <p:cNvSpPr txBox="1">
            <a:spLocks noChangeArrowheads="1"/>
          </p:cNvSpPr>
          <p:nvPr/>
        </p:nvSpPr>
        <p:spPr bwMode="auto">
          <a:xfrm>
            <a:off x="7204075" y="5562600"/>
            <a:ext cx="458788"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k()</a:t>
            </a:r>
          </a:p>
        </p:txBody>
      </p:sp>
      <p:sp>
        <p:nvSpPr>
          <p:cNvPr id="78" name="Line 77"/>
          <p:cNvSpPr>
            <a:spLocks noChangeShapeType="1"/>
          </p:cNvSpPr>
          <p:nvPr/>
        </p:nvSpPr>
        <p:spPr bwMode="auto">
          <a:xfrm>
            <a:off x="3719513" y="3714750"/>
            <a:ext cx="685800" cy="0"/>
          </a:xfrm>
          <a:prstGeom prst="line">
            <a:avLst/>
          </a:prstGeom>
          <a:noFill/>
          <a:ln w="28575">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79" name="Line 78"/>
          <p:cNvSpPr>
            <a:spLocks noChangeShapeType="1"/>
          </p:cNvSpPr>
          <p:nvPr/>
        </p:nvSpPr>
        <p:spPr bwMode="auto">
          <a:xfrm>
            <a:off x="4710113" y="3805238"/>
            <a:ext cx="457200" cy="457200"/>
          </a:xfrm>
          <a:prstGeom prst="line">
            <a:avLst/>
          </a:prstGeom>
          <a:noFill/>
          <a:ln w="28575">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80" name="Line 79"/>
          <p:cNvSpPr>
            <a:spLocks noChangeShapeType="1"/>
          </p:cNvSpPr>
          <p:nvPr/>
        </p:nvSpPr>
        <p:spPr bwMode="auto">
          <a:xfrm flipV="1">
            <a:off x="6081713" y="3881438"/>
            <a:ext cx="0" cy="381000"/>
          </a:xfrm>
          <a:prstGeom prst="line">
            <a:avLst/>
          </a:prstGeom>
          <a:noFill/>
          <a:ln w="28575">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81" name="Line 80"/>
          <p:cNvSpPr>
            <a:spLocks noChangeShapeType="1"/>
          </p:cNvSpPr>
          <p:nvPr/>
        </p:nvSpPr>
        <p:spPr bwMode="auto">
          <a:xfrm>
            <a:off x="6234113" y="3614738"/>
            <a:ext cx="533400" cy="0"/>
          </a:xfrm>
          <a:prstGeom prst="line">
            <a:avLst/>
          </a:prstGeom>
          <a:noFill/>
          <a:ln w="28575">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82" name="Line 81"/>
          <p:cNvSpPr>
            <a:spLocks noChangeShapeType="1"/>
          </p:cNvSpPr>
          <p:nvPr/>
        </p:nvSpPr>
        <p:spPr bwMode="auto">
          <a:xfrm>
            <a:off x="4710113" y="3630613"/>
            <a:ext cx="457200" cy="0"/>
          </a:xfrm>
          <a:prstGeom prst="line">
            <a:avLst/>
          </a:prstGeom>
          <a:noFill/>
          <a:ln w="12700" cap="rnd">
            <a:solidFill>
              <a:schemeClr val="tx1"/>
            </a:solidFill>
            <a:prstDash val="sysDot"/>
            <a:round/>
            <a:headEnd/>
            <a:tailEnd type="arrow" w="med" len="med"/>
          </a:ln>
        </p:spPr>
        <p:txBody>
          <a:bodyPr wrap="none" anchor="ctr"/>
          <a:lstStyle/>
          <a:p>
            <a:pPr>
              <a:defRPr/>
            </a:pPr>
            <a:endParaRPr lang="en-US" sz="2000">
              <a:latin typeface="+mn-lt"/>
              <a:cs typeface="Arial" pitchFamily="34" charset="0"/>
            </a:endParaRPr>
          </a:p>
        </p:txBody>
      </p:sp>
      <p:sp>
        <p:nvSpPr>
          <p:cNvPr id="83" name="Line 82"/>
          <p:cNvSpPr>
            <a:spLocks noChangeShapeType="1"/>
          </p:cNvSpPr>
          <p:nvPr/>
        </p:nvSpPr>
        <p:spPr bwMode="auto">
          <a:xfrm>
            <a:off x="3752850" y="5214938"/>
            <a:ext cx="685800" cy="0"/>
          </a:xfrm>
          <a:prstGeom prst="line">
            <a:avLst/>
          </a:prstGeom>
          <a:noFill/>
          <a:ln w="38100">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84" name="Line 83"/>
          <p:cNvSpPr>
            <a:spLocks noChangeShapeType="1"/>
          </p:cNvSpPr>
          <p:nvPr/>
        </p:nvSpPr>
        <p:spPr bwMode="auto">
          <a:xfrm>
            <a:off x="4710113" y="5410200"/>
            <a:ext cx="457200" cy="304800"/>
          </a:xfrm>
          <a:prstGeom prst="line">
            <a:avLst/>
          </a:prstGeom>
          <a:noFill/>
          <a:ln w="38100">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85" name="Line 84"/>
          <p:cNvSpPr>
            <a:spLocks noChangeShapeType="1"/>
          </p:cNvSpPr>
          <p:nvPr/>
        </p:nvSpPr>
        <p:spPr bwMode="auto">
          <a:xfrm flipV="1">
            <a:off x="5508625" y="5876925"/>
            <a:ext cx="503238" cy="0"/>
          </a:xfrm>
          <a:prstGeom prst="line">
            <a:avLst/>
          </a:prstGeom>
          <a:noFill/>
          <a:ln w="38100">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87" name="Line 86"/>
          <p:cNvSpPr>
            <a:spLocks noChangeShapeType="1"/>
          </p:cNvSpPr>
          <p:nvPr/>
        </p:nvSpPr>
        <p:spPr bwMode="auto">
          <a:xfrm flipV="1">
            <a:off x="6119813" y="5395913"/>
            <a:ext cx="0" cy="228600"/>
          </a:xfrm>
          <a:prstGeom prst="line">
            <a:avLst/>
          </a:prstGeom>
          <a:noFill/>
          <a:ln w="38100">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88" name="Line 87"/>
          <p:cNvSpPr>
            <a:spLocks noChangeShapeType="1"/>
          </p:cNvSpPr>
          <p:nvPr/>
        </p:nvSpPr>
        <p:spPr bwMode="auto">
          <a:xfrm>
            <a:off x="6262688" y="5481638"/>
            <a:ext cx="504825" cy="766762"/>
          </a:xfrm>
          <a:prstGeom prst="line">
            <a:avLst/>
          </a:prstGeom>
          <a:noFill/>
          <a:ln w="38100">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89" name="Line 88"/>
          <p:cNvSpPr>
            <a:spLocks noChangeShapeType="1"/>
          </p:cNvSpPr>
          <p:nvPr/>
        </p:nvSpPr>
        <p:spPr bwMode="auto">
          <a:xfrm flipV="1">
            <a:off x="6996113" y="5867400"/>
            <a:ext cx="304800" cy="457200"/>
          </a:xfrm>
          <a:prstGeom prst="line">
            <a:avLst/>
          </a:prstGeom>
          <a:noFill/>
          <a:ln w="38100">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91" name="Line 90"/>
          <p:cNvSpPr>
            <a:spLocks noChangeShapeType="1"/>
          </p:cNvSpPr>
          <p:nvPr/>
        </p:nvSpPr>
        <p:spPr bwMode="auto">
          <a:xfrm>
            <a:off x="4710113" y="5176838"/>
            <a:ext cx="457200" cy="0"/>
          </a:xfrm>
          <a:prstGeom prst="line">
            <a:avLst/>
          </a:prstGeom>
          <a:noFill/>
          <a:ln w="12700" cap="rnd">
            <a:solidFill>
              <a:schemeClr val="tx1"/>
            </a:solidFill>
            <a:prstDash val="sysDot"/>
            <a:round/>
            <a:headEnd/>
            <a:tailEnd type="arrow" w="med" len="med"/>
          </a:ln>
        </p:spPr>
        <p:txBody>
          <a:bodyPr wrap="none" anchor="ctr"/>
          <a:lstStyle/>
          <a:p>
            <a:pPr>
              <a:defRPr/>
            </a:pPr>
            <a:endParaRPr lang="en-US" sz="2000">
              <a:latin typeface="+mn-lt"/>
              <a:cs typeface="Arial" pitchFamily="34" charset="0"/>
            </a:endParaRPr>
          </a:p>
        </p:txBody>
      </p:sp>
      <p:sp>
        <p:nvSpPr>
          <p:cNvPr id="93" name="Line 92"/>
          <p:cNvSpPr>
            <a:spLocks noChangeShapeType="1"/>
          </p:cNvSpPr>
          <p:nvPr/>
        </p:nvSpPr>
        <p:spPr bwMode="auto">
          <a:xfrm>
            <a:off x="6157913" y="5176838"/>
            <a:ext cx="609600" cy="0"/>
          </a:xfrm>
          <a:prstGeom prst="line">
            <a:avLst/>
          </a:prstGeom>
          <a:noFill/>
          <a:ln w="12700" cap="rnd">
            <a:solidFill>
              <a:schemeClr val="tx1"/>
            </a:solidFill>
            <a:prstDash val="sysDot"/>
            <a:round/>
            <a:headEnd/>
            <a:tailEnd type="arrow" w="med" len="med"/>
          </a:ln>
        </p:spPr>
        <p:txBody>
          <a:bodyPr wrap="none" anchor="ctr"/>
          <a:lstStyle/>
          <a:p>
            <a:pPr>
              <a:defRPr/>
            </a:pPr>
            <a:endParaRPr lang="en-US" sz="2000">
              <a:latin typeface="+mn-lt"/>
              <a:cs typeface="Arial" pitchFamily="34" charset="0"/>
            </a:endParaRPr>
          </a:p>
        </p:txBody>
      </p:sp>
      <p:sp>
        <p:nvSpPr>
          <p:cNvPr id="95" name="Text Box 94"/>
          <p:cNvSpPr txBox="1">
            <a:spLocks noChangeArrowheads="1"/>
          </p:cNvSpPr>
          <p:nvPr/>
        </p:nvSpPr>
        <p:spPr bwMode="auto">
          <a:xfrm>
            <a:off x="2787650" y="2279650"/>
            <a:ext cx="369888" cy="461963"/>
          </a:xfrm>
          <a:prstGeom prst="rect">
            <a:avLst/>
          </a:prstGeom>
          <a:noFill/>
          <a:ln w="12700">
            <a:noFill/>
            <a:miter lim="800000"/>
            <a:headEnd/>
            <a:tailEnd/>
          </a:ln>
        </p:spPr>
        <p:txBody>
          <a:bodyPr wrap="none">
            <a:spAutoFit/>
          </a:bodyPr>
          <a:lstStyle/>
          <a:p>
            <a:pPr algn="ctr">
              <a:defRPr/>
            </a:pPr>
            <a:r>
              <a:rPr lang="en-US" sz="2400" b="1">
                <a:solidFill>
                  <a:srgbClr val="00005A"/>
                </a:solidFill>
                <a:latin typeface="+mn-lt"/>
                <a:cs typeface="Arial" pitchFamily="34" charset="0"/>
              </a:rPr>
              <a:t>A</a:t>
            </a:r>
          </a:p>
        </p:txBody>
      </p:sp>
      <p:sp>
        <p:nvSpPr>
          <p:cNvPr id="96" name="Text Box 95"/>
          <p:cNvSpPr txBox="1">
            <a:spLocks noChangeArrowheads="1"/>
          </p:cNvSpPr>
          <p:nvPr/>
        </p:nvSpPr>
        <p:spPr bwMode="auto">
          <a:xfrm>
            <a:off x="3481388" y="2295525"/>
            <a:ext cx="476250" cy="400050"/>
          </a:xfrm>
          <a:prstGeom prst="rect">
            <a:avLst/>
          </a:prstGeom>
          <a:noFill/>
          <a:ln w="12700">
            <a:noFill/>
            <a:miter lim="800000"/>
            <a:headEnd/>
            <a:tailEnd/>
          </a:ln>
        </p:spPr>
        <p:txBody>
          <a:bodyPr wrap="none">
            <a:spAutoFit/>
          </a:bodyPr>
          <a:lstStyle/>
          <a:p>
            <a:pPr algn="ctr">
              <a:defRPr/>
            </a:pPr>
            <a:r>
              <a:rPr lang="en-US" sz="2000" dirty="0">
                <a:solidFill>
                  <a:srgbClr val="00005A"/>
                </a:solidFill>
                <a:latin typeface="+mn-lt"/>
                <a:cs typeface="Arial" pitchFamily="34" charset="0"/>
              </a:rPr>
              <a:t>d()</a:t>
            </a:r>
          </a:p>
        </p:txBody>
      </p:sp>
      <p:sp>
        <p:nvSpPr>
          <p:cNvPr id="97" name="Text Box 96"/>
          <p:cNvSpPr txBox="1">
            <a:spLocks noChangeArrowheads="1"/>
          </p:cNvSpPr>
          <p:nvPr/>
        </p:nvSpPr>
        <p:spPr bwMode="auto">
          <a:xfrm>
            <a:off x="6757988" y="2295525"/>
            <a:ext cx="403225" cy="400050"/>
          </a:xfrm>
          <a:prstGeom prst="rect">
            <a:avLst/>
          </a:prstGeom>
          <a:noFill/>
          <a:ln w="12700">
            <a:noFill/>
            <a:miter lim="800000"/>
            <a:headEnd/>
            <a:tailEnd/>
          </a:ln>
        </p:spPr>
        <p:txBody>
          <a:bodyPr wrap="none">
            <a:spAutoFit/>
          </a:bodyPr>
          <a:lstStyle/>
          <a:p>
            <a:pPr algn="ctr">
              <a:defRPr/>
            </a:pPr>
            <a:r>
              <a:rPr lang="en-US" sz="2000">
                <a:solidFill>
                  <a:srgbClr val="00005A"/>
                </a:solidFill>
                <a:latin typeface="+mn-lt"/>
                <a:cs typeface="Arial" pitchFamily="34" charset="0"/>
              </a:rPr>
              <a:t>j()</a:t>
            </a:r>
          </a:p>
        </p:txBody>
      </p:sp>
      <p:sp>
        <p:nvSpPr>
          <p:cNvPr id="98" name="Text Box 97"/>
          <p:cNvSpPr txBox="1">
            <a:spLocks noChangeArrowheads="1"/>
          </p:cNvSpPr>
          <p:nvPr/>
        </p:nvSpPr>
        <p:spPr bwMode="auto">
          <a:xfrm>
            <a:off x="4471988" y="2295525"/>
            <a:ext cx="461962" cy="400050"/>
          </a:xfrm>
          <a:prstGeom prst="rect">
            <a:avLst/>
          </a:prstGeom>
          <a:noFill/>
          <a:ln w="12700">
            <a:noFill/>
            <a:miter lim="800000"/>
            <a:headEnd/>
            <a:tailEnd/>
          </a:ln>
        </p:spPr>
        <p:txBody>
          <a:bodyPr wrap="none">
            <a:spAutoFit/>
          </a:bodyPr>
          <a:lstStyle/>
          <a:p>
            <a:pPr algn="ctr">
              <a:defRPr/>
            </a:pPr>
            <a:r>
              <a:rPr lang="en-US" sz="2000">
                <a:solidFill>
                  <a:srgbClr val="00005A"/>
                </a:solidFill>
                <a:latin typeface="+mn-lt"/>
                <a:cs typeface="Arial" pitchFamily="34" charset="0"/>
              </a:rPr>
              <a:t>g()</a:t>
            </a:r>
          </a:p>
        </p:txBody>
      </p:sp>
      <p:sp>
        <p:nvSpPr>
          <p:cNvPr id="99" name="Text Box 98"/>
          <p:cNvSpPr txBox="1">
            <a:spLocks noChangeArrowheads="1"/>
          </p:cNvSpPr>
          <p:nvPr/>
        </p:nvSpPr>
        <p:spPr bwMode="auto">
          <a:xfrm>
            <a:off x="5205413" y="2295525"/>
            <a:ext cx="476250" cy="400050"/>
          </a:xfrm>
          <a:prstGeom prst="rect">
            <a:avLst/>
          </a:prstGeom>
          <a:noFill/>
          <a:ln w="12700">
            <a:noFill/>
            <a:miter lim="800000"/>
            <a:headEnd/>
            <a:tailEnd/>
          </a:ln>
        </p:spPr>
        <p:txBody>
          <a:bodyPr wrap="none">
            <a:spAutoFit/>
          </a:bodyPr>
          <a:lstStyle/>
          <a:p>
            <a:pPr algn="ctr">
              <a:defRPr/>
            </a:pPr>
            <a:r>
              <a:rPr lang="en-US" sz="2000">
                <a:solidFill>
                  <a:srgbClr val="00005A"/>
                </a:solidFill>
                <a:latin typeface="+mn-lt"/>
                <a:cs typeface="Arial" pitchFamily="34" charset="0"/>
              </a:rPr>
              <a:t>h()</a:t>
            </a:r>
          </a:p>
        </p:txBody>
      </p:sp>
      <p:sp>
        <p:nvSpPr>
          <p:cNvPr id="100" name="Text Box 99"/>
          <p:cNvSpPr txBox="1">
            <a:spLocks noChangeArrowheads="1"/>
          </p:cNvSpPr>
          <p:nvPr/>
        </p:nvSpPr>
        <p:spPr bwMode="auto">
          <a:xfrm>
            <a:off x="5995988" y="2295525"/>
            <a:ext cx="401637" cy="400050"/>
          </a:xfrm>
          <a:prstGeom prst="rect">
            <a:avLst/>
          </a:prstGeom>
          <a:noFill/>
          <a:ln w="12700">
            <a:noFill/>
            <a:miter lim="800000"/>
            <a:headEnd/>
            <a:tailEnd/>
          </a:ln>
        </p:spPr>
        <p:txBody>
          <a:bodyPr wrap="none">
            <a:spAutoFit/>
          </a:bodyPr>
          <a:lstStyle/>
          <a:p>
            <a:pPr algn="ctr">
              <a:defRPr/>
            </a:pPr>
            <a:r>
              <a:rPr lang="en-US" sz="2000">
                <a:solidFill>
                  <a:srgbClr val="00005A"/>
                </a:solidFill>
                <a:latin typeface="+mn-lt"/>
                <a:cs typeface="Arial" pitchFamily="34" charset="0"/>
              </a:rPr>
              <a:t>i()</a:t>
            </a:r>
          </a:p>
        </p:txBody>
      </p:sp>
      <p:sp>
        <p:nvSpPr>
          <p:cNvPr id="102" name="Line 102"/>
          <p:cNvSpPr>
            <a:spLocks noChangeShapeType="1"/>
          </p:cNvSpPr>
          <p:nvPr/>
        </p:nvSpPr>
        <p:spPr bwMode="auto">
          <a:xfrm>
            <a:off x="3867150" y="2447925"/>
            <a:ext cx="609600" cy="0"/>
          </a:xfrm>
          <a:prstGeom prst="line">
            <a:avLst/>
          </a:prstGeom>
          <a:noFill/>
          <a:ln w="28575">
            <a:solidFill>
              <a:srgbClr val="C00000"/>
            </a:solidFill>
            <a:round/>
            <a:headEnd/>
            <a:tailEnd type="triangle" w="med" len="med"/>
          </a:ln>
        </p:spPr>
        <p:txBody>
          <a:bodyPr wrap="none" anchor="ctr"/>
          <a:lstStyle/>
          <a:p>
            <a:pPr>
              <a:defRPr/>
            </a:pPr>
            <a:endParaRPr lang="en-US" sz="2800">
              <a:latin typeface="+mn-lt"/>
              <a:cs typeface="Arial" pitchFamily="34" charset="0"/>
            </a:endParaRPr>
          </a:p>
        </p:txBody>
      </p:sp>
      <p:sp>
        <p:nvSpPr>
          <p:cNvPr id="103" name="Line 103"/>
          <p:cNvSpPr>
            <a:spLocks noChangeShapeType="1"/>
          </p:cNvSpPr>
          <p:nvPr/>
        </p:nvSpPr>
        <p:spPr bwMode="auto">
          <a:xfrm>
            <a:off x="4829175" y="2447925"/>
            <a:ext cx="457200" cy="0"/>
          </a:xfrm>
          <a:prstGeom prst="line">
            <a:avLst/>
          </a:prstGeom>
          <a:noFill/>
          <a:ln w="28575">
            <a:solidFill>
              <a:srgbClr val="C00000"/>
            </a:solidFill>
            <a:round/>
            <a:headEnd/>
            <a:tailEnd type="triangle" w="med" len="med"/>
          </a:ln>
        </p:spPr>
        <p:txBody>
          <a:bodyPr wrap="none" anchor="ctr"/>
          <a:lstStyle/>
          <a:p>
            <a:pPr>
              <a:defRPr/>
            </a:pPr>
            <a:endParaRPr lang="en-US" sz="2800">
              <a:latin typeface="+mn-lt"/>
              <a:cs typeface="Arial" pitchFamily="34" charset="0"/>
            </a:endParaRPr>
          </a:p>
        </p:txBody>
      </p:sp>
      <p:sp>
        <p:nvSpPr>
          <p:cNvPr id="104" name="Line 104"/>
          <p:cNvSpPr>
            <a:spLocks noChangeShapeType="1"/>
          </p:cNvSpPr>
          <p:nvPr/>
        </p:nvSpPr>
        <p:spPr bwMode="auto">
          <a:xfrm>
            <a:off x="5591175" y="2447925"/>
            <a:ext cx="457200" cy="0"/>
          </a:xfrm>
          <a:prstGeom prst="line">
            <a:avLst/>
          </a:prstGeom>
          <a:noFill/>
          <a:ln w="28575">
            <a:solidFill>
              <a:srgbClr val="C00000"/>
            </a:solidFill>
            <a:round/>
            <a:headEnd/>
            <a:tailEnd type="triangle" w="med" len="med"/>
          </a:ln>
        </p:spPr>
        <p:txBody>
          <a:bodyPr wrap="none" anchor="ctr"/>
          <a:lstStyle/>
          <a:p>
            <a:pPr>
              <a:defRPr/>
            </a:pPr>
            <a:endParaRPr lang="en-US" sz="2800">
              <a:latin typeface="+mn-lt"/>
              <a:cs typeface="Arial" pitchFamily="34" charset="0"/>
            </a:endParaRPr>
          </a:p>
        </p:txBody>
      </p:sp>
      <p:sp>
        <p:nvSpPr>
          <p:cNvPr id="105" name="Line 105"/>
          <p:cNvSpPr>
            <a:spLocks noChangeShapeType="1"/>
          </p:cNvSpPr>
          <p:nvPr/>
        </p:nvSpPr>
        <p:spPr bwMode="auto">
          <a:xfrm>
            <a:off x="6276975" y="2447925"/>
            <a:ext cx="533400" cy="0"/>
          </a:xfrm>
          <a:prstGeom prst="line">
            <a:avLst/>
          </a:prstGeom>
          <a:noFill/>
          <a:ln w="28575">
            <a:solidFill>
              <a:srgbClr val="C00000"/>
            </a:solidFill>
            <a:round/>
            <a:headEnd/>
            <a:tailEnd type="triangle" w="med" len="med"/>
          </a:ln>
        </p:spPr>
        <p:txBody>
          <a:bodyPr wrap="none" anchor="ctr"/>
          <a:lstStyle/>
          <a:p>
            <a:pPr>
              <a:defRPr/>
            </a:pPr>
            <a:endParaRPr lang="en-US" sz="2800">
              <a:latin typeface="+mn-lt"/>
              <a:cs typeface="Arial" pitchFamily="34" charset="0"/>
            </a:endParaRPr>
          </a:p>
        </p:txBody>
      </p:sp>
      <p:sp>
        <p:nvSpPr>
          <p:cNvPr id="107" name="Line 110"/>
          <p:cNvSpPr>
            <a:spLocks noChangeShapeType="1"/>
          </p:cNvSpPr>
          <p:nvPr/>
        </p:nvSpPr>
        <p:spPr bwMode="auto">
          <a:xfrm>
            <a:off x="4946650" y="4033838"/>
            <a:ext cx="192088" cy="228600"/>
          </a:xfrm>
          <a:prstGeom prst="line">
            <a:avLst/>
          </a:prstGeom>
          <a:noFill/>
          <a:ln w="28575">
            <a:solidFill>
              <a:srgbClr val="C00000"/>
            </a:solidFill>
            <a:round/>
            <a:headEnd/>
            <a:tailEnd type="triangle" w="med" len="med"/>
          </a:ln>
        </p:spPr>
        <p:txBody>
          <a:bodyPr/>
          <a:lstStyle/>
          <a:p>
            <a:pPr>
              <a:defRPr/>
            </a:pPr>
            <a:endParaRPr lang="en-US" sz="2000">
              <a:latin typeface="+mn-lt"/>
              <a:cs typeface="Arial" pitchFamily="34" charset="0"/>
            </a:endParaRPr>
          </a:p>
        </p:txBody>
      </p:sp>
      <p:sp>
        <p:nvSpPr>
          <p:cNvPr id="108" name="Line 111"/>
          <p:cNvSpPr>
            <a:spLocks noChangeShapeType="1"/>
          </p:cNvSpPr>
          <p:nvPr/>
        </p:nvSpPr>
        <p:spPr bwMode="auto">
          <a:xfrm>
            <a:off x="6081713" y="4033838"/>
            <a:ext cx="0" cy="228600"/>
          </a:xfrm>
          <a:prstGeom prst="line">
            <a:avLst/>
          </a:prstGeom>
          <a:noFill/>
          <a:ln w="9525">
            <a:solidFill>
              <a:srgbClr val="000000"/>
            </a:solidFill>
            <a:round/>
            <a:headEnd/>
            <a:tailEnd/>
          </a:ln>
        </p:spPr>
        <p:txBody>
          <a:bodyPr/>
          <a:lstStyle/>
          <a:p>
            <a:pPr>
              <a:defRPr/>
            </a:pPr>
            <a:endParaRPr lang="en-US" sz="2000">
              <a:latin typeface="+mn-lt"/>
              <a:cs typeface="Arial" pitchFamily="34" charset="0"/>
            </a:endParaRPr>
          </a:p>
        </p:txBody>
      </p:sp>
      <p:sp>
        <p:nvSpPr>
          <p:cNvPr id="110" name="Line 113"/>
          <p:cNvSpPr>
            <a:spLocks noChangeShapeType="1"/>
          </p:cNvSpPr>
          <p:nvPr/>
        </p:nvSpPr>
        <p:spPr bwMode="auto">
          <a:xfrm>
            <a:off x="3186113" y="4033838"/>
            <a:ext cx="0" cy="609600"/>
          </a:xfrm>
          <a:prstGeom prst="line">
            <a:avLst/>
          </a:prstGeom>
          <a:noFill/>
          <a:ln w="9525">
            <a:solidFill>
              <a:schemeClr val="bg2"/>
            </a:solidFill>
            <a:round/>
            <a:headEnd/>
            <a:tailEnd/>
          </a:ln>
        </p:spPr>
        <p:txBody>
          <a:bodyPr/>
          <a:lstStyle/>
          <a:p>
            <a:pPr>
              <a:defRPr/>
            </a:pPr>
            <a:endParaRPr lang="en-US" sz="2000" b="1">
              <a:latin typeface="+mn-lt"/>
              <a:cs typeface="Arial" pitchFamily="34" charset="0"/>
            </a:endParaRPr>
          </a:p>
        </p:txBody>
      </p:sp>
      <p:sp>
        <p:nvSpPr>
          <p:cNvPr id="111" name="Line 114"/>
          <p:cNvSpPr>
            <a:spLocks noChangeShapeType="1"/>
          </p:cNvSpPr>
          <p:nvPr/>
        </p:nvSpPr>
        <p:spPr bwMode="auto">
          <a:xfrm>
            <a:off x="3186113" y="6096000"/>
            <a:ext cx="0" cy="441325"/>
          </a:xfrm>
          <a:prstGeom prst="line">
            <a:avLst/>
          </a:prstGeom>
          <a:noFill/>
          <a:ln w="9525">
            <a:solidFill>
              <a:schemeClr val="bg2"/>
            </a:solidFill>
            <a:round/>
            <a:headEnd/>
            <a:tailEnd/>
          </a:ln>
        </p:spPr>
        <p:txBody>
          <a:bodyPr/>
          <a:lstStyle/>
          <a:p>
            <a:pPr>
              <a:defRPr/>
            </a:pPr>
            <a:endParaRPr lang="en-US" sz="2000">
              <a:latin typeface="+mn-lt"/>
              <a:cs typeface="Arial" pitchFamily="34" charset="0"/>
            </a:endParaRPr>
          </a:p>
        </p:txBody>
      </p:sp>
      <p:sp>
        <p:nvSpPr>
          <p:cNvPr id="114" name="Line 38"/>
          <p:cNvSpPr>
            <a:spLocks noChangeShapeType="1"/>
          </p:cNvSpPr>
          <p:nvPr/>
        </p:nvSpPr>
        <p:spPr bwMode="auto">
          <a:xfrm flipV="1">
            <a:off x="819150" y="5157788"/>
            <a:ext cx="76200" cy="152400"/>
          </a:xfrm>
          <a:prstGeom prst="line">
            <a:avLst/>
          </a:prstGeom>
          <a:noFill/>
          <a:ln w="12700">
            <a:solidFill>
              <a:schemeClr val="tx1"/>
            </a:solidFill>
            <a:round/>
            <a:headEnd/>
            <a:tailEnd/>
          </a:ln>
        </p:spPr>
        <p:txBody>
          <a:bodyPr wrap="none" anchor="ctr"/>
          <a:lstStyle/>
          <a:p>
            <a:pPr>
              <a:defRPr/>
            </a:pPr>
            <a:endParaRPr lang="en-US" sz="2400">
              <a:latin typeface="+mn-lt"/>
              <a:cs typeface="Arial" pitchFamily="34" charset="0"/>
            </a:endParaRPr>
          </a:p>
        </p:txBody>
      </p:sp>
      <p:sp>
        <p:nvSpPr>
          <p:cNvPr id="115" name="Line 39"/>
          <p:cNvSpPr>
            <a:spLocks noChangeShapeType="1"/>
          </p:cNvSpPr>
          <p:nvPr/>
        </p:nvSpPr>
        <p:spPr bwMode="auto">
          <a:xfrm flipH="1" flipV="1">
            <a:off x="895350" y="5157788"/>
            <a:ext cx="76200" cy="152400"/>
          </a:xfrm>
          <a:prstGeom prst="line">
            <a:avLst/>
          </a:prstGeom>
          <a:noFill/>
          <a:ln w="12700">
            <a:solidFill>
              <a:schemeClr val="tx1"/>
            </a:solidFill>
            <a:round/>
            <a:headEnd/>
            <a:tailEnd/>
          </a:ln>
        </p:spPr>
        <p:txBody>
          <a:bodyPr wrap="none" anchor="ctr"/>
          <a:lstStyle/>
          <a:p>
            <a:pPr>
              <a:defRPr/>
            </a:pPr>
            <a:endParaRPr lang="en-US" sz="2400">
              <a:latin typeface="+mn-lt"/>
              <a:cs typeface="Arial" pitchFamily="34" charset="0"/>
            </a:endParaRPr>
          </a:p>
        </p:txBody>
      </p:sp>
      <p:sp>
        <p:nvSpPr>
          <p:cNvPr id="116" name="Line 40"/>
          <p:cNvSpPr>
            <a:spLocks noChangeShapeType="1"/>
          </p:cNvSpPr>
          <p:nvPr/>
        </p:nvSpPr>
        <p:spPr bwMode="auto">
          <a:xfrm>
            <a:off x="819150" y="5310188"/>
            <a:ext cx="152400" cy="0"/>
          </a:xfrm>
          <a:prstGeom prst="line">
            <a:avLst/>
          </a:prstGeom>
          <a:noFill/>
          <a:ln w="12700">
            <a:solidFill>
              <a:schemeClr val="tx1"/>
            </a:solidFill>
            <a:round/>
            <a:headEnd/>
            <a:tailEnd/>
          </a:ln>
        </p:spPr>
        <p:txBody>
          <a:bodyPr wrap="none" anchor="ctr"/>
          <a:lstStyle/>
          <a:p>
            <a:pPr>
              <a:defRPr/>
            </a:pPr>
            <a:endParaRPr lang="en-US" sz="2400">
              <a:latin typeface="+mn-lt"/>
              <a:cs typeface="Arial" pitchFamily="34" charset="0"/>
            </a:endParaRPr>
          </a:p>
        </p:txBody>
      </p:sp>
      <p:sp>
        <p:nvSpPr>
          <p:cNvPr id="117" name="Line 41"/>
          <p:cNvSpPr>
            <a:spLocks noChangeShapeType="1"/>
          </p:cNvSpPr>
          <p:nvPr/>
        </p:nvSpPr>
        <p:spPr bwMode="auto">
          <a:xfrm flipH="1">
            <a:off x="877888" y="5300663"/>
            <a:ext cx="22225" cy="414337"/>
          </a:xfrm>
          <a:prstGeom prst="line">
            <a:avLst/>
          </a:prstGeom>
          <a:noFill/>
          <a:ln w="12700">
            <a:solidFill>
              <a:schemeClr val="tx1"/>
            </a:solidFill>
            <a:round/>
            <a:headEnd/>
            <a:tailEnd/>
          </a:ln>
        </p:spPr>
        <p:txBody>
          <a:bodyPr wrap="none" anchor="ctr"/>
          <a:lstStyle/>
          <a:p>
            <a:pPr>
              <a:defRPr/>
            </a:pPr>
            <a:endParaRPr lang="en-US" sz="2400">
              <a:latin typeface="+mn-lt"/>
              <a:cs typeface="Arial" pitchFamily="34" charset="0"/>
            </a:endParaRPr>
          </a:p>
        </p:txBody>
      </p:sp>
    </p:spTree>
    <p:extLst>
      <p:ext uri="{BB962C8B-B14F-4D97-AF65-F5344CB8AC3E}">
        <p14:creationId xmlns:p14="http://schemas.microsoft.com/office/powerpoint/2010/main" val="2040870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685800" y="1500188"/>
            <a:ext cx="7772400" cy="3368972"/>
          </a:xfrm>
        </p:spPr>
        <p:txBody>
          <a:bodyPr/>
          <a:lstStyle/>
          <a:p>
            <a:pPr eaLnBrk="1" hangingPunct="1"/>
            <a:r>
              <a:rPr lang="en-US" dirty="0"/>
              <a:t>Automated Testing</a:t>
            </a:r>
            <a:br>
              <a:rPr lang="en-US" dirty="0"/>
            </a:br>
            <a:br>
              <a:rPr lang="en-US" dirty="0"/>
            </a:br>
            <a:r>
              <a:rPr lang="en-US" dirty="0"/>
              <a:t>and</a:t>
            </a:r>
            <a:br>
              <a:rPr lang="en-US" dirty="0"/>
            </a:br>
            <a:r>
              <a:rPr lang="en-US" dirty="0"/>
              <a:t> </a:t>
            </a:r>
            <a:br>
              <a:rPr lang="en-US" dirty="0"/>
            </a:br>
            <a:r>
              <a:rPr lang="en-US" dirty="0"/>
              <a:t>Generating Complex Input</a:t>
            </a:r>
            <a:endParaRPr lang="en-US" sz="3600" i="1" dirty="0"/>
          </a:p>
        </p:txBody>
      </p:sp>
      <p:sp>
        <p:nvSpPr>
          <p:cNvPr id="5" name="Up Arrow 4">
            <a:extLst>
              <a:ext uri="{FF2B5EF4-FFF2-40B4-BE49-F238E27FC236}">
                <a16:creationId xmlns:a16="http://schemas.microsoft.com/office/drawing/2014/main" id="{6076DD4F-6DFE-D240-9055-BFE1491E43D6}"/>
              </a:ext>
            </a:extLst>
          </p:cNvPr>
          <p:cNvSpPr/>
          <p:nvPr/>
        </p:nvSpPr>
        <p:spPr>
          <a:xfrm>
            <a:off x="2915816" y="2500598"/>
            <a:ext cx="720080" cy="13681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850718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535D7272-169A-4044-8663-DDE26599F1C0}"/>
              </a:ext>
            </a:extLst>
          </p:cNvPr>
          <p:cNvSpPr/>
          <p:nvPr/>
        </p:nvSpPr>
        <p:spPr>
          <a:xfrm>
            <a:off x="1547664" y="2132856"/>
            <a:ext cx="6048672" cy="3240360"/>
          </a:xfrm>
          <a:prstGeom prst="roundRect">
            <a:avLst>
              <a:gd name="adj" fmla="val 10295"/>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6" name="Title 1"/>
          <p:cNvSpPr>
            <a:spLocks noGrp="1"/>
          </p:cNvSpPr>
          <p:nvPr>
            <p:ph type="title"/>
          </p:nvPr>
        </p:nvSpPr>
        <p:spPr/>
        <p:txBody>
          <a:bodyPr/>
          <a:lstStyle/>
          <a:p>
            <a:r>
              <a:rPr lang="en-US" dirty="0"/>
              <a:t>NL post codes</a:t>
            </a:r>
          </a:p>
        </p:txBody>
      </p:sp>
      <p:sp>
        <p:nvSpPr>
          <p:cNvPr id="6147" name="Content Placeholder 2"/>
          <p:cNvSpPr>
            <a:spLocks noGrp="1"/>
          </p:cNvSpPr>
          <p:nvPr>
            <p:ph idx="1"/>
          </p:nvPr>
        </p:nvSpPr>
        <p:spPr>
          <a:xfrm>
            <a:off x="457200" y="5898244"/>
            <a:ext cx="8229599" cy="916211"/>
          </a:xfrm>
        </p:spPr>
        <p:txBody>
          <a:bodyPr/>
          <a:lstStyle/>
          <a:p>
            <a:pPr marL="0" indent="0">
              <a:buNone/>
            </a:pPr>
            <a:r>
              <a:rPr lang="en-US" sz="1400" b="1" i="1" dirty="0"/>
              <a:t>Note</a:t>
            </a:r>
            <a:r>
              <a:rPr lang="en-US" sz="1400" i="1" dirty="0"/>
              <a:t>: in practice there may be additional constraints, e.g. codes above 9999 XL do not actually exists (do not map to an existing address). This may require additional filtering which we will not go into in the lecture.</a:t>
            </a:r>
          </a:p>
        </p:txBody>
      </p:sp>
      <p:sp>
        <p:nvSpPr>
          <p:cNvPr id="4" name="Slide Number Placeholder 3"/>
          <p:cNvSpPr>
            <a:spLocks noGrp="1"/>
          </p:cNvSpPr>
          <p:nvPr>
            <p:ph type="sldNum" sz="quarter" idx="12"/>
          </p:nvPr>
        </p:nvSpPr>
        <p:spPr/>
        <p:txBody>
          <a:bodyPr/>
          <a:lstStyle/>
          <a:p>
            <a:pPr>
              <a:defRPr/>
            </a:pPr>
            <a:fld id="{DF409E48-DFEA-4AF3-ABB1-8AEA6B9ACF57}" type="slidenum">
              <a:rPr lang="en-US" smtClean="0"/>
              <a:pPr>
                <a:defRPr/>
              </a:pPr>
              <a:t>11</a:t>
            </a:fld>
            <a:endParaRPr lang="en-US"/>
          </a:p>
        </p:txBody>
      </p:sp>
      <p:sp>
        <p:nvSpPr>
          <p:cNvPr id="5" name="TextBox 4"/>
          <p:cNvSpPr txBox="1"/>
          <p:nvPr/>
        </p:nvSpPr>
        <p:spPr>
          <a:xfrm>
            <a:off x="1979712" y="2196500"/>
            <a:ext cx="5167568" cy="3108543"/>
          </a:xfrm>
          <a:prstGeom prst="rect">
            <a:avLst/>
          </a:prstGeom>
          <a:noFill/>
        </p:spPr>
        <p:txBody>
          <a:bodyPr wrap="none">
            <a:spAutoFit/>
          </a:bodyPr>
          <a:lstStyle/>
          <a:p>
            <a:pPr>
              <a:defRPr/>
            </a:pPr>
            <a:r>
              <a:rPr lang="en-US" sz="2800" i="1" dirty="0" err="1">
                <a:latin typeface="+mn-lt"/>
              </a:rPr>
              <a:t>NLpostcode</a:t>
            </a:r>
            <a:r>
              <a:rPr lang="en-US" sz="2800" i="1" dirty="0">
                <a:latin typeface="+mn-lt"/>
              </a:rPr>
              <a:t>   </a:t>
            </a:r>
            <a:r>
              <a:rPr lang="en-US" sz="2800" i="1" dirty="0">
                <a:latin typeface="+mn-lt"/>
                <a:sym typeface="Symbol"/>
              </a:rPr>
              <a:t>=</a:t>
            </a:r>
            <a:r>
              <a:rPr lang="en-US" sz="2800" dirty="0">
                <a:latin typeface="+mn-lt"/>
                <a:sym typeface="Symbol"/>
              </a:rPr>
              <a:t>  </a:t>
            </a:r>
            <a:r>
              <a:rPr lang="en-US" sz="2800" i="1" dirty="0">
                <a:latin typeface="+mn-lt"/>
                <a:sym typeface="Symbol"/>
              </a:rPr>
              <a:t>Area Spaces Street</a:t>
            </a:r>
          </a:p>
          <a:p>
            <a:pPr>
              <a:defRPr/>
            </a:pPr>
            <a:r>
              <a:rPr lang="en-US" sz="2800" i="1" dirty="0">
                <a:latin typeface="+mn-lt"/>
                <a:sym typeface="Symbol"/>
              </a:rPr>
              <a:t>Area   </a:t>
            </a:r>
            <a:r>
              <a:rPr lang="en-US" sz="2800" dirty="0">
                <a:latin typeface="+mn-lt"/>
                <a:sym typeface="Symbol"/>
              </a:rPr>
              <a:t>=  </a:t>
            </a:r>
            <a:r>
              <a:rPr lang="en-US" sz="2800" i="1" dirty="0" err="1">
                <a:latin typeface="+mn-lt"/>
                <a:sym typeface="Symbol"/>
              </a:rPr>
              <a:t>FirstDigit</a:t>
            </a:r>
            <a:r>
              <a:rPr lang="en-US" sz="2800" i="1" dirty="0">
                <a:latin typeface="+mn-lt"/>
                <a:sym typeface="Symbol"/>
              </a:rPr>
              <a:t> Digit Digit Digit</a:t>
            </a:r>
          </a:p>
          <a:p>
            <a:pPr>
              <a:defRPr/>
            </a:pPr>
            <a:r>
              <a:rPr lang="en-US" sz="2800" i="1" dirty="0">
                <a:latin typeface="+mn-lt"/>
                <a:sym typeface="Symbol"/>
              </a:rPr>
              <a:t>Street </a:t>
            </a:r>
            <a:r>
              <a:rPr lang="en-US" sz="2800" dirty="0">
                <a:latin typeface="+mn-lt"/>
                <a:sym typeface="Symbol"/>
              </a:rPr>
              <a:t>=  </a:t>
            </a:r>
            <a:r>
              <a:rPr lang="en-US" sz="2800" i="1" dirty="0">
                <a:latin typeface="+mn-lt"/>
                <a:sym typeface="Symbol"/>
              </a:rPr>
              <a:t>Letter Letter</a:t>
            </a:r>
          </a:p>
          <a:p>
            <a:pPr>
              <a:defRPr/>
            </a:pPr>
            <a:r>
              <a:rPr lang="en-US" sz="2800" i="1" dirty="0" err="1">
                <a:latin typeface="+mn-lt"/>
                <a:sym typeface="Symbol"/>
              </a:rPr>
              <a:t>FirstDigit</a:t>
            </a:r>
            <a:r>
              <a:rPr lang="en-US" sz="2800" i="1" dirty="0">
                <a:latin typeface="+mn-lt"/>
                <a:sym typeface="Symbol"/>
              </a:rPr>
              <a:t> </a:t>
            </a:r>
            <a:r>
              <a:rPr lang="en-US" sz="2800" dirty="0">
                <a:latin typeface="+mn-lt"/>
                <a:sym typeface="Symbol"/>
              </a:rPr>
              <a:t>=  </a:t>
            </a:r>
            <a:r>
              <a:rPr lang="en-US" sz="2800" dirty="0">
                <a:solidFill>
                  <a:srgbClr val="C00000"/>
                </a:solidFill>
                <a:latin typeface="+mn-lt"/>
                <a:sym typeface="Symbol"/>
              </a:rPr>
              <a:t>1</a:t>
            </a:r>
            <a:r>
              <a:rPr lang="en-US" sz="2800" dirty="0">
                <a:latin typeface="+mn-lt"/>
                <a:sym typeface="Symbol"/>
              </a:rPr>
              <a:t> | </a:t>
            </a:r>
            <a:r>
              <a:rPr lang="en-US" sz="2800" dirty="0">
                <a:solidFill>
                  <a:srgbClr val="C00000"/>
                </a:solidFill>
                <a:latin typeface="+mn-lt"/>
                <a:sym typeface="Symbol"/>
              </a:rPr>
              <a:t>2</a:t>
            </a:r>
            <a:r>
              <a:rPr lang="en-US" sz="2800" dirty="0">
                <a:latin typeface="+mn-lt"/>
                <a:sym typeface="Symbol"/>
              </a:rPr>
              <a:t> ...</a:t>
            </a:r>
            <a:endParaRPr lang="en-US" sz="2800" i="1" dirty="0">
              <a:latin typeface="+mn-lt"/>
              <a:sym typeface="Symbol"/>
            </a:endParaRPr>
          </a:p>
          <a:p>
            <a:pPr>
              <a:defRPr/>
            </a:pPr>
            <a:r>
              <a:rPr lang="en-US" sz="2800" i="1" dirty="0">
                <a:latin typeface="+mn-lt"/>
                <a:sym typeface="Symbol"/>
              </a:rPr>
              <a:t>Digit    </a:t>
            </a:r>
            <a:r>
              <a:rPr lang="en-US" sz="2800" dirty="0">
                <a:latin typeface="+mn-lt"/>
                <a:sym typeface="Symbol"/>
              </a:rPr>
              <a:t>=  </a:t>
            </a:r>
            <a:r>
              <a:rPr lang="en-US" sz="2800" dirty="0">
                <a:solidFill>
                  <a:srgbClr val="C00000"/>
                </a:solidFill>
                <a:latin typeface="+mn-lt"/>
                <a:sym typeface="Symbol"/>
              </a:rPr>
              <a:t>0</a:t>
            </a:r>
            <a:r>
              <a:rPr lang="en-US" sz="2800" dirty="0">
                <a:latin typeface="+mn-lt"/>
                <a:sym typeface="Symbol"/>
              </a:rPr>
              <a:t> | </a:t>
            </a:r>
            <a:r>
              <a:rPr lang="en-US" sz="2800" dirty="0">
                <a:solidFill>
                  <a:srgbClr val="C00000"/>
                </a:solidFill>
                <a:latin typeface="+mn-lt"/>
                <a:sym typeface="Symbol"/>
              </a:rPr>
              <a:t>1</a:t>
            </a:r>
            <a:r>
              <a:rPr lang="en-US" sz="2800" dirty="0">
                <a:latin typeface="+mn-lt"/>
                <a:sym typeface="Symbol"/>
              </a:rPr>
              <a:t> | </a:t>
            </a:r>
            <a:r>
              <a:rPr lang="en-US" sz="2800" dirty="0">
                <a:solidFill>
                  <a:srgbClr val="C00000"/>
                </a:solidFill>
                <a:latin typeface="+mn-lt"/>
                <a:sym typeface="Symbol"/>
              </a:rPr>
              <a:t>2</a:t>
            </a:r>
            <a:r>
              <a:rPr lang="en-US" sz="2800" dirty="0">
                <a:latin typeface="+mn-lt"/>
                <a:sym typeface="Symbol"/>
              </a:rPr>
              <a:t> ...</a:t>
            </a:r>
          </a:p>
          <a:p>
            <a:pPr>
              <a:defRPr/>
            </a:pPr>
            <a:r>
              <a:rPr lang="en-US" sz="2800" i="1" dirty="0">
                <a:latin typeface="+mn-lt"/>
                <a:sym typeface="Symbol"/>
              </a:rPr>
              <a:t>Letter  </a:t>
            </a:r>
            <a:r>
              <a:rPr lang="en-US" sz="2800" dirty="0">
                <a:latin typeface="+mn-lt"/>
                <a:sym typeface="Symbol"/>
              </a:rPr>
              <a:t>=  </a:t>
            </a:r>
            <a:r>
              <a:rPr lang="en-US" sz="2800" dirty="0">
                <a:solidFill>
                  <a:srgbClr val="C00000"/>
                </a:solidFill>
                <a:latin typeface="+mn-lt"/>
                <a:sym typeface="Symbol"/>
              </a:rPr>
              <a:t>a</a:t>
            </a:r>
            <a:r>
              <a:rPr lang="en-US" sz="2800" dirty="0">
                <a:latin typeface="+mn-lt"/>
                <a:sym typeface="Symbol"/>
              </a:rPr>
              <a:t> | </a:t>
            </a:r>
            <a:r>
              <a:rPr lang="en-US" sz="2800" dirty="0">
                <a:solidFill>
                  <a:srgbClr val="C00000"/>
                </a:solidFill>
                <a:latin typeface="+mn-lt"/>
                <a:sym typeface="Symbol"/>
              </a:rPr>
              <a:t>b</a:t>
            </a:r>
            <a:r>
              <a:rPr lang="en-US" sz="2800" dirty="0">
                <a:latin typeface="+mn-lt"/>
                <a:sym typeface="Symbol"/>
              </a:rPr>
              <a:t> | </a:t>
            </a:r>
            <a:r>
              <a:rPr lang="en-US" sz="2800" dirty="0">
                <a:solidFill>
                  <a:srgbClr val="C00000"/>
                </a:solidFill>
                <a:latin typeface="+mn-lt"/>
                <a:sym typeface="Symbol"/>
              </a:rPr>
              <a:t>c</a:t>
            </a:r>
            <a:r>
              <a:rPr lang="en-US" sz="2800" dirty="0">
                <a:latin typeface="+mn-lt"/>
                <a:sym typeface="Symbol"/>
              </a:rPr>
              <a:t> ... | </a:t>
            </a:r>
            <a:r>
              <a:rPr lang="en-US" sz="2800" dirty="0">
                <a:solidFill>
                  <a:srgbClr val="C00000"/>
                </a:solidFill>
                <a:latin typeface="+mn-lt"/>
                <a:sym typeface="Symbol"/>
              </a:rPr>
              <a:t>A</a:t>
            </a:r>
            <a:r>
              <a:rPr lang="en-US" sz="2800" dirty="0">
                <a:latin typeface="+mn-lt"/>
                <a:sym typeface="Symbol"/>
              </a:rPr>
              <a:t> | </a:t>
            </a:r>
            <a:r>
              <a:rPr lang="en-US" sz="2800" dirty="0">
                <a:solidFill>
                  <a:srgbClr val="C00000"/>
                </a:solidFill>
                <a:latin typeface="+mn-lt"/>
                <a:sym typeface="Symbol"/>
              </a:rPr>
              <a:t>B</a:t>
            </a:r>
            <a:r>
              <a:rPr lang="en-US" sz="2800" dirty="0">
                <a:latin typeface="+mn-lt"/>
                <a:sym typeface="Symbol"/>
              </a:rPr>
              <a:t> | </a:t>
            </a:r>
            <a:r>
              <a:rPr lang="en-US" sz="2800" dirty="0">
                <a:solidFill>
                  <a:srgbClr val="C00000"/>
                </a:solidFill>
                <a:latin typeface="+mn-lt"/>
                <a:sym typeface="Symbol"/>
              </a:rPr>
              <a:t>C</a:t>
            </a:r>
            <a:r>
              <a:rPr lang="en-US" sz="2800" dirty="0">
                <a:latin typeface="+mn-lt"/>
                <a:sym typeface="Symbol"/>
              </a:rPr>
              <a:t> ...</a:t>
            </a:r>
          </a:p>
          <a:p>
            <a:pPr>
              <a:defRPr/>
            </a:pPr>
            <a:r>
              <a:rPr lang="en-US" sz="2800" i="1" dirty="0">
                <a:latin typeface="+mn-lt"/>
                <a:sym typeface="Symbol"/>
              </a:rPr>
              <a:t>Spaces  </a:t>
            </a:r>
            <a:r>
              <a:rPr lang="en-US" sz="2800" dirty="0">
                <a:latin typeface="+mn-lt"/>
                <a:sym typeface="Symbol"/>
              </a:rPr>
              <a:t>=  “ “ </a:t>
            </a:r>
            <a:r>
              <a:rPr lang="en-US" sz="2800" dirty="0">
                <a:solidFill>
                  <a:schemeClr val="accent6">
                    <a:lumMod val="60000"/>
                    <a:lumOff val="40000"/>
                  </a:schemeClr>
                </a:solidFill>
                <a:latin typeface="+mn-lt"/>
                <a:sym typeface="Symbol"/>
              </a:rPr>
              <a:t>*</a:t>
            </a:r>
            <a:endParaRPr lang="en-US" sz="2800" i="1" dirty="0">
              <a:solidFill>
                <a:schemeClr val="accent6">
                  <a:lumMod val="60000"/>
                  <a:lumOff val="40000"/>
                </a:schemeClr>
              </a:solidFill>
              <a:latin typeface="+mn-lt"/>
            </a:endParaRPr>
          </a:p>
        </p:txBody>
      </p:sp>
    </p:spTree>
    <p:extLst>
      <p:ext uri="{BB962C8B-B14F-4D97-AF65-F5344CB8AC3E}">
        <p14:creationId xmlns:p14="http://schemas.microsoft.com/office/powerpoint/2010/main" val="215243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BA119-461B-D143-955D-43F43427C02C}"/>
              </a:ext>
            </a:extLst>
          </p:cNvPr>
          <p:cNvSpPr>
            <a:spLocks noGrp="1"/>
          </p:cNvSpPr>
          <p:nvPr>
            <p:ph type="title"/>
          </p:nvPr>
        </p:nvSpPr>
        <p:spPr>
          <a:xfrm>
            <a:off x="457200" y="274638"/>
            <a:ext cx="8229600" cy="722047"/>
          </a:xfrm>
        </p:spPr>
        <p:txBody>
          <a:bodyPr/>
          <a:lstStyle/>
          <a:p>
            <a:r>
              <a:rPr lang="en-US" dirty="0"/>
              <a:t>Example</a:t>
            </a:r>
          </a:p>
        </p:txBody>
      </p:sp>
      <p:sp>
        <p:nvSpPr>
          <p:cNvPr id="3" name="Content Placeholder 2">
            <a:extLst>
              <a:ext uri="{FF2B5EF4-FFF2-40B4-BE49-F238E27FC236}">
                <a16:creationId xmlns:a16="http://schemas.microsoft.com/office/drawing/2014/main" id="{5E23FBB4-095F-2241-AD41-654D4FE474B1}"/>
              </a:ext>
            </a:extLst>
          </p:cNvPr>
          <p:cNvSpPr>
            <a:spLocks noGrp="1"/>
          </p:cNvSpPr>
          <p:nvPr>
            <p:ph idx="1"/>
          </p:nvPr>
        </p:nvSpPr>
        <p:spPr>
          <a:xfrm>
            <a:off x="457200" y="3352868"/>
            <a:ext cx="8229600" cy="3257057"/>
          </a:xfrm>
        </p:spPr>
        <p:txBody>
          <a:bodyPr/>
          <a:lstStyle/>
          <a:p>
            <a:r>
              <a:rPr lang="en-US" sz="2400" dirty="0"/>
              <a:t>Prime paths: 010, 101, 104, 102, 020, 202, 204, 202, 44</a:t>
            </a:r>
          </a:p>
          <a:p>
            <a:r>
              <a:rPr lang="en-US" sz="2400" dirty="0"/>
              <a:t>A test set for P(s) that would give full PPC </a:t>
            </a:r>
            <a:r>
              <a:rPr lang="en-US" sz="2400" dirty="0">
                <a:solidFill>
                  <a:schemeClr val="accent6">
                    <a:lumMod val="60000"/>
                    <a:lumOff val="40000"/>
                  </a:schemeClr>
                </a:solidFill>
              </a:rPr>
              <a:t>over the regular expression </a:t>
            </a:r>
            <a:r>
              <a:rPr lang="en-US" sz="2400" dirty="0"/>
              <a:t>constraint of s:</a:t>
            </a:r>
            <a:br>
              <a:rPr lang="en-US" sz="2400" dirty="0"/>
            </a:br>
            <a:endParaRPr lang="en-US" sz="2400" dirty="0"/>
          </a:p>
        </p:txBody>
      </p:sp>
      <p:sp>
        <p:nvSpPr>
          <p:cNvPr id="4" name="Slide Number Placeholder 3">
            <a:extLst>
              <a:ext uri="{FF2B5EF4-FFF2-40B4-BE49-F238E27FC236}">
                <a16:creationId xmlns:a16="http://schemas.microsoft.com/office/drawing/2014/main" id="{8DE4C584-A830-074C-AEAD-708DF3EBE795}"/>
              </a:ext>
            </a:extLst>
          </p:cNvPr>
          <p:cNvSpPr>
            <a:spLocks noGrp="1"/>
          </p:cNvSpPr>
          <p:nvPr>
            <p:ph type="sldNum" sz="quarter" idx="12"/>
          </p:nvPr>
        </p:nvSpPr>
        <p:spPr/>
        <p:txBody>
          <a:bodyPr/>
          <a:lstStyle/>
          <a:p>
            <a:pPr>
              <a:defRPr/>
            </a:pPr>
            <a:fld id="{A3C2DAE6-0577-446F-B195-407D339173F4}" type="slidenum">
              <a:rPr lang="en-US" smtClean="0"/>
              <a:pPr>
                <a:defRPr/>
              </a:pPr>
              <a:t>12</a:t>
            </a:fld>
            <a:endParaRPr lang="en-US"/>
          </a:p>
        </p:txBody>
      </p:sp>
      <p:sp>
        <p:nvSpPr>
          <p:cNvPr id="5" name="Oval 4">
            <a:extLst>
              <a:ext uri="{FF2B5EF4-FFF2-40B4-BE49-F238E27FC236}">
                <a16:creationId xmlns:a16="http://schemas.microsoft.com/office/drawing/2014/main" id="{B84CCE6F-8A52-6E42-B2AD-84F6371AE23F}"/>
              </a:ext>
            </a:extLst>
          </p:cNvPr>
          <p:cNvSpPr/>
          <p:nvPr/>
        </p:nvSpPr>
        <p:spPr>
          <a:xfrm>
            <a:off x="6488535" y="2022532"/>
            <a:ext cx="335527" cy="310898"/>
          </a:xfrm>
          <a:prstGeom prst="ellipse">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0</a:t>
            </a:r>
          </a:p>
        </p:txBody>
      </p:sp>
      <p:sp>
        <p:nvSpPr>
          <p:cNvPr id="6" name="Oval 5">
            <a:extLst>
              <a:ext uri="{FF2B5EF4-FFF2-40B4-BE49-F238E27FC236}">
                <a16:creationId xmlns:a16="http://schemas.microsoft.com/office/drawing/2014/main" id="{73561BB9-E993-FC47-AA6F-5AD0B374BEC1}"/>
              </a:ext>
            </a:extLst>
          </p:cNvPr>
          <p:cNvSpPr/>
          <p:nvPr/>
        </p:nvSpPr>
        <p:spPr>
          <a:xfrm>
            <a:off x="7846644" y="2002162"/>
            <a:ext cx="331120" cy="351637"/>
          </a:xfrm>
          <a:prstGeom prst="ellipse">
            <a:avLst/>
          </a:prstGeom>
          <a:solidFill>
            <a:schemeClr val="bg2"/>
          </a:solidFill>
          <a:ln w="254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lumMod val="60000"/>
                    <a:lumOff val="40000"/>
                  </a:schemeClr>
                </a:solidFill>
              </a:rPr>
              <a:t>4</a:t>
            </a:r>
          </a:p>
        </p:txBody>
      </p:sp>
      <p:cxnSp>
        <p:nvCxnSpPr>
          <p:cNvPr id="7" name="Straight Arrow Connector 6">
            <a:extLst>
              <a:ext uri="{FF2B5EF4-FFF2-40B4-BE49-F238E27FC236}">
                <a16:creationId xmlns:a16="http://schemas.microsoft.com/office/drawing/2014/main" id="{C2B52ABD-40B4-A04D-B3D3-E7A8230F2ADC}"/>
              </a:ext>
            </a:extLst>
          </p:cNvPr>
          <p:cNvCxnSpPr>
            <a:cxnSpLocks/>
            <a:stCxn id="5" idx="6"/>
            <a:endCxn id="6" idx="2"/>
          </p:cNvCxnSpPr>
          <p:nvPr/>
        </p:nvCxnSpPr>
        <p:spPr>
          <a:xfrm>
            <a:off x="6824062" y="2177981"/>
            <a:ext cx="10225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urved Connector 8">
            <a:extLst>
              <a:ext uri="{FF2B5EF4-FFF2-40B4-BE49-F238E27FC236}">
                <a16:creationId xmlns:a16="http://schemas.microsoft.com/office/drawing/2014/main" id="{FF51E71A-8C73-9345-861F-8E8C110972E1}"/>
              </a:ext>
            </a:extLst>
          </p:cNvPr>
          <p:cNvCxnSpPr>
            <a:cxnSpLocks/>
            <a:stCxn id="19" idx="2"/>
            <a:endCxn id="5" idx="4"/>
          </p:cNvCxnSpPr>
          <p:nvPr/>
        </p:nvCxnSpPr>
        <p:spPr>
          <a:xfrm rot="10800000">
            <a:off x="6656299" y="2333431"/>
            <a:ext cx="370004" cy="353309"/>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DD0BB4EC-5F08-5343-A539-805A6FB42334}"/>
              </a:ext>
            </a:extLst>
          </p:cNvPr>
          <p:cNvCxnSpPr>
            <a:cxnSpLocks/>
            <a:stCxn id="6" idx="4"/>
            <a:endCxn id="6" idx="6"/>
          </p:cNvCxnSpPr>
          <p:nvPr/>
        </p:nvCxnSpPr>
        <p:spPr>
          <a:xfrm rot="5400000" flipH="1" flipV="1">
            <a:off x="8007075" y="2183110"/>
            <a:ext cx="175818" cy="165560"/>
          </a:xfrm>
          <a:prstGeom prst="curvedConnector4">
            <a:avLst>
              <a:gd name="adj1" fmla="val -130021"/>
              <a:gd name="adj2" fmla="val 2380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60A3CCB-C0AC-2741-BEFE-7C3FCD436D59}"/>
              </a:ext>
            </a:extLst>
          </p:cNvPr>
          <p:cNvCxnSpPr>
            <a:cxnSpLocks/>
          </p:cNvCxnSpPr>
          <p:nvPr/>
        </p:nvCxnSpPr>
        <p:spPr>
          <a:xfrm>
            <a:off x="6336341" y="2199592"/>
            <a:ext cx="1481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0C1D774-0399-C74D-A08E-2D02A38FB004}"/>
              </a:ext>
            </a:extLst>
          </p:cNvPr>
          <p:cNvSpPr txBox="1"/>
          <p:nvPr/>
        </p:nvSpPr>
        <p:spPr>
          <a:xfrm>
            <a:off x="5901415" y="2002133"/>
            <a:ext cx="441146" cy="369332"/>
          </a:xfrm>
          <a:prstGeom prst="rect">
            <a:avLst/>
          </a:prstGeom>
          <a:noFill/>
        </p:spPr>
        <p:txBody>
          <a:bodyPr wrap="none" rtlCol="0">
            <a:spAutoFit/>
          </a:bodyPr>
          <a:lstStyle/>
          <a:p>
            <a:r>
              <a:rPr lang="en-US" dirty="0"/>
              <a:t>M:</a:t>
            </a:r>
          </a:p>
        </p:txBody>
      </p:sp>
      <p:sp>
        <p:nvSpPr>
          <p:cNvPr id="13" name="TextBox 12">
            <a:extLst>
              <a:ext uri="{FF2B5EF4-FFF2-40B4-BE49-F238E27FC236}">
                <a16:creationId xmlns:a16="http://schemas.microsoft.com/office/drawing/2014/main" id="{FF35AE8F-CFBB-2247-AF47-B5DC1C830A38}"/>
              </a:ext>
            </a:extLst>
          </p:cNvPr>
          <p:cNvSpPr txBox="1"/>
          <p:nvPr/>
        </p:nvSpPr>
        <p:spPr>
          <a:xfrm>
            <a:off x="6581513" y="2483604"/>
            <a:ext cx="312906" cy="369332"/>
          </a:xfrm>
          <a:prstGeom prst="rect">
            <a:avLst/>
          </a:prstGeom>
          <a:noFill/>
        </p:spPr>
        <p:txBody>
          <a:bodyPr wrap="none" rtlCol="0">
            <a:spAutoFit/>
          </a:bodyPr>
          <a:lstStyle/>
          <a:p>
            <a:r>
              <a:rPr lang="en-US" dirty="0"/>
              <a:t>a</a:t>
            </a:r>
          </a:p>
        </p:txBody>
      </p:sp>
      <p:sp>
        <p:nvSpPr>
          <p:cNvPr id="14" name="TextBox 13">
            <a:extLst>
              <a:ext uri="{FF2B5EF4-FFF2-40B4-BE49-F238E27FC236}">
                <a16:creationId xmlns:a16="http://schemas.microsoft.com/office/drawing/2014/main" id="{B049E96C-1993-654D-AFD3-778DA8027E02}"/>
              </a:ext>
            </a:extLst>
          </p:cNvPr>
          <p:cNvSpPr txBox="1"/>
          <p:nvPr/>
        </p:nvSpPr>
        <p:spPr>
          <a:xfrm>
            <a:off x="6602720" y="1448971"/>
            <a:ext cx="312906" cy="369332"/>
          </a:xfrm>
          <a:prstGeom prst="rect">
            <a:avLst/>
          </a:prstGeom>
          <a:noFill/>
        </p:spPr>
        <p:txBody>
          <a:bodyPr wrap="none" rtlCol="0">
            <a:spAutoFit/>
          </a:bodyPr>
          <a:lstStyle/>
          <a:p>
            <a:r>
              <a:rPr lang="en-US" dirty="0"/>
              <a:t>b</a:t>
            </a:r>
          </a:p>
        </p:txBody>
      </p:sp>
      <p:sp>
        <p:nvSpPr>
          <p:cNvPr id="15" name="TextBox 14">
            <a:extLst>
              <a:ext uri="{FF2B5EF4-FFF2-40B4-BE49-F238E27FC236}">
                <a16:creationId xmlns:a16="http://schemas.microsoft.com/office/drawing/2014/main" id="{CC525019-F399-6842-BE55-33780889CC08}"/>
              </a:ext>
            </a:extLst>
          </p:cNvPr>
          <p:cNvSpPr txBox="1"/>
          <p:nvPr/>
        </p:nvSpPr>
        <p:spPr>
          <a:xfrm>
            <a:off x="8376374" y="2200020"/>
            <a:ext cx="300082" cy="369332"/>
          </a:xfrm>
          <a:prstGeom prst="rect">
            <a:avLst/>
          </a:prstGeom>
          <a:noFill/>
        </p:spPr>
        <p:txBody>
          <a:bodyPr wrap="none" rtlCol="0">
            <a:spAutoFit/>
          </a:bodyPr>
          <a:lstStyle/>
          <a:p>
            <a:r>
              <a:rPr lang="en-US" dirty="0"/>
              <a:t>c</a:t>
            </a:r>
          </a:p>
        </p:txBody>
      </p:sp>
      <p:sp>
        <p:nvSpPr>
          <p:cNvPr id="16" name="TextBox 15">
            <a:extLst>
              <a:ext uri="{FF2B5EF4-FFF2-40B4-BE49-F238E27FC236}">
                <a16:creationId xmlns:a16="http://schemas.microsoft.com/office/drawing/2014/main" id="{DD30C79D-5FD7-A04C-9294-7721E699F6A7}"/>
              </a:ext>
            </a:extLst>
          </p:cNvPr>
          <p:cNvSpPr txBox="1"/>
          <p:nvPr/>
        </p:nvSpPr>
        <p:spPr>
          <a:xfrm>
            <a:off x="7240259" y="2081224"/>
            <a:ext cx="290464" cy="369332"/>
          </a:xfrm>
          <a:prstGeom prst="rect">
            <a:avLst/>
          </a:prstGeom>
          <a:noFill/>
        </p:spPr>
        <p:txBody>
          <a:bodyPr wrap="none" rtlCol="0">
            <a:spAutoFit/>
          </a:bodyPr>
          <a:lstStyle/>
          <a:p>
            <a:r>
              <a:rPr lang="en-US" dirty="0"/>
              <a:t>𝜏</a:t>
            </a:r>
          </a:p>
        </p:txBody>
      </p:sp>
      <p:sp>
        <p:nvSpPr>
          <p:cNvPr id="19" name="Oval 18">
            <a:extLst>
              <a:ext uri="{FF2B5EF4-FFF2-40B4-BE49-F238E27FC236}">
                <a16:creationId xmlns:a16="http://schemas.microsoft.com/office/drawing/2014/main" id="{AF8115DD-FDBF-F146-95C8-7ED6BA9BFF66}"/>
              </a:ext>
            </a:extLst>
          </p:cNvPr>
          <p:cNvSpPr/>
          <p:nvPr/>
        </p:nvSpPr>
        <p:spPr>
          <a:xfrm>
            <a:off x="7026303" y="2531290"/>
            <a:ext cx="335527" cy="310898"/>
          </a:xfrm>
          <a:prstGeom prst="ellipse">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1</a:t>
            </a:r>
          </a:p>
        </p:txBody>
      </p:sp>
      <p:sp>
        <p:nvSpPr>
          <p:cNvPr id="20" name="Oval 19">
            <a:extLst>
              <a:ext uri="{FF2B5EF4-FFF2-40B4-BE49-F238E27FC236}">
                <a16:creationId xmlns:a16="http://schemas.microsoft.com/office/drawing/2014/main" id="{AC1D428B-D9FD-ED43-BEA7-9747DACE603D}"/>
              </a:ext>
            </a:extLst>
          </p:cNvPr>
          <p:cNvSpPr/>
          <p:nvPr/>
        </p:nvSpPr>
        <p:spPr>
          <a:xfrm>
            <a:off x="7072495" y="1505837"/>
            <a:ext cx="335527" cy="310898"/>
          </a:xfrm>
          <a:prstGeom prst="ellipse">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2</a:t>
            </a:r>
          </a:p>
        </p:txBody>
      </p:sp>
      <p:cxnSp>
        <p:nvCxnSpPr>
          <p:cNvPr id="21" name="Straight Arrow Connector 20">
            <a:extLst>
              <a:ext uri="{FF2B5EF4-FFF2-40B4-BE49-F238E27FC236}">
                <a16:creationId xmlns:a16="http://schemas.microsoft.com/office/drawing/2014/main" id="{DCFF0253-443F-584F-BA5C-0AC5B01B1FCC}"/>
              </a:ext>
            </a:extLst>
          </p:cNvPr>
          <p:cNvCxnSpPr>
            <a:cxnSpLocks/>
            <a:stCxn id="5" idx="5"/>
            <a:endCxn id="19" idx="1"/>
          </p:cNvCxnSpPr>
          <p:nvPr/>
        </p:nvCxnSpPr>
        <p:spPr>
          <a:xfrm>
            <a:off x="6774925" y="2287900"/>
            <a:ext cx="300515" cy="2889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277E781-E48C-7E48-9612-B906AF9778C0}"/>
              </a:ext>
            </a:extLst>
          </p:cNvPr>
          <p:cNvCxnSpPr>
            <a:cxnSpLocks/>
            <a:stCxn id="5" idx="7"/>
            <a:endCxn id="20" idx="3"/>
          </p:cNvCxnSpPr>
          <p:nvPr/>
        </p:nvCxnSpPr>
        <p:spPr>
          <a:xfrm flipV="1">
            <a:off x="6774925" y="1771205"/>
            <a:ext cx="346707" cy="2968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urved Connector 38">
            <a:extLst>
              <a:ext uri="{FF2B5EF4-FFF2-40B4-BE49-F238E27FC236}">
                <a16:creationId xmlns:a16="http://schemas.microsoft.com/office/drawing/2014/main" id="{B587A5C0-5C34-1340-A6E6-E98D5B48FCFA}"/>
              </a:ext>
            </a:extLst>
          </p:cNvPr>
          <p:cNvCxnSpPr>
            <a:cxnSpLocks/>
            <a:stCxn id="20" idx="2"/>
            <a:endCxn id="5" idx="0"/>
          </p:cNvCxnSpPr>
          <p:nvPr/>
        </p:nvCxnSpPr>
        <p:spPr>
          <a:xfrm rot="10800000" flipV="1">
            <a:off x="6656299" y="1661286"/>
            <a:ext cx="416196" cy="361246"/>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E941AF78-0598-974E-8B12-041143233DDC}"/>
              </a:ext>
            </a:extLst>
          </p:cNvPr>
          <p:cNvSpPr txBox="1"/>
          <p:nvPr/>
        </p:nvSpPr>
        <p:spPr>
          <a:xfrm>
            <a:off x="6877539" y="1802352"/>
            <a:ext cx="290464" cy="369332"/>
          </a:xfrm>
          <a:prstGeom prst="rect">
            <a:avLst/>
          </a:prstGeom>
          <a:noFill/>
        </p:spPr>
        <p:txBody>
          <a:bodyPr wrap="none" rtlCol="0">
            <a:spAutoFit/>
          </a:bodyPr>
          <a:lstStyle/>
          <a:p>
            <a:r>
              <a:rPr lang="en-US" dirty="0"/>
              <a:t>𝜏</a:t>
            </a:r>
          </a:p>
        </p:txBody>
      </p:sp>
      <p:sp>
        <p:nvSpPr>
          <p:cNvPr id="48" name="TextBox 47">
            <a:extLst>
              <a:ext uri="{FF2B5EF4-FFF2-40B4-BE49-F238E27FC236}">
                <a16:creationId xmlns:a16="http://schemas.microsoft.com/office/drawing/2014/main" id="{681DB9B2-F29A-ED40-BE54-A021181C3D2B}"/>
              </a:ext>
            </a:extLst>
          </p:cNvPr>
          <p:cNvSpPr txBox="1"/>
          <p:nvPr/>
        </p:nvSpPr>
        <p:spPr>
          <a:xfrm>
            <a:off x="6841301" y="2148765"/>
            <a:ext cx="290464" cy="369332"/>
          </a:xfrm>
          <a:prstGeom prst="rect">
            <a:avLst/>
          </a:prstGeom>
          <a:noFill/>
        </p:spPr>
        <p:txBody>
          <a:bodyPr wrap="none" rtlCol="0">
            <a:spAutoFit/>
          </a:bodyPr>
          <a:lstStyle/>
          <a:p>
            <a:r>
              <a:rPr lang="en-US" dirty="0"/>
              <a:t>𝜏</a:t>
            </a:r>
          </a:p>
        </p:txBody>
      </p:sp>
      <p:graphicFrame>
        <p:nvGraphicFramePr>
          <p:cNvPr id="49" name="Table 48">
            <a:extLst>
              <a:ext uri="{FF2B5EF4-FFF2-40B4-BE49-F238E27FC236}">
                <a16:creationId xmlns:a16="http://schemas.microsoft.com/office/drawing/2014/main" id="{0D37EA68-49CF-454A-8E4A-8A9687BA5773}"/>
              </a:ext>
            </a:extLst>
          </p:cNvPr>
          <p:cNvGraphicFramePr>
            <a:graphicFrameLocks noGrp="1"/>
          </p:cNvGraphicFramePr>
          <p:nvPr>
            <p:extLst>
              <p:ext uri="{D42A27DB-BD31-4B8C-83A1-F6EECF244321}">
                <p14:modId xmlns:p14="http://schemas.microsoft.com/office/powerpoint/2010/main" val="641582765"/>
              </p:ext>
            </p:extLst>
          </p:nvPr>
        </p:nvGraphicFramePr>
        <p:xfrm>
          <a:off x="898125" y="4684712"/>
          <a:ext cx="2809872" cy="1854200"/>
        </p:xfrm>
        <a:graphic>
          <a:graphicData uri="http://schemas.openxmlformats.org/drawingml/2006/table">
            <a:tbl>
              <a:tblPr firstRow="1" bandRow="1">
                <a:tableStyleId>{073A0DAA-6AF3-43AB-8588-CEC1D06C72B9}</a:tableStyleId>
              </a:tblPr>
              <a:tblGrid>
                <a:gridCol w="1014067">
                  <a:extLst>
                    <a:ext uri="{9D8B030D-6E8A-4147-A177-3AD203B41FA5}">
                      <a16:colId xmlns:a16="http://schemas.microsoft.com/office/drawing/2014/main" val="2376909617"/>
                    </a:ext>
                  </a:extLst>
                </a:gridCol>
                <a:gridCol w="1795805">
                  <a:extLst>
                    <a:ext uri="{9D8B030D-6E8A-4147-A177-3AD203B41FA5}">
                      <a16:colId xmlns:a16="http://schemas.microsoft.com/office/drawing/2014/main" val="2149811498"/>
                    </a:ext>
                  </a:extLst>
                </a:gridCol>
              </a:tblGrid>
              <a:tr h="370840">
                <a:tc>
                  <a:txBody>
                    <a:bodyPr/>
                    <a:lstStyle/>
                    <a:p>
                      <a:pPr algn="ctr"/>
                      <a:r>
                        <a:rPr lang="en-US" dirty="0"/>
                        <a:t>s</a:t>
                      </a:r>
                    </a:p>
                  </a:txBody>
                  <a:tcPr/>
                </a:tc>
                <a:tc>
                  <a:txBody>
                    <a:bodyPr/>
                    <a:lstStyle/>
                    <a:p>
                      <a:pPr algn="ctr"/>
                      <a:r>
                        <a:rPr lang="en-US" dirty="0"/>
                        <a:t>Prime path</a:t>
                      </a:r>
                    </a:p>
                  </a:txBody>
                  <a:tcPr/>
                </a:tc>
                <a:extLst>
                  <a:ext uri="{0D108BD9-81ED-4DB2-BD59-A6C34878D82A}">
                    <a16:rowId xmlns:a16="http://schemas.microsoft.com/office/drawing/2014/main" val="2599799974"/>
                  </a:ext>
                </a:extLst>
              </a:tr>
              <a:tr h="370840">
                <a:tc>
                  <a:txBody>
                    <a:bodyPr/>
                    <a:lstStyle/>
                    <a:p>
                      <a:pPr algn="ctr"/>
                      <a:r>
                        <a:rPr lang="en-US" dirty="0" err="1"/>
                        <a:t>aac</a:t>
                      </a:r>
                      <a:endParaRPr lang="en-US" dirty="0"/>
                    </a:p>
                  </a:txBody>
                  <a:tcPr/>
                </a:tc>
                <a:tc>
                  <a:txBody>
                    <a:bodyPr/>
                    <a:lstStyle/>
                    <a:p>
                      <a:pPr algn="ctr"/>
                      <a:r>
                        <a:rPr lang="en-US" dirty="0"/>
                        <a:t>010, 101, 104. 44</a:t>
                      </a:r>
                    </a:p>
                  </a:txBody>
                  <a:tcPr/>
                </a:tc>
                <a:extLst>
                  <a:ext uri="{0D108BD9-81ED-4DB2-BD59-A6C34878D82A}">
                    <a16:rowId xmlns:a16="http://schemas.microsoft.com/office/drawing/2014/main" val="2212930067"/>
                  </a:ext>
                </a:extLst>
              </a:tr>
              <a:tr h="370840">
                <a:tc>
                  <a:txBody>
                    <a:bodyPr/>
                    <a:lstStyle/>
                    <a:p>
                      <a:pPr algn="ctr"/>
                      <a:r>
                        <a:rPr lang="en-US" dirty="0" err="1"/>
                        <a:t>bbc</a:t>
                      </a:r>
                      <a:endParaRPr lang="en-US" dirty="0"/>
                    </a:p>
                  </a:txBody>
                  <a:tcPr/>
                </a:tc>
                <a:tc>
                  <a:txBody>
                    <a:bodyPr/>
                    <a:lstStyle/>
                    <a:p>
                      <a:pPr algn="ctr"/>
                      <a:r>
                        <a:rPr lang="en-US" dirty="0"/>
                        <a:t>020, 202, 204, 44</a:t>
                      </a:r>
                    </a:p>
                  </a:txBody>
                  <a:tcPr/>
                </a:tc>
                <a:extLst>
                  <a:ext uri="{0D108BD9-81ED-4DB2-BD59-A6C34878D82A}">
                    <a16:rowId xmlns:a16="http://schemas.microsoft.com/office/drawing/2014/main" val="4036187659"/>
                  </a:ext>
                </a:extLst>
              </a:tr>
              <a:tr h="370840">
                <a:tc>
                  <a:txBody>
                    <a:bodyPr/>
                    <a:lstStyle/>
                    <a:p>
                      <a:pPr algn="ctr"/>
                      <a:r>
                        <a:rPr lang="en-US" dirty="0" err="1"/>
                        <a:t>abc</a:t>
                      </a:r>
                      <a:endParaRPr lang="en-US" dirty="0"/>
                    </a:p>
                  </a:txBody>
                  <a:tcPr/>
                </a:tc>
                <a:tc>
                  <a:txBody>
                    <a:bodyPr/>
                    <a:lstStyle/>
                    <a:p>
                      <a:pPr algn="ctr"/>
                      <a:r>
                        <a:rPr lang="en-US" dirty="0"/>
                        <a:t>102, 204, 44</a:t>
                      </a:r>
                    </a:p>
                  </a:txBody>
                  <a:tcPr/>
                </a:tc>
                <a:extLst>
                  <a:ext uri="{0D108BD9-81ED-4DB2-BD59-A6C34878D82A}">
                    <a16:rowId xmlns:a16="http://schemas.microsoft.com/office/drawing/2014/main" val="4260584165"/>
                  </a:ext>
                </a:extLst>
              </a:tr>
              <a:tr h="370840">
                <a:tc>
                  <a:txBody>
                    <a:bodyPr/>
                    <a:lstStyle/>
                    <a:p>
                      <a:pPr algn="ctr"/>
                      <a:r>
                        <a:rPr lang="en-US" dirty="0"/>
                        <a:t>bac</a:t>
                      </a:r>
                    </a:p>
                  </a:txBody>
                  <a:tcPr/>
                </a:tc>
                <a:tc>
                  <a:txBody>
                    <a:bodyPr/>
                    <a:lstStyle/>
                    <a:p>
                      <a:pPr algn="ctr"/>
                      <a:r>
                        <a:rPr lang="en-US" dirty="0"/>
                        <a:t>201, 104, 44</a:t>
                      </a:r>
                    </a:p>
                  </a:txBody>
                  <a:tcPr/>
                </a:tc>
                <a:extLst>
                  <a:ext uri="{0D108BD9-81ED-4DB2-BD59-A6C34878D82A}">
                    <a16:rowId xmlns:a16="http://schemas.microsoft.com/office/drawing/2014/main" val="628103282"/>
                  </a:ext>
                </a:extLst>
              </a:tr>
            </a:tbl>
          </a:graphicData>
        </a:graphic>
      </p:graphicFrame>
      <p:sp>
        <p:nvSpPr>
          <p:cNvPr id="50" name="TextBox 49">
            <a:extLst>
              <a:ext uri="{FF2B5EF4-FFF2-40B4-BE49-F238E27FC236}">
                <a16:creationId xmlns:a16="http://schemas.microsoft.com/office/drawing/2014/main" id="{3317FF86-432F-0542-AF2E-936E2F77FD34}"/>
              </a:ext>
            </a:extLst>
          </p:cNvPr>
          <p:cNvSpPr txBox="1"/>
          <p:nvPr/>
        </p:nvSpPr>
        <p:spPr>
          <a:xfrm>
            <a:off x="457200" y="1467941"/>
            <a:ext cx="4878769" cy="1384995"/>
          </a:xfrm>
          <a:prstGeom prst="rect">
            <a:avLst/>
          </a:prstGeom>
          <a:solidFill>
            <a:schemeClr val="tx2">
              <a:lumMod val="20000"/>
              <a:lumOff val="80000"/>
            </a:schemeClr>
          </a:solidFill>
          <a:ln>
            <a:solidFill>
              <a:schemeClr val="tx1"/>
            </a:solidFill>
          </a:ln>
        </p:spPr>
        <p:txBody>
          <a:bodyPr wrap="square" rtlCol="0">
            <a:spAutoFit/>
          </a:bodyPr>
          <a:lstStyle/>
          <a:p>
            <a:r>
              <a:rPr lang="en-US" sz="2800" dirty="0"/>
              <a:t>Consider P(String s) where s is a string satisfying the regular expression: </a:t>
            </a:r>
            <a:r>
              <a:rPr lang="en-US" sz="2800" dirty="0">
                <a:solidFill>
                  <a:srgbClr val="C00000"/>
                </a:solidFill>
              </a:rPr>
              <a:t>(</a:t>
            </a:r>
            <a:r>
              <a:rPr lang="en-US" sz="2800" dirty="0" err="1">
                <a:solidFill>
                  <a:srgbClr val="C00000"/>
                </a:solidFill>
              </a:rPr>
              <a:t>a|b</a:t>
            </a:r>
            <a:r>
              <a:rPr lang="en-US" sz="2800" dirty="0">
                <a:solidFill>
                  <a:srgbClr val="C00000"/>
                </a:solidFill>
              </a:rPr>
              <a:t>)*c*</a:t>
            </a:r>
            <a:r>
              <a:rPr lang="en-US" sz="2800" dirty="0"/>
              <a:t>.  </a:t>
            </a:r>
          </a:p>
        </p:txBody>
      </p:sp>
      <p:sp>
        <p:nvSpPr>
          <p:cNvPr id="51" name="TextBox 50">
            <a:extLst>
              <a:ext uri="{FF2B5EF4-FFF2-40B4-BE49-F238E27FC236}">
                <a16:creationId xmlns:a16="http://schemas.microsoft.com/office/drawing/2014/main" id="{E17F9C37-C30E-8047-9464-A7B3710B7AB6}"/>
              </a:ext>
            </a:extLst>
          </p:cNvPr>
          <p:cNvSpPr txBox="1"/>
          <p:nvPr/>
        </p:nvSpPr>
        <p:spPr>
          <a:xfrm>
            <a:off x="4125614" y="5107605"/>
            <a:ext cx="5013458" cy="830997"/>
          </a:xfrm>
          <a:prstGeom prst="rect">
            <a:avLst/>
          </a:prstGeom>
          <a:noFill/>
        </p:spPr>
        <p:txBody>
          <a:bodyPr wrap="square" rtlCol="0">
            <a:spAutoFit/>
          </a:bodyPr>
          <a:lstStyle/>
          <a:p>
            <a:r>
              <a:rPr lang="en-US" sz="1600" dirty="0"/>
              <a:t>Note that here we talk about coverage over P’s input constraint, which may be an orthogonal concern with respect to e.g. the coverage over P’s internal code.</a:t>
            </a:r>
          </a:p>
        </p:txBody>
      </p:sp>
    </p:spTree>
    <p:extLst>
      <p:ext uri="{BB962C8B-B14F-4D97-AF65-F5344CB8AC3E}">
        <p14:creationId xmlns:p14="http://schemas.microsoft.com/office/powerpoint/2010/main" val="3967444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205C3-3AD0-C74F-B368-3AD76301970D}"/>
              </a:ext>
            </a:extLst>
          </p:cNvPr>
          <p:cNvSpPr>
            <a:spLocks noGrp="1"/>
          </p:cNvSpPr>
          <p:nvPr>
            <p:ph type="title"/>
          </p:nvPr>
        </p:nvSpPr>
        <p:spPr>
          <a:xfrm>
            <a:off x="457200" y="274638"/>
            <a:ext cx="8229600" cy="1642194"/>
          </a:xfrm>
        </p:spPr>
        <p:txBody>
          <a:bodyPr/>
          <a:lstStyle/>
          <a:p>
            <a:r>
              <a:rPr lang="en-US" dirty="0"/>
              <a:t>Not all languages can be expressed with a regular expression</a:t>
            </a:r>
          </a:p>
        </p:txBody>
      </p:sp>
      <p:sp>
        <p:nvSpPr>
          <p:cNvPr id="3" name="Content Placeholder 2">
            <a:extLst>
              <a:ext uri="{FF2B5EF4-FFF2-40B4-BE49-F238E27FC236}">
                <a16:creationId xmlns:a16="http://schemas.microsoft.com/office/drawing/2014/main" id="{5D71E1E5-439C-D142-912C-4111E1FEDF7E}"/>
              </a:ext>
            </a:extLst>
          </p:cNvPr>
          <p:cNvSpPr>
            <a:spLocks noGrp="1"/>
          </p:cNvSpPr>
          <p:nvPr>
            <p:ph idx="1"/>
          </p:nvPr>
        </p:nvSpPr>
        <p:spPr>
          <a:xfrm>
            <a:off x="457200" y="2492896"/>
            <a:ext cx="8229600" cy="3633267"/>
          </a:xfrm>
        </p:spPr>
        <p:txBody>
          <a:bodyPr/>
          <a:lstStyle/>
          <a:p>
            <a:pPr marL="0" indent="0">
              <a:buNone/>
            </a:pPr>
            <a:r>
              <a:rPr lang="en-US" sz="2800" dirty="0"/>
              <a:t>Example: HTML document:</a:t>
            </a:r>
          </a:p>
          <a:p>
            <a:pPr marL="0" indent="0">
              <a:buNone/>
            </a:pPr>
            <a:r>
              <a:rPr lang="en-US" sz="2800" dirty="0"/>
              <a:t>     </a:t>
            </a:r>
            <a:r>
              <a:rPr lang="en-US" sz="2800" b="1" dirty="0"/>
              <a:t>&lt;div&gt;</a:t>
            </a:r>
          </a:p>
          <a:p>
            <a:pPr marL="0" indent="0">
              <a:buNone/>
            </a:pPr>
            <a:r>
              <a:rPr lang="en-US" sz="2800" dirty="0"/>
              <a:t>            Hello </a:t>
            </a:r>
            <a:r>
              <a:rPr lang="en-US" sz="2800" b="1" dirty="0"/>
              <a:t>&lt;div&gt; </a:t>
            </a:r>
            <a:r>
              <a:rPr lang="en-US" sz="2800" dirty="0"/>
              <a:t>world</a:t>
            </a:r>
          </a:p>
          <a:p>
            <a:pPr marL="0" indent="0">
              <a:buNone/>
            </a:pPr>
            <a:r>
              <a:rPr lang="en-US" sz="2800" dirty="0"/>
              <a:t>                                   </a:t>
            </a:r>
            <a:r>
              <a:rPr lang="en-US" sz="2800" b="1" dirty="0"/>
              <a:t>&lt;div&gt; </a:t>
            </a:r>
            <a:r>
              <a:rPr lang="en-US" sz="2800" dirty="0"/>
              <a:t>.... </a:t>
            </a:r>
            <a:r>
              <a:rPr lang="en-US" sz="2800" b="1" dirty="0"/>
              <a:t>&lt;/div&gt;</a:t>
            </a:r>
            <a:endParaRPr lang="en-US" sz="2800" dirty="0"/>
          </a:p>
          <a:p>
            <a:pPr marL="0" indent="0">
              <a:buNone/>
            </a:pPr>
            <a:r>
              <a:rPr lang="en-US" sz="2800" dirty="0"/>
              <a:t>                      </a:t>
            </a:r>
            <a:r>
              <a:rPr lang="en-US" sz="2800" b="1" dirty="0"/>
              <a:t>&lt;/div&gt;</a:t>
            </a:r>
          </a:p>
          <a:p>
            <a:pPr marL="0" indent="0">
              <a:buNone/>
            </a:pPr>
            <a:r>
              <a:rPr lang="en-US" sz="2800" b="1" dirty="0"/>
              <a:t>    &lt;/div&gt;</a:t>
            </a:r>
          </a:p>
        </p:txBody>
      </p:sp>
      <p:sp>
        <p:nvSpPr>
          <p:cNvPr id="4" name="Slide Number Placeholder 3">
            <a:extLst>
              <a:ext uri="{FF2B5EF4-FFF2-40B4-BE49-F238E27FC236}">
                <a16:creationId xmlns:a16="http://schemas.microsoft.com/office/drawing/2014/main" id="{8598C94A-2944-9145-9CE8-60BEBD949B90}"/>
              </a:ext>
            </a:extLst>
          </p:cNvPr>
          <p:cNvSpPr>
            <a:spLocks noGrp="1"/>
          </p:cNvSpPr>
          <p:nvPr>
            <p:ph type="sldNum" sz="quarter" idx="12"/>
          </p:nvPr>
        </p:nvSpPr>
        <p:spPr/>
        <p:txBody>
          <a:bodyPr/>
          <a:lstStyle/>
          <a:p>
            <a:pPr>
              <a:defRPr/>
            </a:pPr>
            <a:fld id="{A3C2DAE6-0577-446F-B195-407D339173F4}" type="slidenum">
              <a:rPr lang="en-US" smtClean="0"/>
              <a:pPr>
                <a:defRPr/>
              </a:pPr>
              <a:t>13</a:t>
            </a:fld>
            <a:endParaRPr lang="en-US"/>
          </a:p>
        </p:txBody>
      </p:sp>
    </p:spTree>
    <p:extLst>
      <p:ext uri="{BB962C8B-B14F-4D97-AF65-F5344CB8AC3E}">
        <p14:creationId xmlns:p14="http://schemas.microsoft.com/office/powerpoint/2010/main" val="3754134512"/>
      </p:ext>
    </p:extLst>
  </p:cSld>
  <p:clrMapOvr>
    <a:masterClrMapping/>
  </p:clrMapOvr>
</p:sld>
</file>

<file path=ppt/theme/theme1.xml><?xml version="1.0" encoding="utf-8"?>
<a:theme xmlns:a="http://schemas.openxmlformats.org/drawingml/2006/main" name="organization">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basicConcepts</Template>
  <TotalTime>18184</TotalTime>
  <Words>1308</Words>
  <Application>Microsoft Macintosh PowerPoint</Application>
  <PresentationFormat>On-screen Show (4:3)</PresentationFormat>
  <Paragraphs>244</Paragraphs>
  <Slides>13</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organization</vt:lpstr>
      <vt:lpstr>Recap</vt:lpstr>
      <vt:lpstr>Partition the input domain into “blocks”</vt:lpstr>
      <vt:lpstr>Overview of partition-based coverage</vt:lpstr>
      <vt:lpstr>MBT, basic idea</vt:lpstr>
      <vt:lpstr>Model Based Testing with an Extended FSM (EFSM)</vt:lpstr>
      <vt:lpstr>Data-flow based approach</vt:lpstr>
      <vt:lpstr>Data-flow based coverage</vt:lpstr>
      <vt:lpstr>Integration Test</vt:lpstr>
      <vt:lpstr>The call graph of d() in A,B,C</vt:lpstr>
      <vt:lpstr>Automated Testing  and   Generating Complex Input</vt:lpstr>
      <vt:lpstr>NL post codes</vt:lpstr>
      <vt:lpstr>Example</vt:lpstr>
      <vt:lpstr>Not all languages can be expressed with a regular expression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Concepts of Software Testing</dc:title>
  <dc:creator>underdark</dc:creator>
  <cp:lastModifiedBy>Prasetya, S.W.B. (Wishnu)</cp:lastModifiedBy>
  <cp:revision>609</cp:revision>
  <cp:lastPrinted>2018-05-02T19:12:10Z</cp:lastPrinted>
  <dcterms:created xsi:type="dcterms:W3CDTF">2012-03-04T10:04:20Z</dcterms:created>
  <dcterms:modified xsi:type="dcterms:W3CDTF">2020-05-10T18:34:42Z</dcterms:modified>
</cp:coreProperties>
</file>