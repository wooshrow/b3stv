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5"/>
    <p:restoredTop sz="96327"/>
  </p:normalViewPr>
  <p:slideViewPr>
    <p:cSldViewPr snapToGrid="0" snapToObjects="1">
      <p:cViewPr>
        <p:scale>
          <a:sx n="100" d="100"/>
          <a:sy n="100" d="100"/>
        </p:scale>
        <p:origin x="2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1E84-68B3-1140-BB17-85A6907E8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1F199-CEF6-1744-B754-EFC603D1F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A87C4-EA6E-E54A-95D8-7423B97A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921CA-09E1-224B-8DBC-2624F2D72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4169C-F525-E04A-8A17-73A39839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6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C006-181D-0143-A7D3-5ADA0EB9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0CA3-6A3B-6B4D-BADF-FBB787FE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B780D-9691-D942-8FDE-026A90BC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8375-CCA7-6842-A9B2-1700D595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FDA6-D4BD-BE47-ABA7-550B2DBF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5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F5E0-24D3-8443-B7AC-10E65965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218C3-1AEF-7C4E-AAF8-A41A01B91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336D7-CB79-B049-8D6C-F297AA8C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E18D-92D9-8A44-A608-3F2CF050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BB9DD-CAA2-584B-BBAE-4BC3FE7A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5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9DCF-AF10-F246-A7A3-9AE15313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74FC-976E-F144-BB7D-6CCE26FD4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C1AED-2A18-4848-8A9E-F205E24A7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36898-2CE0-DF49-9F71-B8D4CB04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F79EB-3CF0-DF46-936F-D384199D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E524-6297-7A42-842E-6C43CB72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0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87DA-BE0E-A946-BA2E-97D00ABA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80A1C-33A1-4449-B08D-60BEE0026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78D79-CDBD-EC4F-B21D-C246B4813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B8B64-FD4A-3548-873F-F877D8C48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59227-9C1C-A042-8A63-347BEDCB6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ECA5F-5019-7745-918E-331E9160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57279-2980-DF44-8D93-2E999836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87268-E3C7-6D49-B1F3-B4CB3BB5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4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104F-B7C3-C84B-BDBE-A19D6318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1D2DF5-0174-1A42-BC4B-3B87E625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4D61DF-14CB-7D48-88AF-0A4CCFE7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27F42-59E8-0341-8A0D-246B1507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9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B722EE-D59E-C746-8DC6-B3846C96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BD39-2C5E-804E-8FDC-F0DB3A5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4E89-B10D-8042-9C5F-70D762E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0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F318-8DA4-6941-B987-E767AB75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CC98-2BE5-7441-92EC-9A44A7E0B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E9DC3-ADAE-CE47-B0C9-272B198F0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AF6AD-59FD-1449-94BD-FB0B3228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DFE11-2B0D-8541-8588-B14FE5A0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BAB1-9D76-F748-B34A-941D123B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1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EC92-B9EF-0F49-97DF-E1E79037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94F01-98F5-9147-95E3-4DB45B127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C5F8E-7736-5146-88BD-7119C5F4B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5489A-2A82-8045-BE82-8D58F986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02C03-75B1-1940-9FA4-0B539654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5934F-6A75-784B-8641-6C74BBC3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8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A7C1-0BD7-4049-B5D0-439A208E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5B059-3A43-AE49-8D67-7583C6472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C5D3-20F6-6843-A1CF-9C385539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05E12-5EA8-8448-A63F-78D86E56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D1E4-2CB0-0546-9FB0-1D241A89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2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B467A-4B37-2644-8F27-DDF5996A4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7D5BA-3475-124D-A0DF-A74C466CA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AF1F8-03FC-CF40-9AD5-3932221C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536CD-97B5-654F-9979-9E31FBCC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D0130-2413-E641-AF18-880510FF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8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E3ABDB-361B-D540-8127-153F89564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1EBF0-5B53-2045-BBBB-C203A280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FEB60-D527-7247-B485-C485850F4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9CBD7-507D-BF4C-BCD1-2D212062AD54}" type="datetimeFigureOut">
              <a:rPr lang="en-US" smtClean="0"/>
              <a:t>5/10/21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C4E9-8A1D-4B49-A90C-FC8677AA8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FB0B2-355D-854A-B3DA-D349264E3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BA76E-FDC3-FA4B-958D-3EE7E7A8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5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71A7-8E39-4F42-B51A-AB9B2EC5EF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W1</a:t>
            </a:r>
          </a:p>
        </p:txBody>
      </p:sp>
    </p:spTree>
    <p:extLst>
      <p:ext uri="{BB962C8B-B14F-4D97-AF65-F5344CB8AC3E}">
        <p14:creationId xmlns:p14="http://schemas.microsoft.com/office/powerpoint/2010/main" val="297484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29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12FE-B818-4741-BB59-629E195A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previous lecture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9EED16-B40C-7044-96C0-F439B541BAB4}"/>
              </a:ext>
            </a:extLst>
          </p:cNvPr>
          <p:cNvSpPr/>
          <p:nvPr/>
        </p:nvSpPr>
        <p:spPr>
          <a:xfrm>
            <a:off x="4282412" y="4133393"/>
            <a:ext cx="3460388" cy="48267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Unit Test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34A2F3-25B3-7343-9935-3C817E46727F}"/>
              </a:ext>
            </a:extLst>
          </p:cNvPr>
          <p:cNvSpPr/>
          <p:nvPr/>
        </p:nvSpPr>
        <p:spPr>
          <a:xfrm>
            <a:off x="6860590" y="2102210"/>
            <a:ext cx="1857375" cy="64293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3B1EA10-D866-8940-AE55-E4FB6FDC2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525" y="1690688"/>
            <a:ext cx="2000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i="1" dirty="0"/>
              <a:t>By users/customers (or 3</a:t>
            </a:r>
            <a:r>
              <a:rPr lang="en-US" sz="1200" i="1" baseline="30000" dirty="0"/>
              <a:t>rd</a:t>
            </a:r>
            <a:r>
              <a:rPr lang="en-US" sz="1200" i="1" dirty="0"/>
              <a:t> party hired to represent them)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DB32BE-E32A-9242-ADC2-A92F29BCF500}"/>
              </a:ext>
            </a:extLst>
          </p:cNvPr>
          <p:cNvSpPr/>
          <p:nvPr/>
        </p:nvSpPr>
        <p:spPr>
          <a:xfrm>
            <a:off x="6055770" y="2826795"/>
            <a:ext cx="2662195" cy="1961430"/>
          </a:xfrm>
          <a:prstGeom prst="roundRect">
            <a:avLst>
              <a:gd name="adj" fmla="val 10667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312A368-05A6-3D47-9442-C3684F6EA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746" y="4820452"/>
            <a:ext cx="13573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i="1" dirty="0"/>
              <a:t>By developers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B1DF67-FFFA-D141-B8BC-F268E94066AB}"/>
              </a:ext>
            </a:extLst>
          </p:cNvPr>
          <p:cNvSpPr/>
          <p:nvPr/>
        </p:nvSpPr>
        <p:spPr>
          <a:xfrm>
            <a:off x="2713284" y="2185564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Requirement Analysis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E35F0B-34BA-054C-9934-E5E2438AC4AC}"/>
              </a:ext>
            </a:extLst>
          </p:cNvPr>
          <p:cNvSpPr/>
          <p:nvPr/>
        </p:nvSpPr>
        <p:spPr>
          <a:xfrm>
            <a:off x="3095231" y="2848406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Architecture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AB2ED0-F2EF-DB41-8FB3-65872B340F88}"/>
              </a:ext>
            </a:extLst>
          </p:cNvPr>
          <p:cNvSpPr/>
          <p:nvPr/>
        </p:nvSpPr>
        <p:spPr>
          <a:xfrm>
            <a:off x="3449718" y="3462473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Detailed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90B42A-2AEA-A84E-8ACF-06EF242B272F}"/>
              </a:ext>
            </a:extLst>
          </p:cNvPr>
          <p:cNvSpPr/>
          <p:nvPr/>
        </p:nvSpPr>
        <p:spPr>
          <a:xfrm>
            <a:off x="3902760" y="4076540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Implementation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CEF3751-7E23-B44A-81A6-1AC66EE147D6}"/>
              </a:ext>
            </a:extLst>
          </p:cNvPr>
          <p:cNvSpPr/>
          <p:nvPr/>
        </p:nvSpPr>
        <p:spPr>
          <a:xfrm>
            <a:off x="6457911" y="3483010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Integration Test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C885E1F-6A7A-2940-9147-61CF87A9661C}"/>
              </a:ext>
            </a:extLst>
          </p:cNvPr>
          <p:cNvSpPr/>
          <p:nvPr/>
        </p:nvSpPr>
        <p:spPr>
          <a:xfrm>
            <a:off x="6756593" y="2880013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System Test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337825C-9953-0E42-996C-FC0A6396B2BF}"/>
              </a:ext>
            </a:extLst>
          </p:cNvPr>
          <p:cNvSpPr/>
          <p:nvPr/>
        </p:nvSpPr>
        <p:spPr>
          <a:xfrm>
            <a:off x="7014044" y="2215705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Acceptance Test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7DD750-CA33-3142-82EF-555CFAAD412C}"/>
              </a:ext>
            </a:extLst>
          </p:cNvPr>
          <p:cNvCxnSpPr/>
          <p:nvPr/>
        </p:nvCxnSpPr>
        <p:spPr>
          <a:xfrm>
            <a:off x="2297716" y="2269382"/>
            <a:ext cx="1352711" cy="231402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2D642DC-0172-7B47-99EA-B7E29656155C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4328342" y="2426901"/>
            <a:ext cx="2685702" cy="30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ABACEB-F4D7-B54B-AE3E-44939222CC11}"/>
              </a:ext>
            </a:extLst>
          </p:cNvPr>
          <p:cNvCxnSpPr>
            <a:cxnSpLocks/>
          </p:cNvCxnSpPr>
          <p:nvPr/>
        </p:nvCxnSpPr>
        <p:spPr>
          <a:xfrm flipV="1">
            <a:off x="8011776" y="2325996"/>
            <a:ext cx="1352711" cy="231402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AC0981-B455-8A42-AC75-01C89CED0087}"/>
              </a:ext>
            </a:extLst>
          </p:cNvPr>
          <p:cNvSpPr txBox="1"/>
          <p:nvPr/>
        </p:nvSpPr>
        <p:spPr>
          <a:xfrm>
            <a:off x="2153479" y="4979377"/>
            <a:ext cx="2413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Simplified version of AO Fig. 1.2.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33594-43DA-084F-ADF0-20D51E3B109B}"/>
              </a:ext>
            </a:extLst>
          </p:cNvPr>
          <p:cNvSpPr txBox="1"/>
          <p:nvPr/>
        </p:nvSpPr>
        <p:spPr>
          <a:xfrm>
            <a:off x="1457739" y="5650297"/>
            <a:ext cx="8905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(1)  In a real-world setup you need to organize your testing effort, e.g. a la V-model</a:t>
            </a:r>
          </a:p>
        </p:txBody>
      </p:sp>
    </p:spTree>
    <p:extLst>
      <p:ext uri="{BB962C8B-B14F-4D97-AF65-F5344CB8AC3E}">
        <p14:creationId xmlns:p14="http://schemas.microsoft.com/office/powerpoint/2010/main" val="161940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C95B-88C7-B649-AB5D-8756647A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Unit Testing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99895656-C25A-3E43-9D46-748E094D0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01" y="1466268"/>
            <a:ext cx="3572299" cy="502660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0E021F-6085-644B-B5FC-45D12FD7A888}"/>
              </a:ext>
            </a:extLst>
          </p:cNvPr>
          <p:cNvSpPr/>
          <p:nvPr/>
        </p:nvSpPr>
        <p:spPr>
          <a:xfrm>
            <a:off x="437578" y="2074074"/>
            <a:ext cx="4850039" cy="2285892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A0990-48DC-2D4C-82D0-DB9FFD43E052}"/>
              </a:ext>
            </a:extLst>
          </p:cNvPr>
          <p:cNvSpPr txBox="1"/>
          <p:nvPr/>
        </p:nvSpPr>
        <p:spPr>
          <a:xfrm>
            <a:off x="692426" y="2276061"/>
            <a:ext cx="5098519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Test1_Triangle() {  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TriangleType</a:t>
            </a:r>
            <a:r>
              <a:rPr lang="en-US" sz="2000" dirty="0"/>
              <a:t> ty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TriType</a:t>
            </a:r>
            <a:r>
              <a:rPr lang="en-US" sz="2000" dirty="0"/>
              <a:t>(4,4,1) ;   </a:t>
            </a:r>
          </a:p>
          <a:p>
            <a:r>
              <a:rPr lang="en-US" sz="2000" dirty="0"/>
              <a:t>     </a:t>
            </a:r>
          </a:p>
          <a:p>
            <a:r>
              <a:rPr lang="en-US" sz="2000" dirty="0"/>
              <a:t>                </a:t>
            </a:r>
            <a:r>
              <a:rPr lang="en-US" sz="2000" dirty="0" err="1">
                <a:solidFill>
                  <a:srgbClr val="C00000"/>
                </a:solidFill>
              </a:rPr>
              <a:t>Assert.AreEqual</a:t>
            </a:r>
            <a:r>
              <a:rPr lang="en-US" sz="2000" dirty="0"/>
              <a:t>( ty  ,  Isosceles) 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r>
              <a:rPr lang="en-US" sz="2000" dirty="0"/>
              <a:t>           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AE605-FB6F-2742-A4B1-5998EBCF1BEC}"/>
              </a:ext>
            </a:extLst>
          </p:cNvPr>
          <p:cNvSpPr txBox="1"/>
          <p:nvPr/>
        </p:nvSpPr>
        <p:spPr>
          <a:xfrm>
            <a:off x="488113" y="4829208"/>
            <a:ext cx="65899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(2) Script your tests!</a:t>
            </a:r>
          </a:p>
          <a:p>
            <a:r>
              <a:rPr lang="en-US" sz="2800" dirty="0"/>
              <a:t>(3) Use a (Unit) Testing Framework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 err="1">
                <a:sym typeface="Wingdings" pitchFamily="2" charset="2"/>
              </a:rPr>
              <a:t>NUnit</a:t>
            </a:r>
            <a:endParaRPr lang="en-US" sz="2800" dirty="0"/>
          </a:p>
          <a:p>
            <a:r>
              <a:rPr lang="en-US" sz="2800" dirty="0"/>
              <a:t>(4) Organize your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46137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71A7-8E39-4F42-B51A-AB9B2EC5EF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W2</a:t>
            </a:r>
          </a:p>
        </p:txBody>
      </p:sp>
    </p:spTree>
    <p:extLst>
      <p:ext uri="{BB962C8B-B14F-4D97-AF65-F5344CB8AC3E}">
        <p14:creationId xmlns:p14="http://schemas.microsoft.com/office/powerpoint/2010/main" val="117803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564C-3C02-E146-869B-CF1A9535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61664F-46EC-D140-9A58-422B9F8F3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655123"/>
              </p:ext>
            </p:extLst>
          </p:nvPr>
        </p:nvGraphicFramePr>
        <p:xfrm>
          <a:off x="969065" y="1589917"/>
          <a:ext cx="10253870" cy="32004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428999">
                  <a:extLst>
                    <a:ext uri="{9D8B030D-6E8A-4147-A177-3AD203B41FA5}">
                      <a16:colId xmlns:a16="http://schemas.microsoft.com/office/drawing/2014/main" val="2691996677"/>
                    </a:ext>
                  </a:extLst>
                </a:gridCol>
                <a:gridCol w="6824871">
                  <a:extLst>
                    <a:ext uri="{9D8B030D-6E8A-4147-A177-3AD203B41FA5}">
                      <a16:colId xmlns:a16="http://schemas.microsoft.com/office/drawing/2014/main" val="340746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L" sz="2400" b="1" dirty="0"/>
                        <a:t>C# in-code style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400" b="1" dirty="0"/>
                        <a:t>predicate-logic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36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L" sz="2400" b="1" dirty="0"/>
                        <a:t>retval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400" b="1" dirty="0"/>
                        <a:t>retval</a:t>
                      </a:r>
                      <a:r>
                        <a:rPr lang="en-NL" sz="2400" dirty="0"/>
                        <a:t>   or   </a:t>
                      </a:r>
                      <a:r>
                        <a:rPr lang="en-NL" sz="2400" b="1" dirty="0"/>
                        <a:t>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385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L" sz="2400" dirty="0"/>
                        <a:t>p &amp;&amp;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400" dirty="0"/>
                        <a:t>p ∧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14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L" sz="2400" dirty="0"/>
                        <a:t>p ||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400" dirty="0"/>
                        <a:t>p ∨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41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L" sz="2400" dirty="0"/>
                        <a:t>x ==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400" dirty="0"/>
                        <a:t>x =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49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L" sz="2400" b="1" dirty="0"/>
                        <a:t>Exists</a:t>
                      </a:r>
                      <a:r>
                        <a:rPr lang="en-NL" sz="2400" dirty="0"/>
                        <a:t>(a, k ➝ a[k]=0)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2400" dirty="0"/>
                        <a:t>(∃ k: 0≤k&lt;#a : a[k]=0)   or   (</a:t>
                      </a:r>
                      <a:r>
                        <a:rPr lang="en-NL" sz="2400" b="1" dirty="0"/>
                        <a:t>exists</a:t>
                      </a:r>
                      <a:r>
                        <a:rPr lang="en-NL" sz="2400" dirty="0"/>
                        <a:t> k: 0≤k&lt;#a : a[k]=0)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130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2400" b="1" dirty="0"/>
                        <a:t>Forall</a:t>
                      </a:r>
                      <a:r>
                        <a:rPr lang="en-NL" sz="2400" dirty="0"/>
                        <a:t>(a, k ➝ a[k]=0)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2400" dirty="0"/>
                        <a:t>(∀ k: 0≤k&lt;#a : a[k]=0)  or   (</a:t>
                      </a:r>
                      <a:r>
                        <a:rPr lang="en-NL" sz="2400" b="1" dirty="0"/>
                        <a:t>forall</a:t>
                      </a:r>
                      <a:r>
                        <a:rPr lang="en-NL" sz="2400" dirty="0"/>
                        <a:t> k: 0≤k&lt;#a : a[k]=0)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75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32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F03B-E664-C548-91C5-B108C018D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8383"/>
            <a:ext cx="10515600" cy="536858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getMIN</a:t>
            </a:r>
            <a:r>
              <a:rPr lang="en-US" dirty="0"/>
              <a:t>(int[ ] a)</a:t>
            </a:r>
            <a:endParaRPr lang="en-NL" dirty="0"/>
          </a:p>
          <a:p>
            <a:r>
              <a:rPr lang="en-US" dirty="0"/>
              <a:t>The program takes a non-null and non-empty integer array a, and returns the smallest element of the array a.</a:t>
            </a:r>
            <a:r>
              <a:rPr lang="en-NL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{*  a != null  /\  #a&gt;0 *}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 err="1"/>
              <a:t>getMIN</a:t>
            </a:r>
            <a:r>
              <a:rPr lang="en-US" dirty="0"/>
              <a:t>(a)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{*   (</a:t>
            </a:r>
            <a:r>
              <a:rPr lang="en-US" b="1" dirty="0" err="1"/>
              <a:t>forall</a:t>
            </a:r>
            <a:r>
              <a:rPr lang="en-US" dirty="0"/>
              <a:t> k : 0&lt;=k&lt;#a : a[k]  &gt; = </a:t>
            </a:r>
            <a:r>
              <a:rPr lang="en-US" dirty="0" err="1"/>
              <a:t>retval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      /\ 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      (</a:t>
            </a:r>
            <a:r>
              <a:rPr lang="en-US" b="1" dirty="0">
                <a:highlight>
                  <a:srgbClr val="FFFF00"/>
                </a:highlight>
              </a:rPr>
              <a:t>exists</a:t>
            </a:r>
            <a:r>
              <a:rPr lang="en-US" dirty="0">
                <a:highlight>
                  <a:srgbClr val="FFFF00"/>
                </a:highlight>
              </a:rPr>
              <a:t> k : 0&lt;=k&lt;#a : a[k] = </a:t>
            </a:r>
            <a:r>
              <a:rPr lang="en-US" dirty="0" err="1">
                <a:highlight>
                  <a:srgbClr val="FFFF00"/>
                </a:highlight>
              </a:rPr>
              <a:t>retval</a:t>
            </a:r>
            <a:r>
              <a:rPr lang="en-US" dirty="0">
                <a:highlight>
                  <a:srgbClr val="FFFF00"/>
                </a:highlight>
              </a:rPr>
              <a:t>) </a:t>
            </a:r>
            <a:r>
              <a:rPr lang="en-US" dirty="0"/>
              <a:t>*}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exists</a:t>
            </a:r>
            <a:r>
              <a:rPr lang="en-US" dirty="0"/>
              <a:t> x :  x </a:t>
            </a:r>
            <a:r>
              <a:rPr lang="en-US" b="1" dirty="0"/>
              <a:t>in</a:t>
            </a:r>
            <a:r>
              <a:rPr lang="en-US" dirty="0"/>
              <a:t> a : x = </a:t>
            </a:r>
            <a:r>
              <a:rPr lang="en-US" dirty="0" err="1"/>
              <a:t>retval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retval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102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3528-E197-3543-812F-19AD14CCA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arrivedAt</a:t>
            </a:r>
            <a:r>
              <a:rPr lang="en-US" dirty="0"/>
              <a:t>(e).</a:t>
            </a:r>
            <a:r>
              <a:rPr lang="en-US" dirty="0" err="1"/>
              <a:t>withTactic</a:t>
            </a:r>
            <a:r>
              <a:rPr lang="en-US" dirty="0"/>
              <a:t>(T)</a:t>
            </a:r>
          </a:p>
          <a:p>
            <a:r>
              <a:rPr lang="en-US" dirty="0" err="1"/>
              <a:t>tatctic</a:t>
            </a:r>
            <a:r>
              <a:rPr lang="en-US" dirty="0"/>
              <a:t> T :  </a:t>
            </a:r>
            <a:r>
              <a:rPr lang="en-US" dirty="0" err="1"/>
              <a:t>FIRSTOf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                   </a:t>
            </a:r>
            <a:r>
              <a:rPr lang="en-US" dirty="0" err="1"/>
              <a:t>dealWithMonster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                </a:t>
            </a:r>
            <a:r>
              <a:rPr lang="en-US" dirty="0" err="1"/>
              <a:t>hungryTactic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                </a:t>
            </a:r>
            <a:r>
              <a:rPr lang="en-US" dirty="0" err="1"/>
              <a:t>navigateTo</a:t>
            </a:r>
            <a:r>
              <a:rPr lang="en-US" dirty="0"/>
              <a:t>(e) 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tactic </a:t>
            </a:r>
            <a:r>
              <a:rPr lang="en-US" dirty="0" err="1">
                <a:solidFill>
                  <a:srgbClr val="FF0000"/>
                </a:solidFill>
              </a:rPr>
              <a:t>hungryTactic</a:t>
            </a:r>
            <a:r>
              <a:rPr lang="en-US" dirty="0">
                <a:solidFill>
                  <a:srgbClr val="FF0000"/>
                </a:solidFill>
              </a:rPr>
              <a:t>(agent)</a:t>
            </a:r>
            <a:r>
              <a:rPr lang="en-US" dirty="0"/>
              <a:t> = action(“name”)</a:t>
            </a:r>
            <a:br>
              <a:rPr lang="en-US" dirty="0"/>
            </a:br>
            <a:r>
              <a:rPr lang="en-US" dirty="0"/>
              <a:t>    .do2( state, f -&gt; agent.</a:t>
            </a:r>
            <a:r>
              <a:rPr lang="en-GB" dirty="0"/>
              <a:t> </a:t>
            </a:r>
            <a:r>
              <a:rPr lang="en-GB" dirty="0" err="1">
                <a:highlight>
                  <a:srgbClr val="FFFF00"/>
                </a:highlight>
              </a:rPr>
              <a:t>addBefore</a:t>
            </a:r>
            <a:r>
              <a:rPr lang="en-GB" dirty="0"/>
              <a:t>(</a:t>
            </a:r>
            <a:r>
              <a:rPr lang="en-GB" dirty="0" err="1"/>
              <a:t>travelTo</a:t>
            </a:r>
            <a:r>
              <a:rPr lang="en-GB" dirty="0"/>
              <a:t>(f)) ; </a:t>
            </a:r>
            <a:r>
              <a:rPr lang="en-GB" dirty="0">
                <a:highlight>
                  <a:srgbClr val="FFFF00"/>
                </a:highlight>
              </a:rPr>
              <a:t>ABORT</a:t>
            </a:r>
            <a:r>
              <a:rPr lang="en-GB" dirty="0"/>
              <a:t>() 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.on( state -&gt;   .... </a:t>
            </a:r>
            <a:r>
              <a:rPr lang="en-US" dirty="0" err="1"/>
              <a:t>i</a:t>
            </a:r>
            <a:r>
              <a:rPr lang="en-US" dirty="0"/>
              <a:t> am hungry ; let f = id of nearest food ; return f)</a:t>
            </a:r>
            <a:br>
              <a:rPr lang="en-US" dirty="0"/>
            </a:br>
            <a:r>
              <a:rPr lang="en-US" dirty="0"/>
              <a:t>    .lift()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7BD56-D70F-E84B-B6B7-CFBC81D95424}"/>
              </a:ext>
            </a:extLst>
          </p:cNvPr>
          <p:cNvSpPr txBox="1"/>
          <p:nvPr/>
        </p:nvSpPr>
        <p:spPr>
          <a:xfrm>
            <a:off x="1630017" y="419427"/>
            <a:ext cx="837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current-goal  G   -</a:t>
            </a:r>
            <a:r>
              <a:rPr lang="en-US" sz="2800" dirty="0">
                <a:sym typeface="Wingdings" pitchFamily="2" charset="2"/>
              </a:rPr>
              <a:t>      </a:t>
            </a:r>
            <a:r>
              <a:rPr lang="en-US" sz="2800" dirty="0">
                <a:highlight>
                  <a:srgbClr val="FFFF00"/>
                </a:highlight>
                <a:sym typeface="Wingdings" pitchFamily="2" charset="2"/>
              </a:rPr>
              <a:t>REPEAT(SEQ(</a:t>
            </a:r>
            <a:r>
              <a:rPr lang="en-GB" sz="2800" dirty="0" err="1">
                <a:highlight>
                  <a:srgbClr val="FFFF00"/>
                </a:highlight>
              </a:rPr>
              <a:t>getNearestFood</a:t>
            </a:r>
            <a:r>
              <a:rPr lang="en-GB" sz="2800" dirty="0">
                <a:highlight>
                  <a:srgbClr val="FFFF00"/>
                </a:highlight>
              </a:rPr>
              <a:t>, </a:t>
            </a:r>
            <a:r>
              <a:rPr lang="en-GB" sz="2800" dirty="0">
                <a:solidFill>
                  <a:srgbClr val="FF0000"/>
                </a:solidFill>
                <a:highlight>
                  <a:srgbClr val="FFFF00"/>
                </a:highlight>
              </a:rPr>
              <a:t>G</a:t>
            </a:r>
            <a:r>
              <a:rPr lang="en-GB" sz="2800" dirty="0">
                <a:highlight>
                  <a:srgbClr val="FFFF00"/>
                </a:highlight>
              </a:rPr>
              <a:t>))</a:t>
            </a: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3046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448</Words>
  <Application>Microsoft Macintosh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W1</vt:lpstr>
      <vt:lpstr>PowerPoint Presentation</vt:lpstr>
      <vt:lpstr>Overview of the previous lecture</vt:lpstr>
      <vt:lpstr>Unit Testing</vt:lpstr>
      <vt:lpstr>W2</vt:lpstr>
      <vt:lpstr>Notation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</dc:title>
  <dc:creator>Prasetya, S.W.B. (Wishnu)</dc:creator>
  <cp:lastModifiedBy>Prasetya, S.W.B. (Wishnu)</cp:lastModifiedBy>
  <cp:revision>20</cp:revision>
  <dcterms:created xsi:type="dcterms:W3CDTF">2021-04-26T06:42:20Z</dcterms:created>
  <dcterms:modified xsi:type="dcterms:W3CDTF">2021-05-10T15:01:52Z</dcterms:modified>
</cp:coreProperties>
</file>