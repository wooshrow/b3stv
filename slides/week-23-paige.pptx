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48"/>
  </p:notesMasterIdLst>
  <p:handoutMasterIdLst>
    <p:handoutMasterId r:id="rId49"/>
  </p:handoutMasterIdLst>
  <p:sldIdLst>
    <p:sldId id="283" r:id="rId2"/>
    <p:sldId id="285" r:id="rId3"/>
    <p:sldId id="290" r:id="rId4"/>
    <p:sldId id="291" r:id="rId5"/>
    <p:sldId id="293" r:id="rId6"/>
    <p:sldId id="292" r:id="rId7"/>
    <p:sldId id="309" r:id="rId8"/>
    <p:sldId id="311" r:id="rId9"/>
    <p:sldId id="359" r:id="rId10"/>
    <p:sldId id="360" r:id="rId11"/>
    <p:sldId id="297" r:id="rId12"/>
    <p:sldId id="298" r:id="rId13"/>
    <p:sldId id="300" r:id="rId14"/>
    <p:sldId id="299" r:id="rId15"/>
    <p:sldId id="361" r:id="rId16"/>
    <p:sldId id="362" r:id="rId17"/>
    <p:sldId id="342" r:id="rId18"/>
    <p:sldId id="316" r:id="rId19"/>
    <p:sldId id="363" r:id="rId20"/>
    <p:sldId id="364" r:id="rId21"/>
    <p:sldId id="318" r:id="rId22"/>
    <p:sldId id="343" r:id="rId23"/>
    <p:sldId id="319" r:id="rId24"/>
    <p:sldId id="322" r:id="rId25"/>
    <p:sldId id="320" r:id="rId26"/>
    <p:sldId id="321" r:id="rId27"/>
    <p:sldId id="344" r:id="rId28"/>
    <p:sldId id="345" r:id="rId29"/>
    <p:sldId id="346" r:id="rId30"/>
    <p:sldId id="323" r:id="rId31"/>
    <p:sldId id="328" r:id="rId32"/>
    <p:sldId id="329" r:id="rId33"/>
    <p:sldId id="348" r:id="rId34"/>
    <p:sldId id="324" r:id="rId35"/>
    <p:sldId id="325" r:id="rId36"/>
    <p:sldId id="327" r:id="rId37"/>
    <p:sldId id="349" r:id="rId38"/>
    <p:sldId id="350" r:id="rId39"/>
    <p:sldId id="351" r:id="rId40"/>
    <p:sldId id="356" r:id="rId41"/>
    <p:sldId id="352" r:id="rId42"/>
    <p:sldId id="353" r:id="rId43"/>
    <p:sldId id="354" r:id="rId44"/>
    <p:sldId id="278" r:id="rId45"/>
    <p:sldId id="277" r:id="rId46"/>
    <p:sldId id="355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nderdarkprime" initials="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24"/>
    <a:srgbClr val="C00000"/>
    <a:srgbClr val="00B0F0"/>
    <a:srgbClr val="0000CC"/>
    <a:srgbClr val="6699FF"/>
    <a:srgbClr val="990033"/>
    <a:srgbClr val="FFDB75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4" autoAdjust="0"/>
    <p:restoredTop sz="85906" autoAdjust="0"/>
  </p:normalViewPr>
  <p:slideViewPr>
    <p:cSldViewPr>
      <p:cViewPr varScale="1">
        <p:scale>
          <a:sx n="111" d="100"/>
          <a:sy n="111" d="100"/>
        </p:scale>
        <p:origin x="6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37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6"/>
    </p:cViewPr>
  </p:sorterViewPr>
  <p:notesViewPr>
    <p:cSldViewPr>
      <p:cViewPr varScale="1">
        <p:scale>
          <a:sx n="86" d="100"/>
          <a:sy n="86" d="100"/>
        </p:scale>
        <p:origin x="-3126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08-02-10T11:07:02.516" idx="2">
    <p:pos x="10" y="10"/>
    <p:text>Discuss this abstractly.
More detailed discussion about proof plan --&gt; separately to other slide pack.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61B6F1-98F4-4FDF-8FFD-71C9329AF088}" type="datetimeFigureOut">
              <a:rPr lang="en-US"/>
              <a:pPr>
                <a:defRPr/>
              </a:pPr>
              <a:t>5/29/26</a:t>
            </a:fld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D74C67-8476-42E1-B446-DA7518EFF7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42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F673508-6B96-48C9-B4C2-C72A1D960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34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96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C121C-0D8B-4A1F-9F83-DA0BCE813D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8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066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F620FA-4228-4964-9F4C-B84AC3BF016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4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716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36C6AE-D225-4369-AB6B-091C063D21D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27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BF579C-0497-4303-BF04-1D066268F65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51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373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DF40DC-98CF-471C-9801-64907174872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2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47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7DE650-997D-4B8F-9843-57D4C745F38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71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AutoNum type="arabicParenBoth"/>
            </a:pPr>
            <a:endParaRPr lang="nl-NL" dirty="0"/>
          </a:p>
        </p:txBody>
      </p:sp>
      <p:sp>
        <p:nvSpPr>
          <p:cNvPr id="757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4CDEE-CED8-4183-A2D1-EF00DAAA25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54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DB474-984D-643C-7248-6226DDF1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>
            <a:extLst>
              <a:ext uri="{FF2B5EF4-FFF2-40B4-BE49-F238E27FC236}">
                <a16:creationId xmlns:a16="http://schemas.microsoft.com/office/drawing/2014/main" id="{DA71BBDC-A9B9-4790-C522-E81BF9A40A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Tijdelijke aanduiding voor notities 2">
            <a:extLst>
              <a:ext uri="{FF2B5EF4-FFF2-40B4-BE49-F238E27FC236}">
                <a16:creationId xmlns:a16="http://schemas.microsoft.com/office/drawing/2014/main" id="{96F234A2-04C6-83EC-5BDD-0A6687EFF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AutoNum type="arabicParenBoth"/>
            </a:pPr>
            <a:endParaRPr lang="nl-NL" dirty="0"/>
          </a:p>
        </p:txBody>
      </p:sp>
      <p:sp>
        <p:nvSpPr>
          <p:cNvPr id="75780" name="Tijdelijke aanduiding voor dianummer 3">
            <a:extLst>
              <a:ext uri="{FF2B5EF4-FFF2-40B4-BE49-F238E27FC236}">
                <a16:creationId xmlns:a16="http://schemas.microsoft.com/office/drawing/2014/main" id="{0E5FD8E7-9937-C38C-EA42-359BDD2B6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4CDEE-CED8-4183-A2D1-EF00DAAA256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29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7620C-0784-6957-46A8-21FCD8B9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jdelijke aanduiding voor dia-afbeelding 1">
            <a:extLst>
              <a:ext uri="{FF2B5EF4-FFF2-40B4-BE49-F238E27FC236}">
                <a16:creationId xmlns:a16="http://schemas.microsoft.com/office/drawing/2014/main" id="{15AED817-F958-C8C6-819D-8452A9AB51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Tijdelijke aanduiding voor notities 2">
            <a:extLst>
              <a:ext uri="{FF2B5EF4-FFF2-40B4-BE49-F238E27FC236}">
                <a16:creationId xmlns:a16="http://schemas.microsoft.com/office/drawing/2014/main" id="{035225C4-9D97-6142-298E-AAFDA8605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AutoNum type="arabicParenBoth"/>
            </a:pPr>
            <a:endParaRPr lang="nl-NL" dirty="0"/>
          </a:p>
        </p:txBody>
      </p:sp>
      <p:sp>
        <p:nvSpPr>
          <p:cNvPr id="75780" name="Tijdelijke aanduiding voor dianummer 3">
            <a:extLst>
              <a:ext uri="{FF2B5EF4-FFF2-40B4-BE49-F238E27FC236}">
                <a16:creationId xmlns:a16="http://schemas.microsoft.com/office/drawing/2014/main" id="{AF3BFC7B-7C78-0830-81BD-D7F9F165C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4CDEE-CED8-4183-A2D1-EF00DAAA256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5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78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0F4C0F-5672-40F4-991F-F9DA9311444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00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885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F57F49-C7A1-424B-A81E-5F7267976E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02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7987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A43DCA-08CF-445E-A572-2D47D405B1D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54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090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441D-DADB-4DF7-9674-AB428A9FAEE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7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D448-04DC-4232-D26F-68B7BA7B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CAACF-EB45-AA55-7E43-00D1603C3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EDD44-C646-DD6E-C2F8-FD08DBF8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arenBoth"/>
            </a:pPr>
            <a:r>
              <a:rPr lang="en-US" dirty="0"/>
              <a:t> n –</a:t>
            </a:r>
            <a:r>
              <a:rPr lang="en-US" baseline="0" dirty="0"/>
              <a:t> 1, require </a:t>
            </a:r>
            <a:r>
              <a:rPr lang="en-US" baseline="0" dirty="0" err="1"/>
              <a:t>i</a:t>
            </a:r>
            <a:r>
              <a:rPr lang="en-US" baseline="0" dirty="0"/>
              <a:t>&lt;=n as </a:t>
            </a:r>
            <a:r>
              <a:rPr lang="en-US" baseline="0" dirty="0" err="1"/>
              <a:t>inv</a:t>
            </a:r>
            <a:endParaRPr lang="en-US" baseline="0" dirty="0"/>
          </a:p>
          <a:p>
            <a:pPr marL="228600" indent="-228600">
              <a:buAutoNum type="arabicParenBoth"/>
            </a:pPr>
            <a:r>
              <a:rPr lang="en-US" baseline="0" dirty="0"/>
              <a:t>3candy + apple,  Require I: candy&gt;=0  /\  apple&gt;=0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0DB36-C058-61B8-5C18-3E8EE9975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33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D335-9945-030A-5200-C2C4B2DE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433C4-FE9F-D814-B8DC-512676858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FDAB9-BF5B-FBBD-3927-91AD45897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arenBoth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FD62D-3D8A-B1FF-4BA8-728F3580A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14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7746-4CDE-4F4D-E5D5-940DE8C9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624EE-A7FF-7DAF-C25B-89DC86905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0FA6D-B672-7A2A-A64A-D19AD8F78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96A14-5427-BBAD-9B96-50D9ACFE9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85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0443-BC67-CF92-E4A4-7796592B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B29FA-A022-781D-8FFF-112D2D995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95974-316D-A710-7666-63D495D13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2487-CF1C-23E8-B14E-7FA834A9A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20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16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C868D-CD93-44A3-A472-9BEC5163A48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105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C868D-CD93-44A3-A472-9BEC5163A48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97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x+y</a:t>
            </a:r>
            <a:r>
              <a:rPr lang="en-US" baseline="0" dirty="0"/>
              <a:t> = 0) [y/x][x/y] </a:t>
            </a:r>
            <a:r>
              <a:rPr lang="en-US" baseline="0" dirty="0">
                <a:sym typeface="Wingdings"/>
              </a:rPr>
              <a:t> </a:t>
            </a:r>
            <a:r>
              <a:rPr lang="en-US" baseline="0" dirty="0" err="1">
                <a:sym typeface="Wingdings"/>
              </a:rPr>
              <a:t>x+x</a:t>
            </a:r>
            <a:r>
              <a:rPr lang="en-US" baseline="0" dirty="0">
                <a:sym typeface="Wingdings"/>
              </a:rPr>
              <a:t> = 0</a:t>
            </a:r>
          </a:p>
          <a:p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</a:t>
            </a:r>
            <a:r>
              <a:rPr lang="en-US" dirty="0" err="1"/>
              <a:t>x+y</a:t>
            </a:r>
            <a:r>
              <a:rPr lang="en-US" baseline="0" dirty="0"/>
              <a:t> = 0) [x/y][y/x] </a:t>
            </a:r>
            <a:r>
              <a:rPr lang="en-US" baseline="0" dirty="0">
                <a:sym typeface="Wingdings"/>
              </a:rPr>
              <a:t></a:t>
            </a:r>
            <a:r>
              <a:rPr lang="en-US" baseline="0" dirty="0" err="1">
                <a:sym typeface="Wingdings"/>
              </a:rPr>
              <a:t>y+y</a:t>
            </a:r>
            <a:r>
              <a:rPr lang="en-US" baseline="0" dirty="0">
                <a:sym typeface="Wingdings"/>
              </a:rPr>
              <a:t> = 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>
              <a:sym typeface="Wingding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</a:t>
            </a:r>
            <a:r>
              <a:rPr lang="en-US" dirty="0" err="1"/>
              <a:t>x+y</a:t>
            </a:r>
            <a:r>
              <a:rPr lang="en-US" baseline="0" dirty="0"/>
              <a:t> = 0) [</a:t>
            </a:r>
            <a:r>
              <a:rPr lang="en-US" baseline="0" dirty="0" err="1"/>
              <a:t>y,x</a:t>
            </a:r>
            <a:r>
              <a:rPr lang="en-US" baseline="0" dirty="0"/>
              <a:t>/</a:t>
            </a:r>
            <a:r>
              <a:rPr lang="en-US" baseline="0" dirty="0" err="1"/>
              <a:t>x,y</a:t>
            </a:r>
            <a:r>
              <a:rPr lang="en-US" baseline="0" dirty="0"/>
              <a:t>] </a:t>
            </a:r>
            <a:r>
              <a:rPr lang="en-US" baseline="0" dirty="0">
                <a:sym typeface="Wingdings"/>
              </a:rPr>
              <a:t> </a:t>
            </a:r>
            <a:r>
              <a:rPr lang="en-US" baseline="0" dirty="0" err="1">
                <a:sym typeface="Wingdings"/>
              </a:rPr>
              <a:t>y+x</a:t>
            </a:r>
            <a:r>
              <a:rPr lang="en-US" baseline="0" dirty="0">
                <a:sym typeface="Wingdings"/>
              </a:rPr>
              <a:t> = 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>
              <a:sym typeface="Wingding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73508-6B96-48C9-B4C2-C72A1D96099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01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89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16525-3813-47EA-8842-B7E7A6DEB7B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46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3994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25D8A-3482-4006-B6A7-DEECAF52405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24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4965B0-26A9-4119-B714-AFE56E9AF97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568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19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59E02B-C0DE-4B5F-88AC-BC5678B9D98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452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29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5A2D0-68F6-4D27-9B0B-6B9906B3140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491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829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15A2D0-68F6-4D27-9B0B-6B9906B3140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fld id="{7F6F07E9-6B80-445E-A790-39D3062C585A}" type="datetime1">
              <a:rPr lang="en-US"/>
              <a:pPr>
                <a:defRPr/>
              </a:pPr>
              <a:t>5/29/26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C4C95-5111-4739-8858-EE49FB567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74CF1-175A-4C02-9570-0FB523111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AA115-9240-49DE-8B41-463EB44CD4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D096D-912D-4C38-ACCA-25FCD75EF2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E29A1-1632-4F81-82D1-AC667E766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89BEA-1C58-40DB-8729-2A2D40E07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D2B9E-FE5E-41F6-ABE2-CB97829A13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ADD3C0-F3BB-489B-A9E6-A2326CE035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C44A9-21BB-4B1A-8811-657D97A681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CFC9-3740-4B96-ABFB-A100F463CC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2171700" cy="6122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77813"/>
            <a:ext cx="6362700" cy="6122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3B866-F2A6-4C8B-BA87-0FD437E355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7813"/>
            <a:ext cx="8534400" cy="7889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C53DF-6066-46FB-9C49-A876D46FD9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7813"/>
            <a:ext cx="8534400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38FEAF86-4238-40D9-9C64-E4390E2A65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9703" name="Freeform 7"/>
          <p:cNvSpPr>
            <a:spLocks noChangeArrowheads="1"/>
          </p:cNvSpPr>
          <p:nvPr/>
        </p:nvSpPr>
        <p:spPr bwMode="auto">
          <a:xfrm flipV="1">
            <a:off x="228600" y="457200"/>
            <a:ext cx="83820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4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II : reasoning about loops</a:t>
            </a:r>
            <a:endParaRPr lang="nl-NL" dirty="0"/>
          </a:p>
        </p:txBody>
      </p:sp>
      <p:sp>
        <p:nvSpPr>
          <p:cNvPr id="2867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/>
              <a:t>LN Section 6.3 - 6.7, and 9.3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E59FC-82DA-48C9-A732-9089C99EA29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433A1A-327F-6E41-B740-7A2E4BC704B2}"/>
              </a:ext>
            </a:extLst>
          </p:cNvPr>
          <p:cNvSpPr/>
          <p:nvPr/>
        </p:nvSpPr>
        <p:spPr>
          <a:xfrm>
            <a:off x="1371600" y="1600200"/>
            <a:ext cx="6553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prove this ?</a:t>
            </a:r>
            <a:endParaRPr lang="nl-NL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495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{* P *}   </a:t>
            </a:r>
            <a:r>
              <a:rPr lang="en-US" sz="2800" b="1" dirty="0"/>
              <a:t>while</a:t>
            </a:r>
            <a:r>
              <a:rPr lang="en-US" sz="2800" dirty="0"/>
              <a:t>  g  </a:t>
            </a:r>
            <a:r>
              <a:rPr lang="en-US" sz="2800" b="1" dirty="0"/>
              <a:t>do</a:t>
            </a:r>
            <a:r>
              <a:rPr lang="en-US" sz="2800" dirty="0"/>
              <a:t> 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sz="2800" dirty="0"/>
              <a:t>   {*  Q *}</a:t>
            </a:r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Unfortunately no nice equation for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Essentially because we do not know how many times the loop will iterate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wp </a:t>
            </a:r>
            <a:r>
              <a:rPr lang="en-US" dirty="0"/>
              <a:t>(</a:t>
            </a:r>
            <a:r>
              <a:rPr lang="en-US" b="1" dirty="0"/>
              <a:t>while</a:t>
            </a:r>
            <a:r>
              <a:rPr lang="en-US" dirty="0"/>
              <a:t>  g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) Q ∼ S</a:t>
            </a:r>
            <a:r>
              <a:rPr lang="en-US" baseline="30000" dirty="0"/>
              <a:t>-n</a:t>
            </a:r>
            <a:r>
              <a:rPr lang="en-US" dirty="0"/>
              <a:t> Q</a:t>
            </a:r>
          </a:p>
          <a:p>
            <a:pPr algn="just"/>
            <a:r>
              <a:rPr lang="en-US" dirty="0"/>
              <a:t>But what is n?</a:t>
            </a:r>
          </a:p>
          <a:p>
            <a:pPr marL="0" indent="0" algn="just">
              <a:buNone/>
            </a:pPr>
            <a:br>
              <a:rPr lang="en-US" dirty="0"/>
            </a:br>
            <a:endParaRPr lang="en-US" i="1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5B1141-3730-43F1-8464-31647A68A69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878834"/>
            <a:ext cx="8610600" cy="334820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	iter</a:t>
            </a:r>
            <a:r>
              <a:rPr lang="en-US" baseline="-25000" dirty="0"/>
              <a:t>1</a:t>
            </a:r>
            <a:r>
              <a:rPr lang="en-US" dirty="0"/>
              <a:t>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 //  </a:t>
            </a:r>
            <a:r>
              <a:rPr lang="en-US" dirty="0"/>
              <a:t>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	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</a:t>
            </a:r>
            <a:br>
              <a:rPr lang="en-US" dirty="0"/>
            </a:br>
            <a:r>
              <a:rPr lang="en-US" dirty="0"/>
              <a:t>	iter</a:t>
            </a:r>
            <a:r>
              <a:rPr lang="en-US" baseline="-25000" dirty="0"/>
              <a:t>2</a:t>
            </a:r>
            <a:r>
              <a:rPr lang="en-US" dirty="0"/>
              <a:t>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 //  </a:t>
            </a:r>
            <a:r>
              <a:rPr lang="en-US" dirty="0"/>
              <a:t>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	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</a:t>
            </a:r>
            <a:br>
              <a:rPr lang="en-US" dirty="0"/>
            </a:br>
            <a:r>
              <a:rPr lang="en-US" dirty="0"/>
              <a:t>	…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iter</a:t>
            </a:r>
            <a:r>
              <a:rPr lang="en-US" baseline="-25000" dirty="0" err="1"/>
              <a:t>n</a:t>
            </a:r>
            <a:r>
              <a:rPr lang="en-US" dirty="0"/>
              <a:t>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 //  </a:t>
            </a:r>
            <a:r>
              <a:rPr lang="en-US" dirty="0"/>
              <a:t>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	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	</a:t>
            </a:r>
            <a:r>
              <a:rPr lang="en-US" dirty="0">
                <a:solidFill>
                  <a:srgbClr val="FFC000"/>
                </a:solidFill>
              </a:rPr>
              <a:t>// last iteration</a:t>
            </a:r>
            <a:br>
              <a:rPr lang="en-US" dirty="0"/>
            </a:br>
            <a:r>
              <a:rPr lang="en-US" dirty="0"/>
              <a:t>	exit :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g //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Observation: With such an invariant, I /\ ¬g must hold when the loop terminates (after the last iteration).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The post-condition Q can be established if I /\ ¬g ⟹ Q.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olidFill>
                <a:schemeClr val="bg1">
                  <a:lumMod val="65000"/>
                </a:schemeClr>
              </a:solidFill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olidFill>
                <a:schemeClr val="bg1">
                  <a:lumMod val="65000"/>
                </a:schemeClr>
              </a:solidFill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nl-NL" dirty="0"/>
          </a:p>
          <a:p>
            <a:pPr>
              <a:buFont typeface="Wingdings" pitchFamily="2" charset="2"/>
              <a:buChar char="n"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E0F5F5-C3BD-4955-8D49-B006CD3E538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B765EB-7DF1-DD4F-9952-E02AB029061D}"/>
              </a:ext>
            </a:extLst>
          </p:cNvPr>
          <p:cNvSpPr/>
          <p:nvPr/>
        </p:nvSpPr>
        <p:spPr>
          <a:xfrm>
            <a:off x="304800" y="1461209"/>
            <a:ext cx="83820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CB852-25A7-2D46-AC49-0C0C53329A91}"/>
              </a:ext>
            </a:extLst>
          </p:cNvPr>
          <p:cNvSpPr txBox="1"/>
          <p:nvPr/>
        </p:nvSpPr>
        <p:spPr>
          <a:xfrm>
            <a:off x="457201" y="1582644"/>
            <a:ext cx="8093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Need a predicate </a:t>
            </a:r>
            <a:r>
              <a:rPr lang="en-US" sz="2800" b="1" i="1" dirty="0">
                <a:solidFill>
                  <a:srgbClr val="C00000"/>
                </a:solidFill>
              </a:rPr>
              <a:t>I</a:t>
            </a:r>
            <a:r>
              <a:rPr lang="en-US" sz="2800" dirty="0"/>
              <a:t>, an </a:t>
            </a:r>
            <a:r>
              <a:rPr lang="en-US" sz="2800" b="1" i="1" dirty="0">
                <a:solidFill>
                  <a:srgbClr val="0070C0"/>
                </a:solidFill>
              </a:rPr>
              <a:t>invariant</a:t>
            </a:r>
            <a:r>
              <a:rPr lang="en-US" sz="2800" dirty="0"/>
              <a:t>, that holds at the end of every iteration.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079006A-F487-364B-A1F8-5715876BD78A}"/>
              </a:ext>
            </a:extLst>
          </p:cNvPr>
          <p:cNvSpPr/>
          <p:nvPr/>
        </p:nvSpPr>
        <p:spPr>
          <a:xfrm>
            <a:off x="2201740" y="3886200"/>
            <a:ext cx="4740519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what kind of predicate is I ??</a:t>
            </a:r>
            <a:endParaRPr lang="nl-NL" dirty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1524000"/>
          </a:xfrm>
        </p:spPr>
        <p:txBody>
          <a:bodyPr/>
          <a:lstStyle/>
          <a:p>
            <a:r>
              <a:rPr lang="en-US" dirty="0"/>
              <a:t>We need an I that holds at the end of every iteration. Inductively, this means that we can assume it to hold at the start of the iteration (established by the previous iteration).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So, it is sufficient to have an I satisfying this property: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/\ g *}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   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72FA2E-8EA4-4203-9502-8D9C47E9A23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the base case</a:t>
            </a:r>
            <a:endParaRPr lang="nl-NL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077200" cy="44196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 previous inductive argument does not however apply for the first iteration, because it has no previous iteration. Let’s just insist that this first iteration should also maintain the property: </a:t>
            </a:r>
          </a:p>
          <a:p>
            <a:pPr marL="0" indent="0" algn="ctr">
              <a:buNone/>
            </a:pPr>
            <a:r>
              <a:rPr lang="en-US" dirty="0"/>
              <a:t>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/\ g *}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dirty="0"/>
              <a:t>   {* </a:t>
            </a:r>
            <a:r>
              <a:rPr lang="en-US" dirty="0">
                <a:solidFill>
                  <a:srgbClr val="990033"/>
                </a:solidFill>
              </a:rPr>
              <a:t>I</a:t>
            </a:r>
            <a:r>
              <a:rPr lang="en-US" dirty="0"/>
              <a:t> *}.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Something else is now needed to guarantee that the first iteration can indeed assume I as its pre-condition. We can establish this by requiring that the original precondition P implies this I.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/>
              <a:t>	</a:t>
            </a:r>
          </a:p>
          <a:p>
            <a:pPr algn="just"/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934200"/>
            <a:ext cx="2133600" cy="457200"/>
          </a:xfrm>
        </p:spPr>
        <p:txBody>
          <a:bodyPr/>
          <a:lstStyle/>
          <a:p>
            <a:pPr>
              <a:defRPr/>
            </a:pPr>
            <a:fld id="{31ED0A05-D805-4AF9-AB15-426555051BF8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F1402D-0DEB-B34B-89A0-61360AC5244F}"/>
              </a:ext>
            </a:extLst>
          </p:cNvPr>
          <p:cNvSpPr/>
          <p:nvPr/>
        </p:nvSpPr>
        <p:spPr>
          <a:xfrm>
            <a:off x="762000" y="1607740"/>
            <a:ext cx="5181600" cy="236220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Summarize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81600"/>
          </a:xfrm>
        </p:spPr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Capture this in an inference rule (Rule 6.3.2):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 </a:t>
            </a:r>
            <a:r>
              <a:rPr lang="en-US" dirty="0">
                <a:sym typeface="Symbol"/>
              </a:rPr>
              <a:t> 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					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setting up I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{* g  /\  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 *}    S    {*  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  *}		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dirty="0">
                <a:sym typeface="Symbol"/>
              </a:rPr>
              <a:t>  /\ g    Q 			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P *}   </a:t>
            </a:r>
            <a:r>
              <a:rPr lang="en-US" b="1" dirty="0">
                <a:sym typeface="Symbol"/>
              </a:rPr>
              <a:t>while</a:t>
            </a:r>
            <a:r>
              <a:rPr lang="en-US" dirty="0">
                <a:sym typeface="Symbol"/>
              </a:rPr>
              <a:t>  g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{* Q *}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 marL="0" indent="0">
              <a:buNone/>
              <a:defRPr/>
            </a:pPr>
            <a:r>
              <a:rPr lang="en-US" dirty="0">
                <a:sym typeface="Symbol"/>
              </a:rPr>
              <a:t>Taking P to be I, we get: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 marL="0" indent="0">
              <a:buNone/>
              <a:defRPr/>
            </a:pPr>
            <a:endParaRPr lang="en-US" dirty="0"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7482E5-100D-4091-B230-29A72EF3C47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C1707981-E474-042D-1680-117BEE929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92861"/>
            <a:ext cx="45339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ym typeface="Symbol" pitchFamily="16" charset="2"/>
              </a:rPr>
              <a:t>{* g  /\  I *}    S    {*  I  *}</a:t>
            </a:r>
          </a:p>
          <a:p>
            <a:pPr algn="ctr"/>
            <a:r>
              <a:rPr lang="en-US" sz="2400" dirty="0">
                <a:sym typeface="Symbol" pitchFamily="16" charset="2"/>
              </a:rPr>
              <a:t>I  /\ g    Q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----------------------------------------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 {* I *}   </a:t>
            </a:r>
            <a:r>
              <a:rPr lang="en-US" sz="2400" b="1" dirty="0">
                <a:sym typeface="Symbol" pitchFamily="16" charset="2"/>
              </a:rPr>
              <a:t>while</a:t>
            </a:r>
            <a:r>
              <a:rPr lang="en-US" sz="2400" dirty="0">
                <a:sym typeface="Symbol" pitchFamily="16" charset="2"/>
              </a:rPr>
              <a:t>  g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 S    {* Q *}</a:t>
            </a:r>
            <a:endParaRPr lang="en-US" sz="2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73CC19-524F-1FBE-8E4C-ADD07D15D51F}"/>
              </a:ext>
            </a:extLst>
          </p:cNvPr>
          <p:cNvSpPr/>
          <p:nvPr/>
        </p:nvSpPr>
        <p:spPr>
          <a:xfrm>
            <a:off x="762000" y="4724400"/>
            <a:ext cx="5181600" cy="170696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Few things to note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dirty="0">
                <a:sym typeface="Symbol"/>
              </a:rPr>
              <a:t>This rule is only good for </a:t>
            </a:r>
            <a:r>
              <a:rPr lang="en-US" b="1" dirty="0">
                <a:sym typeface="Symbol"/>
              </a:rPr>
              <a:t>partial correctness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If you have a program with the statement </a:t>
            </a:r>
          </a:p>
          <a:p>
            <a:pPr marL="0" indent="0">
              <a:buNone/>
            </a:pPr>
            <a:r>
              <a:rPr lang="en-US" b="1" dirty="0">
                <a:sym typeface="Symbol" pitchFamily="16" charset="2"/>
              </a:rPr>
              <a:t>		while </a:t>
            </a:r>
            <a:r>
              <a:rPr lang="en-US" dirty="0">
                <a:sym typeface="Symbol" pitchFamily="16" charset="2"/>
              </a:rPr>
              <a:t>g </a:t>
            </a:r>
            <a:r>
              <a:rPr lang="en-US" b="1" dirty="0">
                <a:sym typeface="Symbol" pitchFamily="16" charset="2"/>
              </a:rPr>
              <a:t>do </a:t>
            </a:r>
            <a:r>
              <a:rPr lang="en-US" dirty="0">
                <a:sym typeface="Symbol" pitchFamily="16" charset="2"/>
              </a:rPr>
              <a:t>S</a:t>
            </a: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and you find an I such that {* I *} </a:t>
            </a:r>
            <a:r>
              <a:rPr lang="en-US" b="1" dirty="0">
                <a:sym typeface="Symbol" pitchFamily="16" charset="2"/>
              </a:rPr>
              <a:t>while </a:t>
            </a:r>
            <a:r>
              <a:rPr lang="en-US" dirty="0">
                <a:sym typeface="Symbol" pitchFamily="16" charset="2"/>
              </a:rPr>
              <a:t>g </a:t>
            </a:r>
            <a:r>
              <a:rPr lang="en-US" b="1" dirty="0">
                <a:sym typeface="Symbol" pitchFamily="16" charset="2"/>
              </a:rPr>
              <a:t>do </a:t>
            </a:r>
            <a:r>
              <a:rPr lang="en-US" dirty="0">
                <a:sym typeface="Symbol" pitchFamily="16" charset="2"/>
              </a:rPr>
              <a:t>S {* Q *},</a:t>
            </a:r>
          </a:p>
          <a:p>
            <a:pPr marL="0" indent="0">
              <a:buNone/>
            </a:pPr>
            <a:r>
              <a:rPr lang="en-US" dirty="0">
                <a:sym typeface="Symbol" pitchFamily="16" charset="2"/>
              </a:rPr>
              <a:t>then you can compose this with the calculations of wp for the other statements in the program. Then you will get something </a:t>
            </a:r>
            <a:r>
              <a:rPr lang="en-US" b="1" dirty="0">
                <a:sym typeface="Symbol" pitchFamily="16" charset="2"/>
              </a:rPr>
              <a:t>sound</a:t>
            </a:r>
            <a:r>
              <a:rPr lang="en-US" dirty="0">
                <a:sym typeface="Symbol" pitchFamily="16" charset="2"/>
              </a:rPr>
              <a:t> but not </a:t>
            </a:r>
            <a:r>
              <a:rPr lang="en-US" b="1" dirty="0">
                <a:sym typeface="Symbol" pitchFamily="16" charset="2"/>
              </a:rPr>
              <a:t>complete.</a:t>
            </a:r>
            <a:br>
              <a:rPr lang="en-US" dirty="0">
                <a:sym typeface="Symbol" pitchFamily="16" charset="2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58A94B-2E1E-4A47-AACD-945A7A403CD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0E599598-B8BA-0F01-EA82-0DA138BB5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0" y="4495800"/>
            <a:ext cx="45339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ym typeface="Symbol" pitchFamily="16" charset="2"/>
              </a:rPr>
              <a:t>{* g  /\  I *}    S    {*  I  *}</a:t>
            </a:r>
          </a:p>
          <a:p>
            <a:pPr algn="ctr"/>
            <a:r>
              <a:rPr lang="en-US" sz="2400" dirty="0">
                <a:sym typeface="Symbol" pitchFamily="16" charset="2"/>
              </a:rPr>
              <a:t>I  /\ g    Q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----------------------------------------</a:t>
            </a:r>
            <a:br>
              <a:rPr lang="en-US" sz="2400" dirty="0">
                <a:sym typeface="Symbol" pitchFamily="16" charset="2"/>
              </a:rPr>
            </a:br>
            <a:r>
              <a:rPr lang="en-US" sz="2400" dirty="0">
                <a:sym typeface="Symbol" pitchFamily="16" charset="2"/>
              </a:rPr>
              <a:t> {* I *}   </a:t>
            </a:r>
            <a:r>
              <a:rPr lang="en-US" sz="2400" b="1" dirty="0">
                <a:sym typeface="Symbol" pitchFamily="16" charset="2"/>
              </a:rPr>
              <a:t>while</a:t>
            </a:r>
            <a:r>
              <a:rPr lang="en-US" sz="2400" dirty="0">
                <a:sym typeface="Symbol" pitchFamily="16" charset="2"/>
              </a:rPr>
              <a:t>  g  </a:t>
            </a:r>
            <a:r>
              <a:rPr lang="en-US" sz="2400" b="1" dirty="0">
                <a:sym typeface="Symbol" pitchFamily="16" charset="2"/>
              </a:rPr>
              <a:t>do</a:t>
            </a:r>
            <a:r>
              <a:rPr lang="en-US" sz="2400" dirty="0">
                <a:sym typeface="Symbol" pitchFamily="16" charset="2"/>
              </a:rPr>
              <a:t>   S    {* Q *}</a:t>
            </a:r>
            <a:endParaRPr lang="en-US" sz="24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9372530-2F39-F6B3-D72C-A2707857C32F}"/>
              </a:ext>
            </a:extLst>
          </p:cNvPr>
          <p:cNvSpPr/>
          <p:nvPr/>
        </p:nvSpPr>
        <p:spPr>
          <a:xfrm>
            <a:off x="1981200" y="4495800"/>
            <a:ext cx="5181600" cy="170696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7CB6A2-C5AD-0640-9CB3-54DBFF1DFBB2}"/>
              </a:ext>
            </a:extLst>
          </p:cNvPr>
          <p:cNvSpPr/>
          <p:nvPr/>
        </p:nvSpPr>
        <p:spPr>
          <a:xfrm>
            <a:off x="903586" y="1905000"/>
            <a:ext cx="7239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nl-NL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1676400"/>
          </a:xfrm>
        </p:spPr>
        <p:txBody>
          <a:bodyPr/>
          <a:lstStyle/>
          <a:p>
            <a:r>
              <a:rPr lang="en-US" dirty="0"/>
              <a:t>Prove the (partial) correctness of the following loop:</a:t>
            </a:r>
          </a:p>
          <a:p>
            <a:pPr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{* true *}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=n *}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F0701D-9093-4B9F-AB95-FA12DFC4471C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73BB5692-B324-C932-213E-914DB07A3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620" y="5247520"/>
            <a:ext cx="238924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/>
              <a:t>P </a:t>
            </a:r>
            <a:r>
              <a:rPr lang="en-US" sz="1200" dirty="0">
                <a:sym typeface="Symbol"/>
              </a:rPr>
              <a:t>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br>
              <a:rPr lang="en-US" sz="12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200" dirty="0">
                <a:sym typeface="Symbol"/>
              </a:rPr>
              <a:t>{* g  /\ 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*}    S    {* 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 *}</a:t>
            </a:r>
          </a:p>
          <a:p>
            <a:pPr>
              <a:defRPr/>
            </a:pPr>
            <a:r>
              <a:rPr lang="en-US" sz="1200" dirty="0">
                <a:sym typeface="Symbol"/>
              </a:rPr>
              <a:t>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 /\ g    Q </a:t>
            </a:r>
          </a:p>
          <a:p>
            <a:pPr>
              <a:defRPr/>
            </a:pPr>
            <a:r>
              <a:rPr lang="en-US" sz="1200" dirty="0">
                <a:sym typeface="Symbol"/>
              </a:rPr>
              <a:t>---------------------------------------</a:t>
            </a:r>
            <a:br>
              <a:rPr lang="en-US" sz="1200" dirty="0">
                <a:sym typeface="Symbol"/>
              </a:rPr>
            </a:br>
            <a:r>
              <a:rPr lang="en-US" sz="1200" dirty="0">
                <a:sym typeface="Symbol"/>
              </a:rPr>
              <a:t>{* P *}   </a:t>
            </a:r>
            <a:r>
              <a:rPr lang="en-US" sz="1200" b="1" dirty="0">
                <a:sym typeface="Symbol"/>
              </a:rPr>
              <a:t>while</a:t>
            </a:r>
            <a:r>
              <a:rPr lang="en-US" sz="1200" dirty="0">
                <a:sym typeface="Symbol"/>
              </a:rPr>
              <a:t>  g  </a:t>
            </a:r>
            <a:r>
              <a:rPr lang="en-US" sz="1200" b="1" dirty="0">
                <a:sym typeface="Symbol"/>
              </a:rPr>
              <a:t>do</a:t>
            </a:r>
            <a:r>
              <a:rPr lang="en-US" sz="1200" dirty="0">
                <a:sym typeface="Symbol"/>
              </a:rPr>
              <a:t>   S    {* Q *}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BE9DAE-7B6D-AAE9-DAC3-466C849A3841}"/>
              </a:ext>
            </a:extLst>
          </p:cNvPr>
          <p:cNvSpPr/>
          <p:nvPr/>
        </p:nvSpPr>
        <p:spPr>
          <a:xfrm>
            <a:off x="6473620" y="5181600"/>
            <a:ext cx="2556080" cy="12181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09110F-C6A7-2EF0-594C-86DBDF0C287F}"/>
              </a:ext>
            </a:extLst>
          </p:cNvPr>
          <p:cNvSpPr txBox="1">
            <a:spLocks/>
          </p:cNvSpPr>
          <p:nvPr/>
        </p:nvSpPr>
        <p:spPr bwMode="auto">
          <a:xfrm>
            <a:off x="304800" y="2975064"/>
            <a:ext cx="868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Need an I such that</a:t>
            </a:r>
          </a:p>
          <a:p>
            <a:pPr lvl="1"/>
            <a:r>
              <a:rPr lang="en-US" kern="0" dirty="0"/>
              <a:t>true ⟹ I</a:t>
            </a:r>
          </a:p>
          <a:p>
            <a:pPr lvl="1"/>
            <a:r>
              <a:rPr lang="en-US" kern="0" dirty="0"/>
              <a:t>{*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∧ </a:t>
            </a:r>
            <a:r>
              <a:rPr lang="en-US" kern="0" dirty="0"/>
              <a:t>I *} </a:t>
            </a:r>
            <a:r>
              <a:rPr lang="en-US" dirty="0" err="1"/>
              <a:t>i</a:t>
            </a:r>
            <a:r>
              <a:rPr lang="en-US" dirty="0"/>
              <a:t>++ {* I *}</a:t>
            </a:r>
          </a:p>
          <a:p>
            <a:pPr lvl="1"/>
            <a:r>
              <a:rPr lang="en-US" kern="0" dirty="0"/>
              <a:t>I </a:t>
            </a:r>
            <a:r>
              <a:rPr lang="en-US" dirty="0"/>
              <a:t>∧ </a:t>
            </a:r>
            <a:r>
              <a:rPr lang="en-US" dirty="0" err="1"/>
              <a:t>i</a:t>
            </a:r>
            <a:r>
              <a:rPr lang="en-US" dirty="0">
                <a:sym typeface="Symbol" pitchFamily="16" charset="2"/>
              </a:rPr>
              <a:t>=</a:t>
            </a:r>
            <a:r>
              <a:rPr lang="en-US" dirty="0"/>
              <a:t>n ⟹ </a:t>
            </a:r>
            <a:r>
              <a:rPr lang="en-US" dirty="0" err="1"/>
              <a:t>i</a:t>
            </a:r>
            <a:r>
              <a:rPr lang="en-US" dirty="0"/>
              <a:t>=n</a:t>
            </a:r>
            <a:endParaRPr lang="en-US" kern="0" dirty="0"/>
          </a:p>
          <a:p>
            <a:pPr>
              <a:buFont typeface="Wingdings" charset="2"/>
              <a:buNone/>
            </a:pPr>
            <a:endParaRPr 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904916-A177-6FC4-844A-A8FCE977D881}"/>
              </a:ext>
            </a:extLst>
          </p:cNvPr>
          <p:cNvSpPr txBox="1">
            <a:spLocks/>
          </p:cNvSpPr>
          <p:nvPr/>
        </p:nvSpPr>
        <p:spPr bwMode="auto">
          <a:xfrm>
            <a:off x="304800" y="4793861"/>
            <a:ext cx="8686800" cy="634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 := true works!</a:t>
            </a:r>
          </a:p>
          <a:p>
            <a:pPr>
              <a:buFont typeface="Wingdings" charset="2"/>
              <a:buNone/>
            </a:pPr>
            <a:endParaRPr 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2DA0-F0BD-21DC-2857-3B451A0C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82227A-EAEE-BDEB-C2C0-1C01E4835A42}"/>
              </a:ext>
            </a:extLst>
          </p:cNvPr>
          <p:cNvSpPr/>
          <p:nvPr/>
        </p:nvSpPr>
        <p:spPr>
          <a:xfrm>
            <a:off x="903586" y="1905000"/>
            <a:ext cx="7239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Title 1">
            <a:extLst>
              <a:ext uri="{FF2B5EF4-FFF2-40B4-BE49-F238E27FC236}">
                <a16:creationId xmlns:a16="http://schemas.microsoft.com/office/drawing/2014/main" id="{9C80A051-07C9-B6CE-C4C3-46BD27E3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nl-NL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F912E8C8-7752-3A28-48A1-61947BCD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1676400"/>
          </a:xfrm>
        </p:spPr>
        <p:txBody>
          <a:bodyPr/>
          <a:lstStyle/>
          <a:p>
            <a:r>
              <a:rPr lang="en-US" dirty="0"/>
              <a:t>Prove the (partial) correctness of the following loop:</a:t>
            </a:r>
          </a:p>
          <a:p>
            <a:pPr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{*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=0  /\  n=10 *}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=n *}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2EA2F-31C2-4D3B-410E-2C1BDC8CD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F0701D-9093-4B9F-AB95-FA12DFC4471C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3ED92DEF-F51D-A0F5-739F-99A774B7C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620" y="5247520"/>
            <a:ext cx="238924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/>
              <a:t>P </a:t>
            </a:r>
            <a:r>
              <a:rPr lang="en-US" sz="1200" dirty="0">
                <a:sym typeface="Symbol"/>
              </a:rPr>
              <a:t>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br>
              <a:rPr lang="en-US" sz="12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200" dirty="0">
                <a:sym typeface="Symbol"/>
              </a:rPr>
              <a:t>{* g  /\ 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*}    S    {* 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 *}</a:t>
            </a:r>
          </a:p>
          <a:p>
            <a:pPr>
              <a:defRPr/>
            </a:pPr>
            <a:r>
              <a:rPr lang="en-US" sz="1200" dirty="0">
                <a:sym typeface="Symbol"/>
              </a:rPr>
              <a:t>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 /\ g    Q </a:t>
            </a:r>
          </a:p>
          <a:p>
            <a:pPr>
              <a:defRPr/>
            </a:pPr>
            <a:r>
              <a:rPr lang="en-US" sz="1200" dirty="0">
                <a:sym typeface="Symbol"/>
              </a:rPr>
              <a:t>---------------------------------------</a:t>
            </a:r>
            <a:br>
              <a:rPr lang="en-US" sz="1200" dirty="0">
                <a:sym typeface="Symbol"/>
              </a:rPr>
            </a:br>
            <a:r>
              <a:rPr lang="en-US" sz="1200" dirty="0">
                <a:sym typeface="Symbol"/>
              </a:rPr>
              <a:t>{* P *}   </a:t>
            </a:r>
            <a:r>
              <a:rPr lang="en-US" sz="1200" b="1" dirty="0">
                <a:sym typeface="Symbol"/>
              </a:rPr>
              <a:t>while</a:t>
            </a:r>
            <a:r>
              <a:rPr lang="en-US" sz="1200" dirty="0">
                <a:sym typeface="Symbol"/>
              </a:rPr>
              <a:t>  g  </a:t>
            </a:r>
            <a:r>
              <a:rPr lang="en-US" sz="1200" b="1" dirty="0">
                <a:sym typeface="Symbol"/>
              </a:rPr>
              <a:t>do</a:t>
            </a:r>
            <a:r>
              <a:rPr lang="en-US" sz="1200" dirty="0">
                <a:sym typeface="Symbol"/>
              </a:rPr>
              <a:t>   S    {* Q *}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CE9735F-3899-0FF1-22F4-F0FD2AE74521}"/>
              </a:ext>
            </a:extLst>
          </p:cNvPr>
          <p:cNvSpPr/>
          <p:nvPr/>
        </p:nvSpPr>
        <p:spPr>
          <a:xfrm>
            <a:off x="6473620" y="5181600"/>
            <a:ext cx="2556080" cy="12181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C6EB66-801C-B8DC-E47A-009D140278B9}"/>
              </a:ext>
            </a:extLst>
          </p:cNvPr>
          <p:cNvSpPr txBox="1">
            <a:spLocks/>
          </p:cNvSpPr>
          <p:nvPr/>
        </p:nvSpPr>
        <p:spPr bwMode="auto">
          <a:xfrm>
            <a:off x="304800" y="2975064"/>
            <a:ext cx="868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Need an I such that</a:t>
            </a:r>
          </a:p>
          <a:p>
            <a:pPr lvl="1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=0  /\  n=10</a:t>
            </a:r>
            <a:r>
              <a:rPr lang="en-US" kern="0" dirty="0"/>
              <a:t> ⟹ I</a:t>
            </a:r>
          </a:p>
          <a:p>
            <a:pPr lvl="1"/>
            <a:r>
              <a:rPr lang="en-US" kern="0" dirty="0"/>
              <a:t>{* </a:t>
            </a:r>
            <a:r>
              <a:rPr lang="en-US" dirty="0" err="1"/>
              <a:t>i</a:t>
            </a:r>
            <a:r>
              <a:rPr lang="en-US" dirty="0">
                <a:sym typeface="Symbol" pitchFamily="16" charset="2"/>
              </a:rPr>
              <a:t>&lt;</a:t>
            </a:r>
            <a:r>
              <a:rPr lang="en-US" dirty="0"/>
              <a:t>n ∧ </a:t>
            </a:r>
            <a:r>
              <a:rPr lang="en-US" kern="0" dirty="0"/>
              <a:t>I *} </a:t>
            </a:r>
            <a:r>
              <a:rPr lang="en-US" dirty="0" err="1"/>
              <a:t>i</a:t>
            </a:r>
            <a:r>
              <a:rPr lang="en-US" dirty="0"/>
              <a:t>++ {* I *}</a:t>
            </a:r>
          </a:p>
          <a:p>
            <a:pPr lvl="1"/>
            <a:r>
              <a:rPr lang="en-US" kern="0" dirty="0"/>
              <a:t>I </a:t>
            </a:r>
            <a:r>
              <a:rPr lang="en-US" dirty="0"/>
              <a:t>∧ </a:t>
            </a:r>
            <a:r>
              <a:rPr lang="en-US" dirty="0" err="1"/>
              <a:t>i</a:t>
            </a:r>
            <a:r>
              <a:rPr lang="en-US" dirty="0"/>
              <a:t> ≥ n ⟹ </a:t>
            </a:r>
            <a:r>
              <a:rPr lang="en-US" dirty="0" err="1"/>
              <a:t>i</a:t>
            </a:r>
            <a:r>
              <a:rPr lang="en-US" dirty="0"/>
              <a:t>=n</a:t>
            </a:r>
            <a:endParaRPr lang="en-US" kern="0" dirty="0"/>
          </a:p>
          <a:p>
            <a:pPr>
              <a:buFont typeface="Wingdings" charset="2"/>
              <a:buNone/>
            </a:pPr>
            <a:endParaRPr 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9EC000-7481-4ECE-8B07-968BA9565758}"/>
              </a:ext>
            </a:extLst>
          </p:cNvPr>
          <p:cNvSpPr txBox="1">
            <a:spLocks/>
          </p:cNvSpPr>
          <p:nvPr/>
        </p:nvSpPr>
        <p:spPr bwMode="auto">
          <a:xfrm>
            <a:off x="304800" y="4793861"/>
            <a:ext cx="8686800" cy="634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 := </a:t>
            </a:r>
            <a:r>
              <a:rPr lang="en-US" kern="0" dirty="0" err="1"/>
              <a:t>i</a:t>
            </a:r>
            <a:r>
              <a:rPr lang="en-US" kern="0" dirty="0"/>
              <a:t> ≤ n works!</a:t>
            </a:r>
          </a:p>
          <a:p>
            <a:pPr>
              <a:buFont typeface="Wingdings" charset="2"/>
              <a:buNone/>
            </a:pPr>
            <a:endParaRPr 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21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6711-A774-C79E-64BA-4AB2FE08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370CE1-E68E-F655-7DC3-CC8C8E044633}"/>
              </a:ext>
            </a:extLst>
          </p:cNvPr>
          <p:cNvSpPr/>
          <p:nvPr/>
        </p:nvSpPr>
        <p:spPr>
          <a:xfrm>
            <a:off x="228600" y="1905000"/>
            <a:ext cx="8763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Title 1">
            <a:extLst>
              <a:ext uri="{FF2B5EF4-FFF2-40B4-BE49-F238E27FC236}">
                <a16:creationId xmlns:a16="http://schemas.microsoft.com/office/drawing/2014/main" id="{36F5A006-9A4B-D463-4745-CD2F760C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  <a:endParaRPr lang="nl-NL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415F4BA9-780A-5CB4-0B8B-0493585D2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1676400"/>
          </a:xfrm>
        </p:spPr>
        <p:txBody>
          <a:bodyPr/>
          <a:lstStyle/>
          <a:p>
            <a:r>
              <a:rPr lang="en-US" dirty="0"/>
              <a:t>Prove the (partial) correctness of the following loop: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=0 /\ s=0 /\ n=10 *}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s = s+2 ; </a:t>
            </a:r>
            <a:r>
              <a:rPr lang="en-US" dirty="0" err="1"/>
              <a:t>i</a:t>
            </a:r>
            <a:r>
              <a:rPr lang="en-US" dirty="0"/>
              <a:t>++ }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s=20 *}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EF08-CC09-CC74-C37D-5E3D6A513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F0701D-9093-4B9F-AB95-FA12DFC4471C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B96AA75E-DA35-FE20-EB85-A3311332E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620" y="5247520"/>
            <a:ext cx="238924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/>
              <a:t>P </a:t>
            </a:r>
            <a:r>
              <a:rPr lang="en-US" sz="1200" dirty="0">
                <a:sym typeface="Symbol"/>
              </a:rPr>
              <a:t>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br>
              <a:rPr lang="en-US" sz="12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200" dirty="0">
                <a:sym typeface="Symbol"/>
              </a:rPr>
              <a:t>{* g  /\ 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*}    S    {* 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 *}</a:t>
            </a:r>
          </a:p>
          <a:p>
            <a:pPr>
              <a:defRPr/>
            </a:pPr>
            <a:r>
              <a:rPr lang="en-US" sz="1200" dirty="0">
                <a:sym typeface="Symbol"/>
              </a:rPr>
              <a:t> </a:t>
            </a:r>
            <a:r>
              <a:rPr lang="en-US" sz="1200" b="1" dirty="0">
                <a:solidFill>
                  <a:srgbClr val="990033"/>
                </a:solidFill>
                <a:sym typeface="Symbol"/>
              </a:rPr>
              <a:t>I</a:t>
            </a:r>
            <a:r>
              <a:rPr lang="en-US" sz="1200" dirty="0">
                <a:sym typeface="Symbol"/>
              </a:rPr>
              <a:t>  /\ g    Q </a:t>
            </a:r>
          </a:p>
          <a:p>
            <a:pPr>
              <a:defRPr/>
            </a:pPr>
            <a:r>
              <a:rPr lang="en-US" sz="1200" dirty="0">
                <a:sym typeface="Symbol"/>
              </a:rPr>
              <a:t>---------------------------------------</a:t>
            </a:r>
            <a:br>
              <a:rPr lang="en-US" sz="1200" dirty="0">
                <a:sym typeface="Symbol"/>
              </a:rPr>
            </a:br>
            <a:r>
              <a:rPr lang="en-US" sz="1200" dirty="0">
                <a:sym typeface="Symbol"/>
              </a:rPr>
              <a:t>{* P *}   </a:t>
            </a:r>
            <a:r>
              <a:rPr lang="en-US" sz="1200" b="1" dirty="0">
                <a:sym typeface="Symbol"/>
              </a:rPr>
              <a:t>while</a:t>
            </a:r>
            <a:r>
              <a:rPr lang="en-US" sz="1200" dirty="0">
                <a:sym typeface="Symbol"/>
              </a:rPr>
              <a:t>  g  </a:t>
            </a:r>
            <a:r>
              <a:rPr lang="en-US" sz="1200" b="1" dirty="0">
                <a:sym typeface="Symbol"/>
              </a:rPr>
              <a:t>do</a:t>
            </a:r>
            <a:r>
              <a:rPr lang="en-US" sz="1200" dirty="0">
                <a:sym typeface="Symbol"/>
              </a:rPr>
              <a:t>   S    {* Q *}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AFD482-B0B4-6EA6-3059-31A3D6100615}"/>
              </a:ext>
            </a:extLst>
          </p:cNvPr>
          <p:cNvSpPr/>
          <p:nvPr/>
        </p:nvSpPr>
        <p:spPr>
          <a:xfrm>
            <a:off x="6473620" y="5181600"/>
            <a:ext cx="2556080" cy="12181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A8B7D2-AB68-8C22-EA78-28A86E24C25E}"/>
              </a:ext>
            </a:extLst>
          </p:cNvPr>
          <p:cNvSpPr txBox="1">
            <a:spLocks/>
          </p:cNvSpPr>
          <p:nvPr/>
        </p:nvSpPr>
        <p:spPr bwMode="auto">
          <a:xfrm>
            <a:off x="304800" y="2975064"/>
            <a:ext cx="868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Need an I such that</a:t>
            </a:r>
          </a:p>
          <a:p>
            <a:pPr lvl="1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=0 /\ s=0 /\ n=10 </a:t>
            </a:r>
            <a:r>
              <a:rPr lang="en-US" kern="0" dirty="0"/>
              <a:t>⟹ I</a:t>
            </a:r>
          </a:p>
          <a:p>
            <a:pPr lvl="1"/>
            <a:r>
              <a:rPr lang="en-US" kern="0" dirty="0"/>
              <a:t>{* </a:t>
            </a:r>
            <a:r>
              <a:rPr lang="en-US" dirty="0" err="1"/>
              <a:t>i</a:t>
            </a:r>
            <a:r>
              <a:rPr lang="en-US" dirty="0">
                <a:sym typeface="Symbol" pitchFamily="16" charset="2"/>
              </a:rPr>
              <a:t>&lt;</a:t>
            </a:r>
            <a:r>
              <a:rPr lang="en-US" dirty="0"/>
              <a:t>n ∧ </a:t>
            </a:r>
            <a:r>
              <a:rPr lang="en-US" kern="0" dirty="0"/>
              <a:t>I *} </a:t>
            </a:r>
            <a:r>
              <a:rPr lang="en-US" dirty="0"/>
              <a:t>s = s+2 ; </a:t>
            </a:r>
            <a:r>
              <a:rPr lang="en-US" dirty="0" err="1"/>
              <a:t>i</a:t>
            </a:r>
            <a:r>
              <a:rPr lang="en-US" dirty="0"/>
              <a:t>++ {* I *}</a:t>
            </a:r>
          </a:p>
          <a:p>
            <a:pPr lvl="1"/>
            <a:r>
              <a:rPr lang="en-US" kern="0" dirty="0"/>
              <a:t>I </a:t>
            </a:r>
            <a:r>
              <a:rPr lang="en-US" dirty="0"/>
              <a:t>∧ </a:t>
            </a:r>
            <a:r>
              <a:rPr lang="en-US" dirty="0" err="1"/>
              <a:t>i</a:t>
            </a:r>
            <a:r>
              <a:rPr lang="en-US" dirty="0"/>
              <a:t> ≥ n ⟹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s=20 </a:t>
            </a:r>
            <a:endParaRPr lang="en-US" kern="0" dirty="0"/>
          </a:p>
          <a:p>
            <a:pPr>
              <a:buFont typeface="Wingdings" charset="2"/>
              <a:buNone/>
            </a:pPr>
            <a:endParaRPr 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F02201-8398-80F9-9CAD-EC5FD94CF2BA}"/>
              </a:ext>
            </a:extLst>
          </p:cNvPr>
          <p:cNvSpPr txBox="1">
            <a:spLocks/>
          </p:cNvSpPr>
          <p:nvPr/>
        </p:nvSpPr>
        <p:spPr bwMode="auto">
          <a:xfrm>
            <a:off x="304800" y="4793861"/>
            <a:ext cx="8686800" cy="634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 := </a:t>
            </a:r>
            <a:r>
              <a:rPr lang="en-US" kern="0" dirty="0" err="1"/>
              <a:t>i</a:t>
            </a:r>
            <a:r>
              <a:rPr lang="en-US" kern="0" dirty="0"/>
              <a:t> ≤ n ∧ s = 2i ∧ n = 10 works!</a:t>
            </a:r>
          </a:p>
        </p:txBody>
      </p:sp>
    </p:spTree>
    <p:extLst>
      <p:ext uri="{BB962C8B-B14F-4D97-AF65-F5344CB8AC3E}">
        <p14:creationId xmlns:p14="http://schemas.microsoft.com/office/powerpoint/2010/main" val="400887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termination</a:t>
            </a:r>
            <a:endParaRPr lang="nl-NL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consider: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{* P *}   </a:t>
            </a:r>
            <a:r>
              <a:rPr lang="en-US" u="sng" dirty="0"/>
              <a:t>while</a:t>
            </a:r>
            <a:r>
              <a:rPr lang="en-US" dirty="0"/>
              <a:t>  g  </a:t>
            </a:r>
            <a:r>
              <a:rPr lang="en-US" u="sng" dirty="0"/>
              <a:t>do</a:t>
            </a:r>
            <a:r>
              <a:rPr lang="en-US" dirty="0"/>
              <a:t>  S   {*  Q *}</a:t>
            </a:r>
          </a:p>
          <a:p>
            <a:endParaRPr lang="en-US" dirty="0"/>
          </a:p>
          <a:p>
            <a:r>
              <a:rPr lang="en-US" dirty="0"/>
              <a:t>Idea: get an integer expression m, called “</a:t>
            </a:r>
            <a:r>
              <a:rPr lang="en-US" b="1" dirty="0">
                <a:solidFill>
                  <a:srgbClr val="0070C0"/>
                </a:solidFill>
              </a:rPr>
              <a:t>termination metric</a:t>
            </a:r>
            <a:r>
              <a:rPr lang="en-US" dirty="0"/>
              <a:t>”, satisfying :</a:t>
            </a:r>
          </a:p>
          <a:p>
            <a:pPr marL="784225" lvl="1" indent="-457200">
              <a:buFont typeface="Garamond" pitchFamily="16" charset="0"/>
              <a:buAutoNum type="arabicPeriod"/>
            </a:pPr>
            <a:r>
              <a:rPr lang="en-US" dirty="0"/>
              <a:t>At the start of every iteration m </a:t>
            </a:r>
            <a:r>
              <a:rPr lang="en-US" dirty="0">
                <a:sym typeface="Symbol" pitchFamily="16" charset="2"/>
              </a:rPr>
              <a:t>&gt; 0</a:t>
            </a:r>
          </a:p>
          <a:p>
            <a:pPr marL="784225" lvl="1" indent="-457200">
              <a:buFont typeface="Garamond" pitchFamily="16" charset="0"/>
              <a:buAutoNum type="arabicPeriod"/>
            </a:pPr>
            <a:r>
              <a:rPr lang="en-US" dirty="0">
                <a:sym typeface="Symbol" pitchFamily="16" charset="2"/>
              </a:rPr>
              <a:t>Each iteration decreases m</a:t>
            </a: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Since m has a lower bound (condition 1), it follows that the loop cannot iterate forever. In other words, it will terminate.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74C1C2-13AB-46DE-A6D1-C46A60AE9404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Capturing the termination conditions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At the start of every iteration m </a:t>
            </a:r>
            <a:r>
              <a:rPr lang="en-US" dirty="0">
                <a:sym typeface="Symbol"/>
              </a:rPr>
              <a:t>&gt; 0 :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>
                <a:sym typeface="Symbol"/>
              </a:rPr>
              <a:t>I /\  g    </a:t>
            </a:r>
            <a:r>
              <a:rPr lang="en-US" dirty="0"/>
              <a:t>m </a:t>
            </a:r>
            <a:r>
              <a:rPr lang="en-US" dirty="0">
                <a:sym typeface="Symbol"/>
              </a:rPr>
              <a:t>&gt; 0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Each iteration decreases m :</a:t>
            </a:r>
            <a:br>
              <a:rPr lang="en-US" dirty="0">
                <a:sym typeface="Symbol"/>
              </a:rPr>
            </a:b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I /\ g *}    C:=m; S   {* m&lt;C *}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sym typeface="Symbol"/>
            </a:endParaRPr>
          </a:p>
          <a:p>
            <a:pPr>
              <a:buFont typeface="Wingdings" pitchFamily="2" charset="2"/>
              <a:buChar char="n"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6032A2-1F58-4431-A527-7FA42F9FA706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2C25FA8-5527-B24D-9C80-8B6149C4FAC9}"/>
              </a:ext>
            </a:extLst>
          </p:cNvPr>
          <p:cNvSpPr/>
          <p:nvPr/>
        </p:nvSpPr>
        <p:spPr>
          <a:xfrm>
            <a:off x="762000" y="2286000"/>
            <a:ext cx="5181600" cy="289560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Summarize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76800"/>
          </a:xfrm>
        </p:spPr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/>
              <a:t>Rule B.1.8: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           P </a:t>
            </a:r>
            <a:r>
              <a:rPr lang="en-US" dirty="0">
                <a:sym typeface="Symbol"/>
              </a:rPr>
              <a:t> I		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setting up I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{* g  /\  I *}    S    {*  I  *}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I  /\ g    Q 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b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olidFill>
                  <a:srgbClr val="0070C0"/>
                </a:solidFill>
                <a:sym typeface="Symbol"/>
              </a:rPr>
              <a:t>{* I /\ g *}    </a:t>
            </a:r>
            <a:r>
              <a:rPr lang="en-US" dirty="0">
                <a:solidFill>
                  <a:srgbClr val="990033"/>
                </a:solidFill>
                <a:sym typeface="Symbol"/>
              </a:rPr>
              <a:t>C:=m</a:t>
            </a:r>
            <a:r>
              <a:rPr lang="en-US" dirty="0">
                <a:solidFill>
                  <a:srgbClr val="0070C0"/>
                </a:solidFill>
                <a:sym typeface="Symbol"/>
              </a:rPr>
              <a:t>; S   {* m&lt;C *} </a:t>
            </a:r>
            <a:r>
              <a:rPr lang="en-US" dirty="0">
                <a:sym typeface="Symbol"/>
              </a:rPr>
              <a:t>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m decreasing 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olidFill>
                  <a:srgbClr val="0070C0"/>
                </a:solidFill>
                <a:sym typeface="Symbol"/>
              </a:rPr>
              <a:t>I /\ g   </a:t>
            </a:r>
            <a:r>
              <a:rPr lang="en-US" dirty="0">
                <a:solidFill>
                  <a:srgbClr val="0070C0"/>
                </a:solidFill>
              </a:rPr>
              <a:t>m </a:t>
            </a:r>
            <a:r>
              <a:rPr lang="en-US" dirty="0">
                <a:solidFill>
                  <a:srgbClr val="0070C0"/>
                </a:solidFill>
                <a:sym typeface="Symbol"/>
              </a:rPr>
              <a:t>&gt; 0  </a:t>
            </a:r>
            <a:r>
              <a:rPr lang="en-US" dirty="0">
                <a:sym typeface="Symbol"/>
              </a:rPr>
              <a:t>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 m bounded below</a:t>
            </a:r>
            <a:r>
              <a:rPr lang="en-US" dirty="0">
                <a:sym typeface="Symbol"/>
              </a:rPr>
              <a:t>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P *}   </a:t>
            </a:r>
            <a:r>
              <a:rPr lang="en-US" b="1" dirty="0">
                <a:sym typeface="Symbol"/>
              </a:rPr>
              <a:t>while</a:t>
            </a:r>
            <a:r>
              <a:rPr lang="en-US" dirty="0">
                <a:sym typeface="Symbol"/>
              </a:rPr>
              <a:t>  g  </a:t>
            </a:r>
            <a:r>
              <a:rPr lang="en-US" b="1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{* Q *}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834550-1A36-49AE-BFF3-3BAB449FF20C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5EBE86-C8D3-9243-AD29-2E0DC0A2D0A7}"/>
              </a:ext>
            </a:extLst>
          </p:cNvPr>
          <p:cNvSpPr/>
          <p:nvPr/>
        </p:nvSpPr>
        <p:spPr>
          <a:xfrm>
            <a:off x="762000" y="2057400"/>
            <a:ext cx="5105400" cy="2895600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Alternatively it can be formulated as follows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953000"/>
          </a:xfrm>
        </p:spPr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>
                <a:sym typeface="Symbol"/>
              </a:rPr>
              <a:t>Rule B.1.7</a:t>
            </a:r>
          </a:p>
          <a:p>
            <a:pPr marL="0" indent="0">
              <a:buNone/>
              <a:defRPr/>
            </a:pP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ym typeface="Symbol"/>
              </a:rPr>
              <a:t>	{* g  /\  I *}    S    {*  I  *}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invariance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I  /\ g    Q 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exit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sym typeface="Symbol"/>
              </a:rPr>
              <a:t>cond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ym typeface="Symbol"/>
              </a:rPr>
              <a:t> {* I /\ g *}    C:=m; S   {* m&lt;C *} 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m decreasing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sym typeface="Symbol"/>
              </a:rPr>
              <a:t>	</a:t>
            </a:r>
            <a:r>
              <a:rPr lang="en-US" dirty="0">
                <a:sym typeface="Symbol"/>
              </a:rPr>
              <a:t>I /\ g   </a:t>
            </a:r>
            <a:r>
              <a:rPr lang="en-US" dirty="0"/>
              <a:t>m </a:t>
            </a:r>
            <a:r>
              <a:rPr lang="en-US" dirty="0">
                <a:sym typeface="Symbol"/>
              </a:rPr>
              <a:t>&gt; 0  				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sym typeface="Symbol"/>
              </a:rPr>
              <a:t>//  m bounded below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----------------------------------------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	{* I *}   </a:t>
            </a:r>
            <a:r>
              <a:rPr lang="en-US" u="sng" dirty="0">
                <a:sym typeface="Symbol"/>
              </a:rPr>
              <a:t>while</a:t>
            </a:r>
            <a:r>
              <a:rPr lang="en-US" dirty="0">
                <a:sym typeface="Symbol"/>
              </a:rPr>
              <a:t>  g  </a:t>
            </a:r>
            <a:r>
              <a:rPr lang="en-US" u="sng" dirty="0">
                <a:sym typeface="Symbol"/>
              </a:rPr>
              <a:t>do</a:t>
            </a:r>
            <a:r>
              <a:rPr lang="en-US" dirty="0">
                <a:sym typeface="Symbol"/>
              </a:rPr>
              <a:t>   S    {* Q *}</a:t>
            </a:r>
          </a:p>
          <a:p>
            <a:pPr marL="0" indent="0">
              <a:buNone/>
              <a:defRPr/>
            </a:pPr>
            <a:endParaRPr lang="en-US" dirty="0">
              <a:sym typeface="Symbol"/>
            </a:endParaRPr>
          </a:p>
          <a:p>
            <a:pPr>
              <a:defRPr/>
            </a:pPr>
            <a:r>
              <a:rPr lang="en-US" dirty="0">
                <a:sym typeface="Symbol"/>
              </a:rPr>
              <a:t>This is a special instance of B.1.8. On the other hand, together with the pre-condition strengthening rule it also implies B.1.7.</a:t>
            </a:r>
          </a:p>
          <a:p>
            <a:pPr marL="0" indent="0">
              <a:buNone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A4E6F-3F42-4A97-9EFD-00E16A077F0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263D-AE56-A6C3-C0F1-72F920BD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FD68DF-4119-CCCF-D2D7-7C30F7FEA73F}"/>
              </a:ext>
            </a:extLst>
          </p:cNvPr>
          <p:cNvSpPr/>
          <p:nvPr/>
        </p:nvSpPr>
        <p:spPr>
          <a:xfrm>
            <a:off x="952500" y="1905000"/>
            <a:ext cx="7239000" cy="869795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1D6BF-E9F1-6207-140E-4E946789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DBE8-6688-A9E5-53FF-0CA9501C1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4953000"/>
          </a:xfrm>
        </p:spPr>
        <p:txBody>
          <a:bodyPr/>
          <a:lstStyle/>
          <a:p>
            <a:r>
              <a:rPr lang="en-US" dirty="0"/>
              <a:t>Prove that the following program terminates: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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 </a:t>
            </a:r>
            <a:r>
              <a:rPr lang="en-US" b="1" dirty="0"/>
              <a:t>do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true *}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82F7-EEE5-329C-0509-B42729A44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C85F09-D02F-1A08-C04F-8FAA20A4D47F}"/>
              </a:ext>
            </a:extLst>
          </p:cNvPr>
          <p:cNvSpPr/>
          <p:nvPr/>
        </p:nvSpPr>
        <p:spPr>
          <a:xfrm>
            <a:off x="6781800" y="5105400"/>
            <a:ext cx="2247900" cy="12943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 I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g  /\  I *}    S    {*  I 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 /\ g    Q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I /\ g *}    C:=m; S   {* m&lt;C *}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/\ g   </a:t>
            </a:r>
            <a:r>
              <a:rPr lang="en-US" sz="1000" dirty="0">
                <a:solidFill>
                  <a:schemeClr val="tx1"/>
                </a:solidFill>
              </a:rPr>
              <a:t>m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&gt; 0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----------------------------------------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P *} 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while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g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do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 S    {* Q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2412D2-A592-50D7-A8F5-40B5806A83B3}"/>
              </a:ext>
            </a:extLst>
          </p:cNvPr>
          <p:cNvSpPr txBox="1">
            <a:spLocks/>
          </p:cNvSpPr>
          <p:nvPr/>
        </p:nvSpPr>
        <p:spPr bwMode="auto">
          <a:xfrm>
            <a:off x="304800" y="2846599"/>
            <a:ext cx="8686800" cy="258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Need an I and m such that</a:t>
            </a:r>
          </a:p>
          <a:p>
            <a:pPr lvl="1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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kern="0" dirty="0"/>
              <a:t>⟹ I</a:t>
            </a:r>
          </a:p>
          <a:p>
            <a:pPr lvl="1"/>
            <a:r>
              <a:rPr lang="en-US" kern="0" dirty="0"/>
              <a:t>{*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∧ </a:t>
            </a:r>
            <a:r>
              <a:rPr lang="en-US" kern="0" dirty="0"/>
              <a:t>I *} </a:t>
            </a:r>
            <a:r>
              <a:rPr lang="en-US" dirty="0" err="1"/>
              <a:t>i</a:t>
            </a:r>
            <a:r>
              <a:rPr lang="en-US" dirty="0"/>
              <a:t>++ {* I *}</a:t>
            </a:r>
          </a:p>
          <a:p>
            <a:pPr lvl="1"/>
            <a:r>
              <a:rPr lang="en-US" kern="0" dirty="0"/>
              <a:t>I </a:t>
            </a:r>
            <a:r>
              <a:rPr lang="en-US" dirty="0"/>
              <a:t>∧ </a:t>
            </a:r>
            <a:r>
              <a:rPr lang="en-US" dirty="0" err="1"/>
              <a:t>i</a:t>
            </a:r>
            <a:r>
              <a:rPr lang="en-US" dirty="0"/>
              <a:t>=n ⟹ true</a:t>
            </a:r>
          </a:p>
          <a:p>
            <a:pPr lvl="1"/>
            <a:r>
              <a:rPr lang="en-US" kern="0" dirty="0"/>
              <a:t>{* I </a:t>
            </a:r>
            <a:r>
              <a:rPr lang="en-US" dirty="0"/>
              <a:t>∧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*} C:=m ; </a:t>
            </a:r>
            <a:r>
              <a:rPr lang="en-US" dirty="0" err="1"/>
              <a:t>i</a:t>
            </a:r>
            <a:r>
              <a:rPr lang="en-US" dirty="0"/>
              <a:t>++ {* m &lt; C *}</a:t>
            </a:r>
          </a:p>
          <a:p>
            <a:pPr lvl="1"/>
            <a:r>
              <a:rPr lang="en-US" dirty="0"/>
              <a:t> </a:t>
            </a:r>
            <a:r>
              <a:rPr lang="en-US" kern="0" dirty="0"/>
              <a:t>I </a:t>
            </a:r>
            <a:r>
              <a:rPr lang="en-US" dirty="0"/>
              <a:t>∧ </a:t>
            </a:r>
            <a:r>
              <a:rPr lang="en-US" dirty="0" err="1"/>
              <a:t>i</a:t>
            </a:r>
            <a:r>
              <a:rPr lang="en-US" dirty="0" err="1">
                <a:sym typeface="Symbol" pitchFamily="16" charset="2"/>
              </a:rPr>
              <a:t></a:t>
            </a:r>
            <a:r>
              <a:rPr lang="en-US" dirty="0" err="1"/>
              <a:t>n</a:t>
            </a:r>
            <a:r>
              <a:rPr lang="en-US" dirty="0"/>
              <a:t> ⟹ m &gt; 0 </a:t>
            </a:r>
            <a:endParaRPr 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18F862-F0CB-E589-3810-C6F4CEDAFB26}"/>
              </a:ext>
            </a:extLst>
          </p:cNvPr>
          <p:cNvSpPr txBox="1">
            <a:spLocks/>
          </p:cNvSpPr>
          <p:nvPr/>
        </p:nvSpPr>
        <p:spPr bwMode="auto">
          <a:xfrm>
            <a:off x="266218" y="5505939"/>
            <a:ext cx="8686800" cy="258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solidFill>
                  <a:schemeClr val="accent6">
                    <a:lumMod val="75000"/>
                  </a:schemeClr>
                </a:solidFill>
              </a:rPr>
              <a:t>I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Symbol"/>
              </a:rPr>
              <a:t>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</a:t>
            </a:r>
            <a:r>
              <a:rPr lang="en-US" kern="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kern="0" dirty="0"/>
              <a:t>works!</a:t>
            </a:r>
          </a:p>
          <a:p>
            <a:r>
              <a:rPr lang="en-US" kern="0" dirty="0"/>
              <a:t>m = n – </a:t>
            </a:r>
            <a:r>
              <a:rPr lang="en-US" kern="0" dirty="0" err="1"/>
              <a:t>i</a:t>
            </a:r>
            <a:r>
              <a:rPr lang="en-US" kern="0" dirty="0"/>
              <a:t> works!</a:t>
            </a:r>
          </a:p>
        </p:txBody>
      </p:sp>
    </p:spTree>
    <p:extLst>
      <p:ext uri="{BB962C8B-B14F-4D97-AF65-F5344CB8AC3E}">
        <p14:creationId xmlns:p14="http://schemas.microsoft.com/office/powerpoint/2010/main" val="1253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608B7-DC20-81A0-7100-0FE4E2D5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9099BC-7FF5-36DB-D271-AF58EDB82774}"/>
              </a:ext>
            </a:extLst>
          </p:cNvPr>
          <p:cNvSpPr/>
          <p:nvPr/>
        </p:nvSpPr>
        <p:spPr>
          <a:xfrm>
            <a:off x="990600" y="1805652"/>
            <a:ext cx="4953000" cy="2244624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D16E9-8C8B-E2BF-B8DA-3877A469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A1E14-47BC-98E3-F034-D35E62153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4953000"/>
          </a:xfrm>
        </p:spPr>
        <p:txBody>
          <a:bodyPr/>
          <a:lstStyle/>
          <a:p>
            <a:r>
              <a:rPr lang="en-US" sz="1800" dirty="0"/>
              <a:t>Prove that the following program terminates: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   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{*  candy=100 /\ apple=100 }</a:t>
            </a:r>
            <a:br>
              <a:rPr lang="en-US" sz="1800" b="1" dirty="0"/>
            </a:br>
            <a:r>
              <a:rPr lang="en-US" sz="1800" b="1" dirty="0"/>
              <a:t>                 while</a:t>
            </a:r>
            <a:r>
              <a:rPr lang="en-US" sz="1800" dirty="0"/>
              <a:t> candy</a:t>
            </a:r>
            <a:r>
              <a:rPr lang="en-US" sz="1800" dirty="0">
                <a:sym typeface="Symbol"/>
              </a:rPr>
              <a:t>&gt;0 \/ apple&gt;0  </a:t>
            </a:r>
            <a:r>
              <a:rPr lang="en-US" sz="1800" b="1" dirty="0">
                <a:sym typeface="Symbol"/>
              </a:rPr>
              <a:t>do</a:t>
            </a:r>
          </a:p>
          <a:p>
            <a:pPr marL="0" indent="0">
              <a:buNone/>
            </a:pPr>
            <a:r>
              <a:rPr lang="en-US" sz="1800" b="1" dirty="0">
                <a:sym typeface="Symbol"/>
              </a:rPr>
              <a:t>	      </a:t>
            </a:r>
            <a:r>
              <a:rPr lang="en-US" sz="1800" dirty="0">
                <a:sym typeface="Symbol"/>
              </a:rPr>
              <a:t>{</a:t>
            </a:r>
            <a:br>
              <a:rPr lang="en-US" sz="1800" dirty="0">
                <a:sym typeface="Symbol"/>
              </a:rPr>
            </a:br>
            <a:r>
              <a:rPr lang="en-US" sz="1800" dirty="0">
                <a:sym typeface="Symbol"/>
              </a:rPr>
              <a:t>                      </a:t>
            </a:r>
            <a:r>
              <a:rPr lang="en-US" sz="1800" b="1" dirty="0">
                <a:sym typeface="Symbol"/>
              </a:rPr>
              <a:t>if</a:t>
            </a:r>
            <a:r>
              <a:rPr lang="en-US" sz="1800" dirty="0">
                <a:sym typeface="Symbol"/>
              </a:rPr>
              <a:t> candy&gt;0 </a:t>
            </a:r>
            <a:r>
              <a:rPr lang="en-US" sz="1800" b="1" dirty="0">
                <a:sym typeface="Symbol"/>
              </a:rPr>
              <a:t>then</a:t>
            </a:r>
            <a:r>
              <a:rPr lang="en-US" sz="1800" dirty="0">
                <a:sym typeface="Symbol"/>
              </a:rPr>
              <a:t> { candy--  ; apple += 2 }</a:t>
            </a:r>
            <a:br>
              <a:rPr lang="en-US" sz="1800" dirty="0">
                <a:sym typeface="Symbol"/>
              </a:rPr>
            </a:br>
            <a:r>
              <a:rPr lang="en-US" sz="1800" dirty="0">
                <a:sym typeface="Symbol"/>
              </a:rPr>
              <a:t>                      </a:t>
            </a:r>
            <a:r>
              <a:rPr lang="en-US" sz="1800" b="1" dirty="0">
                <a:sym typeface="Symbol"/>
              </a:rPr>
              <a:t>else</a:t>
            </a:r>
            <a:r>
              <a:rPr lang="en-US" sz="1800" dirty="0">
                <a:sym typeface="Symbol"/>
              </a:rPr>
              <a:t>  { apple-- }</a:t>
            </a:r>
            <a:br>
              <a:rPr lang="en-US" sz="1800" dirty="0">
                <a:sym typeface="Symbol"/>
              </a:rPr>
            </a:br>
            <a:r>
              <a:rPr lang="en-US" sz="1800" dirty="0">
                <a:sym typeface="Symbol"/>
              </a:rPr>
              <a:t>                 }</a:t>
            </a:r>
            <a:br>
              <a:rPr lang="en-US" sz="1800" dirty="0">
                <a:sym typeface="Symbol"/>
              </a:rPr>
            </a:br>
            <a:r>
              <a:rPr lang="en-US" sz="1800" dirty="0">
                <a:sym typeface="Symbol"/>
              </a:rPr>
              <a:t>                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{* true *}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BF589-DB55-1A5B-1620-E8F35DEF8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A14A7C-48A4-59F8-6575-0253B33802F4}"/>
              </a:ext>
            </a:extLst>
          </p:cNvPr>
          <p:cNvSpPr/>
          <p:nvPr/>
        </p:nvSpPr>
        <p:spPr>
          <a:xfrm>
            <a:off x="6724650" y="2158750"/>
            <a:ext cx="2247900" cy="12943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 I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g  /\  I *}    S    {*  I 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 /\ g    Q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I /\ g *}    C:=m; S   {* m&lt;C *}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/\ g   </a:t>
            </a:r>
            <a:r>
              <a:rPr lang="en-US" sz="1000" dirty="0">
                <a:solidFill>
                  <a:schemeClr val="tx1"/>
                </a:solidFill>
              </a:rPr>
              <a:t>m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&gt; 0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----------------------------------------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P *} 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while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g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do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 S    {* Q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BDD748-9BA6-8EEE-BFBC-013A835EDE12}"/>
              </a:ext>
            </a:extLst>
          </p:cNvPr>
          <p:cNvSpPr txBox="1">
            <a:spLocks/>
          </p:cNvSpPr>
          <p:nvPr/>
        </p:nvSpPr>
        <p:spPr bwMode="auto">
          <a:xfrm>
            <a:off x="285750" y="4213801"/>
            <a:ext cx="8686800" cy="2244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kern="0" dirty="0"/>
              <a:t>Need an I and m such that</a:t>
            </a:r>
          </a:p>
          <a:p>
            <a:pPr lvl="1"/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candy=100 /\ apple=100 </a:t>
            </a:r>
            <a:r>
              <a:rPr lang="en-US" sz="1800" kern="0" dirty="0"/>
              <a:t>⟹ I</a:t>
            </a:r>
          </a:p>
          <a:p>
            <a:pPr lvl="1"/>
            <a:r>
              <a:rPr lang="en-US" sz="1800" kern="0" dirty="0"/>
              <a:t>{* </a:t>
            </a:r>
            <a:r>
              <a:rPr lang="en-US" sz="1800" dirty="0"/>
              <a:t>candy</a:t>
            </a:r>
            <a:r>
              <a:rPr lang="en-US" sz="1800" dirty="0">
                <a:sym typeface="Symbol"/>
              </a:rPr>
              <a:t>&gt;0 \/ apple&gt;0 </a:t>
            </a:r>
            <a:r>
              <a:rPr lang="en-US" sz="1800" dirty="0"/>
              <a:t>∧ </a:t>
            </a:r>
            <a:r>
              <a:rPr lang="en-US" sz="1800" kern="0" dirty="0"/>
              <a:t>I *} </a:t>
            </a:r>
            <a:r>
              <a:rPr lang="en-US" sz="1800" dirty="0"/>
              <a:t>S {* I *}</a:t>
            </a:r>
          </a:p>
          <a:p>
            <a:pPr lvl="1"/>
            <a:r>
              <a:rPr lang="en-US" sz="1800" kern="0" dirty="0"/>
              <a:t>I </a:t>
            </a:r>
            <a:r>
              <a:rPr lang="en-US" sz="1800" dirty="0"/>
              <a:t>∧ candy</a:t>
            </a:r>
            <a:r>
              <a:rPr lang="en-US" sz="1800" dirty="0">
                <a:sym typeface="Symbol"/>
              </a:rPr>
              <a:t> ≤ 0 </a:t>
            </a:r>
            <a:r>
              <a:rPr lang="en-US" sz="1800" dirty="0"/>
              <a:t>∧</a:t>
            </a:r>
            <a:r>
              <a:rPr lang="en-US" sz="1800" dirty="0">
                <a:sym typeface="Symbol"/>
              </a:rPr>
              <a:t> apple ≤ 0 </a:t>
            </a:r>
            <a:r>
              <a:rPr lang="en-US" sz="1800" dirty="0"/>
              <a:t>⟹ true</a:t>
            </a:r>
          </a:p>
          <a:p>
            <a:pPr lvl="1"/>
            <a:r>
              <a:rPr lang="en-US" sz="1800" kern="0" dirty="0"/>
              <a:t>{* I </a:t>
            </a:r>
            <a:r>
              <a:rPr lang="en-US" sz="1800" dirty="0"/>
              <a:t>∧ candy</a:t>
            </a:r>
            <a:r>
              <a:rPr lang="en-US" sz="1800" dirty="0">
                <a:sym typeface="Symbol"/>
              </a:rPr>
              <a:t>&gt;0 \/ apple&gt;0</a:t>
            </a:r>
            <a:r>
              <a:rPr lang="en-US" sz="1800" dirty="0"/>
              <a:t> *} C:=m ; S {* m &lt; C *}</a:t>
            </a:r>
          </a:p>
          <a:p>
            <a:pPr lvl="1"/>
            <a:r>
              <a:rPr lang="en-US" sz="1800" dirty="0"/>
              <a:t> </a:t>
            </a:r>
            <a:r>
              <a:rPr lang="en-US" sz="1800" kern="0" dirty="0"/>
              <a:t>I </a:t>
            </a:r>
            <a:r>
              <a:rPr lang="en-US" sz="1800" dirty="0"/>
              <a:t>∧ candy</a:t>
            </a:r>
            <a:r>
              <a:rPr lang="en-US" sz="1800" dirty="0">
                <a:sym typeface="Symbol"/>
              </a:rPr>
              <a:t>&gt;0 \/ apple&gt;0</a:t>
            </a:r>
            <a:r>
              <a:rPr lang="en-US" sz="1800" dirty="0"/>
              <a:t> ⟹ m &gt; 0 </a:t>
            </a:r>
            <a:endParaRPr lang="en-US" sz="1800" kern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171CF2-FFA1-2C2C-B100-34A05693D233}"/>
              </a:ext>
            </a:extLst>
          </p:cNvPr>
          <p:cNvSpPr txBox="1">
            <a:spLocks/>
          </p:cNvSpPr>
          <p:nvPr/>
        </p:nvSpPr>
        <p:spPr bwMode="auto">
          <a:xfrm>
            <a:off x="6172200" y="4213801"/>
            <a:ext cx="8686800" cy="258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4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kern="0" dirty="0"/>
              <a:t>I = candy + apple ≥ 0</a:t>
            </a:r>
          </a:p>
          <a:p>
            <a:r>
              <a:rPr lang="en-US" sz="1800" kern="0" dirty="0"/>
              <a:t>m = 3 candy + apple</a:t>
            </a:r>
          </a:p>
        </p:txBody>
      </p:sp>
    </p:spTree>
    <p:extLst>
      <p:ext uri="{BB962C8B-B14F-4D97-AF65-F5344CB8AC3E}">
        <p14:creationId xmlns:p14="http://schemas.microsoft.com/office/powerpoint/2010/main" val="358618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bigger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now consider a less trivial example. The following program claims to check if the array segment a[0..n) consists of only 0’s. Prove it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{* 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dirty="0"/>
            </a:br>
            <a:r>
              <a:rPr lang="en-US" dirty="0"/>
              <a:t>                 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	  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 r := r /\ (a[</a:t>
            </a:r>
            <a:r>
              <a:rPr lang="en-US" dirty="0" err="1"/>
              <a:t>i</a:t>
            </a:r>
            <a:r>
              <a:rPr lang="en-US" dirty="0"/>
              <a:t>]=0)   ;   </a:t>
            </a:r>
            <a:r>
              <a:rPr lang="en-US" dirty="0" err="1"/>
              <a:t>i</a:t>
            </a:r>
            <a:r>
              <a:rPr lang="en-US" dirty="0"/>
              <a:t>++ }</a:t>
            </a:r>
            <a:br>
              <a:rPr lang="en-US" dirty="0"/>
            </a:br>
            <a:r>
              <a:rPr lang="en-US" dirty="0"/>
              <a:t>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0k&lt;n : a[k]=0)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You will need to propose an invariant and a termination metric.</a:t>
            </a:r>
          </a:p>
          <a:p>
            <a:r>
              <a:rPr lang="en-US" dirty="0"/>
              <a:t>This time, the proof will be quite involved. The rule to handle loops also generates multiple conditions. </a:t>
            </a:r>
          </a:p>
          <a:p>
            <a:endParaRPr lang="en-US" dirty="0"/>
          </a:p>
          <a:p>
            <a:pPr>
              <a:buNone/>
            </a:pPr>
            <a:r>
              <a:rPr lang="en-US" dirty="0">
                <a:sym typeface="Symbol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7EF219-2E70-4443-94A4-83A2DB4BA155}"/>
              </a:ext>
            </a:extLst>
          </p:cNvPr>
          <p:cNvSpPr/>
          <p:nvPr/>
        </p:nvSpPr>
        <p:spPr>
          <a:xfrm>
            <a:off x="1066800" y="2667000"/>
            <a:ext cx="6781800" cy="18288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08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BC0C00-87B3-0A48-87E1-E8DA1C4D2470}"/>
              </a:ext>
            </a:extLst>
          </p:cNvPr>
          <p:cNvSpPr/>
          <p:nvPr/>
        </p:nvSpPr>
        <p:spPr>
          <a:xfrm>
            <a:off x="1181100" y="1427356"/>
            <a:ext cx="6781800" cy="18288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and termination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   {* 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dirty="0"/>
            </a:br>
            <a:r>
              <a:rPr lang="en-US" dirty="0"/>
              <a:t>                   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 r := r /\ (a[</a:t>
            </a:r>
            <a:r>
              <a:rPr lang="en-US" dirty="0" err="1"/>
              <a:t>i</a:t>
            </a:r>
            <a:r>
              <a:rPr lang="en-US" dirty="0"/>
              <a:t>]=0)   ;   </a:t>
            </a:r>
            <a:r>
              <a:rPr lang="en-US" dirty="0" err="1"/>
              <a:t>i</a:t>
            </a:r>
            <a:r>
              <a:rPr lang="en-US" dirty="0"/>
              <a:t>++ }</a:t>
            </a:r>
            <a:br>
              <a:rPr lang="en-US" dirty="0"/>
            </a:br>
            <a:r>
              <a:rPr lang="en-US" dirty="0"/>
              <a:t>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: a[k]=0)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US" dirty="0"/>
          </a:p>
          <a:p>
            <a:r>
              <a:rPr lang="en-US" dirty="0"/>
              <a:t>Let’s go with this choice of invariant I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(r  = (</a:t>
            </a:r>
            <a:r>
              <a:rPr lang="en-US" dirty="0">
                <a:sym typeface="Symbol"/>
              </a:rPr>
              <a:t>k : 0k&lt;</a:t>
            </a:r>
            <a:r>
              <a:rPr lang="en-US" b="1" dirty="0" err="1">
                <a:solidFill>
                  <a:srgbClr val="990033"/>
                </a:solidFill>
                <a:sym typeface="Symbol"/>
              </a:rPr>
              <a:t>i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: a[k]=0))   /\   0in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</a:t>
            </a:r>
          </a:p>
          <a:p>
            <a:r>
              <a:rPr lang="en-US" dirty="0">
                <a:sym typeface="Symbol"/>
              </a:rPr>
              <a:t>m = n - </a:t>
            </a:r>
            <a:r>
              <a:rPr lang="en-US" dirty="0" err="1">
                <a:sym typeface="Symbol"/>
              </a:rPr>
              <a:t>i</a:t>
            </a:r>
            <a:endParaRPr lang="en-US" dirty="0">
              <a:sym typeface="Symbol"/>
            </a:endParaRPr>
          </a:p>
          <a:p>
            <a:pPr>
              <a:buNone/>
            </a:pPr>
            <a:r>
              <a:rPr lang="en-US" dirty="0">
                <a:sym typeface="Symbol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7374" y="469213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7595" y="469213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C69D2D-B3A9-2F45-980A-26D4BF40EC3C}"/>
              </a:ext>
            </a:extLst>
          </p:cNvPr>
          <p:cNvSpPr/>
          <p:nvPr/>
        </p:nvSpPr>
        <p:spPr>
          <a:xfrm>
            <a:off x="838200" y="4191000"/>
            <a:ext cx="3810000" cy="685800"/>
          </a:xfrm>
          <a:prstGeom prst="roundRect">
            <a:avLst>
              <a:gd name="adj" fmla="val 14436"/>
            </a:avLst>
          </a:prstGeom>
          <a:noFill/>
          <a:ln>
            <a:solidFill>
              <a:srgbClr val="9900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890C10-A68E-8C45-A9EC-7BA3899A621B}"/>
              </a:ext>
            </a:extLst>
          </p:cNvPr>
          <p:cNvSpPr/>
          <p:nvPr/>
        </p:nvSpPr>
        <p:spPr>
          <a:xfrm>
            <a:off x="5103541" y="4142678"/>
            <a:ext cx="992459" cy="685800"/>
          </a:xfrm>
          <a:prstGeom prst="roundRect">
            <a:avLst>
              <a:gd name="adj" fmla="val 14436"/>
            </a:avLst>
          </a:prstGeom>
          <a:noFill/>
          <a:ln>
            <a:solidFill>
              <a:srgbClr val="9900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8552CB-553D-AFE1-B354-C025994F34BB}"/>
              </a:ext>
            </a:extLst>
          </p:cNvPr>
          <p:cNvSpPr/>
          <p:nvPr/>
        </p:nvSpPr>
        <p:spPr>
          <a:xfrm>
            <a:off x="6724580" y="3564262"/>
            <a:ext cx="2247900" cy="12943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 I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g  /\  I *}    S    {*  I 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 /\ g    Q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I /\ g *}    C:=m; S   {* m&lt;C *}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/\ g   </a:t>
            </a:r>
            <a:r>
              <a:rPr lang="en-US" sz="1000" dirty="0">
                <a:solidFill>
                  <a:schemeClr val="tx1"/>
                </a:solidFill>
              </a:rPr>
              <a:t>m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&gt; 0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----------------------------------------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P *} 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while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g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do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 S    {* Q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DAF6-8ABB-1682-0375-598C7DB6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D010ED-9D1F-EA85-3877-D21A750262EA}"/>
              </a:ext>
            </a:extLst>
          </p:cNvPr>
          <p:cNvSpPr/>
          <p:nvPr/>
        </p:nvSpPr>
        <p:spPr>
          <a:xfrm>
            <a:off x="1181100" y="1427356"/>
            <a:ext cx="6781800" cy="18288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42F1E-7E45-3930-F548-EEECA9D6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and termination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D142-EA76-2647-C8C2-BBD3A63D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   {* 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dirty="0"/>
            </a:br>
            <a:r>
              <a:rPr lang="en-US" dirty="0"/>
              <a:t>                   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 r := r /\ (a[</a:t>
            </a:r>
            <a:r>
              <a:rPr lang="en-US" dirty="0" err="1"/>
              <a:t>i</a:t>
            </a:r>
            <a:r>
              <a:rPr lang="en-US" dirty="0"/>
              <a:t>]=0)   ;   </a:t>
            </a:r>
            <a:r>
              <a:rPr lang="en-US" dirty="0" err="1"/>
              <a:t>i</a:t>
            </a:r>
            <a:r>
              <a:rPr lang="en-US" dirty="0"/>
              <a:t>++ }</a:t>
            </a:r>
            <a:br>
              <a:rPr lang="en-US" dirty="0"/>
            </a:br>
            <a:r>
              <a:rPr lang="en-US" dirty="0"/>
              <a:t>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: a[k]=0)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US" dirty="0"/>
          </a:p>
          <a:p>
            <a:r>
              <a:rPr lang="en-US" dirty="0"/>
              <a:t>Let’s go with this choice of invariant I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(r  = (</a:t>
            </a:r>
            <a:r>
              <a:rPr lang="en-US" dirty="0">
                <a:sym typeface="Symbol"/>
              </a:rPr>
              <a:t>k : 0k&lt;</a:t>
            </a:r>
            <a:r>
              <a:rPr lang="en-US" b="1" dirty="0" err="1">
                <a:solidFill>
                  <a:srgbClr val="990033"/>
                </a:solidFill>
                <a:sym typeface="Symbol"/>
              </a:rPr>
              <a:t>i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: a[k]=0))   /\   0in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23122-F8B9-C526-AAEB-D5DF81440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D505A-4682-009E-D4AE-F3693A15ADF7}"/>
              </a:ext>
            </a:extLst>
          </p:cNvPr>
          <p:cNvSpPr txBox="1"/>
          <p:nvPr/>
        </p:nvSpPr>
        <p:spPr>
          <a:xfrm>
            <a:off x="447374" y="469213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4F935-BF74-9179-A647-A8EDDA58272E}"/>
              </a:ext>
            </a:extLst>
          </p:cNvPr>
          <p:cNvSpPr txBox="1"/>
          <p:nvPr/>
        </p:nvSpPr>
        <p:spPr>
          <a:xfrm>
            <a:off x="6127595" y="469213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A34D5A-928A-5F09-534F-9FB0C8C312CD}"/>
              </a:ext>
            </a:extLst>
          </p:cNvPr>
          <p:cNvSpPr/>
          <p:nvPr/>
        </p:nvSpPr>
        <p:spPr>
          <a:xfrm>
            <a:off x="838200" y="4191000"/>
            <a:ext cx="3810000" cy="685800"/>
          </a:xfrm>
          <a:prstGeom prst="roundRect">
            <a:avLst>
              <a:gd name="adj" fmla="val 14436"/>
            </a:avLst>
          </a:prstGeom>
          <a:noFill/>
          <a:ln>
            <a:solidFill>
              <a:srgbClr val="9900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8E4C6D-5EC7-0F2F-DDDE-41CDEFC57FE2}"/>
              </a:ext>
            </a:extLst>
          </p:cNvPr>
          <p:cNvSpPr/>
          <p:nvPr/>
        </p:nvSpPr>
        <p:spPr>
          <a:xfrm>
            <a:off x="5103541" y="4142678"/>
            <a:ext cx="992459" cy="685800"/>
          </a:xfrm>
          <a:prstGeom prst="roundRect">
            <a:avLst>
              <a:gd name="adj" fmla="val 14436"/>
            </a:avLst>
          </a:prstGeom>
          <a:noFill/>
          <a:ln>
            <a:solidFill>
              <a:srgbClr val="99003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7C0F46A-DAC9-686F-33C4-D6B1FBDBEAFF}"/>
              </a:ext>
            </a:extLst>
          </p:cNvPr>
          <p:cNvSpPr/>
          <p:nvPr/>
        </p:nvSpPr>
        <p:spPr>
          <a:xfrm>
            <a:off x="1619250" y="5024813"/>
            <a:ext cx="2247900" cy="12943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 I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g  /\  I *}    S    {*  I 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 /\ g    Q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I /\ g *}    C:=m; S   {* m&lt;C *}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/\ g   </a:t>
            </a:r>
            <a:r>
              <a:rPr lang="en-US" sz="1000" dirty="0">
                <a:solidFill>
                  <a:schemeClr val="tx1"/>
                </a:solidFill>
              </a:rPr>
              <a:t>m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&gt; 0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----------------------------------------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P *} 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while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g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do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 S    {* Q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0ACDA76-959B-5F6F-4DB8-6C4CBFE65E06}"/>
              </a:ext>
            </a:extLst>
          </p:cNvPr>
          <p:cNvCxnSpPr/>
          <p:nvPr/>
        </p:nvCxnSpPr>
        <p:spPr>
          <a:xfrm>
            <a:off x="4114800" y="5410200"/>
            <a:ext cx="1066800" cy="572018"/>
          </a:xfrm>
          <a:prstGeom prst="curvedConnector3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147E253-65D9-551F-5785-5AE67ADD90DD}"/>
              </a:ext>
            </a:extLst>
          </p:cNvPr>
          <p:cNvSpPr/>
          <p:nvPr/>
        </p:nvSpPr>
        <p:spPr>
          <a:xfrm>
            <a:off x="5544118" y="5020955"/>
            <a:ext cx="2247900" cy="1294364"/>
          </a:xfrm>
          <a:prstGeom prst="roundRect">
            <a:avLst>
              <a:gd name="adj" fmla="val 1986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{* P *} 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initialization {* I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g  /\  I *}    S    {*  I 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 /\ g    Q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I /\ g *}    C:=m; S   {* m&lt;C *} 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I /\ g   </a:t>
            </a:r>
            <a:r>
              <a:rPr lang="en-US" sz="1000" dirty="0">
                <a:solidFill>
                  <a:schemeClr val="tx1"/>
                </a:solidFill>
              </a:rPr>
              <a:t>m 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&gt; 0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----------------------------------------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r>
              <a:rPr lang="en-US" sz="1000" dirty="0">
                <a:solidFill>
                  <a:schemeClr val="tx1"/>
                </a:solidFill>
                <a:sym typeface="Symbol"/>
              </a:rPr>
              <a:t>{* P *} 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while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g  </a:t>
            </a:r>
            <a:r>
              <a:rPr lang="en-US" sz="1000" b="1" dirty="0">
                <a:solidFill>
                  <a:schemeClr val="tx1"/>
                </a:solidFill>
                <a:sym typeface="Symbol"/>
              </a:rPr>
              <a:t>do</a:t>
            </a:r>
            <a:r>
              <a:rPr lang="en-US" sz="1000" dirty="0">
                <a:solidFill>
                  <a:schemeClr val="tx1"/>
                </a:solidFill>
                <a:sym typeface="Symbol"/>
              </a:rPr>
              <a:t>   S    {* Q *}</a:t>
            </a:r>
            <a:br>
              <a:rPr lang="en-US" sz="1000" dirty="0">
                <a:solidFill>
                  <a:schemeClr val="tx1"/>
                </a:solidFill>
                <a:sym typeface="Symbol"/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7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  <p:bldP spid="6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105A-DAA9-FA6B-397D-999CAA47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B71D87-6C4A-6B0E-A09D-2A54B720E0A7}"/>
              </a:ext>
            </a:extLst>
          </p:cNvPr>
          <p:cNvSpPr/>
          <p:nvPr/>
        </p:nvSpPr>
        <p:spPr>
          <a:xfrm>
            <a:off x="1181100" y="1981200"/>
            <a:ext cx="6781800" cy="2382644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14F60-CE98-464D-E8DF-5AF5F82A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and termination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EB5F-3039-AE33-54EC-778BCAD4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 we actually want to prove: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   {* 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n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*}   </a:t>
            </a:r>
            <a:br>
              <a:rPr lang="en-US" dirty="0"/>
            </a:br>
            <a:r>
              <a:rPr lang="en-US" dirty="0"/>
              <a:t>                   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         </a:t>
            </a:r>
            <a:r>
              <a:rPr lang="en-US" dirty="0">
                <a:solidFill>
                  <a:srgbClr val="004824"/>
                </a:solidFill>
              </a:rPr>
              <a:t>{* (r  = (</a:t>
            </a:r>
            <a:r>
              <a:rPr lang="en-US" dirty="0">
                <a:solidFill>
                  <a:srgbClr val="004824"/>
                </a:solidFill>
                <a:sym typeface="Symbol"/>
              </a:rPr>
              <a:t>k : 0k&lt;</a:t>
            </a:r>
            <a:r>
              <a:rPr lang="en-US" b="1" dirty="0" err="1">
                <a:solidFill>
                  <a:srgbClr val="004824"/>
                </a:solidFill>
                <a:sym typeface="Symbol"/>
              </a:rPr>
              <a:t>i</a:t>
            </a:r>
            <a:r>
              <a:rPr lang="en-US" b="1" dirty="0">
                <a:solidFill>
                  <a:srgbClr val="004824"/>
                </a:solidFill>
                <a:sym typeface="Symbol"/>
              </a:rPr>
              <a:t> </a:t>
            </a:r>
            <a:r>
              <a:rPr lang="en-US" dirty="0">
                <a:solidFill>
                  <a:srgbClr val="004824"/>
                </a:solidFill>
                <a:sym typeface="Symbol"/>
              </a:rPr>
              <a:t>: a[k]=0))   /\   0in</a:t>
            </a:r>
            <a:r>
              <a:rPr lang="en-US" dirty="0">
                <a:solidFill>
                  <a:srgbClr val="004824"/>
                </a:solidFill>
              </a:rPr>
              <a:t> *} </a:t>
            </a:r>
            <a:br>
              <a:rPr lang="en-US" dirty="0">
                <a:solidFill>
                  <a:srgbClr val="004824"/>
                </a:solidFill>
              </a:rPr>
            </a:br>
            <a:r>
              <a:rPr lang="en-US" dirty="0"/>
              <a:t>	         </a:t>
            </a:r>
            <a:r>
              <a:rPr lang="en-US" b="1" dirty="0"/>
              <a:t>while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&lt;n  </a:t>
            </a:r>
            <a:r>
              <a:rPr lang="en-US" b="1" dirty="0"/>
              <a:t>do</a:t>
            </a:r>
            <a:r>
              <a:rPr lang="en-US" dirty="0"/>
              <a:t>  {  r := r /\ (a[</a:t>
            </a:r>
            <a:r>
              <a:rPr lang="en-US" dirty="0" err="1"/>
              <a:t>i</a:t>
            </a:r>
            <a:r>
              <a:rPr lang="en-US" dirty="0"/>
              <a:t>]=0)   ;   </a:t>
            </a:r>
            <a:r>
              <a:rPr lang="en-US" dirty="0" err="1"/>
              <a:t>i</a:t>
            </a:r>
            <a:r>
              <a:rPr lang="en-US" dirty="0"/>
              <a:t>++ }</a:t>
            </a:r>
            <a:br>
              <a:rPr lang="en-US" dirty="0"/>
            </a:br>
            <a:r>
              <a:rPr lang="en-US" dirty="0"/>
              <a:t>       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{*  r  =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: 0k&lt;</a:t>
            </a:r>
            <a:r>
              <a:rPr lang="en-US" b="1" dirty="0">
                <a:solidFill>
                  <a:srgbClr val="990033"/>
                </a:solidFill>
                <a:sym typeface="Symbol"/>
              </a:rPr>
              <a:t>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 : a[k]=0)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6" charset="2"/>
              </a:rPr>
              <a:t>*}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8C97D-D541-F662-22F9-2713BCECF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234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 need to 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(Exit Condition)                 </a:t>
            </a:r>
            <a:r>
              <a:rPr lang="en-US" dirty="0"/>
              <a:t> I /\ </a:t>
            </a:r>
            <a:r>
              <a:rPr lang="en-US" dirty="0">
                <a:sym typeface="Symbol"/>
              </a:rPr>
              <a:t>g  Q</a:t>
            </a:r>
            <a:br>
              <a:rPr lang="en-US" dirty="0">
                <a:sym typeface="Symbol"/>
              </a:rPr>
            </a:b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(Initialization Condition) 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              {* given-pre-</a:t>
            </a:r>
            <a:r>
              <a:rPr lang="en-US" dirty="0" err="1">
                <a:sym typeface="Symbol"/>
              </a:rPr>
              <a:t>cond</a:t>
            </a:r>
            <a:r>
              <a:rPr lang="en-US" dirty="0">
                <a:sym typeface="Symbol"/>
              </a:rPr>
              <a:t> *}  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   {* I  *},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(Invariance)                      </a:t>
            </a:r>
            <a:r>
              <a:rPr lang="en-US" dirty="0"/>
              <a:t>{* I /\ </a:t>
            </a:r>
            <a:r>
              <a:rPr lang="en-US" dirty="0">
                <a:sym typeface="Symbol"/>
              </a:rPr>
              <a:t>g *} body {* I *}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ym typeface="Symbol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</a:t>
            </a:r>
            <a:r>
              <a:rPr lang="en-US" dirty="0">
                <a:sym typeface="Symbol"/>
              </a:rPr>
              <a:t>   {* I /\ g *} (C:=m ; body)  {* m&lt;C *}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   </a:t>
            </a:r>
            <a:r>
              <a:rPr lang="en-US" dirty="0">
                <a:sym typeface="Symbol"/>
              </a:rPr>
              <a:t>I /\ g   m&gt;0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E69E6-0CBF-014C-8F49-EB646764F802}"/>
              </a:ext>
            </a:extLst>
          </p:cNvPr>
          <p:cNvSpPr txBox="1"/>
          <p:nvPr/>
        </p:nvSpPr>
        <p:spPr>
          <a:xfrm>
            <a:off x="1295400" y="3962400"/>
            <a:ext cx="5865324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Or equivalently, prove: I /\ </a:t>
            </a:r>
            <a:r>
              <a:rPr lang="en-US" sz="2400" dirty="0">
                <a:sym typeface="Symbol"/>
              </a:rPr>
              <a:t>g  </a:t>
            </a:r>
            <a:r>
              <a:rPr lang="en-US" sz="2400" b="1" dirty="0" err="1">
                <a:solidFill>
                  <a:srgbClr val="0070C0"/>
                </a:solidFill>
                <a:sym typeface="Symbol"/>
              </a:rPr>
              <a:t>wp</a:t>
            </a:r>
            <a:r>
              <a:rPr lang="en-US" sz="2400" dirty="0">
                <a:sym typeface="Symbol"/>
              </a:rPr>
              <a:t> body I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Reformulating them in terms of </a:t>
            </a:r>
            <a:r>
              <a:rPr lang="en-US" dirty="0" err="1"/>
              <a:t>wp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statements are Hoare triples.</a:t>
            </a:r>
          </a:p>
          <a:p>
            <a:r>
              <a:rPr lang="en-US" dirty="0"/>
              <a:t>If they have no loops, we can reformulate in terms of wp.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(Exit Condition) </a:t>
            </a:r>
            <a:r>
              <a:rPr lang="en-US" dirty="0"/>
              <a:t>                 I /\ </a:t>
            </a:r>
            <a:r>
              <a:rPr lang="en-US" dirty="0">
                <a:sym typeface="Symbol"/>
              </a:rPr>
              <a:t>g  Q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(Initialization Condition)  </a:t>
            </a:r>
            <a:br>
              <a:rPr lang="en-US" dirty="0">
                <a:solidFill>
                  <a:srgbClr val="00B050"/>
                </a:solidFill>
                <a:sym typeface="Symbol"/>
              </a:rPr>
            </a:br>
            <a:r>
              <a:rPr lang="en-US" dirty="0">
                <a:solidFill>
                  <a:srgbClr val="00B050"/>
                </a:solidFill>
                <a:sym typeface="Symbol"/>
              </a:rPr>
              <a:t>         </a:t>
            </a:r>
            <a:r>
              <a:rPr lang="en-US" dirty="0"/>
              <a:t>given-pre-</a:t>
            </a:r>
            <a:r>
              <a:rPr lang="en-US" dirty="0" err="1"/>
              <a:t>cond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 </a:t>
            </a:r>
            <a:r>
              <a:rPr lang="en-US" b="1" dirty="0" err="1"/>
              <a:t>wp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:= 0 ; r := </a:t>
            </a:r>
            <a:r>
              <a:rPr lang="en-US" b="1" dirty="0"/>
              <a:t>true</a:t>
            </a:r>
            <a:r>
              <a:rPr lang="en-US" dirty="0"/>
              <a:t>) 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(Invariance)                      </a:t>
            </a:r>
            <a:r>
              <a:rPr lang="en-US" dirty="0"/>
              <a:t>I /\ </a:t>
            </a:r>
            <a:r>
              <a:rPr lang="en-US" dirty="0">
                <a:sym typeface="Symbol"/>
              </a:rPr>
              <a:t>g   </a:t>
            </a:r>
            <a:r>
              <a:rPr lang="en-US" b="1" dirty="0" err="1">
                <a:sym typeface="Symbol"/>
              </a:rPr>
              <a:t>wp</a:t>
            </a:r>
            <a:r>
              <a:rPr lang="en-US" dirty="0">
                <a:sym typeface="Symbol"/>
              </a:rPr>
              <a:t> body 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</a:t>
            </a:r>
            <a:r>
              <a:rPr lang="en-US" dirty="0">
                <a:sym typeface="Symbol"/>
              </a:rPr>
              <a:t>   I /\ g  </a:t>
            </a:r>
            <a:r>
              <a:rPr lang="en-US" b="1" dirty="0" err="1">
                <a:sym typeface="Symbol"/>
              </a:rPr>
              <a:t>wp</a:t>
            </a:r>
            <a:r>
              <a:rPr lang="en-US" dirty="0">
                <a:sym typeface="Symbol"/>
              </a:rPr>
              <a:t> (C:=m ; body)  (m&lt;C)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Symbol"/>
              </a:rPr>
              <a:t>(Termination Condition)   </a:t>
            </a:r>
            <a:r>
              <a:rPr lang="en-US" dirty="0">
                <a:sym typeface="Symbol"/>
              </a:rPr>
              <a:t>I /\ g   m&gt;0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dirty="0"/>
              <a:t>Now we can use the previous proof system for predicate logic to prove those implications.</a:t>
            </a: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719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03A6BA-A2EE-AF46-9F34-7D244230A5A9}"/>
              </a:ext>
            </a:extLst>
          </p:cNvPr>
          <p:cNvSpPr/>
          <p:nvPr/>
        </p:nvSpPr>
        <p:spPr>
          <a:xfrm>
            <a:off x="563137" y="4267200"/>
            <a:ext cx="8276063" cy="1981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EB781-88E0-3C4F-8EAA-81C091FCBEC9}"/>
              </a:ext>
            </a:extLst>
          </p:cNvPr>
          <p:cNvSpPr/>
          <p:nvPr/>
        </p:nvSpPr>
        <p:spPr>
          <a:xfrm>
            <a:off x="533400" y="1219200"/>
            <a:ext cx="8276062" cy="2743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structure of the proofs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PROOF</a:t>
            </a:r>
            <a:r>
              <a:rPr lang="en-US" dirty="0"/>
              <a:t> PEC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(proof of the exit condition)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[A1]  </a:t>
            </a:r>
            <a:r>
              <a:rPr lang="en-US" dirty="0"/>
              <a:t>r  = (</a:t>
            </a:r>
            <a:r>
              <a:rPr lang="en-US" dirty="0">
                <a:sym typeface="Symbol"/>
              </a:rPr>
              <a:t>k : 0k&lt;</a:t>
            </a:r>
            <a:r>
              <a:rPr lang="en-US" dirty="0" err="1">
                <a:sym typeface="Symbol"/>
              </a:rPr>
              <a:t>i</a:t>
            </a:r>
            <a:r>
              <a:rPr lang="en-US" dirty="0">
                <a:sym typeface="Symbol"/>
              </a:rPr>
              <a:t> : a[k]=0)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</a:t>
            </a:r>
            <a:r>
              <a:rPr lang="en-US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dirty="0">
                <a:sym typeface="Symbol"/>
              </a:rPr>
              <a:t>0in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</a:t>
            </a:r>
            <a:r>
              <a:rPr lang="en-US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dirty="0" err="1">
                <a:sym typeface="Symbol"/>
              </a:rPr>
              <a:t>in</a:t>
            </a:r>
            <a:r>
              <a:rPr lang="en-US" dirty="0">
                <a:sym typeface="Symbol"/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(¬g)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[G]    </a:t>
            </a:r>
            <a:r>
              <a:rPr lang="en-US" dirty="0"/>
              <a:t>r  = (</a:t>
            </a:r>
            <a:r>
              <a:rPr lang="en-US" dirty="0">
                <a:sym typeface="Symbol"/>
              </a:rPr>
              <a:t>k : 0k&lt;n : a[k]=0)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(Q)</a:t>
            </a:r>
            <a:br>
              <a:rPr lang="en-US" dirty="0">
                <a:sym typeface="Symbol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....  (the proof itself)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</a:br>
            <a:r>
              <a:rPr lang="en-US" b="1" dirty="0">
                <a:sym typeface="Symbol"/>
              </a:rPr>
              <a:t>END</a:t>
            </a:r>
          </a:p>
          <a:p>
            <a:endParaRPr lang="en-US" dirty="0">
              <a:sym typeface="Symbol"/>
            </a:endParaRPr>
          </a:p>
          <a:p>
            <a:r>
              <a:rPr lang="en-US" b="1" dirty="0">
                <a:sym typeface="Symbol"/>
              </a:rPr>
              <a:t>PROOF</a:t>
            </a:r>
            <a:r>
              <a:rPr lang="en-US" dirty="0">
                <a:sym typeface="Symbol"/>
              </a:rPr>
              <a:t> PInit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(proof of the initialization condition)</a:t>
            </a:r>
            <a:br>
              <a:rPr lang="en-US" dirty="0">
                <a:sym typeface="Symbol"/>
              </a:rPr>
            </a:br>
            <a:r>
              <a:rPr lang="en-US" b="1" dirty="0">
                <a:solidFill>
                  <a:srgbClr val="0070C0"/>
                </a:solidFill>
                <a:sym typeface="Symbol"/>
              </a:rPr>
              <a:t>[A1] </a:t>
            </a:r>
            <a:r>
              <a:rPr lang="en-US" dirty="0"/>
              <a:t>0</a:t>
            </a:r>
            <a:r>
              <a:rPr lang="en-US" dirty="0">
                <a:sym typeface="Symbol" pitchFamily="16" charset="2"/>
              </a:rPr>
              <a:t>n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(P)</a:t>
            </a:r>
            <a:br>
              <a:rPr lang="en-US" dirty="0">
                <a:sym typeface="Symbol" pitchFamily="16" charset="2"/>
              </a:rPr>
            </a:br>
            <a:r>
              <a:rPr lang="en-US" b="1" dirty="0">
                <a:solidFill>
                  <a:srgbClr val="0070C0"/>
                </a:solidFill>
                <a:sym typeface="Symbol" pitchFamily="16" charset="2"/>
              </a:rPr>
              <a:t>[ G ] </a:t>
            </a:r>
            <a:r>
              <a:rPr lang="en-US" dirty="0">
                <a:sym typeface="Symbol" pitchFamily="16" charset="2"/>
              </a:rPr>
              <a:t>(true =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k : 0k&lt;0 : a[k]=0)) /\ 00n </a:t>
            </a:r>
            <a:r>
              <a:rPr lang="en-US" sz="1800" dirty="0">
                <a:solidFill>
                  <a:schemeClr val="bg2"/>
                </a:solidFill>
                <a:sym typeface="Symbol"/>
              </a:rPr>
              <a:t>(</a:t>
            </a:r>
            <a:r>
              <a:rPr lang="en-US" sz="1800" b="1" dirty="0">
                <a:solidFill>
                  <a:schemeClr val="bg2"/>
                </a:solidFill>
              </a:rPr>
              <a:t>wp </a:t>
            </a:r>
            <a:r>
              <a:rPr lang="en-US" sz="1800" dirty="0">
                <a:solidFill>
                  <a:schemeClr val="bg2"/>
                </a:solidFill>
              </a:rPr>
              <a:t>(</a:t>
            </a:r>
            <a:r>
              <a:rPr lang="en-US" sz="1800" dirty="0" err="1">
                <a:solidFill>
                  <a:schemeClr val="bg2"/>
                </a:solidFill>
              </a:rPr>
              <a:t>i</a:t>
            </a:r>
            <a:r>
              <a:rPr lang="en-US" sz="1800" dirty="0">
                <a:solidFill>
                  <a:schemeClr val="bg2"/>
                </a:solidFill>
              </a:rPr>
              <a:t> := 0 ; r := </a:t>
            </a:r>
            <a:r>
              <a:rPr lang="en-US" sz="1800" b="1" dirty="0">
                <a:solidFill>
                  <a:schemeClr val="bg2"/>
                </a:solidFill>
              </a:rPr>
              <a:t>true</a:t>
            </a:r>
            <a:r>
              <a:rPr lang="en-US" sz="1800" dirty="0">
                <a:solidFill>
                  <a:schemeClr val="bg2"/>
                </a:solidFill>
              </a:rPr>
              <a:t>) I</a:t>
            </a:r>
            <a:r>
              <a:rPr lang="en-US" sz="1800" dirty="0">
                <a:solidFill>
                  <a:schemeClr val="bg2"/>
                </a:solidFill>
                <a:sym typeface="Symbol"/>
              </a:rPr>
              <a:t>)</a:t>
            </a:r>
            <a:br>
              <a:rPr lang="en-US" dirty="0">
                <a:solidFill>
                  <a:srgbClr val="FFC000"/>
                </a:solidFill>
                <a:sym typeface="Symbol"/>
              </a:rPr>
            </a:br>
            <a:r>
              <a:rPr lang="en-US" dirty="0">
                <a:solidFill>
                  <a:srgbClr val="FFC000"/>
                </a:solidFill>
                <a:sym typeface="Symbol"/>
              </a:rPr>
              <a:t>...</a:t>
            </a:r>
            <a:br>
              <a:rPr lang="en-US" dirty="0">
                <a:solidFill>
                  <a:srgbClr val="FFC000"/>
                </a:solidFill>
                <a:sym typeface="Symbol"/>
              </a:rPr>
            </a:br>
            <a:r>
              <a:rPr lang="en-US" b="1" dirty="0">
                <a:sym typeface="Symbol"/>
              </a:rPr>
              <a:t>END</a:t>
            </a:r>
            <a:br>
              <a:rPr lang="en-US" dirty="0">
                <a:sym typeface="Symbol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the initialization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5486400" cy="480060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ym typeface="Symbol"/>
              </a:rPr>
              <a:t>PROOF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err="1">
                <a:sym typeface="Symbol"/>
              </a:rPr>
              <a:t>PInit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[A1] </a:t>
            </a:r>
            <a:r>
              <a:rPr lang="en-US" sz="2000" dirty="0"/>
              <a:t>0</a:t>
            </a:r>
            <a:r>
              <a:rPr lang="en-US" sz="2000" dirty="0">
                <a:sym typeface="Symbol" pitchFamily="16" charset="2"/>
              </a:rPr>
              <a:t>n </a:t>
            </a:r>
            <a:br>
              <a:rPr lang="en-US" sz="2000" dirty="0">
                <a:sym typeface="Symbol" pitchFamily="16" charset="2"/>
              </a:rPr>
            </a:b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[ G ] </a:t>
            </a:r>
            <a:r>
              <a:rPr lang="en-US" sz="2000" dirty="0">
                <a:sym typeface="Symbol" pitchFamily="16" charset="2"/>
              </a:rPr>
              <a:t>(true = </a:t>
            </a:r>
            <a:r>
              <a:rPr lang="en-US" sz="2000" dirty="0"/>
              <a:t>(</a:t>
            </a:r>
            <a:r>
              <a:rPr lang="en-US" sz="2000" dirty="0">
                <a:sym typeface="Symbol"/>
              </a:rPr>
              <a:t>k : 0k&lt;0 : a[k]=0)) /\ 00n</a:t>
            </a:r>
            <a:br>
              <a:rPr lang="en-US" sz="2000" dirty="0">
                <a:solidFill>
                  <a:srgbClr val="FFC000"/>
                </a:solidFill>
                <a:sym typeface="Symbol"/>
              </a:rPr>
            </a:br>
            <a:r>
              <a:rPr lang="en-US" sz="2000" b="1" dirty="0">
                <a:sym typeface="Symbol"/>
              </a:rPr>
              <a:t>BEGIN</a:t>
            </a:r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1. 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{ follows from A1 } </a:t>
            </a:r>
            <a:r>
              <a:rPr lang="en-US" sz="2000" dirty="0">
                <a:sym typeface="Symbol"/>
              </a:rPr>
              <a:t>00n </a:t>
            </a: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2. 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{ see </a:t>
            </a:r>
            <a:r>
              <a:rPr lang="en-US" sz="2000" dirty="0" err="1">
                <a:solidFill>
                  <a:srgbClr val="7030A0"/>
                </a:solidFill>
                <a:sym typeface="Symbol"/>
              </a:rPr>
              <a:t>subproof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 }  </a:t>
            </a:r>
            <a:r>
              <a:rPr lang="en-US" sz="2000" dirty="0">
                <a:sym typeface="Symbol"/>
              </a:rPr>
              <a:t>true = </a:t>
            </a:r>
            <a:r>
              <a:rPr lang="en-US" sz="2000" dirty="0"/>
              <a:t>(</a:t>
            </a:r>
            <a:r>
              <a:rPr lang="en-US" sz="2000" dirty="0">
                <a:sym typeface="Symbol"/>
              </a:rPr>
              <a:t>k : 0k&lt;0 : a[k]=0)</a:t>
            </a:r>
            <a:br>
              <a:rPr lang="en-US" sz="2000" dirty="0">
                <a:sym typeface="Symbol"/>
              </a:rPr>
            </a:b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3. </a:t>
            </a:r>
            <a:r>
              <a:rPr lang="en-US" sz="2000" dirty="0">
                <a:solidFill>
                  <a:srgbClr val="7030A0"/>
                </a:solidFill>
                <a:sym typeface="Symbol"/>
              </a:rPr>
              <a:t>{ conjunction of 1 and 2 } </a:t>
            </a:r>
            <a:r>
              <a:rPr lang="en-US" sz="2000" dirty="0">
                <a:sym typeface="Symbol"/>
              </a:rPr>
              <a:t>G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ym typeface="Symbol"/>
              </a:rPr>
              <a:t>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42E12-4C01-504C-B60B-4A989C7EFB73}"/>
              </a:ext>
            </a:extLst>
          </p:cNvPr>
          <p:cNvSpPr txBox="1"/>
          <p:nvPr/>
        </p:nvSpPr>
        <p:spPr>
          <a:xfrm>
            <a:off x="7015976" y="1916668"/>
            <a:ext cx="2012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sym typeface="Symbol"/>
              </a:rPr>
              <a:t>(</a:t>
            </a:r>
            <a:r>
              <a:rPr lang="en-US" sz="1400" b="1" dirty="0">
                <a:solidFill>
                  <a:schemeClr val="bg2"/>
                </a:solidFill>
              </a:rPr>
              <a:t>wp </a:t>
            </a:r>
            <a:r>
              <a:rPr lang="en-US" sz="1400" dirty="0">
                <a:solidFill>
                  <a:schemeClr val="bg2"/>
                </a:solidFill>
              </a:rPr>
              <a:t>(</a:t>
            </a:r>
            <a:r>
              <a:rPr lang="en-US" sz="1400" dirty="0" err="1">
                <a:solidFill>
                  <a:schemeClr val="bg2"/>
                </a:solidFill>
              </a:rPr>
              <a:t>i</a:t>
            </a:r>
            <a:r>
              <a:rPr lang="en-US" sz="1400" dirty="0">
                <a:solidFill>
                  <a:schemeClr val="bg2"/>
                </a:solidFill>
              </a:rPr>
              <a:t> := 0 ; r := </a:t>
            </a:r>
            <a:r>
              <a:rPr lang="en-US" sz="1400" b="1" dirty="0">
                <a:solidFill>
                  <a:schemeClr val="bg2"/>
                </a:solidFill>
              </a:rPr>
              <a:t>true</a:t>
            </a:r>
            <a:r>
              <a:rPr lang="en-US" sz="1400" dirty="0">
                <a:solidFill>
                  <a:schemeClr val="bg2"/>
                </a:solidFill>
              </a:rPr>
              <a:t>) I</a:t>
            </a:r>
            <a:r>
              <a:rPr lang="en-US" sz="1400" dirty="0">
                <a:solidFill>
                  <a:schemeClr val="bg2"/>
                </a:solidFill>
                <a:sym typeface="Symbol"/>
              </a:rPr>
              <a:t>)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45251-3D47-364E-A91B-BB06755B40D5}"/>
              </a:ext>
            </a:extLst>
          </p:cNvPr>
          <p:cNvSpPr txBox="1"/>
          <p:nvPr/>
        </p:nvSpPr>
        <p:spPr>
          <a:xfrm flipH="1">
            <a:off x="1371600" y="3429000"/>
            <a:ext cx="3657599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EQUATIONAL PROOF</a:t>
            </a:r>
          </a:p>
          <a:p>
            <a:r>
              <a:rPr lang="en-US" dirty="0">
                <a:sym typeface="Symbol"/>
              </a:rPr>
              <a:t>   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k : 0k&lt;0 : a[k]=0)</a:t>
            </a:r>
          </a:p>
          <a:p>
            <a:r>
              <a:rPr lang="en-US" dirty="0">
                <a:sym typeface="Symbol"/>
              </a:rPr>
              <a:t>    = </a:t>
            </a:r>
            <a:r>
              <a:rPr lang="en-US" dirty="0">
                <a:solidFill>
                  <a:srgbClr val="7030A0"/>
                </a:solidFill>
                <a:sym typeface="Symbol"/>
              </a:rPr>
              <a:t>{ the domain is false }</a:t>
            </a:r>
            <a:br>
              <a:rPr lang="en-US" dirty="0">
                <a:solidFill>
                  <a:srgbClr val="7030A0"/>
                </a:solidFill>
                <a:sym typeface="Symbol"/>
              </a:rPr>
            </a:br>
            <a:r>
              <a:rPr lang="en-US" dirty="0">
                <a:sym typeface="Symbol"/>
              </a:rPr>
              <a:t>   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k : false : a[k]=0)) </a:t>
            </a:r>
          </a:p>
          <a:p>
            <a:r>
              <a:rPr lang="en-US" dirty="0">
                <a:sym typeface="Symbol"/>
              </a:rPr>
              <a:t>    = </a:t>
            </a:r>
            <a:r>
              <a:rPr lang="en-US" dirty="0">
                <a:solidFill>
                  <a:srgbClr val="7030A0"/>
                </a:solidFill>
                <a:sym typeface="Symbol"/>
              </a:rPr>
              <a:t>{  over empty domain }</a:t>
            </a:r>
            <a:br>
              <a:rPr lang="en-US" dirty="0">
                <a:solidFill>
                  <a:srgbClr val="7030A0"/>
                </a:solidFill>
                <a:sym typeface="Symbol"/>
              </a:rPr>
            </a:br>
            <a:r>
              <a:rPr lang="en-US" dirty="0">
                <a:sym typeface="Symbol"/>
              </a:rPr>
              <a:t>    true</a:t>
            </a:r>
            <a:br>
              <a:rPr lang="en-US" dirty="0">
                <a:sym typeface="Symbol"/>
              </a:rPr>
            </a:br>
            <a:r>
              <a:rPr lang="en-US" b="1" dirty="0">
                <a:sym typeface="Symbol"/>
              </a:rPr>
              <a:t>END</a:t>
            </a:r>
            <a:endParaRPr lang="en-US" dirty="0"/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32F836E1-0A0E-DD47-880C-1FA08F9A5979}"/>
              </a:ext>
            </a:extLst>
          </p:cNvPr>
          <p:cNvSpPr/>
          <p:nvPr/>
        </p:nvSpPr>
        <p:spPr>
          <a:xfrm>
            <a:off x="6288358" y="1970901"/>
            <a:ext cx="685800" cy="260866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80623-A273-4740-059C-4430B35DDAF5}"/>
              </a:ext>
            </a:extLst>
          </p:cNvPr>
          <p:cNvSpPr txBox="1"/>
          <p:nvPr/>
        </p:nvSpPr>
        <p:spPr>
          <a:xfrm>
            <a:off x="7015976" y="150971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Symbol"/>
              </a:rPr>
              <a:t>P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841DA556-1A8F-1EB0-12BA-388C7C72D3AD}"/>
              </a:ext>
            </a:extLst>
          </p:cNvPr>
          <p:cNvSpPr/>
          <p:nvPr/>
        </p:nvSpPr>
        <p:spPr>
          <a:xfrm>
            <a:off x="6288358" y="1563951"/>
            <a:ext cx="685800" cy="260866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1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I’s invariance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5562600" cy="541020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PROOF</a:t>
            </a:r>
            <a:r>
              <a:rPr lang="en-US" sz="1600" dirty="0"/>
              <a:t> PIC (proof of the invariance condition)</a:t>
            </a:r>
            <a:br>
              <a:rPr lang="en-US" sz="1600" dirty="0"/>
            </a:br>
            <a:r>
              <a:rPr lang="en-US" sz="1600" b="1" dirty="0">
                <a:solidFill>
                  <a:srgbClr val="0070C0"/>
                </a:solidFill>
              </a:rPr>
              <a:t>[A1]  </a:t>
            </a:r>
            <a:r>
              <a:rPr lang="en-US" sz="1600" dirty="0"/>
              <a:t>r  = (</a:t>
            </a:r>
            <a:r>
              <a:rPr lang="en-US" sz="1600" dirty="0">
                <a:sym typeface="Symbol"/>
              </a:rPr>
              <a:t>k : 0k&lt;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sz="1600" dirty="0">
                <a:sym typeface="Symbol"/>
              </a:rPr>
              <a:t>0in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&lt;n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[G1]  </a:t>
            </a:r>
            <a:r>
              <a:rPr lang="en-US" sz="1600" dirty="0"/>
              <a:t>r/\(a[</a:t>
            </a:r>
            <a:r>
              <a:rPr lang="en-US" sz="1600" dirty="0" err="1"/>
              <a:t>i</a:t>
            </a:r>
            <a:r>
              <a:rPr lang="en-US" sz="1600" dirty="0"/>
              <a:t>]=0)  = (</a:t>
            </a:r>
            <a:r>
              <a:rPr lang="en-US" sz="1600" dirty="0">
                <a:sym typeface="Symbol"/>
              </a:rPr>
              <a:t>k : 0k&lt;i+1 : a[k]=0)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olidFill>
                  <a:srgbClr val="0070C0"/>
                </a:solidFill>
                <a:sym typeface="Symbol"/>
              </a:rPr>
              <a:t>[G2]  </a:t>
            </a:r>
            <a:r>
              <a:rPr lang="en-US" sz="1600" dirty="0">
                <a:sym typeface="Symbol"/>
              </a:rPr>
              <a:t>0i+1n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ym typeface="Symbol"/>
              </a:rPr>
              <a:t>BEGIN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1. 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see the </a:t>
            </a:r>
            <a:r>
              <a:rPr lang="en-US" sz="1600" dirty="0" err="1">
                <a:solidFill>
                  <a:srgbClr val="0070C0"/>
                </a:solidFill>
                <a:sym typeface="Symbol"/>
              </a:rPr>
              <a:t>subproof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 below }  </a:t>
            </a:r>
            <a:r>
              <a:rPr lang="en-US" sz="1600" dirty="0">
                <a:sym typeface="Symbol"/>
              </a:rPr>
              <a:t>G1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             </a:t>
            </a:r>
            <a:br>
              <a:rPr lang="en-US" sz="1600" dirty="0">
                <a:sym typeface="Symbol"/>
              </a:rPr>
            </a:b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endParaRPr lang="en-US" sz="1600" dirty="0">
              <a:sym typeface="Symbol"/>
            </a:endParaRPr>
          </a:p>
          <a:p>
            <a:pPr marL="0" indent="0">
              <a:buNone/>
            </a:pPr>
            <a:r>
              <a:rPr lang="en-US" sz="1600" dirty="0">
                <a:sym typeface="Symbol"/>
              </a:rPr>
              <a:t>2. { A2 implies 0i+1 and A3 implies i+1n }  G2</a:t>
            </a:r>
            <a:br>
              <a:rPr lang="en-US" sz="1600" dirty="0">
                <a:sym typeface="Symbol"/>
              </a:rPr>
            </a:br>
            <a:r>
              <a:rPr lang="en-US" sz="1600" b="1" dirty="0">
                <a:sym typeface="Symbol"/>
              </a:rPr>
              <a:t>END</a:t>
            </a:r>
            <a:br>
              <a:rPr lang="en-US" sz="1600" dirty="0">
                <a:sym typeface="Symbol"/>
              </a:rPr>
            </a:b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07688-A2CC-F541-8811-9DDEEDE72AD4}"/>
              </a:ext>
            </a:extLst>
          </p:cNvPr>
          <p:cNvSpPr txBox="1"/>
          <p:nvPr/>
        </p:nvSpPr>
        <p:spPr>
          <a:xfrm>
            <a:off x="1143000" y="3276600"/>
            <a:ext cx="4343400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ym typeface="Symbol"/>
              </a:rPr>
              <a:t> EQUATIONAL PROOF</a:t>
            </a:r>
            <a:endParaRPr lang="en-US" sz="1600" dirty="0">
              <a:sym typeface="Symbol"/>
            </a:endParaRPr>
          </a:p>
          <a:p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0k&lt;i+1 : a[k]=0) </a:t>
            </a:r>
          </a:p>
          <a:p>
            <a:r>
              <a:rPr lang="en-US" sz="1600" dirty="0">
                <a:sym typeface="Symbol"/>
              </a:rPr>
              <a:t> 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 follows from A2 }</a:t>
            </a:r>
            <a:br>
              <a:rPr lang="en-US" sz="1600" dirty="0">
                <a:sym typeface="Symbol"/>
              </a:rPr>
            </a:b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0k&lt;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\/ k=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</a:t>
            </a:r>
          </a:p>
          <a:p>
            <a:r>
              <a:rPr lang="en-US" sz="1600" dirty="0">
                <a:sym typeface="Symbol"/>
              </a:rPr>
              <a:t>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 domain-split }  </a:t>
            </a:r>
            <a:br>
              <a:rPr lang="en-US" sz="1600" dirty="0">
                <a:sym typeface="Symbol"/>
              </a:rPr>
            </a:b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0k&lt;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: a[k]=0)  /\ </a:t>
            </a: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k=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 </a:t>
            </a:r>
          </a:p>
          <a:p>
            <a:r>
              <a:rPr lang="en-US" sz="1600" dirty="0">
                <a:sym typeface="Symbol"/>
              </a:rPr>
              <a:t>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 A1 }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r /\ </a:t>
            </a:r>
            <a:r>
              <a:rPr lang="en-US" sz="1600" dirty="0"/>
              <a:t>(</a:t>
            </a:r>
            <a:r>
              <a:rPr lang="en-US" sz="1600" dirty="0">
                <a:sym typeface="Symbol"/>
              </a:rPr>
              <a:t>k : k=</a:t>
            </a:r>
            <a:r>
              <a:rPr lang="en-US" sz="1600" dirty="0" err="1">
                <a:sym typeface="Symbol"/>
              </a:rPr>
              <a:t>i</a:t>
            </a:r>
            <a:r>
              <a:rPr lang="en-US" sz="1600" dirty="0">
                <a:sym typeface="Symbol"/>
              </a:rPr>
              <a:t> : a[k]=0) </a:t>
            </a:r>
          </a:p>
          <a:p>
            <a:r>
              <a:rPr lang="en-US" sz="1600" dirty="0">
                <a:sym typeface="Symbol"/>
              </a:rPr>
              <a:t>=  </a:t>
            </a:r>
            <a:r>
              <a:rPr lang="en-US" sz="1600" dirty="0">
                <a:solidFill>
                  <a:srgbClr val="0070C0"/>
                </a:solidFill>
                <a:sym typeface="Symbol"/>
              </a:rPr>
              <a:t>{ quant. over singleton }</a:t>
            </a:r>
            <a:br>
              <a:rPr lang="en-US" sz="1600" dirty="0">
                <a:sym typeface="Symbol"/>
              </a:rPr>
            </a:br>
            <a:r>
              <a:rPr lang="en-US" sz="1600" dirty="0">
                <a:sym typeface="Symbol"/>
              </a:rPr>
              <a:t>r /\ </a:t>
            </a:r>
            <a:r>
              <a:rPr lang="en-US" sz="1600" dirty="0"/>
              <a:t>(a[</a:t>
            </a:r>
            <a:r>
              <a:rPr lang="en-US" sz="1600" dirty="0" err="1"/>
              <a:t>i</a:t>
            </a:r>
            <a:r>
              <a:rPr lang="en-US" sz="1600" dirty="0"/>
              <a:t>]=0)</a:t>
            </a:r>
            <a:br>
              <a:rPr lang="en-US" sz="1600" dirty="0"/>
            </a:br>
            <a:r>
              <a:rPr lang="en-US" sz="1600" b="1" dirty="0"/>
              <a:t>END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8CED89A8-E8B7-1F48-A899-CF9C5DB9D5F4}"/>
              </a:ext>
            </a:extLst>
          </p:cNvPr>
          <p:cNvSpPr/>
          <p:nvPr/>
        </p:nvSpPr>
        <p:spPr>
          <a:xfrm>
            <a:off x="6406109" y="1586102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EA730-FC6C-4941-B69F-B9397BAEBB10}"/>
              </a:ext>
            </a:extLst>
          </p:cNvPr>
          <p:cNvSpPr txBox="1"/>
          <p:nvPr/>
        </p:nvSpPr>
        <p:spPr>
          <a:xfrm>
            <a:off x="7123760" y="148243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ym typeface="Symbol"/>
              </a:rPr>
              <a:t>I</a:t>
            </a:r>
            <a:r>
              <a:rPr lang="en-US" b="1" baseline="-25000" dirty="0">
                <a:sym typeface="Symbol"/>
              </a:rPr>
              <a:t>1</a:t>
            </a:r>
            <a:endParaRPr lang="en-US" b="1" baseline="-25000" dirty="0"/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B77171F5-409F-D54A-B0A2-3A3DEE2C5A1D}"/>
              </a:ext>
            </a:extLst>
          </p:cNvPr>
          <p:cNvSpPr/>
          <p:nvPr/>
        </p:nvSpPr>
        <p:spPr>
          <a:xfrm>
            <a:off x="6406109" y="1814185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43A5B5-57DA-7848-A682-5653585133F8}"/>
              </a:ext>
            </a:extLst>
          </p:cNvPr>
          <p:cNvSpPr txBox="1"/>
          <p:nvPr/>
        </p:nvSpPr>
        <p:spPr>
          <a:xfrm>
            <a:off x="7123760" y="171052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ym typeface="Symbol"/>
              </a:rPr>
              <a:t>I</a:t>
            </a:r>
            <a:r>
              <a:rPr lang="en-US" b="1" baseline="-25000" dirty="0">
                <a:sym typeface="Symbol"/>
              </a:rPr>
              <a:t>2</a:t>
            </a:r>
            <a:endParaRPr lang="en-US" b="1" baseline="-25000" dirty="0"/>
          </a:p>
        </p:txBody>
      </p:sp>
      <p:sp>
        <p:nvSpPr>
          <p:cNvPr id="24" name="Left Arrow 23">
            <a:extLst>
              <a:ext uri="{FF2B5EF4-FFF2-40B4-BE49-F238E27FC236}">
                <a16:creationId xmlns:a16="http://schemas.microsoft.com/office/drawing/2014/main" id="{3F06CEF8-3106-2A4E-AAF1-F2A4F1D7F797}"/>
              </a:ext>
            </a:extLst>
          </p:cNvPr>
          <p:cNvSpPr/>
          <p:nvPr/>
        </p:nvSpPr>
        <p:spPr>
          <a:xfrm>
            <a:off x="6406109" y="2064930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6A66A-FBDD-5D41-AD52-F302EC709FF7}"/>
              </a:ext>
            </a:extLst>
          </p:cNvPr>
          <p:cNvSpPr txBox="1"/>
          <p:nvPr/>
        </p:nvSpPr>
        <p:spPr>
          <a:xfrm>
            <a:off x="7123760" y="196126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ym typeface="Symbol"/>
              </a:rPr>
              <a:t>g</a:t>
            </a:r>
            <a:endParaRPr lang="en-US" sz="1400" dirty="0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6A3704F7-A275-8548-91BC-D1349E0950C7}"/>
              </a:ext>
            </a:extLst>
          </p:cNvPr>
          <p:cNvSpPr/>
          <p:nvPr/>
        </p:nvSpPr>
        <p:spPr>
          <a:xfrm>
            <a:off x="6406109" y="2290069"/>
            <a:ext cx="685800" cy="162003"/>
          </a:xfrm>
          <a:prstGeom prst="leftArrow">
            <a:avLst/>
          </a:prstGeom>
          <a:solidFill>
            <a:srgbClr val="C00000"/>
          </a:solidFill>
          <a:ln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2CFE1D-AB87-C84B-A144-37470453402B}"/>
              </a:ext>
            </a:extLst>
          </p:cNvPr>
          <p:cNvSpPr txBox="1"/>
          <p:nvPr/>
        </p:nvSpPr>
        <p:spPr>
          <a:xfrm>
            <a:off x="7123760" y="2186404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ym typeface="Symbol"/>
              </a:rPr>
              <a:t>wp</a:t>
            </a:r>
            <a:r>
              <a:rPr lang="en-US" sz="1400" dirty="0">
                <a:sym typeface="Symbol"/>
              </a:rPr>
              <a:t> body 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22" grpId="0" animBg="1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76D4E8-45ED-124A-BF45-1AADCFD09088}"/>
              </a:ext>
            </a:extLst>
          </p:cNvPr>
          <p:cNvSpPr/>
          <p:nvPr/>
        </p:nvSpPr>
        <p:spPr>
          <a:xfrm>
            <a:off x="1447800" y="3810000"/>
            <a:ext cx="6172200" cy="228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C039C-F868-1C4A-B764-4B622611A68F}"/>
              </a:ext>
            </a:extLst>
          </p:cNvPr>
          <p:cNvSpPr/>
          <p:nvPr/>
        </p:nvSpPr>
        <p:spPr>
          <a:xfrm>
            <a:off x="1447800" y="1251254"/>
            <a:ext cx="6172200" cy="228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structure of the proofs of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772400" cy="5181600"/>
          </a:xfrm>
        </p:spPr>
        <p:txBody>
          <a:bodyPr/>
          <a:lstStyle/>
          <a:p>
            <a:r>
              <a:rPr lang="en-US" sz="2000" b="1" dirty="0"/>
              <a:t>PROOF</a:t>
            </a:r>
            <a:r>
              <a:rPr lang="en-US" sz="2000" dirty="0"/>
              <a:t> TC1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(proof of the 1</a:t>
            </a:r>
            <a:r>
              <a:rPr lang="en-US" sz="20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termination condition)</a:t>
            </a:r>
            <a:b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[A1]  </a:t>
            </a:r>
            <a:r>
              <a:rPr lang="en-US" sz="2000" dirty="0"/>
              <a:t>r  = (</a:t>
            </a:r>
            <a:r>
              <a:rPr lang="en-US" sz="2000" dirty="0">
                <a:sym typeface="Symbol"/>
              </a:rPr>
              <a:t>k : 0k&lt;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: a[k]=0)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</a:t>
            </a:r>
            <a:r>
              <a:rPr lang="en-US" sz="20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sz="2000" dirty="0">
                <a:sym typeface="Symbol"/>
              </a:rPr>
              <a:t>0in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</a:t>
            </a:r>
            <a:r>
              <a:rPr lang="en-US" sz="20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&lt;n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(g)</a:t>
            </a:r>
            <a:br>
              <a:rPr lang="en-US" sz="2000" dirty="0">
                <a:sym typeface="Symbol"/>
              </a:rPr>
            </a:br>
            <a:r>
              <a:rPr lang="en-US" sz="2000" dirty="0">
                <a:solidFill>
                  <a:srgbClr val="0070C0"/>
                </a:solidFill>
                <a:sym typeface="Symbol"/>
              </a:rPr>
              <a:t>[</a:t>
            </a:r>
            <a:r>
              <a:rPr lang="en-US" sz="2000" b="1" dirty="0">
                <a:solidFill>
                  <a:srgbClr val="0070C0"/>
                </a:solidFill>
                <a:sym typeface="Symbol"/>
              </a:rPr>
              <a:t>G]    </a:t>
            </a:r>
            <a:r>
              <a:rPr lang="en-US" sz="2000" dirty="0">
                <a:sym typeface="Symbol"/>
              </a:rPr>
              <a:t>n -  (i+1)  &lt; n-1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wp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(C:=m ; body)  (m&lt;C)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  <a:sym typeface="Symbol"/>
            </a:endParaRPr>
          </a:p>
          <a:p>
            <a:pPr marL="0" indent="0">
              <a:buNone/>
            </a:pPr>
            <a:r>
              <a:rPr lang="en-US" sz="2000" dirty="0">
                <a:sym typeface="Symbol"/>
              </a:rPr>
              <a:t>     ....</a:t>
            </a:r>
            <a:br>
              <a:rPr lang="en-US" sz="2000" dirty="0">
                <a:sym typeface="Symbol"/>
              </a:rPr>
            </a:br>
            <a:r>
              <a:rPr lang="en-US" sz="2000" dirty="0">
                <a:sym typeface="Symbol"/>
              </a:rPr>
              <a:t>     </a:t>
            </a:r>
            <a:r>
              <a:rPr lang="en-US" sz="2000" b="1" dirty="0">
                <a:sym typeface="Symbol"/>
              </a:rPr>
              <a:t>END</a:t>
            </a:r>
          </a:p>
          <a:p>
            <a:endParaRPr lang="en-US" sz="2000" dirty="0">
              <a:sym typeface="Symbol"/>
            </a:endParaRPr>
          </a:p>
          <a:p>
            <a:r>
              <a:rPr lang="en-US" sz="2000" b="1" dirty="0">
                <a:sym typeface="Symbol"/>
              </a:rPr>
              <a:t>PROOF</a:t>
            </a:r>
            <a:r>
              <a:rPr lang="en-US" sz="2000" dirty="0">
                <a:sym typeface="Symbol"/>
              </a:rPr>
              <a:t> TC2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</a:rPr>
              <a:t>[A1]  </a:t>
            </a:r>
            <a:r>
              <a:rPr lang="en-US" sz="2000" dirty="0"/>
              <a:t>r  = (</a:t>
            </a:r>
            <a:r>
              <a:rPr lang="en-US" sz="2000" dirty="0">
                <a:sym typeface="Symbol"/>
              </a:rPr>
              <a:t>k : 0k&lt;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: a[k]=0)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</a:t>
            </a:r>
            <a:r>
              <a:rPr lang="en-US" sz="20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[A2]  </a:t>
            </a:r>
            <a:r>
              <a:rPr lang="en-US" sz="2000" dirty="0">
                <a:sym typeface="Symbol"/>
              </a:rPr>
              <a:t>0in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</a:t>
            </a:r>
            <a:r>
              <a:rPr lang="en-US" sz="20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[A3] 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&lt;n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(g)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olidFill>
                  <a:srgbClr val="0070C0"/>
                </a:solidFill>
                <a:sym typeface="Symbol"/>
              </a:rPr>
              <a:t>[G]    </a:t>
            </a:r>
            <a:r>
              <a:rPr lang="en-US" sz="2000" dirty="0">
                <a:sym typeface="Symbol"/>
              </a:rPr>
              <a:t>n - </a:t>
            </a:r>
            <a:r>
              <a:rPr lang="en-US" sz="2000" dirty="0" err="1">
                <a:sym typeface="Symbol"/>
              </a:rPr>
              <a:t>i</a:t>
            </a:r>
            <a:r>
              <a:rPr lang="en-US" sz="2000" dirty="0">
                <a:sym typeface="Symbol"/>
              </a:rPr>
              <a:t> &gt; 0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(I /\ g   m&gt;0)</a:t>
            </a:r>
            <a:br>
              <a:rPr lang="en-US" sz="2000" dirty="0">
                <a:sym typeface="Symbol"/>
              </a:rPr>
            </a:br>
            <a:r>
              <a:rPr lang="en-US" sz="2000" dirty="0">
                <a:sym typeface="Symbol"/>
              </a:rPr>
              <a:t>....</a:t>
            </a:r>
            <a:br>
              <a:rPr lang="en-US" sz="2000" dirty="0">
                <a:sym typeface="Symbol"/>
              </a:rPr>
            </a:br>
            <a:r>
              <a:rPr lang="en-US" sz="2000" b="1" dirty="0">
                <a:sym typeface="Symbol"/>
              </a:rPr>
              <a:t>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398ED-86AE-FC42-B45E-81150D642A1B}"/>
              </a:ext>
            </a:extLst>
          </p:cNvPr>
          <p:cNvSpPr txBox="1"/>
          <p:nvPr/>
        </p:nvSpPr>
        <p:spPr>
          <a:xfrm>
            <a:off x="-479684" y="869430"/>
            <a:ext cx="18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758763-F33C-D142-9DCD-F5D5E4A0DE70}"/>
              </a:ext>
            </a:extLst>
          </p:cNvPr>
          <p:cNvSpPr/>
          <p:nvPr/>
        </p:nvSpPr>
        <p:spPr>
          <a:xfrm>
            <a:off x="5249297" y="2954804"/>
            <a:ext cx="3456368" cy="1938992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955221-1002-174D-9F9A-DB580E60DA5E}"/>
              </a:ext>
            </a:extLst>
          </p:cNvPr>
          <p:cNvSpPr/>
          <p:nvPr/>
        </p:nvSpPr>
        <p:spPr>
          <a:xfrm>
            <a:off x="7048500" y="3352801"/>
            <a:ext cx="838200" cy="457200"/>
          </a:xfrm>
          <a:prstGeom prst="roundRect">
            <a:avLst>
              <a:gd name="adj" fmla="val 32061"/>
            </a:avLst>
          </a:prstGeom>
          <a:solidFill>
            <a:srgbClr val="C0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938737-2F53-4949-AA08-40B857CA85CE}"/>
              </a:ext>
            </a:extLst>
          </p:cNvPr>
          <p:cNvSpPr/>
          <p:nvPr/>
        </p:nvSpPr>
        <p:spPr>
          <a:xfrm>
            <a:off x="609600" y="2954804"/>
            <a:ext cx="3208903" cy="1938992"/>
          </a:xfrm>
          <a:prstGeom prst="roundRect">
            <a:avLst>
              <a:gd name="adj" fmla="val 1986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with</a:t>
            </a:r>
            <a:r>
              <a:rPr lang="nl-NL" dirty="0"/>
              <a:t> breaks, LN Sec. 9.3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BFFF-B963-504D-8057-D7576439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953000"/>
          </a:xfrm>
        </p:spPr>
        <p:txBody>
          <a:bodyPr/>
          <a:lstStyle/>
          <a:p>
            <a:r>
              <a:rPr lang="en-US" dirty="0"/>
              <a:t>There is no “break” statement in </a:t>
            </a:r>
            <a:r>
              <a:rPr lang="en-US" dirty="0" err="1"/>
              <a:t>uPL</a:t>
            </a:r>
            <a:r>
              <a:rPr lang="en-US" dirty="0"/>
              <a:t>, but we can still look at the concept behind it, namely to stop a loop earlier because we know that it has achieved its objective.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prove that breaking the loop early is indeed safe?</a:t>
            </a:r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9007E-39CF-44E3-BC08-211CD164AC3C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E5C2E6-0FDA-4479-82DB-60D055CF02B7}" type="slidenum">
              <a:rPr lang="en-US" altLang="en-US" sz="1200">
                <a:latin typeface="+mj-lt"/>
              </a:rPr>
              <a:pPr algn="r">
                <a:defRPr/>
              </a:pPr>
              <a:t>27</a:t>
            </a:fld>
            <a:endParaRPr lang="en-US" altLang="en-US" sz="1200">
              <a:latin typeface="+mj-lt"/>
            </a:endParaRPr>
          </a:p>
        </p:txBody>
      </p:sp>
      <p:sp>
        <p:nvSpPr>
          <p:cNvPr id="6149" name="TextBox 5"/>
          <p:cNvSpPr txBox="1">
            <a:spLocks noChangeArrowheads="1"/>
          </p:cNvSpPr>
          <p:nvPr/>
        </p:nvSpPr>
        <p:spPr bwMode="auto">
          <a:xfrm>
            <a:off x="838200" y="2954804"/>
            <a:ext cx="298030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&lt;n </a:t>
            </a:r>
            <a:r>
              <a:rPr lang="en-US" sz="2400" b="1" dirty="0"/>
              <a:t>do</a:t>
            </a:r>
            <a:r>
              <a:rPr lang="en-US" sz="2400" dirty="0"/>
              <a:t>  { </a:t>
            </a:r>
          </a:p>
          <a:p>
            <a:r>
              <a:rPr lang="en-US" sz="2400" dirty="0"/>
              <a:t>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</a:t>
            </a:r>
            <a:r>
              <a:rPr lang="en-US" sz="2400" dirty="0"/>
              <a:t>++ </a:t>
            </a:r>
          </a:p>
          <a:p>
            <a:r>
              <a:rPr lang="en-US" sz="2400" dirty="0"/>
              <a:t>}</a:t>
            </a:r>
            <a:endParaRPr lang="nl-NL" sz="240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DE0785E7-8470-724A-AAC4-877D5A445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954804"/>
            <a:ext cx="306686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 := 0 ; r := </a:t>
            </a:r>
            <a:r>
              <a:rPr lang="en-US" sz="2400" b="1" dirty="0"/>
              <a:t>true</a:t>
            </a:r>
            <a:r>
              <a:rPr lang="en-US" sz="2400" dirty="0"/>
              <a:t>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&lt;n </a:t>
            </a:r>
            <a:r>
              <a:rPr lang="en-US" sz="2400" b="1" dirty="0">
                <a:solidFill>
                  <a:srgbClr val="990033"/>
                </a:solidFill>
              </a:rPr>
              <a:t>/\ ¬r  </a:t>
            </a:r>
            <a:r>
              <a:rPr lang="en-US" sz="2400" b="1" dirty="0"/>
              <a:t>do</a:t>
            </a:r>
            <a:r>
              <a:rPr lang="en-US" sz="2400" dirty="0"/>
              <a:t>  { </a:t>
            </a:r>
          </a:p>
          <a:p>
            <a:r>
              <a:rPr lang="en-US" sz="2400" dirty="0"/>
              <a:t>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</a:t>
            </a:r>
            <a:r>
              <a:rPr lang="en-US" sz="2400" dirty="0"/>
              <a:t>++ </a:t>
            </a:r>
          </a:p>
          <a:p>
            <a:r>
              <a:rPr lang="en-US" sz="2400" dirty="0"/>
              <a:t>}</a:t>
            </a:r>
            <a:endParaRPr lang="nl-NL" sz="2400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95DC603-3BE8-4645-9D87-CD27B830CC50}"/>
              </a:ext>
            </a:extLst>
          </p:cNvPr>
          <p:cNvSpPr/>
          <p:nvPr/>
        </p:nvSpPr>
        <p:spPr>
          <a:xfrm>
            <a:off x="4114800" y="3543300"/>
            <a:ext cx="905897" cy="7620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60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04A-5A2F-8442-99C4-2CA29AF2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with</a:t>
            </a:r>
            <a:r>
              <a:rPr lang="nl-NL" dirty="0"/>
              <a:t> breaks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BC08-3A0C-FA40-A5E8-DD95B9AA8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loop, which has been proven correct using an </a:t>
            </a:r>
            <a:r>
              <a:rPr lang="en-US" b="1" dirty="0">
                <a:solidFill>
                  <a:srgbClr val="0000CC"/>
                </a:solidFill>
              </a:rPr>
              <a:t>invariant I </a:t>
            </a:r>
            <a:r>
              <a:rPr lang="en-US" dirty="0"/>
              <a:t>and a </a:t>
            </a:r>
            <a:r>
              <a:rPr lang="en-US" b="1" dirty="0">
                <a:solidFill>
                  <a:srgbClr val="0000CC"/>
                </a:solidFill>
              </a:rPr>
              <a:t>termination metric m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Suppose now we optimize the loop by adding a ”break” to let it terminate early in some situation: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validity of (1) implies:</a:t>
            </a:r>
          </a:p>
          <a:p>
            <a:pPr lvl="1"/>
            <a:r>
              <a:rPr lang="en-US" dirty="0"/>
              <a:t>(2) will also terminate</a:t>
            </a:r>
          </a:p>
          <a:p>
            <a:pPr lvl="1"/>
            <a:r>
              <a:rPr lang="en-US" dirty="0"/>
              <a:t>(2) will also maintain I’s invariance</a:t>
            </a:r>
          </a:p>
          <a:p>
            <a:pPr lvl="1"/>
            <a:r>
              <a:rPr lang="en-US" dirty="0"/>
              <a:t>If g becomes false, (2) will terminate in Q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C28F-DF61-C240-AD1D-163C67583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D613CC-EC99-F544-95FC-0410C755B03A}"/>
              </a:ext>
            </a:extLst>
          </p:cNvPr>
          <p:cNvSpPr/>
          <p:nvPr/>
        </p:nvSpPr>
        <p:spPr>
          <a:xfrm>
            <a:off x="1752600" y="2133600"/>
            <a:ext cx="5334000" cy="68071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P *}   </a:t>
            </a:r>
            <a:r>
              <a:rPr lang="en-US" sz="2400" b="1" dirty="0">
                <a:solidFill>
                  <a:schemeClr val="tx1"/>
                </a:solidFill>
              </a:rPr>
              <a:t>while</a:t>
            </a:r>
            <a:r>
              <a:rPr lang="en-US" sz="2400" dirty="0">
                <a:solidFill>
                  <a:schemeClr val="tx1"/>
                </a:solidFill>
              </a:rPr>
              <a:t> g </a:t>
            </a:r>
            <a:r>
              <a:rPr lang="en-US" sz="2400" b="1" dirty="0">
                <a:solidFill>
                  <a:schemeClr val="tx1"/>
                </a:solidFill>
              </a:rPr>
              <a:t>do</a:t>
            </a:r>
            <a:r>
              <a:rPr lang="en-US" sz="2400" dirty="0">
                <a:solidFill>
                  <a:schemeClr val="tx1"/>
                </a:solidFill>
              </a:rPr>
              <a:t> S   {* Q *}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995E38-D31E-1B44-B3B0-ABF876A42F83}"/>
              </a:ext>
            </a:extLst>
          </p:cNvPr>
          <p:cNvSpPr/>
          <p:nvPr/>
        </p:nvSpPr>
        <p:spPr>
          <a:xfrm>
            <a:off x="1741449" y="3810000"/>
            <a:ext cx="53340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P *}   </a:t>
            </a:r>
            <a:r>
              <a:rPr lang="en-US" sz="2400" b="1" dirty="0">
                <a:solidFill>
                  <a:schemeClr val="tx1"/>
                </a:solidFill>
              </a:rPr>
              <a:t>while</a:t>
            </a:r>
            <a:r>
              <a:rPr lang="en-US" sz="2400" dirty="0">
                <a:solidFill>
                  <a:schemeClr val="tx1"/>
                </a:solidFill>
              </a:rPr>
              <a:t> g </a:t>
            </a:r>
            <a:r>
              <a:rPr lang="en-US" sz="2400" b="1" dirty="0">
                <a:solidFill>
                  <a:srgbClr val="C00000"/>
                </a:solidFill>
              </a:rPr>
              <a:t>/\  h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tx1"/>
                </a:solidFill>
              </a:rPr>
              <a:t>do</a:t>
            </a:r>
            <a:r>
              <a:rPr lang="en-US" sz="2400" dirty="0">
                <a:solidFill>
                  <a:schemeClr val="tx1"/>
                </a:solidFill>
              </a:rPr>
              <a:t> S   {* Q *}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77D8C-7BA0-BC41-905D-E3DBDEA7DE8D}"/>
              </a:ext>
            </a:extLst>
          </p:cNvPr>
          <p:cNvSpPr txBox="1"/>
          <p:nvPr/>
        </p:nvSpPr>
        <p:spPr>
          <a:xfrm>
            <a:off x="1042734" y="219960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039C8-5366-3244-B348-AEDFE7A72CC8}"/>
              </a:ext>
            </a:extLst>
          </p:cNvPr>
          <p:cNvSpPr txBox="1"/>
          <p:nvPr/>
        </p:nvSpPr>
        <p:spPr>
          <a:xfrm>
            <a:off x="1042734" y="388396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821892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04A-5A2F-8442-99C4-2CA29AF2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with</a:t>
            </a:r>
            <a:r>
              <a:rPr lang="nl-NL" dirty="0"/>
              <a:t> breaks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BC08-3A0C-FA40-A5E8-DD95B9AA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514600"/>
            <a:ext cx="8305800" cy="388619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So to prove that (2) is valid, given (1) from the previous slide, we only need to prove that when (2) terminates early because h becomes false, then it will also terminate in Q. In other words, we only need to prove: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where I is the invariant used in (1).</a:t>
            </a:r>
          </a:p>
          <a:p>
            <a:pPr marL="0" indent="0" algn="just">
              <a:buNone/>
            </a:pPr>
            <a:endParaRPr lang="en-US" dirty="0"/>
          </a:p>
          <a:p>
            <a:pPr marL="344487" lvl="1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C28F-DF61-C240-AD1D-163C67583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995E38-D31E-1B44-B3B0-ABF876A42F83}"/>
              </a:ext>
            </a:extLst>
          </p:cNvPr>
          <p:cNvSpPr/>
          <p:nvPr/>
        </p:nvSpPr>
        <p:spPr>
          <a:xfrm>
            <a:off x="1981200" y="1371600"/>
            <a:ext cx="53340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P *}   </a:t>
            </a:r>
            <a:r>
              <a:rPr lang="en-US" sz="2400" b="1" dirty="0">
                <a:solidFill>
                  <a:schemeClr val="tx1"/>
                </a:solidFill>
              </a:rPr>
              <a:t>while</a:t>
            </a:r>
            <a:r>
              <a:rPr lang="en-US" sz="2400" dirty="0">
                <a:solidFill>
                  <a:schemeClr val="tx1"/>
                </a:solidFill>
              </a:rPr>
              <a:t> g </a:t>
            </a:r>
            <a:r>
              <a:rPr lang="en-US" sz="2400" b="1" dirty="0">
                <a:solidFill>
                  <a:srgbClr val="C00000"/>
                </a:solidFill>
              </a:rPr>
              <a:t>/\  h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tx1"/>
                </a:solidFill>
              </a:rPr>
              <a:t>do</a:t>
            </a:r>
            <a:r>
              <a:rPr lang="en-US" sz="2400" dirty="0">
                <a:solidFill>
                  <a:schemeClr val="tx1"/>
                </a:solidFill>
              </a:rPr>
              <a:t> S   {* Q *}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039C8-5366-3244-B348-AEDFE7A72CC8}"/>
              </a:ext>
            </a:extLst>
          </p:cNvPr>
          <p:cNvSpPr txBox="1"/>
          <p:nvPr/>
        </p:nvSpPr>
        <p:spPr>
          <a:xfrm>
            <a:off x="1282485" y="144556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3E4141-4B8F-FE46-9184-02DC152498DB}"/>
              </a:ext>
            </a:extLst>
          </p:cNvPr>
          <p:cNvSpPr/>
          <p:nvPr/>
        </p:nvSpPr>
        <p:spPr>
          <a:xfrm>
            <a:off x="3048000" y="4343400"/>
            <a:ext cx="32004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 /\ g /\ ¬h  ⇒  Q</a:t>
            </a:r>
          </a:p>
        </p:txBody>
      </p:sp>
    </p:spTree>
    <p:extLst>
      <p:ext uri="{BB962C8B-B14F-4D97-AF65-F5344CB8AC3E}">
        <p14:creationId xmlns:p14="http://schemas.microsoft.com/office/powerpoint/2010/main" val="646753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9007E-39CF-44E3-BC08-211CD164AC3C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E5C2E6-0FDA-4479-82DB-60D055CF02B7}" type="slidenum">
              <a:rPr lang="en-US" altLang="en-US" sz="1200">
                <a:latin typeface="+mj-lt"/>
              </a:rPr>
              <a:pPr algn="r">
                <a:defRPr/>
              </a:pPr>
              <a:t>30</a:t>
            </a:fld>
            <a:endParaRPr lang="en-US" altLang="en-US" sz="1200">
              <a:latin typeface="+mj-lt"/>
            </a:endParaRPr>
          </a:p>
        </p:txBody>
      </p:sp>
      <p:sp>
        <p:nvSpPr>
          <p:cNvPr id="6149" name="TextBox 5"/>
          <p:cNvSpPr txBox="1">
            <a:spLocks noChangeArrowheads="1"/>
          </p:cNvSpPr>
          <p:nvPr/>
        </p:nvSpPr>
        <p:spPr bwMode="auto">
          <a:xfrm>
            <a:off x="2286000" y="1676400"/>
            <a:ext cx="4286751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{* 0</a:t>
            </a:r>
            <a:r>
              <a:rPr lang="en-US" sz="2400" dirty="0">
                <a:sym typeface="Symbol" pitchFamily="16" charset="2"/>
              </a:rPr>
              <a:t>n</a:t>
            </a:r>
            <a:r>
              <a:rPr lang="en-US" sz="2400" dirty="0"/>
              <a:t> *}  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 err="1"/>
              <a:t>i</a:t>
            </a:r>
            <a:r>
              <a:rPr lang="en-US" sz="2400" dirty="0"/>
              <a:t> := 0 ; r := true ;</a:t>
            </a:r>
            <a:br>
              <a:rPr lang="en-US" sz="2400" dirty="0"/>
            </a:br>
            <a:r>
              <a:rPr lang="en-US" sz="2400" b="1" dirty="0"/>
              <a:t>while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&lt;n </a:t>
            </a:r>
            <a:r>
              <a:rPr lang="en-US" sz="2400" dirty="0">
                <a:solidFill>
                  <a:srgbClr val="C00000"/>
                </a:solidFill>
              </a:rPr>
              <a:t>    </a:t>
            </a:r>
            <a:r>
              <a:rPr lang="en-US" sz="2400" dirty="0"/>
              <a:t>      </a:t>
            </a:r>
            <a:r>
              <a:rPr lang="en-US" sz="2400" b="1" dirty="0"/>
              <a:t>do</a:t>
            </a:r>
            <a:r>
              <a:rPr lang="en-US" sz="2400" dirty="0"/>
              <a:t>  { </a:t>
            </a:r>
          </a:p>
          <a:p>
            <a:r>
              <a:rPr lang="en-US" sz="2400" dirty="0"/>
              <a:t>     r := r /\ (a[</a:t>
            </a:r>
            <a:r>
              <a:rPr lang="en-US" sz="2400" dirty="0" err="1"/>
              <a:t>i</a:t>
            </a:r>
            <a:r>
              <a:rPr lang="en-US" sz="2400" dirty="0"/>
              <a:t>]=0)  ;  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</a:t>
            </a:r>
            <a:r>
              <a:rPr lang="en-US" sz="2400" dirty="0"/>
              <a:t>++ </a:t>
            </a:r>
          </a:p>
          <a:p>
            <a:r>
              <a:rPr lang="en-US" sz="2400" dirty="0"/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{*  r  = (</a:t>
            </a:r>
            <a:r>
              <a:rPr lang="en-US" sz="2400" dirty="0">
                <a:sym typeface="Symbol"/>
              </a:rPr>
              <a:t>k : 0k&lt;n : a[k]=0) </a:t>
            </a:r>
            <a:r>
              <a:rPr lang="en-US" sz="2400" dirty="0">
                <a:sym typeface="Symbol" pitchFamily="16" charset="2"/>
              </a:rPr>
              <a:t>*}</a:t>
            </a:r>
            <a:r>
              <a:rPr lang="en-US" sz="2400" dirty="0"/>
              <a:t> </a:t>
            </a:r>
          </a:p>
          <a:p>
            <a:endParaRPr lang="nl-NL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927272" y="2743200"/>
            <a:ext cx="64472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nl-NL" sz="2400" b="1" dirty="0">
                <a:solidFill>
                  <a:srgbClr val="C00000"/>
                </a:solidFill>
              </a:rPr>
              <a:t>/\  </a:t>
            </a:r>
            <a:r>
              <a:rPr lang="nl-NL" sz="2400" b="1" dirty="0">
                <a:solidFill>
                  <a:srgbClr val="C00000"/>
                </a:solidFill>
                <a:sym typeface="Symbol"/>
              </a:rPr>
              <a:t>r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12BF7F-5D59-8242-9CC9-69F3CD2DE71B}"/>
              </a:ext>
            </a:extLst>
          </p:cNvPr>
          <p:cNvSpPr/>
          <p:nvPr/>
        </p:nvSpPr>
        <p:spPr>
          <a:xfrm>
            <a:off x="1981199" y="2362200"/>
            <a:ext cx="4724401" cy="2057399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1D010B-D27E-8C40-AC25-C27F44A98EF4}"/>
              </a:ext>
            </a:extLst>
          </p:cNvPr>
          <p:cNvSpPr/>
          <p:nvPr/>
        </p:nvSpPr>
        <p:spPr>
          <a:xfrm>
            <a:off x="1981198" y="1676400"/>
            <a:ext cx="4724401" cy="533400"/>
          </a:xfrm>
          <a:prstGeom prst="roundRect">
            <a:avLst>
              <a:gd name="adj" fmla="val 26980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F19ACF-1A26-6C4E-A9A4-D22801900058}"/>
              </a:ext>
            </a:extLst>
          </p:cNvPr>
          <p:cNvSpPr/>
          <p:nvPr/>
        </p:nvSpPr>
        <p:spPr>
          <a:xfrm>
            <a:off x="1981197" y="4571999"/>
            <a:ext cx="4724401" cy="533400"/>
          </a:xfrm>
          <a:prstGeom prst="roundRect">
            <a:avLst>
              <a:gd name="adj" fmla="val 24889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F04303-2312-8749-BF92-44306799DF85}"/>
              </a:ext>
            </a:extLst>
          </p:cNvPr>
          <p:cNvSpPr txBox="1"/>
          <p:nvPr/>
        </p:nvSpPr>
        <p:spPr>
          <a:xfrm>
            <a:off x="533400" y="5381387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have proven the basic form of this program (without the break with /\ r) before. Now prove that with the break the program is still correct.</a:t>
            </a:r>
          </a:p>
        </p:txBody>
      </p:sp>
    </p:spTree>
    <p:extLst>
      <p:ext uri="{BB962C8B-B14F-4D97-AF65-F5344CB8AC3E}">
        <p14:creationId xmlns:p14="http://schemas.microsoft.com/office/powerpoint/2010/main" val="1100467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Dealing with more constructs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LN Section 6.10 -- 6.12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89BEA-1C58-40DB-8729-2A2D40E07DD2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539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Simultant</a:t>
            </a:r>
            <a:r>
              <a:rPr lang="en-US" dirty="0"/>
              <a:t>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14600"/>
            <a:ext cx="8686800" cy="3886200"/>
          </a:xfrm>
        </p:spPr>
        <p:txBody>
          <a:bodyPr/>
          <a:lstStyle/>
          <a:p>
            <a:r>
              <a:rPr lang="en-US" dirty="0" err="1">
                <a:sym typeface="Wingdings"/>
              </a:rPr>
              <a:t>Simultant</a:t>
            </a:r>
            <a:r>
              <a:rPr lang="en-US" dirty="0">
                <a:sym typeface="Wingdings"/>
              </a:rPr>
              <a:t> assignment </a:t>
            </a:r>
            <a:r>
              <a:rPr lang="en-US" i="1" dirty="0" err="1">
                <a:sym typeface="Wingdings"/>
              </a:rPr>
              <a:t>x,y</a:t>
            </a:r>
            <a:r>
              <a:rPr lang="en-US" dirty="0">
                <a:sym typeface="Wingdings"/>
              </a:rPr>
              <a:t> := 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,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 evaluates 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and </a:t>
            </a:r>
            <a:r>
              <a:rPr lang="en-US" i="1" dirty="0">
                <a:sym typeface="Wingdings"/>
              </a:rPr>
              <a:t>e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 in the current state to values </a:t>
            </a:r>
            <a:r>
              <a:rPr lang="en-US" i="1" dirty="0">
                <a:sym typeface="Wingdings"/>
              </a:rPr>
              <a:t>v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and </a:t>
            </a:r>
            <a:r>
              <a:rPr lang="en-US" i="1" dirty="0">
                <a:sym typeface="Wingdings"/>
              </a:rPr>
              <a:t>v</a:t>
            </a:r>
            <a:r>
              <a:rPr lang="en-US" baseline="-25000" dirty="0">
                <a:sym typeface="Wingdings"/>
              </a:rPr>
              <a:t>2</a:t>
            </a:r>
            <a:r>
              <a:rPr lang="en-US" dirty="0">
                <a:sym typeface="Wingdings"/>
              </a:rPr>
              <a:t>, then assign these to </a:t>
            </a:r>
            <a:r>
              <a:rPr lang="en-US" i="1" dirty="0">
                <a:sym typeface="Wingdings"/>
              </a:rPr>
              <a:t>x</a:t>
            </a:r>
            <a:r>
              <a:rPr lang="en-US" dirty="0">
                <a:sym typeface="Wingdings"/>
              </a:rPr>
              <a:t> and </a:t>
            </a:r>
            <a:r>
              <a:rPr lang="en-US" i="1" dirty="0">
                <a:sym typeface="Wingdings"/>
              </a:rPr>
              <a:t>y</a:t>
            </a:r>
            <a:r>
              <a:rPr lang="en-US" dirty="0">
                <a:sym typeface="Wingdings"/>
              </a:rPr>
              <a:t> respectively.</a:t>
            </a:r>
          </a:p>
          <a:p>
            <a:endParaRPr lang="en-US" dirty="0">
              <a:sym typeface="Wingdings"/>
            </a:endParaRPr>
          </a:p>
          <a:p>
            <a:pPr marL="0" indent="0">
              <a:buNone/>
            </a:pPr>
            <a:endParaRPr lang="en-US" dirty="0">
              <a:sym typeface="Wingdings"/>
            </a:endParaRPr>
          </a:p>
          <a:p>
            <a:pPr algn="just"/>
            <a:r>
              <a:rPr lang="en-US" dirty="0" err="1">
                <a:sym typeface="Wingdings"/>
              </a:rPr>
              <a:t>Simultant</a:t>
            </a:r>
            <a:r>
              <a:rPr lang="en-US" dirty="0">
                <a:sym typeface="Wingdings"/>
              </a:rPr>
              <a:t> substitution </a:t>
            </a:r>
            <a:r>
              <a:rPr lang="en-US" dirty="0"/>
              <a:t>Q[e</a:t>
            </a:r>
            <a:r>
              <a:rPr lang="en-US" baseline="-25000" dirty="0"/>
              <a:t>1</a:t>
            </a:r>
            <a:r>
              <a:rPr lang="en-US" dirty="0"/>
              <a:t>,e</a:t>
            </a:r>
            <a:r>
              <a:rPr lang="en-US" baseline="-25000" dirty="0"/>
              <a:t>2</a:t>
            </a:r>
            <a:r>
              <a:rPr lang="en-US" dirty="0"/>
              <a:t>/</a:t>
            </a:r>
            <a:r>
              <a:rPr lang="en-US" dirty="0" err="1"/>
              <a:t>x,y</a:t>
            </a:r>
            <a:r>
              <a:rPr lang="en-US" dirty="0"/>
              <a:t>] replaces any free occurrence of x in Q with e</a:t>
            </a:r>
            <a:r>
              <a:rPr lang="en-US" baseline="-25000" dirty="0"/>
              <a:t>1</a:t>
            </a:r>
            <a:r>
              <a:rPr lang="en-US" dirty="0"/>
              <a:t>, and y with e</a:t>
            </a:r>
            <a:r>
              <a:rPr lang="en-US" baseline="-25000" dirty="0"/>
              <a:t>2</a:t>
            </a:r>
            <a:r>
              <a:rPr lang="en-US" dirty="0"/>
              <a:t>. In particular, we should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do the substitution of y </a:t>
            </a:r>
            <a:r>
              <a:rPr lang="en-US" b="1" dirty="0"/>
              <a:t>after</a:t>
            </a:r>
            <a:r>
              <a:rPr lang="en-US" dirty="0"/>
              <a:t> the substitution of x, nor the other way around.</a:t>
            </a:r>
          </a:p>
          <a:p>
            <a:pPr marL="0" indent="0">
              <a:buNone/>
            </a:pPr>
            <a:endParaRPr lang="en-US" dirty="0"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53E31-3B05-8049-B246-D1562B3D2C40}"/>
              </a:ext>
            </a:extLst>
          </p:cNvPr>
          <p:cNvSpPr/>
          <p:nvPr/>
        </p:nvSpPr>
        <p:spPr>
          <a:xfrm>
            <a:off x="2743200" y="1447800"/>
            <a:ext cx="32004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x,y</a:t>
            </a:r>
            <a:r>
              <a:rPr lang="en-US" sz="2400" dirty="0">
                <a:solidFill>
                  <a:schemeClr val="tx1"/>
                </a:solidFill>
              </a:rPr>
              <a:t> := e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,e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9CE13A-E1AD-4B4F-BD34-40EE5EF84AAF}"/>
              </a:ext>
            </a:extLst>
          </p:cNvPr>
          <p:cNvSpPr/>
          <p:nvPr/>
        </p:nvSpPr>
        <p:spPr>
          <a:xfrm>
            <a:off x="1866900" y="3843454"/>
            <a:ext cx="5410200" cy="6096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>
                <a:solidFill>
                  <a:schemeClr val="tx1"/>
                </a:solidFill>
              </a:rPr>
              <a:t> (</a:t>
            </a:r>
            <a:r>
              <a:rPr lang="en-US" sz="2400" dirty="0" err="1">
                <a:solidFill>
                  <a:schemeClr val="tx1"/>
                </a:solidFill>
              </a:rPr>
              <a:t>x,y</a:t>
            </a:r>
            <a:r>
              <a:rPr lang="en-US" sz="2400" dirty="0">
                <a:solidFill>
                  <a:schemeClr val="tx1"/>
                </a:solidFill>
              </a:rPr>
              <a:t> := e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,e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) Q  =  Q[e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,e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x,y</a:t>
            </a:r>
            <a:r>
              <a:rPr lang="en-US" sz="2400" dirty="0">
                <a:solidFill>
                  <a:schemeClr val="tx1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1987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B31E94-ECE3-D94E-BA02-FBBA38B2846D}"/>
              </a:ext>
            </a:extLst>
          </p:cNvPr>
          <p:cNvSpPr/>
          <p:nvPr/>
        </p:nvSpPr>
        <p:spPr>
          <a:xfrm>
            <a:off x="5090532" y="4904678"/>
            <a:ext cx="2300868" cy="609600"/>
          </a:xfrm>
          <a:prstGeom prst="roundRect">
            <a:avLst>
              <a:gd name="adj" fmla="val 14436"/>
            </a:avLst>
          </a:prstGeom>
          <a:solidFill>
            <a:srgbClr val="FFC000">
              <a:alpha val="14000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B6CAC35-5021-AC48-9262-149A252F067E}"/>
              </a:ext>
            </a:extLst>
          </p:cNvPr>
          <p:cNvSpPr/>
          <p:nvPr/>
        </p:nvSpPr>
        <p:spPr>
          <a:xfrm>
            <a:off x="5090532" y="3625076"/>
            <a:ext cx="2300868" cy="609600"/>
          </a:xfrm>
          <a:prstGeom prst="roundRect">
            <a:avLst>
              <a:gd name="adj" fmla="val 14436"/>
            </a:avLst>
          </a:prstGeom>
          <a:solidFill>
            <a:srgbClr val="FFC000">
              <a:alpha val="14000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B91FB0-68C1-284F-B3DC-C67550D057B7}"/>
              </a:ext>
            </a:extLst>
          </p:cNvPr>
          <p:cNvSpPr/>
          <p:nvPr/>
        </p:nvSpPr>
        <p:spPr>
          <a:xfrm>
            <a:off x="5105400" y="2362200"/>
            <a:ext cx="2286000" cy="609600"/>
          </a:xfrm>
          <a:prstGeom prst="roundRect">
            <a:avLst>
              <a:gd name="adj" fmla="val 14436"/>
            </a:avLst>
          </a:prstGeom>
          <a:solidFill>
            <a:srgbClr val="FFC000">
              <a:alpha val="14000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3A4F67-D7AE-9345-944E-72242B3C79F4}"/>
              </a:ext>
            </a:extLst>
          </p:cNvPr>
          <p:cNvSpPr/>
          <p:nvPr/>
        </p:nvSpPr>
        <p:spPr>
          <a:xfrm>
            <a:off x="1111405" y="3657600"/>
            <a:ext cx="1905000" cy="6096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65C7D9-00F1-DB42-B808-8C61C7EFE371}"/>
              </a:ext>
            </a:extLst>
          </p:cNvPr>
          <p:cNvSpPr/>
          <p:nvPr/>
        </p:nvSpPr>
        <p:spPr>
          <a:xfrm>
            <a:off x="1143000" y="2362200"/>
            <a:ext cx="1905000" cy="6096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F2B5-FACE-2F4F-874A-30FC67B0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order of assignment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97C1-C117-394D-8F9D-1F733059B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order in which you assign variables matters (you already know this). E.g. these three have different behavior: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C00000"/>
                </a:solidFill>
              </a:rPr>
              <a:t>x:=x*y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7030A0"/>
                </a:solidFill>
              </a:rPr>
              <a:t>y:=</a:t>
            </a:r>
            <a:r>
              <a:rPr lang="en-US" sz="2000" dirty="0" err="1">
                <a:solidFill>
                  <a:srgbClr val="7030A0"/>
                </a:solidFill>
              </a:rPr>
              <a:t>x+y</a:t>
            </a:r>
            <a:r>
              <a:rPr lang="en-US" sz="2000" dirty="0"/>
              <a:t>)  (x=2 /\ y=1)     =       </a:t>
            </a:r>
            <a:r>
              <a:rPr lang="en-US" sz="2000" dirty="0" err="1"/>
              <a:t>xy</a:t>
            </a:r>
            <a:r>
              <a:rPr lang="en-US" sz="2000" dirty="0"/>
              <a:t>=2  /\  </a:t>
            </a:r>
            <a:r>
              <a:rPr lang="en-US" sz="2000" dirty="0" err="1"/>
              <a:t>xy+y</a:t>
            </a:r>
            <a:r>
              <a:rPr lang="en-US" sz="2000" dirty="0"/>
              <a:t>=1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  equivalent to:  x=-2 /\  y=-1 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7030A0"/>
                </a:solidFill>
              </a:rPr>
              <a:t>y:=</a:t>
            </a:r>
            <a:r>
              <a:rPr lang="en-US" sz="2000" dirty="0" err="1">
                <a:solidFill>
                  <a:srgbClr val="7030A0"/>
                </a:solidFill>
              </a:rPr>
              <a:t>x+y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C00000"/>
                </a:solidFill>
              </a:rPr>
              <a:t>x:=x*y</a:t>
            </a:r>
            <a:r>
              <a:rPr lang="en-US" sz="2000" dirty="0"/>
              <a:t>)   (x=2 /\ y=1)    =     x(</a:t>
            </a:r>
            <a:r>
              <a:rPr lang="en-US" sz="2000" dirty="0" err="1"/>
              <a:t>x+y</a:t>
            </a:r>
            <a:r>
              <a:rPr lang="en-US" sz="2000" dirty="0"/>
              <a:t>)=2 /\  </a:t>
            </a:r>
            <a:r>
              <a:rPr lang="en-US" sz="2000" dirty="0" err="1"/>
              <a:t>x+y</a:t>
            </a:r>
            <a:r>
              <a:rPr lang="en-US" sz="2000" dirty="0"/>
              <a:t>=1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 equivalent to: x=2 /\y=-1</a:t>
            </a:r>
          </a:p>
          <a:p>
            <a:pPr marL="0" indent="0">
              <a:buNone/>
            </a:pPr>
            <a:br>
              <a:rPr lang="en-US" sz="2000" b="1" dirty="0">
                <a:solidFill>
                  <a:srgbClr val="0070C0"/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70C0"/>
                </a:solidFill>
              </a:rPr>
              <a:t>wp</a:t>
            </a:r>
            <a:r>
              <a:rPr lang="en-US" sz="2000" dirty="0"/>
              <a:t>  (</a:t>
            </a:r>
            <a:r>
              <a:rPr lang="en-US" sz="2000" dirty="0" err="1"/>
              <a:t>x,y</a:t>
            </a:r>
            <a:r>
              <a:rPr lang="en-US" sz="2000" dirty="0"/>
              <a:t> := x*y, </a:t>
            </a:r>
            <a:r>
              <a:rPr lang="en-US" sz="2000" dirty="0" err="1"/>
              <a:t>x+y</a:t>
            </a:r>
            <a:r>
              <a:rPr lang="en-US" sz="2000" dirty="0"/>
              <a:t>)   (x=2 /\ y=1)    =        </a:t>
            </a:r>
            <a:r>
              <a:rPr lang="en-US" sz="2000" dirty="0" err="1"/>
              <a:t>xy</a:t>
            </a:r>
            <a:r>
              <a:rPr lang="en-US" sz="2000" dirty="0"/>
              <a:t>=2 /\ </a:t>
            </a:r>
            <a:r>
              <a:rPr lang="en-US" sz="2000" dirty="0" err="1"/>
              <a:t>x+y</a:t>
            </a:r>
            <a:r>
              <a:rPr lang="en-US" sz="2000" dirty="0"/>
              <a:t>=1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 which </a:t>
            </a:r>
            <a:r>
              <a:rPr lang="en-US" sz="2000" dirty="0">
                <a:sym typeface="Wingdings" pitchFamily="2" charset="2"/>
              </a:rPr>
              <a:t>has no integer solution.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43944-88B1-FA4F-9587-C7E80A298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86DB4E-FF7D-1D4E-AF91-A463B0026A26}"/>
              </a:ext>
            </a:extLst>
          </p:cNvPr>
          <p:cNvSpPr/>
          <p:nvPr/>
        </p:nvSpPr>
        <p:spPr>
          <a:xfrm>
            <a:off x="1070517" y="4904678"/>
            <a:ext cx="1905000" cy="609600"/>
          </a:xfrm>
          <a:prstGeom prst="roundRect">
            <a:avLst>
              <a:gd name="adj" fmla="val 14436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60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into an array</a:t>
            </a:r>
            <a:endParaRPr lang="nl-NL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3063875"/>
          </a:xfrm>
        </p:spPr>
        <p:txBody>
          <a:bodyPr/>
          <a:lstStyle/>
          <a:p>
            <a:r>
              <a:rPr lang="en-US" dirty="0"/>
              <a:t>Recall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Unfortunately this rule does not extend to  a[e</a:t>
            </a:r>
            <a:r>
              <a:rPr lang="en-US" baseline="-25000" dirty="0"/>
              <a:t>1</a:t>
            </a:r>
            <a:r>
              <a:rPr lang="en-US" dirty="0"/>
              <a:t>]  :=  e</a:t>
            </a:r>
            <a:r>
              <a:rPr lang="en-US" baseline="-25000" dirty="0"/>
              <a:t>2</a:t>
            </a:r>
            <a:r>
              <a:rPr lang="en-US" dirty="0"/>
              <a:t>. Consider these examples, where the pre-condition is obtained by literally applying the above calculation rule:</a:t>
            </a:r>
          </a:p>
          <a:p>
            <a:pPr>
              <a:buFont typeface="Wingdings" charset="2"/>
              <a:buNone/>
            </a:pPr>
            <a:r>
              <a:rPr lang="en-US" dirty="0"/>
              <a:t>		 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C315C8-5F04-44B9-8415-F0F08F131F3A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62034" y="4227777"/>
            <a:ext cx="2220099" cy="461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y = 10  *}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855984" y="4215077"/>
            <a:ext cx="1184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a[</a:t>
            </a:r>
            <a:r>
              <a:rPr lang="en-US" sz="2400" dirty="0" err="1"/>
              <a:t>i</a:t>
            </a:r>
            <a:r>
              <a:rPr lang="en-US" sz="2400" dirty="0"/>
              <a:t>] := y</a:t>
            </a:r>
            <a:endParaRPr lang="nl-NL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365697" y="4236760"/>
            <a:ext cx="2260600" cy="461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{*  a[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] = 10  *}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2034" y="4983427"/>
            <a:ext cx="2260600" cy="461962"/>
          </a:xfrm>
          <a:prstGeom prst="rect">
            <a:avLst/>
          </a:prstGeom>
          <a:solidFill>
            <a:srgbClr val="990033"/>
          </a:solidFill>
          <a:ln>
            <a:solidFill>
              <a:srgbClr val="99003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/>
              <a:t>{*  a[0] = 10  *} </a:t>
            </a:r>
            <a:endParaRPr lang="nl-NL" sz="240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78209" y="4964377"/>
            <a:ext cx="1182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a[i] := y</a:t>
            </a:r>
            <a:endParaRPr lang="nl-NL" sz="2400"/>
          </a:p>
        </p:txBody>
      </p:sp>
      <p:sp>
        <p:nvSpPr>
          <p:cNvPr id="10" name="TextBox 9"/>
          <p:cNvSpPr txBox="1"/>
          <p:nvPr/>
        </p:nvSpPr>
        <p:spPr>
          <a:xfrm>
            <a:off x="6365697" y="4958027"/>
            <a:ext cx="2260600" cy="461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{*  a[0] = 10  *} </a:t>
            </a:r>
            <a:endParaRPr lang="nl-NL" sz="24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4294697"/>
            <a:ext cx="16097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00B0F0"/>
                </a:solidFill>
              </a:rPr>
              <a:t>(valid pre-</a:t>
            </a:r>
            <a:r>
              <a:rPr lang="en-US" sz="1600" dirty="0" err="1">
                <a:solidFill>
                  <a:srgbClr val="00B0F0"/>
                </a:solidFill>
              </a:rPr>
              <a:t>cond</a:t>
            </a:r>
            <a:r>
              <a:rPr lang="en-US" sz="1600" dirty="0">
                <a:solidFill>
                  <a:srgbClr val="00B0F0"/>
                </a:solidFill>
              </a:rPr>
              <a:t>)</a:t>
            </a:r>
            <a:endParaRPr lang="nl-NL" sz="16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632" y="5035649"/>
            <a:ext cx="21242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C00000"/>
                </a:solidFill>
              </a:rPr>
              <a:t>(not a valid pre-</a:t>
            </a:r>
            <a:r>
              <a:rPr lang="en-US" sz="1600" dirty="0" err="1">
                <a:solidFill>
                  <a:srgbClr val="C00000"/>
                </a:solidFill>
              </a:rPr>
              <a:t>cond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  <a:endParaRPr lang="nl-NL" sz="1600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2151" y="5751636"/>
            <a:ext cx="3440365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{*  (</a:t>
            </a:r>
            <a:r>
              <a:rPr lang="en-US" sz="2000" dirty="0" err="1">
                <a:solidFill>
                  <a:schemeClr val="tx1"/>
                </a:solidFill>
              </a:rPr>
              <a:t>i</a:t>
            </a:r>
            <a:r>
              <a:rPr lang="en-US" sz="2000" dirty="0">
                <a:solidFill>
                  <a:schemeClr val="tx1"/>
                </a:solidFill>
              </a:rPr>
              <a:t>=0  </a:t>
            </a:r>
            <a:r>
              <a:rPr lang="en-US" sz="2000" dirty="0">
                <a:solidFill>
                  <a:schemeClr val="tx1"/>
                </a:solidFill>
                <a:sym typeface="Symbol"/>
              </a:rPr>
              <a:t> y  |  </a:t>
            </a:r>
            <a:r>
              <a:rPr lang="en-US" sz="2000" dirty="0">
                <a:solidFill>
                  <a:schemeClr val="tx1"/>
                </a:solidFill>
              </a:rPr>
              <a:t>a[0])  = 10  *} </a:t>
            </a:r>
            <a:endParaRPr lang="nl-NL" sz="2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cxnSpLocks/>
            <a:stCxn id="13" idx="0"/>
            <a:endCxn id="8" idx="2"/>
          </p:cNvCxnSpPr>
          <p:nvPr/>
        </p:nvCxnSpPr>
        <p:spPr>
          <a:xfrm flipV="1">
            <a:off x="3592334" y="5445389"/>
            <a:ext cx="0" cy="3062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1554BAD-A98D-804E-8AA8-1ADA7D76B782}"/>
              </a:ext>
            </a:extLst>
          </p:cNvPr>
          <p:cNvSpPr/>
          <p:nvPr/>
        </p:nvSpPr>
        <p:spPr>
          <a:xfrm>
            <a:off x="2424771" y="1742726"/>
            <a:ext cx="4724400" cy="693737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dirty="0">
                <a:solidFill>
                  <a:schemeClr val="tx1"/>
                </a:solidFill>
              </a:rPr>
              <a:t>(x:=e)  Q     =     Q[e/x]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8175C-9890-434C-8DDD-088AF3D1FB28}"/>
              </a:ext>
            </a:extLst>
          </p:cNvPr>
          <p:cNvSpPr txBox="1"/>
          <p:nvPr/>
        </p:nvSpPr>
        <p:spPr>
          <a:xfrm>
            <a:off x="1265743" y="5763057"/>
            <a:ext cx="5725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C00000"/>
                </a:solidFill>
              </a:rPr>
              <a:t>Fix :</a:t>
            </a:r>
            <a:endParaRPr lang="nl-NL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formalism</a:t>
            </a:r>
            <a:endParaRPr lang="nl-NL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 be an array. Introduce this notation to mean the same array as a, except its </a:t>
            </a:r>
            <a:r>
              <a:rPr lang="en-US" dirty="0" err="1"/>
              <a:t>i-th</a:t>
            </a:r>
            <a:r>
              <a:rPr lang="en-US" dirty="0"/>
              <a:t>  element, which is e: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	</a:t>
            </a:r>
          </a:p>
          <a:p>
            <a:r>
              <a:rPr lang="en-US" dirty="0"/>
              <a:t>Formally defined via this equation: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Treat array assignments like a[</a:t>
            </a:r>
            <a:r>
              <a:rPr lang="en-US" dirty="0" err="1"/>
              <a:t>i</a:t>
            </a:r>
            <a:r>
              <a:rPr lang="en-US" dirty="0"/>
              <a:t>] := e as the assignment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	</a:t>
            </a:r>
            <a:r>
              <a:rPr lang="en-US" dirty="0">
                <a:sym typeface="Wingdings" charset="2"/>
              </a:rPr>
              <a:t>a  :=  a(</a:t>
            </a:r>
            <a:r>
              <a:rPr lang="en-US" dirty="0" err="1">
                <a:sym typeface="Wingdings" charset="2"/>
              </a:rPr>
              <a:t>i</a:t>
            </a:r>
            <a:r>
              <a:rPr lang="en-US" dirty="0">
                <a:sym typeface="Wingdings" charset="2"/>
              </a:rPr>
              <a:t> </a:t>
            </a:r>
            <a:r>
              <a:rPr lang="en-US" b="1" dirty="0" err="1">
                <a:sym typeface="Wingdings" charset="2"/>
              </a:rPr>
              <a:t>repby</a:t>
            </a:r>
            <a:r>
              <a:rPr lang="en-US" dirty="0">
                <a:sym typeface="Wingdings" charset="2"/>
              </a:rPr>
              <a:t> e)</a:t>
            </a:r>
            <a:br>
              <a:rPr lang="en-US" dirty="0">
                <a:sym typeface="Wingdings" charset="2"/>
              </a:rPr>
            </a:br>
            <a:r>
              <a:rPr lang="en-US" dirty="0">
                <a:sym typeface="Wingdings" charset="2"/>
              </a:rPr>
              <a:t>This has the same effect, but now we can safely use the old </a:t>
            </a:r>
            <a:r>
              <a:rPr lang="en-US" dirty="0" err="1">
                <a:sym typeface="Wingdings" charset="2"/>
              </a:rPr>
              <a:t>wp</a:t>
            </a:r>
            <a:r>
              <a:rPr lang="en-US" dirty="0">
                <a:sym typeface="Wingdings" charset="2"/>
              </a:rPr>
              <a:t> rule for assignment.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3D191B-AEC6-4401-8D86-FCC00A6E6D8E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B8B04C-4FC9-3449-B6F5-F829339310C4}"/>
              </a:ext>
            </a:extLst>
          </p:cNvPr>
          <p:cNvSpPr/>
          <p:nvPr/>
        </p:nvSpPr>
        <p:spPr>
          <a:xfrm>
            <a:off x="2514600" y="2133600"/>
            <a:ext cx="41148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 (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  </a:t>
            </a:r>
            <a:r>
              <a:rPr lang="en-US" sz="2800" b="1" dirty="0" err="1">
                <a:solidFill>
                  <a:schemeClr val="tx1"/>
                </a:solidFill>
              </a:rPr>
              <a:t>repby</a:t>
            </a:r>
            <a:r>
              <a:rPr lang="en-US" sz="2800" dirty="0">
                <a:solidFill>
                  <a:schemeClr val="tx1"/>
                </a:solidFill>
              </a:rPr>
              <a:t>  e)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0ACD35-F41E-7E48-9D37-520D6E897881}"/>
              </a:ext>
            </a:extLst>
          </p:cNvPr>
          <p:cNvSpPr/>
          <p:nvPr/>
        </p:nvSpPr>
        <p:spPr>
          <a:xfrm>
            <a:off x="1485900" y="3451303"/>
            <a:ext cx="6172200" cy="71739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a(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 err="1">
                <a:solidFill>
                  <a:schemeClr val="tx1"/>
                </a:solidFill>
              </a:rPr>
              <a:t>repby</a:t>
            </a:r>
            <a:r>
              <a:rPr lang="en-US" sz="2400" dirty="0">
                <a:solidFill>
                  <a:schemeClr val="tx1"/>
                </a:solidFill>
              </a:rPr>
              <a:t>  e)[k]     </a:t>
            </a:r>
            <a:r>
              <a:rPr lang="en-US" sz="2400" b="1" dirty="0">
                <a:solidFill>
                  <a:srgbClr val="0070C0"/>
                </a:solidFill>
              </a:rPr>
              <a:t>=</a:t>
            </a:r>
            <a:r>
              <a:rPr lang="en-US" sz="2400" dirty="0">
                <a:solidFill>
                  <a:schemeClr val="tx1"/>
                </a:solidFill>
              </a:rPr>
              <a:t>      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=k  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</a:t>
            </a:r>
            <a:r>
              <a:rPr lang="en-US" sz="2400" dirty="0">
                <a:solidFill>
                  <a:schemeClr val="tx1"/>
                </a:solidFill>
              </a:rPr>
              <a:t>  e  |  a[k]</a:t>
            </a:r>
          </a:p>
        </p:txBody>
      </p:sp>
    </p:spTree>
    <p:extLst>
      <p:ext uri="{BB962C8B-B14F-4D97-AF65-F5344CB8AC3E}">
        <p14:creationId xmlns:p14="http://schemas.microsoft.com/office/powerpoint/2010/main" val="21103389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06244A3-699F-144E-9602-2586672766F6}"/>
              </a:ext>
            </a:extLst>
          </p:cNvPr>
          <p:cNvSpPr/>
          <p:nvPr/>
        </p:nvSpPr>
        <p:spPr>
          <a:xfrm>
            <a:off x="3200207" y="1189037"/>
            <a:ext cx="2439987" cy="548268"/>
          </a:xfrm>
          <a:prstGeom prst="roundRect">
            <a:avLst>
              <a:gd name="adj" fmla="val 32741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NL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1654175"/>
          </a:xfrm>
        </p:spPr>
        <p:txBody>
          <a:bodyPr/>
          <a:lstStyle/>
          <a:p>
            <a:r>
              <a:rPr lang="nl-NL" dirty="0"/>
              <a:t>Prove:     {* </a:t>
            </a:r>
            <a:r>
              <a:rPr lang="nl-NL" dirty="0" err="1"/>
              <a:t>i</a:t>
            </a:r>
            <a:r>
              <a:rPr lang="nl-NL" dirty="0" err="1">
                <a:sym typeface="Symbol" pitchFamily="16" charset="2"/>
              </a:rPr>
              <a:t>k</a:t>
            </a:r>
            <a:r>
              <a:rPr lang="nl-NL" dirty="0"/>
              <a:t> *}     a[k]:= 0 ; a[i]:=1     {* a[k] = 0 *}</a:t>
            </a:r>
            <a:endParaRPr lang="en-US" dirty="0"/>
          </a:p>
          <a:p>
            <a:r>
              <a:rPr lang="en-US" dirty="0"/>
              <a:t>Let’s first calculate the </a:t>
            </a:r>
            <a:r>
              <a:rPr lang="en-US" b="1" dirty="0" err="1">
                <a:solidFill>
                  <a:srgbClr val="0070C0"/>
                </a:solidFill>
              </a:rPr>
              <a:t>wp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we need to prove that </a:t>
            </a:r>
            <a:r>
              <a:rPr lang="nl-NL" dirty="0" err="1"/>
              <a:t>i</a:t>
            </a:r>
            <a:r>
              <a:rPr lang="nl-NL" dirty="0" err="1">
                <a:sym typeface="Symbol" pitchFamily="16" charset="2"/>
              </a:rPr>
              <a:t>k</a:t>
            </a:r>
            <a:r>
              <a:rPr lang="nl-NL" dirty="0">
                <a:sym typeface="Symbol" pitchFamily="16" charset="2"/>
              </a:rPr>
              <a:t> </a:t>
            </a:r>
            <a:r>
              <a:rPr lang="nl-NL" dirty="0" err="1">
                <a:sym typeface="Symbol" pitchFamily="16" charset="2"/>
              </a:rPr>
              <a:t>implies</a:t>
            </a:r>
            <a:r>
              <a:rPr lang="nl-NL" dirty="0">
                <a:sym typeface="Symbol" pitchFamily="16" charset="2"/>
              </a:rPr>
              <a:t> </a:t>
            </a:r>
            <a:r>
              <a:rPr lang="nl-NL" dirty="0" err="1">
                <a:sym typeface="Symbol" pitchFamily="16" charset="2"/>
              </a:rPr>
              <a:t>the</a:t>
            </a:r>
            <a:r>
              <a:rPr lang="nl-NL" dirty="0">
                <a:sym typeface="Symbol" pitchFamily="16" charset="2"/>
              </a:rPr>
              <a:t> </a:t>
            </a:r>
            <a:r>
              <a:rPr lang="nl-NL" dirty="0" err="1">
                <a:sym typeface="Symbol" pitchFamily="16" charset="2"/>
              </a:rPr>
              <a:t>wp</a:t>
            </a:r>
            <a:r>
              <a:rPr lang="nl-NL" dirty="0">
                <a:sym typeface="Symbol" pitchFamily="16" charset="2"/>
              </a:rPr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5867400"/>
            <a:ext cx="2133600" cy="457200"/>
          </a:xfrm>
        </p:spPr>
        <p:txBody>
          <a:bodyPr/>
          <a:lstStyle/>
          <a:p>
            <a:pPr>
              <a:defRPr/>
            </a:pPr>
            <a:fld id="{00C12697-8226-47FE-98A3-A38558D932CE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74537" y="5258283"/>
            <a:ext cx="332494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nl-NL" sz="2000" dirty="0">
                <a:solidFill>
                  <a:srgbClr val="0070C0"/>
                </a:solidFill>
              </a:rPr>
              <a:t>{*  a[k] = 0 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68961" y="4734468"/>
            <a:ext cx="34628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/>
              <a:t>a[i]:=1       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//  a := a(i </a:t>
            </a:r>
            <a:r>
              <a:rPr lang="nl-NL" sz="2000" dirty="0" err="1">
                <a:solidFill>
                  <a:schemeClr val="bg1">
                    <a:lumMod val="65000"/>
                  </a:schemeClr>
                </a:solidFill>
              </a:rPr>
              <a:t>repby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 1)</a:t>
            </a:r>
            <a:endParaRPr lang="nl-NL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99937" y="4210653"/>
            <a:ext cx="329954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nl-NL" sz="2000" dirty="0">
                <a:solidFill>
                  <a:srgbClr val="0070C0"/>
                </a:solidFill>
              </a:rPr>
              <a:t>{*  a(i </a:t>
            </a:r>
            <a:r>
              <a:rPr lang="nl-NL" sz="2000" u="sng" dirty="0">
                <a:solidFill>
                  <a:srgbClr val="0070C0"/>
                </a:solidFill>
              </a:rPr>
              <a:t>repby</a:t>
            </a:r>
            <a:r>
              <a:rPr lang="nl-NL" sz="2000" dirty="0">
                <a:solidFill>
                  <a:srgbClr val="0070C0"/>
                </a:solidFill>
              </a:rPr>
              <a:t> 1)[k] = 0 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99937" y="3741424"/>
            <a:ext cx="328327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>
                <a:solidFill>
                  <a:srgbClr val="0070C0"/>
                </a:solidFill>
              </a:rPr>
              <a:t>{*  (i=k  </a:t>
            </a:r>
            <a:r>
              <a:rPr lang="nl-NL" sz="2000" dirty="0">
                <a:solidFill>
                  <a:srgbClr val="0070C0"/>
                </a:solidFill>
                <a:sym typeface="Symbol"/>
              </a:rPr>
              <a:t> 1 | a</a:t>
            </a:r>
            <a:r>
              <a:rPr lang="nl-NL" sz="2000" dirty="0">
                <a:solidFill>
                  <a:srgbClr val="0070C0"/>
                </a:solidFill>
              </a:rPr>
              <a:t>[k])  =   0  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68961" y="3206802"/>
            <a:ext cx="36038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nl-NL" sz="2000" dirty="0"/>
              <a:t>a[k]:=0      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//  a :=  a(k </a:t>
            </a:r>
            <a:r>
              <a:rPr lang="nl-NL" sz="2000" dirty="0" err="1">
                <a:solidFill>
                  <a:schemeClr val="bg1">
                    <a:lumMod val="65000"/>
                  </a:schemeClr>
                </a:solidFill>
              </a:rPr>
              <a:t>repby</a:t>
            </a:r>
            <a:r>
              <a:rPr lang="nl-NL" sz="2000" dirty="0">
                <a:solidFill>
                  <a:schemeClr val="bg1">
                    <a:lumMod val="65000"/>
                  </a:schemeClr>
                </a:solidFill>
              </a:rPr>
              <a:t> 0)</a:t>
            </a:r>
            <a:endParaRPr lang="nl-NL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26432" y="2760863"/>
            <a:ext cx="5241875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nl-NL" sz="2000" dirty="0">
                <a:solidFill>
                  <a:srgbClr val="0070C0"/>
                </a:solidFill>
              </a:rPr>
              <a:t>{*  (1=k </a:t>
            </a:r>
            <a:r>
              <a:rPr lang="nl-NL" sz="2000" dirty="0">
                <a:solidFill>
                  <a:srgbClr val="0070C0"/>
                </a:solidFill>
                <a:sym typeface="Symbol"/>
              </a:rPr>
              <a:t> 1 | </a:t>
            </a:r>
            <a:r>
              <a:rPr lang="nl-NL" sz="2000" dirty="0">
                <a:solidFill>
                  <a:srgbClr val="0070C0"/>
                </a:solidFill>
              </a:rPr>
              <a:t>a(k </a:t>
            </a:r>
            <a:r>
              <a:rPr lang="nl-NL" sz="2000" u="sng" dirty="0">
                <a:solidFill>
                  <a:srgbClr val="0070C0"/>
                </a:solidFill>
              </a:rPr>
              <a:t>repby</a:t>
            </a:r>
            <a:r>
              <a:rPr lang="nl-NL" sz="2000" dirty="0">
                <a:solidFill>
                  <a:srgbClr val="0070C0"/>
                </a:solidFill>
              </a:rPr>
              <a:t> 0)[k]) = 0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5600" y="2282163"/>
            <a:ext cx="3287608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nl-NL" sz="2000" dirty="0">
                <a:solidFill>
                  <a:srgbClr val="0070C0"/>
                </a:solidFill>
              </a:rPr>
              <a:t>{*  i=k  </a:t>
            </a:r>
            <a:r>
              <a:rPr lang="nl-NL" sz="2000" dirty="0">
                <a:solidFill>
                  <a:srgbClr val="0070C0"/>
                </a:solidFill>
                <a:sym typeface="Symbol"/>
              </a:rPr>
              <a:t> 1 | 0</a:t>
            </a:r>
            <a:r>
              <a:rPr lang="nl-NL" sz="2000" dirty="0">
                <a:solidFill>
                  <a:srgbClr val="0070C0"/>
                </a:solidFill>
              </a:rPr>
              <a:t>     =   0 *}</a:t>
            </a:r>
            <a:endParaRPr lang="nl-NL" sz="24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02811" y="4253039"/>
            <a:ext cx="619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wp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78650" y="3822826"/>
            <a:ext cx="12715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def.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repby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4858" y="2809110"/>
            <a:ext cx="619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wp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1585" y="2302252"/>
            <a:ext cx="12715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// def.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repby</a:t>
            </a:r>
            <a:endParaRPr lang="nl-NL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8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10" grpId="0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DB0D-40E5-DB43-98F6-FD86AB84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a program spec to a statement spec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5567-9636-8949-9783-8776DDFA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program below with the given specification.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1800" dirty="0"/>
              <a:t>Note: “return” in the post-condition is a special variable that refers to the P’s return value.</a:t>
            </a:r>
          </a:p>
          <a:p>
            <a:r>
              <a:rPr lang="en-US" dirty="0"/>
              <a:t>Since we define our Hoare logic at the statement level, we first need to ”reduce” such a program-level specification to a specification in terms of its body.</a:t>
            </a:r>
          </a:p>
          <a:p>
            <a:r>
              <a:rPr lang="en-US" dirty="0"/>
              <a:t>Such reduction raises several issues:</a:t>
            </a:r>
          </a:p>
          <a:p>
            <a:pPr lvl="1"/>
            <a:r>
              <a:rPr lang="en-US" dirty="0"/>
              <a:t>What is the logic of a ”return” statement ?</a:t>
            </a:r>
          </a:p>
          <a:p>
            <a:pPr lvl="1"/>
            <a:r>
              <a:rPr lang="en-US" dirty="0"/>
              <a:t>Should x in the </a:t>
            </a:r>
            <a:r>
              <a:rPr lang="en-US" dirty="0" err="1"/>
              <a:t>poscond</a:t>
            </a:r>
            <a:r>
              <a:rPr lang="en-US" dirty="0"/>
              <a:t> refer to its initial or final value?</a:t>
            </a:r>
          </a:p>
          <a:p>
            <a:pPr lvl="1"/>
            <a:r>
              <a:rPr lang="en-US" dirty="0"/>
              <a:t>How to refer to the “old” value of a variable?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AF349-B683-C24B-A104-2C0D71E2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7C8483-1F6C-FF4A-9668-E4B57424821C}"/>
              </a:ext>
            </a:extLst>
          </p:cNvPr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x &gt; 0 *}    </a:t>
            </a:r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x:int</a:t>
            </a:r>
            <a:r>
              <a:rPr lang="en-US" sz="2400" dirty="0">
                <a:solidFill>
                  <a:schemeClr val="tx1"/>
                </a:solidFill>
              </a:rPr>
              <a:t>)  </a:t>
            </a:r>
            <a:r>
              <a:rPr lang="en-US" sz="2400" dirty="0">
                <a:solidFill>
                  <a:srgbClr val="0000CC"/>
                </a:solidFill>
              </a:rPr>
              <a:t>{ x++ ;  </a:t>
            </a:r>
            <a:r>
              <a:rPr lang="en-US" sz="2400" b="1" dirty="0">
                <a:solidFill>
                  <a:srgbClr val="0000CC"/>
                </a:solidFill>
              </a:rPr>
              <a:t>return</a:t>
            </a:r>
            <a:r>
              <a:rPr lang="en-US" sz="2400" dirty="0">
                <a:solidFill>
                  <a:srgbClr val="0000CC"/>
                </a:solidFill>
              </a:rPr>
              <a:t> x }</a:t>
            </a:r>
            <a:r>
              <a:rPr lang="en-US" sz="2400" dirty="0"/>
              <a:t>   </a:t>
            </a:r>
            <a:r>
              <a:rPr lang="en-US" sz="2400" dirty="0">
                <a:solidFill>
                  <a:schemeClr val="tx1"/>
                </a:solidFill>
              </a:rPr>
              <a:t>{*  return  = x+1 *}</a:t>
            </a:r>
          </a:p>
        </p:txBody>
      </p:sp>
    </p:spTree>
    <p:extLst>
      <p:ext uri="{BB962C8B-B14F-4D97-AF65-F5344CB8AC3E}">
        <p14:creationId xmlns:p14="http://schemas.microsoft.com/office/powerpoint/2010/main" val="1669249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DB0D-40E5-DB43-98F6-FD86AB84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restrictions imposed on </a:t>
            </a:r>
            <a:r>
              <a:rPr lang="en-US" dirty="0" err="1"/>
              <a:t>uPL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5567-9636-8949-9783-8776DDFA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First, it is useful to be aware of some restrictions imposed on </a:t>
            </a:r>
            <a:r>
              <a:rPr lang="en-US" dirty="0" err="1"/>
              <a:t>uPL</a:t>
            </a:r>
            <a:r>
              <a:rPr lang="en-US" dirty="0"/>
              <a:t> which were introduced to simplify the resulting Hoare logic, allowing us to focus our study on its main concepts.</a:t>
            </a:r>
          </a:p>
          <a:p>
            <a:pPr lvl="1"/>
            <a:r>
              <a:rPr lang="en-US" dirty="0"/>
              <a:t>“</a:t>
            </a:r>
            <a:r>
              <a:rPr lang="en-US" b="1" dirty="0"/>
              <a:t>return</a:t>
            </a:r>
            <a:r>
              <a:rPr lang="en-US" dirty="0"/>
              <a:t>” statement should only appear as the last statement in the program.</a:t>
            </a:r>
          </a:p>
          <a:p>
            <a:pPr lvl="1"/>
            <a:r>
              <a:rPr lang="en-US" dirty="0"/>
              <a:t>Formulas in the pre- and post-conditions of a program-level specification of a program P can only refer to P’s parameters or to ”auxiliary variables” (explained later).</a:t>
            </a:r>
          </a:p>
          <a:p>
            <a:pPr lvl="1"/>
            <a:r>
              <a:rPr lang="en-US" dirty="0"/>
              <a:t>Parameters are either </a:t>
            </a:r>
            <a:r>
              <a:rPr lang="en-US" b="1" dirty="0"/>
              <a:t>passed by value</a:t>
            </a:r>
            <a:r>
              <a:rPr lang="en-US" dirty="0"/>
              <a:t>, or </a:t>
            </a:r>
            <a:r>
              <a:rPr lang="en-US" b="1" dirty="0"/>
              <a:t>passed by copy-restore</a:t>
            </a:r>
            <a:r>
              <a:rPr lang="en-US" dirty="0"/>
              <a:t>. In particular </a:t>
            </a:r>
            <a:r>
              <a:rPr lang="en-US" dirty="0" err="1"/>
              <a:t>uPL</a:t>
            </a:r>
            <a:r>
              <a:rPr lang="en-US" dirty="0"/>
              <a:t> does not allow references/pointers to be passed to a program.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AF349-B683-C24B-A104-2C0D71E2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876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459A96-8793-114A-8E54-3A24CE28D11E}"/>
              </a:ext>
            </a:extLst>
          </p:cNvPr>
          <p:cNvSpPr/>
          <p:nvPr/>
        </p:nvSpPr>
        <p:spPr>
          <a:xfrm>
            <a:off x="1447800" y="2362200"/>
            <a:ext cx="5410200" cy="6858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6295-66EE-5649-A475-D01556F7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copy-restore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8FF1-3C15-B94F-89C5-16BFB6E1D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029200"/>
          </a:xfrm>
        </p:spPr>
        <p:txBody>
          <a:bodyPr/>
          <a:lstStyle/>
          <a:p>
            <a:r>
              <a:rPr lang="en-US" dirty="0"/>
              <a:t>Arrays are by default passed by copy-restore. A parameter with “OUT” marker is passed by copy-restore.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P(</a:t>
            </a:r>
            <a:r>
              <a:rPr lang="en-US" b="1" dirty="0"/>
              <a:t>OUT</a:t>
            </a:r>
            <a:r>
              <a:rPr lang="en-US" dirty="0"/>
              <a:t>  x, </a:t>
            </a:r>
            <a:r>
              <a:rPr lang="en-US" b="1" dirty="0"/>
              <a:t>OUT</a:t>
            </a:r>
            <a:r>
              <a:rPr lang="en-US" dirty="0"/>
              <a:t> y) { x := T ; y := F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behavior of a call e.g.  “P(</a:t>
            </a:r>
            <a:r>
              <a:rPr lang="en-US" dirty="0" err="1"/>
              <a:t>a,b</a:t>
            </a:r>
            <a:r>
              <a:rPr lang="en-US" dirty="0"/>
              <a:t>)” is as follows: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value of a and b are evaluated, and copied to P’s local variables x and y. The the body of P is executed. Then the final values of x and y are copied to a and b, in that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3F099-6335-EE4F-8DA2-38374D76B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15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F6FE14-2B1D-5E4A-A801-924F9522A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33800"/>
            <a:ext cx="6324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BFCB2-5F1B-F04D-9C7B-8ED58D6F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copy-restore,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81B14-A63E-894F-80E2-4187B6D3C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5334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Why don’t we just use pass-by-reference? Well, allowing this could create “</a:t>
            </a:r>
            <a:r>
              <a:rPr lang="en-US" b="1" dirty="0">
                <a:solidFill>
                  <a:srgbClr val="C00000"/>
                </a:solidFill>
              </a:rPr>
              <a:t>aliases</a:t>
            </a:r>
            <a:r>
              <a:rPr lang="en-US" dirty="0"/>
              <a:t>” (different variables pointing to the same data-cell). This complicate complicate the logic of assignment. Recall this logic: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This assignment will now also affect the meaning of x’s aliases! The above logic is too simplistic to handle this.</a:t>
            </a:r>
          </a:p>
          <a:p>
            <a:r>
              <a:rPr lang="en-US" dirty="0"/>
              <a:t>In this course we want to avoid this complication, to focus more on the basic Hoare logic.</a:t>
            </a:r>
          </a:p>
          <a:p>
            <a:r>
              <a:rPr lang="en-US" dirty="0"/>
              <a:t>Pass-by-copy-restore would still allow us to simulate programs with side effect, which is an interesting class to consider.</a:t>
            </a:r>
            <a:br>
              <a:rPr lang="en-US" dirty="0"/>
            </a:br>
            <a:r>
              <a:rPr lang="en-US" dirty="0"/>
              <a:t>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CC9C0-B562-F644-BD3F-5F470EE8B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57F96F-18F4-C849-A571-66D34715CB90}"/>
              </a:ext>
            </a:extLst>
          </p:cNvPr>
          <p:cNvSpPr/>
          <p:nvPr/>
        </p:nvSpPr>
        <p:spPr>
          <a:xfrm>
            <a:off x="1828800" y="2891853"/>
            <a:ext cx="6008557" cy="612098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</a:t>
            </a:r>
            <a:r>
              <a:rPr lang="en-US" sz="2400" i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 *}  x:=</a:t>
            </a:r>
            <a:r>
              <a:rPr lang="en-US" sz="2400" i="1" dirty="0">
                <a:solidFill>
                  <a:schemeClr val="tx1"/>
                </a:solidFill>
              </a:rPr>
              <a:t>e</a:t>
            </a:r>
            <a:r>
              <a:rPr lang="en-US" sz="2400" dirty="0">
                <a:solidFill>
                  <a:schemeClr val="tx1"/>
                </a:solidFill>
              </a:rPr>
              <a:t>  {* </a:t>
            </a:r>
            <a:r>
              <a:rPr lang="en-US" sz="2400" i="1" dirty="0">
                <a:solidFill>
                  <a:schemeClr val="tx1"/>
                </a:solidFill>
              </a:rPr>
              <a:t>Q</a:t>
            </a:r>
            <a:r>
              <a:rPr lang="en-US" sz="2400" dirty="0">
                <a:solidFill>
                  <a:schemeClr val="tx1"/>
                </a:solidFill>
              </a:rPr>
              <a:t> *}     </a:t>
            </a:r>
            <a:r>
              <a:rPr lang="en-US" sz="2400" dirty="0">
                <a:solidFill>
                  <a:srgbClr val="C00000"/>
                </a:solidFill>
              </a:rPr>
              <a:t>=</a:t>
            </a:r>
            <a:r>
              <a:rPr lang="en-US" sz="2400" dirty="0">
                <a:solidFill>
                  <a:schemeClr val="tx1"/>
                </a:solidFill>
              </a:rPr>
              <a:t>    </a:t>
            </a:r>
            <a:r>
              <a:rPr lang="en-US" sz="2400" i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 </a:t>
            </a:r>
            <a:r>
              <a:rPr lang="en-US" sz="2400" i="1" dirty="0">
                <a:solidFill>
                  <a:schemeClr val="tx1"/>
                </a:solidFill>
                <a:sym typeface="Symbol" pitchFamily="16" charset="2"/>
              </a:rPr>
              <a:t>Q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[</a:t>
            </a:r>
            <a:r>
              <a:rPr lang="en-US" sz="2400" i="1" dirty="0">
                <a:solidFill>
                  <a:schemeClr val="tx1"/>
                </a:solidFill>
                <a:sym typeface="Symbol" pitchFamily="16" charset="2"/>
              </a:rPr>
              <a:t>e</a:t>
            </a:r>
            <a:r>
              <a:rPr lang="en-US" sz="2400" dirty="0">
                <a:solidFill>
                  <a:schemeClr val="tx1"/>
                </a:solidFill>
                <a:sym typeface="Symbol" pitchFamily="16" charset="2"/>
              </a:rPr>
              <a:t>/x]</a:t>
            </a:r>
          </a:p>
        </p:txBody>
      </p:sp>
    </p:spTree>
    <p:extLst>
      <p:ext uri="{BB962C8B-B14F-4D97-AF65-F5344CB8AC3E}">
        <p14:creationId xmlns:p14="http://schemas.microsoft.com/office/powerpoint/2010/main" val="748706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C58D-DD10-BD44-89B0-5AB1F39D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variables in the post-condition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08D8-DC28-474B-8703-E09AC2A9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“y” is a pass-by-copy-restore parameter, in the post-condition it refers to its final value. Example: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”x” is a pass-by-value parameter, in the post-condition it refers to its </a:t>
            </a:r>
            <a:r>
              <a:rPr lang="en-US" b="1" dirty="0"/>
              <a:t>initial value. </a:t>
            </a:r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6148D-92A2-8C48-96D2-3EB99D9A5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594414-16F4-1447-A90B-86366BAF1E14}"/>
              </a:ext>
            </a:extLst>
          </p:cNvPr>
          <p:cNvSpPr/>
          <p:nvPr/>
        </p:nvSpPr>
        <p:spPr>
          <a:xfrm>
            <a:off x="1295400" y="4338403"/>
            <a:ext cx="6858000" cy="6858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>
                <a:solidFill>
                  <a:srgbClr val="0070C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dirty="0">
                <a:solidFill>
                  <a:srgbClr val="C00000"/>
                </a:solidFill>
              </a:rPr>
              <a:t>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) { y := x ; x:=0 }  {*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70C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*}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5BBEEC-033B-DD4E-B193-79760BFE0570}"/>
              </a:ext>
            </a:extLst>
          </p:cNvPr>
          <p:cNvSpPr/>
          <p:nvPr/>
        </p:nvSpPr>
        <p:spPr>
          <a:xfrm>
            <a:off x="1447800" y="2285999"/>
            <a:ext cx="6553200" cy="6858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dirty="0">
                <a:solidFill>
                  <a:srgbClr val="C00000"/>
                </a:solidFill>
              </a:rPr>
              <a:t>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) { y := 1 }  {* </a:t>
            </a:r>
            <a:r>
              <a:rPr lang="en-US" sz="2400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&gt;0 *}</a:t>
            </a:r>
          </a:p>
        </p:txBody>
      </p:sp>
    </p:spTree>
    <p:extLst>
      <p:ext uri="{BB962C8B-B14F-4D97-AF65-F5344CB8AC3E}">
        <p14:creationId xmlns:p14="http://schemas.microsoft.com/office/powerpoint/2010/main" val="2133465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DCE3-C737-A340-946A-F8727A59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the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FFF18-A8F8-FF41-B8A4-D2C6D62C6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 dirty="0"/>
              <a:t>Consider again the previous example. To reduce the specification to the statement level we will do the following transformation: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DDB8E-4F6C-8A44-AD38-9E6D0A53D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6B378D-B6D1-AA40-BB15-2778F11DCCC9}"/>
              </a:ext>
            </a:extLst>
          </p:cNvPr>
          <p:cNvSpPr/>
          <p:nvPr/>
        </p:nvSpPr>
        <p:spPr>
          <a:xfrm>
            <a:off x="457200" y="2590800"/>
            <a:ext cx="82296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x &gt; 0 *}    </a:t>
            </a:r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x:int</a:t>
            </a:r>
            <a:r>
              <a:rPr lang="en-US" sz="2400" dirty="0">
                <a:solidFill>
                  <a:schemeClr val="tx1"/>
                </a:solidFill>
              </a:rPr>
              <a:t>)  </a:t>
            </a:r>
            <a:r>
              <a:rPr lang="en-US" sz="2400" dirty="0">
                <a:solidFill>
                  <a:srgbClr val="0000CC"/>
                </a:solidFill>
              </a:rPr>
              <a:t>{ x++ ;  </a:t>
            </a:r>
            <a:r>
              <a:rPr lang="en-US" sz="2400" b="1" dirty="0">
                <a:solidFill>
                  <a:srgbClr val="0000CC"/>
                </a:solidFill>
              </a:rPr>
              <a:t>return</a:t>
            </a:r>
            <a:r>
              <a:rPr lang="en-US" sz="2400" dirty="0">
                <a:solidFill>
                  <a:srgbClr val="0000CC"/>
                </a:solidFill>
              </a:rPr>
              <a:t> x }</a:t>
            </a:r>
            <a:r>
              <a:rPr lang="en-US" sz="2400" dirty="0"/>
              <a:t>   </a:t>
            </a:r>
            <a:r>
              <a:rPr lang="en-US" sz="2400" dirty="0">
                <a:solidFill>
                  <a:schemeClr val="tx1"/>
                </a:solidFill>
              </a:rPr>
              <a:t>{*  return  = x+1 *}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6D6B2-A4AB-8048-A82A-480182BED69F}"/>
              </a:ext>
            </a:extLst>
          </p:cNvPr>
          <p:cNvSpPr txBox="1"/>
          <p:nvPr/>
        </p:nvSpPr>
        <p:spPr>
          <a:xfrm>
            <a:off x="685800" y="4814419"/>
            <a:ext cx="14750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{* x &gt; 0 *}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3894C-6A5F-4F4D-81B6-80B88749F6DC}"/>
              </a:ext>
            </a:extLst>
          </p:cNvPr>
          <p:cNvSpPr txBox="1"/>
          <p:nvPr/>
        </p:nvSpPr>
        <p:spPr>
          <a:xfrm>
            <a:off x="5943600" y="4800600"/>
            <a:ext cx="259558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{* return  = </a:t>
            </a:r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+1 *}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D33CD-9BD1-8147-8F75-B7E2F598E71A}"/>
              </a:ext>
            </a:extLst>
          </p:cNvPr>
          <p:cNvSpPr txBox="1"/>
          <p:nvPr/>
        </p:nvSpPr>
        <p:spPr>
          <a:xfrm>
            <a:off x="3313868" y="4808001"/>
            <a:ext cx="2515432" cy="461665"/>
          </a:xfrm>
          <a:prstGeom prst="rect">
            <a:avLst/>
          </a:prstGeom>
          <a:solidFill>
            <a:srgbClr val="00B0F0">
              <a:alpha val="23922"/>
            </a:srgb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x++  ;  return :=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C8E4A-554D-6E48-9DC5-FED7DF1B34FE}"/>
              </a:ext>
            </a:extLst>
          </p:cNvPr>
          <p:cNvSpPr txBox="1"/>
          <p:nvPr/>
        </p:nvSpPr>
        <p:spPr>
          <a:xfrm>
            <a:off x="2275184" y="4814419"/>
            <a:ext cx="978153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r>
              <a:rPr lang="en-US" sz="2400" dirty="0"/>
              <a:t>:=x ;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5D9A037-627C-F04F-80CA-5D3ED1A595D4}"/>
              </a:ext>
            </a:extLst>
          </p:cNvPr>
          <p:cNvSpPr/>
          <p:nvPr/>
        </p:nvSpPr>
        <p:spPr>
          <a:xfrm>
            <a:off x="1143000" y="3543300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CCC6E772-8302-9E4C-A7A8-37488F9F41BC}"/>
              </a:ext>
            </a:extLst>
          </p:cNvPr>
          <p:cNvSpPr/>
          <p:nvPr/>
        </p:nvSpPr>
        <p:spPr>
          <a:xfrm>
            <a:off x="4457284" y="3543300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7FC10BB-E073-244D-B127-EB7106152753}"/>
              </a:ext>
            </a:extLst>
          </p:cNvPr>
          <p:cNvSpPr/>
          <p:nvPr/>
        </p:nvSpPr>
        <p:spPr>
          <a:xfrm>
            <a:off x="7467294" y="3543300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3269C-46F4-3541-BF8A-521DCC6DF4BC}"/>
              </a:ext>
            </a:extLst>
          </p:cNvPr>
          <p:cNvSpPr txBox="1"/>
          <p:nvPr/>
        </p:nvSpPr>
        <p:spPr>
          <a:xfrm>
            <a:off x="1310562" y="5571052"/>
            <a:ext cx="290739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Introduce auxiliary variable(s) to remember the initial value of the parameters,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C656EE-7BB1-C542-BA79-D403DFC3A8F2}"/>
              </a:ext>
            </a:extLst>
          </p:cNvPr>
          <p:cNvCxnSpPr>
            <a:cxnSpLocks/>
            <a:stCxn id="14" idx="0"/>
            <a:endCxn id="10" idx="2"/>
          </p:cNvCxnSpPr>
          <p:nvPr/>
        </p:nvCxnSpPr>
        <p:spPr>
          <a:xfrm flipV="1">
            <a:off x="2764260" y="5276084"/>
            <a:ext cx="1" cy="294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C7F7DE-B219-574F-9D18-DF773EA2F7A2}"/>
              </a:ext>
            </a:extLst>
          </p:cNvPr>
          <p:cNvSpPr txBox="1"/>
          <p:nvPr/>
        </p:nvSpPr>
        <p:spPr>
          <a:xfrm>
            <a:off x="5779405" y="5577204"/>
            <a:ext cx="290739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Replace pass-by-value parameters with reference to their initial values.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2F353D-BC45-7043-8F32-19C4AE58CBAE}"/>
              </a:ext>
            </a:extLst>
          </p:cNvPr>
          <p:cNvCxnSpPr>
            <a:cxnSpLocks/>
            <a:stCxn id="21" idx="0"/>
            <a:endCxn id="8" idx="2"/>
          </p:cNvCxnSpPr>
          <p:nvPr/>
        </p:nvCxnSpPr>
        <p:spPr>
          <a:xfrm flipV="1">
            <a:off x="7233103" y="5262265"/>
            <a:ext cx="8288" cy="3149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63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8B73-5F9F-1A46-87EE-7A276662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refer to parameters’ old value?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1BDC-0381-B947-95F2-2D7E9FFF6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program P(OUT x) that increases the value of x by one. How to write a specification of this P? Again, we will use an auxiliary variable to remember x’s old value: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48C7E-30D7-504E-AE9D-B5E3E8784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447473-D514-A74C-8221-7B8F41EA28B0}"/>
              </a:ext>
            </a:extLst>
          </p:cNvPr>
          <p:cNvSpPr/>
          <p:nvPr/>
        </p:nvSpPr>
        <p:spPr>
          <a:xfrm>
            <a:off x="691612" y="2619171"/>
            <a:ext cx="4457700" cy="1371600"/>
          </a:xfrm>
          <a:prstGeom prst="roundRect">
            <a:avLst>
              <a:gd name="adj" fmla="val 23732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X</a:t>
            </a:r>
            <a:r>
              <a:rPr lang="en-US" sz="2400" dirty="0">
                <a:solidFill>
                  <a:schemeClr val="tx1"/>
                </a:solidFill>
              </a:rPr>
              <a:t>:=x ; </a:t>
            </a:r>
            <a:r>
              <a:rPr lang="en-US" sz="2400" b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dirty="0">
                <a:solidFill>
                  <a:srgbClr val="C00000"/>
                </a:solidFill>
              </a:rPr>
              <a:t>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) { x := x+1 }  </a:t>
            </a:r>
          </a:p>
          <a:p>
            <a:r>
              <a:rPr lang="en-US" sz="2400" dirty="0">
                <a:solidFill>
                  <a:schemeClr val="tx1"/>
                </a:solidFill>
              </a:rPr>
              <a:t>{*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= </a:t>
            </a:r>
            <a:r>
              <a:rPr lang="en-US" sz="2400" b="1" dirty="0">
                <a:solidFill>
                  <a:schemeClr val="tx1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+1 *}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6CA86-7983-A845-8BE5-891EF6CB6148}"/>
              </a:ext>
            </a:extLst>
          </p:cNvPr>
          <p:cNvSpPr txBox="1"/>
          <p:nvPr/>
        </p:nvSpPr>
        <p:spPr>
          <a:xfrm>
            <a:off x="5301712" y="2732782"/>
            <a:ext cx="34612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Here, </a:t>
            </a:r>
            <a:r>
              <a:rPr lang="en-US" sz="1600" b="1" dirty="0"/>
              <a:t>X</a:t>
            </a:r>
            <a:r>
              <a:rPr lang="en-US" sz="1600" dirty="0"/>
              <a:t> is an </a:t>
            </a:r>
            <a:r>
              <a:rPr lang="en-US" sz="1600" b="1" dirty="0"/>
              <a:t>auxiliary variable</a:t>
            </a:r>
            <a:r>
              <a:rPr lang="en-US" sz="1600" dirty="0"/>
              <a:t>. It is not part of the program P. It is introduced just for the purpose of expressing P’s specification.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DF9BF2-DB12-9641-88A8-2C7079613476}"/>
              </a:ext>
            </a:extLst>
          </p:cNvPr>
          <p:cNvSpPr/>
          <p:nvPr/>
        </p:nvSpPr>
        <p:spPr>
          <a:xfrm>
            <a:off x="246681" y="5277884"/>
            <a:ext cx="5709188" cy="799411"/>
          </a:xfrm>
          <a:prstGeom prst="roundRect">
            <a:avLst>
              <a:gd name="adj" fmla="val 23732"/>
            </a:avLst>
          </a:prstGeom>
          <a:solidFill>
            <a:schemeClr val="accent1">
              <a:lumMod val="40000"/>
              <a:lumOff val="60000"/>
              <a:alpha val="14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{* true *} </a:t>
            </a:r>
            <a:r>
              <a:rPr lang="en-US" sz="2400" b="1" dirty="0">
                <a:solidFill>
                  <a:schemeClr val="tx1"/>
                </a:solidFill>
              </a:rPr>
              <a:t> X</a:t>
            </a:r>
            <a:r>
              <a:rPr lang="en-US" sz="2400" dirty="0">
                <a:solidFill>
                  <a:schemeClr val="tx1"/>
                </a:solidFill>
              </a:rPr>
              <a:t>:=x ; x := x+1   {* </a:t>
            </a:r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= </a:t>
            </a:r>
            <a:r>
              <a:rPr lang="en-US" sz="2400" b="1" dirty="0">
                <a:solidFill>
                  <a:schemeClr val="tx1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+1 *}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E4F37250-708E-E845-8BA4-EF8F10ED4AC3}"/>
              </a:ext>
            </a:extLst>
          </p:cNvPr>
          <p:cNvSpPr/>
          <p:nvPr/>
        </p:nvSpPr>
        <p:spPr>
          <a:xfrm>
            <a:off x="2854594" y="4143171"/>
            <a:ext cx="228600" cy="990600"/>
          </a:xfrm>
          <a:prstGeom prst="downArrow">
            <a:avLst/>
          </a:prstGeom>
          <a:solidFill>
            <a:srgbClr val="C00000">
              <a:alpha val="4902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55FB3-0BF4-3C44-AAB2-D831897B97D3}"/>
              </a:ext>
            </a:extLst>
          </p:cNvPr>
          <p:cNvSpPr txBox="1"/>
          <p:nvPr/>
        </p:nvSpPr>
        <p:spPr>
          <a:xfrm>
            <a:off x="6119893" y="5385201"/>
            <a:ext cx="283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corresponding statement-level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8279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9A9947-F3C3-AC45-BD2F-BB26548E1C74}"/>
              </a:ext>
            </a:extLst>
          </p:cNvPr>
          <p:cNvSpPr/>
          <p:nvPr/>
        </p:nvSpPr>
        <p:spPr>
          <a:xfrm>
            <a:off x="1676400" y="3862953"/>
            <a:ext cx="5486400" cy="1471047"/>
          </a:xfrm>
          <a:prstGeom prst="roundRect">
            <a:avLst>
              <a:gd name="adj" fmla="val 22864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unstructured programs</a:t>
            </a:r>
            <a:endParaRPr lang="nl-NL" dirty="0"/>
          </a:p>
        </p:txBody>
      </p:sp>
      <p:sp>
        <p:nvSpPr>
          <p:cNvPr id="41987" name="Content Placeholder 6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181600"/>
          </a:xfrm>
        </p:spPr>
        <p:txBody>
          <a:bodyPr/>
          <a:lstStyle/>
          <a:p>
            <a:r>
              <a:rPr lang="en-US" dirty="0" err="1"/>
              <a:t>uPL</a:t>
            </a:r>
            <a:r>
              <a:rPr lang="en-US" dirty="0"/>
              <a:t> programs are “</a:t>
            </a:r>
            <a:r>
              <a:rPr lang="en-US" b="1" dirty="0"/>
              <a:t>structured</a:t>
            </a:r>
            <a:r>
              <a:rPr lang="en-US" dirty="0"/>
              <a:t>” programs. In such a program, the control flow follows the program’s syntax.</a:t>
            </a:r>
          </a:p>
          <a:p>
            <a:r>
              <a:rPr lang="en-US" dirty="0"/>
              <a:t>Most programs you write in an imperative language like Java or C# are structured.</a:t>
            </a:r>
          </a:p>
          <a:p>
            <a:r>
              <a:rPr lang="en-US" dirty="0"/>
              <a:t>Unstructured programming on the other hand, allows arbitrary jump of control.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</a:t>
            </a:r>
            <a:r>
              <a:rPr lang="en-US" dirty="0">
                <a:solidFill>
                  <a:srgbClr val="0070C0"/>
                </a:solidFill>
              </a:rPr>
              <a:t>start</a:t>
            </a:r>
            <a:r>
              <a:rPr lang="en-US" dirty="0"/>
              <a:t>: </a:t>
            </a:r>
            <a:r>
              <a:rPr lang="en-US" b="1" dirty="0"/>
              <a:t>if</a:t>
            </a:r>
            <a:r>
              <a:rPr lang="en-US" dirty="0"/>
              <a:t> y=0 </a:t>
            </a:r>
            <a:r>
              <a:rPr lang="en-US" b="1" dirty="0"/>
              <a:t>then</a:t>
            </a:r>
            <a:r>
              <a:rPr lang="en-US" dirty="0"/>
              <a:t> </a:t>
            </a:r>
            <a:r>
              <a:rPr lang="en-US" b="1" dirty="0" err="1"/>
              <a:t>goto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exit</a:t>
            </a:r>
            <a:r>
              <a:rPr lang="en-US" dirty="0"/>
              <a:t> ;</a:t>
            </a:r>
            <a:br>
              <a:rPr lang="en-US" dirty="0"/>
            </a:br>
            <a:r>
              <a:rPr lang="en-US" dirty="0"/>
              <a:t>                         </a:t>
            </a:r>
            <a:r>
              <a:rPr lang="en-US" b="1" dirty="0"/>
              <a:t>if</a:t>
            </a:r>
            <a:r>
              <a:rPr lang="en-US" dirty="0"/>
              <a:t> x&gt;y </a:t>
            </a:r>
            <a:r>
              <a:rPr lang="en-US" b="1" dirty="0"/>
              <a:t>then</a:t>
            </a:r>
            <a:r>
              <a:rPr lang="en-US" dirty="0"/>
              <a:t> x:=x-y ; </a:t>
            </a:r>
            <a:r>
              <a:rPr lang="en-US" b="1" dirty="0" err="1"/>
              <a:t>goto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start</a:t>
            </a:r>
            <a:br>
              <a:rPr lang="en-US" dirty="0"/>
            </a:br>
            <a:r>
              <a:rPr lang="en-US" dirty="0"/>
              <a:t>                </a:t>
            </a:r>
            <a:r>
              <a:rPr lang="en-US" dirty="0">
                <a:solidFill>
                  <a:srgbClr val="FF0000"/>
                </a:solidFill>
              </a:rPr>
              <a:t>exit</a:t>
            </a:r>
            <a:r>
              <a:rPr lang="en-US" dirty="0"/>
              <a:t>:  ...</a:t>
            </a:r>
            <a:br>
              <a:rPr lang="en-US" dirty="0"/>
            </a:br>
            <a:r>
              <a:rPr lang="en-US" dirty="0"/>
              <a:t>      </a:t>
            </a:r>
          </a:p>
          <a:p>
            <a:r>
              <a:rPr lang="en-US" dirty="0"/>
              <a:t>Hoare logic does </a:t>
            </a:r>
            <a:r>
              <a:rPr lang="en-US" b="1" dirty="0"/>
              <a:t>not</a:t>
            </a:r>
            <a:r>
              <a:rPr lang="en-US" dirty="0"/>
              <a:t> work on unstructured programs. E.g. the rule for sequential composition would be broken!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5D6CB6-DAB5-4D7E-8758-CC68FD1FF365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D090169-ADEE-B844-8EEC-8F5C7BC9A050}"/>
              </a:ext>
            </a:extLst>
          </p:cNvPr>
          <p:cNvSpPr/>
          <p:nvPr/>
        </p:nvSpPr>
        <p:spPr>
          <a:xfrm>
            <a:off x="1600200" y="3731144"/>
            <a:ext cx="6005928" cy="2514600"/>
          </a:xfrm>
          <a:prstGeom prst="roundRect">
            <a:avLst>
              <a:gd name="adj" fmla="val 15093"/>
            </a:avLst>
          </a:prstGeom>
          <a:solidFill>
            <a:srgbClr val="6699FF">
              <a:alpha val="14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Floyd Logic</a:t>
            </a:r>
            <a:endParaRPr lang="nl-NL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56E025-D0FF-409B-959F-332D0C560F19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sp>
        <p:nvSpPr>
          <p:cNvPr id="9" name="Oval 8"/>
          <p:cNvSpPr/>
          <p:nvPr/>
        </p:nvSpPr>
        <p:spPr>
          <a:xfrm>
            <a:off x="3181925" y="4467820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</a:t>
            </a:r>
            <a:endParaRPr lang="nl-NL" dirty="0"/>
          </a:p>
        </p:txBody>
      </p:sp>
      <p:sp>
        <p:nvSpPr>
          <p:cNvPr id="11" name="Oval 10"/>
          <p:cNvSpPr/>
          <p:nvPr/>
        </p:nvSpPr>
        <p:spPr>
          <a:xfrm>
            <a:off x="6020086" y="4467820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  <a:endParaRPr lang="nl-NL" dirty="0"/>
          </a:p>
        </p:txBody>
      </p:sp>
      <p:sp>
        <p:nvSpPr>
          <p:cNvPr id="12" name="Oval 11"/>
          <p:cNvSpPr/>
          <p:nvPr/>
        </p:nvSpPr>
        <p:spPr>
          <a:xfrm>
            <a:off x="6020086" y="5445270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  <a:endParaRPr lang="nl-NL" i="1" dirty="0"/>
          </a:p>
        </p:txBody>
      </p:sp>
      <p:cxnSp>
        <p:nvCxnSpPr>
          <p:cNvPr id="14" name="Straight Arrow Connector 13"/>
          <p:cNvCxnSpPr>
            <a:stCxn id="9" idx="6"/>
            <a:endCxn id="11" idx="2"/>
          </p:cNvCxnSpPr>
          <p:nvPr/>
        </p:nvCxnSpPr>
        <p:spPr>
          <a:xfrm>
            <a:off x="3486725" y="4620220"/>
            <a:ext cx="25333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stCxn id="11" idx="4"/>
            <a:endCxn id="12" idx="0"/>
          </p:cNvCxnSpPr>
          <p:nvPr/>
        </p:nvCxnSpPr>
        <p:spPr>
          <a:xfrm>
            <a:off x="6172486" y="4772620"/>
            <a:ext cx="0" cy="672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9" idx="5"/>
            <a:endCxn id="12" idx="2"/>
          </p:cNvCxnSpPr>
          <p:nvPr/>
        </p:nvCxnSpPr>
        <p:spPr>
          <a:xfrm>
            <a:off x="3442088" y="4727983"/>
            <a:ext cx="2577998" cy="869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70" name="TextBox 49"/>
          <p:cNvSpPr txBox="1">
            <a:spLocks noChangeArrowheads="1"/>
          </p:cNvSpPr>
          <p:nvPr/>
        </p:nvSpPr>
        <p:spPr bwMode="auto">
          <a:xfrm>
            <a:off x="5739400" y="3806844"/>
            <a:ext cx="1564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1" name="TextBox 50"/>
          <p:cNvSpPr txBox="1">
            <a:spLocks noChangeArrowheads="1"/>
          </p:cNvSpPr>
          <p:nvPr/>
        </p:nvSpPr>
        <p:spPr bwMode="auto">
          <a:xfrm>
            <a:off x="4079902" y="4253177"/>
            <a:ext cx="16353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2" name="TextBox 51"/>
          <p:cNvSpPr txBox="1">
            <a:spLocks noChangeArrowheads="1"/>
          </p:cNvSpPr>
          <p:nvPr/>
        </p:nvSpPr>
        <p:spPr bwMode="auto">
          <a:xfrm rot="847637">
            <a:off x="3945157" y="5242122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x</a:t>
            </a:r>
            <a:r>
              <a:rPr lang="en-US" sz="2000" dirty="0" err="1">
                <a:sym typeface="Symbol"/>
              </a:rPr>
              <a:t>≥</a:t>
            </a:r>
            <a:r>
              <a:rPr lang="en-US" sz="2000" dirty="0" err="1"/>
              <a:t>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54" name="Straight Arrow Connector 53"/>
          <p:cNvCxnSpPr>
            <a:cxnSpLocks/>
            <a:endCxn id="9" idx="2"/>
          </p:cNvCxnSpPr>
          <p:nvPr/>
        </p:nvCxnSpPr>
        <p:spPr>
          <a:xfrm>
            <a:off x="2858139" y="4620220"/>
            <a:ext cx="3237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04800" y="1267765"/>
            <a:ext cx="8382000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Consider the following example of an unstructured program</a:t>
            </a:r>
          </a:p>
          <a:p>
            <a:pPr>
              <a:defRPr/>
            </a:pPr>
            <a:r>
              <a:rPr lang="en-US" sz="2400" dirty="0"/>
              <a:t>represented by a graph. The program start in node 0, and 3 is the exit node. Each arrow represent an assignment to execute, guarded by the corresponding condition.</a:t>
            </a:r>
          </a:p>
          <a:p>
            <a:pPr>
              <a:defRPr/>
            </a:pPr>
            <a:r>
              <a:rPr lang="en-US" sz="2400" dirty="0"/>
              <a:t>The red and green boxes specify the pre- and post-condition of this program.</a:t>
            </a:r>
          </a:p>
        </p:txBody>
      </p:sp>
      <p:sp>
        <p:nvSpPr>
          <p:cNvPr id="21" name="TextBox 51"/>
          <p:cNvSpPr txBox="1">
            <a:spLocks noChangeArrowheads="1"/>
          </p:cNvSpPr>
          <p:nvPr/>
        </p:nvSpPr>
        <p:spPr bwMode="auto">
          <a:xfrm>
            <a:off x="6151884" y="4880383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ym typeface="Symbol"/>
              </a:rPr>
              <a:t>x≥n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61" name="Curved Connector 60"/>
          <p:cNvCxnSpPr>
            <a:stCxn id="11" idx="0"/>
            <a:endCxn id="9" idx="0"/>
          </p:cNvCxnSpPr>
          <p:nvPr/>
        </p:nvCxnSpPr>
        <p:spPr>
          <a:xfrm rot="16200000" flipV="1">
            <a:off x="4753406" y="3048739"/>
            <a:ext cx="12700" cy="2838161"/>
          </a:xfrm>
          <a:prstGeom prst="curvedConnector3">
            <a:avLst>
              <a:gd name="adj1" fmla="val 426074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27084" y="4029651"/>
            <a:ext cx="1358064" cy="46166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sym typeface="Symbol"/>
              </a:rPr>
              <a:t>0  x 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4177" y="5649670"/>
            <a:ext cx="689612" cy="461665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x=n</a:t>
            </a:r>
          </a:p>
        </p:txBody>
      </p:sp>
      <p:cxnSp>
        <p:nvCxnSpPr>
          <p:cNvPr id="70" name="Straight Arrow Connector 69"/>
          <p:cNvCxnSpPr>
            <a:cxnSpLocks/>
            <a:stCxn id="12" idx="4"/>
          </p:cNvCxnSpPr>
          <p:nvPr/>
        </p:nvCxnSpPr>
        <p:spPr>
          <a:xfrm>
            <a:off x="6172486" y="5750070"/>
            <a:ext cx="0" cy="2608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Floyd Logic</a:t>
            </a:r>
            <a:endParaRPr lang="nl-NL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56E025-D0FF-409B-959F-332D0C560F19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9" name="Oval 8"/>
          <p:cNvSpPr/>
          <p:nvPr/>
        </p:nvSpPr>
        <p:spPr>
          <a:xfrm>
            <a:off x="2813049" y="1911351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</a:t>
            </a:r>
            <a:endParaRPr lang="nl-NL" dirty="0"/>
          </a:p>
        </p:txBody>
      </p:sp>
      <p:sp>
        <p:nvSpPr>
          <p:cNvPr id="11" name="Oval 10"/>
          <p:cNvSpPr/>
          <p:nvPr/>
        </p:nvSpPr>
        <p:spPr>
          <a:xfrm>
            <a:off x="5651210" y="1911351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  <a:endParaRPr lang="nl-NL" dirty="0"/>
          </a:p>
        </p:txBody>
      </p:sp>
      <p:sp>
        <p:nvSpPr>
          <p:cNvPr id="12" name="Oval 11"/>
          <p:cNvSpPr/>
          <p:nvPr/>
        </p:nvSpPr>
        <p:spPr>
          <a:xfrm>
            <a:off x="5651210" y="2888801"/>
            <a:ext cx="304800" cy="30480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  <a:endParaRPr lang="nl-NL" i="1" dirty="0"/>
          </a:p>
        </p:txBody>
      </p:sp>
      <p:cxnSp>
        <p:nvCxnSpPr>
          <p:cNvPr id="14" name="Straight Arrow Connector 13"/>
          <p:cNvCxnSpPr>
            <a:stCxn id="9" idx="6"/>
            <a:endCxn id="11" idx="2"/>
          </p:cNvCxnSpPr>
          <p:nvPr/>
        </p:nvCxnSpPr>
        <p:spPr>
          <a:xfrm>
            <a:off x="3117849" y="2063751"/>
            <a:ext cx="25333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stCxn id="11" idx="4"/>
            <a:endCxn id="12" idx="0"/>
          </p:cNvCxnSpPr>
          <p:nvPr/>
        </p:nvCxnSpPr>
        <p:spPr>
          <a:xfrm>
            <a:off x="5803610" y="2216151"/>
            <a:ext cx="0" cy="672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9" idx="5"/>
            <a:endCxn id="12" idx="2"/>
          </p:cNvCxnSpPr>
          <p:nvPr/>
        </p:nvCxnSpPr>
        <p:spPr>
          <a:xfrm>
            <a:off x="3073212" y="2171514"/>
            <a:ext cx="2577998" cy="869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70" name="TextBox 49"/>
          <p:cNvSpPr txBox="1">
            <a:spLocks noChangeArrowheads="1"/>
          </p:cNvSpPr>
          <p:nvPr/>
        </p:nvSpPr>
        <p:spPr bwMode="auto">
          <a:xfrm>
            <a:off x="5370524" y="1250375"/>
            <a:ext cx="1564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1" name="TextBox 50"/>
          <p:cNvSpPr txBox="1">
            <a:spLocks noChangeArrowheads="1"/>
          </p:cNvSpPr>
          <p:nvPr/>
        </p:nvSpPr>
        <p:spPr bwMode="auto">
          <a:xfrm>
            <a:off x="3711026" y="1696708"/>
            <a:ext cx="16353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x&lt;n  </a:t>
            </a:r>
            <a:r>
              <a:rPr lang="en-US" sz="2000" dirty="0">
                <a:sym typeface="Wingdings" charset="2"/>
              </a:rPr>
              <a:t>   x++</a:t>
            </a:r>
            <a:endParaRPr lang="nl-NL" sz="2000" dirty="0"/>
          </a:p>
        </p:txBody>
      </p:sp>
      <p:sp>
        <p:nvSpPr>
          <p:cNvPr id="45072" name="TextBox 51"/>
          <p:cNvSpPr txBox="1">
            <a:spLocks noChangeArrowheads="1"/>
          </p:cNvSpPr>
          <p:nvPr/>
        </p:nvSpPr>
        <p:spPr bwMode="auto">
          <a:xfrm rot="847637">
            <a:off x="3576281" y="2685653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/>
              <a:t>x</a:t>
            </a:r>
            <a:r>
              <a:rPr lang="en-US" sz="2000" dirty="0" err="1">
                <a:sym typeface="Symbol"/>
              </a:rPr>
              <a:t>≥</a:t>
            </a:r>
            <a:r>
              <a:rPr lang="en-US" sz="2000" dirty="0" err="1"/>
              <a:t>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54" name="Straight Arrow Connector 53"/>
          <p:cNvCxnSpPr>
            <a:cxnSpLocks/>
            <a:endCxn id="9" idx="2"/>
          </p:cNvCxnSpPr>
          <p:nvPr/>
        </p:nvCxnSpPr>
        <p:spPr>
          <a:xfrm>
            <a:off x="2489263" y="2063751"/>
            <a:ext cx="3237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51"/>
          <p:cNvSpPr txBox="1">
            <a:spLocks noChangeArrowheads="1"/>
          </p:cNvSpPr>
          <p:nvPr/>
        </p:nvSpPr>
        <p:spPr bwMode="auto">
          <a:xfrm>
            <a:off x="5783008" y="2323914"/>
            <a:ext cx="14462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ym typeface="Symbol"/>
              </a:rPr>
              <a:t>x≥n</a:t>
            </a:r>
            <a:r>
              <a:rPr lang="en-US" sz="2000" dirty="0"/>
              <a:t> </a:t>
            </a:r>
            <a:r>
              <a:rPr lang="en-US" sz="2000" dirty="0">
                <a:sym typeface="Wingdings" charset="2"/>
              </a:rPr>
              <a:t> skip</a:t>
            </a:r>
            <a:endParaRPr lang="nl-NL" sz="2000" dirty="0"/>
          </a:p>
        </p:txBody>
      </p:sp>
      <p:cxnSp>
        <p:nvCxnSpPr>
          <p:cNvPr id="61" name="Curved Connector 60"/>
          <p:cNvCxnSpPr>
            <a:stCxn id="11" idx="0"/>
            <a:endCxn id="9" idx="0"/>
          </p:cNvCxnSpPr>
          <p:nvPr/>
        </p:nvCxnSpPr>
        <p:spPr>
          <a:xfrm rot="16200000" flipV="1">
            <a:off x="4384530" y="492270"/>
            <a:ext cx="12700" cy="2838161"/>
          </a:xfrm>
          <a:prstGeom prst="curvedConnector3">
            <a:avLst>
              <a:gd name="adj1" fmla="val 426074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7938" y="1456036"/>
            <a:ext cx="2024913" cy="46166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sym typeface="Symbol"/>
              </a:rPr>
              <a:t>pre: </a:t>
            </a:r>
            <a:r>
              <a:rPr lang="en-US" sz="2400" dirty="0">
                <a:solidFill>
                  <a:schemeClr val="bg1"/>
                </a:solidFill>
                <a:sym typeface="Symbol"/>
              </a:rPr>
              <a:t>0  x 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865" y="2794544"/>
            <a:ext cx="1526380" cy="461665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post: </a:t>
            </a:r>
            <a:r>
              <a:rPr lang="en-US" sz="2400" dirty="0">
                <a:solidFill>
                  <a:schemeClr val="bg1"/>
                </a:solidFill>
              </a:rPr>
              <a:t>x=n</a:t>
            </a:r>
          </a:p>
        </p:txBody>
      </p:sp>
      <p:cxnSp>
        <p:nvCxnSpPr>
          <p:cNvPr id="70" name="Straight Arrow Connector 69"/>
          <p:cNvCxnSpPr>
            <a:cxnSpLocks/>
            <a:stCxn id="12" idx="4"/>
          </p:cNvCxnSpPr>
          <p:nvPr/>
        </p:nvCxnSpPr>
        <p:spPr>
          <a:xfrm>
            <a:off x="5803610" y="3193601"/>
            <a:ext cx="0" cy="2608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62DDB0-193C-DB40-97E3-60BC921B6472}"/>
              </a:ext>
            </a:extLst>
          </p:cNvPr>
          <p:cNvSpPr txBox="1"/>
          <p:nvPr/>
        </p:nvSpPr>
        <p:spPr>
          <a:xfrm>
            <a:off x="6019799" y="1764269"/>
            <a:ext cx="1162498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  </a:t>
            </a:r>
            <a:r>
              <a:rPr lang="en-US" sz="2000" dirty="0">
                <a:solidFill>
                  <a:schemeClr val="bg1"/>
                </a:solidFill>
              </a:rPr>
              <a:t>x 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 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BC7807-F01A-124C-B091-81EBDCEEF022}"/>
              </a:ext>
            </a:extLst>
          </p:cNvPr>
          <p:cNvSpPr txBox="1"/>
          <p:nvPr/>
        </p:nvSpPr>
        <p:spPr>
          <a:xfrm>
            <a:off x="1844815" y="2314174"/>
            <a:ext cx="1162498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  </a:t>
            </a:r>
            <a:r>
              <a:rPr lang="en-US" sz="2000" dirty="0">
                <a:solidFill>
                  <a:schemeClr val="bg1"/>
                </a:solidFill>
              </a:rPr>
              <a:t>x 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 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5DAB1A-1158-2A4F-AB4A-8A0CF203AE0E}"/>
              </a:ext>
            </a:extLst>
          </p:cNvPr>
          <p:cNvSpPr txBox="1"/>
          <p:nvPr/>
        </p:nvSpPr>
        <p:spPr>
          <a:xfrm>
            <a:off x="6097970" y="2831787"/>
            <a:ext cx="983935" cy="400110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x </a:t>
            </a:r>
            <a:r>
              <a:rPr lang="en-US" sz="2000" dirty="0">
                <a:solidFill>
                  <a:schemeClr val="bg1"/>
                </a:solidFill>
                <a:sym typeface="Symbol"/>
              </a:rPr>
              <a:t>=  n</a:t>
            </a:r>
            <a:endParaRPr lang="en-US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6875F1-B9FF-794F-8B84-A406A77ED77A}"/>
                  </a:ext>
                </a:extLst>
              </p:cNvPr>
              <p:cNvSpPr txBox="1"/>
              <p:nvPr/>
            </p:nvSpPr>
            <p:spPr>
              <a:xfrm>
                <a:off x="378589" y="3803200"/>
                <a:ext cx="8689211" cy="244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decorate every node with an assertion (blue). Let A</a:t>
                </a:r>
                <a:r>
                  <a:rPr lang="en-US" baseline="-25000" dirty="0"/>
                  <a:t>s</a:t>
                </a:r>
                <a:r>
                  <a:rPr lang="en-US" dirty="0"/>
                  <a:t> be the assertion at node s. Given a pre- and post-condition P and Q, they are valid if: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 assertions are consistent. That is: for every arrow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dirty="0"/>
                  <a:t> {* A</a:t>
                </a:r>
                <a:r>
                  <a:rPr lang="en-US" baseline="-25000" dirty="0"/>
                  <a:t>s</a:t>
                </a:r>
                <a:r>
                  <a:rPr lang="en-US" dirty="0"/>
                  <a:t>*} </a:t>
                </a:r>
                <a:r>
                  <a:rPr lang="en-US" i="1" dirty="0"/>
                  <a:t>a</a:t>
                </a:r>
                <a:r>
                  <a:rPr lang="en-US" dirty="0"/>
                  <a:t> {* A</a:t>
                </a:r>
                <a:r>
                  <a:rPr lang="en-US" baseline="-25000" dirty="0"/>
                  <a:t>t</a:t>
                </a:r>
                <a:r>
                  <a:rPr lang="en-US" dirty="0"/>
                  <a:t> *} holds.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P implies the assertion at the starting node.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 assertion at the exit node implies Q.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There is a termination metric m, with a lower bound 0. Executing any arrow decreases this m.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6875F1-B9FF-794F-8B84-A406A77ED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89" y="3803200"/>
                <a:ext cx="8689211" cy="2447273"/>
              </a:xfrm>
              <a:prstGeom prst="rect">
                <a:avLst/>
              </a:prstGeom>
              <a:blipFill>
                <a:blip r:embed="rId3"/>
                <a:stretch>
                  <a:fillRect l="-584" t="-515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22654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11542</TotalTime>
  <Words>5632</Words>
  <Application>Microsoft Macintosh PowerPoint</Application>
  <PresentationFormat>On-screen Show (4:3)</PresentationFormat>
  <Paragraphs>501</Paragraphs>
  <Slides>46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Cambria Math</vt:lpstr>
      <vt:lpstr>Garamond</vt:lpstr>
      <vt:lpstr>Symbol</vt:lpstr>
      <vt:lpstr>Wingdings</vt:lpstr>
      <vt:lpstr>Edge</vt:lpstr>
      <vt:lpstr>Part II : reasoning about loops</vt:lpstr>
      <vt:lpstr>How to prove this ?</vt:lpstr>
      <vt:lpstr>Idea</vt:lpstr>
      <vt:lpstr>Ok, what kind of predicate is I ??</vt:lpstr>
      <vt:lpstr>Establishing the base case</vt:lpstr>
      <vt:lpstr>To Summarize</vt:lpstr>
      <vt:lpstr>Few things to note</vt:lpstr>
      <vt:lpstr>Examples</vt:lpstr>
      <vt:lpstr>Examples</vt:lpstr>
      <vt:lpstr>Examples</vt:lpstr>
      <vt:lpstr>Proving termination</vt:lpstr>
      <vt:lpstr>Capturing the termination conditions</vt:lpstr>
      <vt:lpstr>To Summarize</vt:lpstr>
      <vt:lpstr>Alternatively it can be formulated as follows</vt:lpstr>
      <vt:lpstr>Examples</vt:lpstr>
      <vt:lpstr>Examples</vt:lpstr>
      <vt:lpstr>A bigger example</vt:lpstr>
      <vt:lpstr>Invariant and termination metric</vt:lpstr>
      <vt:lpstr>Invariant and termination metric</vt:lpstr>
      <vt:lpstr>Invariant and termination metric</vt:lpstr>
      <vt:lpstr>We need to prove</vt:lpstr>
      <vt:lpstr>Reformulating them in terms of wp</vt:lpstr>
      <vt:lpstr>Top level structure of the proofs </vt:lpstr>
      <vt:lpstr>Proof of the initialization condition</vt:lpstr>
      <vt:lpstr>Proof of I’s invariance</vt:lpstr>
      <vt:lpstr>Top level structure of the proofs of termination</vt:lpstr>
      <vt:lpstr>Loop with breaks, LN Sec. 9.3</vt:lpstr>
      <vt:lpstr>Loop with breaks</vt:lpstr>
      <vt:lpstr>Loop with breaks</vt:lpstr>
      <vt:lpstr>Example</vt:lpstr>
      <vt:lpstr>Dealing with more constructs </vt:lpstr>
      <vt:lpstr>Simultant assignment</vt:lpstr>
      <vt:lpstr>The order of assignment matters</vt:lpstr>
      <vt:lpstr>Assignment into an array</vt:lpstr>
      <vt:lpstr>The formalism</vt:lpstr>
      <vt:lpstr>Example</vt:lpstr>
      <vt:lpstr>Reducing a program spec to a statement spec</vt:lpstr>
      <vt:lpstr>Some restrictions imposed on uPL</vt:lpstr>
      <vt:lpstr>Pass by copy-restore</vt:lpstr>
      <vt:lpstr>Pass by copy-restore, why?</vt:lpstr>
      <vt:lpstr>Meaning of variables in the post-condition</vt:lpstr>
      <vt:lpstr>Example of the reduction</vt:lpstr>
      <vt:lpstr>How to refer to parameters’ old value?</vt:lpstr>
      <vt:lpstr>Note: unstructured programs</vt:lpstr>
      <vt:lpstr>Floyd Logic</vt:lpstr>
      <vt:lpstr>Floyd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underdark</dc:creator>
  <cp:lastModifiedBy>Paige North</cp:lastModifiedBy>
  <cp:revision>338</cp:revision>
  <cp:lastPrinted>1601-01-01T00:00:00Z</cp:lastPrinted>
  <dcterms:created xsi:type="dcterms:W3CDTF">1601-01-01T00:00:00Z</dcterms:created>
  <dcterms:modified xsi:type="dcterms:W3CDTF">2026-06-02T09:19:25Z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