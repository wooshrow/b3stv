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1.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44"/>
  </p:notesMasterIdLst>
  <p:sldIdLst>
    <p:sldId id="256" r:id="rId2"/>
    <p:sldId id="281" r:id="rId3"/>
    <p:sldId id="291" r:id="rId4"/>
    <p:sldId id="298" r:id="rId5"/>
    <p:sldId id="259" r:id="rId6"/>
    <p:sldId id="290" r:id="rId7"/>
    <p:sldId id="261" r:id="rId8"/>
    <p:sldId id="262" r:id="rId9"/>
    <p:sldId id="308" r:id="rId10"/>
    <p:sldId id="260" r:id="rId11"/>
    <p:sldId id="257" r:id="rId12"/>
    <p:sldId id="276" r:id="rId13"/>
    <p:sldId id="296" r:id="rId14"/>
    <p:sldId id="277" r:id="rId15"/>
    <p:sldId id="299" r:id="rId16"/>
    <p:sldId id="279" r:id="rId17"/>
    <p:sldId id="295" r:id="rId18"/>
    <p:sldId id="280" r:id="rId19"/>
    <p:sldId id="306" r:id="rId20"/>
    <p:sldId id="263" r:id="rId21"/>
    <p:sldId id="268" r:id="rId22"/>
    <p:sldId id="270" r:id="rId23"/>
    <p:sldId id="271" r:id="rId24"/>
    <p:sldId id="272" r:id="rId25"/>
    <p:sldId id="274" r:id="rId26"/>
    <p:sldId id="273" r:id="rId27"/>
    <p:sldId id="275" r:id="rId28"/>
    <p:sldId id="300" r:id="rId29"/>
    <p:sldId id="266" r:id="rId30"/>
    <p:sldId id="303" r:id="rId31"/>
    <p:sldId id="293" r:id="rId32"/>
    <p:sldId id="297" r:id="rId33"/>
    <p:sldId id="309" r:id="rId34"/>
    <p:sldId id="284" r:id="rId35"/>
    <p:sldId id="285" r:id="rId36"/>
    <p:sldId id="307" r:id="rId37"/>
    <p:sldId id="310" r:id="rId38"/>
    <p:sldId id="286" r:id="rId39"/>
    <p:sldId id="287" r:id="rId40"/>
    <p:sldId id="288" r:id="rId41"/>
    <p:sldId id="302" r:id="rId42"/>
    <p:sldId id="289" r:id="rId43"/>
  </p:sldIdLst>
  <p:sldSz cx="9144000" cy="6858000" type="screen4x3"/>
  <p:notesSz cx="6858000" cy="9144000"/>
  <p:defaultTextStyle>
    <a:defPPr>
      <a:defRPr lang="nl-NL"/>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nderdark"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2D050"/>
    <a:srgbClr val="F9F9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32"/>
    <p:restoredTop sz="91817" autoAdjust="0"/>
  </p:normalViewPr>
  <p:slideViewPr>
    <p:cSldViewPr>
      <p:cViewPr>
        <p:scale>
          <a:sx n="140" d="100"/>
          <a:sy n="140" d="100"/>
        </p:scale>
        <p:origin x="1176" y="-68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2-03-21T11:25:55.337" idx="1">
    <p:pos x="1331" y="3357"/>
    <p:text>So... can we indentify this kind of anomaly??</p:text>
  </p:cm>
</p: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7T07:32:45.468"/>
    </inkml:context>
    <inkml:brush xml:id="br0">
      <inkml:brushProperty name="width" value="0.05292" units="cm"/>
      <inkml:brushProperty name="height" value="0.05292" units="cm"/>
      <inkml:brushProperty name="color" value="#0070C0"/>
    </inkml:brush>
  </inkml:definitions>
  <inkml:trace contextRef="#ctx0" brushRef="#br0">7620 9596 24575,'36'0'0,"7"15"0,-2-12 0,2-2 0,-8 6 0,1 2-1093,-3-3 1,2-1 0,-2 0 659,8-4 0,-3 1 433,-3 6 0,2 0 247,4-2 0,3 0 1,-3-2-248,-3-2 0,-2 0 0,-2 3 0,1 1 0,-4-2 793,12-4-793,-7 0 0,-1 0 0,0 0 0,-15 0 2138,11 0-2138,-27 0 470,12 0-470,-1 0 0,5 0 0,15 0 0,-6 0 0,1 0 0,11 0 0,-10 0 0,-3 0 0,-8 0 0,11 0 0,-11 0 0,15 0 0,7 0 0,6 0 0,-11 0 0,0 0 0,1 0-628,-3 0 0,1 0 0,-1 0 628,19 0 0,-10 0 0,-25 0 0,-3 0 0</inkml:trace>
  <inkml:trace contextRef="#ctx0" brushRef="#br0" timeOffset="2082">10072 6332 24575,'20'16'0,"3"-12"0,-21 12 0,22-16 0,-20 15 0,27-11 0,-11 12 0,4-14 0,3-4 0,12 2 0,-7-1 0,2 2 0,-6 6 0,-1 2 0,4 0 0,1 1 0,10 0 0,0 0 0,-9-1 0,1-3 0,9-5 0,0-2 0,-4 9 0,1 0 0,-6-6 0,2-2 0,-3 2 0,3 6 0,-1 0 0,15-7 0,-2-2 0,-1 1 0,-13 0 0,1 0 0,-4 0 0,0 0 0,5 0 0,-1 0 0,-8 0 0,1 0 0,7 0 0,-4 0 0,-7 0 0,15 0 0,-21 0 0,-7 0 0,21 0 0,-13 0 0,1 0 0,-4 0 0,-1 0 0,-11 0 0,28 0 0,-13 0 0,1 0 0,11 0 0,-11 0 0,15 0 0,-7 0 0,-11 0 0,-9 0 0,8 0 0,-12 0 0,11 0 0,-15 0 0,0 0 0,0 0 0</inkml:trace>
  <inkml:trace contextRef="#ctx0" brushRef="#br0" timeOffset="64801">13865 9331 24575,'19'0'0,"13"0"0,7 0 0,-2 0 0,2 0-1093,1 0 1,3 0 0,0 0 63,-3 0 0,1 0 0,1 0 1029,4 0 0,1 0 0,5 0 0,-14 0 0,2 0 0,2 0 0,2 0 0,1 0 0,1 0 0,-5 0 0,2 0 0,1 0 0,1 0 0,1 0 0,-1 0 0,0 0 0,-1 0-427,3 0 1,0 0 0,0 0 0,-1 0-1,1 0 1,1 0 0,1 0 426,0 0 0,2 1 0,2-1 0,0 1 0,-1-1 0,-2 0 0,-3-1 0,-4 0 0,8-2 0,-5-1 0,-2 0 0,1-1 0,2 1 0,1-1 0,-3 0 0,-5 0 916,7-4 1,-12-2-917,-15-5 0,-4 1 0,-16 11 0,0-12 0,0 16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cs typeface="Arial"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cs typeface="Arial" pitchFamily="34" charset="0"/>
              </a:defRPr>
            </a:lvl1pPr>
          </a:lstStyle>
          <a:p>
            <a:pPr>
              <a:defRPr/>
            </a:pPr>
            <a:fld id="{C8D0D29E-0F72-4B03-9D12-6D36B7ED2220}" type="datetimeFigureOut">
              <a:rPr lang="nl-NL"/>
              <a:pPr>
                <a:defRPr/>
              </a:pPr>
              <a:t>06-05-2026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cs typeface="Arial"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cs typeface="Arial" pitchFamily="34" charset="0"/>
              </a:defRPr>
            </a:lvl1pPr>
          </a:lstStyle>
          <a:p>
            <a:pPr>
              <a:defRPr/>
            </a:pPr>
            <a:fld id="{AD7DC67C-8C92-4F85-AFD0-B67EC14B6C20}" type="slidenum">
              <a:rPr lang="en-US"/>
              <a:pPr>
                <a:defRPr/>
              </a:pPr>
              <a:t>‹#›</a:t>
            </a:fld>
            <a:endParaRPr lang="en-US"/>
          </a:p>
        </p:txBody>
      </p:sp>
    </p:spTree>
    <p:extLst>
      <p:ext uri="{BB962C8B-B14F-4D97-AF65-F5344CB8AC3E}">
        <p14:creationId xmlns:p14="http://schemas.microsoft.com/office/powerpoint/2010/main" val="11718666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09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D01952-DB01-4024-A3F6-876877A0DEB4}" type="slidenum">
              <a:rPr lang="en-US" smtClean="0">
                <a:latin typeface="Arial" charset="0"/>
                <a:cs typeface="Arial" charset="0"/>
              </a:rPr>
              <a:pPr/>
              <a:t>1</a:t>
            </a:fld>
            <a:endParaRPr lang="en-US">
              <a:latin typeface="Arial" charset="0"/>
              <a:cs typeface="Arial" charset="0"/>
            </a:endParaRPr>
          </a:p>
        </p:txBody>
      </p:sp>
    </p:spTree>
    <p:extLst>
      <p:ext uri="{BB962C8B-B14F-4D97-AF65-F5344CB8AC3E}">
        <p14:creationId xmlns:p14="http://schemas.microsoft.com/office/powerpoint/2010/main" val="990310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t>E.g. we may then decide to only test one of them.</a:t>
            </a:r>
          </a:p>
          <a:p>
            <a:endParaRPr lang="en-US" dirty="0"/>
          </a:p>
        </p:txBody>
      </p:sp>
      <p:sp>
        <p:nvSpPr>
          <p:cNvPr id="4" name="Slide Number Placeholder 3"/>
          <p:cNvSpPr>
            <a:spLocks noGrp="1"/>
          </p:cNvSpPr>
          <p:nvPr>
            <p:ph type="sldNum" sz="quarter" idx="10"/>
          </p:nvPr>
        </p:nvSpPr>
        <p:spPr/>
        <p:txBody>
          <a:bodyPr/>
          <a:lstStyle/>
          <a:p>
            <a:pPr>
              <a:defRPr/>
            </a:pPr>
            <a:fld id="{AD7DC67C-8C92-4F85-AFD0-B67EC14B6C20}" type="slidenum">
              <a:rPr lang="en-US" smtClean="0"/>
              <a:pPr>
                <a:defRPr/>
              </a:pPr>
              <a:t>3</a:t>
            </a:fld>
            <a:endParaRPr lang="en-US"/>
          </a:p>
        </p:txBody>
      </p:sp>
    </p:spTree>
    <p:extLst>
      <p:ext uri="{BB962C8B-B14F-4D97-AF65-F5344CB8AC3E}">
        <p14:creationId xmlns:p14="http://schemas.microsoft.com/office/powerpoint/2010/main" val="1612263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AD7DC67C-8C92-4F85-AFD0-B67EC14B6C20}" type="slidenum">
              <a:rPr lang="en-US" smtClean="0"/>
              <a:pPr>
                <a:defRPr/>
              </a:pPr>
              <a:t>4</a:t>
            </a:fld>
            <a:endParaRPr lang="en-US"/>
          </a:p>
        </p:txBody>
      </p:sp>
    </p:spTree>
    <p:extLst>
      <p:ext uri="{BB962C8B-B14F-4D97-AF65-F5344CB8AC3E}">
        <p14:creationId xmlns:p14="http://schemas.microsoft.com/office/powerpoint/2010/main" val="861005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If p is def-clear wrt v, then it does not re-define v in between; implying that v is only defined at the start of p (if it is defined there at all). Thus, this value of v is guaranteed to reach p’s final node.</a:t>
            </a:r>
          </a:p>
          <a:p>
            <a:endParaRPr lang="en-US"/>
          </a:p>
          <a:p>
            <a:r>
              <a:rPr lang="en-US"/>
              <a:t>Not du-path wrt to x:  1345 (the path is not clear wrt x)</a:t>
            </a:r>
          </a:p>
        </p:txBody>
      </p:sp>
      <p:sp>
        <p:nvSpPr>
          <p:cNvPr id="419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8577F83-B936-4395-B7D1-72B81518DB12}" type="slidenum">
              <a:rPr lang="en-US" smtClean="0">
                <a:latin typeface="Arial" charset="0"/>
                <a:cs typeface="Arial" charset="0"/>
              </a:rPr>
              <a:pPr/>
              <a:t>5</a:t>
            </a:fld>
            <a:endParaRPr lang="en-US">
              <a:latin typeface="Arial" charset="0"/>
              <a:cs typeface="Arial" charset="0"/>
            </a:endParaRPr>
          </a:p>
        </p:txBody>
      </p:sp>
    </p:spTree>
    <p:extLst>
      <p:ext uri="{BB962C8B-B14F-4D97-AF65-F5344CB8AC3E}">
        <p14:creationId xmlns:p14="http://schemas.microsoft.com/office/powerpoint/2010/main" val="114751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The intuition of ADC is to cover for each variable, all the places where the variable is assigned a value. However, we only care about it when the new value assigned is actually used somewhere. This comes from the fact that the definition requires the existence of a du-path from the node.</a:t>
            </a:r>
          </a:p>
        </p:txBody>
      </p:sp>
      <p:sp>
        <p:nvSpPr>
          <p:cNvPr id="43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D800003-206B-4247-AF3B-D7D384CD11F9}" type="slidenum">
              <a:rPr lang="en-US" smtClean="0">
                <a:latin typeface="Arial" charset="0"/>
                <a:cs typeface="Arial" charset="0"/>
              </a:rPr>
              <a:pPr/>
              <a:t>7</a:t>
            </a:fld>
            <a:endParaRPr lang="en-US">
              <a:latin typeface="Arial" charset="0"/>
              <a:cs typeface="Arial" charset="0"/>
            </a:endParaRPr>
          </a:p>
        </p:txBody>
      </p:sp>
    </p:spTree>
    <p:extLst>
      <p:ext uri="{BB962C8B-B14F-4D97-AF65-F5344CB8AC3E}">
        <p14:creationId xmlns:p14="http://schemas.microsoft.com/office/powerpoint/2010/main" val="1953523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Recall that in ADC we want to cover, for each variable, all the places where the variable is assigned a value. However, we only care about it when the new value assigned is actually used somewhere. However, for each node </a:t>
            </a:r>
            <a:r>
              <a:rPr lang="en-US" dirty="0" err="1"/>
              <a:t>i</a:t>
            </a:r>
            <a:r>
              <a:rPr lang="en-US" dirty="0"/>
              <a:t> where v is defined, there may be multiple nodes where </a:t>
            </a:r>
            <a:r>
              <a:rPr lang="en-US" dirty="0" err="1"/>
              <a:t>i</a:t>
            </a:r>
            <a:r>
              <a:rPr lang="en-US" dirty="0"/>
              <a:t> is subsequently used. ADC doesn’t distinguish those. In AUC we do. In AUC, for each pair of </a:t>
            </a:r>
            <a:r>
              <a:rPr lang="en-US" dirty="0" err="1"/>
              <a:t>def</a:t>
            </a:r>
            <a:r>
              <a:rPr lang="en-US" dirty="0"/>
              <a:t>/use we require at least one path is tested. There may however be multiple paths between the same </a:t>
            </a:r>
            <a:r>
              <a:rPr lang="en-US" dirty="0" err="1"/>
              <a:t>def</a:t>
            </a:r>
            <a:r>
              <a:rPr lang="en-US" dirty="0"/>
              <a:t>/use pair. In ADUPC we require to cover them all.</a:t>
            </a:r>
          </a:p>
        </p:txBody>
      </p:sp>
      <p:sp>
        <p:nvSpPr>
          <p:cNvPr id="44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40C2CAF-E3B1-4627-9E06-1FF5B1B475B9}" type="slidenum">
              <a:rPr lang="en-US" smtClean="0">
                <a:latin typeface="Arial" charset="0"/>
                <a:cs typeface="Arial" charset="0"/>
              </a:rPr>
              <a:pPr/>
              <a:t>8</a:t>
            </a:fld>
            <a:endParaRPr lang="en-US">
              <a:latin typeface="Arial" charset="0"/>
              <a:cs typeface="Arial" charset="0"/>
            </a:endParaRPr>
          </a:p>
        </p:txBody>
      </p:sp>
    </p:spTree>
    <p:extLst>
      <p:ext uri="{BB962C8B-B14F-4D97-AF65-F5344CB8AC3E}">
        <p14:creationId xmlns:p14="http://schemas.microsoft.com/office/powerpoint/2010/main" val="2137048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(Def 1.24) C1 subsumes C2 if every test-set that satisfies C1 also satisfies C2 (so, C1 is stronger)</a:t>
            </a:r>
          </a:p>
          <a:p>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The assumption</a:t>
            </a:r>
            <a:r>
              <a:rPr lang="en-US" baseline="0" dirty="0"/>
              <a:t> “</a:t>
            </a:r>
            <a:r>
              <a:rPr lang="en-US" sz="2000" dirty="0"/>
              <a:t>arrows are </a:t>
            </a:r>
            <a:r>
              <a:rPr lang="en-US" sz="2000" dirty="0" err="1"/>
              <a:t>labelled</a:t>
            </a:r>
            <a:r>
              <a:rPr lang="en-US" sz="2000" dirty="0"/>
              <a:t>; arrows that leave the node </a:t>
            </a:r>
            <a:r>
              <a:rPr lang="en-US" sz="2000" dirty="0" err="1"/>
              <a:t>i</a:t>
            </a:r>
            <a:r>
              <a:rPr lang="en-US" sz="2000" i="1" dirty="0"/>
              <a:t> </a:t>
            </a:r>
            <a:r>
              <a:rPr lang="en-US" sz="2000" dirty="0"/>
              <a:t>must use at least one </a:t>
            </a:r>
            <a:r>
              <a:rPr lang="en-US" sz="2000" dirty="0" err="1"/>
              <a:t>var</a:t>
            </a:r>
            <a:r>
              <a:rPr lang="en-US" sz="2000" dirty="0"/>
              <a:t>, and they all must use the same set of </a:t>
            </a:r>
            <a:r>
              <a:rPr lang="en-US" sz="2000" dirty="0" err="1"/>
              <a:t>vars</a:t>
            </a:r>
            <a:r>
              <a:rPr lang="en-US" sz="2000" dirty="0"/>
              <a:t>”</a:t>
            </a:r>
            <a:r>
              <a:rPr lang="en-US" sz="2000" baseline="0" dirty="0"/>
              <a:t> basically wants to say, that all branches of e.g. if(g) then S1 else S2 will use all the variables used in g.</a:t>
            </a:r>
            <a:endParaRPr lang="en-US" sz="2000" dirty="0"/>
          </a:p>
        </p:txBody>
      </p:sp>
      <p:sp>
        <p:nvSpPr>
          <p:cNvPr id="45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83B8FD5-830E-404D-9DA7-42EAA9D47811}" type="slidenum">
              <a:rPr lang="en-US" smtClean="0">
                <a:latin typeface="Arial" charset="0"/>
                <a:cs typeface="Arial" charset="0"/>
              </a:rPr>
              <a:pPr/>
              <a:t>10</a:t>
            </a:fld>
            <a:endParaRPr lang="en-US">
              <a:latin typeface="Arial" charset="0"/>
              <a:cs typeface="Arial" charset="0"/>
            </a:endParaRPr>
          </a:p>
        </p:txBody>
      </p:sp>
    </p:spTree>
    <p:extLst>
      <p:ext uri="{BB962C8B-B14F-4D97-AF65-F5344CB8AC3E}">
        <p14:creationId xmlns:p14="http://schemas.microsoft.com/office/powerpoint/2010/main" val="717807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D7DC67C-8C92-4F85-AFD0-B67EC14B6C20}" type="slidenum">
              <a:rPr lang="en-US" smtClean="0"/>
              <a:pPr>
                <a:defRPr/>
              </a:pPr>
              <a:t>14</a:t>
            </a:fld>
            <a:endParaRPr lang="en-US"/>
          </a:p>
        </p:txBody>
      </p:sp>
    </p:spTree>
    <p:extLst>
      <p:ext uri="{BB962C8B-B14F-4D97-AF65-F5344CB8AC3E}">
        <p14:creationId xmlns:p14="http://schemas.microsoft.com/office/powerpoint/2010/main" val="1293763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D7DC67C-8C92-4F85-AFD0-B67EC14B6C20}" type="slidenum">
              <a:rPr lang="en-US" smtClean="0"/>
              <a:pPr>
                <a:defRPr/>
              </a:pPr>
              <a:t>15</a:t>
            </a:fld>
            <a:endParaRPr lang="en-US"/>
          </a:p>
        </p:txBody>
      </p:sp>
    </p:spTree>
    <p:extLst>
      <p:ext uri="{BB962C8B-B14F-4D97-AF65-F5344CB8AC3E}">
        <p14:creationId xmlns:p14="http://schemas.microsoft.com/office/powerpoint/2010/main" val="2570533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f1,f3 are last-</a:t>
            </a:r>
            <a:r>
              <a:rPr lang="en-US" dirty="0" err="1"/>
              <a:t>defs</a:t>
            </a:r>
            <a:r>
              <a:rPr lang="en-US" dirty="0"/>
              <a:t> of f’s a and b.</a:t>
            </a:r>
          </a:p>
          <a:p>
            <a:r>
              <a:rPr lang="en-US" dirty="0"/>
              <a:t>g4,g5 are last-</a:t>
            </a:r>
            <a:r>
              <a:rPr lang="en-US" dirty="0" err="1"/>
              <a:t>defs</a:t>
            </a:r>
            <a:r>
              <a:rPr lang="en-US" dirty="0"/>
              <a:t> of g’s return.</a:t>
            </a:r>
          </a:p>
          <a:p>
            <a:endParaRPr lang="en-US" dirty="0"/>
          </a:p>
          <a:p>
            <a:r>
              <a:rPr lang="en-US" dirty="0"/>
              <a:t>(</a:t>
            </a:r>
            <a:r>
              <a:rPr lang="en-US" dirty="0" err="1"/>
              <a:t>Def</a:t>
            </a:r>
            <a:r>
              <a:rPr lang="en-US" dirty="0"/>
              <a:t> 2.41) </a:t>
            </a:r>
            <a:r>
              <a:rPr lang="en-US" i="1" dirty="0"/>
              <a:t>First-use of v </a:t>
            </a:r>
            <a:r>
              <a:rPr lang="en-US" dirty="0"/>
              <a:t>: set of nodes using v, to which there is a </a:t>
            </a:r>
            <a:r>
              <a:rPr lang="en-US" dirty="0" err="1"/>
              <a:t>def</a:t>
            </a:r>
            <a:r>
              <a:rPr lang="en-US" dirty="0"/>
              <a:t>-clear and use-clear path (</a:t>
            </a:r>
            <a:r>
              <a:rPr lang="en-US" dirty="0" err="1"/>
              <a:t>wrt</a:t>
            </a:r>
            <a:r>
              <a:rPr lang="en-US" dirty="0"/>
              <a:t> </a:t>
            </a:r>
            <a:r>
              <a:rPr lang="en-US" i="1" dirty="0"/>
              <a:t>v</a:t>
            </a:r>
            <a:r>
              <a:rPr lang="en-US" dirty="0"/>
              <a:t>) coming from the other unit, and through the call point. E.g.: g1, g2, f4</a:t>
            </a:r>
          </a:p>
          <a:p>
            <a:endParaRPr lang="en-US" dirty="0"/>
          </a:p>
          <a:p>
            <a:endParaRPr lang="en-US" dirty="0"/>
          </a:p>
          <a:p>
            <a:r>
              <a:rPr lang="en-US" dirty="0"/>
              <a:t>g2 is first use of f’s a</a:t>
            </a:r>
          </a:p>
          <a:p>
            <a:r>
              <a:rPr lang="en-US" dirty="0"/>
              <a:t>g3 is first use of f’s b</a:t>
            </a:r>
          </a:p>
          <a:p>
            <a:r>
              <a:rPr lang="en-US" dirty="0"/>
              <a:t>f4 is first use of g’s return</a:t>
            </a:r>
          </a:p>
        </p:txBody>
      </p:sp>
      <p:sp>
        <p:nvSpPr>
          <p:cNvPr id="46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68794C2-5315-4ACE-AD90-102209284598}" type="slidenum">
              <a:rPr lang="en-US" smtClean="0">
                <a:latin typeface="Arial" charset="0"/>
                <a:cs typeface="Arial" charset="0"/>
              </a:rPr>
              <a:pPr/>
              <a:t>16</a:t>
            </a:fld>
            <a:endParaRPr lang="en-US">
              <a:latin typeface="Arial" charset="0"/>
              <a:cs typeface="Arial" charset="0"/>
            </a:endParaRPr>
          </a:p>
        </p:txBody>
      </p:sp>
    </p:spTree>
    <p:extLst>
      <p:ext uri="{BB962C8B-B14F-4D97-AF65-F5344CB8AC3E}">
        <p14:creationId xmlns:p14="http://schemas.microsoft.com/office/powerpoint/2010/main" val="1773612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D7DC67C-8C92-4F85-AFD0-B67EC14B6C20}" type="slidenum">
              <a:rPr lang="en-US" smtClean="0"/>
              <a:pPr>
                <a:defRPr/>
              </a:pPr>
              <a:t>17</a:t>
            </a:fld>
            <a:endParaRPr lang="en-US"/>
          </a:p>
        </p:txBody>
      </p:sp>
    </p:spTree>
    <p:extLst>
      <p:ext uri="{BB962C8B-B14F-4D97-AF65-F5344CB8AC3E}">
        <p14:creationId xmlns:p14="http://schemas.microsoft.com/office/powerpoint/2010/main" val="119310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f1 and f2 are last-defs of a at the f-side</a:t>
            </a:r>
          </a:p>
          <a:p>
            <a:r>
              <a:rPr lang="en-US"/>
              <a:t>f1 is the last-def of b at the f-side</a:t>
            </a:r>
          </a:p>
          <a:p>
            <a:r>
              <a:rPr lang="en-US"/>
              <a:t>g4,g5 are last-defs of g’s return.</a:t>
            </a:r>
          </a:p>
          <a:p>
            <a:endParaRPr lang="en-US"/>
          </a:p>
          <a:p>
            <a:r>
              <a:rPr lang="en-US"/>
              <a:t>g2 is first use of a at the g-side</a:t>
            </a:r>
          </a:p>
          <a:p>
            <a:r>
              <a:rPr lang="en-US"/>
              <a:t>g2 is first use of f’s b at the g-side</a:t>
            </a:r>
          </a:p>
          <a:p>
            <a:r>
              <a:rPr lang="en-US"/>
              <a:t>f4 is first use of g’s return at the f-side</a:t>
            </a:r>
          </a:p>
          <a:p>
            <a:endParaRPr lang="en-US"/>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7A35C42-481E-4B4E-B0AD-A7723FEDC834}" type="slidenum">
              <a:rPr lang="en-US" smtClean="0">
                <a:latin typeface="Arial" charset="0"/>
                <a:cs typeface="Arial" charset="0"/>
              </a:rPr>
              <a:pPr/>
              <a:t>18</a:t>
            </a:fld>
            <a:endParaRPr lang="en-US">
              <a:latin typeface="Arial" charset="0"/>
              <a:cs typeface="Arial" charset="0"/>
            </a:endParaRPr>
          </a:p>
        </p:txBody>
      </p:sp>
    </p:spTree>
    <p:extLst>
      <p:ext uri="{BB962C8B-B14F-4D97-AF65-F5344CB8AC3E}">
        <p14:creationId xmlns:p14="http://schemas.microsoft.com/office/powerpoint/2010/main" val="2029241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48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5EFCC61-B35A-4C68-AD6D-09938C81CFF1}" type="slidenum">
              <a:rPr lang="en-US" smtClean="0">
                <a:latin typeface="Arial" charset="0"/>
                <a:cs typeface="Arial" charset="0"/>
              </a:rPr>
              <a:pPr/>
              <a:t>20</a:t>
            </a:fld>
            <a:endParaRPr lang="en-US">
              <a:latin typeface="Arial" charset="0"/>
              <a:cs typeface="Arial" charset="0"/>
            </a:endParaRPr>
          </a:p>
        </p:txBody>
      </p:sp>
    </p:spTree>
    <p:extLst>
      <p:ext uri="{BB962C8B-B14F-4D97-AF65-F5344CB8AC3E}">
        <p14:creationId xmlns:p14="http://schemas.microsoft.com/office/powerpoint/2010/main" val="1280479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D7DC67C-8C92-4F85-AFD0-B67EC14B6C20}" type="slidenum">
              <a:rPr lang="en-US" smtClean="0"/>
              <a:pPr>
                <a:defRPr/>
              </a:pPr>
              <a:t>22</a:t>
            </a:fld>
            <a:endParaRPr lang="en-US"/>
          </a:p>
        </p:txBody>
      </p:sp>
    </p:spTree>
    <p:extLst>
      <p:ext uri="{BB962C8B-B14F-4D97-AF65-F5344CB8AC3E}">
        <p14:creationId xmlns:p14="http://schemas.microsoft.com/office/powerpoint/2010/main" val="891418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Or perhaps, the conclusion s that shadowing instance vars is just not a good programming practice.</a:t>
            </a:r>
          </a:p>
        </p:txBody>
      </p:sp>
      <p:sp>
        <p:nvSpPr>
          <p:cNvPr id="49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D2DB971-6BF3-43DB-8071-E157C55B640C}" type="slidenum">
              <a:rPr lang="en-US" smtClean="0">
                <a:latin typeface="Arial" charset="0"/>
                <a:cs typeface="Arial" charset="0"/>
              </a:rPr>
              <a:pPr/>
              <a:t>24</a:t>
            </a:fld>
            <a:endParaRPr lang="en-US">
              <a:latin typeface="Arial" charset="0"/>
              <a:cs typeface="Arial" charset="0"/>
            </a:endParaRPr>
          </a:p>
        </p:txBody>
      </p:sp>
    </p:spTree>
    <p:extLst>
      <p:ext uri="{BB962C8B-B14F-4D97-AF65-F5344CB8AC3E}">
        <p14:creationId xmlns:p14="http://schemas.microsoft.com/office/powerpoint/2010/main" val="1079497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D7DC67C-8C92-4F85-AFD0-B67EC14B6C20}" type="slidenum">
              <a:rPr lang="en-US" smtClean="0"/>
              <a:pPr>
                <a:defRPr/>
              </a:pPr>
              <a:t>25</a:t>
            </a:fld>
            <a:endParaRPr lang="en-US"/>
          </a:p>
        </p:txBody>
      </p:sp>
    </p:spTree>
    <p:extLst>
      <p:ext uri="{BB962C8B-B14F-4D97-AF65-F5344CB8AC3E}">
        <p14:creationId xmlns:p14="http://schemas.microsoft.com/office/powerpoint/2010/main" val="1179086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a:r>
            <a:r>
              <a:rPr lang="en-US" baseline="0" dirty="0"/>
              <a:t> use base() instead of super()</a:t>
            </a:r>
            <a:br>
              <a:rPr lang="en-US" baseline="0" dirty="0"/>
            </a:br>
            <a:r>
              <a:rPr lang="en-US" baseline="0" dirty="0"/>
              <a:t>and </a:t>
            </a:r>
            <a:r>
              <a:rPr lang="en-US" baseline="0" dirty="0" err="1"/>
              <a:t>base.m</a:t>
            </a:r>
            <a:r>
              <a:rPr lang="en-US" baseline="0" dirty="0"/>
              <a:t>(x) instead of </a:t>
            </a:r>
            <a:r>
              <a:rPr lang="en-US" baseline="0" dirty="0" err="1"/>
              <a:t>super.m</a:t>
            </a:r>
            <a:r>
              <a:rPr lang="en-US" baseline="0" dirty="0"/>
              <a:t>(x)</a:t>
            </a:r>
            <a:endParaRPr lang="en-US" dirty="0"/>
          </a:p>
        </p:txBody>
      </p:sp>
      <p:sp>
        <p:nvSpPr>
          <p:cNvPr id="4" name="Slide Number Placeholder 3"/>
          <p:cNvSpPr>
            <a:spLocks noGrp="1"/>
          </p:cNvSpPr>
          <p:nvPr>
            <p:ph type="sldNum" sz="quarter" idx="10"/>
          </p:nvPr>
        </p:nvSpPr>
        <p:spPr/>
        <p:txBody>
          <a:bodyPr/>
          <a:lstStyle/>
          <a:p>
            <a:pPr>
              <a:defRPr/>
            </a:pPr>
            <a:fld id="{AD7DC67C-8C92-4F85-AFD0-B67EC14B6C20}" type="slidenum">
              <a:rPr lang="en-US" smtClean="0"/>
              <a:pPr>
                <a:defRPr/>
              </a:pPr>
              <a:t>26</a:t>
            </a:fld>
            <a:endParaRPr lang="en-US"/>
          </a:p>
        </p:txBody>
      </p:sp>
    </p:spTree>
    <p:extLst>
      <p:ext uri="{BB962C8B-B14F-4D97-AF65-F5344CB8AC3E}">
        <p14:creationId xmlns:p14="http://schemas.microsoft.com/office/powerpoint/2010/main" val="60745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In C#: assume</a:t>
            </a:r>
            <a:r>
              <a:rPr lang="en-US" baseline="0" dirty="0"/>
              <a:t> </a:t>
            </a:r>
            <a:r>
              <a:rPr lang="en-US" baseline="0" dirty="0" err="1"/>
              <a:t>i</a:t>
            </a:r>
            <a:r>
              <a:rPr lang="en-US" baseline="0" dirty="0"/>
              <a:t>() to be a virtual method.</a:t>
            </a:r>
          </a:p>
          <a:p>
            <a:endParaRPr lang="en-US" baseline="0" dirty="0"/>
          </a:p>
          <a:p>
            <a:r>
              <a:rPr lang="en-US" baseline="0" dirty="0"/>
              <a:t>Yoyo behavior occurs when methods of a class C interact with methods of its super classes. E.g. because C </a:t>
            </a:r>
            <a:r>
              <a:rPr lang="en-US" baseline="0" dirty="0" err="1"/>
              <a:t>overides</a:t>
            </a:r>
            <a:r>
              <a:rPr lang="en-US" baseline="0" dirty="0"/>
              <a:t> some methods.</a:t>
            </a:r>
            <a:br>
              <a:rPr lang="en-US" baseline="0" dirty="0"/>
            </a:br>
            <a:r>
              <a:rPr lang="en-US" baseline="0" dirty="0"/>
              <a:t>Yoyo behavior is often tricky and may not be tested enough in usual unit testing.</a:t>
            </a:r>
            <a:endParaRPr lang="en-US" dirty="0"/>
          </a:p>
        </p:txBody>
      </p:sp>
      <p:sp>
        <p:nvSpPr>
          <p:cNvPr id="50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E928582-93B0-4287-BD77-DA0588AC9DF1}" type="slidenum">
              <a:rPr lang="en-US" smtClean="0">
                <a:latin typeface="Arial" charset="0"/>
                <a:cs typeface="Arial" charset="0"/>
              </a:rPr>
              <a:pPr/>
              <a:t>29</a:t>
            </a:fld>
            <a:endParaRPr lang="en-US">
              <a:latin typeface="Arial" charset="0"/>
              <a:cs typeface="Arial" charset="0"/>
            </a:endParaRPr>
          </a:p>
        </p:txBody>
      </p:sp>
    </p:spTree>
    <p:extLst>
      <p:ext uri="{BB962C8B-B14F-4D97-AF65-F5344CB8AC3E}">
        <p14:creationId xmlns:p14="http://schemas.microsoft.com/office/powerpoint/2010/main" val="2075732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53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2E88D2D-DE6F-416F-86F2-ADB1F0E1FE68}" type="slidenum">
              <a:rPr lang="en-US" smtClean="0">
                <a:latin typeface="Arial" charset="0"/>
                <a:cs typeface="Arial" charset="0"/>
              </a:rPr>
              <a:pPr/>
              <a:t>31</a:t>
            </a:fld>
            <a:endParaRPr lang="en-US">
              <a:latin typeface="Arial" charset="0"/>
              <a:cs typeface="Arial" charset="0"/>
            </a:endParaRPr>
          </a:p>
        </p:txBody>
      </p:sp>
    </p:spTree>
    <p:extLst>
      <p:ext uri="{BB962C8B-B14F-4D97-AF65-F5344CB8AC3E}">
        <p14:creationId xmlns:p14="http://schemas.microsoft.com/office/powerpoint/2010/main" val="968434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p:spPr>
      </p:sp>
      <p:sp>
        <p:nvSpPr>
          <p:cNvPr id="542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
        <p:nvSpPr>
          <p:cNvPr id="542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1B5610C-1548-44B1-AF8B-58A43EF5EACA}" type="slidenum">
              <a:rPr lang="en-US" smtClean="0">
                <a:latin typeface="Arial" charset="0"/>
                <a:cs typeface="Arial" charset="0"/>
              </a:rPr>
              <a:pPr/>
              <a:t>32</a:t>
            </a:fld>
            <a:endParaRPr lang="en-US">
              <a:latin typeface="Arial" charset="0"/>
              <a:cs typeface="Arial" charset="0"/>
            </a:endParaRPr>
          </a:p>
        </p:txBody>
      </p:sp>
    </p:spTree>
    <p:extLst>
      <p:ext uri="{BB962C8B-B14F-4D97-AF65-F5344CB8AC3E}">
        <p14:creationId xmlns:p14="http://schemas.microsoft.com/office/powerpoint/2010/main" val="1901307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553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532FD59-A385-497C-A55C-B93D24C9E9F8}" type="slidenum">
              <a:rPr lang="en-US" smtClean="0">
                <a:latin typeface="Arial" charset="0"/>
                <a:cs typeface="Arial" charset="0"/>
              </a:rPr>
              <a:pPr/>
              <a:t>34</a:t>
            </a:fld>
            <a:endParaRPr lang="en-US">
              <a:latin typeface="Arial" charset="0"/>
              <a:cs typeface="Arial" charset="0"/>
            </a:endParaRPr>
          </a:p>
        </p:txBody>
      </p:sp>
    </p:spTree>
    <p:extLst>
      <p:ext uri="{BB962C8B-B14F-4D97-AF65-F5344CB8AC3E}">
        <p14:creationId xmlns:p14="http://schemas.microsoft.com/office/powerpoint/2010/main" val="1411175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AD7DC67C-8C92-4F85-AFD0-B67EC14B6C20}" type="slidenum">
              <a:rPr lang="en-US" smtClean="0"/>
              <a:pPr>
                <a:defRPr/>
              </a:pPr>
              <a:t>36</a:t>
            </a:fld>
            <a:endParaRPr lang="en-US"/>
          </a:p>
        </p:txBody>
      </p:sp>
    </p:spTree>
    <p:extLst>
      <p:ext uri="{BB962C8B-B14F-4D97-AF65-F5344CB8AC3E}">
        <p14:creationId xmlns:p14="http://schemas.microsoft.com/office/powerpoint/2010/main" val="2867681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a:defRPr/>
            </a:pPr>
            <a:fld id="{AD7DC67C-8C92-4F85-AFD0-B67EC14B6C20}" type="slidenum">
              <a:rPr lang="en-US" smtClean="0"/>
              <a:pPr>
                <a:defRPr/>
              </a:pPr>
              <a:t>37</a:t>
            </a:fld>
            <a:endParaRPr lang="en-US"/>
          </a:p>
        </p:txBody>
      </p:sp>
    </p:spTree>
    <p:extLst>
      <p:ext uri="{BB962C8B-B14F-4D97-AF65-F5344CB8AC3E}">
        <p14:creationId xmlns:p14="http://schemas.microsoft.com/office/powerpoint/2010/main" val="29938112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p:spPr>
      </p:sp>
      <p:sp>
        <p:nvSpPr>
          <p:cNvPr id="5632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To note on the above diagram:</a:t>
            </a:r>
          </a:p>
          <a:p>
            <a:endParaRPr lang="en-US"/>
          </a:p>
          <a:p>
            <a:r>
              <a:rPr lang="en-US"/>
              <a:t>Different types of the context o gives different coupling variables as well as coupling paths.</a:t>
            </a:r>
          </a:p>
        </p:txBody>
      </p:sp>
      <p:sp>
        <p:nvSpPr>
          <p:cNvPr id="563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1BEDDAE-976C-44E9-A978-A472C5BB9871}" type="slidenum">
              <a:rPr lang="en-US" smtClean="0">
                <a:latin typeface="Arial" charset="0"/>
                <a:cs typeface="Arial" charset="0"/>
              </a:rPr>
              <a:pPr/>
              <a:t>38</a:t>
            </a:fld>
            <a:endParaRPr lang="en-US">
              <a:latin typeface="Arial" charset="0"/>
              <a:cs typeface="Arial" charset="0"/>
            </a:endParaRPr>
          </a:p>
        </p:txBody>
      </p:sp>
    </p:spTree>
    <p:extLst>
      <p:ext uri="{BB962C8B-B14F-4D97-AF65-F5344CB8AC3E}">
        <p14:creationId xmlns:p14="http://schemas.microsoft.com/office/powerpoint/2010/main" val="819499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0174"/>
            <a:ext cx="7772400" cy="2357454"/>
          </a:xfrm>
          <a:noFill/>
          <a:ln w="12700">
            <a:solidFill>
              <a:schemeClr val="accent1"/>
            </a:solidFill>
          </a:ln>
        </p:spPr>
        <p:txBody>
          <a:bodyPr/>
          <a:lstStyle/>
          <a:p>
            <a:r>
              <a:rPr lang="en-US"/>
              <a:t>Click to edit Master title style</a:t>
            </a:r>
          </a:p>
        </p:txBody>
      </p:sp>
      <p:sp>
        <p:nvSpPr>
          <p:cNvPr id="3" name="Subtitle 2"/>
          <p:cNvSpPr>
            <a:spLocks noGrp="1"/>
          </p:cNvSpPr>
          <p:nvPr>
            <p:ph type="subTitle" idx="1"/>
          </p:nvPr>
        </p:nvSpPr>
        <p:spPr>
          <a:xfrm>
            <a:off x="1371600" y="4071942"/>
            <a:ext cx="6400800" cy="1785950"/>
          </a:xfrm>
        </p:spPr>
        <p:txBody>
          <a:bodyPr/>
          <a:lstStyle>
            <a:lvl1pPr marL="0" indent="0" algn="ctr">
              <a:buNone/>
              <a:defRPr i="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F5B0760D-9EDB-6145-9174-4A7B59914D4C}" type="datetime1">
              <a:rPr lang="en-US" smtClean="0"/>
              <a:t>5/6/26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5575428-F700-4368-9997-67485B66634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w="12700">
            <a:solidFill>
              <a:schemeClr val="accent1"/>
            </a:solidFill>
          </a:ln>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A16B4DC-B182-D642-9018-6194AC7CB889}" type="datetime1">
              <a:rPr lang="en-US" smtClean="0"/>
              <a:t>5/6/26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51486F7-ACCF-4DB7-BBF3-9BC4B709FB2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4096261-A2DB-0C4C-B809-F5FBB409C63D}" type="datetime1">
              <a:rPr lang="en-US" smtClean="0"/>
              <a:t>5/6/26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821910E-ABFC-4F94-84F5-0BB00FBDD58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69376123-B273-594B-85F0-BBCA522E28D4}" type="datetime1">
              <a:rPr lang="en-US" smtClean="0"/>
              <a:t>5/6/26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3D55668-F4C8-47C6-83C9-6FB16351360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CA2F775D-3727-A64A-AE8B-24B95511B6AF}" type="datetime1">
              <a:rPr lang="en-US" smtClean="0"/>
              <a:t>5/6/26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A9FCE30-9A73-4F2D-96C0-F77F631ABD0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accent1"/>
            </a:solidFill>
          </a:ln>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D54CECE-4A9C-684E-92D7-DFAB63EFD86C}" type="datetime1">
              <a:rPr lang="en-US" smtClean="0"/>
              <a:t>5/6/26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2F37286-FE51-4C52-8532-323FC50E77F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F12509A-99FD-054D-A42A-EA835D7195E6}" type="datetime1">
              <a:rPr lang="en-US" smtClean="0"/>
              <a:t>5/6/26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4F4083F-58C9-435E-9094-DCED2ED1E8B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27411D-2ACD-2448-A932-9B916463A789}" type="datetime1">
              <a:rPr lang="en-US" smtClean="0"/>
              <a:t>5/6/26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1201C9-1A3B-4285-BA73-DDDB3B41930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212A945-33C5-C448-BB28-3E322ADE8546}" type="datetime1">
              <a:rPr lang="en-US" smtClean="0"/>
              <a:t>5/6/26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D6D638E-4DE2-445D-BDFA-503B494D663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543D0A6-6A85-FF46-A0CB-492B7BD0E6DB}" type="datetime1">
              <a:rPr lang="en-US" smtClean="0"/>
              <a:t>5/6/26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28407FA-4828-4F9F-80B1-204E35425465}"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5273C3B-651F-464F-9AD6-6643E96110BF}" type="datetime1">
              <a:rPr lang="en-US" smtClean="0"/>
              <a:t>5/6/26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9EB1243-F46B-4CF5-95D5-C2074CEA854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E937E03-C8C1-B04F-91DB-6A2334EE4B71}" type="datetime1">
              <a:rPr lang="en-US" smtClean="0"/>
              <a:t>5/6/26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F6B98D9-B404-46A3-9411-4FFC3C1F020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tif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1500188"/>
            <a:ext cx="7772400" cy="2357437"/>
          </a:xfrm>
        </p:spPr>
        <p:txBody>
          <a:bodyPr/>
          <a:lstStyle/>
          <a:p>
            <a:pPr eaLnBrk="1" hangingPunct="1"/>
            <a:r>
              <a:rPr lang="en-US" dirty="0"/>
              <a:t>Data-flow Based Testing</a:t>
            </a:r>
            <a:br>
              <a:rPr lang="en-US" dirty="0"/>
            </a:br>
            <a:r>
              <a:rPr lang="en-US" sz="3200" dirty="0"/>
              <a:t>(A&amp;O Ch. 2.2.2, 2.4.2, 7.1)</a:t>
            </a:r>
            <a:br>
              <a:rPr lang="en-US" sz="3200" dirty="0"/>
            </a:br>
            <a:r>
              <a:rPr lang="en-US" sz="2000" dirty="0"/>
              <a:t>(2</a:t>
            </a:r>
            <a:r>
              <a:rPr lang="en-US" sz="2000" baseline="30000" dirty="0"/>
              <a:t>nd</a:t>
            </a:r>
            <a:r>
              <a:rPr lang="en-US" sz="2000" dirty="0"/>
              <a:t> Ed. Ch 7.2.3, 7.4.2. Unfortunately, there is no equivalent of 7.1 in the 2</a:t>
            </a:r>
            <a:r>
              <a:rPr lang="en-US" sz="2000" baseline="30000" dirty="0"/>
              <a:t>nd</a:t>
            </a:r>
            <a:r>
              <a:rPr lang="en-US" sz="2000" dirty="0"/>
              <a:t> Ed.)</a:t>
            </a:r>
            <a:endParaRPr lang="en-US" dirty="0"/>
          </a:p>
        </p:txBody>
      </p:sp>
      <p:sp>
        <p:nvSpPr>
          <p:cNvPr id="3" name="Subtitle 2"/>
          <p:cNvSpPr>
            <a:spLocks noGrp="1"/>
          </p:cNvSpPr>
          <p:nvPr>
            <p:ph type="subTitle" idx="1"/>
          </p:nvPr>
        </p:nvSpPr>
        <p:spPr>
          <a:xfrm>
            <a:off x="1371600" y="4071938"/>
            <a:ext cx="6400800" cy="1785937"/>
          </a:xfrm>
        </p:spPr>
        <p:txBody>
          <a:bodyPr rtlCol="0">
            <a:normAutofit fontScale="92500"/>
          </a:bodyPr>
          <a:lstStyle/>
          <a:p>
            <a:pPr eaLnBrk="1" fontAlgn="auto" hangingPunct="1">
              <a:spcAft>
                <a:spcPts val="0"/>
              </a:spcAft>
              <a:buFont typeface="Arial" pitchFamily="34" charset="0"/>
              <a:buNone/>
              <a:defRPr/>
            </a:pPr>
            <a:r>
              <a:rPr lang="en-US" dirty="0"/>
              <a:t>Course Software Testing &amp; Verification</a:t>
            </a:r>
          </a:p>
          <a:p>
            <a:pPr eaLnBrk="1" fontAlgn="auto" hangingPunct="1">
              <a:spcAft>
                <a:spcPts val="0"/>
              </a:spcAft>
              <a:buFont typeface="Arial" pitchFamily="34" charset="0"/>
              <a:buNone/>
              <a:defRPr/>
            </a:pPr>
            <a:r>
              <a:rPr lang="en-US" dirty="0"/>
              <a:t>2025/26</a:t>
            </a:r>
          </a:p>
          <a:p>
            <a:pPr eaLnBrk="1" fontAlgn="auto" hangingPunct="1">
              <a:spcAft>
                <a:spcPts val="0"/>
              </a:spcAft>
              <a:defRPr/>
            </a:pPr>
            <a:r>
              <a:rPr lang="en-US" dirty="0"/>
              <a:t>Wishnu Prasetya &amp; Paige North</a:t>
            </a:r>
          </a:p>
          <a:p>
            <a:pPr eaLnBrk="1" fontAlgn="auto" hangingPunct="1">
              <a:spcAft>
                <a:spcPts val="0"/>
              </a:spcAft>
              <a:buFont typeface="Arial" pitchFamily="34" charset="0"/>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a:t>Plan</a:t>
            </a:r>
          </a:p>
        </p:txBody>
      </p:sp>
      <p:sp>
        <p:nvSpPr>
          <p:cNvPr id="3075" name="Content Placeholder 2"/>
          <p:cNvSpPr>
            <a:spLocks noGrp="1"/>
          </p:cNvSpPr>
          <p:nvPr>
            <p:ph idx="1"/>
          </p:nvPr>
        </p:nvSpPr>
        <p:spPr/>
        <p:txBody>
          <a:bodyPr/>
          <a:lstStyle/>
          <a:p>
            <a:r>
              <a:rPr lang="en-US" dirty="0"/>
              <a:t>Data flow driven testing</a:t>
            </a:r>
          </a:p>
          <a:p>
            <a:r>
              <a:rPr lang="en-US" dirty="0"/>
              <a:t>Integration testing</a:t>
            </a:r>
          </a:p>
          <a:p>
            <a:r>
              <a:rPr lang="en-US" dirty="0"/>
              <a:t>Testing inter-class interactions in an OO setup</a:t>
            </a:r>
          </a:p>
        </p:txBody>
      </p:sp>
      <p:sp>
        <p:nvSpPr>
          <p:cNvPr id="4" name="Slide Number Placeholder 3"/>
          <p:cNvSpPr>
            <a:spLocks noGrp="1"/>
          </p:cNvSpPr>
          <p:nvPr>
            <p:ph type="sldNum" sz="quarter" idx="12"/>
          </p:nvPr>
        </p:nvSpPr>
        <p:spPr/>
        <p:txBody>
          <a:bodyPr/>
          <a:lstStyle/>
          <a:p>
            <a:pPr>
              <a:defRPr/>
            </a:pPr>
            <a:fld id="{B307548A-F559-45C2-9D24-F73DD35C3663}" type="slidenum">
              <a:rPr lang="en-US" smtClean="0"/>
              <a:pPr>
                <a:defRPr/>
              </a:pPr>
              <a:t>2</a:t>
            </a:fld>
            <a:endParaRPr lang="en-US"/>
          </a:p>
        </p:txBody>
      </p:sp>
      <p:sp>
        <p:nvSpPr>
          <p:cNvPr id="2" name="TextBox 1">
            <a:extLst>
              <a:ext uri="{FF2B5EF4-FFF2-40B4-BE49-F238E27FC236}">
                <a16:creationId xmlns:a16="http://schemas.microsoft.com/office/drawing/2014/main" id="{BC04F795-DD07-C944-90FD-B1E2A658DF55}"/>
              </a:ext>
            </a:extLst>
          </p:cNvPr>
          <p:cNvSpPr txBox="1"/>
          <p:nvPr/>
        </p:nvSpPr>
        <p:spPr>
          <a:xfrm>
            <a:off x="457200" y="3789040"/>
            <a:ext cx="8229600" cy="2862322"/>
          </a:xfrm>
          <a:prstGeom prst="rect">
            <a:avLst/>
          </a:prstGeom>
          <a:noFill/>
        </p:spPr>
        <p:txBody>
          <a:bodyPr wrap="square" rtlCol="0">
            <a:spAutoFit/>
          </a:bodyPr>
          <a:lstStyle/>
          <a:p>
            <a:pPr algn="just"/>
            <a:r>
              <a:rPr lang="en-US" b="1" dirty="0"/>
              <a:t>Note</a:t>
            </a:r>
            <a:r>
              <a:rPr lang="en-US" dirty="0"/>
              <a:t>: an important criticism to control-flow based testing (covered in the lecture on graph-based testing) is that it ignores how data actually flows through the control flows, and we cannot distinguish between which data flows might be more critical to test. Data-flow based testing tries to address this shortcoming. Later, it also gives us a useful instrument to handle integration level testing. </a:t>
            </a:r>
            <a:br>
              <a:rPr lang="en-US" dirty="0"/>
            </a:br>
            <a:br>
              <a:rPr lang="en-US" dirty="0"/>
            </a:br>
            <a:r>
              <a:rPr lang="en-US" dirty="0"/>
              <a:t>OO poses another kind of challenges for testing, in particular with respect to error prone patterns due to inheritance and dynamic binding. We will also discuss how to address such situations; we will build our approach based on the previously discussed integration testing approach.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69DCE4B4-0003-794D-8FB5-581B2EF80D7A}"/>
              </a:ext>
            </a:extLst>
          </p:cNvPr>
          <p:cNvSpPr/>
          <p:nvPr/>
        </p:nvSpPr>
        <p:spPr>
          <a:xfrm>
            <a:off x="1403648" y="1564061"/>
            <a:ext cx="6120680" cy="1576907"/>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8" name="Title 1"/>
          <p:cNvSpPr>
            <a:spLocks noGrp="1"/>
          </p:cNvSpPr>
          <p:nvPr>
            <p:ph type="title"/>
          </p:nvPr>
        </p:nvSpPr>
        <p:spPr/>
        <p:txBody>
          <a:bodyPr/>
          <a:lstStyle/>
          <a:p>
            <a:r>
              <a:rPr lang="en-US"/>
              <a:t>Basic idea</a:t>
            </a:r>
          </a:p>
        </p:txBody>
      </p:sp>
      <p:sp>
        <p:nvSpPr>
          <p:cNvPr id="4099" name="Content Placeholder 2"/>
          <p:cNvSpPr>
            <a:spLocks noGrp="1"/>
          </p:cNvSpPr>
          <p:nvPr>
            <p:ph idx="1"/>
          </p:nvPr>
        </p:nvSpPr>
        <p:spPr>
          <a:xfrm>
            <a:off x="319409" y="3284984"/>
            <a:ext cx="8501063" cy="2664297"/>
          </a:xfrm>
        </p:spPr>
        <p:txBody>
          <a:bodyPr/>
          <a:lstStyle/>
          <a:p>
            <a:r>
              <a:rPr lang="en-US" sz="2000" dirty="0"/>
              <a:t>Imagine the test set (leaving out the oracles):  { P(-1,-1) , P1(0,0) } . This two tests would give us full edge coverage.</a:t>
            </a:r>
          </a:p>
          <a:p>
            <a:r>
              <a:rPr lang="en-US" sz="2000" dirty="0"/>
              <a:t>However, this ignores data flow between each branch of the first “if” to each branch of the second “if”. Each data flow triggers different behavior, and arguably should have been tested.</a:t>
            </a:r>
          </a:p>
          <a:p>
            <a:r>
              <a:rPr lang="en-US" sz="2000" dirty="0"/>
              <a:t>On the other hand the instruction “x = 0” is not depending on the logic of the first “if”, so there is also no need to test both paths leading to it.</a:t>
            </a:r>
          </a:p>
          <a:p>
            <a:r>
              <a:rPr lang="en-US" sz="2000" dirty="0"/>
              <a:t>Arguably, dataflow is what actually determines the behavior of a program, rather than control flow. From this perspective, dataflow based testing is more complete than control flow based.</a:t>
            </a:r>
          </a:p>
        </p:txBody>
      </p:sp>
      <p:sp>
        <p:nvSpPr>
          <p:cNvPr id="4" name="Slide Number Placeholder 3"/>
          <p:cNvSpPr>
            <a:spLocks noGrp="1"/>
          </p:cNvSpPr>
          <p:nvPr>
            <p:ph type="sldNum" sz="quarter" idx="12"/>
          </p:nvPr>
        </p:nvSpPr>
        <p:spPr/>
        <p:txBody>
          <a:bodyPr/>
          <a:lstStyle/>
          <a:p>
            <a:pPr>
              <a:defRPr/>
            </a:pPr>
            <a:fld id="{371DCCC3-D8D8-44FB-97B8-62373B550CA3}" type="slidenum">
              <a:rPr lang="en-US" smtClean="0"/>
              <a:pPr>
                <a:defRPr/>
              </a:pPr>
              <a:t>3</a:t>
            </a:fld>
            <a:endParaRPr lang="en-US"/>
          </a:p>
        </p:txBody>
      </p:sp>
      <p:sp>
        <p:nvSpPr>
          <p:cNvPr id="6" name="TextBox 5"/>
          <p:cNvSpPr txBox="1"/>
          <p:nvPr/>
        </p:nvSpPr>
        <p:spPr>
          <a:xfrm>
            <a:off x="1851535" y="1803892"/>
            <a:ext cx="4890185" cy="1200329"/>
          </a:xfrm>
          <a:prstGeom prst="rect">
            <a:avLst/>
          </a:prstGeom>
          <a:noFill/>
          <a:ln>
            <a:noFill/>
          </a:ln>
        </p:spPr>
        <p:txBody>
          <a:bodyPr wrap="none">
            <a:spAutoFit/>
          </a:bodyPr>
          <a:lstStyle/>
          <a:p>
            <a:pPr>
              <a:defRPr/>
            </a:pPr>
            <a:r>
              <a:rPr lang="en-US" sz="2400" dirty="0">
                <a:latin typeface="+mn-lt"/>
              </a:rPr>
              <a:t>P(</a:t>
            </a:r>
            <a:r>
              <a:rPr lang="en-US" sz="2400" dirty="0" err="1">
                <a:latin typeface="+mn-lt"/>
              </a:rPr>
              <a:t>x,y</a:t>
            </a:r>
            <a:r>
              <a:rPr lang="en-US" sz="2400" dirty="0">
                <a:latin typeface="+mn-lt"/>
              </a:rPr>
              <a:t>)  {  </a:t>
            </a:r>
            <a:r>
              <a:rPr lang="en-US" sz="2400" b="1" dirty="0">
                <a:solidFill>
                  <a:schemeClr val="accent6">
                    <a:lumMod val="75000"/>
                  </a:schemeClr>
                </a:solidFill>
                <a:latin typeface="+mn-lt"/>
              </a:rPr>
              <a:t>if</a:t>
            </a:r>
            <a:r>
              <a:rPr lang="en-US" sz="2400" dirty="0">
                <a:latin typeface="+mn-lt"/>
              </a:rPr>
              <a:t> (y&lt;0)  y = -y       </a:t>
            </a:r>
            <a:r>
              <a:rPr lang="en-US" sz="2400" b="1" dirty="0">
                <a:solidFill>
                  <a:schemeClr val="accent6">
                    <a:lumMod val="75000"/>
                  </a:schemeClr>
                </a:solidFill>
                <a:latin typeface="+mn-lt"/>
              </a:rPr>
              <a:t>else</a:t>
            </a:r>
            <a:r>
              <a:rPr lang="en-US" sz="2400" dirty="0">
                <a:latin typeface="+mn-lt"/>
              </a:rPr>
              <a:t> y = 1 ;</a:t>
            </a:r>
            <a:br>
              <a:rPr lang="en-US" sz="2400" dirty="0">
                <a:latin typeface="+mn-lt"/>
              </a:rPr>
            </a:br>
            <a:r>
              <a:rPr lang="en-US" sz="2400" dirty="0">
                <a:latin typeface="+mn-lt"/>
              </a:rPr>
              <a:t>                </a:t>
            </a:r>
            <a:r>
              <a:rPr lang="en-US" sz="2400" b="1" dirty="0">
                <a:solidFill>
                  <a:schemeClr val="accent6">
                    <a:lumMod val="75000"/>
                  </a:schemeClr>
                </a:solidFill>
                <a:latin typeface="+mn-lt"/>
              </a:rPr>
              <a:t>if</a:t>
            </a:r>
            <a:r>
              <a:rPr lang="en-US" sz="2400" dirty="0">
                <a:latin typeface="+mn-lt"/>
              </a:rPr>
              <a:t> (x&lt;0)  x = -x + y </a:t>
            </a:r>
            <a:r>
              <a:rPr lang="en-US" sz="2400" b="1" dirty="0">
                <a:latin typeface="+mn-lt"/>
              </a:rPr>
              <a:t>else</a:t>
            </a:r>
            <a:r>
              <a:rPr lang="en-US" sz="2400" dirty="0">
                <a:latin typeface="+mn-lt"/>
              </a:rPr>
              <a:t> x = 0  ; </a:t>
            </a:r>
            <a:br>
              <a:rPr lang="en-US" sz="2400" dirty="0">
                <a:latin typeface="+mn-lt"/>
              </a:rPr>
            </a:br>
            <a:r>
              <a:rPr lang="en-US" sz="2400" dirty="0">
                <a:latin typeface="+mn-lt"/>
              </a:rPr>
              <a:t>                </a:t>
            </a:r>
            <a:r>
              <a:rPr lang="en-US" sz="2400" b="1" dirty="0">
                <a:solidFill>
                  <a:schemeClr val="accent6">
                    <a:lumMod val="75000"/>
                  </a:schemeClr>
                </a:solidFill>
                <a:latin typeface="+mn-lt"/>
              </a:rPr>
              <a:t>return</a:t>
            </a:r>
            <a:r>
              <a:rPr lang="en-US" sz="2400" dirty="0">
                <a:latin typeface="+mn-lt"/>
              </a:rPr>
              <a:t>  x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ounded Rectangle 37">
            <a:extLst>
              <a:ext uri="{FF2B5EF4-FFF2-40B4-BE49-F238E27FC236}">
                <a16:creationId xmlns:a16="http://schemas.microsoft.com/office/drawing/2014/main" id="{92DBF4E3-99CA-9844-B90E-0A4B6982B60E}"/>
              </a:ext>
            </a:extLst>
          </p:cNvPr>
          <p:cNvSpPr/>
          <p:nvPr/>
        </p:nvSpPr>
        <p:spPr>
          <a:xfrm>
            <a:off x="294383" y="1763986"/>
            <a:ext cx="3362244" cy="2097062"/>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B9BDCDF-5D62-F548-9235-2EF8AF832636}"/>
              </a:ext>
            </a:extLst>
          </p:cNvPr>
          <p:cNvSpPr/>
          <p:nvPr/>
        </p:nvSpPr>
        <p:spPr>
          <a:xfrm>
            <a:off x="463832" y="2008535"/>
            <a:ext cx="861547" cy="49019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4C5D628-7C39-384A-983F-8DABCFFF1CCE}"/>
              </a:ext>
            </a:extLst>
          </p:cNvPr>
          <p:cNvSpPr/>
          <p:nvPr/>
        </p:nvSpPr>
        <p:spPr>
          <a:xfrm>
            <a:off x="1633990" y="2834829"/>
            <a:ext cx="1674050" cy="37577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CBDEA2F-1C6F-144F-9D9C-6DADC7D75481}"/>
              </a:ext>
            </a:extLst>
          </p:cNvPr>
          <p:cNvSpPr/>
          <p:nvPr/>
        </p:nvSpPr>
        <p:spPr>
          <a:xfrm>
            <a:off x="2588071" y="2450317"/>
            <a:ext cx="720080" cy="41394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5C15457-C3A1-A14A-8061-01669E583467}"/>
              </a:ext>
            </a:extLst>
          </p:cNvPr>
          <p:cNvSpPr/>
          <p:nvPr/>
        </p:nvSpPr>
        <p:spPr>
          <a:xfrm>
            <a:off x="2561770" y="1988840"/>
            <a:ext cx="720080" cy="413941"/>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23D16B1-DABC-E64D-B798-AEDC349F8E18}"/>
              </a:ext>
            </a:extLst>
          </p:cNvPr>
          <p:cNvSpPr/>
          <p:nvPr/>
        </p:nvSpPr>
        <p:spPr>
          <a:xfrm>
            <a:off x="1763688" y="2420888"/>
            <a:ext cx="720080" cy="413941"/>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1826EAC-8EE7-D24A-9657-C234914CE057}"/>
              </a:ext>
            </a:extLst>
          </p:cNvPr>
          <p:cNvSpPr/>
          <p:nvPr/>
        </p:nvSpPr>
        <p:spPr>
          <a:xfrm>
            <a:off x="1763688" y="1988840"/>
            <a:ext cx="720080" cy="41394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2" name="Title 1"/>
          <p:cNvSpPr>
            <a:spLocks noGrp="1"/>
          </p:cNvSpPr>
          <p:nvPr>
            <p:ph type="title"/>
          </p:nvPr>
        </p:nvSpPr>
        <p:spPr>
          <a:xfrm>
            <a:off x="457200" y="274638"/>
            <a:ext cx="8229600" cy="1143000"/>
          </a:xfrm>
        </p:spPr>
        <p:txBody>
          <a:bodyPr/>
          <a:lstStyle/>
          <a:p>
            <a:r>
              <a:rPr lang="en-US" dirty="0"/>
              <a:t>Data-flow based approach</a:t>
            </a:r>
            <a:br>
              <a:rPr lang="en-US" dirty="0"/>
            </a:br>
            <a:r>
              <a:rPr lang="en-US" sz="2800" dirty="0"/>
              <a:t>(sec. 2.2.2/ 2</a:t>
            </a:r>
            <a:r>
              <a:rPr lang="en-US" sz="2800" baseline="30000" dirty="0"/>
              <a:t>nd</a:t>
            </a:r>
            <a:r>
              <a:rPr lang="en-US" sz="2800" dirty="0"/>
              <a:t> Ed: 7.2.3)</a:t>
            </a:r>
            <a:endParaRPr lang="en-US" dirty="0"/>
          </a:p>
        </p:txBody>
      </p:sp>
      <p:sp>
        <p:nvSpPr>
          <p:cNvPr id="5123" name="Content Placeholder 2"/>
          <p:cNvSpPr>
            <a:spLocks noGrp="1"/>
          </p:cNvSpPr>
          <p:nvPr>
            <p:ph idx="1"/>
          </p:nvPr>
        </p:nvSpPr>
        <p:spPr>
          <a:xfrm>
            <a:off x="500063" y="4437063"/>
            <a:ext cx="8229600" cy="1849437"/>
          </a:xfrm>
        </p:spPr>
        <p:txBody>
          <a:bodyPr/>
          <a:lstStyle/>
          <a:p>
            <a:r>
              <a:rPr lang="en-US" sz="2400" dirty="0"/>
              <a:t>Data flow graph : CFG, where the nodes and edges are decorated with information about the variables used and defined by each node/edge.</a:t>
            </a:r>
          </a:p>
          <a:p>
            <a:r>
              <a:rPr lang="en-US" sz="2400" dirty="0"/>
              <a:t>In my examples I avoid decorating on the edges.</a:t>
            </a:r>
          </a:p>
          <a:p>
            <a:r>
              <a:rPr lang="en-US" sz="2400" dirty="0"/>
              <a:t>Some subtlety on the granularity of the nodes/edges </a:t>
            </a:r>
            <a:r>
              <a:rPr lang="en-US" sz="2400" dirty="0">
                <a:sym typeface="Wingdings" pitchFamily="2" charset="2"/>
              </a:rPr>
              <a:t> later.</a:t>
            </a:r>
            <a:endParaRPr lang="en-US" sz="2400" dirty="0"/>
          </a:p>
          <a:p>
            <a:pPr lvl="1"/>
            <a:endParaRPr lang="en-US" sz="2400" dirty="0"/>
          </a:p>
          <a:p>
            <a:pPr lvl="1"/>
            <a:endParaRPr lang="en-US" sz="2000" dirty="0"/>
          </a:p>
        </p:txBody>
      </p:sp>
      <p:sp>
        <p:nvSpPr>
          <p:cNvPr id="4" name="Slide Number Placeholder 3"/>
          <p:cNvSpPr>
            <a:spLocks noGrp="1"/>
          </p:cNvSpPr>
          <p:nvPr>
            <p:ph type="sldNum" sz="quarter" idx="12"/>
          </p:nvPr>
        </p:nvSpPr>
        <p:spPr/>
        <p:txBody>
          <a:bodyPr/>
          <a:lstStyle/>
          <a:p>
            <a:pPr>
              <a:defRPr/>
            </a:pPr>
            <a:fld id="{0B00CD6E-4A98-4132-9E0A-B27CC21EA0E5}" type="slidenum">
              <a:rPr lang="en-US" smtClean="0"/>
              <a:pPr>
                <a:defRPr/>
              </a:pPr>
              <a:t>4</a:t>
            </a:fld>
            <a:endParaRPr lang="en-US"/>
          </a:p>
        </p:txBody>
      </p:sp>
      <p:sp>
        <p:nvSpPr>
          <p:cNvPr id="37" name="TextBox 36">
            <a:extLst>
              <a:ext uri="{FF2B5EF4-FFF2-40B4-BE49-F238E27FC236}">
                <a16:creationId xmlns:a16="http://schemas.microsoft.com/office/drawing/2014/main" id="{6DD45985-01DF-9C42-A1CE-0F0671E61C7C}"/>
              </a:ext>
            </a:extLst>
          </p:cNvPr>
          <p:cNvSpPr txBox="1"/>
          <p:nvPr/>
        </p:nvSpPr>
        <p:spPr>
          <a:xfrm>
            <a:off x="457200" y="2016124"/>
            <a:ext cx="3167085" cy="1200329"/>
          </a:xfrm>
          <a:prstGeom prst="rect">
            <a:avLst/>
          </a:prstGeom>
          <a:noFill/>
          <a:ln>
            <a:noFill/>
          </a:ln>
        </p:spPr>
        <p:txBody>
          <a:bodyPr wrap="none">
            <a:spAutoFit/>
          </a:bodyPr>
          <a:lstStyle/>
          <a:p>
            <a:pPr>
              <a:defRPr/>
            </a:pPr>
            <a:r>
              <a:rPr lang="en-US" sz="2400" dirty="0">
                <a:latin typeface="+mn-lt"/>
              </a:rPr>
              <a:t>P(</a:t>
            </a:r>
            <a:r>
              <a:rPr lang="en-US" sz="2400" dirty="0" err="1">
                <a:latin typeface="+mn-lt"/>
              </a:rPr>
              <a:t>x,y</a:t>
            </a:r>
            <a:r>
              <a:rPr lang="en-US" sz="2400" dirty="0">
                <a:latin typeface="+mn-lt"/>
              </a:rPr>
              <a:t>)  {  </a:t>
            </a:r>
            <a:r>
              <a:rPr lang="en-US" sz="2400" b="1" dirty="0">
                <a:latin typeface="+mn-lt"/>
              </a:rPr>
              <a:t>if</a:t>
            </a:r>
            <a:r>
              <a:rPr lang="en-US" sz="2400" dirty="0">
                <a:latin typeface="+mn-lt"/>
              </a:rPr>
              <a:t> (y&lt;0)  y = -y  </a:t>
            </a:r>
            <a:br>
              <a:rPr lang="en-US" sz="2400" dirty="0">
                <a:latin typeface="+mn-lt"/>
              </a:rPr>
            </a:br>
            <a:r>
              <a:rPr lang="en-US" sz="2400" dirty="0">
                <a:latin typeface="+mn-lt"/>
              </a:rPr>
              <a:t>                </a:t>
            </a:r>
            <a:r>
              <a:rPr lang="en-US" sz="2400" b="1" dirty="0">
                <a:latin typeface="+mn-lt"/>
              </a:rPr>
              <a:t>i</a:t>
            </a:r>
            <a:r>
              <a:rPr lang="en-US" sz="2400" dirty="0">
                <a:latin typeface="+mn-lt"/>
              </a:rPr>
              <a:t>f (x&lt;0)  x = 0</a:t>
            </a:r>
            <a:br>
              <a:rPr lang="en-US" sz="2400" dirty="0">
                <a:latin typeface="+mn-lt"/>
              </a:rPr>
            </a:br>
            <a:r>
              <a:rPr lang="en-US" sz="2400" dirty="0">
                <a:latin typeface="+mn-lt"/>
              </a:rPr>
              <a:t>                </a:t>
            </a:r>
            <a:r>
              <a:rPr lang="en-US" sz="2400" b="1" dirty="0">
                <a:latin typeface="+mn-lt"/>
              </a:rPr>
              <a:t>return</a:t>
            </a:r>
            <a:r>
              <a:rPr lang="en-US" sz="2400" dirty="0">
                <a:latin typeface="+mn-lt"/>
              </a:rPr>
              <a:t> </a:t>
            </a:r>
            <a:r>
              <a:rPr lang="en-US" sz="2400" dirty="0" err="1">
                <a:latin typeface="+mn-lt"/>
              </a:rPr>
              <a:t>x+y</a:t>
            </a:r>
            <a:r>
              <a:rPr lang="en-US" sz="2400" dirty="0">
                <a:latin typeface="+mn-lt"/>
              </a:rPr>
              <a:t>     }</a:t>
            </a:r>
          </a:p>
        </p:txBody>
      </p:sp>
      <p:sp>
        <p:nvSpPr>
          <p:cNvPr id="20" name="Rectangle 19">
            <a:extLst>
              <a:ext uri="{FF2B5EF4-FFF2-40B4-BE49-F238E27FC236}">
                <a16:creationId xmlns:a16="http://schemas.microsoft.com/office/drawing/2014/main" id="{DCAD737E-97E2-2748-82CC-D7337FC7BB9C}"/>
              </a:ext>
            </a:extLst>
          </p:cNvPr>
          <p:cNvSpPr/>
          <p:nvPr/>
        </p:nvSpPr>
        <p:spPr bwMode="auto">
          <a:xfrm>
            <a:off x="4372377" y="2992438"/>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n0</a:t>
            </a:r>
          </a:p>
        </p:txBody>
      </p:sp>
      <p:sp>
        <p:nvSpPr>
          <p:cNvPr id="23" name="Rectangle 22">
            <a:extLst>
              <a:ext uri="{FF2B5EF4-FFF2-40B4-BE49-F238E27FC236}">
                <a16:creationId xmlns:a16="http://schemas.microsoft.com/office/drawing/2014/main" id="{8243BDB3-DCA6-F245-AEF7-F590B70E1530}"/>
              </a:ext>
            </a:extLst>
          </p:cNvPr>
          <p:cNvSpPr/>
          <p:nvPr/>
        </p:nvSpPr>
        <p:spPr bwMode="auto">
          <a:xfrm>
            <a:off x="5860252" y="2440592"/>
            <a:ext cx="360362" cy="360362"/>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24" name="Rectangle 23">
            <a:extLst>
              <a:ext uri="{FF2B5EF4-FFF2-40B4-BE49-F238E27FC236}">
                <a16:creationId xmlns:a16="http://schemas.microsoft.com/office/drawing/2014/main" id="{CB3B6DE5-8556-6D45-A6A5-AC32BBAC857E}"/>
              </a:ext>
            </a:extLst>
          </p:cNvPr>
          <p:cNvSpPr/>
          <p:nvPr/>
        </p:nvSpPr>
        <p:spPr bwMode="auto">
          <a:xfrm>
            <a:off x="6495250" y="2995613"/>
            <a:ext cx="360362" cy="360362"/>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n3</a:t>
            </a:r>
          </a:p>
        </p:txBody>
      </p:sp>
      <p:sp>
        <p:nvSpPr>
          <p:cNvPr id="25" name="TextBox 24">
            <a:extLst>
              <a:ext uri="{FF2B5EF4-FFF2-40B4-BE49-F238E27FC236}">
                <a16:creationId xmlns:a16="http://schemas.microsoft.com/office/drawing/2014/main" id="{E36CE0EB-F1A6-554F-ADC5-90E7FE4028DF}"/>
              </a:ext>
            </a:extLst>
          </p:cNvPr>
          <p:cNvSpPr txBox="1"/>
          <p:nvPr/>
        </p:nvSpPr>
        <p:spPr bwMode="auto">
          <a:xfrm>
            <a:off x="3764049" y="2323511"/>
            <a:ext cx="1275862" cy="646331"/>
          </a:xfrm>
          <a:prstGeom prst="rect">
            <a:avLst/>
          </a:prstGeom>
          <a:noFill/>
        </p:spPr>
        <p:txBody>
          <a:bodyPr wrap="none">
            <a:spAutoFit/>
          </a:bodyPr>
          <a:lstStyle/>
          <a:p>
            <a:pPr algn="ctr">
              <a:defRPr/>
            </a:pPr>
            <a:r>
              <a:rPr lang="en-US" dirty="0"/>
              <a:t>use  =</a:t>
            </a:r>
            <a:r>
              <a:rPr lang="en-US" dirty="0">
                <a:sym typeface="Symbol"/>
              </a:rPr>
              <a:t> </a:t>
            </a:r>
            <a:endParaRPr lang="en-US" dirty="0"/>
          </a:p>
          <a:p>
            <a:pPr algn="ctr">
              <a:defRPr/>
            </a:pPr>
            <a:r>
              <a:rPr lang="en-US" dirty="0">
                <a:latin typeface="+mn-lt"/>
              </a:rPr>
              <a:t>def  = { </a:t>
            </a:r>
            <a:r>
              <a:rPr lang="en-US" dirty="0" err="1">
                <a:latin typeface="+mn-lt"/>
              </a:rPr>
              <a:t>x,y</a:t>
            </a:r>
            <a:r>
              <a:rPr lang="en-US" dirty="0">
                <a:latin typeface="+mn-lt"/>
              </a:rPr>
              <a:t> }</a:t>
            </a:r>
          </a:p>
        </p:txBody>
      </p:sp>
      <p:sp>
        <p:nvSpPr>
          <p:cNvPr id="26" name="TextBox 25">
            <a:extLst>
              <a:ext uri="{FF2B5EF4-FFF2-40B4-BE49-F238E27FC236}">
                <a16:creationId xmlns:a16="http://schemas.microsoft.com/office/drawing/2014/main" id="{F6DE789A-9353-1D4C-B947-F395546BB126}"/>
              </a:ext>
            </a:extLst>
          </p:cNvPr>
          <p:cNvSpPr txBox="1"/>
          <p:nvPr/>
        </p:nvSpPr>
        <p:spPr bwMode="auto">
          <a:xfrm>
            <a:off x="5495920" y="1751807"/>
            <a:ext cx="1089025" cy="646113"/>
          </a:xfrm>
          <a:prstGeom prst="rect">
            <a:avLst/>
          </a:prstGeom>
          <a:solidFill>
            <a:schemeClr val="bg1"/>
          </a:solidFill>
        </p:spPr>
        <p:txBody>
          <a:bodyPr wrap="none">
            <a:spAutoFit/>
          </a:bodyPr>
          <a:lstStyle/>
          <a:p>
            <a:pPr>
              <a:defRPr/>
            </a:pPr>
            <a:r>
              <a:rPr lang="en-US" dirty="0"/>
              <a:t>use = {y}</a:t>
            </a:r>
          </a:p>
          <a:p>
            <a:pPr>
              <a:defRPr/>
            </a:pPr>
            <a:r>
              <a:rPr lang="en-US" dirty="0">
                <a:latin typeface="+mn-lt"/>
              </a:rPr>
              <a:t>def  = {y}</a:t>
            </a:r>
          </a:p>
        </p:txBody>
      </p:sp>
      <p:sp>
        <p:nvSpPr>
          <p:cNvPr id="28" name="Rectangle 27">
            <a:extLst>
              <a:ext uri="{FF2B5EF4-FFF2-40B4-BE49-F238E27FC236}">
                <a16:creationId xmlns:a16="http://schemas.microsoft.com/office/drawing/2014/main" id="{685E44F4-1D62-0041-9A19-4B4E2BA370C0}"/>
              </a:ext>
            </a:extLst>
          </p:cNvPr>
          <p:cNvSpPr/>
          <p:nvPr/>
        </p:nvSpPr>
        <p:spPr bwMode="auto">
          <a:xfrm>
            <a:off x="7166427" y="2440592"/>
            <a:ext cx="360362" cy="360362"/>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n4</a:t>
            </a:r>
          </a:p>
        </p:txBody>
      </p:sp>
      <p:sp>
        <p:nvSpPr>
          <p:cNvPr id="29" name="Rectangle 28">
            <a:extLst>
              <a:ext uri="{FF2B5EF4-FFF2-40B4-BE49-F238E27FC236}">
                <a16:creationId xmlns:a16="http://schemas.microsoft.com/office/drawing/2014/main" id="{B414174A-91D1-7D41-A918-39A4E428BA3B}"/>
              </a:ext>
            </a:extLst>
          </p:cNvPr>
          <p:cNvSpPr/>
          <p:nvPr/>
        </p:nvSpPr>
        <p:spPr bwMode="auto">
          <a:xfrm>
            <a:off x="7846214" y="2995613"/>
            <a:ext cx="360363" cy="3603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n5</a:t>
            </a:r>
          </a:p>
        </p:txBody>
      </p:sp>
      <p:sp>
        <p:nvSpPr>
          <p:cNvPr id="33" name="TextBox 32">
            <a:extLst>
              <a:ext uri="{FF2B5EF4-FFF2-40B4-BE49-F238E27FC236}">
                <a16:creationId xmlns:a16="http://schemas.microsoft.com/office/drawing/2014/main" id="{714D0446-FCE0-6A45-83F0-FD9B813026E7}"/>
              </a:ext>
            </a:extLst>
          </p:cNvPr>
          <p:cNvSpPr txBox="1"/>
          <p:nvPr/>
        </p:nvSpPr>
        <p:spPr bwMode="auto">
          <a:xfrm>
            <a:off x="4892406" y="3402127"/>
            <a:ext cx="1088760" cy="646331"/>
          </a:xfrm>
          <a:prstGeom prst="rect">
            <a:avLst/>
          </a:prstGeom>
          <a:noFill/>
        </p:spPr>
        <p:txBody>
          <a:bodyPr wrap="none">
            <a:spAutoFit/>
          </a:bodyPr>
          <a:lstStyle/>
          <a:p>
            <a:pPr algn="ctr">
              <a:defRPr/>
            </a:pPr>
            <a:r>
              <a:rPr lang="en-US" dirty="0"/>
              <a:t>use = {y}</a:t>
            </a:r>
          </a:p>
          <a:p>
            <a:pPr algn="ctr">
              <a:defRPr/>
            </a:pPr>
            <a:r>
              <a:rPr lang="en-US" dirty="0">
                <a:latin typeface="+mn-lt"/>
              </a:rPr>
              <a:t>def  = </a:t>
            </a:r>
            <a:r>
              <a:rPr lang="en-US" dirty="0">
                <a:latin typeface="+mn-lt"/>
                <a:sym typeface="Symbol"/>
              </a:rPr>
              <a:t></a:t>
            </a:r>
            <a:endParaRPr lang="en-US" dirty="0">
              <a:latin typeface="+mn-lt"/>
            </a:endParaRPr>
          </a:p>
        </p:txBody>
      </p:sp>
      <p:sp>
        <p:nvSpPr>
          <p:cNvPr id="34" name="TextBox 33">
            <a:extLst>
              <a:ext uri="{FF2B5EF4-FFF2-40B4-BE49-F238E27FC236}">
                <a16:creationId xmlns:a16="http://schemas.microsoft.com/office/drawing/2014/main" id="{C8E90AB2-74C5-AA48-8F2B-4778F5572F8F}"/>
              </a:ext>
            </a:extLst>
          </p:cNvPr>
          <p:cNvSpPr txBox="1"/>
          <p:nvPr/>
        </p:nvSpPr>
        <p:spPr bwMode="auto">
          <a:xfrm>
            <a:off x="7776592" y="3349969"/>
            <a:ext cx="1441357" cy="646331"/>
          </a:xfrm>
          <a:prstGeom prst="rect">
            <a:avLst/>
          </a:prstGeom>
          <a:noFill/>
        </p:spPr>
        <p:txBody>
          <a:bodyPr wrap="none">
            <a:spAutoFit/>
          </a:bodyPr>
          <a:lstStyle/>
          <a:p>
            <a:pPr>
              <a:defRPr/>
            </a:pPr>
            <a:r>
              <a:rPr lang="en-US" dirty="0"/>
              <a:t>use  = {</a:t>
            </a:r>
            <a:r>
              <a:rPr lang="en-US" dirty="0" err="1"/>
              <a:t>x,y</a:t>
            </a:r>
            <a:r>
              <a:rPr lang="en-US" dirty="0"/>
              <a:t>}</a:t>
            </a:r>
          </a:p>
          <a:p>
            <a:pPr>
              <a:defRPr/>
            </a:pPr>
            <a:r>
              <a:rPr lang="en-US" dirty="0">
                <a:latin typeface="+mn-lt"/>
              </a:rPr>
              <a:t>def  = </a:t>
            </a:r>
            <a:r>
              <a:rPr lang="en-US" dirty="0">
                <a:latin typeface="+mn-lt"/>
                <a:sym typeface="Symbol"/>
              </a:rPr>
              <a:t>{</a:t>
            </a:r>
            <a:r>
              <a:rPr lang="en-US" dirty="0" err="1">
                <a:latin typeface="+mn-lt"/>
                <a:sym typeface="Symbol"/>
              </a:rPr>
              <a:t>retval</a:t>
            </a:r>
            <a:r>
              <a:rPr lang="en-US" dirty="0">
                <a:latin typeface="+mn-lt"/>
                <a:sym typeface="Symbol"/>
              </a:rPr>
              <a:t>}</a:t>
            </a:r>
            <a:endParaRPr lang="en-US" dirty="0">
              <a:latin typeface="+mn-lt"/>
            </a:endParaRPr>
          </a:p>
        </p:txBody>
      </p:sp>
      <p:sp>
        <p:nvSpPr>
          <p:cNvPr id="35" name="TextBox 34">
            <a:extLst>
              <a:ext uri="{FF2B5EF4-FFF2-40B4-BE49-F238E27FC236}">
                <a16:creationId xmlns:a16="http://schemas.microsoft.com/office/drawing/2014/main" id="{64BE9930-41F0-DA47-B332-02683FCAE9FF}"/>
              </a:ext>
            </a:extLst>
          </p:cNvPr>
          <p:cNvSpPr txBox="1"/>
          <p:nvPr/>
        </p:nvSpPr>
        <p:spPr bwMode="auto">
          <a:xfrm>
            <a:off x="6883299" y="1786994"/>
            <a:ext cx="1010213" cy="646331"/>
          </a:xfrm>
          <a:prstGeom prst="rect">
            <a:avLst/>
          </a:prstGeom>
          <a:solidFill>
            <a:schemeClr val="bg1"/>
          </a:solidFill>
        </p:spPr>
        <p:txBody>
          <a:bodyPr wrap="none">
            <a:spAutoFit/>
          </a:bodyPr>
          <a:lstStyle/>
          <a:p>
            <a:pPr algn="ctr">
              <a:defRPr/>
            </a:pPr>
            <a:r>
              <a:rPr lang="en-US" dirty="0"/>
              <a:t>use = </a:t>
            </a:r>
            <a:r>
              <a:rPr lang="en-US" dirty="0">
                <a:sym typeface="Symbol"/>
              </a:rPr>
              <a:t></a:t>
            </a:r>
            <a:endParaRPr lang="en-US" dirty="0"/>
          </a:p>
          <a:p>
            <a:pPr algn="ctr">
              <a:defRPr/>
            </a:pPr>
            <a:r>
              <a:rPr lang="en-US" dirty="0">
                <a:latin typeface="+mn-lt"/>
              </a:rPr>
              <a:t>def  ={x}</a:t>
            </a:r>
          </a:p>
        </p:txBody>
      </p:sp>
      <p:cxnSp>
        <p:nvCxnSpPr>
          <p:cNvPr id="36" name="Straight Arrow Connector 35">
            <a:extLst>
              <a:ext uri="{FF2B5EF4-FFF2-40B4-BE49-F238E27FC236}">
                <a16:creationId xmlns:a16="http://schemas.microsoft.com/office/drawing/2014/main" id="{935647EB-4AEE-5148-8364-E6B6DAD6EC3A}"/>
              </a:ext>
            </a:extLst>
          </p:cNvPr>
          <p:cNvCxnSpPr>
            <a:cxnSpLocks/>
          </p:cNvCxnSpPr>
          <p:nvPr/>
        </p:nvCxnSpPr>
        <p:spPr>
          <a:xfrm>
            <a:off x="4156234" y="3176588"/>
            <a:ext cx="18636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83CCAC83-3E8F-3841-A884-821D9BF73D0E}"/>
              </a:ext>
            </a:extLst>
          </p:cNvPr>
          <p:cNvSpPr/>
          <p:nvPr/>
        </p:nvSpPr>
        <p:spPr bwMode="auto">
          <a:xfrm>
            <a:off x="5256606" y="2995613"/>
            <a:ext cx="360362" cy="360362"/>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cxnSp>
        <p:nvCxnSpPr>
          <p:cNvPr id="40" name="Elbow Connector 39">
            <a:extLst>
              <a:ext uri="{FF2B5EF4-FFF2-40B4-BE49-F238E27FC236}">
                <a16:creationId xmlns:a16="http://schemas.microsoft.com/office/drawing/2014/main" id="{D810C156-F9D4-694D-9205-DC36E7DA823E}"/>
              </a:ext>
            </a:extLst>
          </p:cNvPr>
          <p:cNvCxnSpPr>
            <a:stCxn id="45" idx="0"/>
            <a:endCxn id="23" idx="1"/>
          </p:cNvCxnSpPr>
          <p:nvPr/>
        </p:nvCxnSpPr>
        <p:spPr>
          <a:xfrm rot="5400000" flipH="1" flipV="1">
            <a:off x="5461099" y="2596461"/>
            <a:ext cx="374840" cy="42346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FD3682E0-959B-D64E-8E99-49AE26012128}"/>
              </a:ext>
            </a:extLst>
          </p:cNvPr>
          <p:cNvCxnSpPr>
            <a:cxnSpLocks/>
            <a:stCxn id="23" idx="3"/>
            <a:endCxn id="24" idx="0"/>
          </p:cNvCxnSpPr>
          <p:nvPr/>
        </p:nvCxnSpPr>
        <p:spPr>
          <a:xfrm>
            <a:off x="6220614" y="2620773"/>
            <a:ext cx="45481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7057291-452C-F345-B2A4-6ABD584B3B3F}"/>
              </a:ext>
            </a:extLst>
          </p:cNvPr>
          <p:cNvCxnSpPr>
            <a:stCxn id="45" idx="3"/>
            <a:endCxn id="24" idx="1"/>
          </p:cNvCxnSpPr>
          <p:nvPr/>
        </p:nvCxnSpPr>
        <p:spPr>
          <a:xfrm>
            <a:off x="5616968" y="3175794"/>
            <a:ext cx="8782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485DBE9-F951-9F47-B2CF-217F8458332C}"/>
              </a:ext>
            </a:extLst>
          </p:cNvPr>
          <p:cNvCxnSpPr>
            <a:cxnSpLocks/>
            <a:stCxn id="20" idx="3"/>
            <a:endCxn id="45" idx="1"/>
          </p:cNvCxnSpPr>
          <p:nvPr/>
        </p:nvCxnSpPr>
        <p:spPr>
          <a:xfrm>
            <a:off x="4732739" y="3172619"/>
            <a:ext cx="523867" cy="3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id="{E0EECC63-73B5-7C40-8157-A8D7043893CF}"/>
              </a:ext>
            </a:extLst>
          </p:cNvPr>
          <p:cNvCxnSpPr>
            <a:cxnSpLocks/>
            <a:stCxn id="74" idx="0"/>
            <a:endCxn id="28" idx="1"/>
          </p:cNvCxnSpPr>
          <p:nvPr/>
        </p:nvCxnSpPr>
        <p:spPr>
          <a:xfrm rot="5400000" flipH="1" flipV="1">
            <a:off x="6794359" y="2624885"/>
            <a:ext cx="376179" cy="36795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8996D62-90E7-A54B-AD88-05684703CBDA}"/>
              </a:ext>
            </a:extLst>
          </p:cNvPr>
          <p:cNvCxnSpPr>
            <a:cxnSpLocks/>
            <a:stCxn id="24" idx="3"/>
            <a:endCxn id="29" idx="1"/>
          </p:cNvCxnSpPr>
          <p:nvPr/>
        </p:nvCxnSpPr>
        <p:spPr>
          <a:xfrm>
            <a:off x="6855612" y="3175794"/>
            <a:ext cx="990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a:extLst>
              <a:ext uri="{FF2B5EF4-FFF2-40B4-BE49-F238E27FC236}">
                <a16:creationId xmlns:a16="http://schemas.microsoft.com/office/drawing/2014/main" id="{CB59A7CB-832A-BB4B-A20A-4D2181EC6C6B}"/>
              </a:ext>
            </a:extLst>
          </p:cNvPr>
          <p:cNvCxnSpPr>
            <a:cxnSpLocks/>
            <a:stCxn id="28" idx="3"/>
            <a:endCxn id="29" idx="0"/>
          </p:cNvCxnSpPr>
          <p:nvPr/>
        </p:nvCxnSpPr>
        <p:spPr>
          <a:xfrm>
            <a:off x="7526789" y="2620773"/>
            <a:ext cx="49960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1A9ED44A-71D5-3E4A-8F51-94F97854F5E7}"/>
              </a:ext>
            </a:extLst>
          </p:cNvPr>
          <p:cNvSpPr/>
          <p:nvPr/>
        </p:nvSpPr>
        <p:spPr>
          <a:xfrm>
            <a:off x="6720683" y="2996952"/>
            <a:ext cx="155573" cy="10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CF728332-AB13-FA4E-A47C-2FEF476DC3FA}"/>
              </a:ext>
            </a:extLst>
          </p:cNvPr>
          <p:cNvSpPr txBox="1"/>
          <p:nvPr/>
        </p:nvSpPr>
        <p:spPr bwMode="auto">
          <a:xfrm>
            <a:off x="6206289" y="3408402"/>
            <a:ext cx="1088761" cy="646331"/>
          </a:xfrm>
          <a:prstGeom prst="rect">
            <a:avLst/>
          </a:prstGeom>
          <a:noFill/>
        </p:spPr>
        <p:txBody>
          <a:bodyPr wrap="none">
            <a:spAutoFit/>
          </a:bodyPr>
          <a:lstStyle/>
          <a:p>
            <a:pPr algn="ctr">
              <a:defRPr/>
            </a:pPr>
            <a:r>
              <a:rPr lang="en-US" dirty="0"/>
              <a:t>use = {x}</a:t>
            </a:r>
          </a:p>
          <a:p>
            <a:pPr algn="ctr">
              <a:defRPr/>
            </a:pPr>
            <a:r>
              <a:rPr lang="en-US" dirty="0">
                <a:latin typeface="+mn-lt"/>
              </a:rPr>
              <a:t>def  = </a:t>
            </a:r>
            <a:r>
              <a:rPr lang="en-US" dirty="0">
                <a:latin typeface="+mn-lt"/>
                <a:sym typeface="Symbol"/>
              </a:rPr>
              <a:t></a:t>
            </a:r>
            <a:endParaRPr lang="en-US" dirty="0">
              <a:latin typeface="+mn-lt"/>
            </a:endParaRPr>
          </a:p>
        </p:txBody>
      </p:sp>
    </p:spTree>
    <p:extLst>
      <p:ext uri="{BB962C8B-B14F-4D97-AF65-F5344CB8AC3E}">
        <p14:creationId xmlns:p14="http://schemas.microsoft.com/office/powerpoint/2010/main" val="199027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3" grpId="0" animBg="1"/>
      <p:bldP spid="42" grpId="0" animBg="1"/>
      <p:bldP spid="41" grpId="0" animBg="1"/>
      <p:bldP spid="39" grpId="0" animBg="1"/>
      <p:bldP spid="2" grpId="0" animBg="1"/>
      <p:bldP spid="25" grpId="0"/>
      <p:bldP spid="26" grpId="0" animBg="1"/>
      <p:bldP spid="33" grpId="0"/>
      <p:bldP spid="34" grpId="0"/>
      <p:bldP spid="35" grpId="0" animBg="1"/>
      <p:bldP spid="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95C18D2C-793E-1A4B-8398-F8FF19974917}"/>
              </a:ext>
            </a:extLst>
          </p:cNvPr>
          <p:cNvSpPr/>
          <p:nvPr/>
        </p:nvSpPr>
        <p:spPr>
          <a:xfrm>
            <a:off x="450550" y="5556940"/>
            <a:ext cx="8176458" cy="1015310"/>
          </a:xfrm>
          <a:prstGeom prst="roundRect">
            <a:avLst/>
          </a:prstGeom>
          <a:solidFill>
            <a:schemeClr val="accent6">
              <a:lumMod val="40000"/>
              <a:lumOff val="6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73EC01A9-5394-D642-BDDA-807DE2C27963}"/>
              </a:ext>
            </a:extLst>
          </p:cNvPr>
          <p:cNvSpPr/>
          <p:nvPr/>
        </p:nvSpPr>
        <p:spPr>
          <a:xfrm>
            <a:off x="457199" y="1548352"/>
            <a:ext cx="5393856" cy="2320385"/>
          </a:xfrm>
          <a:prstGeom prst="roundRect">
            <a:avLst>
              <a:gd name="adj" fmla="val 14083"/>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p:txBody>
          <a:bodyPr/>
          <a:lstStyle/>
          <a:p>
            <a:r>
              <a:rPr lang="en-US"/>
              <a:t>Terminologies</a:t>
            </a:r>
          </a:p>
        </p:txBody>
      </p:sp>
      <p:sp>
        <p:nvSpPr>
          <p:cNvPr id="6147" name="Content Placeholder 2"/>
          <p:cNvSpPr>
            <a:spLocks noGrp="1"/>
          </p:cNvSpPr>
          <p:nvPr>
            <p:ph idx="1"/>
          </p:nvPr>
        </p:nvSpPr>
        <p:spPr>
          <a:xfrm>
            <a:off x="457200" y="4017963"/>
            <a:ext cx="8229600" cy="2554287"/>
          </a:xfrm>
        </p:spPr>
        <p:txBody>
          <a:bodyPr/>
          <a:lstStyle/>
          <a:p>
            <a:r>
              <a:rPr lang="en-US" sz="2400" dirty="0" err="1"/>
              <a:t>Def</a:t>
            </a:r>
            <a:r>
              <a:rPr lang="en-US" sz="2400" dirty="0"/>
              <a:t>/use graph: see above. In general, </a:t>
            </a:r>
            <a:r>
              <a:rPr lang="en-US" sz="2400" dirty="0" err="1"/>
              <a:t>def</a:t>
            </a:r>
            <a:r>
              <a:rPr lang="en-US" sz="2400" dirty="0"/>
              <a:t>/use labels are allowed on the edges as well.</a:t>
            </a:r>
          </a:p>
          <a:p>
            <a:r>
              <a:rPr lang="en-US" sz="2400" dirty="0"/>
              <a:t>A path </a:t>
            </a:r>
            <a:r>
              <a:rPr lang="en-US" sz="2400" i="1" dirty="0"/>
              <a:t>p </a:t>
            </a:r>
            <a:r>
              <a:rPr lang="en-US" sz="2400" dirty="0"/>
              <a:t> =  [</a:t>
            </a:r>
            <a:r>
              <a:rPr lang="en-US" sz="2400" dirty="0" err="1"/>
              <a:t>i</a:t>
            </a:r>
            <a:r>
              <a:rPr lang="en-US" sz="2400" dirty="0"/>
              <a:t>,...,k] is </a:t>
            </a:r>
            <a:r>
              <a:rPr lang="en-US" sz="2400" i="1" u="sng" dirty="0" err="1"/>
              <a:t>def</a:t>
            </a:r>
            <a:r>
              <a:rPr lang="en-US" sz="2400" i="1" u="sng" dirty="0"/>
              <a:t>-clear</a:t>
            </a:r>
            <a:r>
              <a:rPr lang="en-US" sz="2400" dirty="0"/>
              <a:t> </a:t>
            </a:r>
            <a:r>
              <a:rPr lang="en-US" sz="2400" dirty="0" err="1"/>
              <a:t>wrt</a:t>
            </a:r>
            <a:r>
              <a:rPr lang="en-US" sz="2400" dirty="0"/>
              <a:t> </a:t>
            </a:r>
            <a:r>
              <a:rPr lang="en-US" sz="2400" i="1" dirty="0"/>
              <a:t>v</a:t>
            </a:r>
            <a:r>
              <a:rPr lang="en-US" sz="2400" dirty="0"/>
              <a:t> </a:t>
            </a:r>
            <a:r>
              <a:rPr lang="en-US" sz="2400" dirty="0" err="1"/>
              <a:t>iff</a:t>
            </a:r>
            <a:r>
              <a:rPr lang="en-US" sz="2400" dirty="0"/>
              <a:t> v </a:t>
            </a:r>
            <a:r>
              <a:rPr lang="en-US" sz="2400" dirty="0">
                <a:sym typeface="Symbol" pitchFamily="18" charset="2"/>
              </a:rPr>
              <a:t> </a:t>
            </a:r>
            <a:r>
              <a:rPr lang="en-US" sz="2400" i="1" dirty="0" err="1">
                <a:sym typeface="Symbol" pitchFamily="18" charset="2"/>
              </a:rPr>
              <a:t>def</a:t>
            </a:r>
            <a:r>
              <a:rPr lang="en-US" sz="2400" dirty="0">
                <a:sym typeface="Symbol" pitchFamily="18" charset="2"/>
              </a:rPr>
              <a:t>(j) and </a:t>
            </a:r>
            <a:r>
              <a:rPr lang="en-US" sz="2400" i="1" dirty="0">
                <a:sym typeface="Symbol" pitchFamily="18" charset="2"/>
              </a:rPr>
              <a:t>v </a:t>
            </a:r>
            <a:r>
              <a:rPr lang="en-US" sz="2400" dirty="0">
                <a:sym typeface="Symbol" pitchFamily="18" charset="2"/>
              </a:rPr>
              <a:t></a:t>
            </a:r>
            <a:r>
              <a:rPr lang="en-US" sz="2400" i="1" dirty="0">
                <a:sym typeface="Symbol" pitchFamily="18" charset="2"/>
              </a:rPr>
              <a:t> </a:t>
            </a:r>
            <a:r>
              <a:rPr lang="en-US" sz="2400" i="1" dirty="0" err="1">
                <a:sym typeface="Symbol" pitchFamily="18" charset="2"/>
              </a:rPr>
              <a:t>def</a:t>
            </a:r>
            <a:r>
              <a:rPr lang="en-US" sz="2400" dirty="0">
                <a:sym typeface="Symbol" pitchFamily="18" charset="2"/>
              </a:rPr>
              <a:t>(</a:t>
            </a:r>
            <a:r>
              <a:rPr lang="en-US" sz="2400" i="1" dirty="0">
                <a:sym typeface="Symbol" pitchFamily="18" charset="2"/>
              </a:rPr>
              <a:t>e</a:t>
            </a:r>
            <a:r>
              <a:rPr lang="en-US" sz="2400" dirty="0">
                <a:sym typeface="Symbol" pitchFamily="18" charset="2"/>
              </a:rPr>
              <a:t>)</a:t>
            </a:r>
            <a:r>
              <a:rPr lang="en-US" sz="2400" i="1" dirty="0">
                <a:sym typeface="Symbol" pitchFamily="18" charset="2"/>
              </a:rPr>
              <a:t> </a:t>
            </a:r>
            <a:r>
              <a:rPr lang="en-US" sz="2400" dirty="0">
                <a:sym typeface="Symbol" pitchFamily="18" charset="2"/>
              </a:rPr>
              <a:t>for all nodes </a:t>
            </a:r>
            <a:r>
              <a:rPr lang="en-US" sz="2400" i="1" dirty="0">
                <a:sym typeface="Symbol" pitchFamily="18" charset="2"/>
              </a:rPr>
              <a:t>j</a:t>
            </a:r>
            <a:r>
              <a:rPr lang="en-US" sz="2400" dirty="0">
                <a:sym typeface="Symbol" pitchFamily="18" charset="2"/>
              </a:rPr>
              <a:t>  and edges </a:t>
            </a:r>
            <a:r>
              <a:rPr lang="en-US" sz="2400" i="1" dirty="0">
                <a:sym typeface="Symbol" pitchFamily="18" charset="2"/>
              </a:rPr>
              <a:t>e </a:t>
            </a:r>
            <a:r>
              <a:rPr lang="en-US" sz="2400" dirty="0">
                <a:sym typeface="Symbol" pitchFamily="18" charset="2"/>
              </a:rPr>
              <a:t>in </a:t>
            </a:r>
            <a:r>
              <a:rPr lang="en-US" sz="2400" i="1" dirty="0">
                <a:sym typeface="Symbol" pitchFamily="18" charset="2"/>
              </a:rPr>
              <a:t>p</a:t>
            </a:r>
            <a:r>
              <a:rPr lang="en-US" sz="2400" dirty="0">
                <a:sym typeface="Symbol" pitchFamily="18" charset="2"/>
              </a:rPr>
              <a:t> </a:t>
            </a:r>
            <a:r>
              <a:rPr lang="en-US" sz="2400" b="1" i="1" dirty="0">
                <a:sym typeface="Symbol" pitchFamily="18" charset="2"/>
              </a:rPr>
              <a:t>between</a:t>
            </a:r>
            <a:r>
              <a:rPr lang="en-US" sz="2400" dirty="0">
                <a:sym typeface="Symbol" pitchFamily="18" charset="2"/>
              </a:rPr>
              <a:t> </a:t>
            </a:r>
            <a:r>
              <a:rPr lang="en-US" sz="2400" i="1" dirty="0" err="1">
                <a:sym typeface="Symbol" pitchFamily="18" charset="2"/>
              </a:rPr>
              <a:t>i</a:t>
            </a:r>
            <a:r>
              <a:rPr lang="en-US" sz="2400" i="1" dirty="0">
                <a:sym typeface="Symbol" pitchFamily="18" charset="2"/>
              </a:rPr>
              <a:t> </a:t>
            </a:r>
            <a:r>
              <a:rPr lang="en-US" sz="2400" dirty="0">
                <a:sym typeface="Symbol" pitchFamily="18" charset="2"/>
              </a:rPr>
              <a:t>and</a:t>
            </a:r>
            <a:r>
              <a:rPr lang="en-US" sz="2400" i="1" dirty="0">
                <a:sym typeface="Symbol" pitchFamily="18" charset="2"/>
              </a:rPr>
              <a:t>  k.</a:t>
            </a:r>
          </a:p>
          <a:p>
            <a:r>
              <a:rPr lang="en-US" sz="2400" dirty="0">
                <a:sym typeface="Symbol" pitchFamily="18" charset="2"/>
              </a:rPr>
              <a:t>A </a:t>
            </a:r>
            <a:r>
              <a:rPr lang="en-US" sz="2400" i="1" u="sng" dirty="0">
                <a:sym typeface="Symbol" pitchFamily="18" charset="2"/>
              </a:rPr>
              <a:t>du-path</a:t>
            </a:r>
            <a:r>
              <a:rPr lang="en-US" sz="2400" dirty="0">
                <a:sym typeface="Symbol" pitchFamily="18" charset="2"/>
              </a:rPr>
              <a:t> </a:t>
            </a:r>
            <a:r>
              <a:rPr lang="en-US" sz="2400" dirty="0" err="1">
                <a:sym typeface="Symbol" pitchFamily="18" charset="2"/>
              </a:rPr>
              <a:t>wrt</a:t>
            </a:r>
            <a:r>
              <a:rPr lang="en-US" sz="2400" dirty="0">
                <a:sym typeface="Symbol" pitchFamily="18" charset="2"/>
              </a:rPr>
              <a:t> </a:t>
            </a:r>
            <a:r>
              <a:rPr lang="en-US" sz="2400" i="1" dirty="0">
                <a:sym typeface="Symbol" pitchFamily="18" charset="2"/>
              </a:rPr>
              <a:t>v</a:t>
            </a:r>
            <a:r>
              <a:rPr lang="en-US" sz="2400" dirty="0">
                <a:sym typeface="Symbol" pitchFamily="18" charset="2"/>
              </a:rPr>
              <a:t> = a </a:t>
            </a:r>
            <a:r>
              <a:rPr lang="en-US" sz="2400" b="1" dirty="0">
                <a:sym typeface="Symbol" pitchFamily="18" charset="2"/>
              </a:rPr>
              <a:t>simple </a:t>
            </a:r>
            <a:r>
              <a:rPr lang="en-US" sz="2400" dirty="0">
                <a:sym typeface="Symbol" pitchFamily="18" charset="2"/>
              </a:rPr>
              <a:t>and</a:t>
            </a:r>
            <a:r>
              <a:rPr lang="en-US" sz="2400" b="1" dirty="0">
                <a:sym typeface="Symbol" pitchFamily="18" charset="2"/>
              </a:rPr>
              <a:t> def-clear </a:t>
            </a:r>
            <a:r>
              <a:rPr lang="en-US" sz="2400" dirty="0">
                <a:sym typeface="Symbol" pitchFamily="18" charset="2"/>
              </a:rPr>
              <a:t>path from </a:t>
            </a:r>
            <a:r>
              <a:rPr lang="en-US" sz="2400" dirty="0" err="1">
                <a:sym typeface="Symbol" pitchFamily="18" charset="2"/>
              </a:rPr>
              <a:t>i</a:t>
            </a:r>
            <a:r>
              <a:rPr lang="en-US" sz="2400" dirty="0">
                <a:sym typeface="Symbol" pitchFamily="18" charset="2"/>
              </a:rPr>
              <a:t> to k with </a:t>
            </a:r>
            <a:r>
              <a:rPr lang="en-US" sz="2400" i="1" dirty="0" err="1">
                <a:sym typeface="Symbol" pitchFamily="18" charset="2"/>
              </a:rPr>
              <a:t>v</a:t>
            </a:r>
            <a:r>
              <a:rPr lang="en-US" sz="2400" dirty="0" err="1">
                <a:sym typeface="Symbol" pitchFamily="18" charset="2"/>
              </a:rPr>
              <a:t></a:t>
            </a:r>
            <a:r>
              <a:rPr lang="en-US" sz="2400" i="1" dirty="0" err="1">
                <a:sym typeface="Symbol" pitchFamily="18" charset="2"/>
              </a:rPr>
              <a:t>def</a:t>
            </a:r>
            <a:r>
              <a:rPr lang="en-US" sz="2400" dirty="0">
                <a:sym typeface="Symbol" pitchFamily="18" charset="2"/>
              </a:rPr>
              <a:t>(</a:t>
            </a:r>
            <a:r>
              <a:rPr lang="en-US" sz="2400" i="1" dirty="0" err="1">
                <a:sym typeface="Symbol" pitchFamily="18" charset="2"/>
              </a:rPr>
              <a:t>i</a:t>
            </a:r>
            <a:r>
              <a:rPr lang="en-US" sz="2400" dirty="0">
                <a:sym typeface="Symbol" pitchFamily="18" charset="2"/>
              </a:rPr>
              <a:t>) and </a:t>
            </a:r>
            <a:r>
              <a:rPr lang="en-US" sz="2400" i="1" dirty="0" err="1">
                <a:sym typeface="Symbol" pitchFamily="18" charset="2"/>
              </a:rPr>
              <a:t>v</a:t>
            </a:r>
            <a:r>
              <a:rPr lang="en-US" sz="2400" dirty="0" err="1">
                <a:sym typeface="Symbol" pitchFamily="18" charset="2"/>
              </a:rPr>
              <a:t></a:t>
            </a:r>
            <a:r>
              <a:rPr lang="en-US" sz="2400" i="1" dirty="0" err="1">
                <a:sym typeface="Symbol" pitchFamily="18" charset="2"/>
              </a:rPr>
              <a:t>use</a:t>
            </a:r>
            <a:r>
              <a:rPr lang="en-US" sz="2400" dirty="0">
                <a:sym typeface="Symbol" pitchFamily="18" charset="2"/>
              </a:rPr>
              <a:t>(</a:t>
            </a:r>
            <a:r>
              <a:rPr lang="en-US" sz="2400" i="1" dirty="0">
                <a:sym typeface="Symbol" pitchFamily="18" charset="2"/>
              </a:rPr>
              <a:t>k</a:t>
            </a:r>
            <a:r>
              <a:rPr lang="en-US" sz="2400" dirty="0">
                <a:sym typeface="Symbol" pitchFamily="18" charset="2"/>
              </a:rPr>
              <a:t>).</a:t>
            </a:r>
            <a:endParaRPr lang="en-US" sz="2400" dirty="0"/>
          </a:p>
          <a:p>
            <a:endParaRPr lang="en-US" sz="2400" dirty="0"/>
          </a:p>
        </p:txBody>
      </p:sp>
      <p:sp>
        <p:nvSpPr>
          <p:cNvPr id="4" name="Slide Number Placeholder 3"/>
          <p:cNvSpPr>
            <a:spLocks noGrp="1"/>
          </p:cNvSpPr>
          <p:nvPr>
            <p:ph type="sldNum" sz="quarter" idx="12"/>
          </p:nvPr>
        </p:nvSpPr>
        <p:spPr/>
        <p:txBody>
          <a:bodyPr/>
          <a:lstStyle/>
          <a:p>
            <a:pPr>
              <a:defRPr/>
            </a:pPr>
            <a:fld id="{11FD2F08-B982-4E73-9302-7B5E6F4605FB}" type="slidenum">
              <a:rPr lang="en-US" smtClean="0"/>
              <a:pPr>
                <a:defRPr/>
              </a:pPr>
              <a:t>5</a:t>
            </a:fld>
            <a:endParaRPr lang="en-US"/>
          </a:p>
        </p:txBody>
      </p:sp>
      <p:sp>
        <p:nvSpPr>
          <p:cNvPr id="23" name="TextBox 22"/>
          <p:cNvSpPr txBox="1"/>
          <p:nvPr/>
        </p:nvSpPr>
        <p:spPr>
          <a:xfrm>
            <a:off x="6070987" y="1587593"/>
            <a:ext cx="2556021" cy="2246769"/>
          </a:xfrm>
          <a:prstGeom prst="rect">
            <a:avLst/>
          </a:prstGeom>
          <a:noFill/>
          <a:ln>
            <a:noFill/>
          </a:ln>
        </p:spPr>
        <p:txBody>
          <a:bodyPr wrap="none">
            <a:spAutoFit/>
          </a:bodyPr>
          <a:lstStyle/>
          <a:p>
            <a:pPr>
              <a:defRPr/>
            </a:pPr>
            <a:r>
              <a:rPr lang="en-US" sz="2000" dirty="0">
                <a:latin typeface="+mn-lt"/>
              </a:rPr>
              <a:t>du-paths </a:t>
            </a:r>
            <a:r>
              <a:rPr lang="en-US" sz="2000" dirty="0" err="1">
                <a:latin typeface="+mn-lt"/>
              </a:rPr>
              <a:t>wrt</a:t>
            </a:r>
            <a:r>
              <a:rPr lang="en-US" sz="2000" dirty="0">
                <a:latin typeface="+mn-lt"/>
              </a:rPr>
              <a:t> x:</a:t>
            </a:r>
          </a:p>
          <a:p>
            <a:pPr>
              <a:defRPr/>
            </a:pPr>
            <a:r>
              <a:rPr lang="en-US" sz="2000" dirty="0">
                <a:latin typeface="+mn-lt"/>
              </a:rPr>
              <a:t>   013, 0123</a:t>
            </a:r>
          </a:p>
          <a:p>
            <a:pPr>
              <a:defRPr/>
            </a:pPr>
            <a:r>
              <a:rPr lang="en-US" sz="2000" dirty="0">
                <a:latin typeface="+mn-lt"/>
              </a:rPr>
              <a:t>   0134, 01234, </a:t>
            </a:r>
          </a:p>
          <a:p>
            <a:pPr>
              <a:defRPr/>
            </a:pPr>
            <a:r>
              <a:rPr lang="en-US" sz="2000" dirty="0">
                <a:latin typeface="+mn-lt"/>
              </a:rPr>
              <a:t>   0135, 01235</a:t>
            </a:r>
            <a:br>
              <a:rPr lang="en-US" sz="2000" dirty="0">
                <a:latin typeface="+mn-lt"/>
              </a:rPr>
            </a:br>
            <a:r>
              <a:rPr lang="en-US" sz="2000" dirty="0">
                <a:latin typeface="+mn-lt"/>
              </a:rPr>
              <a:t>   45</a:t>
            </a:r>
          </a:p>
          <a:p>
            <a:pPr>
              <a:defRPr/>
            </a:pPr>
            <a:r>
              <a:rPr lang="en-US" sz="2000" dirty="0">
                <a:solidFill>
                  <a:srgbClr val="FF0000"/>
                </a:solidFill>
                <a:latin typeface="+mn-lt"/>
              </a:rPr>
              <a:t>Not</a:t>
            </a:r>
            <a:r>
              <a:rPr lang="en-US" sz="2000" dirty="0">
                <a:latin typeface="+mn-lt"/>
              </a:rPr>
              <a:t> du-path </a:t>
            </a:r>
            <a:r>
              <a:rPr lang="en-US" sz="2000" dirty="0" err="1">
                <a:latin typeface="+mn-lt"/>
              </a:rPr>
              <a:t>wrt</a:t>
            </a:r>
            <a:r>
              <a:rPr lang="en-US" sz="2000" dirty="0">
                <a:latin typeface="+mn-lt"/>
              </a:rPr>
              <a:t> x:</a:t>
            </a:r>
          </a:p>
          <a:p>
            <a:pPr>
              <a:defRPr/>
            </a:pPr>
            <a:r>
              <a:rPr lang="en-US" sz="2000" dirty="0">
                <a:latin typeface="+mn-lt"/>
              </a:rPr>
              <a:t>   </a:t>
            </a:r>
            <a:r>
              <a:rPr lang="en-US" sz="2000" dirty="0">
                <a:solidFill>
                  <a:srgbClr val="FF0000"/>
                </a:solidFill>
                <a:latin typeface="+mn-lt"/>
              </a:rPr>
              <a:t>01345</a:t>
            </a:r>
            <a:r>
              <a:rPr lang="en-US" sz="2000" dirty="0">
                <a:latin typeface="+mn-lt"/>
              </a:rPr>
              <a:t> (not def-clear)</a:t>
            </a:r>
          </a:p>
        </p:txBody>
      </p:sp>
      <p:sp>
        <p:nvSpPr>
          <p:cNvPr id="25" name="Rectangle 24">
            <a:extLst>
              <a:ext uri="{FF2B5EF4-FFF2-40B4-BE49-F238E27FC236}">
                <a16:creationId xmlns:a16="http://schemas.microsoft.com/office/drawing/2014/main" id="{FA899E9C-2A44-DF47-81BA-7457CA8ED88E}"/>
              </a:ext>
            </a:extLst>
          </p:cNvPr>
          <p:cNvSpPr/>
          <p:nvPr/>
        </p:nvSpPr>
        <p:spPr bwMode="auto">
          <a:xfrm>
            <a:off x="1114928" y="2773259"/>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n0</a:t>
            </a:r>
          </a:p>
        </p:txBody>
      </p:sp>
      <p:sp>
        <p:nvSpPr>
          <p:cNvPr id="26" name="Rectangle 25">
            <a:extLst>
              <a:ext uri="{FF2B5EF4-FFF2-40B4-BE49-F238E27FC236}">
                <a16:creationId xmlns:a16="http://schemas.microsoft.com/office/drawing/2014/main" id="{3178CAE1-6245-744F-84BA-301FAD1CE52D}"/>
              </a:ext>
            </a:extLst>
          </p:cNvPr>
          <p:cNvSpPr/>
          <p:nvPr/>
        </p:nvSpPr>
        <p:spPr bwMode="auto">
          <a:xfrm>
            <a:off x="2602803" y="2221413"/>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27" name="Rectangle 26">
            <a:extLst>
              <a:ext uri="{FF2B5EF4-FFF2-40B4-BE49-F238E27FC236}">
                <a16:creationId xmlns:a16="http://schemas.microsoft.com/office/drawing/2014/main" id="{9BC787C9-6492-D84A-BCA7-EB540CE003C2}"/>
              </a:ext>
            </a:extLst>
          </p:cNvPr>
          <p:cNvSpPr/>
          <p:nvPr/>
        </p:nvSpPr>
        <p:spPr bwMode="auto">
          <a:xfrm>
            <a:off x="3237801" y="2776434"/>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n3</a:t>
            </a:r>
          </a:p>
        </p:txBody>
      </p:sp>
      <p:sp>
        <p:nvSpPr>
          <p:cNvPr id="28" name="TextBox 27">
            <a:extLst>
              <a:ext uri="{FF2B5EF4-FFF2-40B4-BE49-F238E27FC236}">
                <a16:creationId xmlns:a16="http://schemas.microsoft.com/office/drawing/2014/main" id="{2D476EF6-F103-E143-BC48-B1D728CB331B}"/>
              </a:ext>
            </a:extLst>
          </p:cNvPr>
          <p:cNvSpPr txBox="1"/>
          <p:nvPr/>
        </p:nvSpPr>
        <p:spPr bwMode="auto">
          <a:xfrm>
            <a:off x="506600" y="2104332"/>
            <a:ext cx="1275862" cy="646331"/>
          </a:xfrm>
          <a:prstGeom prst="rect">
            <a:avLst/>
          </a:prstGeom>
          <a:noFill/>
        </p:spPr>
        <p:txBody>
          <a:bodyPr wrap="none">
            <a:spAutoFit/>
          </a:bodyPr>
          <a:lstStyle/>
          <a:p>
            <a:pPr algn="ctr">
              <a:defRPr/>
            </a:pPr>
            <a:r>
              <a:rPr lang="en-US" dirty="0"/>
              <a:t>use  = </a:t>
            </a:r>
            <a:r>
              <a:rPr lang="en-US" dirty="0">
                <a:sym typeface="Symbol"/>
              </a:rPr>
              <a:t></a:t>
            </a:r>
            <a:endParaRPr lang="en-US" dirty="0"/>
          </a:p>
          <a:p>
            <a:pPr algn="ctr">
              <a:defRPr/>
            </a:pPr>
            <a:r>
              <a:rPr lang="en-US" dirty="0">
                <a:latin typeface="+mn-lt"/>
              </a:rPr>
              <a:t>def  = { </a:t>
            </a:r>
            <a:r>
              <a:rPr lang="en-US" dirty="0" err="1">
                <a:latin typeface="+mn-lt"/>
              </a:rPr>
              <a:t>x,y</a:t>
            </a:r>
            <a:r>
              <a:rPr lang="en-US" dirty="0">
                <a:latin typeface="+mn-lt"/>
              </a:rPr>
              <a:t> }</a:t>
            </a:r>
          </a:p>
        </p:txBody>
      </p:sp>
      <p:sp>
        <p:nvSpPr>
          <p:cNvPr id="30" name="TextBox 29">
            <a:extLst>
              <a:ext uri="{FF2B5EF4-FFF2-40B4-BE49-F238E27FC236}">
                <a16:creationId xmlns:a16="http://schemas.microsoft.com/office/drawing/2014/main" id="{452654FC-A6A1-5741-8784-989A471E34D1}"/>
              </a:ext>
            </a:extLst>
          </p:cNvPr>
          <p:cNvSpPr txBox="1"/>
          <p:nvPr/>
        </p:nvSpPr>
        <p:spPr bwMode="auto">
          <a:xfrm>
            <a:off x="2238471" y="1532628"/>
            <a:ext cx="1089025" cy="646113"/>
          </a:xfrm>
          <a:prstGeom prst="rect">
            <a:avLst/>
          </a:prstGeom>
          <a:noFill/>
        </p:spPr>
        <p:txBody>
          <a:bodyPr wrap="none">
            <a:spAutoFit/>
          </a:bodyPr>
          <a:lstStyle/>
          <a:p>
            <a:pPr>
              <a:defRPr/>
            </a:pPr>
            <a:r>
              <a:rPr lang="en-US" dirty="0"/>
              <a:t>use = {y}</a:t>
            </a:r>
          </a:p>
          <a:p>
            <a:pPr>
              <a:defRPr/>
            </a:pPr>
            <a:r>
              <a:rPr lang="en-US" dirty="0">
                <a:latin typeface="+mn-lt"/>
              </a:rPr>
              <a:t>def  = {y}</a:t>
            </a:r>
          </a:p>
        </p:txBody>
      </p:sp>
      <p:sp>
        <p:nvSpPr>
          <p:cNvPr id="31" name="Rectangle 30">
            <a:extLst>
              <a:ext uri="{FF2B5EF4-FFF2-40B4-BE49-F238E27FC236}">
                <a16:creationId xmlns:a16="http://schemas.microsoft.com/office/drawing/2014/main" id="{E3902725-67E0-0246-8019-57FC6788BCE6}"/>
              </a:ext>
            </a:extLst>
          </p:cNvPr>
          <p:cNvSpPr/>
          <p:nvPr/>
        </p:nvSpPr>
        <p:spPr bwMode="auto">
          <a:xfrm>
            <a:off x="3908978" y="2221413"/>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n4</a:t>
            </a:r>
          </a:p>
        </p:txBody>
      </p:sp>
      <p:sp>
        <p:nvSpPr>
          <p:cNvPr id="33" name="Rectangle 32">
            <a:extLst>
              <a:ext uri="{FF2B5EF4-FFF2-40B4-BE49-F238E27FC236}">
                <a16:creationId xmlns:a16="http://schemas.microsoft.com/office/drawing/2014/main" id="{28863301-B311-9C45-B593-6369D672D21A}"/>
              </a:ext>
            </a:extLst>
          </p:cNvPr>
          <p:cNvSpPr/>
          <p:nvPr/>
        </p:nvSpPr>
        <p:spPr bwMode="auto">
          <a:xfrm>
            <a:off x="4588765" y="2776434"/>
            <a:ext cx="360363"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n5</a:t>
            </a:r>
          </a:p>
        </p:txBody>
      </p:sp>
      <p:sp>
        <p:nvSpPr>
          <p:cNvPr id="34" name="TextBox 33">
            <a:extLst>
              <a:ext uri="{FF2B5EF4-FFF2-40B4-BE49-F238E27FC236}">
                <a16:creationId xmlns:a16="http://schemas.microsoft.com/office/drawing/2014/main" id="{2F78FFF3-80D7-2941-8D63-0953DBD3AB80}"/>
              </a:ext>
            </a:extLst>
          </p:cNvPr>
          <p:cNvSpPr txBox="1"/>
          <p:nvPr/>
        </p:nvSpPr>
        <p:spPr bwMode="auto">
          <a:xfrm>
            <a:off x="1634957" y="3182948"/>
            <a:ext cx="1088760" cy="646331"/>
          </a:xfrm>
          <a:prstGeom prst="rect">
            <a:avLst/>
          </a:prstGeom>
          <a:noFill/>
        </p:spPr>
        <p:txBody>
          <a:bodyPr wrap="none">
            <a:spAutoFit/>
          </a:bodyPr>
          <a:lstStyle/>
          <a:p>
            <a:pPr algn="ctr">
              <a:defRPr/>
            </a:pPr>
            <a:r>
              <a:rPr lang="en-US" dirty="0"/>
              <a:t>use = {y}</a:t>
            </a:r>
          </a:p>
          <a:p>
            <a:pPr algn="ctr">
              <a:defRPr/>
            </a:pPr>
            <a:r>
              <a:rPr lang="en-US" dirty="0">
                <a:latin typeface="+mn-lt"/>
              </a:rPr>
              <a:t>def  = </a:t>
            </a:r>
            <a:r>
              <a:rPr lang="en-US" dirty="0">
                <a:latin typeface="+mn-lt"/>
                <a:sym typeface="Symbol"/>
              </a:rPr>
              <a:t></a:t>
            </a:r>
            <a:endParaRPr lang="en-US" dirty="0">
              <a:latin typeface="+mn-lt"/>
            </a:endParaRPr>
          </a:p>
        </p:txBody>
      </p:sp>
      <p:sp>
        <p:nvSpPr>
          <p:cNvPr id="36" name="TextBox 35">
            <a:extLst>
              <a:ext uri="{FF2B5EF4-FFF2-40B4-BE49-F238E27FC236}">
                <a16:creationId xmlns:a16="http://schemas.microsoft.com/office/drawing/2014/main" id="{968A2BD2-0BF3-AC4B-B2D3-57702C18BAD4}"/>
              </a:ext>
            </a:extLst>
          </p:cNvPr>
          <p:cNvSpPr txBox="1"/>
          <p:nvPr/>
        </p:nvSpPr>
        <p:spPr bwMode="auto">
          <a:xfrm>
            <a:off x="4519143" y="3130790"/>
            <a:ext cx="1441357" cy="646331"/>
          </a:xfrm>
          <a:prstGeom prst="rect">
            <a:avLst/>
          </a:prstGeom>
          <a:noFill/>
        </p:spPr>
        <p:txBody>
          <a:bodyPr wrap="none">
            <a:spAutoFit/>
          </a:bodyPr>
          <a:lstStyle/>
          <a:p>
            <a:pPr>
              <a:defRPr/>
            </a:pPr>
            <a:r>
              <a:rPr lang="en-US" dirty="0"/>
              <a:t>use  = {</a:t>
            </a:r>
            <a:r>
              <a:rPr lang="en-US" dirty="0" err="1"/>
              <a:t>x,y</a:t>
            </a:r>
            <a:r>
              <a:rPr lang="en-US" dirty="0"/>
              <a:t>}</a:t>
            </a:r>
          </a:p>
          <a:p>
            <a:pPr>
              <a:defRPr/>
            </a:pPr>
            <a:r>
              <a:rPr lang="en-US" dirty="0">
                <a:latin typeface="+mn-lt"/>
              </a:rPr>
              <a:t>def  = </a:t>
            </a:r>
            <a:r>
              <a:rPr lang="en-US" dirty="0">
                <a:latin typeface="+mn-lt"/>
                <a:sym typeface="Symbol"/>
              </a:rPr>
              <a:t>{</a:t>
            </a:r>
            <a:r>
              <a:rPr lang="en-US" dirty="0" err="1">
                <a:latin typeface="+mn-lt"/>
                <a:sym typeface="Symbol"/>
              </a:rPr>
              <a:t>retval</a:t>
            </a:r>
            <a:r>
              <a:rPr lang="en-US" dirty="0">
                <a:latin typeface="+mn-lt"/>
                <a:sym typeface="Symbol"/>
              </a:rPr>
              <a:t>}</a:t>
            </a:r>
            <a:endParaRPr lang="en-US" dirty="0">
              <a:latin typeface="+mn-lt"/>
            </a:endParaRPr>
          </a:p>
        </p:txBody>
      </p:sp>
      <p:sp>
        <p:nvSpPr>
          <p:cNvPr id="37" name="TextBox 36">
            <a:extLst>
              <a:ext uri="{FF2B5EF4-FFF2-40B4-BE49-F238E27FC236}">
                <a16:creationId xmlns:a16="http://schemas.microsoft.com/office/drawing/2014/main" id="{5674081C-C330-3B4D-83CE-F0714B396716}"/>
              </a:ext>
            </a:extLst>
          </p:cNvPr>
          <p:cNvSpPr txBox="1"/>
          <p:nvPr/>
        </p:nvSpPr>
        <p:spPr bwMode="auto">
          <a:xfrm>
            <a:off x="3586577" y="1567815"/>
            <a:ext cx="1088760" cy="646331"/>
          </a:xfrm>
          <a:prstGeom prst="rect">
            <a:avLst/>
          </a:prstGeom>
          <a:noFill/>
        </p:spPr>
        <p:txBody>
          <a:bodyPr wrap="none">
            <a:spAutoFit/>
          </a:bodyPr>
          <a:lstStyle/>
          <a:p>
            <a:pPr algn="ctr">
              <a:defRPr/>
            </a:pPr>
            <a:r>
              <a:rPr lang="en-US" dirty="0"/>
              <a:t>use = {x}</a:t>
            </a:r>
          </a:p>
          <a:p>
            <a:pPr algn="ctr">
              <a:defRPr/>
            </a:pPr>
            <a:r>
              <a:rPr lang="en-US" dirty="0">
                <a:latin typeface="+mn-lt"/>
              </a:rPr>
              <a:t>def  ={x}</a:t>
            </a:r>
          </a:p>
        </p:txBody>
      </p:sp>
      <p:cxnSp>
        <p:nvCxnSpPr>
          <p:cNvPr id="40" name="Straight Arrow Connector 39">
            <a:extLst>
              <a:ext uri="{FF2B5EF4-FFF2-40B4-BE49-F238E27FC236}">
                <a16:creationId xmlns:a16="http://schemas.microsoft.com/office/drawing/2014/main" id="{9DFFCBF8-C8CF-264D-A38D-40A47AE5D334}"/>
              </a:ext>
            </a:extLst>
          </p:cNvPr>
          <p:cNvCxnSpPr>
            <a:cxnSpLocks/>
          </p:cNvCxnSpPr>
          <p:nvPr/>
        </p:nvCxnSpPr>
        <p:spPr>
          <a:xfrm>
            <a:off x="898785" y="2957409"/>
            <a:ext cx="18636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2269E6A-C14E-7448-9ABE-F32609E3D05A}"/>
              </a:ext>
            </a:extLst>
          </p:cNvPr>
          <p:cNvSpPr/>
          <p:nvPr/>
        </p:nvSpPr>
        <p:spPr bwMode="auto">
          <a:xfrm>
            <a:off x="1999157" y="2776434"/>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cxnSp>
        <p:nvCxnSpPr>
          <p:cNvPr id="42" name="Elbow Connector 41">
            <a:extLst>
              <a:ext uri="{FF2B5EF4-FFF2-40B4-BE49-F238E27FC236}">
                <a16:creationId xmlns:a16="http://schemas.microsoft.com/office/drawing/2014/main" id="{29A5DCFD-8C3E-414C-AE25-D7D68B520764}"/>
              </a:ext>
            </a:extLst>
          </p:cNvPr>
          <p:cNvCxnSpPr>
            <a:stCxn id="41" idx="0"/>
            <a:endCxn id="26" idx="1"/>
          </p:cNvCxnSpPr>
          <p:nvPr/>
        </p:nvCxnSpPr>
        <p:spPr>
          <a:xfrm rot="5400000" flipH="1" flipV="1">
            <a:off x="2203650" y="2377282"/>
            <a:ext cx="374840" cy="42346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BB2F3075-0ADB-9046-BCEC-7540FCEC822D}"/>
              </a:ext>
            </a:extLst>
          </p:cNvPr>
          <p:cNvCxnSpPr>
            <a:cxnSpLocks/>
            <a:stCxn id="26" idx="3"/>
            <a:endCxn id="27" idx="0"/>
          </p:cNvCxnSpPr>
          <p:nvPr/>
        </p:nvCxnSpPr>
        <p:spPr>
          <a:xfrm>
            <a:off x="2963165" y="2401594"/>
            <a:ext cx="45481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9FEA1CC-A43F-7D48-9C2F-6F77AFA0B81B}"/>
              </a:ext>
            </a:extLst>
          </p:cNvPr>
          <p:cNvCxnSpPr>
            <a:stCxn id="41" idx="3"/>
            <a:endCxn id="27" idx="1"/>
          </p:cNvCxnSpPr>
          <p:nvPr/>
        </p:nvCxnSpPr>
        <p:spPr>
          <a:xfrm>
            <a:off x="2359519" y="2956615"/>
            <a:ext cx="8782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957F3C5-3D35-614E-B29D-215CEB99F49D}"/>
              </a:ext>
            </a:extLst>
          </p:cNvPr>
          <p:cNvCxnSpPr>
            <a:cxnSpLocks/>
            <a:stCxn id="25" idx="3"/>
            <a:endCxn id="41" idx="1"/>
          </p:cNvCxnSpPr>
          <p:nvPr/>
        </p:nvCxnSpPr>
        <p:spPr>
          <a:xfrm>
            <a:off x="1475290" y="2953440"/>
            <a:ext cx="523867" cy="3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Elbow Connector 45">
            <a:extLst>
              <a:ext uri="{FF2B5EF4-FFF2-40B4-BE49-F238E27FC236}">
                <a16:creationId xmlns:a16="http://schemas.microsoft.com/office/drawing/2014/main" id="{975853B5-EB3D-EB49-B7F8-FADF9BEE730D}"/>
              </a:ext>
            </a:extLst>
          </p:cNvPr>
          <p:cNvCxnSpPr>
            <a:cxnSpLocks/>
            <a:stCxn id="49" idx="0"/>
            <a:endCxn id="31" idx="1"/>
          </p:cNvCxnSpPr>
          <p:nvPr/>
        </p:nvCxnSpPr>
        <p:spPr>
          <a:xfrm rot="5400000" flipH="1" flipV="1">
            <a:off x="3536910" y="2405706"/>
            <a:ext cx="376179" cy="36795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2CD615E-46A5-EC48-A6D1-4E08BC6D5102}"/>
              </a:ext>
            </a:extLst>
          </p:cNvPr>
          <p:cNvCxnSpPr>
            <a:cxnSpLocks/>
            <a:stCxn id="27" idx="3"/>
            <a:endCxn id="33" idx="1"/>
          </p:cNvCxnSpPr>
          <p:nvPr/>
        </p:nvCxnSpPr>
        <p:spPr>
          <a:xfrm>
            <a:off x="3598163" y="2956615"/>
            <a:ext cx="9906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a:extLst>
              <a:ext uri="{FF2B5EF4-FFF2-40B4-BE49-F238E27FC236}">
                <a16:creationId xmlns:a16="http://schemas.microsoft.com/office/drawing/2014/main" id="{D4E45733-F4D9-7E4E-8EE8-7B9305C25A20}"/>
              </a:ext>
            </a:extLst>
          </p:cNvPr>
          <p:cNvCxnSpPr>
            <a:cxnSpLocks/>
            <a:stCxn id="31" idx="3"/>
            <a:endCxn id="33" idx="0"/>
          </p:cNvCxnSpPr>
          <p:nvPr/>
        </p:nvCxnSpPr>
        <p:spPr>
          <a:xfrm>
            <a:off x="4269340" y="2401594"/>
            <a:ext cx="499607" cy="37484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311E437A-4225-3547-AF67-309317D56581}"/>
              </a:ext>
            </a:extLst>
          </p:cNvPr>
          <p:cNvSpPr/>
          <p:nvPr/>
        </p:nvSpPr>
        <p:spPr>
          <a:xfrm>
            <a:off x="3463234" y="2777773"/>
            <a:ext cx="155573" cy="1039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52BD0DDB-D7E7-7C4B-B37B-CA6D413EA4B8}"/>
              </a:ext>
            </a:extLst>
          </p:cNvPr>
          <p:cNvSpPr txBox="1"/>
          <p:nvPr/>
        </p:nvSpPr>
        <p:spPr bwMode="auto">
          <a:xfrm>
            <a:off x="2948840" y="3189223"/>
            <a:ext cx="1088761" cy="646331"/>
          </a:xfrm>
          <a:prstGeom prst="rect">
            <a:avLst/>
          </a:prstGeom>
          <a:noFill/>
        </p:spPr>
        <p:txBody>
          <a:bodyPr wrap="none">
            <a:spAutoFit/>
          </a:bodyPr>
          <a:lstStyle/>
          <a:p>
            <a:pPr algn="ctr">
              <a:defRPr/>
            </a:pPr>
            <a:r>
              <a:rPr lang="en-US" dirty="0"/>
              <a:t>use = {x}</a:t>
            </a:r>
          </a:p>
          <a:p>
            <a:pPr algn="ctr">
              <a:defRPr/>
            </a:pPr>
            <a:r>
              <a:rPr lang="en-US" dirty="0">
                <a:latin typeface="+mn-lt"/>
              </a:rPr>
              <a:t>def  = </a:t>
            </a:r>
            <a:r>
              <a:rPr lang="en-US" dirty="0">
                <a:latin typeface="+mn-lt"/>
                <a:sym typeface="Symbol"/>
              </a:rPr>
              <a:t></a:t>
            </a:r>
            <a:endParaRPr lang="en-US"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5940152" y="2132856"/>
            <a:ext cx="1128026" cy="36018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5940152" y="1700808"/>
            <a:ext cx="1128026" cy="36018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Title 1"/>
          <p:cNvSpPr>
            <a:spLocks noGrp="1"/>
          </p:cNvSpPr>
          <p:nvPr>
            <p:ph type="title"/>
          </p:nvPr>
        </p:nvSpPr>
        <p:spPr/>
        <p:txBody>
          <a:bodyPr/>
          <a:lstStyle/>
          <a:p>
            <a:r>
              <a:rPr lang="en-US"/>
              <a:t>Block’s granularity</a:t>
            </a:r>
          </a:p>
        </p:txBody>
      </p:sp>
      <p:sp>
        <p:nvSpPr>
          <p:cNvPr id="7171" name="Content Placeholder 2"/>
          <p:cNvSpPr>
            <a:spLocks noGrp="1"/>
          </p:cNvSpPr>
          <p:nvPr>
            <p:ph idx="1"/>
          </p:nvPr>
        </p:nvSpPr>
        <p:spPr>
          <a:xfrm>
            <a:off x="457200" y="3860800"/>
            <a:ext cx="8229600" cy="2663825"/>
          </a:xfrm>
        </p:spPr>
        <p:txBody>
          <a:bodyPr/>
          <a:lstStyle/>
          <a:p>
            <a:r>
              <a:rPr lang="en-US" sz="2200" dirty="0"/>
              <a:t>When a node both </a:t>
            </a:r>
            <a:r>
              <a:rPr lang="en-US" sz="2200" i="1" dirty="0"/>
              <a:t>defines</a:t>
            </a:r>
            <a:r>
              <a:rPr lang="en-US" sz="2200" dirty="0"/>
              <a:t> and </a:t>
            </a:r>
            <a:r>
              <a:rPr lang="en-US" sz="2200" i="1" dirty="0"/>
              <a:t>uses</a:t>
            </a:r>
            <a:r>
              <a:rPr lang="en-US" sz="2200" dirty="0"/>
              <a:t> the same variable</a:t>
            </a:r>
            <a:r>
              <a:rPr lang="en-US" sz="2200" i="1" dirty="0"/>
              <a:t> x</a:t>
            </a:r>
            <a:r>
              <a:rPr lang="en-US" sz="2200" dirty="0"/>
              <a:t>, we will assume that it uses</a:t>
            </a:r>
            <a:r>
              <a:rPr lang="en-US" sz="2200" i="1" dirty="0"/>
              <a:t> x</a:t>
            </a:r>
            <a:r>
              <a:rPr lang="en-US" sz="2200" dirty="0"/>
              <a:t> first, </a:t>
            </a:r>
            <a:r>
              <a:rPr lang="en-US" sz="2200" i="1" dirty="0"/>
              <a:t>then</a:t>
            </a:r>
            <a:r>
              <a:rPr lang="en-US" sz="2200" dirty="0"/>
              <a:t> assigns to it, as in </a:t>
            </a:r>
            <a:br>
              <a:rPr lang="en-US" sz="2200" dirty="0"/>
            </a:br>
            <a:r>
              <a:rPr lang="en-US" sz="2200" dirty="0"/>
              <a:t>      </a:t>
            </a:r>
            <a:r>
              <a:rPr lang="en-US" sz="2200" i="1" dirty="0"/>
              <a:t>x = ... x ... </a:t>
            </a:r>
          </a:p>
          <a:p>
            <a:r>
              <a:rPr lang="en-US" sz="2200" dirty="0"/>
              <a:t>If this assumption is broken (middle example) </a:t>
            </a:r>
            <a:r>
              <a:rPr lang="en-US" sz="2200" dirty="0">
                <a:sym typeface="Wingdings" pitchFamily="2" charset="2"/>
              </a:rPr>
              <a:t> </a:t>
            </a:r>
            <a:r>
              <a:rPr lang="en-US" sz="2200" b="1" dirty="0">
                <a:sym typeface="Wingdings" pitchFamily="2" charset="2"/>
              </a:rPr>
              <a:t>split</a:t>
            </a:r>
            <a:r>
              <a:rPr lang="en-US" sz="2200" dirty="0">
                <a:sym typeface="Wingdings" pitchFamily="2" charset="2"/>
              </a:rPr>
              <a:t> the node. Else this will conflict the intention of your definition of du-path.</a:t>
            </a:r>
          </a:p>
          <a:p>
            <a:r>
              <a:rPr lang="en-US" sz="2200" dirty="0"/>
              <a:t>Check 2.3.2 (2</a:t>
            </a:r>
            <a:r>
              <a:rPr lang="en-US" sz="2200" baseline="30000" dirty="0"/>
              <a:t>nd</a:t>
            </a:r>
            <a:r>
              <a:rPr lang="en-US" sz="2200" dirty="0"/>
              <a:t> Ed. 7.3.2) on how to map a source code to a def/use graph.</a:t>
            </a:r>
          </a:p>
        </p:txBody>
      </p:sp>
      <p:sp>
        <p:nvSpPr>
          <p:cNvPr id="4" name="Slide Number Placeholder 3"/>
          <p:cNvSpPr>
            <a:spLocks noGrp="1"/>
          </p:cNvSpPr>
          <p:nvPr>
            <p:ph type="sldNum" sz="quarter" idx="12"/>
          </p:nvPr>
        </p:nvSpPr>
        <p:spPr/>
        <p:txBody>
          <a:bodyPr/>
          <a:lstStyle/>
          <a:p>
            <a:pPr>
              <a:defRPr/>
            </a:pPr>
            <a:fld id="{3087DEB0-46EF-4540-825A-186FCF9EBB39}" type="slidenum">
              <a:rPr lang="en-US" smtClean="0"/>
              <a:pPr>
                <a:defRPr/>
              </a:pPr>
              <a:t>6</a:t>
            </a:fld>
            <a:endParaRPr lang="en-US"/>
          </a:p>
        </p:txBody>
      </p:sp>
      <p:sp>
        <p:nvSpPr>
          <p:cNvPr id="5" name="TextBox 4"/>
          <p:cNvSpPr txBox="1"/>
          <p:nvPr/>
        </p:nvSpPr>
        <p:spPr>
          <a:xfrm>
            <a:off x="803275" y="1844675"/>
            <a:ext cx="1120820" cy="461665"/>
          </a:xfrm>
          <a:prstGeom prst="rect">
            <a:avLst/>
          </a:prstGeom>
          <a:solidFill>
            <a:srgbClr val="FFFF00"/>
          </a:solidFill>
        </p:spPr>
        <p:txBody>
          <a:bodyPr wrap="none">
            <a:spAutoFit/>
          </a:bodyPr>
          <a:lstStyle/>
          <a:p>
            <a:pPr>
              <a:defRPr/>
            </a:pPr>
            <a:r>
              <a:rPr lang="en-US" sz="2400" dirty="0">
                <a:latin typeface="+mn-lt"/>
              </a:rPr>
              <a:t>x = x+1 </a:t>
            </a:r>
          </a:p>
        </p:txBody>
      </p:sp>
      <p:sp>
        <p:nvSpPr>
          <p:cNvPr id="6" name="TextBox 5"/>
          <p:cNvSpPr txBox="1"/>
          <p:nvPr/>
        </p:nvSpPr>
        <p:spPr>
          <a:xfrm>
            <a:off x="3379788" y="1628775"/>
            <a:ext cx="1277914" cy="830997"/>
          </a:xfrm>
          <a:prstGeom prst="rect">
            <a:avLst/>
          </a:prstGeom>
          <a:solidFill>
            <a:srgbClr val="FFFF00"/>
          </a:solidFill>
        </p:spPr>
        <p:txBody>
          <a:bodyPr wrap="none">
            <a:spAutoFit/>
          </a:bodyPr>
          <a:lstStyle/>
          <a:p>
            <a:pPr>
              <a:defRPr/>
            </a:pPr>
            <a:r>
              <a:rPr lang="en-US" sz="2400" dirty="0">
                <a:latin typeface="+mn-lt"/>
              </a:rPr>
              <a:t>x = 0</a:t>
            </a:r>
          </a:p>
          <a:p>
            <a:pPr>
              <a:defRPr/>
            </a:pPr>
            <a:r>
              <a:rPr lang="en-US" sz="2400" dirty="0">
                <a:latin typeface="+mn-lt"/>
              </a:rPr>
              <a:t>y = x+1 ; </a:t>
            </a:r>
          </a:p>
        </p:txBody>
      </p:sp>
      <p:sp>
        <p:nvSpPr>
          <p:cNvPr id="7" name="TextBox 6"/>
          <p:cNvSpPr txBox="1"/>
          <p:nvPr/>
        </p:nvSpPr>
        <p:spPr>
          <a:xfrm>
            <a:off x="5972175" y="1662113"/>
            <a:ext cx="1127232" cy="830997"/>
          </a:xfrm>
          <a:prstGeom prst="rect">
            <a:avLst/>
          </a:prstGeom>
          <a:noFill/>
        </p:spPr>
        <p:txBody>
          <a:bodyPr wrap="none">
            <a:spAutoFit/>
          </a:bodyPr>
          <a:lstStyle/>
          <a:p>
            <a:pPr>
              <a:defRPr/>
            </a:pPr>
            <a:r>
              <a:rPr lang="en-US" sz="2400" dirty="0">
                <a:latin typeface="+mn-lt"/>
              </a:rPr>
              <a:t>x = 0</a:t>
            </a:r>
          </a:p>
          <a:p>
            <a:pPr>
              <a:defRPr/>
            </a:pPr>
            <a:r>
              <a:rPr lang="en-US" sz="2400" dirty="0">
                <a:latin typeface="+mn-lt"/>
              </a:rPr>
              <a:t>y = x+1 </a:t>
            </a:r>
          </a:p>
        </p:txBody>
      </p:sp>
      <p:sp>
        <p:nvSpPr>
          <p:cNvPr id="8" name="Rectangle 7"/>
          <p:cNvSpPr/>
          <p:nvPr/>
        </p:nvSpPr>
        <p:spPr bwMode="auto">
          <a:xfrm>
            <a:off x="827088" y="2925763"/>
            <a:ext cx="360362" cy="360362"/>
          </a:xfrm>
          <a:prstGeom prst="rect">
            <a:avLst/>
          </a:prstGeom>
          <a:solidFill>
            <a:srgbClr val="FFFF0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a:t>
            </a:r>
          </a:p>
        </p:txBody>
      </p:sp>
      <p:sp>
        <p:nvSpPr>
          <p:cNvPr id="9" name="TextBox 8"/>
          <p:cNvSpPr txBox="1"/>
          <p:nvPr/>
        </p:nvSpPr>
        <p:spPr>
          <a:xfrm>
            <a:off x="1298575" y="2782888"/>
            <a:ext cx="1166858" cy="646331"/>
          </a:xfrm>
          <a:prstGeom prst="rect">
            <a:avLst/>
          </a:prstGeom>
          <a:noFill/>
        </p:spPr>
        <p:txBody>
          <a:bodyPr wrap="none">
            <a:spAutoFit/>
          </a:bodyPr>
          <a:lstStyle/>
          <a:p>
            <a:pPr>
              <a:defRPr/>
            </a:pPr>
            <a:r>
              <a:rPr lang="en-US" dirty="0"/>
              <a:t>use = {x}</a:t>
            </a:r>
            <a:endParaRPr lang="en-US" dirty="0">
              <a:latin typeface="+mn-lt"/>
            </a:endParaRPr>
          </a:p>
          <a:p>
            <a:pPr>
              <a:defRPr/>
            </a:pPr>
            <a:r>
              <a:rPr lang="en-US" dirty="0">
                <a:latin typeface="+mn-lt"/>
              </a:rPr>
              <a:t>def   = { x }</a:t>
            </a:r>
          </a:p>
        </p:txBody>
      </p:sp>
      <p:sp>
        <p:nvSpPr>
          <p:cNvPr id="10" name="Rectangle 9"/>
          <p:cNvSpPr/>
          <p:nvPr/>
        </p:nvSpPr>
        <p:spPr bwMode="auto">
          <a:xfrm>
            <a:off x="3348038" y="2924175"/>
            <a:ext cx="360362" cy="360363"/>
          </a:xfrm>
          <a:prstGeom prst="rect">
            <a:avLst/>
          </a:prstGeom>
          <a:solidFill>
            <a:srgbClr val="FFFF0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a:t>
            </a:r>
          </a:p>
        </p:txBody>
      </p:sp>
      <p:sp>
        <p:nvSpPr>
          <p:cNvPr id="11" name="TextBox 10"/>
          <p:cNvSpPr txBox="1"/>
          <p:nvPr/>
        </p:nvSpPr>
        <p:spPr>
          <a:xfrm>
            <a:off x="3819525" y="2781300"/>
            <a:ext cx="1275862" cy="646331"/>
          </a:xfrm>
          <a:prstGeom prst="rect">
            <a:avLst/>
          </a:prstGeom>
          <a:noFill/>
        </p:spPr>
        <p:txBody>
          <a:bodyPr wrap="none">
            <a:spAutoFit/>
          </a:bodyPr>
          <a:lstStyle/>
          <a:p>
            <a:pPr>
              <a:defRPr/>
            </a:pPr>
            <a:r>
              <a:rPr lang="en-US" dirty="0"/>
              <a:t>use = {x}</a:t>
            </a:r>
            <a:endParaRPr lang="en-US" dirty="0">
              <a:latin typeface="+mn-lt"/>
            </a:endParaRPr>
          </a:p>
          <a:p>
            <a:pPr>
              <a:defRPr/>
            </a:pPr>
            <a:r>
              <a:rPr lang="en-US" dirty="0">
                <a:latin typeface="+mn-lt"/>
              </a:rPr>
              <a:t>def  = { </a:t>
            </a:r>
            <a:r>
              <a:rPr lang="en-US" dirty="0" err="1">
                <a:latin typeface="+mn-lt"/>
              </a:rPr>
              <a:t>x,y</a:t>
            </a:r>
            <a:r>
              <a:rPr lang="en-US" dirty="0">
                <a:latin typeface="+mn-lt"/>
              </a:rPr>
              <a:t> }</a:t>
            </a:r>
          </a:p>
        </p:txBody>
      </p:sp>
      <p:sp>
        <p:nvSpPr>
          <p:cNvPr id="12" name="Rectangle 11"/>
          <p:cNvSpPr/>
          <p:nvPr/>
        </p:nvSpPr>
        <p:spPr bwMode="auto">
          <a:xfrm>
            <a:off x="5972175" y="2708275"/>
            <a:ext cx="360363" cy="360363"/>
          </a:xfrm>
          <a:prstGeom prst="rect">
            <a:avLst/>
          </a:prstGeom>
          <a:solidFill>
            <a:srgbClr val="FFFF0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sp>
        <p:nvSpPr>
          <p:cNvPr id="13" name="TextBox 12"/>
          <p:cNvSpPr txBox="1"/>
          <p:nvPr/>
        </p:nvSpPr>
        <p:spPr>
          <a:xfrm>
            <a:off x="6443663" y="2565400"/>
            <a:ext cx="1166858" cy="646331"/>
          </a:xfrm>
          <a:prstGeom prst="rect">
            <a:avLst/>
          </a:prstGeom>
          <a:noFill/>
        </p:spPr>
        <p:txBody>
          <a:bodyPr wrap="none">
            <a:spAutoFit/>
          </a:bodyPr>
          <a:lstStyle/>
          <a:p>
            <a:pPr>
              <a:defRPr/>
            </a:pPr>
            <a:r>
              <a:rPr lang="en-US" dirty="0"/>
              <a:t>use</a:t>
            </a:r>
            <a:r>
              <a:rPr lang="en-US" baseline="-25000" dirty="0"/>
              <a:t>n1</a:t>
            </a:r>
            <a:r>
              <a:rPr lang="en-US" dirty="0"/>
              <a:t> = {}</a:t>
            </a:r>
            <a:endParaRPr lang="en-US" dirty="0">
              <a:latin typeface="+mn-lt"/>
            </a:endParaRPr>
          </a:p>
          <a:p>
            <a:pPr>
              <a:defRPr/>
            </a:pPr>
            <a:r>
              <a:rPr lang="en-US" dirty="0">
                <a:latin typeface="+mn-lt"/>
              </a:rPr>
              <a:t>def</a:t>
            </a:r>
            <a:r>
              <a:rPr lang="en-US" baseline="-25000" dirty="0">
                <a:latin typeface="+mn-lt"/>
              </a:rPr>
              <a:t>n1</a:t>
            </a:r>
            <a:r>
              <a:rPr lang="en-US" dirty="0">
                <a:latin typeface="+mn-lt"/>
              </a:rPr>
              <a:t> = { x}</a:t>
            </a:r>
          </a:p>
        </p:txBody>
      </p:sp>
      <p:sp>
        <p:nvSpPr>
          <p:cNvPr id="14" name="Rectangle 13"/>
          <p:cNvSpPr/>
          <p:nvPr/>
        </p:nvSpPr>
        <p:spPr bwMode="auto">
          <a:xfrm>
            <a:off x="5980165" y="3281844"/>
            <a:ext cx="360362" cy="360362"/>
          </a:xfrm>
          <a:prstGeom prst="rect">
            <a:avLst/>
          </a:prstGeom>
          <a:solidFill>
            <a:srgbClr val="FFC00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15" name="TextBox 14"/>
          <p:cNvSpPr txBox="1"/>
          <p:nvPr/>
        </p:nvSpPr>
        <p:spPr>
          <a:xfrm>
            <a:off x="6483350" y="3141663"/>
            <a:ext cx="1304716" cy="646331"/>
          </a:xfrm>
          <a:prstGeom prst="rect">
            <a:avLst/>
          </a:prstGeom>
          <a:noFill/>
        </p:spPr>
        <p:txBody>
          <a:bodyPr wrap="none">
            <a:spAutoFit/>
          </a:bodyPr>
          <a:lstStyle/>
          <a:p>
            <a:pPr>
              <a:defRPr/>
            </a:pPr>
            <a:r>
              <a:rPr lang="en-US" dirty="0"/>
              <a:t>use</a:t>
            </a:r>
            <a:r>
              <a:rPr lang="en-US" baseline="-25000" dirty="0"/>
              <a:t>n2</a:t>
            </a:r>
            <a:r>
              <a:rPr lang="en-US" dirty="0"/>
              <a:t> = {x}</a:t>
            </a:r>
            <a:endParaRPr lang="en-US" dirty="0">
              <a:latin typeface="+mn-lt"/>
            </a:endParaRPr>
          </a:p>
          <a:p>
            <a:pPr>
              <a:defRPr/>
            </a:pPr>
            <a:r>
              <a:rPr lang="en-US" dirty="0">
                <a:latin typeface="+mn-lt"/>
              </a:rPr>
              <a:t>def</a:t>
            </a:r>
            <a:r>
              <a:rPr lang="en-US" baseline="-25000" dirty="0">
                <a:latin typeface="+mn-lt"/>
              </a:rPr>
              <a:t>n2</a:t>
            </a:r>
            <a:r>
              <a:rPr lang="en-US" dirty="0">
                <a:latin typeface="+mn-lt"/>
              </a:rPr>
              <a:t> = { y}</a:t>
            </a:r>
          </a:p>
        </p:txBody>
      </p:sp>
      <p:cxnSp>
        <p:nvCxnSpPr>
          <p:cNvPr id="17" name="Straight Arrow Connector 16"/>
          <p:cNvCxnSpPr>
            <a:stCxn id="12" idx="2"/>
            <a:endCxn id="14" idx="0"/>
          </p:cNvCxnSpPr>
          <p:nvPr/>
        </p:nvCxnSpPr>
        <p:spPr>
          <a:xfrm>
            <a:off x="6152357" y="3068638"/>
            <a:ext cx="7989" cy="2132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ight Arrow 17"/>
          <p:cNvSpPr/>
          <p:nvPr/>
        </p:nvSpPr>
        <p:spPr>
          <a:xfrm>
            <a:off x="5364088" y="2924944"/>
            <a:ext cx="360040"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5340276" y="1936770"/>
            <a:ext cx="360040"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EEDEA5D9-A6A5-4C49-BFEE-2637CE619CD7}"/>
              </a:ext>
            </a:extLst>
          </p:cNvPr>
          <p:cNvSpPr/>
          <p:nvPr/>
        </p:nvSpPr>
        <p:spPr>
          <a:xfrm>
            <a:off x="285750" y="3926788"/>
            <a:ext cx="8534722" cy="1307199"/>
          </a:xfrm>
          <a:prstGeom prst="roundRect">
            <a:avLst/>
          </a:prstGeom>
          <a:solidFill>
            <a:schemeClr val="accent6">
              <a:lumMod val="40000"/>
              <a:lumOff val="6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BABA5818-E2C0-D543-91D3-B8178B88BF3B}"/>
              </a:ext>
            </a:extLst>
          </p:cNvPr>
          <p:cNvSpPr/>
          <p:nvPr/>
        </p:nvSpPr>
        <p:spPr>
          <a:xfrm>
            <a:off x="2090971" y="1518178"/>
            <a:ext cx="5393856" cy="2112435"/>
          </a:xfrm>
          <a:prstGeom prst="roundRect">
            <a:avLst>
              <a:gd name="adj" fmla="val 19760"/>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p:cNvSpPr>
            <a:spLocks noGrp="1"/>
          </p:cNvSpPr>
          <p:nvPr>
            <p:ph type="title"/>
          </p:nvPr>
        </p:nvSpPr>
        <p:spPr/>
        <p:txBody>
          <a:bodyPr/>
          <a:lstStyle/>
          <a:p>
            <a:r>
              <a:rPr lang="en-US"/>
              <a:t>Data-flow based coverage</a:t>
            </a:r>
            <a:br>
              <a:rPr lang="en-US"/>
            </a:br>
            <a:r>
              <a:rPr lang="en-US" sz="2000" i="1"/>
              <a:t>(Rapps-Weyuker 1985, Frankl-Weyuker 1988)</a:t>
            </a:r>
          </a:p>
        </p:txBody>
      </p:sp>
      <p:sp>
        <p:nvSpPr>
          <p:cNvPr id="8195" name="Content Placeholder 2"/>
          <p:cNvSpPr>
            <a:spLocks noGrp="1"/>
          </p:cNvSpPr>
          <p:nvPr>
            <p:ph idx="1"/>
          </p:nvPr>
        </p:nvSpPr>
        <p:spPr>
          <a:xfrm>
            <a:off x="285750" y="3898900"/>
            <a:ext cx="8715375" cy="2554288"/>
          </a:xfrm>
        </p:spPr>
        <p:txBody>
          <a:bodyPr/>
          <a:lstStyle/>
          <a:p>
            <a:r>
              <a:rPr lang="en-US" sz="2400" i="1" u="sng" dirty="0"/>
              <a:t>Def-path set</a:t>
            </a:r>
            <a:r>
              <a:rPr lang="en-US" sz="2400" dirty="0"/>
              <a:t>  </a:t>
            </a:r>
            <a:r>
              <a:rPr lang="en-US" sz="2400" i="1" dirty="0"/>
              <a:t>du</a:t>
            </a:r>
            <a:r>
              <a:rPr lang="en-US" sz="2400" dirty="0"/>
              <a:t>(</a:t>
            </a:r>
            <a:r>
              <a:rPr lang="en-US" sz="2400" i="1" dirty="0" err="1"/>
              <a:t>i</a:t>
            </a:r>
            <a:r>
              <a:rPr lang="en-US" sz="2400" dirty="0" err="1"/>
              <a:t>,</a:t>
            </a:r>
            <a:r>
              <a:rPr lang="en-US" sz="2400" i="1" dirty="0" err="1"/>
              <a:t>v</a:t>
            </a:r>
            <a:r>
              <a:rPr lang="en-US" sz="2400" dirty="0"/>
              <a:t>): the set of all du-paths </a:t>
            </a:r>
            <a:r>
              <a:rPr lang="en-US" sz="2400" dirty="0" err="1"/>
              <a:t>wrt</a:t>
            </a:r>
            <a:r>
              <a:rPr lang="en-US" sz="2400" dirty="0"/>
              <a:t> </a:t>
            </a:r>
            <a:r>
              <a:rPr lang="en-US" sz="2400" i="1" dirty="0"/>
              <a:t>v</a:t>
            </a:r>
            <a:r>
              <a:rPr lang="en-US" sz="2400" dirty="0"/>
              <a:t>, that starts at </a:t>
            </a:r>
            <a:r>
              <a:rPr lang="en-US" sz="2400" i="1" dirty="0" err="1"/>
              <a:t>i</a:t>
            </a:r>
            <a:r>
              <a:rPr lang="en-US" sz="2400" dirty="0"/>
              <a:t>.</a:t>
            </a:r>
          </a:p>
          <a:p>
            <a:r>
              <a:rPr lang="en-US" sz="2400" i="1" u="sng" dirty="0"/>
              <a:t>Def-pair set</a:t>
            </a:r>
            <a:r>
              <a:rPr lang="en-US" sz="2400" i="1" dirty="0"/>
              <a:t>  du</a:t>
            </a:r>
            <a:r>
              <a:rPr lang="en-US" sz="2400" dirty="0"/>
              <a:t>(</a:t>
            </a:r>
            <a:r>
              <a:rPr lang="en-US" sz="2400" i="1" dirty="0" err="1"/>
              <a:t>i</a:t>
            </a:r>
            <a:r>
              <a:rPr lang="en-US" sz="2400" dirty="0" err="1"/>
              <a:t>,</a:t>
            </a:r>
            <a:r>
              <a:rPr lang="en-US" sz="2400" i="1" dirty="0" err="1"/>
              <a:t>j</a:t>
            </a:r>
            <a:r>
              <a:rPr lang="en-US" sz="2400" dirty="0" err="1"/>
              <a:t>,</a:t>
            </a:r>
            <a:r>
              <a:rPr lang="en-US" sz="2400" i="1" dirty="0" err="1"/>
              <a:t>v</a:t>
            </a:r>
            <a:r>
              <a:rPr lang="en-US" sz="2400" dirty="0"/>
              <a:t>): the set of all du-paths </a:t>
            </a:r>
            <a:r>
              <a:rPr lang="en-US" sz="2400" dirty="0" err="1"/>
              <a:t>wrt</a:t>
            </a:r>
            <a:r>
              <a:rPr lang="en-US" sz="2400" dirty="0"/>
              <a:t> v, that starts at </a:t>
            </a:r>
            <a:r>
              <a:rPr lang="en-US" sz="2400" i="1" dirty="0" err="1"/>
              <a:t>i</a:t>
            </a:r>
            <a:r>
              <a:rPr lang="en-US" sz="2400" dirty="0"/>
              <a:t>, and ends at </a:t>
            </a:r>
            <a:r>
              <a:rPr lang="en-US" sz="2400" i="1" dirty="0"/>
              <a:t>j</a:t>
            </a:r>
            <a:r>
              <a:rPr lang="en-US" sz="2400" dirty="0"/>
              <a:t>.</a:t>
            </a:r>
          </a:p>
          <a:p>
            <a:r>
              <a:rPr lang="en-US" sz="2400" dirty="0"/>
              <a:t>Same concept of touring.</a:t>
            </a:r>
          </a:p>
          <a:p>
            <a:r>
              <a:rPr lang="en-US" sz="2400" dirty="0"/>
              <a:t>(C 2.9/2</a:t>
            </a:r>
            <a:r>
              <a:rPr lang="en-US" sz="2400" baseline="30000" dirty="0"/>
              <a:t>nd</a:t>
            </a:r>
            <a:r>
              <a:rPr lang="en-US" sz="2400" dirty="0"/>
              <a:t> Ed. C7.15, </a:t>
            </a:r>
            <a:r>
              <a:rPr lang="en-US" sz="2400" dirty="0">
                <a:solidFill>
                  <a:srgbClr val="0070C0"/>
                </a:solidFill>
              </a:rPr>
              <a:t>All </a:t>
            </a:r>
            <a:r>
              <a:rPr lang="en-US" sz="2400" dirty="0" err="1">
                <a:solidFill>
                  <a:srgbClr val="0070C0"/>
                </a:solidFill>
              </a:rPr>
              <a:t>Defs</a:t>
            </a:r>
            <a:r>
              <a:rPr lang="en-US" sz="2400" dirty="0">
                <a:solidFill>
                  <a:srgbClr val="0070C0"/>
                </a:solidFill>
              </a:rPr>
              <a:t> </a:t>
            </a:r>
            <a:r>
              <a:rPr lang="en-US" sz="2400" dirty="0" err="1">
                <a:solidFill>
                  <a:srgbClr val="0070C0"/>
                </a:solidFill>
              </a:rPr>
              <a:t>Covrg</a:t>
            </a:r>
            <a:r>
              <a:rPr lang="en-US" sz="2400" dirty="0">
                <a:solidFill>
                  <a:srgbClr val="0070C0"/>
                </a:solidFill>
              </a:rPr>
              <a:t>, </a:t>
            </a:r>
            <a:r>
              <a:rPr lang="en-US" sz="2400" b="1" dirty="0">
                <a:solidFill>
                  <a:srgbClr val="0070C0"/>
                </a:solidFill>
              </a:rPr>
              <a:t>ADC</a:t>
            </a:r>
            <a:r>
              <a:rPr lang="en-US" sz="2400" dirty="0"/>
              <a:t>) For each def-path set S = du(</a:t>
            </a:r>
            <a:r>
              <a:rPr lang="en-US" sz="2400" dirty="0" err="1"/>
              <a:t>i,v</a:t>
            </a:r>
            <a:r>
              <a:rPr lang="en-US" sz="2400" dirty="0"/>
              <a:t>), TR includes at least one member of S.</a:t>
            </a:r>
          </a:p>
        </p:txBody>
      </p:sp>
      <p:sp>
        <p:nvSpPr>
          <p:cNvPr id="4" name="Slide Number Placeholder 3"/>
          <p:cNvSpPr>
            <a:spLocks noGrp="1"/>
          </p:cNvSpPr>
          <p:nvPr>
            <p:ph type="sldNum" sz="quarter" idx="12"/>
          </p:nvPr>
        </p:nvSpPr>
        <p:spPr/>
        <p:txBody>
          <a:bodyPr/>
          <a:lstStyle/>
          <a:p>
            <a:pPr>
              <a:defRPr/>
            </a:pPr>
            <a:fld id="{DB1F1C82-7860-4213-9B11-9A5D9CD92C12}" type="slidenum">
              <a:rPr lang="en-US" smtClean="0"/>
              <a:pPr>
                <a:defRPr/>
              </a:pPr>
              <a:t>7</a:t>
            </a:fld>
            <a:endParaRPr lang="en-US"/>
          </a:p>
        </p:txBody>
      </p:sp>
      <p:grpSp>
        <p:nvGrpSpPr>
          <p:cNvPr id="8197" name="Group 22"/>
          <p:cNvGrpSpPr>
            <a:grpSpLocks/>
          </p:cNvGrpSpPr>
          <p:nvPr/>
        </p:nvGrpSpPr>
        <p:grpSpPr bwMode="auto">
          <a:xfrm>
            <a:off x="2611827" y="1700213"/>
            <a:ext cx="4658923" cy="1722656"/>
            <a:chOff x="145814" y="1636272"/>
            <a:chExt cx="4658439" cy="1721945"/>
          </a:xfrm>
        </p:grpSpPr>
        <p:sp>
          <p:nvSpPr>
            <p:cNvPr id="52" name="Rectangle 51"/>
            <p:cNvSpPr/>
            <p:nvPr/>
          </p:nvSpPr>
          <p:spPr bwMode="auto">
            <a:xfrm>
              <a:off x="712103" y="2350352"/>
              <a:ext cx="360326" cy="36180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cxnSp>
          <p:nvCxnSpPr>
            <p:cNvPr id="53" name="Straight Arrow Connector 52"/>
            <p:cNvCxnSpPr>
              <a:stCxn id="52" idx="3"/>
              <a:endCxn id="54" idx="1"/>
            </p:cNvCxnSpPr>
            <p:nvPr/>
          </p:nvCxnSpPr>
          <p:spPr bwMode="auto">
            <a:xfrm>
              <a:off x="1072429" y="2529665"/>
              <a:ext cx="568266" cy="3174"/>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bwMode="auto">
            <a:xfrm>
              <a:off x="1640695" y="2353526"/>
              <a:ext cx="360325" cy="36180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55" name="Rectangle 54"/>
            <p:cNvSpPr/>
            <p:nvPr/>
          </p:nvSpPr>
          <p:spPr bwMode="auto">
            <a:xfrm>
              <a:off x="2643891" y="2350352"/>
              <a:ext cx="360325" cy="36180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n3</a:t>
              </a:r>
            </a:p>
          </p:txBody>
        </p:sp>
        <p:sp>
          <p:nvSpPr>
            <p:cNvPr id="56" name="TextBox 55"/>
            <p:cNvSpPr txBox="1"/>
            <p:nvPr/>
          </p:nvSpPr>
          <p:spPr>
            <a:xfrm>
              <a:off x="145814" y="2712153"/>
              <a:ext cx="1075824" cy="646064"/>
            </a:xfrm>
            <a:prstGeom prst="rect">
              <a:avLst/>
            </a:prstGeom>
            <a:noFill/>
          </p:spPr>
          <p:txBody>
            <a:bodyPr wrap="none">
              <a:spAutoFit/>
            </a:bodyPr>
            <a:lstStyle/>
            <a:p>
              <a:pPr algn="ctr">
                <a:defRPr/>
              </a:pPr>
              <a:r>
                <a:rPr lang="en-US" dirty="0"/>
                <a:t>use = </a:t>
              </a:r>
              <a:r>
                <a:rPr lang="en-US" dirty="0">
                  <a:sym typeface="Symbol"/>
                </a:rPr>
                <a:t></a:t>
              </a:r>
              <a:endParaRPr lang="en-US" dirty="0"/>
            </a:p>
            <a:p>
              <a:pPr algn="ctr">
                <a:defRPr/>
              </a:pPr>
              <a:r>
                <a:rPr lang="en-US" dirty="0">
                  <a:latin typeface="+mn-lt"/>
                </a:rPr>
                <a:t>def  = { x}</a:t>
              </a:r>
            </a:p>
          </p:txBody>
        </p:sp>
        <p:sp>
          <p:nvSpPr>
            <p:cNvPr id="57" name="TextBox 56"/>
            <p:cNvSpPr txBox="1"/>
            <p:nvPr/>
          </p:nvSpPr>
          <p:spPr>
            <a:xfrm>
              <a:off x="1143858" y="1636272"/>
              <a:ext cx="1088912" cy="645845"/>
            </a:xfrm>
            <a:prstGeom prst="rect">
              <a:avLst/>
            </a:prstGeom>
            <a:noFill/>
          </p:spPr>
          <p:txBody>
            <a:bodyPr wrap="none">
              <a:spAutoFit/>
            </a:bodyPr>
            <a:lstStyle/>
            <a:p>
              <a:pPr>
                <a:defRPr/>
              </a:pPr>
              <a:r>
                <a:rPr lang="en-US" dirty="0"/>
                <a:t>use = {x}</a:t>
              </a:r>
            </a:p>
            <a:p>
              <a:pPr>
                <a:defRPr/>
              </a:pPr>
              <a:r>
                <a:rPr lang="en-US" dirty="0">
                  <a:latin typeface="+mn-lt"/>
                </a:rPr>
                <a:t>def ={x}</a:t>
              </a:r>
            </a:p>
          </p:txBody>
        </p:sp>
        <p:cxnSp>
          <p:nvCxnSpPr>
            <p:cNvPr id="58" name="Straight Arrow Connector 57"/>
            <p:cNvCxnSpPr>
              <a:stCxn id="54" idx="3"/>
              <a:endCxn id="55" idx="1"/>
            </p:cNvCxnSpPr>
            <p:nvPr/>
          </p:nvCxnSpPr>
          <p:spPr bwMode="auto">
            <a:xfrm flipV="1">
              <a:off x="2001019" y="2529665"/>
              <a:ext cx="642871" cy="3174"/>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bwMode="auto">
            <a:xfrm>
              <a:off x="3358191" y="2350352"/>
              <a:ext cx="360325" cy="36180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n4</a:t>
              </a:r>
            </a:p>
          </p:txBody>
        </p:sp>
        <p:cxnSp>
          <p:nvCxnSpPr>
            <p:cNvPr id="60" name="Straight Arrow Connector 59"/>
            <p:cNvCxnSpPr>
              <a:stCxn id="55" idx="3"/>
              <a:endCxn id="59" idx="1"/>
            </p:cNvCxnSpPr>
            <p:nvPr/>
          </p:nvCxnSpPr>
          <p:spPr bwMode="auto">
            <a:xfrm>
              <a:off x="3004215" y="2529665"/>
              <a:ext cx="353976" cy="1587"/>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2386742" y="1636272"/>
              <a:ext cx="1087324" cy="645845"/>
            </a:xfrm>
            <a:prstGeom prst="rect">
              <a:avLst/>
            </a:prstGeom>
            <a:noFill/>
          </p:spPr>
          <p:txBody>
            <a:bodyPr wrap="none">
              <a:spAutoFit/>
            </a:bodyPr>
            <a:lstStyle/>
            <a:p>
              <a:pPr algn="ctr">
                <a:defRPr/>
              </a:pPr>
              <a:r>
                <a:rPr lang="en-US" dirty="0"/>
                <a:t>use = {x}</a:t>
              </a:r>
            </a:p>
            <a:p>
              <a:pPr algn="ctr">
                <a:defRPr/>
              </a:pPr>
              <a:r>
                <a:rPr lang="en-US" dirty="0">
                  <a:latin typeface="+mn-lt"/>
                </a:rPr>
                <a:t>def =</a:t>
              </a:r>
              <a:r>
                <a:rPr lang="en-US" dirty="0">
                  <a:sym typeface="Symbol"/>
                </a:rPr>
                <a:t></a:t>
              </a:r>
              <a:endParaRPr lang="en-US" dirty="0">
                <a:latin typeface="+mn-lt"/>
              </a:endParaRPr>
            </a:p>
          </p:txBody>
        </p:sp>
        <p:sp>
          <p:nvSpPr>
            <p:cNvPr id="62" name="TextBox 61"/>
            <p:cNvSpPr txBox="1"/>
            <p:nvPr/>
          </p:nvSpPr>
          <p:spPr>
            <a:xfrm>
              <a:off x="3715341" y="2278944"/>
              <a:ext cx="1088912" cy="647433"/>
            </a:xfrm>
            <a:prstGeom prst="rect">
              <a:avLst/>
            </a:prstGeom>
            <a:noFill/>
          </p:spPr>
          <p:txBody>
            <a:bodyPr wrap="none">
              <a:spAutoFit/>
            </a:bodyPr>
            <a:lstStyle/>
            <a:p>
              <a:pPr>
                <a:defRPr/>
              </a:pPr>
              <a:r>
                <a:rPr lang="en-US" dirty="0"/>
                <a:t>use  ={x}</a:t>
              </a:r>
            </a:p>
            <a:p>
              <a:pPr>
                <a:defRPr/>
              </a:pPr>
              <a:r>
                <a:rPr lang="en-US" dirty="0">
                  <a:latin typeface="+mn-lt"/>
                </a:rPr>
                <a:t>def  = </a:t>
              </a:r>
              <a:r>
                <a:rPr lang="en-US" dirty="0">
                  <a:latin typeface="+mn-lt"/>
                  <a:sym typeface="Symbol"/>
                </a:rPr>
                <a:t></a:t>
              </a:r>
              <a:endParaRPr lang="en-US" dirty="0">
                <a:latin typeface="+mn-lt"/>
              </a:endParaRPr>
            </a:p>
          </p:txBody>
        </p:sp>
        <p:cxnSp>
          <p:nvCxnSpPr>
            <p:cNvPr id="63" name="Straight Arrow Connector 62"/>
            <p:cNvCxnSpPr/>
            <p:nvPr/>
          </p:nvCxnSpPr>
          <p:spPr>
            <a:xfrm>
              <a:off x="215268" y="2353526"/>
              <a:ext cx="496835" cy="177727"/>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4" name="Curved Connector 63"/>
            <p:cNvCxnSpPr>
              <a:stCxn id="55" idx="0"/>
              <a:endCxn id="54" idx="0"/>
            </p:cNvCxnSpPr>
            <p:nvPr/>
          </p:nvCxnSpPr>
          <p:spPr>
            <a:xfrm rot="16200000" flipH="1" flipV="1">
              <a:off x="2320074" y="1850342"/>
              <a:ext cx="3174" cy="1003196"/>
            </a:xfrm>
            <a:prstGeom prst="curvedConnector3">
              <a:avLst>
                <a:gd name="adj1" fmla="val -7209082"/>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5" name="Curved Connector 64"/>
            <p:cNvCxnSpPr>
              <a:stCxn id="54" idx="2"/>
              <a:endCxn id="59" idx="2"/>
            </p:cNvCxnSpPr>
            <p:nvPr/>
          </p:nvCxnSpPr>
          <p:spPr>
            <a:xfrm rot="5400000" flipH="1" flipV="1">
              <a:off x="2677225" y="1854991"/>
              <a:ext cx="3174" cy="1717496"/>
            </a:xfrm>
            <a:prstGeom prst="curvedConnector3">
              <a:avLst>
                <a:gd name="adj1" fmla="val -7209082"/>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27C5A56-E75E-055D-8D15-DD74CE93CA2D}"/>
                  </a:ext>
                </a:extLst>
              </p14:cNvPr>
              <p14:cNvContentPartPr/>
              <p14:nvPr/>
            </p14:nvContentPartPr>
            <p14:xfrm>
              <a:off x="2743200" y="2279520"/>
              <a:ext cx="3105720" cy="1213200"/>
            </p14:xfrm>
          </p:contentPart>
        </mc:Choice>
        <mc:Fallback>
          <p:pic>
            <p:nvPicPr>
              <p:cNvPr id="2" name="Ink 1">
                <a:extLst>
                  <a:ext uri="{FF2B5EF4-FFF2-40B4-BE49-F238E27FC236}">
                    <a16:creationId xmlns:a16="http://schemas.microsoft.com/office/drawing/2014/main" id="{627C5A56-E75E-055D-8D15-DD74CE93CA2D}"/>
                  </a:ext>
                </a:extLst>
              </p:cNvPr>
              <p:cNvPicPr/>
              <p:nvPr/>
            </p:nvPicPr>
            <p:blipFill>
              <a:blip r:embed="rId4"/>
              <a:stretch>
                <a:fillRect/>
              </a:stretch>
            </p:blipFill>
            <p:spPr>
              <a:xfrm>
                <a:off x="2733840" y="2270160"/>
                <a:ext cx="3124440" cy="123192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a:extLst>
              <a:ext uri="{FF2B5EF4-FFF2-40B4-BE49-F238E27FC236}">
                <a16:creationId xmlns:a16="http://schemas.microsoft.com/office/drawing/2014/main" id="{7E3BB698-2964-8A4A-9698-7E266AED0682}"/>
              </a:ext>
            </a:extLst>
          </p:cNvPr>
          <p:cNvSpPr/>
          <p:nvPr/>
        </p:nvSpPr>
        <p:spPr>
          <a:xfrm>
            <a:off x="362119" y="1574919"/>
            <a:ext cx="4296908" cy="1982550"/>
          </a:xfrm>
          <a:prstGeom prst="roundRect">
            <a:avLst>
              <a:gd name="adj" fmla="val 19760"/>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8" name="Title 1"/>
          <p:cNvSpPr>
            <a:spLocks noGrp="1"/>
          </p:cNvSpPr>
          <p:nvPr>
            <p:ph type="title"/>
          </p:nvPr>
        </p:nvSpPr>
        <p:spPr/>
        <p:txBody>
          <a:bodyPr/>
          <a:lstStyle/>
          <a:p>
            <a:r>
              <a:rPr lang="en-US"/>
              <a:t>Data-flow based coverage</a:t>
            </a:r>
          </a:p>
        </p:txBody>
      </p:sp>
      <p:sp>
        <p:nvSpPr>
          <p:cNvPr id="9219" name="Content Placeholder 2"/>
          <p:cNvSpPr>
            <a:spLocks noGrp="1"/>
          </p:cNvSpPr>
          <p:nvPr>
            <p:ph idx="1"/>
          </p:nvPr>
        </p:nvSpPr>
        <p:spPr>
          <a:xfrm>
            <a:off x="285750" y="3839120"/>
            <a:ext cx="8429625" cy="3018880"/>
          </a:xfrm>
        </p:spPr>
        <p:txBody>
          <a:bodyPr/>
          <a:lstStyle/>
          <a:p>
            <a:r>
              <a:rPr lang="en-US" sz="2400" dirty="0"/>
              <a:t>(C 2.10/2</a:t>
            </a:r>
            <a:r>
              <a:rPr lang="en-US" sz="2400" baseline="30000" dirty="0"/>
              <a:t>nd</a:t>
            </a:r>
            <a:r>
              <a:rPr lang="en-US" sz="2400" dirty="0"/>
              <a:t> Ed. C7.16, </a:t>
            </a:r>
            <a:r>
              <a:rPr lang="en-US" sz="2400" dirty="0">
                <a:solidFill>
                  <a:srgbClr val="0070C0"/>
                </a:solidFill>
              </a:rPr>
              <a:t>All Uses </a:t>
            </a:r>
            <a:r>
              <a:rPr lang="en-US" sz="2400" dirty="0" err="1">
                <a:solidFill>
                  <a:srgbClr val="0070C0"/>
                </a:solidFill>
              </a:rPr>
              <a:t>Covrg</a:t>
            </a:r>
            <a:r>
              <a:rPr lang="en-US" sz="2400" dirty="0">
                <a:solidFill>
                  <a:srgbClr val="0070C0"/>
                </a:solidFill>
              </a:rPr>
              <a:t>, </a:t>
            </a:r>
            <a:r>
              <a:rPr lang="en-US" sz="2400" b="1" dirty="0">
                <a:solidFill>
                  <a:srgbClr val="0070C0"/>
                </a:solidFill>
              </a:rPr>
              <a:t>AUC</a:t>
            </a:r>
            <a:r>
              <a:rPr lang="en-US" sz="2400" dirty="0"/>
              <a:t>) For each def-pair set S = du(</a:t>
            </a:r>
            <a:r>
              <a:rPr lang="en-US" sz="2400" dirty="0" err="1"/>
              <a:t>i,j,v</a:t>
            </a:r>
            <a:r>
              <a:rPr lang="en-US" sz="2400" dirty="0"/>
              <a:t>), TR includes at least one member of S.</a:t>
            </a:r>
          </a:p>
          <a:p>
            <a:r>
              <a:rPr lang="en-US" sz="2400" dirty="0"/>
              <a:t>(C2.11/2</a:t>
            </a:r>
            <a:r>
              <a:rPr lang="en-US" sz="2400" baseline="30000" dirty="0"/>
              <a:t>nd</a:t>
            </a:r>
            <a:r>
              <a:rPr lang="en-US" sz="2400" dirty="0"/>
              <a:t> Ed. C7.17, </a:t>
            </a:r>
            <a:r>
              <a:rPr lang="en-US" sz="2400" dirty="0">
                <a:solidFill>
                  <a:srgbClr val="0070C0"/>
                </a:solidFill>
              </a:rPr>
              <a:t>All du-paths </a:t>
            </a:r>
            <a:r>
              <a:rPr lang="en-US" sz="2400" dirty="0" err="1">
                <a:solidFill>
                  <a:srgbClr val="0070C0"/>
                </a:solidFill>
              </a:rPr>
              <a:t>Covrg</a:t>
            </a:r>
            <a:r>
              <a:rPr lang="en-US" sz="2400" dirty="0">
                <a:solidFill>
                  <a:srgbClr val="0070C0"/>
                </a:solidFill>
              </a:rPr>
              <a:t>, </a:t>
            </a:r>
            <a:r>
              <a:rPr lang="en-US" sz="2400" b="1" dirty="0">
                <a:solidFill>
                  <a:srgbClr val="0070C0"/>
                </a:solidFill>
              </a:rPr>
              <a:t>ADUPC</a:t>
            </a:r>
            <a:r>
              <a:rPr lang="en-US" sz="2400" dirty="0"/>
              <a:t>) For each def-pair set S = du(</a:t>
            </a:r>
            <a:r>
              <a:rPr lang="en-US" sz="2400" dirty="0" err="1"/>
              <a:t>i,j,v</a:t>
            </a:r>
            <a:r>
              <a:rPr lang="en-US" sz="2400" dirty="0"/>
              <a:t>), TR includes </a:t>
            </a:r>
            <a:r>
              <a:rPr lang="en-US" sz="2400" i="1" dirty="0"/>
              <a:t>all </a:t>
            </a:r>
            <a:r>
              <a:rPr lang="en-US" sz="2400" dirty="0"/>
              <a:t>members of S.</a:t>
            </a:r>
          </a:p>
          <a:p>
            <a:r>
              <a:rPr lang="en-US" sz="2400" dirty="0"/>
              <a:t>Note: the above example only has one variable, namely x; consequently all TRs above only concern x. </a:t>
            </a:r>
          </a:p>
        </p:txBody>
      </p:sp>
      <p:sp>
        <p:nvSpPr>
          <p:cNvPr id="4" name="Slide Number Placeholder 3"/>
          <p:cNvSpPr>
            <a:spLocks noGrp="1"/>
          </p:cNvSpPr>
          <p:nvPr>
            <p:ph type="sldNum" sz="quarter" idx="12"/>
          </p:nvPr>
        </p:nvSpPr>
        <p:spPr/>
        <p:txBody>
          <a:bodyPr/>
          <a:lstStyle/>
          <a:p>
            <a:pPr>
              <a:defRPr/>
            </a:pPr>
            <a:fld id="{7D27B13B-7955-41F4-B73B-21E8B54FC921}" type="slidenum">
              <a:rPr lang="en-US" smtClean="0"/>
              <a:pPr>
                <a:defRPr/>
              </a:pPr>
              <a:t>8</a:t>
            </a:fld>
            <a:endParaRPr lang="en-US"/>
          </a:p>
        </p:txBody>
      </p:sp>
      <p:sp>
        <p:nvSpPr>
          <p:cNvPr id="7186" name="TextBox 22"/>
          <p:cNvSpPr txBox="1">
            <a:spLocks noChangeArrowheads="1"/>
          </p:cNvSpPr>
          <p:nvPr/>
        </p:nvSpPr>
        <p:spPr bwMode="auto">
          <a:xfrm>
            <a:off x="4890802" y="1789082"/>
            <a:ext cx="1087157" cy="1015663"/>
          </a:xfrm>
          <a:prstGeom prst="rect">
            <a:avLst/>
          </a:prstGeom>
          <a:solidFill>
            <a:schemeClr val="accent2">
              <a:lumMod val="40000"/>
              <a:lumOff val="60000"/>
            </a:schemeClr>
          </a:solidFill>
          <a:ln w="9525">
            <a:noFill/>
            <a:miter lim="800000"/>
            <a:headEnd/>
            <a:tailEnd/>
          </a:ln>
        </p:spPr>
        <p:txBody>
          <a:bodyPr wrap="none">
            <a:spAutoFit/>
          </a:bodyPr>
          <a:lstStyle/>
          <a:p>
            <a:pPr marL="342900" indent="-342900">
              <a:defRPr/>
            </a:pPr>
            <a:r>
              <a:rPr lang="en-US" sz="2000" b="1" dirty="0">
                <a:latin typeface="+mn-lt"/>
              </a:rPr>
              <a:t>ADC</a:t>
            </a:r>
            <a:r>
              <a:rPr lang="en-US" sz="2000" dirty="0">
                <a:latin typeface="+mn-lt"/>
              </a:rPr>
              <a:t> TR: </a:t>
            </a:r>
          </a:p>
          <a:p>
            <a:pPr marL="342900" indent="-342900">
              <a:defRPr/>
            </a:pPr>
            <a:r>
              <a:rPr lang="en-US" sz="2000" dirty="0">
                <a:latin typeface="+mn-lt"/>
              </a:rPr>
              <a:t>   12, </a:t>
            </a:r>
          </a:p>
          <a:p>
            <a:pPr marL="342900" indent="-342900">
              <a:defRPr/>
            </a:pPr>
            <a:r>
              <a:rPr lang="en-US" sz="2000" dirty="0">
                <a:latin typeface="+mn-lt"/>
              </a:rPr>
              <a:t>   234</a:t>
            </a:r>
          </a:p>
        </p:txBody>
      </p:sp>
      <p:sp>
        <p:nvSpPr>
          <p:cNvPr id="7187" name="TextBox 24"/>
          <p:cNvSpPr txBox="1">
            <a:spLocks noChangeArrowheads="1"/>
          </p:cNvSpPr>
          <p:nvPr/>
        </p:nvSpPr>
        <p:spPr bwMode="auto">
          <a:xfrm>
            <a:off x="6109115" y="1795780"/>
            <a:ext cx="1274708" cy="1200329"/>
          </a:xfrm>
          <a:prstGeom prst="rect">
            <a:avLst/>
          </a:prstGeom>
          <a:solidFill>
            <a:schemeClr val="accent5">
              <a:lumMod val="40000"/>
              <a:lumOff val="60000"/>
            </a:schemeClr>
          </a:solidFill>
          <a:ln w="9525">
            <a:noFill/>
            <a:miter lim="800000"/>
            <a:headEnd/>
            <a:tailEnd/>
          </a:ln>
        </p:spPr>
        <p:txBody>
          <a:bodyPr wrap="none">
            <a:spAutoFit/>
          </a:bodyPr>
          <a:lstStyle/>
          <a:p>
            <a:pPr>
              <a:defRPr/>
            </a:pPr>
            <a:r>
              <a:rPr lang="en-US" b="1" dirty="0"/>
              <a:t>AUC</a:t>
            </a:r>
            <a:r>
              <a:rPr lang="en-US" dirty="0"/>
              <a:t> TR: </a:t>
            </a:r>
          </a:p>
          <a:p>
            <a:pPr>
              <a:defRPr/>
            </a:pPr>
            <a:r>
              <a:rPr lang="en-US" dirty="0"/>
              <a:t>  12</a:t>
            </a:r>
          </a:p>
          <a:p>
            <a:pPr>
              <a:defRPr/>
            </a:pPr>
            <a:r>
              <a:rPr lang="en-US" b="1" dirty="0"/>
              <a:t>  23 , 232</a:t>
            </a:r>
            <a:r>
              <a:rPr lang="en-US" dirty="0"/>
              <a:t>, </a:t>
            </a:r>
          </a:p>
          <a:p>
            <a:pPr>
              <a:defRPr/>
            </a:pPr>
            <a:r>
              <a:rPr lang="en-US" dirty="0"/>
              <a:t>  234</a:t>
            </a:r>
          </a:p>
        </p:txBody>
      </p:sp>
      <p:sp>
        <p:nvSpPr>
          <p:cNvPr id="9223" name="TextBox 24"/>
          <p:cNvSpPr txBox="1">
            <a:spLocks noChangeArrowheads="1"/>
          </p:cNvSpPr>
          <p:nvPr/>
        </p:nvSpPr>
        <p:spPr bwMode="auto">
          <a:xfrm>
            <a:off x="7544081" y="1789082"/>
            <a:ext cx="1287532" cy="1200329"/>
          </a:xfrm>
          <a:prstGeom prst="rect">
            <a:avLst/>
          </a:prstGeom>
          <a:solidFill>
            <a:srgbClr val="FFFF00"/>
          </a:solidFill>
          <a:ln w="9525">
            <a:noFill/>
            <a:miter lim="800000"/>
            <a:headEnd/>
            <a:tailEnd/>
          </a:ln>
        </p:spPr>
        <p:txBody>
          <a:bodyPr wrap="none">
            <a:spAutoFit/>
          </a:bodyPr>
          <a:lstStyle/>
          <a:p>
            <a:r>
              <a:rPr lang="en-US" b="1" dirty="0"/>
              <a:t>ADUC </a:t>
            </a:r>
            <a:r>
              <a:rPr lang="en-US" dirty="0"/>
              <a:t>TR:</a:t>
            </a:r>
            <a:br>
              <a:rPr lang="en-US" dirty="0"/>
            </a:br>
            <a:r>
              <a:rPr lang="en-US" dirty="0"/>
              <a:t>  12</a:t>
            </a:r>
          </a:p>
          <a:p>
            <a:r>
              <a:rPr lang="en-US" dirty="0"/>
              <a:t>  23 , 232, </a:t>
            </a:r>
          </a:p>
          <a:p>
            <a:r>
              <a:rPr lang="en-US" dirty="0"/>
              <a:t>  234, 24</a:t>
            </a:r>
          </a:p>
        </p:txBody>
      </p:sp>
      <p:sp>
        <p:nvSpPr>
          <p:cNvPr id="25" name="Rectangle 24"/>
          <p:cNvSpPr/>
          <p:nvPr/>
        </p:nvSpPr>
        <p:spPr bwMode="auto">
          <a:xfrm>
            <a:off x="982681" y="2364422"/>
            <a:ext cx="360362"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n1</a:t>
            </a:r>
          </a:p>
        </p:txBody>
      </p:sp>
      <p:cxnSp>
        <p:nvCxnSpPr>
          <p:cNvPr id="26" name="Straight Arrow Connector 25"/>
          <p:cNvCxnSpPr>
            <a:stCxn id="25" idx="3"/>
            <a:endCxn id="27" idx="1"/>
          </p:cNvCxnSpPr>
          <p:nvPr/>
        </p:nvCxnSpPr>
        <p:spPr bwMode="auto">
          <a:xfrm>
            <a:off x="1343043" y="2544603"/>
            <a:ext cx="318293" cy="3175"/>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bwMode="auto">
          <a:xfrm>
            <a:off x="1661336" y="2367597"/>
            <a:ext cx="360363"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n2</a:t>
            </a:r>
          </a:p>
        </p:txBody>
      </p:sp>
      <p:sp>
        <p:nvSpPr>
          <p:cNvPr id="28" name="Rectangle 27"/>
          <p:cNvSpPr/>
          <p:nvPr/>
        </p:nvSpPr>
        <p:spPr bwMode="auto">
          <a:xfrm>
            <a:off x="2664636" y="2364422"/>
            <a:ext cx="360363"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n3</a:t>
            </a:r>
          </a:p>
        </p:txBody>
      </p:sp>
      <p:sp>
        <p:nvSpPr>
          <p:cNvPr id="30" name="TextBox 29"/>
          <p:cNvSpPr txBox="1"/>
          <p:nvPr/>
        </p:nvSpPr>
        <p:spPr bwMode="auto">
          <a:xfrm>
            <a:off x="548173" y="2689255"/>
            <a:ext cx="1113958" cy="646331"/>
          </a:xfrm>
          <a:prstGeom prst="rect">
            <a:avLst/>
          </a:prstGeom>
          <a:noFill/>
        </p:spPr>
        <p:txBody>
          <a:bodyPr wrap="none">
            <a:spAutoFit/>
          </a:bodyPr>
          <a:lstStyle/>
          <a:p>
            <a:pPr algn="ctr">
              <a:defRPr/>
            </a:pPr>
            <a:r>
              <a:rPr lang="en-US" dirty="0"/>
              <a:t>use = </a:t>
            </a:r>
            <a:r>
              <a:rPr lang="en-US" dirty="0">
                <a:sym typeface="Symbol"/>
              </a:rPr>
              <a:t></a:t>
            </a:r>
            <a:endParaRPr lang="en-US" dirty="0"/>
          </a:p>
          <a:p>
            <a:pPr algn="ctr">
              <a:defRPr/>
            </a:pPr>
            <a:r>
              <a:rPr lang="en-US" dirty="0">
                <a:latin typeface="+mn-lt"/>
              </a:rPr>
              <a:t>def  = { x }</a:t>
            </a:r>
          </a:p>
        </p:txBody>
      </p:sp>
      <p:sp>
        <p:nvSpPr>
          <p:cNvPr id="31" name="TextBox 30"/>
          <p:cNvSpPr txBox="1"/>
          <p:nvPr/>
        </p:nvSpPr>
        <p:spPr bwMode="auto">
          <a:xfrm>
            <a:off x="1164449" y="1650047"/>
            <a:ext cx="1089025" cy="646112"/>
          </a:xfrm>
          <a:prstGeom prst="rect">
            <a:avLst/>
          </a:prstGeom>
          <a:noFill/>
        </p:spPr>
        <p:txBody>
          <a:bodyPr wrap="none">
            <a:spAutoFit/>
          </a:bodyPr>
          <a:lstStyle/>
          <a:p>
            <a:pPr>
              <a:defRPr/>
            </a:pPr>
            <a:r>
              <a:rPr lang="en-US" dirty="0"/>
              <a:t>use = {x}</a:t>
            </a:r>
          </a:p>
          <a:p>
            <a:pPr>
              <a:defRPr/>
            </a:pPr>
            <a:r>
              <a:rPr lang="en-US" dirty="0">
                <a:latin typeface="+mn-lt"/>
              </a:rPr>
              <a:t>def ={x}</a:t>
            </a:r>
          </a:p>
        </p:txBody>
      </p:sp>
      <p:cxnSp>
        <p:nvCxnSpPr>
          <p:cNvPr id="32" name="Straight Arrow Connector 31"/>
          <p:cNvCxnSpPr>
            <a:stCxn id="27" idx="3"/>
            <a:endCxn id="28" idx="1"/>
          </p:cNvCxnSpPr>
          <p:nvPr/>
        </p:nvCxnSpPr>
        <p:spPr bwMode="auto">
          <a:xfrm flipV="1">
            <a:off x="2021699" y="2543809"/>
            <a:ext cx="642937" cy="3175"/>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bwMode="auto">
          <a:xfrm>
            <a:off x="3215578" y="2364422"/>
            <a:ext cx="360363" cy="3603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b="1" dirty="0">
                <a:solidFill>
                  <a:schemeClr val="tx1"/>
                </a:solidFill>
              </a:rPr>
              <a:t>n4</a:t>
            </a:r>
          </a:p>
        </p:txBody>
      </p:sp>
      <p:cxnSp>
        <p:nvCxnSpPr>
          <p:cNvPr id="34" name="Straight Arrow Connector 33"/>
          <p:cNvCxnSpPr>
            <a:stCxn id="28" idx="3"/>
            <a:endCxn id="33" idx="1"/>
          </p:cNvCxnSpPr>
          <p:nvPr/>
        </p:nvCxnSpPr>
        <p:spPr bwMode="auto">
          <a:xfrm>
            <a:off x="3024999" y="2544603"/>
            <a:ext cx="190579" cy="0"/>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bwMode="auto">
          <a:xfrm>
            <a:off x="2407461" y="1650047"/>
            <a:ext cx="1087438" cy="646112"/>
          </a:xfrm>
          <a:prstGeom prst="rect">
            <a:avLst/>
          </a:prstGeom>
          <a:noFill/>
        </p:spPr>
        <p:txBody>
          <a:bodyPr wrap="none">
            <a:spAutoFit/>
          </a:bodyPr>
          <a:lstStyle/>
          <a:p>
            <a:pPr algn="ctr">
              <a:defRPr/>
            </a:pPr>
            <a:r>
              <a:rPr lang="en-US" dirty="0"/>
              <a:t>use = {x}</a:t>
            </a:r>
          </a:p>
          <a:p>
            <a:pPr algn="ctr">
              <a:defRPr/>
            </a:pPr>
            <a:r>
              <a:rPr lang="en-US" dirty="0">
                <a:latin typeface="+mn-lt"/>
              </a:rPr>
              <a:t>def =</a:t>
            </a:r>
            <a:r>
              <a:rPr lang="en-US" dirty="0">
                <a:sym typeface="Symbol"/>
              </a:rPr>
              <a:t></a:t>
            </a:r>
            <a:endParaRPr lang="en-US" dirty="0">
              <a:latin typeface="+mn-lt"/>
            </a:endParaRPr>
          </a:p>
        </p:txBody>
      </p:sp>
      <p:sp>
        <p:nvSpPr>
          <p:cNvPr id="37" name="TextBox 36"/>
          <p:cNvSpPr txBox="1"/>
          <p:nvPr/>
        </p:nvSpPr>
        <p:spPr bwMode="auto">
          <a:xfrm>
            <a:off x="3570002" y="2232128"/>
            <a:ext cx="1089025" cy="646113"/>
          </a:xfrm>
          <a:prstGeom prst="rect">
            <a:avLst/>
          </a:prstGeom>
          <a:noFill/>
        </p:spPr>
        <p:txBody>
          <a:bodyPr wrap="none">
            <a:spAutoFit/>
          </a:bodyPr>
          <a:lstStyle/>
          <a:p>
            <a:pPr>
              <a:defRPr/>
            </a:pPr>
            <a:r>
              <a:rPr lang="en-US" dirty="0"/>
              <a:t>use  ={x}</a:t>
            </a:r>
          </a:p>
          <a:p>
            <a:pPr>
              <a:defRPr/>
            </a:pPr>
            <a:r>
              <a:rPr lang="en-US" dirty="0">
                <a:latin typeface="+mn-lt"/>
              </a:rPr>
              <a:t>def  = </a:t>
            </a:r>
            <a:r>
              <a:rPr lang="en-US" dirty="0">
                <a:latin typeface="+mn-lt"/>
                <a:sym typeface="Symbol"/>
              </a:rPr>
              <a:t></a:t>
            </a:r>
            <a:endParaRPr lang="en-US" dirty="0">
              <a:latin typeface="+mn-lt"/>
            </a:endParaRPr>
          </a:p>
        </p:txBody>
      </p:sp>
      <p:cxnSp>
        <p:nvCxnSpPr>
          <p:cNvPr id="40" name="Straight Arrow Connector 39"/>
          <p:cNvCxnSpPr>
            <a:cxnSpLocks/>
            <a:endCxn id="25" idx="1"/>
          </p:cNvCxnSpPr>
          <p:nvPr/>
        </p:nvCxnSpPr>
        <p:spPr bwMode="auto">
          <a:xfrm flipV="1">
            <a:off x="683834" y="2544603"/>
            <a:ext cx="298847" cy="10582"/>
          </a:xfrm>
          <a:prstGeom prst="straightConnector1">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 name="Curved Connector 40"/>
          <p:cNvCxnSpPr>
            <a:stCxn id="28" idx="0"/>
            <a:endCxn id="27" idx="0"/>
          </p:cNvCxnSpPr>
          <p:nvPr/>
        </p:nvCxnSpPr>
        <p:spPr bwMode="auto">
          <a:xfrm rot="16200000" flipH="1" flipV="1">
            <a:off x="2340786" y="1864360"/>
            <a:ext cx="3175" cy="1003300"/>
          </a:xfrm>
          <a:prstGeom prst="curvedConnector3">
            <a:avLst>
              <a:gd name="adj1" fmla="val -7209082"/>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2" name="Curved Connector 41"/>
          <p:cNvCxnSpPr>
            <a:stCxn id="27" idx="2"/>
            <a:endCxn id="33" idx="2"/>
          </p:cNvCxnSpPr>
          <p:nvPr/>
        </p:nvCxnSpPr>
        <p:spPr bwMode="auto">
          <a:xfrm rot="5400000" flipH="1" flipV="1">
            <a:off x="2617051" y="1949251"/>
            <a:ext cx="3175" cy="1554242"/>
          </a:xfrm>
          <a:prstGeom prst="curvedConnector3">
            <a:avLst>
              <a:gd name="adj1" fmla="val -7200000"/>
            </a:avLst>
          </a:prstGeom>
          <a:ln>
            <a:solidFill>
              <a:schemeClr val="accent5">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1D635-041A-6512-6139-CBD68FEC12DE}"/>
              </a:ext>
            </a:extLst>
          </p:cNvPr>
          <p:cNvSpPr>
            <a:spLocks noGrp="1"/>
          </p:cNvSpPr>
          <p:nvPr>
            <p:ph type="title"/>
          </p:nvPr>
        </p:nvSpPr>
        <p:spPr>
          <a:xfrm>
            <a:off x="457200" y="274638"/>
            <a:ext cx="8229600" cy="699223"/>
          </a:xfrm>
        </p:spPr>
        <p:txBody>
          <a:bodyPr/>
          <a:lstStyle/>
          <a:p>
            <a:r>
              <a:rPr lang="en-NL" dirty="0"/>
              <a:t>Example AUC vs PPC</a:t>
            </a:r>
          </a:p>
        </p:txBody>
      </p:sp>
      <p:sp>
        <p:nvSpPr>
          <p:cNvPr id="3" name="Content Placeholder 2">
            <a:extLst>
              <a:ext uri="{FF2B5EF4-FFF2-40B4-BE49-F238E27FC236}">
                <a16:creationId xmlns:a16="http://schemas.microsoft.com/office/drawing/2014/main" id="{CE7671AD-BCE1-FCDE-0E1D-FD7A0B3E5879}"/>
              </a:ext>
            </a:extLst>
          </p:cNvPr>
          <p:cNvSpPr>
            <a:spLocks noGrp="1"/>
          </p:cNvSpPr>
          <p:nvPr>
            <p:ph idx="1"/>
          </p:nvPr>
        </p:nvSpPr>
        <p:spPr>
          <a:xfrm>
            <a:off x="203473" y="5015319"/>
            <a:ext cx="8856984" cy="1401019"/>
          </a:xfrm>
        </p:spPr>
        <p:txBody>
          <a:bodyPr/>
          <a:lstStyle/>
          <a:p>
            <a:r>
              <a:rPr lang="en-NL" sz="2000" dirty="0"/>
              <a:t>8 prime paths; we need 8 tests to cover them all</a:t>
            </a:r>
          </a:p>
          <a:p>
            <a:r>
              <a:rPr lang="en-NL" sz="2000" dirty="0"/>
              <a:t>There are at least 6 def-use-pair sets: du(0,1,x), du(1,8,x), du(2,8,x), du(0,4,y), du(4,8,y), du(5,8,y). You can cover them all (AUC) with 2 tests.</a:t>
            </a:r>
            <a:br>
              <a:rPr lang="en-NL" sz="2000" dirty="0"/>
            </a:br>
            <a:r>
              <a:rPr lang="en-NL" sz="2000" dirty="0"/>
              <a:t>Note-1: covering the above def-use pairs will also cover the remaining du-pairs. </a:t>
            </a:r>
            <a:br>
              <a:rPr lang="en-NL" sz="2000" dirty="0"/>
            </a:br>
            <a:r>
              <a:rPr lang="en-NL" sz="2000" dirty="0"/>
              <a:t>Note-2: on the down side, you may miss covering node-7.</a:t>
            </a:r>
            <a:br>
              <a:rPr lang="en-NL" sz="2000" dirty="0"/>
            </a:br>
            <a:endParaRPr lang="en-NL" sz="2000" dirty="0"/>
          </a:p>
        </p:txBody>
      </p:sp>
      <p:sp>
        <p:nvSpPr>
          <p:cNvPr id="4" name="Slide Number Placeholder 3">
            <a:extLst>
              <a:ext uri="{FF2B5EF4-FFF2-40B4-BE49-F238E27FC236}">
                <a16:creationId xmlns:a16="http://schemas.microsoft.com/office/drawing/2014/main" id="{4B1DD2EE-572E-9BE2-6508-AEE6563CE57E}"/>
              </a:ext>
            </a:extLst>
          </p:cNvPr>
          <p:cNvSpPr>
            <a:spLocks noGrp="1"/>
          </p:cNvSpPr>
          <p:nvPr>
            <p:ph type="sldNum" sz="quarter" idx="12"/>
          </p:nvPr>
        </p:nvSpPr>
        <p:spPr/>
        <p:txBody>
          <a:bodyPr/>
          <a:lstStyle/>
          <a:p>
            <a:pPr>
              <a:defRPr/>
            </a:pPr>
            <a:fld id="{F51486F7-ACCF-4DB7-BBF3-9BC4B709FB28}" type="slidenum">
              <a:rPr lang="en-US" smtClean="0"/>
              <a:pPr>
                <a:defRPr/>
              </a:pPr>
              <a:t>9</a:t>
            </a:fld>
            <a:endParaRPr lang="en-US"/>
          </a:p>
        </p:txBody>
      </p:sp>
      <p:grpSp>
        <p:nvGrpSpPr>
          <p:cNvPr id="5" name="Group 57">
            <a:extLst>
              <a:ext uri="{FF2B5EF4-FFF2-40B4-BE49-F238E27FC236}">
                <a16:creationId xmlns:a16="http://schemas.microsoft.com/office/drawing/2014/main" id="{DB677391-B220-4AF9-81C4-12BA01BC9884}"/>
              </a:ext>
            </a:extLst>
          </p:cNvPr>
          <p:cNvGrpSpPr>
            <a:grpSpLocks/>
          </p:cNvGrpSpPr>
          <p:nvPr/>
        </p:nvGrpSpPr>
        <p:grpSpPr bwMode="auto">
          <a:xfrm>
            <a:off x="2123728" y="3077615"/>
            <a:ext cx="6081713" cy="1455738"/>
            <a:chOff x="642910" y="1701798"/>
            <a:chExt cx="6081745" cy="1455727"/>
          </a:xfrm>
        </p:grpSpPr>
        <p:grpSp>
          <p:nvGrpSpPr>
            <p:cNvPr id="6" name="Group 18">
              <a:extLst>
                <a:ext uri="{FF2B5EF4-FFF2-40B4-BE49-F238E27FC236}">
                  <a16:creationId xmlns:a16="http://schemas.microsoft.com/office/drawing/2014/main" id="{BC03BBC3-7C99-B998-E208-F4AE50A48D19}"/>
                </a:ext>
              </a:extLst>
            </p:cNvPr>
            <p:cNvGrpSpPr>
              <a:grpSpLocks/>
            </p:cNvGrpSpPr>
            <p:nvPr/>
          </p:nvGrpSpPr>
          <p:grpSpPr bwMode="auto">
            <a:xfrm>
              <a:off x="1003273" y="2201850"/>
              <a:ext cx="555625" cy="469900"/>
              <a:chOff x="4288" y="1746"/>
              <a:chExt cx="350" cy="296"/>
            </a:xfrm>
          </p:grpSpPr>
          <p:sp>
            <p:nvSpPr>
              <p:cNvPr id="49" name="Oval 5">
                <a:extLst>
                  <a:ext uri="{FF2B5EF4-FFF2-40B4-BE49-F238E27FC236}">
                    <a16:creationId xmlns:a16="http://schemas.microsoft.com/office/drawing/2014/main" id="{DF76C91A-936F-A3E3-8F22-2BC345AA8739}"/>
                  </a:ext>
                </a:extLst>
              </p:cNvPr>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50" name="Text Box 6">
                <a:extLst>
                  <a:ext uri="{FF2B5EF4-FFF2-40B4-BE49-F238E27FC236}">
                    <a16:creationId xmlns:a16="http://schemas.microsoft.com/office/drawing/2014/main" id="{A0C2E65B-DD05-88B4-6283-2175F2B221B6}"/>
                  </a:ext>
                </a:extLst>
              </p:cNvPr>
              <p:cNvSpPr txBox="1">
                <a:spLocks noChangeArrowheads="1"/>
              </p:cNvSpPr>
              <p:nvPr/>
            </p:nvSpPr>
            <p:spPr bwMode="auto">
              <a:xfrm>
                <a:off x="4365" y="1769"/>
                <a:ext cx="196" cy="250"/>
              </a:xfrm>
              <a:prstGeom prst="rect">
                <a:avLst/>
              </a:prstGeom>
              <a:noFill/>
              <a:ln w="12700">
                <a:noFill/>
                <a:miter lim="800000"/>
                <a:headEnd type="none" w="sm" len="sm"/>
                <a:tailEnd type="none" w="sm" len="sm"/>
              </a:ln>
            </p:spPr>
            <p:txBody>
              <a:bodyPr wrap="none">
                <a:spAutoFit/>
              </a:bodyPr>
              <a:lstStyle/>
              <a:p>
                <a:pPr algn="r"/>
                <a:r>
                  <a:rPr lang="en-US"/>
                  <a:t>0</a:t>
                </a:r>
              </a:p>
            </p:txBody>
          </p:sp>
        </p:grpSp>
        <p:grpSp>
          <p:nvGrpSpPr>
            <p:cNvPr id="7" name="Group 31">
              <a:extLst>
                <a:ext uri="{FF2B5EF4-FFF2-40B4-BE49-F238E27FC236}">
                  <a16:creationId xmlns:a16="http://schemas.microsoft.com/office/drawing/2014/main" id="{AC4F1BFA-60EC-0D25-44B3-41B99A6E0207}"/>
                </a:ext>
              </a:extLst>
            </p:cNvPr>
            <p:cNvGrpSpPr>
              <a:grpSpLocks/>
            </p:cNvGrpSpPr>
            <p:nvPr/>
          </p:nvGrpSpPr>
          <p:grpSpPr bwMode="auto">
            <a:xfrm>
              <a:off x="1836710" y="1714488"/>
              <a:ext cx="603250" cy="1441450"/>
              <a:chOff x="1346" y="2965"/>
              <a:chExt cx="380" cy="908"/>
            </a:xfrm>
          </p:grpSpPr>
          <p:grpSp>
            <p:nvGrpSpPr>
              <p:cNvPr id="43" name="Group 19">
                <a:extLst>
                  <a:ext uri="{FF2B5EF4-FFF2-40B4-BE49-F238E27FC236}">
                    <a16:creationId xmlns:a16="http://schemas.microsoft.com/office/drawing/2014/main" id="{30F05379-65CD-31B1-9E67-1B82B91E4B6F}"/>
                  </a:ext>
                </a:extLst>
              </p:cNvPr>
              <p:cNvGrpSpPr>
                <a:grpSpLocks/>
              </p:cNvGrpSpPr>
              <p:nvPr/>
            </p:nvGrpSpPr>
            <p:grpSpPr bwMode="auto">
              <a:xfrm>
                <a:off x="1346" y="3577"/>
                <a:ext cx="350" cy="296"/>
                <a:chOff x="4738" y="2684"/>
                <a:chExt cx="350" cy="296"/>
              </a:xfrm>
            </p:grpSpPr>
            <p:sp>
              <p:nvSpPr>
                <p:cNvPr id="47" name="Oval 7">
                  <a:extLst>
                    <a:ext uri="{FF2B5EF4-FFF2-40B4-BE49-F238E27FC236}">
                      <a16:creationId xmlns:a16="http://schemas.microsoft.com/office/drawing/2014/main" id="{55B71F1D-282E-859E-E16D-9246F73169E8}"/>
                    </a:ext>
                  </a:extLst>
                </p:cNvPr>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48" name="Text Box 8">
                  <a:extLst>
                    <a:ext uri="{FF2B5EF4-FFF2-40B4-BE49-F238E27FC236}">
                      <a16:creationId xmlns:a16="http://schemas.microsoft.com/office/drawing/2014/main" id="{AE25F372-9C3F-71D7-AA5B-D1F904269BDE}"/>
                    </a:ext>
                  </a:extLst>
                </p:cNvPr>
                <p:cNvSpPr txBox="1">
                  <a:spLocks noChangeArrowheads="1"/>
                </p:cNvSpPr>
                <p:nvPr/>
              </p:nvSpPr>
              <p:spPr bwMode="auto">
                <a:xfrm>
                  <a:off x="4815" y="2707"/>
                  <a:ext cx="196" cy="250"/>
                </a:xfrm>
                <a:prstGeom prst="rect">
                  <a:avLst/>
                </a:prstGeom>
                <a:noFill/>
                <a:ln w="12700">
                  <a:noFill/>
                  <a:miter lim="800000"/>
                  <a:headEnd type="none" w="sm" len="sm"/>
                  <a:tailEnd type="none" w="sm" len="sm"/>
                </a:ln>
              </p:spPr>
              <p:txBody>
                <a:bodyPr wrap="none">
                  <a:spAutoFit/>
                </a:bodyPr>
                <a:lstStyle/>
                <a:p>
                  <a:r>
                    <a:rPr lang="en-US"/>
                    <a:t>2</a:t>
                  </a:r>
                </a:p>
              </p:txBody>
            </p:sp>
          </p:grpSp>
          <p:grpSp>
            <p:nvGrpSpPr>
              <p:cNvPr id="44" name="Group 20">
                <a:extLst>
                  <a:ext uri="{FF2B5EF4-FFF2-40B4-BE49-F238E27FC236}">
                    <a16:creationId xmlns:a16="http://schemas.microsoft.com/office/drawing/2014/main" id="{1B0D18A8-48B8-1BA2-87E4-D5ADFE4865AD}"/>
                  </a:ext>
                </a:extLst>
              </p:cNvPr>
              <p:cNvGrpSpPr>
                <a:grpSpLocks/>
              </p:cNvGrpSpPr>
              <p:nvPr/>
            </p:nvGrpSpPr>
            <p:grpSpPr bwMode="auto">
              <a:xfrm>
                <a:off x="1376" y="2965"/>
                <a:ext cx="350" cy="296"/>
                <a:chOff x="3838" y="2684"/>
                <a:chExt cx="350" cy="296"/>
              </a:xfrm>
            </p:grpSpPr>
            <p:sp>
              <p:nvSpPr>
                <p:cNvPr id="45" name="Oval 9">
                  <a:extLst>
                    <a:ext uri="{FF2B5EF4-FFF2-40B4-BE49-F238E27FC236}">
                      <a16:creationId xmlns:a16="http://schemas.microsoft.com/office/drawing/2014/main" id="{B60D7D60-E213-2D82-C5A9-DB194BEC65C9}"/>
                    </a:ext>
                  </a:extLst>
                </p:cNvPr>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46" name="Text Box 10">
                  <a:extLst>
                    <a:ext uri="{FF2B5EF4-FFF2-40B4-BE49-F238E27FC236}">
                      <a16:creationId xmlns:a16="http://schemas.microsoft.com/office/drawing/2014/main" id="{AE1630FB-DD6B-E5E5-9F50-08768E986EEF}"/>
                    </a:ext>
                  </a:extLst>
                </p:cNvPr>
                <p:cNvSpPr txBox="1">
                  <a:spLocks noChangeArrowheads="1"/>
                </p:cNvSpPr>
                <p:nvPr/>
              </p:nvSpPr>
              <p:spPr bwMode="auto">
                <a:xfrm>
                  <a:off x="3915" y="2707"/>
                  <a:ext cx="196" cy="250"/>
                </a:xfrm>
                <a:prstGeom prst="rect">
                  <a:avLst/>
                </a:prstGeom>
                <a:noFill/>
                <a:ln w="12700">
                  <a:noFill/>
                  <a:miter lim="800000"/>
                  <a:headEnd type="none" w="sm" len="sm"/>
                  <a:tailEnd type="none" w="sm" len="sm"/>
                </a:ln>
              </p:spPr>
              <p:txBody>
                <a:bodyPr wrap="none">
                  <a:spAutoFit/>
                </a:bodyPr>
                <a:lstStyle/>
                <a:p>
                  <a:r>
                    <a:rPr lang="en-US" dirty="0"/>
                    <a:t>1</a:t>
                  </a:r>
                </a:p>
              </p:txBody>
            </p:sp>
          </p:grpSp>
        </p:grpSp>
        <p:grpSp>
          <p:nvGrpSpPr>
            <p:cNvPr id="8" name="Group 38">
              <a:extLst>
                <a:ext uri="{FF2B5EF4-FFF2-40B4-BE49-F238E27FC236}">
                  <a16:creationId xmlns:a16="http://schemas.microsoft.com/office/drawing/2014/main" id="{1ABEB6AD-A273-07E3-0E61-89441BFD577A}"/>
                </a:ext>
              </a:extLst>
            </p:cNvPr>
            <p:cNvGrpSpPr>
              <a:grpSpLocks/>
            </p:cNvGrpSpPr>
            <p:nvPr/>
          </p:nvGrpSpPr>
          <p:grpSpPr bwMode="auto">
            <a:xfrm>
              <a:off x="4433860" y="2201850"/>
              <a:ext cx="555625" cy="469900"/>
              <a:chOff x="4433860" y="2201850"/>
              <a:chExt cx="555625" cy="469900"/>
            </a:xfrm>
          </p:grpSpPr>
          <p:sp>
            <p:nvSpPr>
              <p:cNvPr id="41" name="Oval 11">
                <a:extLst>
                  <a:ext uri="{FF2B5EF4-FFF2-40B4-BE49-F238E27FC236}">
                    <a16:creationId xmlns:a16="http://schemas.microsoft.com/office/drawing/2014/main" id="{87C2330A-AB7F-2E64-091F-AD750E351BE3}"/>
                  </a:ext>
                </a:extLst>
              </p:cNvPr>
              <p:cNvSpPr>
                <a:spLocks noChangeArrowheads="1"/>
              </p:cNvSpPr>
              <p:nvPr/>
            </p:nvSpPr>
            <p:spPr bwMode="auto">
              <a:xfrm>
                <a:off x="4433860" y="2201850"/>
                <a:ext cx="555625" cy="469900"/>
              </a:xfrm>
              <a:prstGeom prst="ellipse">
                <a:avLst/>
              </a:prstGeom>
              <a:solidFill>
                <a:srgbClr val="0066FF"/>
              </a:solidFill>
              <a:ln w="9525">
                <a:solidFill>
                  <a:schemeClr val="tx1"/>
                </a:solidFill>
                <a:round/>
                <a:headEnd type="none" w="sm" len="sm"/>
                <a:tailEnd type="none" w="sm" len="sm"/>
              </a:ln>
            </p:spPr>
            <p:txBody>
              <a:bodyPr wrap="none" anchor="ctr"/>
              <a:lstStyle/>
              <a:p>
                <a:endParaRPr lang="nl-NL"/>
              </a:p>
            </p:txBody>
          </p:sp>
          <p:sp>
            <p:nvSpPr>
              <p:cNvPr id="42" name="Text Box 12">
                <a:extLst>
                  <a:ext uri="{FF2B5EF4-FFF2-40B4-BE49-F238E27FC236}">
                    <a16:creationId xmlns:a16="http://schemas.microsoft.com/office/drawing/2014/main" id="{F9CFBA1B-5001-AF53-8F2E-05FC6342D520}"/>
                  </a:ext>
                </a:extLst>
              </p:cNvPr>
              <p:cNvSpPr txBox="1">
                <a:spLocks noChangeArrowheads="1"/>
              </p:cNvSpPr>
              <p:nvPr/>
            </p:nvSpPr>
            <p:spPr bwMode="auto">
              <a:xfrm>
                <a:off x="4556098" y="2238363"/>
                <a:ext cx="311150" cy="396875"/>
              </a:xfrm>
              <a:prstGeom prst="rect">
                <a:avLst/>
              </a:prstGeom>
              <a:noFill/>
              <a:ln w="12700">
                <a:noFill/>
                <a:miter lim="800000"/>
                <a:headEnd type="none" w="sm" len="sm"/>
                <a:tailEnd type="none" w="sm" len="sm"/>
              </a:ln>
            </p:spPr>
            <p:txBody>
              <a:bodyPr wrap="none">
                <a:spAutoFit/>
              </a:bodyPr>
              <a:lstStyle/>
              <a:p>
                <a:r>
                  <a:rPr lang="en-US"/>
                  <a:t>6</a:t>
                </a:r>
              </a:p>
            </p:txBody>
          </p:sp>
        </p:grpSp>
        <p:sp>
          <p:nvSpPr>
            <p:cNvPr id="9" name="Line 13">
              <a:extLst>
                <a:ext uri="{FF2B5EF4-FFF2-40B4-BE49-F238E27FC236}">
                  <a16:creationId xmlns:a16="http://schemas.microsoft.com/office/drawing/2014/main" id="{0D54A674-465A-D6C2-8002-BAA04D312B49}"/>
                </a:ext>
              </a:extLst>
            </p:cNvPr>
            <p:cNvSpPr>
              <a:spLocks noChangeShapeType="1"/>
            </p:cNvSpPr>
            <p:nvPr/>
          </p:nvSpPr>
          <p:spPr bwMode="auto">
            <a:xfrm flipV="1">
              <a:off x="1550960" y="2074850"/>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0" name="Line 17">
              <a:extLst>
                <a:ext uri="{FF2B5EF4-FFF2-40B4-BE49-F238E27FC236}">
                  <a16:creationId xmlns:a16="http://schemas.microsoft.com/office/drawing/2014/main" id="{81FA3E25-C1DA-4B38-6882-1CC73CB91E6D}"/>
                </a:ext>
              </a:extLst>
            </p:cNvPr>
            <p:cNvSpPr>
              <a:spLocks noChangeShapeType="1"/>
            </p:cNvSpPr>
            <p:nvPr/>
          </p:nvSpPr>
          <p:spPr bwMode="auto">
            <a:xfrm>
              <a:off x="642910" y="2436800"/>
              <a:ext cx="354013" cy="0"/>
            </a:xfrm>
            <a:prstGeom prst="line">
              <a:avLst/>
            </a:prstGeom>
            <a:noFill/>
            <a:ln w="19050">
              <a:solidFill>
                <a:schemeClr val="tx1"/>
              </a:solidFill>
              <a:round/>
              <a:headEnd type="none" w="sm" len="sm"/>
              <a:tailEnd type="arrow" w="med" len="med"/>
            </a:ln>
          </p:spPr>
          <p:txBody>
            <a:bodyPr/>
            <a:lstStyle/>
            <a:p>
              <a:endParaRPr lang="en-US"/>
            </a:p>
          </p:txBody>
        </p:sp>
        <p:grpSp>
          <p:nvGrpSpPr>
            <p:cNvPr id="11" name="Group 22">
              <a:extLst>
                <a:ext uri="{FF2B5EF4-FFF2-40B4-BE49-F238E27FC236}">
                  <a16:creationId xmlns:a16="http://schemas.microsoft.com/office/drawing/2014/main" id="{ED1EAF9E-7E8F-58CF-BA07-BFB2DA3A5556}"/>
                </a:ext>
              </a:extLst>
            </p:cNvPr>
            <p:cNvGrpSpPr>
              <a:grpSpLocks/>
            </p:cNvGrpSpPr>
            <p:nvPr/>
          </p:nvGrpSpPr>
          <p:grpSpPr bwMode="auto">
            <a:xfrm>
              <a:off x="2717773" y="2201850"/>
              <a:ext cx="555625" cy="469900"/>
              <a:chOff x="4288" y="1746"/>
              <a:chExt cx="350" cy="296"/>
            </a:xfrm>
          </p:grpSpPr>
          <p:sp>
            <p:nvSpPr>
              <p:cNvPr id="39" name="Oval 23">
                <a:extLst>
                  <a:ext uri="{FF2B5EF4-FFF2-40B4-BE49-F238E27FC236}">
                    <a16:creationId xmlns:a16="http://schemas.microsoft.com/office/drawing/2014/main" id="{977BED52-A244-BE59-6FF0-718F2D0D7CAF}"/>
                  </a:ext>
                </a:extLst>
              </p:cNvPr>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40" name="Text Box 24">
                <a:extLst>
                  <a:ext uri="{FF2B5EF4-FFF2-40B4-BE49-F238E27FC236}">
                    <a16:creationId xmlns:a16="http://schemas.microsoft.com/office/drawing/2014/main" id="{50AA73B3-DFA0-418A-5F55-80305848D692}"/>
                  </a:ext>
                </a:extLst>
              </p:cNvPr>
              <p:cNvSpPr txBox="1">
                <a:spLocks noChangeArrowheads="1"/>
              </p:cNvSpPr>
              <p:nvPr/>
            </p:nvSpPr>
            <p:spPr bwMode="auto">
              <a:xfrm>
                <a:off x="4365" y="1769"/>
                <a:ext cx="196" cy="250"/>
              </a:xfrm>
              <a:prstGeom prst="rect">
                <a:avLst/>
              </a:prstGeom>
              <a:noFill/>
              <a:ln w="12700">
                <a:noFill/>
                <a:miter lim="800000"/>
                <a:headEnd type="none" w="sm" len="sm"/>
                <a:tailEnd type="none" w="sm" len="sm"/>
              </a:ln>
            </p:spPr>
            <p:txBody>
              <a:bodyPr wrap="none">
                <a:spAutoFit/>
              </a:bodyPr>
              <a:lstStyle/>
              <a:p>
                <a:pPr algn="r"/>
                <a:r>
                  <a:rPr lang="en-US"/>
                  <a:t>3</a:t>
                </a:r>
              </a:p>
            </p:txBody>
          </p:sp>
        </p:grpSp>
        <p:grpSp>
          <p:nvGrpSpPr>
            <p:cNvPr id="12" name="Group 32">
              <a:extLst>
                <a:ext uri="{FF2B5EF4-FFF2-40B4-BE49-F238E27FC236}">
                  <a16:creationId xmlns:a16="http://schemas.microsoft.com/office/drawing/2014/main" id="{C05BE6A7-0744-DBA5-25BD-BCE034A166B6}"/>
                </a:ext>
              </a:extLst>
            </p:cNvPr>
            <p:cNvGrpSpPr>
              <a:grpSpLocks/>
            </p:cNvGrpSpPr>
            <p:nvPr/>
          </p:nvGrpSpPr>
          <p:grpSpPr bwMode="auto">
            <a:xfrm>
              <a:off x="3551210" y="1716075"/>
              <a:ext cx="603250" cy="1441450"/>
              <a:chOff x="2450" y="2968"/>
              <a:chExt cx="380" cy="908"/>
            </a:xfrm>
          </p:grpSpPr>
          <p:grpSp>
            <p:nvGrpSpPr>
              <p:cNvPr id="33" name="Group 25">
                <a:extLst>
                  <a:ext uri="{FF2B5EF4-FFF2-40B4-BE49-F238E27FC236}">
                    <a16:creationId xmlns:a16="http://schemas.microsoft.com/office/drawing/2014/main" id="{E12477B8-9410-F196-C600-52CD151C3D60}"/>
                  </a:ext>
                </a:extLst>
              </p:cNvPr>
              <p:cNvGrpSpPr>
                <a:grpSpLocks/>
              </p:cNvGrpSpPr>
              <p:nvPr/>
            </p:nvGrpSpPr>
            <p:grpSpPr bwMode="auto">
              <a:xfrm>
                <a:off x="2450" y="3580"/>
                <a:ext cx="350" cy="296"/>
                <a:chOff x="4738" y="2684"/>
                <a:chExt cx="350" cy="296"/>
              </a:xfrm>
            </p:grpSpPr>
            <p:sp>
              <p:nvSpPr>
                <p:cNvPr id="37" name="Oval 26">
                  <a:extLst>
                    <a:ext uri="{FF2B5EF4-FFF2-40B4-BE49-F238E27FC236}">
                      <a16:creationId xmlns:a16="http://schemas.microsoft.com/office/drawing/2014/main" id="{93294288-2E5F-6225-C1EA-EDE61CF3BCD0}"/>
                    </a:ext>
                  </a:extLst>
                </p:cNvPr>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38" name="Text Box 27">
                  <a:extLst>
                    <a:ext uri="{FF2B5EF4-FFF2-40B4-BE49-F238E27FC236}">
                      <a16:creationId xmlns:a16="http://schemas.microsoft.com/office/drawing/2014/main" id="{5853025C-510B-EB00-FF79-B6C32FA0E99C}"/>
                    </a:ext>
                  </a:extLst>
                </p:cNvPr>
                <p:cNvSpPr txBox="1">
                  <a:spLocks noChangeArrowheads="1"/>
                </p:cNvSpPr>
                <p:nvPr/>
              </p:nvSpPr>
              <p:spPr bwMode="auto">
                <a:xfrm>
                  <a:off x="4815" y="2707"/>
                  <a:ext cx="196" cy="250"/>
                </a:xfrm>
                <a:prstGeom prst="rect">
                  <a:avLst/>
                </a:prstGeom>
                <a:noFill/>
                <a:ln w="12700">
                  <a:noFill/>
                  <a:miter lim="800000"/>
                  <a:headEnd type="none" w="sm" len="sm"/>
                  <a:tailEnd type="none" w="sm" len="sm"/>
                </a:ln>
              </p:spPr>
              <p:txBody>
                <a:bodyPr wrap="none">
                  <a:spAutoFit/>
                </a:bodyPr>
                <a:lstStyle/>
                <a:p>
                  <a:r>
                    <a:rPr lang="en-US"/>
                    <a:t>5</a:t>
                  </a:r>
                </a:p>
              </p:txBody>
            </p:sp>
          </p:grpSp>
          <p:grpSp>
            <p:nvGrpSpPr>
              <p:cNvPr id="34" name="Group 28">
                <a:extLst>
                  <a:ext uri="{FF2B5EF4-FFF2-40B4-BE49-F238E27FC236}">
                    <a16:creationId xmlns:a16="http://schemas.microsoft.com/office/drawing/2014/main" id="{70D6E689-2856-9EBD-8C73-469CDDC0C16A}"/>
                  </a:ext>
                </a:extLst>
              </p:cNvPr>
              <p:cNvGrpSpPr>
                <a:grpSpLocks/>
              </p:cNvGrpSpPr>
              <p:nvPr/>
            </p:nvGrpSpPr>
            <p:grpSpPr bwMode="auto">
              <a:xfrm>
                <a:off x="2480" y="2968"/>
                <a:ext cx="350" cy="296"/>
                <a:chOff x="3838" y="2684"/>
                <a:chExt cx="350" cy="296"/>
              </a:xfrm>
            </p:grpSpPr>
            <p:sp>
              <p:nvSpPr>
                <p:cNvPr id="35" name="Oval 29">
                  <a:extLst>
                    <a:ext uri="{FF2B5EF4-FFF2-40B4-BE49-F238E27FC236}">
                      <a16:creationId xmlns:a16="http://schemas.microsoft.com/office/drawing/2014/main" id="{3AF3892D-B0EB-404D-4EDF-47C9A8927B3E}"/>
                    </a:ext>
                  </a:extLst>
                </p:cNvPr>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36" name="Text Box 30">
                  <a:extLst>
                    <a:ext uri="{FF2B5EF4-FFF2-40B4-BE49-F238E27FC236}">
                      <a16:creationId xmlns:a16="http://schemas.microsoft.com/office/drawing/2014/main" id="{6FE2CA87-4E14-FBBC-E6F1-EFCB932A7B76}"/>
                    </a:ext>
                  </a:extLst>
                </p:cNvPr>
                <p:cNvSpPr txBox="1">
                  <a:spLocks noChangeArrowheads="1"/>
                </p:cNvSpPr>
                <p:nvPr/>
              </p:nvSpPr>
              <p:spPr bwMode="auto">
                <a:xfrm>
                  <a:off x="3915" y="2707"/>
                  <a:ext cx="196" cy="250"/>
                </a:xfrm>
                <a:prstGeom prst="rect">
                  <a:avLst/>
                </a:prstGeom>
                <a:noFill/>
                <a:ln w="12700">
                  <a:noFill/>
                  <a:miter lim="800000"/>
                  <a:headEnd type="none" w="sm" len="sm"/>
                  <a:tailEnd type="none" w="sm" len="sm"/>
                </a:ln>
              </p:spPr>
              <p:txBody>
                <a:bodyPr wrap="none">
                  <a:spAutoFit/>
                </a:bodyPr>
                <a:lstStyle/>
                <a:p>
                  <a:r>
                    <a:rPr lang="en-US"/>
                    <a:t>4</a:t>
                  </a:r>
                </a:p>
              </p:txBody>
            </p:sp>
          </p:grpSp>
        </p:grpSp>
        <p:sp>
          <p:nvSpPr>
            <p:cNvPr id="13" name="Line 33">
              <a:extLst>
                <a:ext uri="{FF2B5EF4-FFF2-40B4-BE49-F238E27FC236}">
                  <a16:creationId xmlns:a16="http://schemas.microsoft.com/office/drawing/2014/main" id="{2542BEBA-9392-D094-20A9-3196295C5DA9}"/>
                </a:ext>
              </a:extLst>
            </p:cNvPr>
            <p:cNvSpPr>
              <a:spLocks noChangeShapeType="1"/>
            </p:cNvSpPr>
            <p:nvPr/>
          </p:nvSpPr>
          <p:spPr bwMode="auto">
            <a:xfrm flipV="1">
              <a:off x="4097310" y="2582850"/>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4" name="Line 34">
              <a:extLst>
                <a:ext uri="{FF2B5EF4-FFF2-40B4-BE49-F238E27FC236}">
                  <a16:creationId xmlns:a16="http://schemas.microsoft.com/office/drawing/2014/main" id="{BB0EB096-818E-E15D-5540-10F0791934A0}"/>
                </a:ext>
              </a:extLst>
            </p:cNvPr>
            <p:cNvSpPr>
              <a:spLocks noChangeShapeType="1"/>
            </p:cNvSpPr>
            <p:nvPr/>
          </p:nvSpPr>
          <p:spPr bwMode="auto">
            <a:xfrm flipV="1">
              <a:off x="2376460" y="2582850"/>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5" name="Line 35">
              <a:extLst>
                <a:ext uri="{FF2B5EF4-FFF2-40B4-BE49-F238E27FC236}">
                  <a16:creationId xmlns:a16="http://schemas.microsoft.com/office/drawing/2014/main" id="{384EF1A8-AF29-1317-7586-4EEAC45A2ABA}"/>
                </a:ext>
              </a:extLst>
            </p:cNvPr>
            <p:cNvSpPr>
              <a:spLocks noChangeShapeType="1"/>
            </p:cNvSpPr>
            <p:nvPr/>
          </p:nvSpPr>
          <p:spPr bwMode="auto">
            <a:xfrm flipV="1">
              <a:off x="3252760" y="2074850"/>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16" name="Line 36">
              <a:extLst>
                <a:ext uri="{FF2B5EF4-FFF2-40B4-BE49-F238E27FC236}">
                  <a16:creationId xmlns:a16="http://schemas.microsoft.com/office/drawing/2014/main" id="{4F1E764F-E7DB-0C41-1DFB-5B0189436566}"/>
                </a:ext>
              </a:extLst>
            </p:cNvPr>
            <p:cNvSpPr>
              <a:spLocks noChangeShapeType="1"/>
            </p:cNvSpPr>
            <p:nvPr/>
          </p:nvSpPr>
          <p:spPr bwMode="auto">
            <a:xfrm>
              <a:off x="1519210" y="2589200"/>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17" name="Line 37">
              <a:extLst>
                <a:ext uri="{FF2B5EF4-FFF2-40B4-BE49-F238E27FC236}">
                  <a16:creationId xmlns:a16="http://schemas.microsoft.com/office/drawing/2014/main" id="{C0B6FB61-4603-1380-21C6-CC30F1237DEF}"/>
                </a:ext>
              </a:extLst>
            </p:cNvPr>
            <p:cNvSpPr>
              <a:spLocks noChangeShapeType="1"/>
            </p:cNvSpPr>
            <p:nvPr/>
          </p:nvSpPr>
          <p:spPr bwMode="auto">
            <a:xfrm>
              <a:off x="2395510" y="2082788"/>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18" name="Line 38">
              <a:extLst>
                <a:ext uri="{FF2B5EF4-FFF2-40B4-BE49-F238E27FC236}">
                  <a16:creationId xmlns:a16="http://schemas.microsoft.com/office/drawing/2014/main" id="{729BD95C-5206-00A4-FA19-7872ED588474}"/>
                </a:ext>
              </a:extLst>
            </p:cNvPr>
            <p:cNvSpPr>
              <a:spLocks noChangeShapeType="1"/>
            </p:cNvSpPr>
            <p:nvPr/>
          </p:nvSpPr>
          <p:spPr bwMode="auto">
            <a:xfrm>
              <a:off x="3214660" y="2590788"/>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19" name="Line 39">
              <a:extLst>
                <a:ext uri="{FF2B5EF4-FFF2-40B4-BE49-F238E27FC236}">
                  <a16:creationId xmlns:a16="http://schemas.microsoft.com/office/drawing/2014/main" id="{484FE342-2156-1E86-1AB1-D5D732A2AF6F}"/>
                </a:ext>
              </a:extLst>
            </p:cNvPr>
            <p:cNvSpPr>
              <a:spLocks noChangeShapeType="1"/>
            </p:cNvSpPr>
            <p:nvPr/>
          </p:nvSpPr>
          <p:spPr bwMode="auto">
            <a:xfrm>
              <a:off x="4141760" y="2081200"/>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20" name="Oval 11">
              <a:extLst>
                <a:ext uri="{FF2B5EF4-FFF2-40B4-BE49-F238E27FC236}">
                  <a16:creationId xmlns:a16="http://schemas.microsoft.com/office/drawing/2014/main" id="{95DF759B-E17B-BFE8-9D0F-EDDCF55264DB}"/>
                </a:ext>
              </a:extLst>
            </p:cNvPr>
            <p:cNvSpPr>
              <a:spLocks noChangeArrowheads="1"/>
            </p:cNvSpPr>
            <p:nvPr/>
          </p:nvSpPr>
          <p:spPr bwMode="auto">
            <a:xfrm>
              <a:off x="6169030" y="2187573"/>
              <a:ext cx="555625" cy="469900"/>
            </a:xfrm>
            <a:prstGeom prst="ellipse">
              <a:avLst/>
            </a:prstGeom>
            <a:solidFill>
              <a:srgbClr val="0066FF"/>
            </a:solidFill>
            <a:ln w="28575">
              <a:solidFill>
                <a:schemeClr val="tx1"/>
              </a:solidFill>
              <a:round/>
              <a:headEnd type="none" w="sm" len="sm"/>
              <a:tailEnd type="none" w="sm" len="sm"/>
            </a:ln>
          </p:spPr>
          <p:txBody>
            <a:bodyPr wrap="none" anchor="ctr"/>
            <a:lstStyle/>
            <a:p>
              <a:endParaRPr lang="nl-NL"/>
            </a:p>
          </p:txBody>
        </p:sp>
        <p:sp>
          <p:nvSpPr>
            <p:cNvPr id="21" name="Text Box 12">
              <a:extLst>
                <a:ext uri="{FF2B5EF4-FFF2-40B4-BE49-F238E27FC236}">
                  <a16:creationId xmlns:a16="http://schemas.microsoft.com/office/drawing/2014/main" id="{0C26EECD-C7ED-8BA2-4C82-429D516C1F81}"/>
                </a:ext>
              </a:extLst>
            </p:cNvPr>
            <p:cNvSpPr txBox="1">
              <a:spLocks noChangeArrowheads="1"/>
            </p:cNvSpPr>
            <p:nvPr/>
          </p:nvSpPr>
          <p:spPr bwMode="auto">
            <a:xfrm>
              <a:off x="6291268" y="2224086"/>
              <a:ext cx="312906" cy="369332"/>
            </a:xfrm>
            <a:prstGeom prst="rect">
              <a:avLst/>
            </a:prstGeom>
            <a:noFill/>
            <a:ln w="12700">
              <a:noFill/>
              <a:miter lim="800000"/>
              <a:headEnd type="none" w="sm" len="sm"/>
              <a:tailEnd type="none" w="sm" len="sm"/>
            </a:ln>
          </p:spPr>
          <p:txBody>
            <a:bodyPr wrap="none">
              <a:spAutoFit/>
            </a:bodyPr>
            <a:lstStyle/>
            <a:p>
              <a:r>
                <a:rPr lang="en-US"/>
                <a:t>9</a:t>
              </a:r>
            </a:p>
          </p:txBody>
        </p:sp>
        <p:grpSp>
          <p:nvGrpSpPr>
            <p:cNvPr id="22" name="Group 32">
              <a:extLst>
                <a:ext uri="{FF2B5EF4-FFF2-40B4-BE49-F238E27FC236}">
                  <a16:creationId xmlns:a16="http://schemas.microsoft.com/office/drawing/2014/main" id="{EDFE3399-20E1-6722-6E19-EBBC07338387}"/>
                </a:ext>
              </a:extLst>
            </p:cNvPr>
            <p:cNvGrpSpPr>
              <a:grpSpLocks/>
            </p:cNvGrpSpPr>
            <p:nvPr/>
          </p:nvGrpSpPr>
          <p:grpSpPr bwMode="auto">
            <a:xfrm>
              <a:off x="5286380" y="1701798"/>
              <a:ext cx="603250" cy="1441450"/>
              <a:chOff x="2450" y="2968"/>
              <a:chExt cx="380" cy="908"/>
            </a:xfrm>
          </p:grpSpPr>
          <p:grpSp>
            <p:nvGrpSpPr>
              <p:cNvPr id="27" name="Group 25">
                <a:extLst>
                  <a:ext uri="{FF2B5EF4-FFF2-40B4-BE49-F238E27FC236}">
                    <a16:creationId xmlns:a16="http://schemas.microsoft.com/office/drawing/2014/main" id="{9C7974A9-93E5-3A58-7B2B-FD8EC1568141}"/>
                  </a:ext>
                </a:extLst>
              </p:cNvPr>
              <p:cNvGrpSpPr>
                <a:grpSpLocks/>
              </p:cNvGrpSpPr>
              <p:nvPr/>
            </p:nvGrpSpPr>
            <p:grpSpPr bwMode="auto">
              <a:xfrm>
                <a:off x="2450" y="3580"/>
                <a:ext cx="350" cy="296"/>
                <a:chOff x="4738" y="2684"/>
                <a:chExt cx="350" cy="296"/>
              </a:xfrm>
            </p:grpSpPr>
            <p:sp>
              <p:nvSpPr>
                <p:cNvPr id="31" name="Oval 26">
                  <a:extLst>
                    <a:ext uri="{FF2B5EF4-FFF2-40B4-BE49-F238E27FC236}">
                      <a16:creationId xmlns:a16="http://schemas.microsoft.com/office/drawing/2014/main" id="{54146587-8146-F744-5FC7-B21FC95EAB5A}"/>
                    </a:ext>
                  </a:extLst>
                </p:cNvPr>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32" name="Text Box 27">
                  <a:extLst>
                    <a:ext uri="{FF2B5EF4-FFF2-40B4-BE49-F238E27FC236}">
                      <a16:creationId xmlns:a16="http://schemas.microsoft.com/office/drawing/2014/main" id="{AD04D2F0-7789-8F06-89E6-C1FDCB8F9ED0}"/>
                    </a:ext>
                  </a:extLst>
                </p:cNvPr>
                <p:cNvSpPr txBox="1">
                  <a:spLocks noChangeArrowheads="1"/>
                </p:cNvSpPr>
                <p:nvPr/>
              </p:nvSpPr>
              <p:spPr bwMode="auto">
                <a:xfrm>
                  <a:off x="4815" y="2707"/>
                  <a:ext cx="197" cy="233"/>
                </a:xfrm>
                <a:prstGeom prst="rect">
                  <a:avLst/>
                </a:prstGeom>
                <a:noFill/>
                <a:ln w="12700">
                  <a:noFill/>
                  <a:miter lim="800000"/>
                  <a:headEnd type="none" w="sm" len="sm"/>
                  <a:tailEnd type="none" w="sm" len="sm"/>
                </a:ln>
              </p:spPr>
              <p:txBody>
                <a:bodyPr wrap="none">
                  <a:spAutoFit/>
                </a:bodyPr>
                <a:lstStyle/>
                <a:p>
                  <a:r>
                    <a:rPr lang="en-US"/>
                    <a:t>7</a:t>
                  </a:r>
                </a:p>
              </p:txBody>
            </p:sp>
          </p:grpSp>
          <p:grpSp>
            <p:nvGrpSpPr>
              <p:cNvPr id="28" name="Group 28">
                <a:extLst>
                  <a:ext uri="{FF2B5EF4-FFF2-40B4-BE49-F238E27FC236}">
                    <a16:creationId xmlns:a16="http://schemas.microsoft.com/office/drawing/2014/main" id="{56F48990-ED40-DE0F-A28E-AD3743B17E71}"/>
                  </a:ext>
                </a:extLst>
              </p:cNvPr>
              <p:cNvGrpSpPr>
                <a:grpSpLocks/>
              </p:cNvGrpSpPr>
              <p:nvPr/>
            </p:nvGrpSpPr>
            <p:grpSpPr bwMode="auto">
              <a:xfrm>
                <a:off x="2480" y="2968"/>
                <a:ext cx="350" cy="296"/>
                <a:chOff x="3838" y="2684"/>
                <a:chExt cx="350" cy="296"/>
              </a:xfrm>
            </p:grpSpPr>
            <p:sp>
              <p:nvSpPr>
                <p:cNvPr id="29" name="Oval 29">
                  <a:extLst>
                    <a:ext uri="{FF2B5EF4-FFF2-40B4-BE49-F238E27FC236}">
                      <a16:creationId xmlns:a16="http://schemas.microsoft.com/office/drawing/2014/main" id="{FE722C71-816B-7C3B-4CF1-C149802D8D2D}"/>
                    </a:ext>
                  </a:extLst>
                </p:cNvPr>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p>
                  <a:endParaRPr lang="nl-NL"/>
                </a:p>
              </p:txBody>
            </p:sp>
            <p:sp>
              <p:nvSpPr>
                <p:cNvPr id="30" name="Text Box 30">
                  <a:extLst>
                    <a:ext uri="{FF2B5EF4-FFF2-40B4-BE49-F238E27FC236}">
                      <a16:creationId xmlns:a16="http://schemas.microsoft.com/office/drawing/2014/main" id="{14E65E8A-2FEB-72EC-E8FB-0B4415A0ABC8}"/>
                    </a:ext>
                  </a:extLst>
                </p:cNvPr>
                <p:cNvSpPr txBox="1">
                  <a:spLocks noChangeArrowheads="1"/>
                </p:cNvSpPr>
                <p:nvPr/>
              </p:nvSpPr>
              <p:spPr bwMode="auto">
                <a:xfrm>
                  <a:off x="3915" y="2707"/>
                  <a:ext cx="197" cy="233"/>
                </a:xfrm>
                <a:prstGeom prst="rect">
                  <a:avLst/>
                </a:prstGeom>
                <a:noFill/>
                <a:ln w="12700">
                  <a:noFill/>
                  <a:miter lim="800000"/>
                  <a:headEnd type="none" w="sm" len="sm"/>
                  <a:tailEnd type="none" w="sm" len="sm"/>
                </a:ln>
              </p:spPr>
              <p:txBody>
                <a:bodyPr wrap="none">
                  <a:spAutoFit/>
                </a:bodyPr>
                <a:lstStyle/>
                <a:p>
                  <a:r>
                    <a:rPr lang="en-US"/>
                    <a:t>8</a:t>
                  </a:r>
                </a:p>
              </p:txBody>
            </p:sp>
          </p:grpSp>
        </p:grpSp>
        <p:sp>
          <p:nvSpPr>
            <p:cNvPr id="23" name="Line 33">
              <a:extLst>
                <a:ext uri="{FF2B5EF4-FFF2-40B4-BE49-F238E27FC236}">
                  <a16:creationId xmlns:a16="http://schemas.microsoft.com/office/drawing/2014/main" id="{082520B5-123E-F4F1-8545-BA9466C1F782}"/>
                </a:ext>
              </a:extLst>
            </p:cNvPr>
            <p:cNvSpPr>
              <a:spLocks noChangeShapeType="1"/>
            </p:cNvSpPr>
            <p:nvPr/>
          </p:nvSpPr>
          <p:spPr bwMode="auto">
            <a:xfrm flipV="1">
              <a:off x="5832480" y="2568573"/>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24" name="Line 39">
              <a:extLst>
                <a:ext uri="{FF2B5EF4-FFF2-40B4-BE49-F238E27FC236}">
                  <a16:creationId xmlns:a16="http://schemas.microsoft.com/office/drawing/2014/main" id="{D1FAA61E-71AE-A9AD-1607-5312CB021E01}"/>
                </a:ext>
              </a:extLst>
            </p:cNvPr>
            <p:cNvSpPr>
              <a:spLocks noChangeShapeType="1"/>
            </p:cNvSpPr>
            <p:nvPr/>
          </p:nvSpPr>
          <p:spPr bwMode="auto">
            <a:xfrm>
              <a:off x="5876930" y="2066923"/>
              <a:ext cx="346075" cy="249237"/>
            </a:xfrm>
            <a:prstGeom prst="line">
              <a:avLst/>
            </a:prstGeom>
            <a:noFill/>
            <a:ln w="19050">
              <a:solidFill>
                <a:schemeClr val="tx1"/>
              </a:solidFill>
              <a:round/>
              <a:headEnd type="none" w="sm" len="sm"/>
              <a:tailEnd type="arrow" w="med" len="med"/>
            </a:ln>
          </p:spPr>
          <p:txBody>
            <a:bodyPr/>
            <a:lstStyle/>
            <a:p>
              <a:endParaRPr lang="en-US"/>
            </a:p>
          </p:txBody>
        </p:sp>
        <p:sp>
          <p:nvSpPr>
            <p:cNvPr id="25" name="Line 33">
              <a:extLst>
                <a:ext uri="{FF2B5EF4-FFF2-40B4-BE49-F238E27FC236}">
                  <a16:creationId xmlns:a16="http://schemas.microsoft.com/office/drawing/2014/main" id="{CAD4512A-C0EB-62F2-E75A-808233DD37D6}"/>
                </a:ext>
              </a:extLst>
            </p:cNvPr>
            <p:cNvSpPr>
              <a:spLocks noChangeShapeType="1"/>
            </p:cNvSpPr>
            <p:nvPr/>
          </p:nvSpPr>
          <p:spPr bwMode="auto">
            <a:xfrm flipV="1">
              <a:off x="4929190" y="2000240"/>
              <a:ext cx="396875" cy="265112"/>
            </a:xfrm>
            <a:prstGeom prst="line">
              <a:avLst/>
            </a:prstGeom>
            <a:noFill/>
            <a:ln w="19050">
              <a:solidFill>
                <a:schemeClr val="tx1"/>
              </a:solidFill>
              <a:round/>
              <a:headEnd type="none" w="sm" len="sm"/>
              <a:tailEnd type="arrow" w="med" len="med"/>
            </a:ln>
          </p:spPr>
          <p:txBody>
            <a:bodyPr/>
            <a:lstStyle/>
            <a:p>
              <a:endParaRPr lang="en-US"/>
            </a:p>
          </p:txBody>
        </p:sp>
        <p:sp>
          <p:nvSpPr>
            <p:cNvPr id="26" name="Line 39">
              <a:extLst>
                <a:ext uri="{FF2B5EF4-FFF2-40B4-BE49-F238E27FC236}">
                  <a16:creationId xmlns:a16="http://schemas.microsoft.com/office/drawing/2014/main" id="{144D0EAD-8198-6DD2-EDD2-1CD031E8CE9F}"/>
                </a:ext>
              </a:extLst>
            </p:cNvPr>
            <p:cNvSpPr>
              <a:spLocks noChangeShapeType="1"/>
            </p:cNvSpPr>
            <p:nvPr/>
          </p:nvSpPr>
          <p:spPr bwMode="auto">
            <a:xfrm>
              <a:off x="4929190" y="2571744"/>
              <a:ext cx="346075" cy="249237"/>
            </a:xfrm>
            <a:prstGeom prst="line">
              <a:avLst/>
            </a:prstGeom>
            <a:noFill/>
            <a:ln w="19050">
              <a:solidFill>
                <a:schemeClr val="tx1"/>
              </a:solidFill>
              <a:round/>
              <a:headEnd type="none" w="sm" len="sm"/>
              <a:tailEnd type="arrow" w="med" len="med"/>
            </a:ln>
          </p:spPr>
          <p:txBody>
            <a:bodyPr/>
            <a:lstStyle/>
            <a:p>
              <a:endParaRPr lang="en-US"/>
            </a:p>
          </p:txBody>
        </p:sp>
      </p:grpSp>
      <p:sp>
        <p:nvSpPr>
          <p:cNvPr id="51" name="TextBox 50">
            <a:extLst>
              <a:ext uri="{FF2B5EF4-FFF2-40B4-BE49-F238E27FC236}">
                <a16:creationId xmlns:a16="http://schemas.microsoft.com/office/drawing/2014/main" id="{31A4495C-5F6E-3D9F-A06C-2A4282CB2FD8}"/>
              </a:ext>
            </a:extLst>
          </p:cNvPr>
          <p:cNvSpPr txBox="1"/>
          <p:nvPr/>
        </p:nvSpPr>
        <p:spPr>
          <a:xfrm>
            <a:off x="497809" y="1170253"/>
            <a:ext cx="4506362" cy="1015663"/>
          </a:xfrm>
          <a:prstGeom prst="rect">
            <a:avLst/>
          </a:prstGeom>
          <a:solidFill>
            <a:schemeClr val="tx2">
              <a:lumMod val="20000"/>
              <a:lumOff val="80000"/>
            </a:schemeClr>
          </a:solidFill>
          <a:ln>
            <a:solidFill>
              <a:schemeClr val="tx1"/>
            </a:solidFill>
          </a:ln>
        </p:spPr>
        <p:txBody>
          <a:bodyPr wrap="none" rtlCol="0">
            <a:spAutoFit/>
          </a:bodyPr>
          <a:lstStyle/>
          <a:p>
            <a:r>
              <a:rPr lang="en-NL" sz="2000" b="1" dirty="0"/>
              <a:t>if</a:t>
            </a:r>
            <a:r>
              <a:rPr lang="en-NL" sz="2000" dirty="0"/>
              <a:t> x&gt;0 </a:t>
            </a:r>
            <a:r>
              <a:rPr lang="en-NL" sz="2000" b="1" dirty="0"/>
              <a:t>then</a:t>
            </a:r>
            <a:r>
              <a:rPr lang="en-NL" sz="2000" dirty="0"/>
              <a:t> x = 2x </a:t>
            </a:r>
            <a:r>
              <a:rPr lang="en-NL" sz="2000" b="1" dirty="0"/>
              <a:t>else</a:t>
            </a:r>
            <a:r>
              <a:rPr lang="en-NL" sz="2000" dirty="0"/>
              <a:t> x=0</a:t>
            </a:r>
          </a:p>
          <a:p>
            <a:r>
              <a:rPr lang="en-NL" sz="2000" b="1" dirty="0"/>
              <a:t>if</a:t>
            </a:r>
            <a:r>
              <a:rPr lang="en-NL" sz="2000" dirty="0"/>
              <a:t> y&gt;0 </a:t>
            </a:r>
            <a:r>
              <a:rPr lang="en-NL" sz="2000" b="1" dirty="0"/>
              <a:t>then</a:t>
            </a:r>
            <a:r>
              <a:rPr lang="en-NL" sz="2000" dirty="0"/>
              <a:t> y = 2y </a:t>
            </a:r>
            <a:r>
              <a:rPr lang="en-NL" sz="2000" b="1" dirty="0"/>
              <a:t>else</a:t>
            </a:r>
            <a:r>
              <a:rPr lang="en-NL" sz="2000" dirty="0"/>
              <a:t> y=0</a:t>
            </a:r>
          </a:p>
          <a:p>
            <a:r>
              <a:rPr lang="en-NL" sz="2000" b="1" dirty="0"/>
              <a:t>if </a:t>
            </a:r>
            <a:r>
              <a:rPr lang="en-NL" sz="2000" dirty="0"/>
              <a:t>x*y&gt; 0 </a:t>
            </a:r>
            <a:r>
              <a:rPr lang="en-NL" sz="2000" b="1" dirty="0"/>
              <a:t>then</a:t>
            </a:r>
            <a:r>
              <a:rPr lang="en-NL" sz="2000" dirty="0"/>
              <a:t> return x+y </a:t>
            </a:r>
            <a:r>
              <a:rPr lang="en-NL" sz="2000" b="1" dirty="0"/>
              <a:t>else</a:t>
            </a:r>
            <a:r>
              <a:rPr lang="en-NL" sz="2000" dirty="0"/>
              <a:t> return 0</a:t>
            </a:r>
          </a:p>
        </p:txBody>
      </p:sp>
      <p:sp>
        <p:nvSpPr>
          <p:cNvPr id="52" name="TextBox 51">
            <a:extLst>
              <a:ext uri="{FF2B5EF4-FFF2-40B4-BE49-F238E27FC236}">
                <a16:creationId xmlns:a16="http://schemas.microsoft.com/office/drawing/2014/main" id="{D2855751-2E27-C406-8546-1382DB9F975B}"/>
              </a:ext>
            </a:extLst>
          </p:cNvPr>
          <p:cNvSpPr txBox="1"/>
          <p:nvPr/>
        </p:nvSpPr>
        <p:spPr>
          <a:xfrm>
            <a:off x="667186" y="3184596"/>
            <a:ext cx="1106393" cy="338554"/>
          </a:xfrm>
          <a:prstGeom prst="rect">
            <a:avLst/>
          </a:prstGeom>
          <a:solidFill>
            <a:srgbClr val="FFFF00"/>
          </a:solidFill>
          <a:ln>
            <a:solidFill>
              <a:srgbClr val="FFC000"/>
            </a:solidFill>
          </a:ln>
        </p:spPr>
        <p:txBody>
          <a:bodyPr wrap="none" rtlCol="0">
            <a:spAutoFit/>
          </a:bodyPr>
          <a:lstStyle/>
          <a:p>
            <a:r>
              <a:rPr lang="en-NL" sz="1600" dirty="0"/>
              <a:t>def = {x,y}</a:t>
            </a:r>
          </a:p>
        </p:txBody>
      </p:sp>
      <p:sp>
        <p:nvSpPr>
          <p:cNvPr id="53" name="TextBox 52">
            <a:extLst>
              <a:ext uri="{FF2B5EF4-FFF2-40B4-BE49-F238E27FC236}">
                <a16:creationId xmlns:a16="http://schemas.microsoft.com/office/drawing/2014/main" id="{E02294A9-0C63-63E1-93F4-9EFF3449059E}"/>
              </a:ext>
            </a:extLst>
          </p:cNvPr>
          <p:cNvSpPr txBox="1"/>
          <p:nvPr/>
        </p:nvSpPr>
        <p:spPr>
          <a:xfrm>
            <a:off x="3147469" y="2480414"/>
            <a:ext cx="990977" cy="584775"/>
          </a:xfrm>
          <a:prstGeom prst="rect">
            <a:avLst/>
          </a:prstGeom>
          <a:solidFill>
            <a:srgbClr val="FFFF00"/>
          </a:solidFill>
          <a:ln>
            <a:solidFill>
              <a:srgbClr val="FFC000"/>
            </a:solidFill>
          </a:ln>
        </p:spPr>
        <p:txBody>
          <a:bodyPr wrap="none" rtlCol="0">
            <a:spAutoFit/>
          </a:bodyPr>
          <a:lstStyle/>
          <a:p>
            <a:r>
              <a:rPr lang="en-NL" sz="1600" dirty="0"/>
              <a:t>use = {x}</a:t>
            </a:r>
          </a:p>
          <a:p>
            <a:r>
              <a:rPr lang="en-NL" sz="1600" dirty="0"/>
              <a:t>def = {x}</a:t>
            </a:r>
          </a:p>
        </p:txBody>
      </p:sp>
      <p:sp>
        <p:nvSpPr>
          <p:cNvPr id="54" name="TextBox 53">
            <a:extLst>
              <a:ext uri="{FF2B5EF4-FFF2-40B4-BE49-F238E27FC236}">
                <a16:creationId xmlns:a16="http://schemas.microsoft.com/office/drawing/2014/main" id="{FB39BA54-4348-EDC8-18A4-489A5E7BF447}"/>
              </a:ext>
            </a:extLst>
          </p:cNvPr>
          <p:cNvSpPr txBox="1"/>
          <p:nvPr/>
        </p:nvSpPr>
        <p:spPr>
          <a:xfrm>
            <a:off x="3122286" y="4560160"/>
            <a:ext cx="946093" cy="338554"/>
          </a:xfrm>
          <a:prstGeom prst="rect">
            <a:avLst/>
          </a:prstGeom>
          <a:solidFill>
            <a:srgbClr val="FFFF00"/>
          </a:solidFill>
          <a:ln>
            <a:solidFill>
              <a:srgbClr val="FFC000"/>
            </a:solidFill>
          </a:ln>
        </p:spPr>
        <p:txBody>
          <a:bodyPr wrap="none" rtlCol="0">
            <a:spAutoFit/>
          </a:bodyPr>
          <a:lstStyle/>
          <a:p>
            <a:r>
              <a:rPr lang="en-NL" sz="1600" dirty="0"/>
              <a:t>def = {x}</a:t>
            </a:r>
          </a:p>
        </p:txBody>
      </p:sp>
      <p:sp>
        <p:nvSpPr>
          <p:cNvPr id="55" name="TextBox 54">
            <a:extLst>
              <a:ext uri="{FF2B5EF4-FFF2-40B4-BE49-F238E27FC236}">
                <a16:creationId xmlns:a16="http://schemas.microsoft.com/office/drawing/2014/main" id="{250B286D-7867-D4C7-72A6-75EF692CE9C5}"/>
              </a:ext>
            </a:extLst>
          </p:cNvPr>
          <p:cNvSpPr txBox="1"/>
          <p:nvPr/>
        </p:nvSpPr>
        <p:spPr>
          <a:xfrm>
            <a:off x="4854235" y="4569106"/>
            <a:ext cx="946093" cy="338554"/>
          </a:xfrm>
          <a:prstGeom prst="rect">
            <a:avLst/>
          </a:prstGeom>
          <a:solidFill>
            <a:srgbClr val="FFFF00"/>
          </a:solidFill>
          <a:ln>
            <a:solidFill>
              <a:srgbClr val="FFC000"/>
            </a:solidFill>
          </a:ln>
        </p:spPr>
        <p:txBody>
          <a:bodyPr wrap="none" rtlCol="0">
            <a:spAutoFit/>
          </a:bodyPr>
          <a:lstStyle/>
          <a:p>
            <a:r>
              <a:rPr lang="en-NL" sz="1600" dirty="0"/>
              <a:t>def = {y}</a:t>
            </a:r>
          </a:p>
        </p:txBody>
      </p:sp>
      <p:sp>
        <p:nvSpPr>
          <p:cNvPr id="56" name="TextBox 55">
            <a:extLst>
              <a:ext uri="{FF2B5EF4-FFF2-40B4-BE49-F238E27FC236}">
                <a16:creationId xmlns:a16="http://schemas.microsoft.com/office/drawing/2014/main" id="{8F829FEE-0983-B6E3-3E8B-BF22D9042B49}"/>
              </a:ext>
            </a:extLst>
          </p:cNvPr>
          <p:cNvSpPr txBox="1"/>
          <p:nvPr/>
        </p:nvSpPr>
        <p:spPr>
          <a:xfrm>
            <a:off x="4869151" y="2446249"/>
            <a:ext cx="990977" cy="584775"/>
          </a:xfrm>
          <a:prstGeom prst="rect">
            <a:avLst/>
          </a:prstGeom>
          <a:solidFill>
            <a:srgbClr val="FFFF00"/>
          </a:solidFill>
          <a:ln>
            <a:solidFill>
              <a:srgbClr val="FFC000"/>
            </a:solidFill>
          </a:ln>
        </p:spPr>
        <p:txBody>
          <a:bodyPr wrap="none" rtlCol="0">
            <a:spAutoFit/>
          </a:bodyPr>
          <a:lstStyle/>
          <a:p>
            <a:r>
              <a:rPr lang="en-NL" sz="1600" dirty="0"/>
              <a:t>use = {y}</a:t>
            </a:r>
          </a:p>
          <a:p>
            <a:r>
              <a:rPr lang="en-NL" sz="1600" dirty="0"/>
              <a:t>def = {y}</a:t>
            </a:r>
          </a:p>
        </p:txBody>
      </p:sp>
      <p:sp>
        <p:nvSpPr>
          <p:cNvPr id="57" name="TextBox 56">
            <a:extLst>
              <a:ext uri="{FF2B5EF4-FFF2-40B4-BE49-F238E27FC236}">
                <a16:creationId xmlns:a16="http://schemas.microsoft.com/office/drawing/2014/main" id="{2BCDB510-792D-25C6-E551-574EA24E1154}"/>
              </a:ext>
            </a:extLst>
          </p:cNvPr>
          <p:cNvSpPr txBox="1"/>
          <p:nvPr/>
        </p:nvSpPr>
        <p:spPr>
          <a:xfrm>
            <a:off x="7044361" y="2396288"/>
            <a:ext cx="1345240" cy="584775"/>
          </a:xfrm>
          <a:prstGeom prst="rect">
            <a:avLst/>
          </a:prstGeom>
          <a:solidFill>
            <a:srgbClr val="FFFF00"/>
          </a:solidFill>
          <a:ln>
            <a:solidFill>
              <a:srgbClr val="FFC000"/>
            </a:solidFill>
          </a:ln>
        </p:spPr>
        <p:txBody>
          <a:bodyPr wrap="none" rtlCol="0">
            <a:spAutoFit/>
          </a:bodyPr>
          <a:lstStyle/>
          <a:p>
            <a:r>
              <a:rPr lang="en-NL" sz="1600" dirty="0"/>
              <a:t>use = {x,y}</a:t>
            </a:r>
          </a:p>
          <a:p>
            <a:r>
              <a:rPr lang="en-NL" sz="1600" dirty="0"/>
              <a:t>def = {retval}</a:t>
            </a:r>
          </a:p>
        </p:txBody>
      </p:sp>
      <p:sp>
        <p:nvSpPr>
          <p:cNvPr id="58" name="Oval 57">
            <a:extLst>
              <a:ext uri="{FF2B5EF4-FFF2-40B4-BE49-F238E27FC236}">
                <a16:creationId xmlns:a16="http://schemas.microsoft.com/office/drawing/2014/main" id="{3908AA45-CFC5-6EF0-8B10-9C9F32D9CAD0}"/>
              </a:ext>
            </a:extLst>
          </p:cNvPr>
          <p:cNvSpPr/>
          <p:nvPr/>
        </p:nvSpPr>
        <p:spPr>
          <a:xfrm>
            <a:off x="1485752" y="3570390"/>
            <a:ext cx="576064" cy="520704"/>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L" dirty="0"/>
              <a:t>0</a:t>
            </a:r>
          </a:p>
        </p:txBody>
      </p:sp>
      <p:sp>
        <p:nvSpPr>
          <p:cNvPr id="59" name="Oval 58">
            <a:extLst>
              <a:ext uri="{FF2B5EF4-FFF2-40B4-BE49-F238E27FC236}">
                <a16:creationId xmlns:a16="http://schemas.microsoft.com/office/drawing/2014/main" id="{A872D791-DA1A-4A51-AACC-2EFE09A0E0DA}"/>
              </a:ext>
            </a:extLst>
          </p:cNvPr>
          <p:cNvSpPr/>
          <p:nvPr/>
        </p:nvSpPr>
        <p:spPr>
          <a:xfrm>
            <a:off x="2466891" y="3549366"/>
            <a:ext cx="576064" cy="52070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60" name="TextBox 59">
            <a:extLst>
              <a:ext uri="{FF2B5EF4-FFF2-40B4-BE49-F238E27FC236}">
                <a16:creationId xmlns:a16="http://schemas.microsoft.com/office/drawing/2014/main" id="{E4C6128C-4B29-0934-1385-995AEA3DD1DA}"/>
              </a:ext>
            </a:extLst>
          </p:cNvPr>
          <p:cNvSpPr txBox="1"/>
          <p:nvPr/>
        </p:nvSpPr>
        <p:spPr>
          <a:xfrm>
            <a:off x="2276622" y="3208701"/>
            <a:ext cx="734496" cy="261610"/>
          </a:xfrm>
          <a:prstGeom prst="rect">
            <a:avLst/>
          </a:prstGeom>
          <a:solidFill>
            <a:srgbClr val="FFFF00"/>
          </a:solidFill>
          <a:ln>
            <a:solidFill>
              <a:srgbClr val="FFC000"/>
            </a:solidFill>
          </a:ln>
        </p:spPr>
        <p:txBody>
          <a:bodyPr wrap="none" rtlCol="0">
            <a:spAutoFit/>
          </a:bodyPr>
          <a:lstStyle/>
          <a:p>
            <a:r>
              <a:rPr lang="en-NL" sz="1100" dirty="0"/>
              <a:t>use = {x}</a:t>
            </a:r>
          </a:p>
        </p:txBody>
      </p:sp>
      <p:sp>
        <p:nvSpPr>
          <p:cNvPr id="61" name="TextBox 60">
            <a:extLst>
              <a:ext uri="{FF2B5EF4-FFF2-40B4-BE49-F238E27FC236}">
                <a16:creationId xmlns:a16="http://schemas.microsoft.com/office/drawing/2014/main" id="{1A674498-91EE-373C-62FD-62C8C1307F94}"/>
              </a:ext>
            </a:extLst>
          </p:cNvPr>
          <p:cNvSpPr txBox="1"/>
          <p:nvPr/>
        </p:nvSpPr>
        <p:spPr>
          <a:xfrm>
            <a:off x="4090885" y="3261540"/>
            <a:ext cx="734496" cy="261610"/>
          </a:xfrm>
          <a:prstGeom prst="rect">
            <a:avLst/>
          </a:prstGeom>
          <a:solidFill>
            <a:srgbClr val="FFFF00"/>
          </a:solidFill>
          <a:ln>
            <a:solidFill>
              <a:srgbClr val="FFC000"/>
            </a:solidFill>
          </a:ln>
        </p:spPr>
        <p:txBody>
          <a:bodyPr wrap="none" rtlCol="0">
            <a:spAutoFit/>
          </a:bodyPr>
          <a:lstStyle/>
          <a:p>
            <a:r>
              <a:rPr lang="en-NL" sz="1100" dirty="0"/>
              <a:t>use = {y}</a:t>
            </a:r>
          </a:p>
        </p:txBody>
      </p:sp>
      <p:sp>
        <p:nvSpPr>
          <p:cNvPr id="62" name="TextBox 61">
            <a:extLst>
              <a:ext uri="{FF2B5EF4-FFF2-40B4-BE49-F238E27FC236}">
                <a16:creationId xmlns:a16="http://schemas.microsoft.com/office/drawing/2014/main" id="{62558FA1-5D8A-16B7-D271-0BD942D60B5A}"/>
              </a:ext>
            </a:extLst>
          </p:cNvPr>
          <p:cNvSpPr txBox="1"/>
          <p:nvPr/>
        </p:nvSpPr>
        <p:spPr>
          <a:xfrm>
            <a:off x="5780906" y="4100796"/>
            <a:ext cx="843501" cy="261610"/>
          </a:xfrm>
          <a:prstGeom prst="rect">
            <a:avLst/>
          </a:prstGeom>
          <a:solidFill>
            <a:srgbClr val="FFFF00"/>
          </a:solidFill>
          <a:ln>
            <a:solidFill>
              <a:srgbClr val="FFC000"/>
            </a:solidFill>
          </a:ln>
        </p:spPr>
        <p:txBody>
          <a:bodyPr wrap="none" rtlCol="0">
            <a:spAutoFit/>
          </a:bodyPr>
          <a:lstStyle/>
          <a:p>
            <a:r>
              <a:rPr lang="en-NL" sz="1100" dirty="0"/>
              <a:t>use = {x,y}</a:t>
            </a:r>
          </a:p>
        </p:txBody>
      </p:sp>
      <p:sp>
        <p:nvSpPr>
          <p:cNvPr id="63" name="TextBox 62">
            <a:extLst>
              <a:ext uri="{FF2B5EF4-FFF2-40B4-BE49-F238E27FC236}">
                <a16:creationId xmlns:a16="http://schemas.microsoft.com/office/drawing/2014/main" id="{769A36D8-1546-7FE8-0A13-C9F217C7F5AE}"/>
              </a:ext>
            </a:extLst>
          </p:cNvPr>
          <p:cNvSpPr txBox="1"/>
          <p:nvPr/>
        </p:nvSpPr>
        <p:spPr>
          <a:xfrm>
            <a:off x="7255010" y="4459835"/>
            <a:ext cx="1345240" cy="338554"/>
          </a:xfrm>
          <a:prstGeom prst="rect">
            <a:avLst/>
          </a:prstGeom>
          <a:solidFill>
            <a:srgbClr val="FFFF00"/>
          </a:solidFill>
          <a:ln>
            <a:solidFill>
              <a:srgbClr val="FFC000"/>
            </a:solidFill>
          </a:ln>
        </p:spPr>
        <p:txBody>
          <a:bodyPr wrap="none" rtlCol="0">
            <a:spAutoFit/>
          </a:bodyPr>
          <a:lstStyle/>
          <a:p>
            <a:r>
              <a:rPr lang="en-NL" sz="1600" dirty="0"/>
              <a:t>def = {retval}</a:t>
            </a:r>
          </a:p>
        </p:txBody>
      </p:sp>
    </p:spTree>
    <p:extLst>
      <p:ext uri="{BB962C8B-B14F-4D97-AF65-F5344CB8AC3E}">
        <p14:creationId xmlns:p14="http://schemas.microsoft.com/office/powerpoint/2010/main" val="60214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60" grpId="0" animBg="1"/>
      <p:bldP spid="61" grpId="0" animBg="1"/>
      <p:bldP spid="6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74638"/>
            <a:ext cx="8229600" cy="706437"/>
          </a:xfrm>
        </p:spPr>
        <p:txBody>
          <a:bodyPr/>
          <a:lstStyle/>
          <a:p>
            <a:r>
              <a:rPr lang="en-US"/>
              <a:t>Overview of subsumption relations</a:t>
            </a:r>
          </a:p>
        </p:txBody>
      </p:sp>
      <p:sp>
        <p:nvSpPr>
          <p:cNvPr id="10243" name="Content Placeholder 2"/>
          <p:cNvSpPr>
            <a:spLocks noGrp="1"/>
          </p:cNvSpPr>
          <p:nvPr>
            <p:ph idx="1"/>
          </p:nvPr>
        </p:nvSpPr>
        <p:spPr>
          <a:xfrm>
            <a:off x="250825" y="3861048"/>
            <a:ext cx="8642350" cy="2352675"/>
          </a:xfrm>
        </p:spPr>
        <p:txBody>
          <a:bodyPr/>
          <a:lstStyle/>
          <a:p>
            <a:r>
              <a:rPr lang="en-US" sz="2400" dirty="0"/>
              <a:t>PPC </a:t>
            </a:r>
            <a:r>
              <a:rPr lang="en-US" sz="2400" dirty="0">
                <a:sym typeface="Symbol" pitchFamily="18" charset="2"/>
              </a:rPr>
              <a:t> </a:t>
            </a:r>
            <a:r>
              <a:rPr lang="en-US" sz="2400" dirty="0"/>
              <a:t>ADUPC,  because every simple path is a </a:t>
            </a:r>
            <a:r>
              <a:rPr lang="en-US" sz="2400" dirty="0" err="1"/>
              <a:t>subpath</a:t>
            </a:r>
            <a:r>
              <a:rPr lang="en-US" sz="2400" dirty="0"/>
              <a:t> of some prime path. </a:t>
            </a:r>
          </a:p>
          <a:p>
            <a:r>
              <a:rPr lang="en-US" sz="2400" dirty="0"/>
              <a:t>AUC </a:t>
            </a:r>
            <a:r>
              <a:rPr lang="en-US" sz="2400" dirty="0">
                <a:sym typeface="Symbol" pitchFamily="18" charset="2"/>
              </a:rPr>
              <a:t> EC .... under the following a</a:t>
            </a:r>
            <a:r>
              <a:rPr lang="en-US" sz="2400" dirty="0"/>
              <a:t>ssumptions:</a:t>
            </a:r>
          </a:p>
          <a:p>
            <a:pPr lvl="1"/>
            <a:r>
              <a:rPr lang="en-US" sz="1800" dirty="0"/>
              <a:t>there is at least one </a:t>
            </a:r>
            <a:r>
              <a:rPr lang="en-US" sz="1800" dirty="0" err="1"/>
              <a:t>def</a:t>
            </a:r>
            <a:endParaRPr lang="en-US" sz="1800" dirty="0"/>
          </a:p>
          <a:p>
            <a:pPr lvl="1"/>
            <a:r>
              <a:rPr lang="en-US" sz="1800" dirty="0"/>
              <a:t>every </a:t>
            </a:r>
            <a:r>
              <a:rPr lang="en-US" sz="1800" dirty="0" err="1"/>
              <a:t>def</a:t>
            </a:r>
            <a:r>
              <a:rPr lang="en-US" sz="1800" dirty="0"/>
              <a:t> reaches at least one use.</a:t>
            </a:r>
          </a:p>
          <a:p>
            <a:pPr lvl="1"/>
            <a:r>
              <a:rPr lang="en-US" sz="1800" dirty="0"/>
              <a:t>every use (of </a:t>
            </a:r>
            <a:r>
              <a:rPr lang="en-US" sz="1800" i="1" dirty="0"/>
              <a:t>v</a:t>
            </a:r>
            <a:r>
              <a:rPr lang="en-US" sz="1800" dirty="0"/>
              <a:t>) is preceded by a def.</a:t>
            </a:r>
          </a:p>
          <a:p>
            <a:pPr lvl="1"/>
            <a:r>
              <a:rPr lang="en-US" sz="1800" dirty="0"/>
              <a:t>every edge uses a variable  (note: not the case in “if e then S” without else)</a:t>
            </a:r>
          </a:p>
        </p:txBody>
      </p:sp>
      <p:sp>
        <p:nvSpPr>
          <p:cNvPr id="4" name="Slide Number Placeholder 3"/>
          <p:cNvSpPr>
            <a:spLocks noGrp="1"/>
          </p:cNvSpPr>
          <p:nvPr>
            <p:ph type="sldNum" sz="quarter" idx="12"/>
          </p:nvPr>
        </p:nvSpPr>
        <p:spPr/>
        <p:txBody>
          <a:bodyPr/>
          <a:lstStyle/>
          <a:p>
            <a:pPr>
              <a:defRPr/>
            </a:pPr>
            <a:fld id="{0D80BE26-2A28-4976-9E28-1ED6562C580C}" type="slidenum">
              <a:rPr lang="en-US" smtClean="0"/>
              <a:pPr>
                <a:defRPr/>
              </a:pPr>
              <a:t>10</a:t>
            </a:fld>
            <a:endParaRPr lang="en-US" dirty="0"/>
          </a:p>
        </p:txBody>
      </p:sp>
      <p:sp>
        <p:nvSpPr>
          <p:cNvPr id="6" name="TextBox 5"/>
          <p:cNvSpPr txBox="1"/>
          <p:nvPr/>
        </p:nvSpPr>
        <p:spPr>
          <a:xfrm>
            <a:off x="3932238" y="1196975"/>
            <a:ext cx="2095500" cy="369888"/>
          </a:xfrm>
          <a:prstGeom prst="rect">
            <a:avLst/>
          </a:prstGeom>
          <a:solidFill>
            <a:srgbClr val="FFFF00"/>
          </a:solidFill>
          <a:ln>
            <a:solidFill>
              <a:schemeClr val="accent6">
                <a:lumMod val="75000"/>
              </a:schemeClr>
            </a:solidFill>
          </a:ln>
        </p:spPr>
        <p:txBody>
          <a:bodyPr wrap="none">
            <a:spAutoFit/>
          </a:bodyPr>
          <a:lstStyle/>
          <a:p>
            <a:pPr algn="ctr">
              <a:defRPr/>
            </a:pPr>
            <a:r>
              <a:rPr lang="en-US" i="1" dirty="0">
                <a:latin typeface="+mn-lt"/>
              </a:rPr>
              <a:t>complete path </a:t>
            </a:r>
            <a:r>
              <a:rPr lang="en-US" i="1" dirty="0" err="1">
                <a:latin typeface="+mn-lt"/>
              </a:rPr>
              <a:t>covrg</a:t>
            </a:r>
            <a:endParaRPr lang="en-US" i="1" dirty="0">
              <a:latin typeface="+mn-lt"/>
            </a:endParaRPr>
          </a:p>
        </p:txBody>
      </p:sp>
      <p:sp>
        <p:nvSpPr>
          <p:cNvPr id="7" name="TextBox 6"/>
          <p:cNvSpPr txBox="1"/>
          <p:nvPr/>
        </p:nvSpPr>
        <p:spPr>
          <a:xfrm>
            <a:off x="3989388" y="1768475"/>
            <a:ext cx="1981200" cy="369888"/>
          </a:xfrm>
          <a:prstGeom prst="rect">
            <a:avLst/>
          </a:prstGeom>
          <a:solidFill>
            <a:srgbClr val="FFFF00"/>
          </a:solidFill>
          <a:ln>
            <a:solidFill>
              <a:schemeClr val="accent6">
                <a:lumMod val="75000"/>
              </a:schemeClr>
            </a:solidFill>
          </a:ln>
        </p:spPr>
        <p:txBody>
          <a:bodyPr wrap="none">
            <a:spAutoFit/>
          </a:bodyPr>
          <a:lstStyle/>
          <a:p>
            <a:pPr algn="ctr">
              <a:defRPr/>
            </a:pPr>
            <a:r>
              <a:rPr lang="en-US" i="1" dirty="0">
                <a:latin typeface="+mn-lt"/>
              </a:rPr>
              <a:t>prime path </a:t>
            </a:r>
            <a:r>
              <a:rPr lang="en-US" i="1" dirty="0" err="1">
                <a:latin typeface="+mn-lt"/>
              </a:rPr>
              <a:t>covrg</a:t>
            </a:r>
            <a:endParaRPr lang="en-US" i="1" dirty="0">
              <a:latin typeface="+mn-lt"/>
            </a:endParaRPr>
          </a:p>
        </p:txBody>
      </p:sp>
      <p:sp>
        <p:nvSpPr>
          <p:cNvPr id="8" name="TextBox 7"/>
          <p:cNvSpPr txBox="1"/>
          <p:nvPr/>
        </p:nvSpPr>
        <p:spPr>
          <a:xfrm>
            <a:off x="4060825" y="2339975"/>
            <a:ext cx="1800225" cy="369888"/>
          </a:xfrm>
          <a:prstGeom prst="rect">
            <a:avLst/>
          </a:prstGeom>
          <a:solidFill>
            <a:srgbClr val="FFFF00"/>
          </a:solidFill>
          <a:ln>
            <a:solidFill>
              <a:schemeClr val="accent6">
                <a:lumMod val="75000"/>
              </a:schemeClr>
            </a:solidFill>
          </a:ln>
        </p:spPr>
        <p:txBody>
          <a:bodyPr wrap="none">
            <a:spAutoFit/>
          </a:bodyPr>
          <a:lstStyle/>
          <a:p>
            <a:pPr algn="ctr">
              <a:defRPr/>
            </a:pPr>
            <a:r>
              <a:rPr lang="en-US" i="1" dirty="0">
                <a:latin typeface="+mn-lt"/>
              </a:rPr>
              <a:t>edge-pair </a:t>
            </a:r>
            <a:r>
              <a:rPr lang="en-US" i="1" dirty="0" err="1">
                <a:latin typeface="+mn-lt"/>
              </a:rPr>
              <a:t>covrg</a:t>
            </a:r>
            <a:endParaRPr lang="en-US" i="1" dirty="0">
              <a:latin typeface="+mn-lt"/>
            </a:endParaRPr>
          </a:p>
        </p:txBody>
      </p:sp>
      <p:sp>
        <p:nvSpPr>
          <p:cNvPr id="9" name="TextBox 8"/>
          <p:cNvSpPr txBox="1"/>
          <p:nvPr/>
        </p:nvSpPr>
        <p:spPr>
          <a:xfrm>
            <a:off x="4354513" y="2911475"/>
            <a:ext cx="1187450" cy="369888"/>
          </a:xfrm>
          <a:prstGeom prst="rect">
            <a:avLst/>
          </a:prstGeom>
          <a:solidFill>
            <a:srgbClr val="FFFF00"/>
          </a:solidFill>
          <a:ln>
            <a:solidFill>
              <a:schemeClr val="accent6">
                <a:lumMod val="75000"/>
              </a:schemeClr>
            </a:solidFill>
          </a:ln>
        </p:spPr>
        <p:txBody>
          <a:bodyPr wrap="none">
            <a:spAutoFit/>
          </a:bodyPr>
          <a:lstStyle/>
          <a:p>
            <a:pPr algn="ctr">
              <a:defRPr/>
            </a:pPr>
            <a:r>
              <a:rPr lang="en-US" i="1" dirty="0">
                <a:latin typeface="+mn-lt"/>
              </a:rPr>
              <a:t>edge </a:t>
            </a:r>
            <a:r>
              <a:rPr lang="en-US" i="1" dirty="0" err="1">
                <a:latin typeface="+mn-lt"/>
              </a:rPr>
              <a:t>covrg</a:t>
            </a:r>
            <a:endParaRPr lang="en-US" i="1" dirty="0">
              <a:latin typeface="+mn-lt"/>
            </a:endParaRPr>
          </a:p>
        </p:txBody>
      </p:sp>
      <p:sp>
        <p:nvSpPr>
          <p:cNvPr id="10" name="TextBox 9"/>
          <p:cNvSpPr txBox="1"/>
          <p:nvPr/>
        </p:nvSpPr>
        <p:spPr>
          <a:xfrm>
            <a:off x="4346575" y="3482975"/>
            <a:ext cx="1189038" cy="369888"/>
          </a:xfrm>
          <a:prstGeom prst="rect">
            <a:avLst/>
          </a:prstGeom>
          <a:solidFill>
            <a:srgbClr val="FFFF00"/>
          </a:solidFill>
          <a:ln>
            <a:solidFill>
              <a:schemeClr val="accent6">
                <a:lumMod val="75000"/>
              </a:schemeClr>
            </a:solidFill>
          </a:ln>
        </p:spPr>
        <p:txBody>
          <a:bodyPr wrap="none">
            <a:spAutoFit/>
          </a:bodyPr>
          <a:lstStyle/>
          <a:p>
            <a:pPr algn="ctr">
              <a:defRPr/>
            </a:pPr>
            <a:r>
              <a:rPr lang="en-US" i="1" dirty="0">
                <a:latin typeface="+mn-lt"/>
              </a:rPr>
              <a:t>node </a:t>
            </a:r>
            <a:r>
              <a:rPr lang="en-US" i="1" dirty="0" err="1">
                <a:latin typeface="+mn-lt"/>
              </a:rPr>
              <a:t>covrg</a:t>
            </a:r>
            <a:endParaRPr lang="en-US" i="1" dirty="0">
              <a:latin typeface="+mn-lt"/>
            </a:endParaRPr>
          </a:p>
        </p:txBody>
      </p:sp>
      <p:sp>
        <p:nvSpPr>
          <p:cNvPr id="11" name="TextBox 10"/>
          <p:cNvSpPr txBox="1"/>
          <p:nvPr/>
        </p:nvSpPr>
        <p:spPr>
          <a:xfrm>
            <a:off x="2786063" y="1982788"/>
            <a:ext cx="846137" cy="369887"/>
          </a:xfrm>
          <a:prstGeom prst="rect">
            <a:avLst/>
          </a:prstGeom>
          <a:solidFill>
            <a:schemeClr val="accent6">
              <a:lumMod val="20000"/>
              <a:lumOff val="80000"/>
            </a:schemeClr>
          </a:solidFill>
          <a:ln>
            <a:solidFill>
              <a:schemeClr val="accent6">
                <a:lumMod val="75000"/>
              </a:schemeClr>
            </a:solidFill>
          </a:ln>
        </p:spPr>
        <p:txBody>
          <a:bodyPr wrap="none">
            <a:spAutoFit/>
          </a:bodyPr>
          <a:lstStyle/>
          <a:p>
            <a:pPr algn="ctr">
              <a:defRPr/>
            </a:pPr>
            <a:r>
              <a:rPr lang="en-US" i="1" dirty="0">
                <a:latin typeface="+mn-lt"/>
              </a:rPr>
              <a:t>ADUPC</a:t>
            </a:r>
          </a:p>
        </p:txBody>
      </p:sp>
      <p:sp>
        <p:nvSpPr>
          <p:cNvPr id="12" name="TextBox 11"/>
          <p:cNvSpPr txBox="1"/>
          <p:nvPr/>
        </p:nvSpPr>
        <p:spPr>
          <a:xfrm>
            <a:off x="2921000" y="2554288"/>
            <a:ext cx="579438" cy="369887"/>
          </a:xfrm>
          <a:prstGeom prst="rect">
            <a:avLst/>
          </a:prstGeom>
          <a:solidFill>
            <a:schemeClr val="accent6">
              <a:lumMod val="20000"/>
              <a:lumOff val="80000"/>
            </a:schemeClr>
          </a:solidFill>
          <a:ln>
            <a:solidFill>
              <a:schemeClr val="accent6">
                <a:lumMod val="75000"/>
              </a:schemeClr>
            </a:solidFill>
          </a:ln>
        </p:spPr>
        <p:txBody>
          <a:bodyPr wrap="none">
            <a:spAutoFit/>
          </a:bodyPr>
          <a:lstStyle/>
          <a:p>
            <a:pPr algn="ctr">
              <a:defRPr/>
            </a:pPr>
            <a:r>
              <a:rPr lang="en-US" i="1" dirty="0">
                <a:latin typeface="+mn-lt"/>
              </a:rPr>
              <a:t>AUC</a:t>
            </a:r>
          </a:p>
        </p:txBody>
      </p:sp>
      <p:sp>
        <p:nvSpPr>
          <p:cNvPr id="13" name="TextBox 12"/>
          <p:cNvSpPr txBox="1"/>
          <p:nvPr/>
        </p:nvSpPr>
        <p:spPr>
          <a:xfrm>
            <a:off x="2928938" y="3125788"/>
            <a:ext cx="581025" cy="369887"/>
          </a:xfrm>
          <a:prstGeom prst="rect">
            <a:avLst/>
          </a:prstGeom>
          <a:solidFill>
            <a:schemeClr val="accent6">
              <a:lumMod val="20000"/>
              <a:lumOff val="80000"/>
            </a:schemeClr>
          </a:solidFill>
          <a:ln>
            <a:solidFill>
              <a:schemeClr val="accent6">
                <a:lumMod val="75000"/>
              </a:schemeClr>
            </a:solidFill>
          </a:ln>
        </p:spPr>
        <p:txBody>
          <a:bodyPr wrap="none">
            <a:spAutoFit/>
          </a:bodyPr>
          <a:lstStyle/>
          <a:p>
            <a:pPr algn="ctr">
              <a:defRPr/>
            </a:pPr>
            <a:r>
              <a:rPr lang="en-US" i="1" dirty="0">
                <a:latin typeface="+mn-lt"/>
              </a:rPr>
              <a:t>ADC</a:t>
            </a:r>
          </a:p>
        </p:txBody>
      </p:sp>
      <p:cxnSp>
        <p:nvCxnSpPr>
          <p:cNvPr id="15" name="Straight Arrow Connector 14"/>
          <p:cNvCxnSpPr>
            <a:stCxn id="6" idx="2"/>
            <a:endCxn id="7" idx="0"/>
          </p:cNvCxnSpPr>
          <p:nvPr/>
        </p:nvCxnSpPr>
        <p:spPr>
          <a:xfrm flipH="1">
            <a:off x="4979988" y="1566863"/>
            <a:ext cx="0" cy="2016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2"/>
            <a:endCxn id="8" idx="0"/>
          </p:cNvCxnSpPr>
          <p:nvPr/>
        </p:nvCxnSpPr>
        <p:spPr>
          <a:xfrm rot="5400000">
            <a:off x="4869657" y="2229644"/>
            <a:ext cx="201612"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2"/>
            <a:endCxn id="9" idx="0"/>
          </p:cNvCxnSpPr>
          <p:nvPr/>
        </p:nvCxnSpPr>
        <p:spPr>
          <a:xfrm rot="5400000">
            <a:off x="4853782" y="2804319"/>
            <a:ext cx="201612"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9" idx="2"/>
            <a:endCxn id="10" idx="0"/>
          </p:cNvCxnSpPr>
          <p:nvPr/>
        </p:nvCxnSpPr>
        <p:spPr>
          <a:xfrm rot="5400000">
            <a:off x="4844257" y="3378994"/>
            <a:ext cx="201612" cy="63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1"/>
            <a:endCxn id="11" idx="3"/>
          </p:cNvCxnSpPr>
          <p:nvPr/>
        </p:nvCxnSpPr>
        <p:spPr>
          <a:xfrm rot="10800000" flipV="1">
            <a:off x="3632200" y="1952625"/>
            <a:ext cx="357188" cy="2143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1" idx="2"/>
            <a:endCxn id="12" idx="0"/>
          </p:cNvCxnSpPr>
          <p:nvPr/>
        </p:nvCxnSpPr>
        <p:spPr>
          <a:xfrm rot="16200000" flipH="1">
            <a:off x="3109912" y="2452688"/>
            <a:ext cx="20161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2" idx="2"/>
            <a:endCxn id="13" idx="0"/>
          </p:cNvCxnSpPr>
          <p:nvPr/>
        </p:nvCxnSpPr>
        <p:spPr>
          <a:xfrm rot="16200000" flipH="1">
            <a:off x="3114675" y="3021013"/>
            <a:ext cx="201613" cy="7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3"/>
            <a:endCxn id="9" idx="1"/>
          </p:cNvCxnSpPr>
          <p:nvPr/>
        </p:nvCxnSpPr>
        <p:spPr>
          <a:xfrm>
            <a:off x="3500438" y="2738438"/>
            <a:ext cx="854075" cy="357187"/>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Summary</a:t>
            </a:r>
          </a:p>
        </p:txBody>
      </p:sp>
      <p:sp>
        <p:nvSpPr>
          <p:cNvPr id="11267" name="Content Placeholder 2"/>
          <p:cNvSpPr>
            <a:spLocks noGrp="1"/>
          </p:cNvSpPr>
          <p:nvPr>
            <p:ph idx="1"/>
          </p:nvPr>
        </p:nvSpPr>
        <p:spPr>
          <a:xfrm>
            <a:off x="500063" y="1700213"/>
            <a:ext cx="8229600" cy="4586287"/>
          </a:xfrm>
        </p:spPr>
        <p:txBody>
          <a:bodyPr/>
          <a:lstStyle/>
          <a:p>
            <a:r>
              <a:rPr lang="en-US" sz="2800" dirty="0"/>
              <a:t>We learned another set of white-box test-coverage criteria, namely data-flow based coverage.</a:t>
            </a:r>
          </a:p>
          <a:p>
            <a:endParaRPr lang="en-US" sz="2800" dirty="0"/>
          </a:p>
          <a:p>
            <a:r>
              <a:rPr lang="en-US" sz="2800" dirty="0"/>
              <a:t>An alternative to prime-path-based testing, if the latter becomes too expensive, while being more aware of the semantic of the program under test.</a:t>
            </a:r>
          </a:p>
          <a:p>
            <a:endParaRPr lang="en-US" sz="2800" dirty="0"/>
          </a:p>
          <a:p>
            <a:pPr lvl="1"/>
            <a:endParaRPr lang="en-US" dirty="0"/>
          </a:p>
          <a:p>
            <a:pPr lvl="1"/>
            <a:endParaRPr lang="en-US" sz="2400" dirty="0"/>
          </a:p>
        </p:txBody>
      </p:sp>
      <p:sp>
        <p:nvSpPr>
          <p:cNvPr id="4" name="Slide Number Placeholder 3"/>
          <p:cNvSpPr>
            <a:spLocks noGrp="1"/>
          </p:cNvSpPr>
          <p:nvPr>
            <p:ph type="sldNum" sz="quarter" idx="12"/>
          </p:nvPr>
        </p:nvSpPr>
        <p:spPr/>
        <p:txBody>
          <a:bodyPr/>
          <a:lstStyle/>
          <a:p>
            <a:pPr>
              <a:defRPr/>
            </a:pPr>
            <a:fld id="{CD8D0775-E41B-4604-A259-2345CCAE8B5D}"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Integration Test</a:t>
            </a:r>
          </a:p>
        </p:txBody>
      </p:sp>
      <p:sp>
        <p:nvSpPr>
          <p:cNvPr id="12291" name="Content Placeholder 2"/>
          <p:cNvSpPr>
            <a:spLocks noGrp="1"/>
          </p:cNvSpPr>
          <p:nvPr>
            <p:ph idx="1"/>
          </p:nvPr>
        </p:nvSpPr>
        <p:spPr>
          <a:xfrm>
            <a:off x="357188" y="1600200"/>
            <a:ext cx="8429625" cy="4525963"/>
          </a:xfrm>
        </p:spPr>
        <p:txBody>
          <a:bodyPr/>
          <a:lstStyle/>
          <a:p>
            <a:r>
              <a:rPr lang="en-US" sz="2800" dirty="0"/>
              <a:t>Integration test: to test if a composition of program units  works correctly.</a:t>
            </a:r>
          </a:p>
          <a:p>
            <a:r>
              <a:rPr lang="en-US" sz="2800" dirty="0"/>
              <a:t>“Hidden” in Section 2.4 (2</a:t>
            </a:r>
            <a:r>
              <a:rPr lang="en-US" sz="2800" baseline="30000" dirty="0"/>
              <a:t>nd</a:t>
            </a:r>
            <a:r>
              <a:rPr lang="en-US" sz="2800" dirty="0"/>
              <a:t> Ed. 7.4) about using design elements (e.g. your UML models) as your coverage criterion. 2.4.1 (2</a:t>
            </a:r>
            <a:r>
              <a:rPr lang="en-US" sz="2800" baseline="30000" dirty="0"/>
              <a:t>nd</a:t>
            </a:r>
            <a:r>
              <a:rPr lang="en-US" sz="2800" dirty="0"/>
              <a:t> Ed. 7.4 p146) says: </a:t>
            </a:r>
            <a:r>
              <a:rPr lang="en-US" sz="2800" i="1" dirty="0"/>
              <a:t>“testing software based on design elements is usually associated with integration testing”.</a:t>
            </a:r>
          </a:p>
          <a:p>
            <a:r>
              <a:rPr lang="en-US" sz="2800" dirty="0"/>
              <a:t>2.4.2 (2</a:t>
            </a:r>
            <a:r>
              <a:rPr lang="en-US" sz="2800" baseline="30000" dirty="0"/>
              <a:t>nd</a:t>
            </a:r>
            <a:r>
              <a:rPr lang="en-US" sz="2800" dirty="0"/>
              <a:t> Ed. 7.4.2) is actually more about integration testing rather than design-element-based testing.</a:t>
            </a:r>
          </a:p>
          <a:p>
            <a:endParaRPr lang="en-US" sz="2800" dirty="0"/>
          </a:p>
        </p:txBody>
      </p:sp>
      <p:sp>
        <p:nvSpPr>
          <p:cNvPr id="4" name="Slide Number Placeholder 3"/>
          <p:cNvSpPr>
            <a:spLocks noGrp="1"/>
          </p:cNvSpPr>
          <p:nvPr>
            <p:ph type="sldNum" sz="quarter" idx="12"/>
          </p:nvPr>
        </p:nvSpPr>
        <p:spPr/>
        <p:txBody>
          <a:bodyPr/>
          <a:lstStyle/>
          <a:p>
            <a:pPr>
              <a:defRPr/>
            </a:pPr>
            <a:fld id="{A7491791-3350-4F0D-BC7A-42C33D8CA723}"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Integration Test, example</a:t>
            </a:r>
          </a:p>
        </p:txBody>
      </p:sp>
      <p:sp>
        <p:nvSpPr>
          <p:cNvPr id="4" name="Slide Number Placeholder 3"/>
          <p:cNvSpPr>
            <a:spLocks noGrp="1"/>
          </p:cNvSpPr>
          <p:nvPr>
            <p:ph type="sldNum" sz="quarter" idx="12"/>
          </p:nvPr>
        </p:nvSpPr>
        <p:spPr/>
        <p:txBody>
          <a:bodyPr/>
          <a:lstStyle/>
          <a:p>
            <a:pPr>
              <a:defRPr/>
            </a:pPr>
            <a:fld id="{F51486F7-ACCF-4DB7-BBF3-9BC4B709FB28}" type="slidenum">
              <a:rPr lang="en-US" smtClean="0"/>
              <a:pPr>
                <a:defRPr/>
              </a:pPr>
              <a:t>13</a:t>
            </a:fld>
            <a:endParaRPr lang="en-US"/>
          </a:p>
        </p:txBody>
      </p:sp>
      <p:sp>
        <p:nvSpPr>
          <p:cNvPr id="5" name="Rectangle 4"/>
          <p:cNvSpPr/>
          <p:nvPr/>
        </p:nvSpPr>
        <p:spPr>
          <a:xfrm>
            <a:off x="3779912" y="1866584"/>
            <a:ext cx="1296144" cy="936104"/>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 A</a:t>
            </a:r>
          </a:p>
        </p:txBody>
      </p:sp>
      <p:sp>
        <p:nvSpPr>
          <p:cNvPr id="6" name="Rectangle 5"/>
          <p:cNvSpPr/>
          <p:nvPr/>
        </p:nvSpPr>
        <p:spPr>
          <a:xfrm>
            <a:off x="5580112" y="1866584"/>
            <a:ext cx="1296144" cy="936104"/>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p:txBody>
      </p:sp>
      <p:cxnSp>
        <p:nvCxnSpPr>
          <p:cNvPr id="8" name="Straight Arrow Connector 7"/>
          <p:cNvCxnSpPr>
            <a:stCxn id="5" idx="3"/>
            <a:endCxn id="6" idx="1"/>
          </p:cNvCxnSpPr>
          <p:nvPr/>
        </p:nvCxnSpPr>
        <p:spPr>
          <a:xfrm>
            <a:off x="5076056" y="2334636"/>
            <a:ext cx="504056" cy="0"/>
          </a:xfrm>
          <a:prstGeom prst="straightConnector1">
            <a:avLst/>
          </a:prstGeom>
          <a:ln w="28575">
            <a:solidFill>
              <a:schemeClr val="accent6">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758208" y="3099885"/>
            <a:ext cx="1296144" cy="936104"/>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 A</a:t>
            </a:r>
          </a:p>
        </p:txBody>
      </p:sp>
      <p:sp>
        <p:nvSpPr>
          <p:cNvPr id="11" name="Rectangle 10"/>
          <p:cNvSpPr/>
          <p:nvPr/>
        </p:nvSpPr>
        <p:spPr>
          <a:xfrm>
            <a:off x="5580112" y="3099036"/>
            <a:ext cx="720080" cy="9361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Mock Server</a:t>
            </a:r>
          </a:p>
        </p:txBody>
      </p:sp>
      <p:cxnSp>
        <p:nvCxnSpPr>
          <p:cNvPr id="12" name="Straight Arrow Connector 11"/>
          <p:cNvCxnSpPr>
            <a:stCxn id="10" idx="3"/>
            <a:endCxn id="11" idx="1"/>
          </p:cNvCxnSpPr>
          <p:nvPr/>
        </p:nvCxnSpPr>
        <p:spPr>
          <a:xfrm flipV="1">
            <a:off x="5054352" y="3567088"/>
            <a:ext cx="525760" cy="849"/>
          </a:xfrm>
          <a:prstGeom prst="straightConnector1">
            <a:avLst/>
          </a:prstGeom>
          <a:ln w="28575">
            <a:solidFill>
              <a:schemeClr val="accent6">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3758208" y="4391167"/>
            <a:ext cx="1296144" cy="936104"/>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Class A</a:t>
            </a:r>
          </a:p>
        </p:txBody>
      </p:sp>
      <p:sp>
        <p:nvSpPr>
          <p:cNvPr id="16" name="Rectangle 15"/>
          <p:cNvSpPr/>
          <p:nvPr/>
        </p:nvSpPr>
        <p:spPr>
          <a:xfrm>
            <a:off x="5558408" y="4391167"/>
            <a:ext cx="1296144" cy="936104"/>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Actual</a:t>
            </a:r>
          </a:p>
          <a:p>
            <a:pPr algn="ctr"/>
            <a:r>
              <a:rPr lang="en-US" dirty="0">
                <a:solidFill>
                  <a:schemeClr val="tx1"/>
                </a:solidFill>
              </a:rPr>
              <a:t>Server</a:t>
            </a:r>
          </a:p>
        </p:txBody>
      </p:sp>
      <p:cxnSp>
        <p:nvCxnSpPr>
          <p:cNvPr id="17" name="Straight Arrow Connector 16"/>
          <p:cNvCxnSpPr/>
          <p:nvPr/>
        </p:nvCxnSpPr>
        <p:spPr>
          <a:xfrm>
            <a:off x="5054352" y="4859219"/>
            <a:ext cx="504056" cy="0"/>
          </a:xfrm>
          <a:prstGeom prst="straightConnector1">
            <a:avLst/>
          </a:prstGeom>
          <a:ln w="28575">
            <a:solidFill>
              <a:schemeClr val="accent6">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462659" y="2149970"/>
            <a:ext cx="966931" cy="369332"/>
          </a:xfrm>
          <a:prstGeom prst="rect">
            <a:avLst/>
          </a:prstGeom>
          <a:noFill/>
        </p:spPr>
        <p:txBody>
          <a:bodyPr wrap="none" rtlCol="0">
            <a:spAutoFit/>
          </a:bodyPr>
          <a:lstStyle/>
          <a:p>
            <a:pPr algn="r"/>
            <a:r>
              <a:rPr lang="en-US"/>
              <a:t>Design:</a:t>
            </a:r>
          </a:p>
        </p:txBody>
      </p:sp>
      <p:sp>
        <p:nvSpPr>
          <p:cNvPr id="19" name="TextBox 18"/>
          <p:cNvSpPr txBox="1"/>
          <p:nvPr/>
        </p:nvSpPr>
        <p:spPr>
          <a:xfrm>
            <a:off x="1835696" y="3243922"/>
            <a:ext cx="1593894" cy="646331"/>
          </a:xfrm>
          <a:prstGeom prst="rect">
            <a:avLst/>
          </a:prstGeom>
          <a:noFill/>
        </p:spPr>
        <p:txBody>
          <a:bodyPr wrap="square" rtlCol="0">
            <a:spAutoFit/>
          </a:bodyPr>
          <a:lstStyle/>
          <a:p>
            <a:pPr algn="r"/>
            <a:r>
              <a:rPr lang="en-US" dirty="0"/>
              <a:t>During </a:t>
            </a:r>
            <a:r>
              <a:rPr lang="en-US"/>
              <a:t>unit test of A :</a:t>
            </a:r>
            <a:endParaRPr lang="en-US" dirty="0"/>
          </a:p>
        </p:txBody>
      </p:sp>
      <p:sp>
        <p:nvSpPr>
          <p:cNvPr id="20" name="TextBox 19"/>
          <p:cNvSpPr txBox="1"/>
          <p:nvPr/>
        </p:nvSpPr>
        <p:spPr>
          <a:xfrm>
            <a:off x="1480238" y="4568872"/>
            <a:ext cx="2025942" cy="646331"/>
          </a:xfrm>
          <a:prstGeom prst="rect">
            <a:avLst/>
          </a:prstGeom>
          <a:noFill/>
        </p:spPr>
        <p:txBody>
          <a:bodyPr wrap="square" rtlCol="0">
            <a:spAutoFit/>
          </a:bodyPr>
          <a:lstStyle/>
          <a:p>
            <a:pPr algn="r"/>
            <a:r>
              <a:rPr lang="en-US"/>
              <a:t>During integration test </a:t>
            </a:r>
            <a:r>
              <a:rPr lang="en-US" dirty="0"/>
              <a:t>of A :</a:t>
            </a:r>
          </a:p>
        </p:txBody>
      </p:sp>
      <p:sp>
        <p:nvSpPr>
          <p:cNvPr id="21" name="TextBox 20"/>
          <p:cNvSpPr txBox="1"/>
          <p:nvPr/>
        </p:nvSpPr>
        <p:spPr>
          <a:xfrm>
            <a:off x="827584" y="5478323"/>
            <a:ext cx="7704857" cy="830997"/>
          </a:xfrm>
          <a:prstGeom prst="rect">
            <a:avLst/>
          </a:prstGeom>
          <a:noFill/>
        </p:spPr>
        <p:txBody>
          <a:bodyPr wrap="square" rtlCol="0">
            <a:spAutoFit/>
          </a:bodyPr>
          <a:lstStyle/>
          <a:p>
            <a:pPr algn="ctr"/>
            <a:r>
              <a:rPr lang="en-US" sz="1600" dirty="0"/>
              <a:t>We can test the integration between A and the Server by re-running the unit test of A, but replacing the mock server with a real server. Question: what should we use to determine the adequacy of this test?</a:t>
            </a:r>
          </a:p>
        </p:txBody>
      </p:sp>
    </p:spTree>
    <p:extLst>
      <p:ext uri="{BB962C8B-B14F-4D97-AF65-F5344CB8AC3E}">
        <p14:creationId xmlns:p14="http://schemas.microsoft.com/office/powerpoint/2010/main" val="202047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A05DE08E-357A-5547-93CE-C818F6A2D2EA}"/>
              </a:ext>
            </a:extLst>
          </p:cNvPr>
          <p:cNvSpPr/>
          <p:nvPr/>
        </p:nvSpPr>
        <p:spPr>
          <a:xfrm>
            <a:off x="712653" y="1623629"/>
            <a:ext cx="4547676" cy="1499012"/>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0" name="Title 1"/>
          <p:cNvSpPr>
            <a:spLocks noGrp="1"/>
          </p:cNvSpPr>
          <p:nvPr>
            <p:ph type="title"/>
          </p:nvPr>
        </p:nvSpPr>
        <p:spPr>
          <a:solidFill>
            <a:schemeClr val="bg1"/>
          </a:solidFill>
        </p:spPr>
        <p:txBody>
          <a:bodyPr/>
          <a:lstStyle/>
          <a:p>
            <a:r>
              <a:rPr lang="en-US" sz="4000" dirty="0"/>
              <a:t>Data flow approach to Integration Test (2.4.2/2</a:t>
            </a:r>
            <a:r>
              <a:rPr lang="en-US" sz="4000" baseline="30000" dirty="0"/>
              <a:t>nd</a:t>
            </a:r>
            <a:r>
              <a:rPr lang="en-US" sz="4000" dirty="0"/>
              <a:t> Ed. 7.4.2)</a:t>
            </a:r>
          </a:p>
        </p:txBody>
      </p:sp>
      <p:sp>
        <p:nvSpPr>
          <p:cNvPr id="14341" name="Content Placeholder 2"/>
          <p:cNvSpPr>
            <a:spLocks noGrp="1"/>
          </p:cNvSpPr>
          <p:nvPr>
            <p:ph idx="1"/>
          </p:nvPr>
        </p:nvSpPr>
        <p:spPr>
          <a:xfrm>
            <a:off x="250825" y="3427153"/>
            <a:ext cx="8435975" cy="3214687"/>
          </a:xfrm>
        </p:spPr>
        <p:txBody>
          <a:bodyPr/>
          <a:lstStyle/>
          <a:p>
            <a:r>
              <a:rPr lang="en-US" sz="2400" dirty="0"/>
              <a:t>Imagine a method </a:t>
            </a:r>
            <a:r>
              <a:rPr lang="en-US" sz="2400" i="1" dirty="0"/>
              <a:t>f</a:t>
            </a:r>
            <a:r>
              <a:rPr lang="en-US" sz="2400" dirty="0"/>
              <a:t> from module </a:t>
            </a:r>
            <a:r>
              <a:rPr lang="en-US" sz="2400" i="1" dirty="0"/>
              <a:t>A</a:t>
            </a:r>
            <a:r>
              <a:rPr lang="en-US" sz="2400" dirty="0"/>
              <a:t> uses a method/API </a:t>
            </a:r>
            <a:r>
              <a:rPr lang="en-US" sz="2400" i="1" dirty="0"/>
              <a:t>g</a:t>
            </a:r>
            <a:r>
              <a:rPr lang="en-US" sz="2400" dirty="0"/>
              <a:t> from module B. How to test such a composition?</a:t>
            </a:r>
          </a:p>
          <a:p>
            <a:r>
              <a:rPr lang="en-US" sz="2400" dirty="0"/>
              <a:t>Idea 1: cover all edges </a:t>
            </a:r>
            <a:r>
              <a:rPr lang="en-US" sz="2400" dirty="0">
                <a:sym typeface="Wingdings" pitchFamily="2" charset="2"/>
              </a:rPr>
              <a:t> does not capture “integration”.</a:t>
            </a:r>
            <a:endParaRPr lang="en-US" sz="2400" dirty="0"/>
          </a:p>
          <a:p>
            <a:r>
              <a:rPr lang="en-US" sz="2400" dirty="0"/>
              <a:t>Idea 2: cover all prime paths in the combined CFG of both </a:t>
            </a:r>
            <a:r>
              <a:rPr lang="en-US" sz="2400" dirty="0">
                <a:sym typeface="Wingdings" pitchFamily="2" charset="2"/>
              </a:rPr>
              <a:t> </a:t>
            </a:r>
            <a:r>
              <a:rPr lang="en-US" sz="2400" dirty="0"/>
              <a:t>blows up. </a:t>
            </a:r>
          </a:p>
          <a:p>
            <a:r>
              <a:rPr lang="en-US" sz="2400" dirty="0"/>
              <a:t>Idea 3: focus on the flow of the “coupling data” around the call point.</a:t>
            </a:r>
          </a:p>
        </p:txBody>
      </p:sp>
      <p:sp>
        <p:nvSpPr>
          <p:cNvPr id="4" name="Slide Number Placeholder 3"/>
          <p:cNvSpPr>
            <a:spLocks noGrp="1"/>
          </p:cNvSpPr>
          <p:nvPr>
            <p:ph type="sldNum" sz="quarter" idx="12"/>
          </p:nvPr>
        </p:nvSpPr>
        <p:spPr/>
        <p:txBody>
          <a:bodyPr/>
          <a:lstStyle/>
          <a:p>
            <a:pPr>
              <a:defRPr/>
            </a:pPr>
            <a:fld id="{417AE398-CB40-4F18-BB19-156046463C9C}" type="slidenum">
              <a:rPr lang="en-US" smtClean="0"/>
              <a:pPr>
                <a:defRPr/>
              </a:pPr>
              <a:t>14</a:t>
            </a:fld>
            <a:endParaRPr lang="en-US"/>
          </a:p>
        </p:txBody>
      </p:sp>
      <p:sp>
        <p:nvSpPr>
          <p:cNvPr id="5" name="TextBox 4"/>
          <p:cNvSpPr txBox="1"/>
          <p:nvPr/>
        </p:nvSpPr>
        <p:spPr>
          <a:xfrm>
            <a:off x="2019968" y="2469514"/>
            <a:ext cx="2990850" cy="461963"/>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400" dirty="0">
                <a:latin typeface="+mn-lt"/>
              </a:rPr>
              <a:t>f (a)  {   ...  g(e) ...         }</a:t>
            </a:r>
          </a:p>
        </p:txBody>
      </p:sp>
      <p:sp>
        <p:nvSpPr>
          <p:cNvPr id="7" name="TextBox 6"/>
          <p:cNvSpPr txBox="1"/>
          <p:nvPr/>
        </p:nvSpPr>
        <p:spPr>
          <a:xfrm>
            <a:off x="6318133" y="2061160"/>
            <a:ext cx="1277937" cy="461962"/>
          </a:xfrm>
          <a:prstGeom prst="rect">
            <a:avLst/>
          </a:prstGeom>
          <a:solidFill>
            <a:schemeClr val="accent5">
              <a:lumMod val="20000"/>
              <a:lumOff val="80000"/>
            </a:schemeClr>
          </a:solidFill>
          <a:ln>
            <a:solidFill>
              <a:schemeClr val="tx1"/>
            </a:solidFill>
          </a:ln>
        </p:spPr>
        <p:txBody>
          <a:bodyPr wrap="none">
            <a:spAutoFit/>
          </a:bodyPr>
          <a:lstStyle/>
          <a:p>
            <a:pPr>
              <a:defRPr/>
            </a:pPr>
            <a:r>
              <a:rPr lang="en-US" sz="2400" dirty="0">
                <a:latin typeface="+mn-lt"/>
              </a:rPr>
              <a:t>g(x) { ... }</a:t>
            </a:r>
          </a:p>
        </p:txBody>
      </p:sp>
      <p:cxnSp>
        <p:nvCxnSpPr>
          <p:cNvPr id="9" name="Curved Connector 8"/>
          <p:cNvCxnSpPr>
            <a:cxnSpLocks/>
            <a:stCxn id="5" idx="3"/>
            <a:endCxn id="7" idx="1"/>
          </p:cNvCxnSpPr>
          <p:nvPr/>
        </p:nvCxnSpPr>
        <p:spPr>
          <a:xfrm flipV="1">
            <a:off x="5010818" y="2292141"/>
            <a:ext cx="1307315" cy="408355"/>
          </a:xfrm>
          <a:prstGeom prst="curvedConnector3">
            <a:avLst>
              <a:gd name="adj1" fmla="val 50000"/>
            </a:avLst>
          </a:prstGeom>
          <a:ln>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766076" y="1590030"/>
            <a:ext cx="1582484" cy="523220"/>
          </a:xfrm>
          <a:prstGeom prst="rect">
            <a:avLst/>
          </a:prstGeom>
          <a:noFill/>
        </p:spPr>
        <p:txBody>
          <a:bodyPr wrap="none">
            <a:spAutoFit/>
          </a:bodyPr>
          <a:lstStyle/>
          <a:p>
            <a:pPr>
              <a:defRPr/>
            </a:pPr>
            <a:r>
              <a:rPr lang="en-US" sz="2800" dirty="0">
                <a:latin typeface="+mn-lt"/>
              </a:rPr>
              <a:t>module </a:t>
            </a:r>
            <a:r>
              <a:rPr lang="en-US" sz="2800" b="1" dirty="0">
                <a:latin typeface="+mn-lt"/>
              </a:rPr>
              <a:t>B</a:t>
            </a:r>
          </a:p>
        </p:txBody>
      </p:sp>
      <p:sp>
        <p:nvSpPr>
          <p:cNvPr id="25" name="TextBox 24"/>
          <p:cNvSpPr txBox="1"/>
          <p:nvPr/>
        </p:nvSpPr>
        <p:spPr>
          <a:xfrm>
            <a:off x="795832" y="1623629"/>
            <a:ext cx="1598515" cy="523220"/>
          </a:xfrm>
          <a:prstGeom prst="rect">
            <a:avLst/>
          </a:prstGeom>
          <a:noFill/>
        </p:spPr>
        <p:txBody>
          <a:bodyPr wrap="none">
            <a:spAutoFit/>
          </a:bodyPr>
          <a:lstStyle/>
          <a:p>
            <a:pPr>
              <a:defRPr/>
            </a:pPr>
            <a:r>
              <a:rPr lang="en-US" sz="2800" dirty="0">
                <a:latin typeface="+mn-lt"/>
              </a:rPr>
              <a:t>module</a:t>
            </a:r>
            <a:r>
              <a:rPr lang="en-US" sz="2800" b="1" dirty="0">
                <a:latin typeface="+mn-lt"/>
              </a:rPr>
              <a:t> A</a:t>
            </a:r>
          </a:p>
        </p:txBody>
      </p:sp>
      <p:sp>
        <p:nvSpPr>
          <p:cNvPr id="19" name="Rounded Rectangle 18">
            <a:extLst>
              <a:ext uri="{FF2B5EF4-FFF2-40B4-BE49-F238E27FC236}">
                <a16:creationId xmlns:a16="http://schemas.microsoft.com/office/drawing/2014/main" id="{76C9B671-CE3E-E141-9C1E-2D26C6D42856}"/>
              </a:ext>
            </a:extLst>
          </p:cNvPr>
          <p:cNvSpPr/>
          <p:nvPr/>
        </p:nvSpPr>
        <p:spPr>
          <a:xfrm>
            <a:off x="5580112" y="1629767"/>
            <a:ext cx="2671067" cy="1757127"/>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ounded Rectangle 29">
            <a:extLst>
              <a:ext uri="{FF2B5EF4-FFF2-40B4-BE49-F238E27FC236}">
                <a16:creationId xmlns:a16="http://schemas.microsoft.com/office/drawing/2014/main" id="{A75840DB-BEDD-4F48-87E1-522736E501CA}"/>
              </a:ext>
            </a:extLst>
          </p:cNvPr>
          <p:cNvSpPr/>
          <p:nvPr/>
        </p:nvSpPr>
        <p:spPr>
          <a:xfrm>
            <a:off x="3969502" y="1419770"/>
            <a:ext cx="4274905" cy="2498070"/>
          </a:xfrm>
          <a:prstGeom prst="roundRect">
            <a:avLst/>
          </a:prstGeom>
          <a:solidFill>
            <a:schemeClr val="accent6">
              <a:lumMod val="40000"/>
              <a:lumOff val="6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43830540-9598-6447-BD8C-81C4C889356D}"/>
              </a:ext>
            </a:extLst>
          </p:cNvPr>
          <p:cNvSpPr/>
          <p:nvPr/>
        </p:nvSpPr>
        <p:spPr>
          <a:xfrm>
            <a:off x="529398" y="1430993"/>
            <a:ext cx="3096948" cy="2498070"/>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Title 1"/>
          <p:cNvSpPr>
            <a:spLocks noGrp="1"/>
          </p:cNvSpPr>
          <p:nvPr>
            <p:ph type="title"/>
          </p:nvPr>
        </p:nvSpPr>
        <p:spPr>
          <a:xfrm>
            <a:off x="457200" y="274638"/>
            <a:ext cx="8229600" cy="969130"/>
          </a:xfrm>
        </p:spPr>
        <p:txBody>
          <a:bodyPr/>
          <a:lstStyle/>
          <a:p>
            <a:r>
              <a:rPr lang="en-US" sz="4000" dirty="0"/>
              <a:t>Terminology</a:t>
            </a:r>
          </a:p>
        </p:txBody>
      </p:sp>
      <p:sp>
        <p:nvSpPr>
          <p:cNvPr id="15363" name="Content Placeholder 2"/>
          <p:cNvSpPr>
            <a:spLocks noGrp="1"/>
          </p:cNvSpPr>
          <p:nvPr>
            <p:ph idx="1"/>
          </p:nvPr>
        </p:nvSpPr>
        <p:spPr>
          <a:xfrm>
            <a:off x="457200" y="4093842"/>
            <a:ext cx="8329613" cy="2197100"/>
          </a:xfrm>
        </p:spPr>
        <p:txBody>
          <a:bodyPr/>
          <a:lstStyle/>
          <a:p>
            <a:r>
              <a:rPr lang="en-US" sz="2800" i="1"/>
              <a:t>caller, callee, actual parameters,  formal parameters</a:t>
            </a:r>
          </a:p>
          <a:p>
            <a:r>
              <a:rPr lang="en-US" sz="2800" i="1"/>
              <a:t>parameter coupling, shared variable coupling, external device coupling</a:t>
            </a:r>
          </a:p>
          <a:p>
            <a:r>
              <a:rPr lang="en-US" sz="2800"/>
              <a:t>More general concept: </a:t>
            </a:r>
            <a:r>
              <a:rPr lang="en-US" sz="2800" i="1"/>
              <a:t>coupling variable  </a:t>
            </a:r>
            <a:r>
              <a:rPr lang="en-US" sz="2800">
                <a:sym typeface="Wingdings" pitchFamily="2" charset="2"/>
              </a:rPr>
              <a:t> </a:t>
            </a:r>
            <a:r>
              <a:rPr lang="en-US" sz="2800"/>
              <a:t>a ‘variable’ defined in one ‘unit’, and used in the other. </a:t>
            </a:r>
          </a:p>
        </p:txBody>
      </p:sp>
      <p:sp>
        <p:nvSpPr>
          <p:cNvPr id="4" name="Slide Number Placeholder 3"/>
          <p:cNvSpPr>
            <a:spLocks noGrp="1"/>
          </p:cNvSpPr>
          <p:nvPr>
            <p:ph type="sldNum" sz="quarter" idx="12"/>
          </p:nvPr>
        </p:nvSpPr>
        <p:spPr/>
        <p:txBody>
          <a:bodyPr/>
          <a:lstStyle/>
          <a:p>
            <a:pPr>
              <a:defRPr/>
            </a:pPr>
            <a:fld id="{7AF318FA-0FEF-45DF-8BBE-F59B9E989AE5}" type="slidenum">
              <a:rPr lang="en-US" smtClean="0"/>
              <a:pPr>
                <a:defRPr/>
              </a:pPr>
              <a:t>15</a:t>
            </a:fld>
            <a:endParaRPr lang="en-US" dirty="0"/>
          </a:p>
        </p:txBody>
      </p:sp>
      <p:sp>
        <p:nvSpPr>
          <p:cNvPr id="27" name="TextBox 26">
            <a:extLst>
              <a:ext uri="{FF2B5EF4-FFF2-40B4-BE49-F238E27FC236}">
                <a16:creationId xmlns:a16="http://schemas.microsoft.com/office/drawing/2014/main" id="{6F0A2A4E-75B7-EA45-96B7-E62CC959A7A4}"/>
              </a:ext>
            </a:extLst>
          </p:cNvPr>
          <p:cNvSpPr txBox="1"/>
          <p:nvPr/>
        </p:nvSpPr>
        <p:spPr>
          <a:xfrm>
            <a:off x="827584" y="1860798"/>
            <a:ext cx="1684337"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 a = ...  ;b = ...</a:t>
            </a:r>
          </a:p>
        </p:txBody>
      </p:sp>
      <p:sp>
        <p:nvSpPr>
          <p:cNvPr id="29" name="TextBox 28">
            <a:extLst>
              <a:ext uri="{FF2B5EF4-FFF2-40B4-BE49-F238E27FC236}">
                <a16:creationId xmlns:a16="http://schemas.microsoft.com/office/drawing/2014/main" id="{D4D3A750-78D7-EB4D-A8A7-581817FADAE7}"/>
              </a:ext>
            </a:extLst>
          </p:cNvPr>
          <p:cNvSpPr txBox="1"/>
          <p:nvPr/>
        </p:nvSpPr>
        <p:spPr>
          <a:xfrm>
            <a:off x="2346582" y="2428875"/>
            <a:ext cx="1054100" cy="369888"/>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a = ...</a:t>
            </a:r>
          </a:p>
        </p:txBody>
      </p:sp>
      <p:sp>
        <p:nvSpPr>
          <p:cNvPr id="31" name="TextBox 30">
            <a:extLst>
              <a:ext uri="{FF2B5EF4-FFF2-40B4-BE49-F238E27FC236}">
                <a16:creationId xmlns:a16="http://schemas.microsoft.com/office/drawing/2014/main" id="{E8AB34AD-68A4-CA41-8A7D-AD0AC98CA3A2}"/>
              </a:ext>
            </a:extLst>
          </p:cNvPr>
          <p:cNvSpPr txBox="1"/>
          <p:nvPr/>
        </p:nvSpPr>
        <p:spPr>
          <a:xfrm>
            <a:off x="1226046" y="2432298"/>
            <a:ext cx="896938"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a&gt;b</a:t>
            </a:r>
          </a:p>
        </p:txBody>
      </p:sp>
      <p:sp>
        <p:nvSpPr>
          <p:cNvPr id="33" name="TextBox 32">
            <a:extLst>
              <a:ext uri="{FF2B5EF4-FFF2-40B4-BE49-F238E27FC236}">
                <a16:creationId xmlns:a16="http://schemas.microsoft.com/office/drawing/2014/main" id="{25B9FFA2-B37E-F842-BCA4-1E2A02D38277}"/>
              </a:ext>
            </a:extLst>
          </p:cNvPr>
          <p:cNvSpPr txBox="1"/>
          <p:nvPr/>
        </p:nvSpPr>
        <p:spPr>
          <a:xfrm>
            <a:off x="979506" y="3211540"/>
            <a:ext cx="1378904" cy="369332"/>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b = g(</a:t>
            </a:r>
            <a:r>
              <a:rPr lang="en-US" dirty="0" err="1"/>
              <a:t>a,b</a:t>
            </a:r>
            <a:r>
              <a:rPr lang="en-US" dirty="0"/>
              <a:t>)</a:t>
            </a:r>
          </a:p>
        </p:txBody>
      </p:sp>
      <p:sp>
        <p:nvSpPr>
          <p:cNvPr id="35" name="TextBox 34">
            <a:extLst>
              <a:ext uri="{FF2B5EF4-FFF2-40B4-BE49-F238E27FC236}">
                <a16:creationId xmlns:a16="http://schemas.microsoft.com/office/drawing/2014/main" id="{3BBBBCEC-0A31-1441-9598-C9468EE78D76}"/>
              </a:ext>
            </a:extLst>
          </p:cNvPr>
          <p:cNvSpPr txBox="1"/>
          <p:nvPr/>
        </p:nvSpPr>
        <p:spPr>
          <a:xfrm>
            <a:off x="4940796" y="1717923"/>
            <a:ext cx="1007007"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 g(</a:t>
            </a:r>
            <a:r>
              <a:rPr lang="en-US" dirty="0" err="1"/>
              <a:t>x,y</a:t>
            </a:r>
            <a:r>
              <a:rPr lang="en-US" dirty="0"/>
              <a:t>)</a:t>
            </a:r>
          </a:p>
        </p:txBody>
      </p:sp>
      <p:sp>
        <p:nvSpPr>
          <p:cNvPr id="37" name="TextBox 36">
            <a:extLst>
              <a:ext uri="{FF2B5EF4-FFF2-40B4-BE49-F238E27FC236}">
                <a16:creationId xmlns:a16="http://schemas.microsoft.com/office/drawing/2014/main" id="{23E2FE42-49EA-0645-921E-BA4A3DB6F9FF}"/>
              </a:ext>
            </a:extLst>
          </p:cNvPr>
          <p:cNvSpPr txBox="1"/>
          <p:nvPr/>
        </p:nvSpPr>
        <p:spPr>
          <a:xfrm>
            <a:off x="4979267" y="2289423"/>
            <a:ext cx="93006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x&lt;=y</a:t>
            </a:r>
          </a:p>
        </p:txBody>
      </p:sp>
      <p:sp>
        <p:nvSpPr>
          <p:cNvPr id="38" name="TextBox 37">
            <a:extLst>
              <a:ext uri="{FF2B5EF4-FFF2-40B4-BE49-F238E27FC236}">
                <a16:creationId xmlns:a16="http://schemas.microsoft.com/office/drawing/2014/main" id="{AC67A60C-0B1A-4D4D-956C-4F5C46538F15}"/>
              </a:ext>
            </a:extLst>
          </p:cNvPr>
          <p:cNvSpPr txBox="1"/>
          <p:nvPr/>
        </p:nvSpPr>
        <p:spPr>
          <a:xfrm>
            <a:off x="4979267" y="2871153"/>
            <a:ext cx="93006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x==y</a:t>
            </a:r>
          </a:p>
        </p:txBody>
      </p:sp>
      <p:sp>
        <p:nvSpPr>
          <p:cNvPr id="42" name="TextBox 41">
            <a:extLst>
              <a:ext uri="{FF2B5EF4-FFF2-40B4-BE49-F238E27FC236}">
                <a16:creationId xmlns:a16="http://schemas.microsoft.com/office/drawing/2014/main" id="{D808314B-5E01-4545-8A7F-87408D7CA6CB}"/>
              </a:ext>
            </a:extLst>
          </p:cNvPr>
          <p:cNvSpPr txBox="1"/>
          <p:nvPr/>
        </p:nvSpPr>
        <p:spPr>
          <a:xfrm>
            <a:off x="6412409" y="2289423"/>
            <a:ext cx="1314450" cy="369887"/>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return ...</a:t>
            </a:r>
          </a:p>
        </p:txBody>
      </p:sp>
      <p:sp>
        <p:nvSpPr>
          <p:cNvPr id="43" name="TextBox 42">
            <a:extLst>
              <a:ext uri="{FF2B5EF4-FFF2-40B4-BE49-F238E27FC236}">
                <a16:creationId xmlns:a16="http://schemas.microsoft.com/office/drawing/2014/main" id="{B2550A17-D992-2649-8D60-0213AD5E9B41}"/>
              </a:ext>
            </a:extLst>
          </p:cNvPr>
          <p:cNvSpPr txBox="1"/>
          <p:nvPr/>
        </p:nvSpPr>
        <p:spPr>
          <a:xfrm>
            <a:off x="6769598" y="3396411"/>
            <a:ext cx="1314450" cy="369888"/>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(5) return ...</a:t>
            </a:r>
          </a:p>
        </p:txBody>
      </p:sp>
      <p:cxnSp>
        <p:nvCxnSpPr>
          <p:cNvPr id="44" name="Straight Arrow Connector 43">
            <a:extLst>
              <a:ext uri="{FF2B5EF4-FFF2-40B4-BE49-F238E27FC236}">
                <a16:creationId xmlns:a16="http://schemas.microsoft.com/office/drawing/2014/main" id="{698DBB4F-92CB-5243-816B-E699BAE0B039}"/>
              </a:ext>
            </a:extLst>
          </p:cNvPr>
          <p:cNvCxnSpPr>
            <a:stCxn id="27" idx="2"/>
            <a:endCxn id="31" idx="0"/>
          </p:cNvCxnSpPr>
          <p:nvPr/>
        </p:nvCxnSpPr>
        <p:spPr>
          <a:xfrm rot="16200000" flipH="1">
            <a:off x="1570533" y="2329111"/>
            <a:ext cx="201613" cy="47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AA2DC1B-F6C2-A94C-BA69-B5B17A97D2CF}"/>
              </a:ext>
            </a:extLst>
          </p:cNvPr>
          <p:cNvCxnSpPr>
            <a:stCxn id="31" idx="3"/>
            <a:endCxn id="29" idx="1"/>
          </p:cNvCxnSpPr>
          <p:nvPr/>
        </p:nvCxnSpPr>
        <p:spPr>
          <a:xfrm flipV="1">
            <a:off x="2122984" y="2613819"/>
            <a:ext cx="223598" cy="34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C6EB162-6289-D240-9D9E-30CE267C6DAE}"/>
              </a:ext>
            </a:extLst>
          </p:cNvPr>
          <p:cNvCxnSpPr>
            <a:stCxn id="31" idx="2"/>
            <a:endCxn id="33" idx="0"/>
          </p:cNvCxnSpPr>
          <p:nvPr/>
        </p:nvCxnSpPr>
        <p:spPr>
          <a:xfrm flipH="1">
            <a:off x="1668958" y="2802185"/>
            <a:ext cx="5557" cy="4093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BF2EED33-2B33-5F49-8EE8-36AFDC012332}"/>
              </a:ext>
            </a:extLst>
          </p:cNvPr>
          <p:cNvCxnSpPr>
            <a:stCxn id="29" idx="2"/>
            <a:endCxn id="33" idx="3"/>
          </p:cNvCxnSpPr>
          <p:nvPr/>
        </p:nvCxnSpPr>
        <p:spPr>
          <a:xfrm flipH="1">
            <a:off x="2358410" y="2798763"/>
            <a:ext cx="515222" cy="5974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6CA8CB9-CDCE-5448-85C9-0B9643F8302D}"/>
              </a:ext>
            </a:extLst>
          </p:cNvPr>
          <p:cNvCxnSpPr>
            <a:stCxn id="35" idx="2"/>
            <a:endCxn id="37" idx="0"/>
          </p:cNvCxnSpPr>
          <p:nvPr/>
        </p:nvCxnSpPr>
        <p:spPr>
          <a:xfrm flipH="1">
            <a:off x="5444299" y="2087255"/>
            <a:ext cx="1" cy="2021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9EF4127D-F159-B548-A6E3-FAF84AB17BC8}"/>
              </a:ext>
            </a:extLst>
          </p:cNvPr>
          <p:cNvCxnSpPr>
            <a:stCxn id="37" idx="2"/>
            <a:endCxn id="38" idx="0"/>
          </p:cNvCxnSpPr>
          <p:nvPr/>
        </p:nvCxnSpPr>
        <p:spPr>
          <a:xfrm>
            <a:off x="5444299" y="2658755"/>
            <a:ext cx="0" cy="2123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CEB7F0D-2AAA-3749-B80B-8D44395B6A1A}"/>
              </a:ext>
            </a:extLst>
          </p:cNvPr>
          <p:cNvCxnSpPr>
            <a:stCxn id="37" idx="3"/>
            <a:endCxn id="42" idx="1"/>
          </p:cNvCxnSpPr>
          <p:nvPr/>
        </p:nvCxnSpPr>
        <p:spPr>
          <a:xfrm>
            <a:off x="5909330" y="2474089"/>
            <a:ext cx="503079" cy="2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Rounded Rectangle 53">
            <a:extLst>
              <a:ext uri="{FF2B5EF4-FFF2-40B4-BE49-F238E27FC236}">
                <a16:creationId xmlns:a16="http://schemas.microsoft.com/office/drawing/2014/main" id="{EAAADF15-2108-BA47-A9A3-F7ECA3982338}"/>
              </a:ext>
            </a:extLst>
          </p:cNvPr>
          <p:cNvSpPr/>
          <p:nvPr/>
        </p:nvSpPr>
        <p:spPr>
          <a:xfrm>
            <a:off x="4154984" y="3289548"/>
            <a:ext cx="2428875" cy="571500"/>
          </a:xfrm>
          <a:prstGeom prst="roundRect">
            <a:avLst/>
          </a:prstGeom>
          <a:solidFill>
            <a:schemeClr val="bg2">
              <a:lumMod val="50000"/>
            </a:schemeClr>
          </a:solidFill>
          <a:ln w="38100">
            <a:solidFill>
              <a:schemeClr val="tx1"/>
            </a:solidFill>
            <a:prstDash val="dash"/>
          </a:ln>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55" name="Straight Arrow Connector 54">
            <a:extLst>
              <a:ext uri="{FF2B5EF4-FFF2-40B4-BE49-F238E27FC236}">
                <a16:creationId xmlns:a16="http://schemas.microsoft.com/office/drawing/2014/main" id="{1BD78273-7ED1-8F42-A071-1E6894108802}"/>
              </a:ext>
            </a:extLst>
          </p:cNvPr>
          <p:cNvCxnSpPr>
            <a:stCxn id="54" idx="3"/>
            <a:endCxn id="43" idx="1"/>
          </p:cNvCxnSpPr>
          <p:nvPr/>
        </p:nvCxnSpPr>
        <p:spPr>
          <a:xfrm>
            <a:off x="6583859" y="3575298"/>
            <a:ext cx="185739" cy="60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B71AC18-74DC-FB40-BD3C-28B1043E855A}"/>
              </a:ext>
            </a:extLst>
          </p:cNvPr>
          <p:cNvCxnSpPr>
            <a:cxnSpLocks/>
            <a:stCxn id="38" idx="2"/>
          </p:cNvCxnSpPr>
          <p:nvPr/>
        </p:nvCxnSpPr>
        <p:spPr>
          <a:xfrm>
            <a:off x="5444299" y="3240485"/>
            <a:ext cx="0" cy="3348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0B82CEA-AFF4-4244-895C-B898C8D5A532}"/>
              </a:ext>
            </a:extLst>
          </p:cNvPr>
          <p:cNvCxnSpPr>
            <a:cxnSpLocks/>
            <a:stCxn id="38" idx="3"/>
          </p:cNvCxnSpPr>
          <p:nvPr/>
        </p:nvCxnSpPr>
        <p:spPr>
          <a:xfrm>
            <a:off x="5909330" y="3055819"/>
            <a:ext cx="351289" cy="4181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hape 57">
            <a:extLst>
              <a:ext uri="{FF2B5EF4-FFF2-40B4-BE49-F238E27FC236}">
                <a16:creationId xmlns:a16="http://schemas.microsoft.com/office/drawing/2014/main" id="{C82E1727-6C6D-A948-9F79-482D86F3F2BB}"/>
              </a:ext>
            </a:extLst>
          </p:cNvPr>
          <p:cNvCxnSpPr>
            <a:stCxn id="33" idx="2"/>
            <a:endCxn id="35" idx="1"/>
          </p:cNvCxnSpPr>
          <p:nvPr/>
        </p:nvCxnSpPr>
        <p:spPr>
          <a:xfrm rot="5400000" flipH="1" flipV="1">
            <a:off x="2465735" y="1105812"/>
            <a:ext cx="1678283" cy="3271838"/>
          </a:xfrm>
          <a:prstGeom prst="curvedConnector4">
            <a:avLst>
              <a:gd name="adj1" fmla="val -13621"/>
              <a:gd name="adj2" fmla="val 60536"/>
            </a:avLst>
          </a:prstGeom>
          <a:ln>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8F7B9E7-F5E5-DD4E-92E3-379C381045AB}"/>
              </a:ext>
            </a:extLst>
          </p:cNvPr>
          <p:cNvSpPr txBox="1"/>
          <p:nvPr/>
        </p:nvSpPr>
        <p:spPr>
          <a:xfrm>
            <a:off x="1574014" y="1419770"/>
            <a:ext cx="439544" cy="461665"/>
          </a:xfrm>
          <a:prstGeom prst="rect">
            <a:avLst/>
          </a:prstGeom>
          <a:noFill/>
        </p:spPr>
        <p:txBody>
          <a:bodyPr wrap="none" rtlCol="0">
            <a:spAutoFit/>
          </a:bodyPr>
          <a:lstStyle/>
          <a:p>
            <a:r>
              <a:rPr lang="en-US" sz="2400" dirty="0"/>
              <a:t>f  </a:t>
            </a:r>
          </a:p>
        </p:txBody>
      </p:sp>
      <p:sp>
        <p:nvSpPr>
          <p:cNvPr id="60" name="TextBox 59">
            <a:extLst>
              <a:ext uri="{FF2B5EF4-FFF2-40B4-BE49-F238E27FC236}">
                <a16:creationId xmlns:a16="http://schemas.microsoft.com/office/drawing/2014/main" id="{EBBF4BC0-590B-CC43-92C7-2494145D1CE2}"/>
              </a:ext>
            </a:extLst>
          </p:cNvPr>
          <p:cNvSpPr txBox="1"/>
          <p:nvPr/>
        </p:nvSpPr>
        <p:spPr>
          <a:xfrm>
            <a:off x="5266204" y="1261928"/>
            <a:ext cx="356188" cy="461665"/>
          </a:xfrm>
          <a:prstGeom prst="rect">
            <a:avLst/>
          </a:prstGeom>
          <a:noFill/>
        </p:spPr>
        <p:txBody>
          <a:bodyPr wrap="none" rtlCol="0">
            <a:spAutoFit/>
          </a:bodyPr>
          <a:lstStyle/>
          <a:p>
            <a:r>
              <a:rPr lang="en-US" sz="2400" dirty="0"/>
              <a:t>g</a:t>
            </a:r>
          </a:p>
        </p:txBody>
      </p:sp>
    </p:spTree>
    <p:extLst>
      <p:ext uri="{BB962C8B-B14F-4D97-AF65-F5344CB8AC3E}">
        <p14:creationId xmlns:p14="http://schemas.microsoft.com/office/powerpoint/2010/main" val="737221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a:extLst>
              <a:ext uri="{FF2B5EF4-FFF2-40B4-BE49-F238E27FC236}">
                <a16:creationId xmlns:a16="http://schemas.microsoft.com/office/drawing/2014/main" id="{E828FB9B-00AE-B440-AF2A-65B4349D4987}"/>
              </a:ext>
            </a:extLst>
          </p:cNvPr>
          <p:cNvSpPr/>
          <p:nvPr/>
        </p:nvSpPr>
        <p:spPr>
          <a:xfrm>
            <a:off x="3969502" y="1419770"/>
            <a:ext cx="4274905" cy="2498070"/>
          </a:xfrm>
          <a:prstGeom prst="roundRect">
            <a:avLst/>
          </a:prstGeom>
          <a:solidFill>
            <a:schemeClr val="accent6">
              <a:lumMod val="40000"/>
              <a:lumOff val="6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EE3B128C-CE79-2745-9509-4414C68E5109}"/>
              </a:ext>
            </a:extLst>
          </p:cNvPr>
          <p:cNvSpPr/>
          <p:nvPr/>
        </p:nvSpPr>
        <p:spPr>
          <a:xfrm>
            <a:off x="529398" y="1430993"/>
            <a:ext cx="3096948" cy="2498070"/>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6" name="Title 1"/>
          <p:cNvSpPr>
            <a:spLocks noGrp="1"/>
          </p:cNvSpPr>
          <p:nvPr>
            <p:ph type="title"/>
          </p:nvPr>
        </p:nvSpPr>
        <p:spPr>
          <a:xfrm>
            <a:off x="457200" y="274638"/>
            <a:ext cx="8229600" cy="875864"/>
          </a:xfrm>
        </p:spPr>
        <p:txBody>
          <a:bodyPr/>
          <a:lstStyle/>
          <a:p>
            <a:r>
              <a:rPr lang="en-US" sz="4000"/>
              <a:t>Coupling du-path</a:t>
            </a:r>
            <a:br>
              <a:rPr lang="en-US" sz="4000"/>
            </a:br>
            <a:r>
              <a:rPr lang="en-US" sz="2400" i="1"/>
              <a:t>(Jin-Offutt, 1998)</a:t>
            </a:r>
          </a:p>
        </p:txBody>
      </p:sp>
      <p:sp>
        <p:nvSpPr>
          <p:cNvPr id="16387" name="Content Placeholder 2"/>
          <p:cNvSpPr>
            <a:spLocks noGrp="1"/>
          </p:cNvSpPr>
          <p:nvPr>
            <p:ph idx="1"/>
          </p:nvPr>
        </p:nvSpPr>
        <p:spPr>
          <a:xfrm>
            <a:off x="457200" y="3922736"/>
            <a:ext cx="8507288" cy="2314576"/>
          </a:xfrm>
        </p:spPr>
        <p:txBody>
          <a:bodyPr/>
          <a:lstStyle/>
          <a:p>
            <a:r>
              <a:rPr lang="en-US" sz="2400" dirty="0"/>
              <a:t>(Def 2.40/2</a:t>
            </a:r>
            <a:r>
              <a:rPr lang="en-US" sz="2400" baseline="30000" dirty="0"/>
              <a:t>nd</a:t>
            </a:r>
            <a:r>
              <a:rPr lang="en-US" sz="2400" dirty="0"/>
              <a:t> Ed. 7.39) </a:t>
            </a:r>
            <a:r>
              <a:rPr lang="en-US" sz="2400" i="1" u="sng" dirty="0">
                <a:solidFill>
                  <a:srgbClr val="0070C0"/>
                </a:solidFill>
              </a:rPr>
              <a:t>Last-de</a:t>
            </a:r>
            <a:r>
              <a:rPr lang="en-US" sz="2400" i="1" dirty="0">
                <a:solidFill>
                  <a:srgbClr val="0070C0"/>
                </a:solidFill>
              </a:rPr>
              <a:t>f</a:t>
            </a:r>
            <a:r>
              <a:rPr lang="en-US" sz="2400" i="1" dirty="0"/>
              <a:t> of v</a:t>
            </a:r>
            <a:r>
              <a:rPr lang="en-US" sz="2400" dirty="0"/>
              <a:t> : set of nodes defining </a:t>
            </a:r>
            <a:r>
              <a:rPr lang="en-US" sz="2400" i="1" dirty="0"/>
              <a:t>v</a:t>
            </a:r>
            <a:r>
              <a:rPr lang="en-US" sz="2400" dirty="0"/>
              <a:t>, from which there is a def-clear path (</a:t>
            </a:r>
            <a:r>
              <a:rPr lang="en-US" sz="2400" dirty="0" err="1"/>
              <a:t>wrt</a:t>
            </a:r>
            <a:r>
              <a:rPr lang="en-US" sz="2400" dirty="0"/>
              <a:t> </a:t>
            </a:r>
            <a:r>
              <a:rPr lang="en-US" sz="2400" i="1" dirty="0"/>
              <a:t>v</a:t>
            </a:r>
            <a:r>
              <a:rPr lang="en-US" sz="2400" dirty="0"/>
              <a:t>) through the call-site, to a use in the other unit.</a:t>
            </a:r>
          </a:p>
          <a:p>
            <a:r>
              <a:rPr lang="en-US" sz="2400" dirty="0"/>
              <a:t>Can be at the caller or </a:t>
            </a:r>
            <a:r>
              <a:rPr lang="en-US" sz="2400" dirty="0" err="1"/>
              <a:t>callee</a:t>
            </a:r>
            <a:r>
              <a:rPr lang="en-US" sz="2400" dirty="0"/>
              <a:t>! Example: b@f1, a@f3, g.return@g4, g.return@g5.</a:t>
            </a:r>
          </a:p>
          <a:p>
            <a:r>
              <a:rPr lang="en-US" sz="2400" dirty="0"/>
              <a:t>(Def 2.41/2</a:t>
            </a:r>
            <a:r>
              <a:rPr lang="en-US" sz="2400" baseline="30000" dirty="0"/>
              <a:t>nd</a:t>
            </a:r>
            <a:r>
              <a:rPr lang="en-US" sz="2400" dirty="0"/>
              <a:t> Ed. 7.40) </a:t>
            </a:r>
            <a:r>
              <a:rPr lang="en-US" sz="2400" i="1" u="sng" dirty="0">
                <a:solidFill>
                  <a:srgbClr val="0070C0"/>
                </a:solidFill>
              </a:rPr>
              <a:t>First-use</a:t>
            </a:r>
            <a:r>
              <a:rPr lang="en-US" sz="2400" i="1" u="sng" dirty="0"/>
              <a:t> </a:t>
            </a:r>
            <a:r>
              <a:rPr lang="en-US" sz="2400" i="1" dirty="0"/>
              <a:t>(of v</a:t>
            </a:r>
            <a:r>
              <a:rPr lang="en-US" sz="2400" dirty="0"/>
              <a:t>)</a:t>
            </a:r>
            <a:r>
              <a:rPr lang="en-US" sz="2400" i="1" dirty="0"/>
              <a:t>  </a:t>
            </a:r>
            <a:r>
              <a:rPr lang="en-US" sz="2400" dirty="0"/>
              <a:t>E.g.: b@g2, g.return@f4</a:t>
            </a:r>
          </a:p>
          <a:p>
            <a:r>
              <a:rPr lang="en-US" sz="2400" i="1" u="sng" dirty="0">
                <a:solidFill>
                  <a:srgbClr val="0070C0"/>
                </a:solidFill>
              </a:rPr>
              <a:t>Coupling du-path </a:t>
            </a:r>
            <a:r>
              <a:rPr lang="en-US" sz="2400" i="1" dirty="0"/>
              <a:t>of v </a:t>
            </a:r>
            <a:r>
              <a:rPr lang="en-US" sz="2400" dirty="0"/>
              <a:t>is a path from </a:t>
            </a:r>
            <a:r>
              <a:rPr lang="en-US" sz="2400" i="1" dirty="0"/>
              <a:t>v</a:t>
            </a:r>
            <a:r>
              <a:rPr lang="en-US" sz="2400" dirty="0"/>
              <a:t>’s last-</a:t>
            </a:r>
            <a:r>
              <a:rPr lang="en-US" sz="2400" dirty="0" err="1"/>
              <a:t>def</a:t>
            </a:r>
            <a:r>
              <a:rPr lang="en-US" sz="2400" dirty="0"/>
              <a:t> to its first-use.</a:t>
            </a:r>
          </a:p>
        </p:txBody>
      </p:sp>
      <p:sp>
        <p:nvSpPr>
          <p:cNvPr id="4" name="Slide Number Placeholder 3"/>
          <p:cNvSpPr>
            <a:spLocks noGrp="1"/>
          </p:cNvSpPr>
          <p:nvPr>
            <p:ph type="sldNum" sz="quarter" idx="12"/>
          </p:nvPr>
        </p:nvSpPr>
        <p:spPr/>
        <p:txBody>
          <a:bodyPr/>
          <a:lstStyle/>
          <a:p>
            <a:pPr>
              <a:defRPr/>
            </a:pPr>
            <a:fld id="{D99913E4-9123-46A5-8CA9-2FC3F1978391}" type="slidenum">
              <a:rPr lang="en-US" smtClean="0"/>
              <a:pPr>
                <a:defRPr/>
              </a:pPr>
              <a:t>16</a:t>
            </a:fld>
            <a:endParaRPr lang="en-US" dirty="0"/>
          </a:p>
        </p:txBody>
      </p:sp>
      <p:sp>
        <p:nvSpPr>
          <p:cNvPr id="28" name="TextBox 27">
            <a:extLst>
              <a:ext uri="{FF2B5EF4-FFF2-40B4-BE49-F238E27FC236}">
                <a16:creationId xmlns:a16="http://schemas.microsoft.com/office/drawing/2014/main" id="{0EA92F83-C947-2541-9B7B-B10605DFCDAB}"/>
              </a:ext>
            </a:extLst>
          </p:cNvPr>
          <p:cNvSpPr txBox="1"/>
          <p:nvPr/>
        </p:nvSpPr>
        <p:spPr>
          <a:xfrm>
            <a:off x="960512" y="1788790"/>
            <a:ext cx="1684337"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a:t>
            </a:r>
            <a:r>
              <a:rPr lang="en-US" b="1" dirty="0">
                <a:solidFill>
                  <a:srgbClr val="FF0000"/>
                </a:solidFill>
              </a:rPr>
              <a:t> a </a:t>
            </a:r>
            <a:r>
              <a:rPr lang="en-US" dirty="0"/>
              <a:t>= ...  ;</a:t>
            </a:r>
            <a:r>
              <a:rPr lang="en-US" b="1" dirty="0">
                <a:solidFill>
                  <a:schemeClr val="accent6">
                    <a:lumMod val="60000"/>
                    <a:lumOff val="40000"/>
                  </a:schemeClr>
                </a:solidFill>
              </a:rPr>
              <a:t>b</a:t>
            </a:r>
            <a:r>
              <a:rPr lang="en-US" dirty="0"/>
              <a:t> = ...</a:t>
            </a:r>
          </a:p>
        </p:txBody>
      </p:sp>
      <p:sp>
        <p:nvSpPr>
          <p:cNvPr id="30" name="TextBox 29">
            <a:extLst>
              <a:ext uri="{FF2B5EF4-FFF2-40B4-BE49-F238E27FC236}">
                <a16:creationId xmlns:a16="http://schemas.microsoft.com/office/drawing/2014/main" id="{3D9DBFD3-E7C2-104D-8FEB-FBC20F0811DF}"/>
              </a:ext>
            </a:extLst>
          </p:cNvPr>
          <p:cNvSpPr txBox="1"/>
          <p:nvPr/>
        </p:nvSpPr>
        <p:spPr>
          <a:xfrm>
            <a:off x="2442046" y="2358175"/>
            <a:ext cx="1054100" cy="369888"/>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a:t>
            </a:r>
            <a:r>
              <a:rPr lang="en-US" b="1" dirty="0">
                <a:solidFill>
                  <a:srgbClr val="FF0000"/>
                </a:solidFill>
              </a:rPr>
              <a:t>a</a:t>
            </a:r>
            <a:r>
              <a:rPr lang="en-US" dirty="0"/>
              <a:t> = ...</a:t>
            </a:r>
          </a:p>
        </p:txBody>
      </p:sp>
      <p:sp>
        <p:nvSpPr>
          <p:cNvPr id="32" name="TextBox 31">
            <a:extLst>
              <a:ext uri="{FF2B5EF4-FFF2-40B4-BE49-F238E27FC236}">
                <a16:creationId xmlns:a16="http://schemas.microsoft.com/office/drawing/2014/main" id="{A2FC483F-75BC-704B-86E5-87C731C7990F}"/>
              </a:ext>
            </a:extLst>
          </p:cNvPr>
          <p:cNvSpPr txBox="1"/>
          <p:nvPr/>
        </p:nvSpPr>
        <p:spPr>
          <a:xfrm>
            <a:off x="1358974" y="2360290"/>
            <a:ext cx="896938"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a&gt;b</a:t>
            </a:r>
          </a:p>
        </p:txBody>
      </p:sp>
      <p:sp>
        <p:nvSpPr>
          <p:cNvPr id="34" name="TextBox 33">
            <a:extLst>
              <a:ext uri="{FF2B5EF4-FFF2-40B4-BE49-F238E27FC236}">
                <a16:creationId xmlns:a16="http://schemas.microsoft.com/office/drawing/2014/main" id="{EDA89D2F-1C07-7C4A-8AD5-DEC7C96F3031}"/>
              </a:ext>
            </a:extLst>
          </p:cNvPr>
          <p:cNvSpPr txBox="1"/>
          <p:nvPr/>
        </p:nvSpPr>
        <p:spPr>
          <a:xfrm>
            <a:off x="1111633" y="3227388"/>
            <a:ext cx="1380506" cy="369332"/>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a:t>
            </a:r>
            <a:r>
              <a:rPr lang="en-US" b="1" dirty="0">
                <a:solidFill>
                  <a:srgbClr val="00B050"/>
                </a:solidFill>
              </a:rPr>
              <a:t>b</a:t>
            </a:r>
            <a:r>
              <a:rPr lang="en-US" dirty="0"/>
              <a:t> = g(</a:t>
            </a:r>
            <a:r>
              <a:rPr lang="en-US" dirty="0" err="1"/>
              <a:t>a,b</a:t>
            </a:r>
            <a:r>
              <a:rPr lang="en-US" dirty="0"/>
              <a:t>)</a:t>
            </a:r>
          </a:p>
        </p:txBody>
      </p:sp>
      <p:sp>
        <p:nvSpPr>
          <p:cNvPr id="36" name="TextBox 35">
            <a:extLst>
              <a:ext uri="{FF2B5EF4-FFF2-40B4-BE49-F238E27FC236}">
                <a16:creationId xmlns:a16="http://schemas.microsoft.com/office/drawing/2014/main" id="{4FCF67B1-1C08-4F46-A4A7-CCEAAE4D455F}"/>
              </a:ext>
            </a:extLst>
          </p:cNvPr>
          <p:cNvSpPr txBox="1"/>
          <p:nvPr/>
        </p:nvSpPr>
        <p:spPr>
          <a:xfrm>
            <a:off x="5073724" y="1645915"/>
            <a:ext cx="1007007"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 g(</a:t>
            </a:r>
            <a:r>
              <a:rPr lang="en-US" dirty="0" err="1"/>
              <a:t>x,y</a:t>
            </a:r>
            <a:r>
              <a:rPr lang="en-US" dirty="0"/>
              <a:t>)</a:t>
            </a:r>
          </a:p>
        </p:txBody>
      </p:sp>
      <p:sp>
        <p:nvSpPr>
          <p:cNvPr id="39" name="TextBox 38">
            <a:extLst>
              <a:ext uri="{FF2B5EF4-FFF2-40B4-BE49-F238E27FC236}">
                <a16:creationId xmlns:a16="http://schemas.microsoft.com/office/drawing/2014/main" id="{217F9BBD-DB8B-B943-82F0-A61DAF75EE2B}"/>
              </a:ext>
            </a:extLst>
          </p:cNvPr>
          <p:cNvSpPr txBox="1"/>
          <p:nvPr/>
        </p:nvSpPr>
        <p:spPr>
          <a:xfrm>
            <a:off x="5124064" y="2217415"/>
            <a:ext cx="94128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a:t>
            </a:r>
            <a:r>
              <a:rPr lang="en-US" b="1" dirty="0">
                <a:solidFill>
                  <a:srgbClr val="FF0000"/>
                </a:solidFill>
              </a:rPr>
              <a:t>x</a:t>
            </a:r>
            <a:r>
              <a:rPr lang="en-US" dirty="0"/>
              <a:t>&lt;=</a:t>
            </a:r>
            <a:r>
              <a:rPr lang="en-US" b="1" dirty="0">
                <a:solidFill>
                  <a:schemeClr val="accent6">
                    <a:lumMod val="60000"/>
                    <a:lumOff val="40000"/>
                  </a:schemeClr>
                </a:solidFill>
              </a:rPr>
              <a:t>y</a:t>
            </a:r>
          </a:p>
        </p:txBody>
      </p:sp>
      <p:sp>
        <p:nvSpPr>
          <p:cNvPr id="40" name="TextBox 39">
            <a:extLst>
              <a:ext uri="{FF2B5EF4-FFF2-40B4-BE49-F238E27FC236}">
                <a16:creationId xmlns:a16="http://schemas.microsoft.com/office/drawing/2014/main" id="{EB0E121E-64D9-FD46-92E7-D5AF023DC56A}"/>
              </a:ext>
            </a:extLst>
          </p:cNvPr>
          <p:cNvSpPr txBox="1"/>
          <p:nvPr/>
        </p:nvSpPr>
        <p:spPr>
          <a:xfrm>
            <a:off x="5135284" y="2767967"/>
            <a:ext cx="93006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x==y</a:t>
            </a:r>
          </a:p>
        </p:txBody>
      </p:sp>
      <p:sp>
        <p:nvSpPr>
          <p:cNvPr id="41" name="TextBox 40">
            <a:extLst>
              <a:ext uri="{FF2B5EF4-FFF2-40B4-BE49-F238E27FC236}">
                <a16:creationId xmlns:a16="http://schemas.microsoft.com/office/drawing/2014/main" id="{FD05CB92-9A44-684C-9726-3BD51D9F9068}"/>
              </a:ext>
            </a:extLst>
          </p:cNvPr>
          <p:cNvSpPr txBox="1"/>
          <p:nvPr/>
        </p:nvSpPr>
        <p:spPr>
          <a:xfrm>
            <a:off x="6545337" y="2217415"/>
            <a:ext cx="1314450" cy="369887"/>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a:t>
            </a:r>
            <a:r>
              <a:rPr lang="en-US" b="1" dirty="0">
                <a:solidFill>
                  <a:srgbClr val="00B050"/>
                </a:solidFill>
              </a:rPr>
              <a:t>return</a:t>
            </a:r>
            <a:r>
              <a:rPr lang="en-US" dirty="0"/>
              <a:t> ...</a:t>
            </a:r>
          </a:p>
        </p:txBody>
      </p:sp>
      <p:sp>
        <p:nvSpPr>
          <p:cNvPr id="45" name="TextBox 44">
            <a:extLst>
              <a:ext uri="{FF2B5EF4-FFF2-40B4-BE49-F238E27FC236}">
                <a16:creationId xmlns:a16="http://schemas.microsoft.com/office/drawing/2014/main" id="{64051510-70A9-484C-A570-25745ACD842E}"/>
              </a:ext>
            </a:extLst>
          </p:cNvPr>
          <p:cNvSpPr txBox="1"/>
          <p:nvPr/>
        </p:nvSpPr>
        <p:spPr>
          <a:xfrm>
            <a:off x="6962775" y="3318346"/>
            <a:ext cx="1314450" cy="369888"/>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(5) </a:t>
            </a:r>
            <a:r>
              <a:rPr lang="en-US" b="1" dirty="0">
                <a:solidFill>
                  <a:srgbClr val="00B050"/>
                </a:solidFill>
              </a:rPr>
              <a:t>return</a:t>
            </a:r>
            <a:r>
              <a:rPr lang="en-US" dirty="0"/>
              <a:t> ...</a:t>
            </a:r>
          </a:p>
        </p:txBody>
      </p:sp>
      <p:cxnSp>
        <p:nvCxnSpPr>
          <p:cNvPr id="47" name="Straight Arrow Connector 46">
            <a:extLst>
              <a:ext uri="{FF2B5EF4-FFF2-40B4-BE49-F238E27FC236}">
                <a16:creationId xmlns:a16="http://schemas.microsoft.com/office/drawing/2014/main" id="{B1648576-1265-884C-8ECC-6F26B91090FA}"/>
              </a:ext>
            </a:extLst>
          </p:cNvPr>
          <p:cNvCxnSpPr>
            <a:stCxn id="28" idx="2"/>
            <a:endCxn id="32" idx="0"/>
          </p:cNvCxnSpPr>
          <p:nvPr/>
        </p:nvCxnSpPr>
        <p:spPr>
          <a:xfrm rot="16200000" flipH="1">
            <a:off x="1703461" y="2257103"/>
            <a:ext cx="201613" cy="47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3D7D883-0049-8345-A608-DCCA8CEB5601}"/>
              </a:ext>
            </a:extLst>
          </p:cNvPr>
          <p:cNvCxnSpPr>
            <a:stCxn id="32" idx="3"/>
            <a:endCxn id="30" idx="1"/>
          </p:cNvCxnSpPr>
          <p:nvPr/>
        </p:nvCxnSpPr>
        <p:spPr>
          <a:xfrm flipV="1">
            <a:off x="2255912" y="2543119"/>
            <a:ext cx="186134" cy="21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16FC270-F53F-7745-BCC1-A3097CD3E96C}"/>
              </a:ext>
            </a:extLst>
          </p:cNvPr>
          <p:cNvCxnSpPr>
            <a:stCxn id="32" idx="2"/>
            <a:endCxn id="34" idx="0"/>
          </p:cNvCxnSpPr>
          <p:nvPr/>
        </p:nvCxnSpPr>
        <p:spPr>
          <a:xfrm flipH="1">
            <a:off x="1801886" y="2730177"/>
            <a:ext cx="5557" cy="4972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DDC448F-261F-654D-A01C-EE7FFAC9956A}"/>
              </a:ext>
            </a:extLst>
          </p:cNvPr>
          <p:cNvCxnSpPr>
            <a:stCxn id="30" idx="2"/>
            <a:endCxn id="34" idx="3"/>
          </p:cNvCxnSpPr>
          <p:nvPr/>
        </p:nvCxnSpPr>
        <p:spPr>
          <a:xfrm flipH="1">
            <a:off x="2492139" y="2728063"/>
            <a:ext cx="476957" cy="6839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752A8DC-63EA-4348-BE83-2D9072F7A0D0}"/>
              </a:ext>
            </a:extLst>
          </p:cNvPr>
          <p:cNvCxnSpPr>
            <a:stCxn id="36" idx="2"/>
            <a:endCxn id="39" idx="0"/>
          </p:cNvCxnSpPr>
          <p:nvPr/>
        </p:nvCxnSpPr>
        <p:spPr>
          <a:xfrm>
            <a:off x="5577228" y="2015247"/>
            <a:ext cx="17478" cy="2021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F590AD3-03FB-AC4E-90B7-305FAE00CD85}"/>
              </a:ext>
            </a:extLst>
          </p:cNvPr>
          <p:cNvCxnSpPr>
            <a:stCxn id="39" idx="2"/>
            <a:endCxn id="40" idx="0"/>
          </p:cNvCxnSpPr>
          <p:nvPr/>
        </p:nvCxnSpPr>
        <p:spPr>
          <a:xfrm>
            <a:off x="5594706" y="2586747"/>
            <a:ext cx="5610" cy="1812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85442C7-0D51-674F-A4F7-497FA674BBAD}"/>
              </a:ext>
            </a:extLst>
          </p:cNvPr>
          <p:cNvCxnSpPr>
            <a:stCxn id="39" idx="3"/>
            <a:endCxn id="41" idx="1"/>
          </p:cNvCxnSpPr>
          <p:nvPr/>
        </p:nvCxnSpPr>
        <p:spPr>
          <a:xfrm>
            <a:off x="6065347" y="2402081"/>
            <a:ext cx="479990" cy="2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4" name="Rounded Rectangle 63">
            <a:extLst>
              <a:ext uri="{FF2B5EF4-FFF2-40B4-BE49-F238E27FC236}">
                <a16:creationId xmlns:a16="http://schemas.microsoft.com/office/drawing/2014/main" id="{36C7B8EF-F3FB-BB4D-9049-E8E09B3B139B}"/>
              </a:ext>
            </a:extLst>
          </p:cNvPr>
          <p:cNvSpPr/>
          <p:nvPr/>
        </p:nvSpPr>
        <p:spPr>
          <a:xfrm>
            <a:off x="4287912" y="3217540"/>
            <a:ext cx="2428875" cy="571500"/>
          </a:xfrm>
          <a:prstGeom prst="roundRect">
            <a:avLst/>
          </a:prstGeom>
          <a:solidFill>
            <a:schemeClr val="bg2">
              <a:lumMod val="50000"/>
            </a:schemeClr>
          </a:solidFill>
          <a:ln w="38100">
            <a:solidFill>
              <a:schemeClr val="tx1"/>
            </a:solidFill>
            <a:prstDash val="dash"/>
          </a:ln>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65" name="Straight Arrow Connector 64">
            <a:extLst>
              <a:ext uri="{FF2B5EF4-FFF2-40B4-BE49-F238E27FC236}">
                <a16:creationId xmlns:a16="http://schemas.microsoft.com/office/drawing/2014/main" id="{F2257E27-FB28-1440-8352-0338288C4ACF}"/>
              </a:ext>
            </a:extLst>
          </p:cNvPr>
          <p:cNvCxnSpPr>
            <a:stCxn id="64" idx="3"/>
            <a:endCxn id="45" idx="1"/>
          </p:cNvCxnSpPr>
          <p:nvPr/>
        </p:nvCxnSpPr>
        <p:spPr>
          <a:xfrm>
            <a:off x="6716787" y="3503290"/>
            <a:ext cx="2459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7491EAE-25BA-564E-99D5-E008E9AB509C}"/>
              </a:ext>
            </a:extLst>
          </p:cNvPr>
          <p:cNvCxnSpPr>
            <a:cxnSpLocks/>
            <a:stCxn id="40" idx="2"/>
          </p:cNvCxnSpPr>
          <p:nvPr/>
        </p:nvCxnSpPr>
        <p:spPr>
          <a:xfrm>
            <a:off x="5600316" y="3137299"/>
            <a:ext cx="0" cy="3082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F673E65-C360-254F-B314-4E0279432BB5}"/>
              </a:ext>
            </a:extLst>
          </p:cNvPr>
          <p:cNvCxnSpPr>
            <a:cxnSpLocks/>
            <a:stCxn id="40" idx="3"/>
          </p:cNvCxnSpPr>
          <p:nvPr/>
        </p:nvCxnSpPr>
        <p:spPr>
          <a:xfrm>
            <a:off x="6065347" y="2952633"/>
            <a:ext cx="365889" cy="3658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hape 48">
            <a:extLst>
              <a:ext uri="{FF2B5EF4-FFF2-40B4-BE49-F238E27FC236}">
                <a16:creationId xmlns:a16="http://schemas.microsoft.com/office/drawing/2014/main" id="{2DFA751A-88C9-F34A-B754-50098C2A7EC9}"/>
              </a:ext>
            </a:extLst>
          </p:cNvPr>
          <p:cNvCxnSpPr>
            <a:stCxn id="34" idx="2"/>
            <a:endCxn id="36" idx="1"/>
          </p:cNvCxnSpPr>
          <p:nvPr/>
        </p:nvCxnSpPr>
        <p:spPr>
          <a:xfrm rot="5400000" flipH="1" flipV="1">
            <a:off x="2554735" y="1077732"/>
            <a:ext cx="1766139" cy="3271838"/>
          </a:xfrm>
          <a:prstGeom prst="curvedConnector4">
            <a:avLst>
              <a:gd name="adj1" fmla="val -12943"/>
              <a:gd name="adj2" fmla="val 60548"/>
            </a:avLst>
          </a:prstGeom>
          <a:ln>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D2FF7BB5-2F7C-3745-9B44-A1D5D5918E4D}"/>
              </a:ext>
            </a:extLst>
          </p:cNvPr>
          <p:cNvSpPr txBox="1"/>
          <p:nvPr/>
        </p:nvSpPr>
        <p:spPr>
          <a:xfrm>
            <a:off x="1574014" y="1419770"/>
            <a:ext cx="439544" cy="461665"/>
          </a:xfrm>
          <a:prstGeom prst="rect">
            <a:avLst/>
          </a:prstGeom>
          <a:noFill/>
        </p:spPr>
        <p:txBody>
          <a:bodyPr wrap="none" rtlCol="0">
            <a:spAutoFit/>
          </a:bodyPr>
          <a:lstStyle/>
          <a:p>
            <a:r>
              <a:rPr lang="en-US" sz="2400" dirty="0"/>
              <a:t>f  </a:t>
            </a:r>
          </a:p>
        </p:txBody>
      </p:sp>
      <p:sp>
        <p:nvSpPr>
          <p:cNvPr id="71" name="TextBox 70">
            <a:extLst>
              <a:ext uri="{FF2B5EF4-FFF2-40B4-BE49-F238E27FC236}">
                <a16:creationId xmlns:a16="http://schemas.microsoft.com/office/drawing/2014/main" id="{E22DCE0F-636C-534C-B77D-7C76D795DC38}"/>
              </a:ext>
            </a:extLst>
          </p:cNvPr>
          <p:cNvSpPr txBox="1"/>
          <p:nvPr/>
        </p:nvSpPr>
        <p:spPr>
          <a:xfrm>
            <a:off x="5317905" y="1179077"/>
            <a:ext cx="356188" cy="461665"/>
          </a:xfrm>
          <a:prstGeom prst="rect">
            <a:avLst/>
          </a:prstGeom>
          <a:noFill/>
        </p:spPr>
        <p:txBody>
          <a:bodyPr wrap="none" rtlCol="0">
            <a:spAutoFit/>
          </a:bodyPr>
          <a:lstStyle/>
          <a:p>
            <a:r>
              <a:rPr lang="en-US" sz="2400" dirty="0"/>
              <a:t>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Note on the first use at the </a:t>
            </a:r>
            <a:r>
              <a:rPr lang="en-US" dirty="0" err="1"/>
              <a:t>callee</a:t>
            </a:r>
            <a:endParaRPr lang="en-US" dirty="0"/>
          </a:p>
        </p:txBody>
      </p:sp>
      <p:sp>
        <p:nvSpPr>
          <p:cNvPr id="18435" name="Content Placeholder 2"/>
          <p:cNvSpPr>
            <a:spLocks noGrp="1"/>
          </p:cNvSpPr>
          <p:nvPr>
            <p:ph idx="1"/>
          </p:nvPr>
        </p:nvSpPr>
        <p:spPr/>
        <p:txBody>
          <a:bodyPr/>
          <a:lstStyle/>
          <a:p>
            <a:r>
              <a:rPr lang="en-US" sz="2800" dirty="0"/>
              <a:t>When you just pass a variable as a in g(</a:t>
            </a:r>
            <a:r>
              <a:rPr lang="en-US" sz="2800" dirty="0" err="1"/>
              <a:t>a,b</a:t>
            </a:r>
            <a:r>
              <a:rPr lang="en-US" sz="2800" dirty="0"/>
              <a:t>), it makes sense to define g’s first use to be the first time g uses the parameter (location g.2 in the previous example).</a:t>
            </a:r>
          </a:p>
          <a:p>
            <a:endParaRPr lang="en-US" sz="2800" dirty="0"/>
          </a:p>
          <a:p>
            <a:r>
              <a:rPr lang="en-US" sz="2800" dirty="0"/>
              <a:t>But when you pass a complex expression like g(a+b,0), </a:t>
            </a:r>
            <a:r>
              <a:rPr lang="en-US" sz="2800" dirty="0">
                <a:sym typeface="Wingdings" pitchFamily="2" charset="2"/>
              </a:rPr>
              <a:t>things become more obscure. We will define g’s first uses of a and b to be the first node of g that uses, in this example, its first formal parameter. So, in this example it is g.2.</a:t>
            </a:r>
            <a:endParaRPr lang="en-US" sz="2800" dirty="0"/>
          </a:p>
        </p:txBody>
      </p:sp>
      <p:sp>
        <p:nvSpPr>
          <p:cNvPr id="4" name="Slide Number Placeholder 3"/>
          <p:cNvSpPr>
            <a:spLocks noGrp="1"/>
          </p:cNvSpPr>
          <p:nvPr>
            <p:ph type="sldNum" sz="quarter" idx="12"/>
          </p:nvPr>
        </p:nvSpPr>
        <p:spPr/>
        <p:txBody>
          <a:bodyPr/>
          <a:lstStyle/>
          <a:p>
            <a:pPr>
              <a:defRPr/>
            </a:pPr>
            <a:fld id="{41B6EF9F-F858-4462-BCD9-F3A1B69F2013}"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a:extLst>
              <a:ext uri="{FF2B5EF4-FFF2-40B4-BE49-F238E27FC236}">
                <a16:creationId xmlns:a16="http://schemas.microsoft.com/office/drawing/2014/main" id="{A949E148-ECFC-EC4F-91E6-2D686BE54EED}"/>
              </a:ext>
            </a:extLst>
          </p:cNvPr>
          <p:cNvSpPr/>
          <p:nvPr/>
        </p:nvSpPr>
        <p:spPr>
          <a:xfrm>
            <a:off x="2741309" y="1212334"/>
            <a:ext cx="3093714" cy="2865444"/>
          </a:xfrm>
          <a:prstGeom prst="roundRect">
            <a:avLst/>
          </a:prstGeom>
          <a:solidFill>
            <a:schemeClr val="accent6">
              <a:lumMod val="40000"/>
              <a:lumOff val="60000"/>
              <a:alpha val="2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D40008E7-4F35-5543-8156-598D15406AEF}"/>
              </a:ext>
            </a:extLst>
          </p:cNvPr>
          <p:cNvSpPr/>
          <p:nvPr/>
        </p:nvSpPr>
        <p:spPr>
          <a:xfrm>
            <a:off x="-10118" y="1224715"/>
            <a:ext cx="2665170" cy="2836772"/>
          </a:xfrm>
          <a:prstGeom prst="roundRect">
            <a:avLst/>
          </a:prstGeom>
          <a:solidFill>
            <a:srgbClr val="FFC000">
              <a:alpha val="25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7612BE9-8D9D-0043-BEF7-F60BD7E0DD82}"/>
              </a:ext>
            </a:extLst>
          </p:cNvPr>
          <p:cNvSpPr/>
          <p:nvPr/>
        </p:nvSpPr>
        <p:spPr>
          <a:xfrm>
            <a:off x="6005779" y="3450514"/>
            <a:ext cx="2686761" cy="610973"/>
          </a:xfrm>
          <a:prstGeom prst="rect">
            <a:avLst/>
          </a:prstGeom>
          <a:solidFill>
            <a:srgbClr val="92D05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F43F182-AA0F-5F4A-BA18-36C3B9018CD7}"/>
              </a:ext>
            </a:extLst>
          </p:cNvPr>
          <p:cNvSpPr/>
          <p:nvPr/>
        </p:nvSpPr>
        <p:spPr>
          <a:xfrm>
            <a:off x="6000038" y="2813992"/>
            <a:ext cx="2686761" cy="61097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A5492E2-C305-2545-870D-BD5CDAD024EE}"/>
              </a:ext>
            </a:extLst>
          </p:cNvPr>
          <p:cNvSpPr/>
          <p:nvPr/>
        </p:nvSpPr>
        <p:spPr>
          <a:xfrm>
            <a:off x="6005779" y="2203019"/>
            <a:ext cx="2686761" cy="6109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0E2F38-1055-F248-A758-6E1F424544A4}"/>
              </a:ext>
            </a:extLst>
          </p:cNvPr>
          <p:cNvSpPr/>
          <p:nvPr/>
        </p:nvSpPr>
        <p:spPr>
          <a:xfrm>
            <a:off x="6000039" y="1242367"/>
            <a:ext cx="2686761" cy="69984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p:cNvSpPr>
            <a:spLocks noGrp="1"/>
          </p:cNvSpPr>
          <p:nvPr>
            <p:ph type="title"/>
          </p:nvPr>
        </p:nvSpPr>
        <p:spPr>
          <a:xfrm>
            <a:off x="457200" y="274638"/>
            <a:ext cx="8229600" cy="764529"/>
          </a:xfrm>
        </p:spPr>
        <p:txBody>
          <a:bodyPr/>
          <a:lstStyle/>
          <a:p>
            <a:r>
              <a:rPr lang="en-US" sz="3600" dirty="0"/>
              <a:t>Integration Test-Requirement</a:t>
            </a:r>
          </a:p>
        </p:txBody>
      </p:sp>
      <p:sp>
        <p:nvSpPr>
          <p:cNvPr id="17411" name="Content Placeholder 2"/>
          <p:cNvSpPr>
            <a:spLocks noGrp="1"/>
          </p:cNvSpPr>
          <p:nvPr>
            <p:ph idx="1"/>
          </p:nvPr>
        </p:nvSpPr>
        <p:spPr>
          <a:xfrm>
            <a:off x="179388" y="4581525"/>
            <a:ext cx="8713787" cy="1990725"/>
          </a:xfrm>
        </p:spPr>
        <p:txBody>
          <a:bodyPr/>
          <a:lstStyle/>
          <a:p>
            <a:r>
              <a:rPr lang="en-US" sz="2400" dirty="0"/>
              <a:t>(ACDC)  </a:t>
            </a:r>
            <a:r>
              <a:rPr lang="en-US" sz="2400" i="1" dirty="0">
                <a:solidFill>
                  <a:srgbClr val="0070C0"/>
                </a:solidFill>
              </a:rPr>
              <a:t>All Coupling </a:t>
            </a:r>
            <a:r>
              <a:rPr lang="en-US" sz="2400" i="1" dirty="0" err="1">
                <a:solidFill>
                  <a:srgbClr val="0070C0"/>
                </a:solidFill>
              </a:rPr>
              <a:t>Defs</a:t>
            </a:r>
            <a:r>
              <a:rPr lang="en-US" sz="2400" i="1" dirty="0">
                <a:solidFill>
                  <a:srgbClr val="0070C0"/>
                </a:solidFill>
              </a:rPr>
              <a:t> </a:t>
            </a:r>
            <a:r>
              <a:rPr lang="en-US" sz="2400" i="1" dirty="0" err="1">
                <a:solidFill>
                  <a:srgbClr val="0070C0"/>
                </a:solidFill>
              </a:rPr>
              <a:t>Cov</a:t>
            </a:r>
            <a:r>
              <a:rPr lang="en-US" sz="2400" dirty="0"/>
              <a:t>. :  for every last-</a:t>
            </a:r>
            <a:r>
              <a:rPr lang="en-US" sz="2400" dirty="0" err="1"/>
              <a:t>def</a:t>
            </a:r>
            <a:r>
              <a:rPr lang="en-US" sz="2400" dirty="0"/>
              <a:t> </a:t>
            </a:r>
            <a:r>
              <a:rPr lang="en-US" sz="2400" i="1" dirty="0"/>
              <a:t>d </a:t>
            </a:r>
            <a:r>
              <a:rPr lang="en-US" sz="2400" dirty="0"/>
              <a:t>of each coupling </a:t>
            </a:r>
            <a:r>
              <a:rPr lang="en-US" sz="2400" dirty="0" err="1"/>
              <a:t>var</a:t>
            </a:r>
            <a:r>
              <a:rPr lang="en-US" sz="2400" dirty="0"/>
              <a:t> </a:t>
            </a:r>
            <a:r>
              <a:rPr lang="en-US" sz="2400" i="1" dirty="0"/>
              <a:t>v</a:t>
            </a:r>
            <a:r>
              <a:rPr lang="en-US" sz="2400" dirty="0"/>
              <a:t>, TR includes one coupling du-path starting from </a:t>
            </a:r>
            <a:r>
              <a:rPr lang="en-US" sz="2400" i="1" dirty="0"/>
              <a:t>d</a:t>
            </a:r>
            <a:r>
              <a:rPr lang="en-US" sz="2400" dirty="0"/>
              <a:t>.</a:t>
            </a:r>
          </a:p>
          <a:p>
            <a:r>
              <a:rPr lang="en-US" sz="2400" dirty="0"/>
              <a:t>(ACUC) </a:t>
            </a:r>
            <a:r>
              <a:rPr lang="en-US" sz="2400" i="1" dirty="0">
                <a:solidFill>
                  <a:srgbClr val="0070C0"/>
                </a:solidFill>
                <a:sym typeface="Wingdings" pitchFamily="2" charset="2"/>
              </a:rPr>
              <a:t>All Coupling Uses </a:t>
            </a:r>
            <a:r>
              <a:rPr lang="en-US" sz="2400" i="1" dirty="0" err="1">
                <a:solidFill>
                  <a:srgbClr val="0070C0"/>
                </a:solidFill>
                <a:sym typeface="Wingdings" pitchFamily="2" charset="2"/>
              </a:rPr>
              <a:t>Cov</a:t>
            </a:r>
            <a:r>
              <a:rPr lang="en-US" sz="2400" dirty="0">
                <a:sym typeface="Wingdings" pitchFamily="2" charset="2"/>
              </a:rPr>
              <a:t>. : for every last-</a:t>
            </a:r>
            <a:r>
              <a:rPr lang="en-US" sz="2400" dirty="0" err="1">
                <a:sym typeface="Wingdings" pitchFamily="2" charset="2"/>
              </a:rPr>
              <a:t>def</a:t>
            </a:r>
            <a:r>
              <a:rPr lang="en-US" sz="2400" dirty="0">
                <a:sym typeface="Wingdings" pitchFamily="2" charset="2"/>
              </a:rPr>
              <a:t> </a:t>
            </a:r>
            <a:r>
              <a:rPr lang="en-US" sz="2400" i="1" dirty="0">
                <a:sym typeface="Wingdings" pitchFamily="2" charset="2"/>
              </a:rPr>
              <a:t>d </a:t>
            </a:r>
            <a:r>
              <a:rPr lang="en-US" sz="2400" dirty="0">
                <a:sym typeface="Wingdings" pitchFamily="2" charset="2"/>
              </a:rPr>
              <a:t>and first-use </a:t>
            </a:r>
            <a:r>
              <a:rPr lang="en-US" sz="2400" i="1" dirty="0">
                <a:sym typeface="Wingdings" pitchFamily="2" charset="2"/>
              </a:rPr>
              <a:t>u </a:t>
            </a:r>
            <a:r>
              <a:rPr lang="en-US" sz="2400" dirty="0">
                <a:sym typeface="Wingdings" pitchFamily="2" charset="2"/>
              </a:rPr>
              <a:t>of </a:t>
            </a:r>
            <a:r>
              <a:rPr lang="en-US" sz="2400" i="1" dirty="0">
                <a:sym typeface="Wingdings" pitchFamily="2" charset="2"/>
              </a:rPr>
              <a:t>v, TR </a:t>
            </a:r>
            <a:r>
              <a:rPr lang="en-US" sz="2400" dirty="0">
                <a:sym typeface="Wingdings" pitchFamily="2" charset="2"/>
              </a:rPr>
              <a:t>includes one couple du-path from </a:t>
            </a:r>
            <a:r>
              <a:rPr lang="en-US" sz="2400" i="1" dirty="0">
                <a:sym typeface="Wingdings" pitchFamily="2" charset="2"/>
              </a:rPr>
              <a:t>d</a:t>
            </a:r>
            <a:r>
              <a:rPr lang="en-US" sz="2400" dirty="0">
                <a:sym typeface="Wingdings" pitchFamily="2" charset="2"/>
              </a:rPr>
              <a:t> to </a:t>
            </a:r>
            <a:r>
              <a:rPr lang="en-US" sz="2400" i="1" dirty="0">
                <a:sym typeface="Wingdings" pitchFamily="2" charset="2"/>
              </a:rPr>
              <a:t>u</a:t>
            </a:r>
            <a:r>
              <a:rPr lang="en-US" sz="2400" dirty="0">
                <a:sym typeface="Wingdings" pitchFamily="2" charset="2"/>
              </a:rPr>
              <a:t>.</a:t>
            </a:r>
            <a:endParaRPr lang="en-US" sz="2400" dirty="0"/>
          </a:p>
          <a:p>
            <a:endParaRPr lang="en-US" sz="2400" dirty="0"/>
          </a:p>
          <a:p>
            <a:endParaRPr lang="en-US" sz="2400" dirty="0"/>
          </a:p>
          <a:p>
            <a:endParaRPr lang="en-US" sz="2400" dirty="0"/>
          </a:p>
          <a:p>
            <a:endParaRPr lang="en-US" sz="2400" dirty="0"/>
          </a:p>
        </p:txBody>
      </p:sp>
      <p:sp>
        <p:nvSpPr>
          <p:cNvPr id="4" name="Slide Number Placeholder 3"/>
          <p:cNvSpPr>
            <a:spLocks noGrp="1"/>
          </p:cNvSpPr>
          <p:nvPr>
            <p:ph type="sldNum" sz="quarter" idx="12"/>
          </p:nvPr>
        </p:nvSpPr>
        <p:spPr/>
        <p:txBody>
          <a:bodyPr/>
          <a:lstStyle/>
          <a:p>
            <a:pPr>
              <a:defRPr/>
            </a:pPr>
            <a:fld id="{4222195C-4E8F-49AE-B622-01B2FA64103B}" type="slidenum">
              <a:rPr lang="en-US" smtClean="0"/>
              <a:pPr>
                <a:defRPr/>
              </a:pPr>
              <a:t>18</a:t>
            </a:fld>
            <a:endParaRPr lang="en-US" dirty="0"/>
          </a:p>
        </p:txBody>
      </p:sp>
      <p:sp>
        <p:nvSpPr>
          <p:cNvPr id="31" name="TextBox 30"/>
          <p:cNvSpPr txBox="1"/>
          <p:nvPr/>
        </p:nvSpPr>
        <p:spPr>
          <a:xfrm>
            <a:off x="6000039" y="1224715"/>
            <a:ext cx="2515432" cy="2862322"/>
          </a:xfrm>
          <a:prstGeom prst="rect">
            <a:avLst/>
          </a:prstGeom>
          <a:noFill/>
        </p:spPr>
        <p:txBody>
          <a:bodyPr wrap="none">
            <a:spAutoFit/>
          </a:bodyPr>
          <a:lstStyle/>
          <a:p>
            <a:pPr>
              <a:defRPr/>
            </a:pPr>
            <a:r>
              <a:rPr lang="en-US" sz="2000" b="1" i="1" dirty="0">
                <a:latin typeface="+mn-lt"/>
              </a:rPr>
              <a:t>Coupling </a:t>
            </a:r>
            <a:r>
              <a:rPr lang="en-US" sz="2000" b="1" i="1" dirty="0" err="1">
                <a:latin typeface="+mn-lt"/>
              </a:rPr>
              <a:t>vars</a:t>
            </a:r>
            <a:r>
              <a:rPr lang="en-US" sz="2000" b="1" i="1" dirty="0">
                <a:latin typeface="+mn-lt"/>
              </a:rPr>
              <a:t>:  </a:t>
            </a:r>
            <a:br>
              <a:rPr lang="en-US" sz="2000" dirty="0">
                <a:latin typeface="+mn-lt"/>
              </a:rPr>
            </a:br>
            <a:r>
              <a:rPr lang="en-US" sz="2000" dirty="0">
                <a:latin typeface="+mn-lt"/>
              </a:rPr>
              <a:t>      a, b, </a:t>
            </a:r>
            <a:r>
              <a:rPr lang="en-US" sz="2000" dirty="0" err="1">
                <a:latin typeface="+mn-lt"/>
              </a:rPr>
              <a:t>g.return</a:t>
            </a:r>
            <a:endParaRPr lang="en-US" sz="2000" dirty="0">
              <a:latin typeface="+mn-lt"/>
            </a:endParaRPr>
          </a:p>
          <a:p>
            <a:pPr>
              <a:defRPr/>
            </a:pPr>
            <a:r>
              <a:rPr lang="en-US" sz="2000" b="1" i="1" dirty="0">
                <a:latin typeface="+mn-lt"/>
              </a:rPr>
              <a:t>Coupling du-paths :  </a:t>
            </a:r>
            <a:br>
              <a:rPr lang="en-US" sz="2000" dirty="0">
                <a:latin typeface="+mn-lt"/>
              </a:rPr>
            </a:br>
            <a:r>
              <a:rPr lang="en-US" sz="2000" dirty="0">
                <a:latin typeface="+mn-lt"/>
              </a:rPr>
              <a:t>    </a:t>
            </a:r>
            <a:r>
              <a:rPr lang="en-US" sz="2000" dirty="0">
                <a:solidFill>
                  <a:srgbClr val="FF0000"/>
                </a:solidFill>
                <a:latin typeface="+mn-lt"/>
              </a:rPr>
              <a:t>a</a:t>
            </a:r>
            <a:r>
              <a:rPr lang="en-US" sz="2000" dirty="0">
                <a:latin typeface="+mn-lt"/>
              </a:rPr>
              <a:t>:  [f1,f2,f4,g1,g2] </a:t>
            </a:r>
            <a:br>
              <a:rPr lang="en-US" sz="2000" dirty="0">
                <a:latin typeface="+mn-lt"/>
              </a:rPr>
            </a:br>
            <a:r>
              <a:rPr lang="en-US" sz="2000" dirty="0">
                <a:latin typeface="+mn-lt"/>
              </a:rPr>
              <a:t>         [f3,f4,g1,g2]</a:t>
            </a:r>
            <a:br>
              <a:rPr lang="en-US" sz="2000" dirty="0">
                <a:latin typeface="+mn-lt"/>
              </a:rPr>
            </a:br>
            <a:r>
              <a:rPr lang="en-US" sz="2000" dirty="0">
                <a:latin typeface="+mn-lt"/>
              </a:rPr>
              <a:t>   </a:t>
            </a:r>
            <a:r>
              <a:rPr lang="en-US" sz="2000" dirty="0">
                <a:solidFill>
                  <a:schemeClr val="accent6">
                    <a:lumMod val="60000"/>
                    <a:lumOff val="40000"/>
                  </a:schemeClr>
                </a:solidFill>
                <a:latin typeface="+mn-lt"/>
              </a:rPr>
              <a:t> b</a:t>
            </a:r>
            <a:r>
              <a:rPr lang="en-US" sz="2000" dirty="0">
                <a:latin typeface="+mn-lt"/>
              </a:rPr>
              <a:t>: [f1,f2,f4,g1,g2] </a:t>
            </a:r>
            <a:br>
              <a:rPr lang="en-US" sz="2000" dirty="0">
                <a:latin typeface="+mn-lt"/>
              </a:rPr>
            </a:br>
            <a:r>
              <a:rPr lang="en-US" sz="2000" dirty="0">
                <a:latin typeface="+mn-lt"/>
              </a:rPr>
              <a:t>         [f1,f2,f3,f4,g1,g2]</a:t>
            </a:r>
            <a:br>
              <a:rPr lang="en-US" sz="2000" dirty="0">
                <a:latin typeface="+mn-lt"/>
              </a:rPr>
            </a:br>
            <a:r>
              <a:rPr lang="en-US" sz="2000" dirty="0">
                <a:latin typeface="+mn-lt"/>
              </a:rPr>
              <a:t>    </a:t>
            </a:r>
            <a:r>
              <a:rPr lang="en-US" sz="2000" dirty="0" err="1">
                <a:solidFill>
                  <a:srgbClr val="00B050"/>
                </a:solidFill>
                <a:latin typeface="+mn-lt"/>
              </a:rPr>
              <a:t>g.return</a:t>
            </a:r>
            <a:r>
              <a:rPr lang="en-US" sz="2000" dirty="0">
                <a:latin typeface="+mn-lt"/>
              </a:rPr>
              <a:t>: [g4,f4]</a:t>
            </a:r>
            <a:br>
              <a:rPr lang="en-US" sz="2000" dirty="0">
                <a:latin typeface="+mn-lt"/>
              </a:rPr>
            </a:br>
            <a:r>
              <a:rPr lang="en-US" sz="2000" dirty="0">
                <a:latin typeface="+mn-lt"/>
              </a:rPr>
              <a:t>                     [g5,f4]</a:t>
            </a:r>
          </a:p>
        </p:txBody>
      </p:sp>
      <p:sp>
        <p:nvSpPr>
          <p:cNvPr id="27" name="TextBox 26"/>
          <p:cNvSpPr txBox="1"/>
          <p:nvPr/>
        </p:nvSpPr>
        <p:spPr>
          <a:xfrm>
            <a:off x="107950" y="1643063"/>
            <a:ext cx="1684338"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a:t>
            </a:r>
            <a:r>
              <a:rPr lang="en-US" b="1" dirty="0">
                <a:solidFill>
                  <a:srgbClr val="FF0000"/>
                </a:solidFill>
              </a:rPr>
              <a:t> a </a:t>
            </a:r>
            <a:r>
              <a:rPr lang="en-US" dirty="0"/>
              <a:t>= ...  ;</a:t>
            </a:r>
            <a:r>
              <a:rPr lang="en-US" b="1" dirty="0">
                <a:solidFill>
                  <a:schemeClr val="accent6">
                    <a:lumMod val="60000"/>
                    <a:lumOff val="40000"/>
                  </a:schemeClr>
                </a:solidFill>
              </a:rPr>
              <a:t>b</a:t>
            </a:r>
            <a:r>
              <a:rPr lang="en-US" dirty="0"/>
              <a:t> = ...</a:t>
            </a:r>
          </a:p>
        </p:txBody>
      </p:sp>
      <p:sp>
        <p:nvSpPr>
          <p:cNvPr id="29" name="TextBox 28"/>
          <p:cNvSpPr txBox="1"/>
          <p:nvPr/>
        </p:nvSpPr>
        <p:spPr>
          <a:xfrm>
            <a:off x="1539057" y="2218650"/>
            <a:ext cx="1054100" cy="369888"/>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a:t>
            </a:r>
            <a:r>
              <a:rPr lang="en-US" b="1" dirty="0">
                <a:solidFill>
                  <a:srgbClr val="FF0000"/>
                </a:solidFill>
              </a:rPr>
              <a:t>a</a:t>
            </a:r>
            <a:r>
              <a:rPr lang="en-US" dirty="0"/>
              <a:t> = ...</a:t>
            </a:r>
          </a:p>
        </p:txBody>
      </p:sp>
      <p:sp>
        <p:nvSpPr>
          <p:cNvPr id="33" name="TextBox 32"/>
          <p:cNvSpPr txBox="1"/>
          <p:nvPr/>
        </p:nvSpPr>
        <p:spPr>
          <a:xfrm>
            <a:off x="506413" y="2214563"/>
            <a:ext cx="896937" cy="369887"/>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a&gt;b</a:t>
            </a:r>
          </a:p>
        </p:txBody>
      </p:sp>
      <p:sp>
        <p:nvSpPr>
          <p:cNvPr id="35" name="TextBox 34"/>
          <p:cNvSpPr txBox="1"/>
          <p:nvPr/>
        </p:nvSpPr>
        <p:spPr>
          <a:xfrm>
            <a:off x="259072" y="2971007"/>
            <a:ext cx="1380506" cy="369332"/>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a:t>
            </a:r>
            <a:r>
              <a:rPr lang="en-US" b="1" dirty="0">
                <a:solidFill>
                  <a:srgbClr val="00B050"/>
                </a:solidFill>
              </a:rPr>
              <a:t>b</a:t>
            </a:r>
            <a:r>
              <a:rPr lang="en-US" dirty="0"/>
              <a:t> = g(</a:t>
            </a:r>
            <a:r>
              <a:rPr lang="en-US" dirty="0" err="1"/>
              <a:t>a,b</a:t>
            </a:r>
            <a:r>
              <a:rPr lang="en-US" dirty="0"/>
              <a:t>)</a:t>
            </a:r>
          </a:p>
        </p:txBody>
      </p:sp>
      <p:sp>
        <p:nvSpPr>
          <p:cNvPr id="37" name="TextBox 36"/>
          <p:cNvSpPr txBox="1"/>
          <p:nvPr/>
        </p:nvSpPr>
        <p:spPr>
          <a:xfrm>
            <a:off x="3201442" y="1573907"/>
            <a:ext cx="1007007"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(1) g(</a:t>
            </a:r>
            <a:r>
              <a:rPr lang="en-US" dirty="0" err="1"/>
              <a:t>x,y</a:t>
            </a:r>
            <a:r>
              <a:rPr lang="en-US" dirty="0"/>
              <a:t>)</a:t>
            </a:r>
          </a:p>
        </p:txBody>
      </p:sp>
      <p:sp>
        <p:nvSpPr>
          <p:cNvPr id="38" name="TextBox 37"/>
          <p:cNvSpPr txBox="1"/>
          <p:nvPr/>
        </p:nvSpPr>
        <p:spPr>
          <a:xfrm>
            <a:off x="3231898" y="2135249"/>
            <a:ext cx="94128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(2) </a:t>
            </a:r>
            <a:r>
              <a:rPr lang="en-US" b="1" dirty="0">
                <a:solidFill>
                  <a:srgbClr val="FF0000"/>
                </a:solidFill>
              </a:rPr>
              <a:t>x</a:t>
            </a:r>
            <a:r>
              <a:rPr lang="en-US" dirty="0"/>
              <a:t>&lt;=</a:t>
            </a:r>
            <a:r>
              <a:rPr lang="en-US" b="1" dirty="0">
                <a:solidFill>
                  <a:schemeClr val="accent6">
                    <a:lumMod val="60000"/>
                    <a:lumOff val="40000"/>
                  </a:schemeClr>
                </a:solidFill>
              </a:rPr>
              <a:t>y</a:t>
            </a:r>
          </a:p>
        </p:txBody>
      </p:sp>
      <p:sp>
        <p:nvSpPr>
          <p:cNvPr id="42" name="TextBox 41"/>
          <p:cNvSpPr txBox="1"/>
          <p:nvPr/>
        </p:nvSpPr>
        <p:spPr>
          <a:xfrm>
            <a:off x="3270569" y="2666239"/>
            <a:ext cx="930063" cy="369332"/>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(3) x==y</a:t>
            </a:r>
          </a:p>
        </p:txBody>
      </p:sp>
      <p:sp>
        <p:nvSpPr>
          <p:cNvPr id="43" name="TextBox 42"/>
          <p:cNvSpPr txBox="1"/>
          <p:nvPr/>
        </p:nvSpPr>
        <p:spPr>
          <a:xfrm>
            <a:off x="4282521" y="2145407"/>
            <a:ext cx="1314450" cy="369887"/>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(4) </a:t>
            </a:r>
            <a:r>
              <a:rPr lang="en-US" b="1" dirty="0">
                <a:solidFill>
                  <a:srgbClr val="00B050"/>
                </a:solidFill>
              </a:rPr>
              <a:t>return</a:t>
            </a:r>
            <a:r>
              <a:rPr lang="en-US" dirty="0"/>
              <a:t> ...</a:t>
            </a:r>
          </a:p>
        </p:txBody>
      </p:sp>
      <p:sp>
        <p:nvSpPr>
          <p:cNvPr id="44" name="TextBox 43"/>
          <p:cNvSpPr txBox="1"/>
          <p:nvPr/>
        </p:nvSpPr>
        <p:spPr>
          <a:xfrm>
            <a:off x="4520572" y="3285231"/>
            <a:ext cx="1314450" cy="369888"/>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dirty="0"/>
              <a:t>(5) </a:t>
            </a:r>
            <a:r>
              <a:rPr lang="en-US" b="1" dirty="0">
                <a:solidFill>
                  <a:srgbClr val="00B050"/>
                </a:solidFill>
              </a:rPr>
              <a:t>return</a:t>
            </a:r>
            <a:r>
              <a:rPr lang="en-US" dirty="0"/>
              <a:t> ...</a:t>
            </a:r>
          </a:p>
        </p:txBody>
      </p:sp>
      <p:cxnSp>
        <p:nvCxnSpPr>
          <p:cNvPr id="46" name="Straight Arrow Connector 45"/>
          <p:cNvCxnSpPr>
            <a:stCxn id="27" idx="2"/>
            <a:endCxn id="33" idx="0"/>
          </p:cNvCxnSpPr>
          <p:nvPr/>
        </p:nvCxnSpPr>
        <p:spPr>
          <a:xfrm rot="16200000" flipH="1">
            <a:off x="850900" y="2111375"/>
            <a:ext cx="201613" cy="47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33" idx="3"/>
            <a:endCxn id="29" idx="1"/>
          </p:cNvCxnSpPr>
          <p:nvPr/>
        </p:nvCxnSpPr>
        <p:spPr>
          <a:xfrm>
            <a:off x="1403350" y="2399507"/>
            <a:ext cx="135707" cy="40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3" idx="2"/>
            <a:endCxn id="35" idx="0"/>
          </p:cNvCxnSpPr>
          <p:nvPr/>
        </p:nvCxnSpPr>
        <p:spPr>
          <a:xfrm flipH="1">
            <a:off x="949325" y="2584450"/>
            <a:ext cx="5557" cy="3865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29" idx="2"/>
            <a:endCxn id="35" idx="3"/>
          </p:cNvCxnSpPr>
          <p:nvPr/>
        </p:nvCxnSpPr>
        <p:spPr>
          <a:xfrm flipH="1">
            <a:off x="1639578" y="2588538"/>
            <a:ext cx="426529" cy="5671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37" idx="2"/>
            <a:endCxn id="38" idx="0"/>
          </p:cNvCxnSpPr>
          <p:nvPr/>
        </p:nvCxnSpPr>
        <p:spPr>
          <a:xfrm flipH="1">
            <a:off x="3702540" y="1943239"/>
            <a:ext cx="2406" cy="1920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38" idx="2"/>
            <a:endCxn id="42" idx="0"/>
          </p:cNvCxnSpPr>
          <p:nvPr/>
        </p:nvCxnSpPr>
        <p:spPr>
          <a:xfrm>
            <a:off x="3702540" y="2504581"/>
            <a:ext cx="33061" cy="1616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8" idx="3"/>
            <a:endCxn id="43" idx="1"/>
          </p:cNvCxnSpPr>
          <p:nvPr/>
        </p:nvCxnSpPr>
        <p:spPr>
          <a:xfrm>
            <a:off x="4173181" y="2319915"/>
            <a:ext cx="109340" cy="104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Rounded Rectangle 54"/>
          <p:cNvSpPr/>
          <p:nvPr/>
        </p:nvSpPr>
        <p:spPr>
          <a:xfrm>
            <a:off x="2843808" y="3145531"/>
            <a:ext cx="1511747" cy="660113"/>
          </a:xfrm>
          <a:prstGeom prst="roundRect">
            <a:avLst/>
          </a:prstGeom>
          <a:solidFill>
            <a:schemeClr val="bg2">
              <a:lumMod val="50000"/>
            </a:schemeClr>
          </a:solidFill>
          <a:ln>
            <a:solidFill>
              <a:schemeClr val="tx1"/>
            </a:solidFill>
            <a:prstDash val="dash"/>
          </a:ln>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56" name="Straight Arrow Connector 55"/>
          <p:cNvCxnSpPr>
            <a:cxnSpLocks/>
            <a:stCxn id="55" idx="3"/>
            <a:endCxn id="44" idx="1"/>
          </p:cNvCxnSpPr>
          <p:nvPr/>
        </p:nvCxnSpPr>
        <p:spPr>
          <a:xfrm flipV="1">
            <a:off x="4355555" y="3470175"/>
            <a:ext cx="165017" cy="54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cxnSpLocks/>
            <a:stCxn id="42" idx="2"/>
          </p:cNvCxnSpPr>
          <p:nvPr/>
        </p:nvCxnSpPr>
        <p:spPr>
          <a:xfrm>
            <a:off x="3735601" y="3035571"/>
            <a:ext cx="18377" cy="2946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hape 58"/>
          <p:cNvCxnSpPr>
            <a:stCxn id="35" idx="2"/>
            <a:endCxn id="37" idx="1"/>
          </p:cNvCxnSpPr>
          <p:nvPr/>
        </p:nvCxnSpPr>
        <p:spPr>
          <a:xfrm rot="5400000" flipH="1" flipV="1">
            <a:off x="1284500" y="1423397"/>
            <a:ext cx="1581766" cy="2252117"/>
          </a:xfrm>
          <a:prstGeom prst="curvedConnector4">
            <a:avLst>
              <a:gd name="adj1" fmla="val -14452"/>
              <a:gd name="adj2" fmla="val 80169"/>
            </a:avLst>
          </a:prstGeom>
          <a:ln>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10D21A8-B697-7949-B945-C07418C8AE57}"/>
              </a:ext>
            </a:extLst>
          </p:cNvPr>
          <p:cNvSpPr txBox="1"/>
          <p:nvPr/>
        </p:nvSpPr>
        <p:spPr>
          <a:xfrm>
            <a:off x="793815" y="1242367"/>
            <a:ext cx="439544" cy="461665"/>
          </a:xfrm>
          <a:prstGeom prst="rect">
            <a:avLst/>
          </a:prstGeom>
          <a:noFill/>
        </p:spPr>
        <p:txBody>
          <a:bodyPr wrap="none" rtlCol="0">
            <a:spAutoFit/>
          </a:bodyPr>
          <a:lstStyle/>
          <a:p>
            <a:r>
              <a:rPr lang="en-US" sz="2400" dirty="0"/>
              <a:t>f  </a:t>
            </a:r>
          </a:p>
        </p:txBody>
      </p:sp>
      <p:sp>
        <p:nvSpPr>
          <p:cNvPr id="30" name="TextBox 29">
            <a:extLst>
              <a:ext uri="{FF2B5EF4-FFF2-40B4-BE49-F238E27FC236}">
                <a16:creationId xmlns:a16="http://schemas.microsoft.com/office/drawing/2014/main" id="{FBD4D8BD-2C31-5642-9354-5F09E91F5343}"/>
              </a:ext>
            </a:extLst>
          </p:cNvPr>
          <p:cNvSpPr txBox="1"/>
          <p:nvPr/>
        </p:nvSpPr>
        <p:spPr>
          <a:xfrm>
            <a:off x="3445623" y="1065560"/>
            <a:ext cx="356188" cy="461665"/>
          </a:xfrm>
          <a:prstGeom prst="rect">
            <a:avLst/>
          </a:prstGeom>
          <a:noFill/>
        </p:spPr>
        <p:txBody>
          <a:bodyPr wrap="none" rtlCol="0">
            <a:spAutoFit/>
          </a:bodyPr>
          <a:lstStyle/>
          <a:p>
            <a:r>
              <a:rPr lang="en-US" sz="2400" dirty="0"/>
              <a:t>g</a:t>
            </a:r>
          </a:p>
        </p:txBody>
      </p:sp>
      <p:cxnSp>
        <p:nvCxnSpPr>
          <p:cNvPr id="21" name="Curved Connector 20">
            <a:extLst>
              <a:ext uri="{FF2B5EF4-FFF2-40B4-BE49-F238E27FC236}">
                <a16:creationId xmlns:a16="http://schemas.microsoft.com/office/drawing/2014/main" id="{3ACF8211-8AD3-4745-BE89-D5001701EB89}"/>
              </a:ext>
            </a:extLst>
          </p:cNvPr>
          <p:cNvCxnSpPr>
            <a:stCxn id="42" idx="3"/>
          </p:cNvCxnSpPr>
          <p:nvPr/>
        </p:nvCxnSpPr>
        <p:spPr>
          <a:xfrm flipH="1">
            <a:off x="4067944" y="2850905"/>
            <a:ext cx="132688" cy="479292"/>
          </a:xfrm>
          <a:prstGeom prst="curvedConnector4">
            <a:avLst>
              <a:gd name="adj1" fmla="val -172284"/>
              <a:gd name="adj2" fmla="val 69264"/>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EC238F-A5E5-CE45-9F03-9E8F196A8321}"/>
              </a:ext>
            </a:extLst>
          </p:cNvPr>
          <p:cNvSpPr>
            <a:spLocks noGrp="1"/>
          </p:cNvSpPr>
          <p:nvPr>
            <p:ph type="ctrTitle"/>
          </p:nvPr>
        </p:nvSpPr>
        <p:spPr/>
        <p:txBody>
          <a:bodyPr/>
          <a:lstStyle/>
          <a:p>
            <a:r>
              <a:rPr lang="en-US" sz="3200" dirty="0"/>
              <a:t>The next slides are based on A&amp;O Ch 7.1. Unfortunately, this chapter does not appear in the 2</a:t>
            </a:r>
            <a:r>
              <a:rPr lang="en-US" sz="3200" baseline="30000" dirty="0"/>
              <a:t>nd</a:t>
            </a:r>
            <a:r>
              <a:rPr lang="en-US" sz="3200" dirty="0"/>
              <a:t> Ed.</a:t>
            </a:r>
          </a:p>
        </p:txBody>
      </p:sp>
      <p:sp>
        <p:nvSpPr>
          <p:cNvPr id="4" name="Slide Number Placeholder 3">
            <a:extLst>
              <a:ext uri="{FF2B5EF4-FFF2-40B4-BE49-F238E27FC236}">
                <a16:creationId xmlns:a16="http://schemas.microsoft.com/office/drawing/2014/main" id="{BD80D748-0972-614A-BD97-EE79298CA543}"/>
              </a:ext>
            </a:extLst>
          </p:cNvPr>
          <p:cNvSpPr>
            <a:spLocks noGrp="1"/>
          </p:cNvSpPr>
          <p:nvPr>
            <p:ph type="sldNum" sz="quarter" idx="12"/>
          </p:nvPr>
        </p:nvSpPr>
        <p:spPr/>
        <p:txBody>
          <a:bodyPr/>
          <a:lstStyle/>
          <a:p>
            <a:pPr>
              <a:defRPr/>
            </a:pPr>
            <a:fld id="{F51486F7-ACCF-4DB7-BBF3-9BC4B709FB28}" type="slidenum">
              <a:rPr lang="en-US" smtClean="0"/>
              <a:pPr>
                <a:defRPr/>
              </a:pPr>
              <a:t>19</a:t>
            </a:fld>
            <a:endParaRPr lang="en-US"/>
          </a:p>
        </p:txBody>
      </p:sp>
    </p:spTree>
    <p:extLst>
      <p:ext uri="{BB962C8B-B14F-4D97-AF65-F5344CB8AC3E}">
        <p14:creationId xmlns:p14="http://schemas.microsoft.com/office/powerpoint/2010/main" val="490440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z="4000" dirty="0"/>
              <a:t>OO is powerful, but also comes new sources of concerns</a:t>
            </a:r>
            <a:endParaRPr lang="en-US" sz="2400" i="1" dirty="0"/>
          </a:p>
        </p:txBody>
      </p:sp>
      <p:sp>
        <p:nvSpPr>
          <p:cNvPr id="19459" name="Content Placeholder 2"/>
          <p:cNvSpPr>
            <a:spLocks noGrp="1"/>
          </p:cNvSpPr>
          <p:nvPr>
            <p:ph idx="1"/>
          </p:nvPr>
        </p:nvSpPr>
        <p:spPr>
          <a:xfrm>
            <a:off x="395536" y="1600200"/>
            <a:ext cx="8291264" cy="4525963"/>
          </a:xfrm>
        </p:spPr>
        <p:txBody>
          <a:bodyPr/>
          <a:lstStyle/>
          <a:p>
            <a:r>
              <a:rPr lang="en-US" sz="2800" dirty="0"/>
              <a:t>A function behaves “cleanly”. In contrast, a procedure may have side effects.</a:t>
            </a:r>
          </a:p>
          <a:p>
            <a:r>
              <a:rPr lang="en-US" sz="2800" dirty="0"/>
              <a:t>An OO program is more complicated:</a:t>
            </a:r>
            <a:endParaRPr lang="en-US" dirty="0"/>
          </a:p>
          <a:p>
            <a:pPr lvl="1"/>
            <a:r>
              <a:rPr lang="en-US" dirty="0"/>
              <a:t>access control  (</a:t>
            </a:r>
            <a:r>
              <a:rPr lang="en-US" dirty="0" err="1"/>
              <a:t>priv</a:t>
            </a:r>
            <a:r>
              <a:rPr lang="en-US" dirty="0"/>
              <a:t>, pub, default, protected, ...)</a:t>
            </a:r>
            <a:endParaRPr lang="en-US" i="1" dirty="0"/>
          </a:p>
          <a:p>
            <a:pPr lvl="1"/>
            <a:r>
              <a:rPr lang="en-US" dirty="0"/>
              <a:t>side effects on instance variables and static variables</a:t>
            </a:r>
          </a:p>
          <a:p>
            <a:pPr lvl="1"/>
            <a:r>
              <a:rPr lang="en-US" dirty="0"/>
              <a:t>inheritance:</a:t>
            </a:r>
          </a:p>
          <a:p>
            <a:pPr lvl="2"/>
            <a:r>
              <a:rPr lang="en-US" sz="2800" dirty="0"/>
              <a:t>dynamic binding  </a:t>
            </a:r>
          </a:p>
          <a:p>
            <a:pPr lvl="2"/>
            <a:r>
              <a:rPr lang="en-US" sz="2800" dirty="0"/>
              <a:t>interaction through inheritance</a:t>
            </a:r>
          </a:p>
        </p:txBody>
      </p:sp>
      <p:sp>
        <p:nvSpPr>
          <p:cNvPr id="4" name="Slide Number Placeholder 3"/>
          <p:cNvSpPr>
            <a:spLocks noGrp="1"/>
          </p:cNvSpPr>
          <p:nvPr>
            <p:ph type="sldNum" sz="quarter" idx="12"/>
          </p:nvPr>
        </p:nvSpPr>
        <p:spPr/>
        <p:txBody>
          <a:bodyPr/>
          <a:lstStyle/>
          <a:p>
            <a:pPr>
              <a:defRPr/>
            </a:pPr>
            <a:fld id="{26306A5D-F995-4A3B-A90C-3D00FD00B829}"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3"/>
          <p:cNvSpPr>
            <a:spLocks noGrp="1"/>
          </p:cNvSpPr>
          <p:nvPr>
            <p:ph type="title"/>
          </p:nvPr>
        </p:nvSpPr>
        <p:spPr/>
        <p:txBody>
          <a:bodyPr/>
          <a:lstStyle/>
          <a:p>
            <a:r>
              <a:rPr lang="en-US" sz="3600" dirty="0"/>
              <a:t>Inheritance-related error prone programming patterns</a:t>
            </a:r>
          </a:p>
        </p:txBody>
      </p:sp>
      <p:sp>
        <p:nvSpPr>
          <p:cNvPr id="20483" name="Content Placeholder 4"/>
          <p:cNvSpPr>
            <a:spLocks noGrp="1"/>
          </p:cNvSpPr>
          <p:nvPr>
            <p:ph idx="1"/>
          </p:nvPr>
        </p:nvSpPr>
        <p:spPr/>
        <p:txBody>
          <a:bodyPr/>
          <a:lstStyle/>
          <a:p>
            <a:r>
              <a:rPr lang="en-US" sz="2800" dirty="0"/>
              <a:t>A&amp;O call them inheritance-related “anomalies”: use of error prone programming patterns. AO list 9 anomalies related to inheritance and dynamic binding:</a:t>
            </a:r>
          </a:p>
          <a:p>
            <a:pPr lvl="1"/>
            <a:r>
              <a:rPr lang="en-US" dirty="0"/>
              <a:t>Inconsistent Type Use (ITU)</a:t>
            </a:r>
          </a:p>
          <a:p>
            <a:pPr lvl="1"/>
            <a:r>
              <a:rPr lang="en-US" dirty="0"/>
              <a:t>State definition anomaly (SDA) ,   ...  7 more</a:t>
            </a:r>
          </a:p>
          <a:p>
            <a:r>
              <a:rPr lang="en-US" sz="2800" dirty="0"/>
              <a:t>A&amp;O also implicitly discuss two more: yoyo and data-flow anomaly.</a:t>
            </a:r>
          </a:p>
        </p:txBody>
      </p:sp>
      <p:sp>
        <p:nvSpPr>
          <p:cNvPr id="3" name="Slide Number Placeholder 2"/>
          <p:cNvSpPr>
            <a:spLocks noGrp="1"/>
          </p:cNvSpPr>
          <p:nvPr>
            <p:ph type="sldNum" sz="quarter" idx="12"/>
          </p:nvPr>
        </p:nvSpPr>
        <p:spPr/>
        <p:txBody>
          <a:bodyPr/>
          <a:lstStyle/>
          <a:p>
            <a:pPr>
              <a:defRPr/>
            </a:pPr>
            <a:fld id="{06F9FDAF-EEDC-4F73-AC52-D2F730F18E31}"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z="4000"/>
              <a:t>Inconsistent Type Use (ITU) anomaly</a:t>
            </a:r>
          </a:p>
        </p:txBody>
      </p:sp>
      <p:sp>
        <p:nvSpPr>
          <p:cNvPr id="3" name="Slide Number Placeholder 2"/>
          <p:cNvSpPr>
            <a:spLocks noGrp="1"/>
          </p:cNvSpPr>
          <p:nvPr>
            <p:ph type="sldNum" sz="quarter" idx="12"/>
          </p:nvPr>
        </p:nvSpPr>
        <p:spPr/>
        <p:txBody>
          <a:bodyPr/>
          <a:lstStyle/>
          <a:p>
            <a:pPr>
              <a:defRPr/>
            </a:pPr>
            <a:fld id="{2096F019-A9B8-4AB7-A18F-FB46C2578270}" type="slidenum">
              <a:rPr lang="en-US" smtClean="0"/>
              <a:pPr>
                <a:defRPr/>
              </a:pPr>
              <a:t>22</a:t>
            </a:fld>
            <a:endParaRPr lang="en-US"/>
          </a:p>
        </p:txBody>
      </p:sp>
      <p:sp>
        <p:nvSpPr>
          <p:cNvPr id="4" name="TextBox 3"/>
          <p:cNvSpPr txBox="1"/>
          <p:nvPr/>
        </p:nvSpPr>
        <p:spPr>
          <a:xfrm>
            <a:off x="3347864" y="1700808"/>
            <a:ext cx="2616200" cy="1200150"/>
          </a:xfrm>
          <a:prstGeom prst="rect">
            <a:avLst/>
          </a:prstGeom>
          <a:solidFill>
            <a:srgbClr val="FFFF00"/>
          </a:solidFill>
          <a:ln>
            <a:solidFill>
              <a:schemeClr val="tx1"/>
            </a:solidFill>
          </a:ln>
        </p:spPr>
        <p:txBody>
          <a:bodyPr wrap="none">
            <a:spAutoFit/>
          </a:bodyPr>
          <a:lstStyle/>
          <a:p>
            <a:pPr>
              <a:defRPr/>
            </a:pPr>
            <a:r>
              <a:rPr lang="en-US" sz="2400" b="1" u="sng" dirty="0">
                <a:latin typeface="+mn-lt"/>
                <a:cs typeface="Arial" pitchFamily="34" charset="0"/>
              </a:rPr>
              <a:t>List                            </a:t>
            </a:r>
          </a:p>
          <a:p>
            <a:pPr>
              <a:defRPr/>
            </a:pPr>
            <a:r>
              <a:rPr lang="en-US" sz="2400" dirty="0">
                <a:latin typeface="+mn-lt"/>
                <a:cs typeface="Arial" pitchFamily="34" charset="0"/>
              </a:rPr>
              <a:t>+</a:t>
            </a:r>
            <a:r>
              <a:rPr lang="en-US" sz="2400" dirty="0" err="1">
                <a:latin typeface="+mn-lt"/>
                <a:cs typeface="Arial" pitchFamily="34" charset="0"/>
              </a:rPr>
              <a:t>insertAt</a:t>
            </a:r>
            <a:r>
              <a:rPr lang="en-US" sz="2400" dirty="0">
                <a:latin typeface="+mn-lt"/>
                <a:cs typeface="Arial" pitchFamily="34" charset="0"/>
              </a:rPr>
              <a:t>(</a:t>
            </a:r>
            <a:r>
              <a:rPr lang="en-US" sz="2400" dirty="0" err="1">
                <a:latin typeface="+mn-lt"/>
                <a:cs typeface="Arial" pitchFamily="34" charset="0"/>
              </a:rPr>
              <a:t>i,x</a:t>
            </a:r>
            <a:r>
              <a:rPr lang="en-US" sz="2400" dirty="0">
                <a:latin typeface="+mn-lt"/>
                <a:cs typeface="Arial" pitchFamily="34" charset="0"/>
              </a:rPr>
              <a:t>)</a:t>
            </a:r>
          </a:p>
          <a:p>
            <a:pPr>
              <a:defRPr/>
            </a:pPr>
            <a:r>
              <a:rPr lang="en-US" sz="2400" dirty="0">
                <a:latin typeface="+mn-lt"/>
                <a:cs typeface="Arial" pitchFamily="34" charset="0"/>
              </a:rPr>
              <a:t>+</a:t>
            </a:r>
            <a:r>
              <a:rPr lang="en-US" sz="2400" dirty="0" err="1">
                <a:latin typeface="+mn-lt"/>
                <a:cs typeface="Arial" pitchFamily="34" charset="0"/>
              </a:rPr>
              <a:t>removeAt</a:t>
            </a:r>
            <a:r>
              <a:rPr lang="en-US" sz="2400" dirty="0">
                <a:latin typeface="+mn-lt"/>
                <a:cs typeface="Arial" pitchFamily="34" charset="0"/>
              </a:rPr>
              <a:t>(</a:t>
            </a:r>
            <a:r>
              <a:rPr lang="en-US" sz="2400" dirty="0" err="1">
                <a:latin typeface="+mn-lt"/>
                <a:cs typeface="Arial" pitchFamily="34" charset="0"/>
              </a:rPr>
              <a:t>i</a:t>
            </a:r>
            <a:r>
              <a:rPr lang="en-US" sz="2400" dirty="0">
                <a:latin typeface="+mn-lt"/>
                <a:cs typeface="Arial" pitchFamily="34" charset="0"/>
              </a:rPr>
              <a:t>)</a:t>
            </a:r>
          </a:p>
        </p:txBody>
      </p:sp>
      <p:sp>
        <p:nvSpPr>
          <p:cNvPr id="5" name="TextBox 4"/>
          <p:cNvSpPr txBox="1"/>
          <p:nvPr/>
        </p:nvSpPr>
        <p:spPr>
          <a:xfrm>
            <a:off x="3906664" y="3415308"/>
            <a:ext cx="1414463" cy="1200150"/>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400" b="1" u="sng" dirty="0">
                <a:latin typeface="+mn-lt"/>
                <a:cs typeface="Arial" pitchFamily="34" charset="0"/>
              </a:rPr>
              <a:t>Stack        </a:t>
            </a:r>
          </a:p>
          <a:p>
            <a:pPr>
              <a:defRPr/>
            </a:pPr>
            <a:r>
              <a:rPr lang="en-US" sz="2400" dirty="0">
                <a:latin typeface="+mn-lt"/>
                <a:cs typeface="Arial" pitchFamily="34" charset="0"/>
              </a:rPr>
              <a:t>+push(x)</a:t>
            </a:r>
          </a:p>
          <a:p>
            <a:pPr>
              <a:defRPr/>
            </a:pPr>
            <a:r>
              <a:rPr lang="en-US" sz="2400" dirty="0">
                <a:latin typeface="+mn-lt"/>
                <a:cs typeface="Arial" pitchFamily="34" charset="0"/>
              </a:rPr>
              <a:t>+pop()</a:t>
            </a:r>
          </a:p>
        </p:txBody>
      </p:sp>
      <p:sp>
        <p:nvSpPr>
          <p:cNvPr id="11" name="Isosceles Triangle 10"/>
          <p:cNvSpPr/>
          <p:nvPr/>
        </p:nvSpPr>
        <p:spPr>
          <a:xfrm>
            <a:off x="4463877" y="2915246"/>
            <a:ext cx="285750" cy="28575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3" name="Straight Connector 12"/>
          <p:cNvCxnSpPr>
            <a:stCxn id="5" idx="0"/>
            <a:endCxn id="11" idx="3"/>
          </p:cNvCxnSpPr>
          <p:nvPr/>
        </p:nvCxnSpPr>
        <p:spPr>
          <a:xfrm rot="16200000" flipV="1">
            <a:off x="4502771" y="3304977"/>
            <a:ext cx="214312" cy="63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27658" y="4829770"/>
            <a:ext cx="8358188" cy="1754326"/>
          </a:xfrm>
          <a:prstGeom prst="rect">
            <a:avLst/>
          </a:prstGeom>
          <a:noFill/>
        </p:spPr>
        <p:txBody>
          <a:bodyPr>
            <a:spAutoFit/>
          </a:bodyPr>
          <a:lstStyle/>
          <a:p>
            <a:pPr algn="just">
              <a:defRPr/>
            </a:pPr>
            <a:r>
              <a:rPr lang="en-US" dirty="0">
                <a:latin typeface="+mn-lt"/>
                <a:cs typeface="Arial" pitchFamily="34" charset="0"/>
              </a:rPr>
              <a:t>This is a quite common </a:t>
            </a:r>
            <a:r>
              <a:rPr lang="en-US" dirty="0" err="1">
                <a:latin typeface="+mn-lt"/>
                <a:cs typeface="Arial" pitchFamily="34" charset="0"/>
              </a:rPr>
              <a:t>subclassing</a:t>
            </a:r>
            <a:r>
              <a:rPr lang="en-US" dirty="0">
                <a:latin typeface="+mn-lt"/>
                <a:cs typeface="Arial" pitchFamily="34" charset="0"/>
              </a:rPr>
              <a:t> pattern. However note that in OO a Stack s can also be used as a List, which leads to an error prone situation, since a stack should not allow elements to be inserted at or removed from an arbitrary position. But a user method may not be aware that s is actually a stack, and call </a:t>
            </a:r>
            <a:r>
              <a:rPr lang="en-US" dirty="0" err="1">
                <a:latin typeface="+mn-lt"/>
                <a:cs typeface="Arial" pitchFamily="34" charset="0"/>
              </a:rPr>
              <a:t>insertAt</a:t>
            </a:r>
            <a:r>
              <a:rPr lang="en-US" dirty="0">
                <a:latin typeface="+mn-lt"/>
                <a:cs typeface="Arial" pitchFamily="34" charset="0"/>
              </a:rPr>
              <a:t> and </a:t>
            </a:r>
            <a:r>
              <a:rPr lang="en-US" dirty="0" err="1">
                <a:latin typeface="+mn-lt"/>
                <a:cs typeface="Arial" pitchFamily="34" charset="0"/>
              </a:rPr>
              <a:t>removeAt</a:t>
            </a:r>
            <a:r>
              <a:rPr lang="en-US" dirty="0">
                <a:latin typeface="+mn-lt"/>
                <a:cs typeface="Arial" pitchFamily="34" charset="0"/>
              </a:rPr>
              <a:t>! The class Stack should have overridden the methods, and e.g. make them throw an illegal operation exception.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z="4000"/>
              <a:t>State Definition Anomaly (SDA)</a:t>
            </a:r>
          </a:p>
        </p:txBody>
      </p:sp>
      <p:sp>
        <p:nvSpPr>
          <p:cNvPr id="22531" name="Content Placeholder 3"/>
          <p:cNvSpPr>
            <a:spLocks noGrp="1"/>
          </p:cNvSpPr>
          <p:nvPr>
            <p:ph idx="1"/>
          </p:nvPr>
        </p:nvSpPr>
        <p:spPr>
          <a:xfrm>
            <a:off x="457200" y="4581128"/>
            <a:ext cx="8229600" cy="1656184"/>
          </a:xfrm>
        </p:spPr>
        <p:txBody>
          <a:bodyPr/>
          <a:lstStyle/>
          <a:p>
            <a:pPr marL="0" indent="0" algn="just">
              <a:buNone/>
            </a:pPr>
            <a:r>
              <a:rPr lang="en-US" sz="1800" dirty="0" err="1"/>
              <a:t>ScalableItem</a:t>
            </a:r>
            <a:r>
              <a:rPr lang="en-US" sz="1800" dirty="0"/>
              <a:t> </a:t>
            </a:r>
            <a:r>
              <a:rPr lang="en-US" sz="1800" b="1" dirty="0"/>
              <a:t>directly</a:t>
            </a:r>
            <a:r>
              <a:rPr lang="en-US" sz="1800" dirty="0"/>
              <a:t> manipulates the part of its state which it inherits from </a:t>
            </a:r>
            <a:r>
              <a:rPr lang="en-US" sz="1800" dirty="0" err="1"/>
              <a:t>UnitItem</a:t>
            </a:r>
            <a:r>
              <a:rPr lang="en-US" sz="1800" dirty="0"/>
              <a:t> (the assignment “scale=s”), rather than doing so through </a:t>
            </a:r>
            <a:r>
              <a:rPr lang="en-US" sz="1800" dirty="0" err="1"/>
              <a:t>UnitItem’s</a:t>
            </a:r>
            <a:r>
              <a:rPr lang="en-US" sz="1800" dirty="0"/>
              <a:t> method. This error prone as it may unwittingly break </a:t>
            </a:r>
            <a:r>
              <a:rPr lang="en-US" sz="1800" dirty="0" err="1"/>
              <a:t>UnitItem’s</a:t>
            </a:r>
            <a:r>
              <a:rPr lang="en-US" sz="1800" dirty="0"/>
              <a:t> class invariant. </a:t>
            </a:r>
          </a:p>
        </p:txBody>
      </p:sp>
      <p:sp>
        <p:nvSpPr>
          <p:cNvPr id="3" name="Slide Number Placeholder 2"/>
          <p:cNvSpPr>
            <a:spLocks noGrp="1"/>
          </p:cNvSpPr>
          <p:nvPr>
            <p:ph type="sldNum" sz="quarter" idx="12"/>
          </p:nvPr>
        </p:nvSpPr>
        <p:spPr/>
        <p:txBody>
          <a:bodyPr/>
          <a:lstStyle/>
          <a:p>
            <a:pPr>
              <a:defRPr/>
            </a:pPr>
            <a:fld id="{EDAF52CB-2413-4592-99D0-B70B8299D401}" type="slidenum">
              <a:rPr lang="en-US" smtClean="0"/>
              <a:pPr>
                <a:defRPr/>
              </a:pPr>
              <a:t>23</a:t>
            </a:fld>
            <a:endParaRPr lang="en-US"/>
          </a:p>
        </p:txBody>
      </p:sp>
      <p:sp>
        <p:nvSpPr>
          <p:cNvPr id="5" name="TextBox 4"/>
          <p:cNvSpPr txBox="1"/>
          <p:nvPr/>
        </p:nvSpPr>
        <p:spPr>
          <a:xfrm>
            <a:off x="2907209" y="3369186"/>
            <a:ext cx="2676567" cy="707886"/>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000" b="1" dirty="0" err="1">
                <a:latin typeface="+mn-lt"/>
                <a:cs typeface="Arial" pitchFamily="34" charset="0"/>
              </a:rPr>
              <a:t>ScalableItem</a:t>
            </a:r>
            <a:endParaRPr lang="en-US" sz="2000" b="1" dirty="0">
              <a:latin typeface="+mn-lt"/>
              <a:cs typeface="Arial" pitchFamily="34" charset="0"/>
            </a:endParaRPr>
          </a:p>
          <a:p>
            <a:pPr>
              <a:defRPr/>
            </a:pPr>
            <a:r>
              <a:rPr lang="en-US" sz="2000" dirty="0">
                <a:latin typeface="+mn-lt"/>
                <a:cs typeface="Arial" pitchFamily="34" charset="0"/>
              </a:rPr>
              <a:t>+</a:t>
            </a:r>
            <a:r>
              <a:rPr lang="en-US" sz="2000" dirty="0" err="1">
                <a:latin typeface="+mn-lt"/>
                <a:cs typeface="Arial" pitchFamily="34" charset="0"/>
              </a:rPr>
              <a:t>setScale</a:t>
            </a:r>
            <a:r>
              <a:rPr lang="en-US" sz="2000" dirty="0">
                <a:latin typeface="+mn-lt"/>
                <a:cs typeface="Arial" pitchFamily="34" charset="0"/>
              </a:rPr>
              <a:t>(s) { scale  = s }</a:t>
            </a:r>
          </a:p>
        </p:txBody>
      </p:sp>
      <p:sp>
        <p:nvSpPr>
          <p:cNvPr id="6" name="TextBox 5"/>
          <p:cNvSpPr txBox="1"/>
          <p:nvPr/>
        </p:nvSpPr>
        <p:spPr>
          <a:xfrm>
            <a:off x="2813571" y="1940436"/>
            <a:ext cx="2880469" cy="1015663"/>
          </a:xfrm>
          <a:prstGeom prst="rect">
            <a:avLst/>
          </a:prstGeom>
          <a:solidFill>
            <a:srgbClr val="F9F967"/>
          </a:solidFill>
          <a:ln>
            <a:solidFill>
              <a:schemeClr val="tx1"/>
            </a:solidFill>
          </a:ln>
        </p:spPr>
        <p:txBody>
          <a:bodyPr wrap="none">
            <a:spAutoFit/>
          </a:bodyPr>
          <a:lstStyle/>
          <a:p>
            <a:pPr>
              <a:defRPr/>
            </a:pPr>
            <a:r>
              <a:rPr lang="en-US" sz="2000" b="1" dirty="0" err="1">
                <a:latin typeface="+mn-lt"/>
                <a:cs typeface="Arial" pitchFamily="34" charset="0"/>
              </a:rPr>
              <a:t>UnitItem</a:t>
            </a:r>
            <a:endParaRPr lang="en-US" sz="2000" b="1" dirty="0">
              <a:latin typeface="+mn-lt"/>
              <a:cs typeface="Arial" pitchFamily="34" charset="0"/>
            </a:endParaRPr>
          </a:p>
          <a:p>
            <a:pPr>
              <a:defRPr/>
            </a:pPr>
            <a:r>
              <a:rPr lang="en-US" sz="2000" dirty="0">
                <a:latin typeface="+mn-lt"/>
                <a:cs typeface="Arial" pitchFamily="34" charset="0"/>
              </a:rPr>
              <a:t>scale = 1</a:t>
            </a:r>
          </a:p>
          <a:p>
            <a:pPr>
              <a:defRPr/>
            </a:pPr>
            <a:r>
              <a:rPr lang="en-US" sz="2000" dirty="0">
                <a:latin typeface="+mn-lt"/>
                <a:cs typeface="Arial" pitchFamily="34" charset="0"/>
              </a:rPr>
              <a:t>+price() { return p*scale } </a:t>
            </a:r>
          </a:p>
        </p:txBody>
      </p:sp>
      <p:sp>
        <p:nvSpPr>
          <p:cNvPr id="8" name="Isosceles Triangle 7"/>
          <p:cNvSpPr/>
          <p:nvPr/>
        </p:nvSpPr>
        <p:spPr>
          <a:xfrm>
            <a:off x="3929583" y="2940561"/>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9" name="Straight Connector 8"/>
          <p:cNvCxnSpPr>
            <a:endCxn id="8" idx="3"/>
          </p:cNvCxnSpPr>
          <p:nvPr/>
        </p:nvCxnSpPr>
        <p:spPr>
          <a:xfrm rot="16200000" flipV="1">
            <a:off x="3913709" y="3254886"/>
            <a:ext cx="214312" cy="142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D65801A-7A85-7842-9833-DAAD114BB81A}"/>
              </a:ext>
            </a:extLst>
          </p:cNvPr>
          <p:cNvSpPr txBox="1"/>
          <p:nvPr/>
        </p:nvSpPr>
        <p:spPr>
          <a:xfrm>
            <a:off x="6001816" y="2190187"/>
            <a:ext cx="2674640" cy="523220"/>
          </a:xfrm>
          <a:prstGeom prst="rect">
            <a:avLst/>
          </a:prstGeom>
          <a:solidFill>
            <a:schemeClr val="bg1">
              <a:lumMod val="85000"/>
            </a:schemeClr>
          </a:solidFill>
        </p:spPr>
        <p:txBody>
          <a:bodyPr wrap="square" rtlCol="0">
            <a:spAutoFit/>
          </a:bodyPr>
          <a:lstStyle/>
          <a:p>
            <a:r>
              <a:rPr lang="en-US" sz="1400" dirty="0"/>
              <a:t>The class maintains the class invariant: scale &gt;= 1 </a:t>
            </a:r>
          </a:p>
        </p:txBody>
      </p:sp>
      <p:cxnSp>
        <p:nvCxnSpPr>
          <p:cNvPr id="10" name="Straight Connector 9">
            <a:extLst>
              <a:ext uri="{FF2B5EF4-FFF2-40B4-BE49-F238E27FC236}">
                <a16:creationId xmlns:a16="http://schemas.microsoft.com/office/drawing/2014/main" id="{D28F7A3F-EB9B-BB48-B970-27FABF5B6F9D}"/>
              </a:ext>
            </a:extLst>
          </p:cNvPr>
          <p:cNvCxnSpPr>
            <a:stCxn id="6" idx="3"/>
            <a:endCxn id="2" idx="1"/>
          </p:cNvCxnSpPr>
          <p:nvPr/>
        </p:nvCxnSpPr>
        <p:spPr>
          <a:xfrm>
            <a:off x="5694040" y="2448268"/>
            <a:ext cx="307776" cy="352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4000"/>
              <a:t>State definition inconsistency due to state variable hiding (SDIH)</a:t>
            </a:r>
          </a:p>
        </p:txBody>
      </p:sp>
      <p:sp>
        <p:nvSpPr>
          <p:cNvPr id="23555" name="Content Placeholder 2"/>
          <p:cNvSpPr>
            <a:spLocks noGrp="1"/>
          </p:cNvSpPr>
          <p:nvPr>
            <p:ph idx="1"/>
          </p:nvPr>
        </p:nvSpPr>
        <p:spPr>
          <a:xfrm>
            <a:off x="457200" y="4063106"/>
            <a:ext cx="8229600" cy="2462238"/>
          </a:xfrm>
        </p:spPr>
        <p:txBody>
          <a:bodyPr/>
          <a:lstStyle/>
          <a:p>
            <a:pPr marL="0" indent="0" algn="just">
              <a:buNone/>
            </a:pPr>
            <a:r>
              <a:rPr lang="en-US" sz="1800" dirty="0"/>
              <a:t>The class </a:t>
            </a:r>
            <a:r>
              <a:rPr lang="en-US" sz="1800" dirty="0" err="1"/>
              <a:t>OnSaleItem</a:t>
            </a:r>
            <a:r>
              <a:rPr lang="en-US" sz="1800" dirty="0"/>
              <a:t> declares it own “price” field, which then shadows the original “price” field inherited from the class Item. Notice that </a:t>
            </a:r>
            <a:r>
              <a:rPr lang="en-US" sz="1800" dirty="0" err="1"/>
              <a:t>OnSaleItem</a:t>
            </a:r>
            <a:r>
              <a:rPr lang="en-US" sz="1800" dirty="0"/>
              <a:t> does not override </a:t>
            </a:r>
            <a:r>
              <a:rPr lang="en-US" sz="1800" dirty="0" err="1"/>
              <a:t>setPrice</a:t>
            </a:r>
            <a:r>
              <a:rPr lang="en-US" sz="1800" dirty="0"/>
              <a:t>, which uses “price” in its calculation. This leads to an error prone situation. When we have an instance o of </a:t>
            </a:r>
            <a:r>
              <a:rPr lang="en-US" sz="1800" dirty="0" err="1"/>
              <a:t>OnSaleItem</a:t>
            </a:r>
            <a:r>
              <a:rPr lang="en-US" sz="1800" dirty="0"/>
              <a:t>, and we call </a:t>
            </a:r>
            <a:r>
              <a:rPr lang="en-US" sz="1800" dirty="0" err="1"/>
              <a:t>o.price</a:t>
            </a:r>
            <a:r>
              <a:rPr lang="en-US" sz="1800" dirty="0"/>
              <a:t>(), (in Java) the method price() would use the old price rather than the newly declared price.</a:t>
            </a:r>
          </a:p>
        </p:txBody>
      </p:sp>
      <p:sp>
        <p:nvSpPr>
          <p:cNvPr id="4" name="Slide Number Placeholder 3"/>
          <p:cNvSpPr>
            <a:spLocks noGrp="1"/>
          </p:cNvSpPr>
          <p:nvPr>
            <p:ph type="sldNum" sz="quarter" idx="12"/>
          </p:nvPr>
        </p:nvSpPr>
        <p:spPr/>
        <p:txBody>
          <a:bodyPr/>
          <a:lstStyle/>
          <a:p>
            <a:pPr>
              <a:defRPr/>
            </a:pPr>
            <a:fld id="{733EE044-0A3C-4C09-B629-9785C3CE45E7}" type="slidenum">
              <a:rPr lang="en-US" smtClean="0"/>
              <a:pPr>
                <a:defRPr/>
              </a:pPr>
              <a:t>24</a:t>
            </a:fld>
            <a:endParaRPr lang="en-US"/>
          </a:p>
        </p:txBody>
      </p:sp>
      <p:sp>
        <p:nvSpPr>
          <p:cNvPr id="5" name="TextBox 4"/>
          <p:cNvSpPr txBox="1"/>
          <p:nvPr/>
        </p:nvSpPr>
        <p:spPr>
          <a:xfrm>
            <a:off x="928688" y="1941066"/>
            <a:ext cx="3651321" cy="1631216"/>
          </a:xfrm>
          <a:prstGeom prst="rect">
            <a:avLst/>
          </a:prstGeom>
          <a:solidFill>
            <a:srgbClr val="FFFF00"/>
          </a:solidFill>
          <a:ln>
            <a:solidFill>
              <a:schemeClr val="tx1"/>
            </a:solidFill>
          </a:ln>
        </p:spPr>
        <p:txBody>
          <a:bodyPr wrap="none">
            <a:spAutoFit/>
          </a:bodyPr>
          <a:lstStyle/>
          <a:p>
            <a:pPr>
              <a:defRPr/>
            </a:pPr>
            <a:r>
              <a:rPr lang="en-US" sz="2000" b="1" dirty="0">
                <a:latin typeface="+mn-lt"/>
                <a:cs typeface="Arial" pitchFamily="34" charset="0"/>
              </a:rPr>
              <a:t>Item</a:t>
            </a:r>
          </a:p>
          <a:p>
            <a:pPr>
              <a:defRPr/>
            </a:pPr>
            <a:r>
              <a:rPr lang="en-US" sz="2000" dirty="0">
                <a:latin typeface="+mn-lt"/>
                <a:cs typeface="Arial" pitchFamily="34" charset="0"/>
              </a:rPr>
              <a:t>price</a:t>
            </a:r>
          </a:p>
          <a:p>
            <a:pPr>
              <a:defRPr/>
            </a:pPr>
            <a:r>
              <a:rPr lang="en-US" sz="2000" dirty="0">
                <a:latin typeface="+mn-lt"/>
                <a:cs typeface="Arial" pitchFamily="34" charset="0"/>
              </a:rPr>
              <a:t>tax</a:t>
            </a:r>
          </a:p>
          <a:p>
            <a:pPr>
              <a:defRPr/>
            </a:pPr>
            <a:r>
              <a:rPr lang="en-US" sz="2000" dirty="0">
                <a:latin typeface="+mn-lt"/>
                <a:cs typeface="Arial" pitchFamily="34" charset="0"/>
              </a:rPr>
              <a:t>+price() { return price * (1 + tax) }</a:t>
            </a:r>
          </a:p>
          <a:p>
            <a:pPr>
              <a:defRPr/>
            </a:pPr>
            <a:r>
              <a:rPr lang="en-US" sz="2000" dirty="0">
                <a:latin typeface="+mn-lt"/>
                <a:cs typeface="Arial" pitchFamily="34" charset="0"/>
              </a:rPr>
              <a:t>+</a:t>
            </a:r>
            <a:r>
              <a:rPr lang="en-US" sz="2000" dirty="0" err="1">
                <a:latin typeface="+mn-lt"/>
                <a:cs typeface="Arial" pitchFamily="34" charset="0"/>
              </a:rPr>
              <a:t>setPrice</a:t>
            </a:r>
            <a:r>
              <a:rPr lang="en-US" sz="2000" dirty="0">
                <a:latin typeface="+mn-lt"/>
                <a:cs typeface="Arial" pitchFamily="34" charset="0"/>
              </a:rPr>
              <a:t>(p) { price = p }</a:t>
            </a:r>
          </a:p>
        </p:txBody>
      </p:sp>
      <p:sp>
        <p:nvSpPr>
          <p:cNvPr id="6" name="TextBox 5"/>
          <p:cNvSpPr txBox="1"/>
          <p:nvPr/>
        </p:nvSpPr>
        <p:spPr>
          <a:xfrm>
            <a:off x="5469544" y="2226816"/>
            <a:ext cx="2630848" cy="1015663"/>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000" b="1" dirty="0" err="1">
                <a:latin typeface="+mn-lt"/>
                <a:cs typeface="Arial" pitchFamily="34" charset="0"/>
              </a:rPr>
              <a:t>OnSaleItem</a:t>
            </a:r>
            <a:endParaRPr lang="en-US" sz="2000" b="1" dirty="0">
              <a:latin typeface="+mn-lt"/>
              <a:cs typeface="Arial" pitchFamily="34" charset="0"/>
            </a:endParaRPr>
          </a:p>
          <a:p>
            <a:pPr>
              <a:defRPr/>
            </a:pPr>
            <a:r>
              <a:rPr lang="en-US" sz="2000" dirty="0">
                <a:latin typeface="+mn-lt"/>
                <a:cs typeface="Arial" pitchFamily="34" charset="0"/>
              </a:rPr>
              <a:t>price</a:t>
            </a:r>
          </a:p>
          <a:p>
            <a:pPr>
              <a:defRPr/>
            </a:pPr>
            <a:r>
              <a:rPr lang="en-US" sz="2000" dirty="0">
                <a:latin typeface="+mn-lt"/>
                <a:cs typeface="Arial" pitchFamily="34" charset="0"/>
              </a:rPr>
              <a:t>+sale(p) { price = 0.8 p }</a:t>
            </a:r>
          </a:p>
        </p:txBody>
      </p:sp>
      <p:sp>
        <p:nvSpPr>
          <p:cNvPr id="7" name="Isosceles Triangle 6"/>
          <p:cNvSpPr/>
          <p:nvPr/>
        </p:nvSpPr>
        <p:spPr>
          <a:xfrm rot="16200000">
            <a:off x="4991707" y="2633216"/>
            <a:ext cx="169862" cy="214312"/>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8" name="Straight Connector 7"/>
          <p:cNvCxnSpPr>
            <a:stCxn id="6" idx="1"/>
            <a:endCxn id="7" idx="3"/>
          </p:cNvCxnSpPr>
          <p:nvPr/>
        </p:nvCxnSpPr>
        <p:spPr>
          <a:xfrm flipH="1">
            <a:off x="5183794" y="2734648"/>
            <a:ext cx="285750" cy="5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State Visibility Anomaly (SVA)</a:t>
            </a:r>
          </a:p>
        </p:txBody>
      </p:sp>
      <p:sp>
        <p:nvSpPr>
          <p:cNvPr id="4" name="Slide Number Placeholder 3"/>
          <p:cNvSpPr>
            <a:spLocks noGrp="1"/>
          </p:cNvSpPr>
          <p:nvPr>
            <p:ph type="sldNum" sz="quarter" idx="12"/>
          </p:nvPr>
        </p:nvSpPr>
        <p:spPr/>
        <p:txBody>
          <a:bodyPr/>
          <a:lstStyle/>
          <a:p>
            <a:pPr>
              <a:defRPr/>
            </a:pPr>
            <a:fld id="{7BA62E47-B85A-49C4-900D-EB78D0968550}" type="slidenum">
              <a:rPr lang="en-US" smtClean="0"/>
              <a:pPr>
                <a:defRPr/>
              </a:pPr>
              <a:t>25</a:t>
            </a:fld>
            <a:endParaRPr lang="en-US"/>
          </a:p>
        </p:txBody>
      </p:sp>
      <p:sp>
        <p:nvSpPr>
          <p:cNvPr id="5" name="TextBox 4"/>
          <p:cNvSpPr txBox="1"/>
          <p:nvPr/>
        </p:nvSpPr>
        <p:spPr>
          <a:xfrm>
            <a:off x="2300288" y="2270125"/>
            <a:ext cx="1031875" cy="1016000"/>
          </a:xfrm>
          <a:prstGeom prst="rect">
            <a:avLst/>
          </a:prstGeom>
          <a:solidFill>
            <a:srgbClr val="FFFF00"/>
          </a:solidFill>
          <a:ln>
            <a:solidFill>
              <a:schemeClr val="tx1"/>
            </a:solidFill>
          </a:ln>
        </p:spPr>
        <p:txBody>
          <a:bodyPr wrap="none">
            <a:spAutoFit/>
          </a:bodyPr>
          <a:lstStyle/>
          <a:p>
            <a:pPr>
              <a:defRPr/>
            </a:pPr>
            <a:r>
              <a:rPr lang="en-US" sz="2000" b="1" u="sng" dirty="0">
                <a:latin typeface="+mn-lt"/>
                <a:cs typeface="Arial" pitchFamily="34" charset="0"/>
              </a:rPr>
              <a:t>A            </a:t>
            </a:r>
          </a:p>
          <a:p>
            <a:pPr>
              <a:buFontTx/>
              <a:buChar char="-"/>
              <a:defRPr/>
            </a:pPr>
            <a:r>
              <a:rPr lang="en-US" sz="2000" dirty="0">
                <a:latin typeface="+mn-lt"/>
                <a:cs typeface="Arial" pitchFamily="34" charset="0"/>
              </a:rPr>
              <a:t> x</a:t>
            </a:r>
          </a:p>
          <a:p>
            <a:pPr>
              <a:defRPr/>
            </a:pPr>
            <a:r>
              <a:rPr lang="en-US" sz="2000" dirty="0">
                <a:latin typeface="+mn-lt"/>
                <a:cs typeface="Arial" pitchFamily="34" charset="0"/>
              </a:rPr>
              <a:t>+ </a:t>
            </a:r>
            <a:r>
              <a:rPr lang="en-US" sz="2000" dirty="0" err="1">
                <a:latin typeface="+mn-lt"/>
                <a:cs typeface="Arial" pitchFamily="34" charset="0"/>
              </a:rPr>
              <a:t>incr</a:t>
            </a:r>
            <a:r>
              <a:rPr lang="en-US" sz="2000" dirty="0">
                <a:latin typeface="+mn-lt"/>
                <a:cs typeface="Arial" pitchFamily="34" charset="0"/>
              </a:rPr>
              <a:t>()</a:t>
            </a:r>
          </a:p>
        </p:txBody>
      </p:sp>
      <p:sp>
        <p:nvSpPr>
          <p:cNvPr id="6" name="TextBox 5"/>
          <p:cNvSpPr txBox="1"/>
          <p:nvPr/>
        </p:nvSpPr>
        <p:spPr>
          <a:xfrm>
            <a:off x="3871913" y="2419350"/>
            <a:ext cx="1020762" cy="708025"/>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000" b="1" u="sng" dirty="0">
                <a:latin typeface="+mn-lt"/>
                <a:cs typeface="Arial" pitchFamily="34" charset="0"/>
              </a:rPr>
              <a:t>B            </a:t>
            </a:r>
          </a:p>
          <a:p>
            <a:pPr>
              <a:defRPr/>
            </a:pPr>
            <a:endParaRPr lang="en-US" sz="2000" b="1" u="sng" dirty="0">
              <a:latin typeface="+mn-lt"/>
              <a:cs typeface="Arial" pitchFamily="34" charset="0"/>
            </a:endParaRPr>
          </a:p>
        </p:txBody>
      </p:sp>
      <p:sp>
        <p:nvSpPr>
          <p:cNvPr id="7" name="TextBox 6"/>
          <p:cNvSpPr txBox="1"/>
          <p:nvPr/>
        </p:nvSpPr>
        <p:spPr>
          <a:xfrm>
            <a:off x="5514975" y="2419350"/>
            <a:ext cx="1128713" cy="708025"/>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000" b="1" u="sng" dirty="0">
                <a:latin typeface="+mn-lt"/>
                <a:cs typeface="Arial" pitchFamily="34" charset="0"/>
              </a:rPr>
              <a:t>C              </a:t>
            </a:r>
          </a:p>
          <a:p>
            <a:pPr>
              <a:defRPr/>
            </a:pPr>
            <a:r>
              <a:rPr lang="en-US" sz="2000" dirty="0">
                <a:latin typeface="+mn-lt"/>
                <a:cs typeface="Arial" pitchFamily="34" charset="0"/>
              </a:rPr>
              <a:t>+ incr2()</a:t>
            </a:r>
          </a:p>
        </p:txBody>
      </p:sp>
      <p:sp>
        <p:nvSpPr>
          <p:cNvPr id="8" name="Isosceles Triangle 7"/>
          <p:cNvSpPr/>
          <p:nvPr/>
        </p:nvSpPr>
        <p:spPr>
          <a:xfrm rot="16200000">
            <a:off x="3394075" y="2676525"/>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9" name="Straight Connector 8"/>
          <p:cNvCxnSpPr>
            <a:endCxn id="8" idx="3"/>
          </p:cNvCxnSpPr>
          <p:nvPr/>
        </p:nvCxnSpPr>
        <p:spPr>
          <a:xfrm rot="10800000">
            <a:off x="3586163" y="2784475"/>
            <a:ext cx="311150" cy="47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rot="16200000">
            <a:off x="4965700" y="2676525"/>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1" name="Straight Connector 10"/>
          <p:cNvCxnSpPr>
            <a:endCxn id="10" idx="3"/>
          </p:cNvCxnSpPr>
          <p:nvPr/>
        </p:nvCxnSpPr>
        <p:spPr>
          <a:xfrm rot="10800000">
            <a:off x="5157788" y="2784475"/>
            <a:ext cx="311150" cy="47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57200" y="3929063"/>
            <a:ext cx="8229600" cy="1200329"/>
          </a:xfrm>
          <a:prstGeom prst="rect">
            <a:avLst/>
          </a:prstGeom>
          <a:noFill/>
        </p:spPr>
        <p:txBody>
          <a:bodyPr wrap="square">
            <a:spAutoFit/>
          </a:bodyPr>
          <a:lstStyle/>
          <a:p>
            <a:pPr algn="just">
              <a:defRPr/>
            </a:pPr>
            <a:r>
              <a:rPr lang="en-US" i="1" dirty="0">
                <a:latin typeface="+mn-lt"/>
                <a:cs typeface="Arial" pitchFamily="34" charset="0"/>
              </a:rPr>
              <a:t>C’</a:t>
            </a:r>
            <a:r>
              <a:rPr lang="en-US" dirty="0">
                <a:latin typeface="+mn-lt"/>
                <a:cs typeface="Arial" pitchFamily="34" charset="0"/>
              </a:rPr>
              <a:t>s needs a method </a:t>
            </a:r>
            <a:r>
              <a:rPr lang="en-US" i="1" dirty="0">
                <a:latin typeface="+mn-lt"/>
                <a:cs typeface="Arial" pitchFamily="34" charset="0"/>
              </a:rPr>
              <a:t>incr2</a:t>
            </a:r>
            <a:r>
              <a:rPr lang="en-US" dirty="0">
                <a:latin typeface="+mn-lt"/>
                <a:cs typeface="Arial" pitchFamily="34" charset="0"/>
              </a:rPr>
              <a:t> that would increase </a:t>
            </a:r>
            <a:r>
              <a:rPr lang="en-US" i="1" dirty="0">
                <a:latin typeface="+mn-lt"/>
                <a:cs typeface="Arial" pitchFamily="34" charset="0"/>
              </a:rPr>
              <a:t>x</a:t>
            </a:r>
            <a:r>
              <a:rPr lang="en-US" dirty="0">
                <a:latin typeface="+mn-lt"/>
                <a:cs typeface="Arial" pitchFamily="34" charset="0"/>
              </a:rPr>
              <a:t> by 2. However it can’t get to </a:t>
            </a:r>
            <a:r>
              <a:rPr lang="en-US" i="1" dirty="0">
                <a:latin typeface="+mn-lt"/>
                <a:cs typeface="Arial" pitchFamily="34" charset="0"/>
              </a:rPr>
              <a:t>x</a:t>
            </a:r>
            <a:r>
              <a:rPr lang="en-US" dirty="0">
                <a:latin typeface="+mn-lt"/>
                <a:cs typeface="Arial" pitchFamily="34" charset="0"/>
              </a:rPr>
              <a:t>, because it is private to </a:t>
            </a:r>
            <a:r>
              <a:rPr lang="en-US" i="1" dirty="0">
                <a:latin typeface="+mn-lt"/>
                <a:cs typeface="Arial" pitchFamily="34" charset="0"/>
              </a:rPr>
              <a:t>A</a:t>
            </a:r>
            <a:r>
              <a:rPr lang="en-US" dirty="0">
                <a:latin typeface="+mn-lt"/>
                <a:cs typeface="Arial" pitchFamily="34" charset="0"/>
              </a:rPr>
              <a:t>.  It can however calls </a:t>
            </a:r>
            <a:r>
              <a:rPr lang="en-US" dirty="0" err="1">
                <a:latin typeface="+mn-lt"/>
                <a:cs typeface="Arial" pitchFamily="34" charset="0"/>
              </a:rPr>
              <a:t>incr</a:t>
            </a:r>
            <a:r>
              <a:rPr lang="en-US" dirty="0">
                <a:latin typeface="+mn-lt"/>
                <a:cs typeface="Arial" pitchFamily="34" charset="0"/>
              </a:rPr>
              <a:t>() twice. So far it is ok. Now imagine someone else changes </a:t>
            </a:r>
            <a:r>
              <a:rPr lang="en-US" i="1" dirty="0">
                <a:latin typeface="+mn-lt"/>
                <a:cs typeface="Arial" pitchFamily="34" charset="0"/>
              </a:rPr>
              <a:t>B</a:t>
            </a:r>
            <a:r>
              <a:rPr lang="en-US" dirty="0">
                <a:latin typeface="+mn-lt"/>
                <a:cs typeface="Arial" pitchFamily="34" charset="0"/>
              </a:rPr>
              <a:t> by overriding </a:t>
            </a:r>
            <a:r>
              <a:rPr lang="en-US" i="1" dirty="0">
                <a:latin typeface="+mn-lt"/>
                <a:cs typeface="Arial" pitchFamily="34" charset="0"/>
              </a:rPr>
              <a:t>incr</a:t>
            </a:r>
            <a:r>
              <a:rPr lang="en-US" dirty="0">
                <a:latin typeface="+mn-lt"/>
                <a:cs typeface="Arial" pitchFamily="34" charset="0"/>
              </a:rPr>
              <a:t>. This suddenly changes the behavior of </a:t>
            </a:r>
            <a:r>
              <a:rPr lang="en-US" i="1" dirty="0">
                <a:latin typeface="+mn-lt"/>
                <a:cs typeface="Arial" pitchFamily="34" charset="0"/>
              </a:rPr>
              <a:t>C</a:t>
            </a:r>
            <a:r>
              <a:rPr lang="en-US" dirty="0">
                <a:latin typeface="+mn-lt"/>
                <a:cs typeface="Arial" pitchFamily="34" charset="0"/>
              </a:rPr>
              <a:t>; as it now calls </a:t>
            </a:r>
            <a:r>
              <a:rPr lang="en-US" i="1" dirty="0">
                <a:latin typeface="+mn-lt"/>
                <a:cs typeface="Arial" pitchFamily="34" charset="0"/>
              </a:rPr>
              <a:t>B</a:t>
            </a:r>
            <a:r>
              <a:rPr lang="en-US" dirty="0">
                <a:latin typeface="+mn-lt"/>
                <a:cs typeface="Arial" pitchFamily="34" charset="0"/>
              </a:rPr>
              <a:t>’s </a:t>
            </a:r>
            <a:r>
              <a:rPr lang="en-US" i="1" dirty="0" err="1">
                <a:latin typeface="+mn-lt"/>
                <a:cs typeface="Arial" pitchFamily="34" charset="0"/>
              </a:rPr>
              <a:t>incr</a:t>
            </a:r>
            <a:r>
              <a:rPr lang="en-US" dirty="0">
                <a:latin typeface="+mn-lt"/>
                <a:cs typeface="Arial" pitchFamily="34" charset="0"/>
              </a:rPr>
              <a:t> instead.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z="3600"/>
              <a:t>Anomalous Construction Behavior 1 (ACB1)</a:t>
            </a:r>
          </a:p>
        </p:txBody>
      </p:sp>
      <p:sp>
        <p:nvSpPr>
          <p:cNvPr id="25603" name="Content Placeholder 2"/>
          <p:cNvSpPr>
            <a:spLocks noGrp="1"/>
          </p:cNvSpPr>
          <p:nvPr>
            <p:ph idx="1"/>
          </p:nvPr>
        </p:nvSpPr>
        <p:spPr>
          <a:xfrm>
            <a:off x="460057" y="3893206"/>
            <a:ext cx="8229600" cy="2554288"/>
          </a:xfrm>
        </p:spPr>
        <p:txBody>
          <a:bodyPr/>
          <a:lstStyle/>
          <a:p>
            <a:pPr marL="0" indent="0" algn="just">
              <a:buNone/>
            </a:pPr>
            <a:r>
              <a:rPr lang="en-US" sz="1800" dirty="0"/>
              <a:t>In the above design, Item’s constructor calls reset(). </a:t>
            </a:r>
            <a:r>
              <a:rPr lang="en-US" sz="1800" dirty="0" err="1"/>
              <a:t>ExpensiveItem</a:t>
            </a:r>
            <a:r>
              <a:rPr lang="en-US" sz="1800" dirty="0"/>
              <a:t> overrides reset(). So far so good. But then, </a:t>
            </a:r>
            <a:r>
              <a:rPr lang="en-US" sz="1800" dirty="0" err="1"/>
              <a:t>ExpensiveItem’s</a:t>
            </a:r>
            <a:r>
              <a:rPr lang="en-US" sz="1800" dirty="0"/>
              <a:t> constructor calls Item’s constructor. This leads to an error prone situation. The latter would then call reset(). In Java, it will call the new reset() rather than the old one (which may or may not be the intended behavior).</a:t>
            </a:r>
          </a:p>
        </p:txBody>
      </p:sp>
      <p:sp>
        <p:nvSpPr>
          <p:cNvPr id="4" name="Slide Number Placeholder 3"/>
          <p:cNvSpPr>
            <a:spLocks noGrp="1"/>
          </p:cNvSpPr>
          <p:nvPr>
            <p:ph type="sldNum" sz="quarter" idx="12"/>
          </p:nvPr>
        </p:nvSpPr>
        <p:spPr/>
        <p:txBody>
          <a:bodyPr/>
          <a:lstStyle/>
          <a:p>
            <a:pPr>
              <a:defRPr/>
            </a:pPr>
            <a:fld id="{1DF02825-223A-4D7E-845E-C6E374D8798F}" type="slidenum">
              <a:rPr lang="en-US" smtClean="0"/>
              <a:pPr>
                <a:defRPr/>
              </a:pPr>
              <a:t>26</a:t>
            </a:fld>
            <a:endParaRPr lang="en-US"/>
          </a:p>
        </p:txBody>
      </p:sp>
      <p:sp>
        <p:nvSpPr>
          <p:cNvPr id="5" name="TextBox 4"/>
          <p:cNvSpPr txBox="1"/>
          <p:nvPr/>
        </p:nvSpPr>
        <p:spPr>
          <a:xfrm>
            <a:off x="623591" y="1941800"/>
            <a:ext cx="2600199" cy="1631216"/>
          </a:xfrm>
          <a:prstGeom prst="rect">
            <a:avLst/>
          </a:prstGeom>
          <a:solidFill>
            <a:srgbClr val="FFFF00"/>
          </a:solidFill>
          <a:ln>
            <a:solidFill>
              <a:schemeClr val="tx1"/>
            </a:solidFill>
          </a:ln>
        </p:spPr>
        <p:txBody>
          <a:bodyPr wrap="none">
            <a:spAutoFit/>
          </a:bodyPr>
          <a:lstStyle/>
          <a:p>
            <a:pPr>
              <a:defRPr/>
            </a:pPr>
            <a:r>
              <a:rPr lang="en-US" sz="2000" b="1" dirty="0">
                <a:latin typeface="+mn-lt"/>
                <a:cs typeface="Arial" pitchFamily="34" charset="0"/>
              </a:rPr>
              <a:t>Item</a:t>
            </a:r>
          </a:p>
          <a:p>
            <a:pPr>
              <a:defRPr/>
            </a:pPr>
            <a:r>
              <a:rPr lang="en-US" sz="2000" dirty="0">
                <a:latin typeface="+mn-lt"/>
                <a:cs typeface="Arial" pitchFamily="34" charset="0"/>
              </a:rPr>
              <a:t>price</a:t>
            </a:r>
          </a:p>
          <a:p>
            <a:pPr>
              <a:defRPr/>
            </a:pPr>
            <a:r>
              <a:rPr lang="en-US" sz="2000" dirty="0">
                <a:latin typeface="+mn-lt"/>
                <a:cs typeface="Arial" pitchFamily="34" charset="0"/>
              </a:rPr>
              <a:t>tax </a:t>
            </a:r>
          </a:p>
          <a:p>
            <a:pPr>
              <a:defRPr/>
            </a:pPr>
            <a:r>
              <a:rPr lang="en-US" sz="2000" dirty="0">
                <a:latin typeface="+mn-lt"/>
                <a:cs typeface="Arial" pitchFamily="34" charset="0"/>
              </a:rPr>
              <a:t>Item() { reset() ; tax=0 }</a:t>
            </a:r>
          </a:p>
          <a:p>
            <a:pPr>
              <a:defRPr/>
            </a:pPr>
            <a:r>
              <a:rPr lang="en-US" sz="2000" dirty="0">
                <a:latin typeface="+mn-lt"/>
                <a:cs typeface="Arial" pitchFamily="34" charset="0"/>
              </a:rPr>
              <a:t>reset() { price = 1 }</a:t>
            </a:r>
          </a:p>
        </p:txBody>
      </p:sp>
      <p:sp>
        <p:nvSpPr>
          <p:cNvPr id="6" name="Isosceles Triangle 5"/>
          <p:cNvSpPr/>
          <p:nvPr/>
        </p:nvSpPr>
        <p:spPr>
          <a:xfrm rot="16200000">
            <a:off x="3245494" y="2626012"/>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TextBox 6"/>
          <p:cNvSpPr txBox="1"/>
          <p:nvPr/>
        </p:nvSpPr>
        <p:spPr>
          <a:xfrm>
            <a:off x="3943994" y="2084675"/>
            <a:ext cx="4516438" cy="1323975"/>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000" b="1" dirty="0" err="1">
                <a:latin typeface="+mn-lt"/>
                <a:cs typeface="Arial" pitchFamily="34" charset="0"/>
              </a:rPr>
              <a:t>ExpensiveItem</a:t>
            </a:r>
            <a:endParaRPr lang="en-US" sz="2000" b="1" dirty="0">
              <a:latin typeface="+mn-lt"/>
              <a:cs typeface="Arial" pitchFamily="34" charset="0"/>
            </a:endParaRPr>
          </a:p>
          <a:p>
            <a:pPr>
              <a:defRPr/>
            </a:pPr>
            <a:r>
              <a:rPr lang="en-US" sz="2000" dirty="0" err="1">
                <a:latin typeface="+mn-lt"/>
                <a:cs typeface="Arial" pitchFamily="34" charset="0"/>
              </a:rPr>
              <a:t>baseprice</a:t>
            </a:r>
            <a:endParaRPr lang="en-US" sz="2000" dirty="0">
              <a:latin typeface="+mn-lt"/>
              <a:cs typeface="Arial" pitchFamily="34" charset="0"/>
            </a:endParaRPr>
          </a:p>
          <a:p>
            <a:pPr>
              <a:defRPr/>
            </a:pPr>
            <a:r>
              <a:rPr lang="en-US" sz="2000" dirty="0" err="1">
                <a:latin typeface="+mn-lt"/>
                <a:cs typeface="Arial" pitchFamily="34" charset="0"/>
              </a:rPr>
              <a:t>ExpensiveItem</a:t>
            </a:r>
            <a:r>
              <a:rPr lang="en-US" sz="2000" dirty="0">
                <a:latin typeface="+mn-lt"/>
                <a:cs typeface="Arial" pitchFamily="34" charset="0"/>
              </a:rPr>
              <a:t>() { super() ; </a:t>
            </a:r>
            <a:r>
              <a:rPr lang="en-US" sz="2000" dirty="0" err="1">
                <a:latin typeface="+mn-lt"/>
                <a:cs typeface="Arial" pitchFamily="34" charset="0"/>
              </a:rPr>
              <a:t>baseprice</a:t>
            </a:r>
            <a:r>
              <a:rPr lang="en-US" sz="2000" dirty="0">
                <a:latin typeface="+mn-lt"/>
                <a:cs typeface="Arial" pitchFamily="34" charset="0"/>
              </a:rPr>
              <a:t>=10 }</a:t>
            </a:r>
          </a:p>
          <a:p>
            <a:pPr>
              <a:defRPr/>
            </a:pPr>
            <a:r>
              <a:rPr lang="en-US" sz="2000" dirty="0">
                <a:latin typeface="+mn-lt"/>
                <a:cs typeface="Arial" pitchFamily="34" charset="0"/>
              </a:rPr>
              <a:t>reset() { price = </a:t>
            </a:r>
            <a:r>
              <a:rPr lang="en-US" sz="2000" dirty="0" err="1">
                <a:latin typeface="+mn-lt"/>
                <a:cs typeface="Arial" pitchFamily="34" charset="0"/>
              </a:rPr>
              <a:t>baseprice</a:t>
            </a:r>
            <a:r>
              <a:rPr lang="en-US" sz="2000" dirty="0">
                <a:latin typeface="+mn-lt"/>
                <a:cs typeface="Arial" pitchFamily="34" charset="0"/>
              </a:rPr>
              <a:t> }</a:t>
            </a:r>
          </a:p>
        </p:txBody>
      </p:sp>
      <p:cxnSp>
        <p:nvCxnSpPr>
          <p:cNvPr id="8" name="Straight Connector 7"/>
          <p:cNvCxnSpPr>
            <a:stCxn id="7" idx="1"/>
            <a:endCxn id="6" idx="3"/>
          </p:cNvCxnSpPr>
          <p:nvPr/>
        </p:nvCxnSpPr>
        <p:spPr>
          <a:xfrm flipH="1" flipV="1">
            <a:off x="3437582" y="2732375"/>
            <a:ext cx="506412" cy="142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3"/>
          <p:cNvSpPr>
            <a:spLocks noGrp="1"/>
          </p:cNvSpPr>
          <p:nvPr>
            <p:ph type="title"/>
          </p:nvPr>
        </p:nvSpPr>
        <p:spPr/>
        <p:txBody>
          <a:bodyPr/>
          <a:lstStyle/>
          <a:p>
            <a:r>
              <a:rPr lang="en-US" sz="4000"/>
              <a:t>Check the remaining anomalies yourself</a:t>
            </a:r>
          </a:p>
        </p:txBody>
      </p:sp>
      <p:sp>
        <p:nvSpPr>
          <p:cNvPr id="29699" name="Content Placeholder 4"/>
          <p:cNvSpPr>
            <a:spLocks noGrp="1"/>
          </p:cNvSpPr>
          <p:nvPr>
            <p:ph idx="1"/>
          </p:nvPr>
        </p:nvSpPr>
        <p:spPr/>
        <p:txBody>
          <a:bodyPr/>
          <a:lstStyle/>
          <a:p>
            <a:r>
              <a:rPr lang="en-US"/>
              <a:t>State Defined Incorrectly (SDI)</a:t>
            </a:r>
          </a:p>
          <a:p>
            <a:r>
              <a:rPr lang="en-US"/>
              <a:t>Indirect Inconsistent State Definition (IISD)</a:t>
            </a:r>
          </a:p>
          <a:p>
            <a:r>
              <a:rPr lang="en-US"/>
              <a:t>Anomalous Construction Behavior 2 (ACB2)</a:t>
            </a:r>
          </a:p>
          <a:p>
            <a:r>
              <a:rPr lang="en-US"/>
              <a:t>Incomplete Construction (IC)</a:t>
            </a:r>
          </a:p>
        </p:txBody>
      </p:sp>
      <p:sp>
        <p:nvSpPr>
          <p:cNvPr id="3" name="Slide Number Placeholder 2"/>
          <p:cNvSpPr>
            <a:spLocks noGrp="1"/>
          </p:cNvSpPr>
          <p:nvPr>
            <p:ph type="sldNum" sz="quarter" idx="12"/>
          </p:nvPr>
        </p:nvSpPr>
        <p:spPr/>
        <p:txBody>
          <a:bodyPr/>
          <a:lstStyle/>
          <a:p>
            <a:pPr>
              <a:defRPr/>
            </a:pPr>
            <a:fld id="{18531432-A9D7-4DEA-87EB-ABCC88ADDF79}"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CDCA-C040-024E-87AF-BDA15F564C15}"/>
              </a:ext>
            </a:extLst>
          </p:cNvPr>
          <p:cNvSpPr>
            <a:spLocks noGrp="1"/>
          </p:cNvSpPr>
          <p:nvPr>
            <p:ph type="title"/>
          </p:nvPr>
        </p:nvSpPr>
        <p:spPr/>
        <p:txBody>
          <a:bodyPr/>
          <a:lstStyle/>
          <a:p>
            <a:r>
              <a:rPr lang="en-US" dirty="0"/>
              <a:t>Error prone situations due to inheritance</a:t>
            </a:r>
          </a:p>
        </p:txBody>
      </p:sp>
      <p:sp>
        <p:nvSpPr>
          <p:cNvPr id="3" name="Content Placeholder 2">
            <a:extLst>
              <a:ext uri="{FF2B5EF4-FFF2-40B4-BE49-F238E27FC236}">
                <a16:creationId xmlns:a16="http://schemas.microsoft.com/office/drawing/2014/main" id="{30E72786-356F-C049-B051-684F81B51F26}"/>
              </a:ext>
            </a:extLst>
          </p:cNvPr>
          <p:cNvSpPr>
            <a:spLocks noGrp="1"/>
          </p:cNvSpPr>
          <p:nvPr>
            <p:ph idx="1"/>
          </p:nvPr>
        </p:nvSpPr>
        <p:spPr/>
        <p:txBody>
          <a:bodyPr/>
          <a:lstStyle/>
          <a:p>
            <a:r>
              <a:rPr lang="en-US" sz="2800" dirty="0"/>
              <a:t>In previous examples we have seen how inheritance can change the behavior of a class, and can create error prone situations. </a:t>
            </a:r>
          </a:p>
          <a:p>
            <a:r>
              <a:rPr lang="en-US" sz="2800" dirty="0"/>
              <a:t>These are not necessarily errors (could be the intended behavior), but there are definitely needs to verify them.</a:t>
            </a:r>
          </a:p>
          <a:p>
            <a:r>
              <a:rPr lang="en-US" sz="2800" dirty="0"/>
              <a:t>Also notice that methods from subclasses and </a:t>
            </a:r>
            <a:r>
              <a:rPr lang="en-US" sz="2800" dirty="0" err="1"/>
              <a:t>superclasses</a:t>
            </a:r>
            <a:r>
              <a:rPr lang="en-US" sz="2800" dirty="0"/>
              <a:t> can implicitly call each other, called “yoyo” effect. </a:t>
            </a:r>
          </a:p>
          <a:p>
            <a:endParaRPr lang="en-US" sz="2800" dirty="0"/>
          </a:p>
          <a:p>
            <a:endParaRPr lang="en-US" sz="2800" dirty="0"/>
          </a:p>
        </p:txBody>
      </p:sp>
      <p:sp>
        <p:nvSpPr>
          <p:cNvPr id="4" name="Slide Number Placeholder 3">
            <a:extLst>
              <a:ext uri="{FF2B5EF4-FFF2-40B4-BE49-F238E27FC236}">
                <a16:creationId xmlns:a16="http://schemas.microsoft.com/office/drawing/2014/main" id="{6DA5BD4C-FABC-CC48-ABD9-FF586A8D6DED}"/>
              </a:ext>
            </a:extLst>
          </p:cNvPr>
          <p:cNvSpPr>
            <a:spLocks noGrp="1"/>
          </p:cNvSpPr>
          <p:nvPr>
            <p:ph type="sldNum" sz="quarter" idx="12"/>
          </p:nvPr>
        </p:nvSpPr>
        <p:spPr/>
        <p:txBody>
          <a:bodyPr/>
          <a:lstStyle/>
          <a:p>
            <a:pPr>
              <a:defRPr/>
            </a:pPr>
            <a:fld id="{F51486F7-ACCF-4DB7-BBF3-9BC4B709FB28}" type="slidenum">
              <a:rPr lang="en-US" smtClean="0"/>
              <a:pPr>
                <a:defRPr/>
              </a:pPr>
              <a:t>28</a:t>
            </a:fld>
            <a:endParaRPr lang="en-US"/>
          </a:p>
        </p:txBody>
      </p:sp>
    </p:spTree>
    <p:extLst>
      <p:ext uri="{BB962C8B-B14F-4D97-AF65-F5344CB8AC3E}">
        <p14:creationId xmlns:p14="http://schemas.microsoft.com/office/powerpoint/2010/main" val="1075008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Line 38"/>
          <p:cNvSpPr>
            <a:spLocks noChangeShapeType="1"/>
          </p:cNvSpPr>
          <p:nvPr/>
        </p:nvSpPr>
        <p:spPr bwMode="auto">
          <a:xfrm flipV="1">
            <a:off x="819150" y="3633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40" name="Line 39"/>
          <p:cNvSpPr>
            <a:spLocks noChangeShapeType="1"/>
          </p:cNvSpPr>
          <p:nvPr/>
        </p:nvSpPr>
        <p:spPr bwMode="auto">
          <a:xfrm flipH="1" flipV="1">
            <a:off x="895350" y="3633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41" name="Line 40"/>
          <p:cNvSpPr>
            <a:spLocks noChangeShapeType="1"/>
          </p:cNvSpPr>
          <p:nvPr/>
        </p:nvSpPr>
        <p:spPr bwMode="auto">
          <a:xfrm>
            <a:off x="819150" y="3786188"/>
            <a:ext cx="152400" cy="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42" name="Line 41"/>
          <p:cNvSpPr>
            <a:spLocks noChangeShapeType="1"/>
          </p:cNvSpPr>
          <p:nvPr/>
        </p:nvSpPr>
        <p:spPr bwMode="auto">
          <a:xfrm>
            <a:off x="895350" y="3786188"/>
            <a:ext cx="0" cy="2286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27654" name="Title 4"/>
          <p:cNvSpPr>
            <a:spLocks noGrp="1"/>
          </p:cNvSpPr>
          <p:nvPr>
            <p:ph type="title"/>
          </p:nvPr>
        </p:nvSpPr>
        <p:spPr>
          <a:xfrm>
            <a:off x="457200" y="274638"/>
            <a:ext cx="8229600" cy="762000"/>
          </a:xfrm>
        </p:spPr>
        <p:txBody>
          <a:bodyPr/>
          <a:lstStyle/>
          <a:p>
            <a:r>
              <a:rPr lang="en-US" sz="2800" dirty="0"/>
              <a:t>The call graph of d() in A,B,C, exemplifying Yoyo behavior</a:t>
            </a:r>
            <a:endParaRPr lang="en-US" sz="1600" i="1" dirty="0"/>
          </a:p>
        </p:txBody>
      </p:sp>
      <p:sp>
        <p:nvSpPr>
          <p:cNvPr id="4" name="Slide Number Placeholder 3"/>
          <p:cNvSpPr>
            <a:spLocks noGrp="1"/>
          </p:cNvSpPr>
          <p:nvPr>
            <p:ph type="sldNum" sz="quarter" idx="12"/>
          </p:nvPr>
        </p:nvSpPr>
        <p:spPr/>
        <p:txBody>
          <a:bodyPr/>
          <a:lstStyle/>
          <a:p>
            <a:pPr>
              <a:defRPr/>
            </a:pPr>
            <a:fld id="{BDB5378D-868B-4B51-81E4-559CAB448F5B}" type="slidenum">
              <a:rPr lang="en-US" smtClean="0"/>
              <a:pPr>
                <a:defRPr/>
              </a:pPr>
              <a:t>29</a:t>
            </a:fld>
            <a:endParaRPr lang="en-US"/>
          </a:p>
        </p:txBody>
      </p:sp>
      <p:sp>
        <p:nvSpPr>
          <p:cNvPr id="7" name="Rectangle 2"/>
          <p:cNvSpPr>
            <a:spLocks noChangeArrowheads="1"/>
          </p:cNvSpPr>
          <p:nvPr/>
        </p:nvSpPr>
        <p:spPr bwMode="auto">
          <a:xfrm>
            <a:off x="330200" y="5729288"/>
            <a:ext cx="1146175" cy="914400"/>
          </a:xfrm>
          <a:prstGeom prst="rect">
            <a:avLst/>
          </a:prstGeom>
          <a:solidFill>
            <a:srgbClr val="FFFFCC"/>
          </a:solidFill>
          <a:ln w="28575">
            <a:solidFill>
              <a:srgbClr val="000000"/>
            </a:solidFill>
            <a:miter lim="800000"/>
            <a:headEnd/>
            <a:tailEnd/>
          </a:ln>
        </p:spPr>
        <p:txBody>
          <a:bodyPr wrap="none" anchor="ctr"/>
          <a:lstStyle/>
          <a:p>
            <a:pPr>
              <a:defRPr/>
            </a:pPr>
            <a:r>
              <a:rPr lang="nl-NL" b="1" u="sng" dirty="0">
                <a:latin typeface="+mn-lt"/>
                <a:cs typeface="Arial" pitchFamily="34" charset="0"/>
              </a:rPr>
              <a:t>      C      </a:t>
            </a:r>
          </a:p>
          <a:p>
            <a:pPr>
              <a:defRPr/>
            </a:pPr>
            <a:r>
              <a:rPr lang="en-US" dirty="0">
                <a:solidFill>
                  <a:srgbClr val="00005A"/>
                </a:solidFill>
                <a:latin typeface="+mn-lt"/>
                <a:cs typeface="Arial" pitchFamily="34" charset="0"/>
              </a:rPr>
              <a:t>+j () { k() }</a:t>
            </a:r>
          </a:p>
        </p:txBody>
      </p:sp>
      <p:sp>
        <p:nvSpPr>
          <p:cNvPr id="8" name="Rectangle 3"/>
          <p:cNvSpPr>
            <a:spLocks noChangeArrowheads="1"/>
          </p:cNvSpPr>
          <p:nvPr/>
        </p:nvSpPr>
        <p:spPr bwMode="auto">
          <a:xfrm>
            <a:off x="250825" y="4000500"/>
            <a:ext cx="1657350" cy="1084263"/>
          </a:xfrm>
          <a:prstGeom prst="rect">
            <a:avLst/>
          </a:prstGeom>
          <a:solidFill>
            <a:srgbClr val="CCFFFF"/>
          </a:solidFill>
          <a:ln w="28575">
            <a:solidFill>
              <a:srgbClr val="000000"/>
            </a:solidFill>
            <a:miter lim="800000"/>
            <a:headEnd/>
            <a:tailEnd/>
          </a:ln>
        </p:spPr>
        <p:txBody>
          <a:bodyPr wrap="none" anchor="ctr"/>
          <a:lstStyle/>
          <a:p>
            <a:pPr>
              <a:defRPr/>
            </a:pPr>
            <a:r>
              <a:rPr lang="nl-NL" b="1" u="sng" dirty="0">
                <a:latin typeface="+mn-lt"/>
                <a:cs typeface="Arial" pitchFamily="34" charset="0"/>
              </a:rPr>
              <a:t>       B      </a:t>
            </a:r>
          </a:p>
          <a:p>
            <a:pPr>
              <a:defRPr/>
            </a:pPr>
            <a:r>
              <a:rPr lang="en-US" dirty="0">
                <a:solidFill>
                  <a:srgbClr val="00005A"/>
                </a:solidFill>
                <a:cs typeface="Arial" pitchFamily="34" charset="0"/>
              </a:rPr>
              <a:t>+h () { </a:t>
            </a:r>
            <a:r>
              <a:rPr lang="en-US" dirty="0" err="1">
                <a:solidFill>
                  <a:srgbClr val="00005A"/>
                </a:solidFill>
                <a:cs typeface="Arial" pitchFamily="34" charset="0"/>
              </a:rPr>
              <a:t>i</a:t>
            </a:r>
            <a:r>
              <a:rPr lang="en-US" dirty="0">
                <a:solidFill>
                  <a:srgbClr val="00005A"/>
                </a:solidFill>
                <a:cs typeface="Arial" pitchFamily="34" charset="0"/>
              </a:rPr>
              <a:t>() ...} </a:t>
            </a:r>
            <a:endParaRPr lang="en-US" dirty="0">
              <a:solidFill>
                <a:srgbClr val="00005A"/>
              </a:solidFill>
              <a:latin typeface="+mn-lt"/>
              <a:cs typeface="Arial" pitchFamily="34" charset="0"/>
            </a:endParaRPr>
          </a:p>
          <a:p>
            <a:pPr>
              <a:defRPr/>
            </a:pPr>
            <a:r>
              <a:rPr lang="en-US" dirty="0">
                <a:solidFill>
                  <a:srgbClr val="00005A"/>
                </a:solidFill>
                <a:latin typeface="+mn-lt"/>
                <a:cs typeface="Arial" pitchFamily="34" charset="0"/>
              </a:rPr>
              <a:t>+ </a:t>
            </a:r>
            <a:r>
              <a:rPr lang="en-US" dirty="0" err="1">
                <a:solidFill>
                  <a:srgbClr val="00005A"/>
                </a:solidFill>
                <a:latin typeface="+mn-lt"/>
                <a:cs typeface="Arial" pitchFamily="34" charset="0"/>
              </a:rPr>
              <a:t>i</a:t>
            </a:r>
            <a:r>
              <a:rPr lang="en-US" dirty="0">
                <a:solidFill>
                  <a:srgbClr val="00005A"/>
                </a:solidFill>
                <a:latin typeface="+mn-lt"/>
                <a:cs typeface="Arial" pitchFamily="34" charset="0"/>
              </a:rPr>
              <a:t>() { </a:t>
            </a:r>
            <a:r>
              <a:rPr lang="en-US" dirty="0" err="1">
                <a:solidFill>
                  <a:srgbClr val="00005A"/>
                </a:solidFill>
                <a:latin typeface="+mn-lt"/>
                <a:cs typeface="Arial" pitchFamily="34" charset="0"/>
              </a:rPr>
              <a:t>super.i</a:t>
            </a:r>
            <a:r>
              <a:rPr lang="en-US" dirty="0">
                <a:solidFill>
                  <a:srgbClr val="00005A"/>
                </a:solidFill>
                <a:latin typeface="+mn-lt"/>
                <a:cs typeface="Arial" pitchFamily="34" charset="0"/>
              </a:rPr>
              <a:t>() ...}</a:t>
            </a:r>
          </a:p>
          <a:p>
            <a:pPr>
              <a:defRPr/>
            </a:pPr>
            <a:r>
              <a:rPr lang="en-US" dirty="0">
                <a:solidFill>
                  <a:srgbClr val="00005A"/>
                </a:solidFill>
                <a:latin typeface="+mn-lt"/>
                <a:cs typeface="Arial" pitchFamily="34" charset="0"/>
              </a:rPr>
              <a:t>+k() { }</a:t>
            </a:r>
          </a:p>
        </p:txBody>
      </p:sp>
      <p:sp>
        <p:nvSpPr>
          <p:cNvPr id="9" name="Rectangle 4"/>
          <p:cNvSpPr>
            <a:spLocks noChangeArrowheads="1"/>
          </p:cNvSpPr>
          <p:nvPr/>
        </p:nvSpPr>
        <p:spPr bwMode="auto">
          <a:xfrm>
            <a:off x="323850" y="1643063"/>
            <a:ext cx="1233488" cy="1928812"/>
          </a:xfrm>
          <a:prstGeom prst="rect">
            <a:avLst/>
          </a:prstGeom>
          <a:solidFill>
            <a:srgbClr val="FFE1FF"/>
          </a:solidFill>
          <a:ln w="28575">
            <a:solidFill>
              <a:srgbClr val="000000"/>
            </a:solidFill>
            <a:miter lim="800000"/>
            <a:headEnd/>
            <a:tailEnd/>
          </a:ln>
        </p:spPr>
        <p:txBody>
          <a:bodyPr wrap="none" anchor="ctr"/>
          <a:lstStyle/>
          <a:p>
            <a:pPr>
              <a:defRPr/>
            </a:pPr>
            <a:r>
              <a:rPr lang="en-US" b="1" u="sng" dirty="0">
                <a:solidFill>
                  <a:srgbClr val="00005A"/>
                </a:solidFill>
                <a:latin typeface="+mn-lt"/>
                <a:cs typeface="Arial" pitchFamily="34" charset="0"/>
              </a:rPr>
              <a:t>       A       </a:t>
            </a:r>
          </a:p>
          <a:p>
            <a:pPr>
              <a:defRPr/>
            </a:pPr>
            <a:r>
              <a:rPr lang="en-US" dirty="0">
                <a:solidFill>
                  <a:srgbClr val="00005A"/>
                </a:solidFill>
                <a:latin typeface="+mn-lt"/>
                <a:cs typeface="Arial" pitchFamily="34" charset="0"/>
              </a:rPr>
              <a:t>+d () { g() }</a:t>
            </a:r>
          </a:p>
          <a:p>
            <a:pPr>
              <a:defRPr/>
            </a:pPr>
            <a:r>
              <a:rPr lang="en-US" dirty="0">
                <a:solidFill>
                  <a:srgbClr val="00005A"/>
                </a:solidFill>
                <a:latin typeface="+mn-lt"/>
                <a:cs typeface="Arial" pitchFamily="34" charset="0"/>
              </a:rPr>
              <a:t>+g () { h() }</a:t>
            </a:r>
          </a:p>
          <a:p>
            <a:pPr>
              <a:defRPr/>
            </a:pPr>
            <a:r>
              <a:rPr lang="en-US" dirty="0">
                <a:solidFill>
                  <a:srgbClr val="00005A"/>
                </a:solidFill>
                <a:latin typeface="+mn-lt"/>
                <a:cs typeface="Arial" pitchFamily="34" charset="0"/>
              </a:rPr>
              <a:t>+h () { </a:t>
            </a:r>
            <a:r>
              <a:rPr lang="en-US" dirty="0" err="1">
                <a:solidFill>
                  <a:srgbClr val="00005A"/>
                </a:solidFill>
                <a:latin typeface="+mn-lt"/>
                <a:cs typeface="Arial" pitchFamily="34" charset="0"/>
              </a:rPr>
              <a:t>i</a:t>
            </a:r>
            <a:r>
              <a:rPr lang="en-US" dirty="0">
                <a:solidFill>
                  <a:srgbClr val="00005A"/>
                </a:solidFill>
                <a:latin typeface="+mn-lt"/>
                <a:cs typeface="Arial" pitchFamily="34" charset="0"/>
              </a:rPr>
              <a:t>() }</a:t>
            </a:r>
          </a:p>
          <a:p>
            <a:pPr>
              <a:defRPr/>
            </a:pPr>
            <a:r>
              <a:rPr lang="en-US" dirty="0">
                <a:solidFill>
                  <a:srgbClr val="00005A"/>
                </a:solidFill>
                <a:latin typeface="+mn-lt"/>
                <a:cs typeface="Arial" pitchFamily="34" charset="0"/>
              </a:rPr>
              <a:t>+</a:t>
            </a:r>
            <a:r>
              <a:rPr lang="en-US" dirty="0" err="1">
                <a:solidFill>
                  <a:srgbClr val="00005A"/>
                </a:solidFill>
                <a:latin typeface="+mn-lt"/>
                <a:cs typeface="Arial" pitchFamily="34" charset="0"/>
              </a:rPr>
              <a:t>i</a:t>
            </a:r>
            <a:r>
              <a:rPr lang="en-US" dirty="0">
                <a:solidFill>
                  <a:srgbClr val="00005A"/>
                </a:solidFill>
                <a:latin typeface="+mn-lt"/>
                <a:cs typeface="Arial" pitchFamily="34" charset="0"/>
              </a:rPr>
              <a:t> () { j() }</a:t>
            </a:r>
          </a:p>
          <a:p>
            <a:pPr>
              <a:defRPr/>
            </a:pPr>
            <a:r>
              <a:rPr lang="en-US" dirty="0">
                <a:solidFill>
                  <a:srgbClr val="00005A"/>
                </a:solidFill>
                <a:latin typeface="+mn-lt"/>
                <a:cs typeface="Arial" pitchFamily="34" charset="0"/>
              </a:rPr>
              <a:t>+j () {}</a:t>
            </a:r>
          </a:p>
        </p:txBody>
      </p:sp>
      <p:sp>
        <p:nvSpPr>
          <p:cNvPr id="10" name="Rectangle 5"/>
          <p:cNvSpPr>
            <a:spLocks noChangeArrowheads="1"/>
          </p:cNvSpPr>
          <p:nvPr/>
        </p:nvSpPr>
        <p:spPr bwMode="auto">
          <a:xfrm>
            <a:off x="2652713" y="6096000"/>
            <a:ext cx="5562600" cy="457200"/>
          </a:xfrm>
          <a:prstGeom prst="rect">
            <a:avLst/>
          </a:prstGeom>
          <a:solidFill>
            <a:srgbClr val="FFFFCC"/>
          </a:solidFill>
          <a:ln w="28575">
            <a:solidFill>
              <a:srgbClr val="000000"/>
            </a:solidFill>
            <a:miter lim="800000"/>
            <a:headEnd/>
            <a:tailEnd/>
          </a:ln>
        </p:spPr>
        <p:txBody>
          <a:bodyPr wrap="none" anchor="ctr"/>
          <a:lstStyle/>
          <a:p>
            <a:pPr>
              <a:defRPr/>
            </a:pPr>
            <a:endParaRPr lang="nl-NL" sz="2400">
              <a:latin typeface="+mn-lt"/>
              <a:cs typeface="Arial" pitchFamily="34" charset="0"/>
            </a:endParaRPr>
          </a:p>
        </p:txBody>
      </p:sp>
      <p:sp>
        <p:nvSpPr>
          <p:cNvPr id="11" name="Rectangle 6"/>
          <p:cNvSpPr>
            <a:spLocks noChangeArrowheads="1"/>
          </p:cNvSpPr>
          <p:nvPr/>
        </p:nvSpPr>
        <p:spPr bwMode="auto">
          <a:xfrm>
            <a:off x="2652713" y="4033838"/>
            <a:ext cx="5562600" cy="609600"/>
          </a:xfrm>
          <a:prstGeom prst="rect">
            <a:avLst/>
          </a:prstGeom>
          <a:solidFill>
            <a:srgbClr val="CCFFFF"/>
          </a:solidFill>
          <a:ln w="28575">
            <a:solidFill>
              <a:srgbClr val="000000"/>
            </a:solidFill>
            <a:miter lim="800000"/>
            <a:headEnd/>
            <a:tailEnd/>
          </a:ln>
        </p:spPr>
        <p:txBody>
          <a:bodyPr wrap="none" anchor="ctr"/>
          <a:lstStyle/>
          <a:p>
            <a:pPr>
              <a:defRPr/>
            </a:pPr>
            <a:endParaRPr lang="nl-NL" sz="2400">
              <a:latin typeface="+mn-lt"/>
              <a:cs typeface="Arial" pitchFamily="34" charset="0"/>
            </a:endParaRPr>
          </a:p>
        </p:txBody>
      </p:sp>
      <p:sp>
        <p:nvSpPr>
          <p:cNvPr id="12" name="Rectangle 7"/>
          <p:cNvSpPr>
            <a:spLocks noChangeArrowheads="1"/>
          </p:cNvSpPr>
          <p:nvPr/>
        </p:nvSpPr>
        <p:spPr bwMode="auto">
          <a:xfrm>
            <a:off x="2724150" y="2143125"/>
            <a:ext cx="5562600" cy="609600"/>
          </a:xfrm>
          <a:prstGeom prst="rect">
            <a:avLst/>
          </a:prstGeom>
          <a:solidFill>
            <a:srgbClr val="FFE1FF"/>
          </a:solidFill>
          <a:ln w="28575">
            <a:solidFill>
              <a:srgbClr val="000000"/>
            </a:solidFill>
            <a:miter lim="800000"/>
            <a:headEnd/>
            <a:tailEnd/>
          </a:ln>
        </p:spPr>
        <p:txBody>
          <a:bodyPr wrap="none" anchor="ctr"/>
          <a:lstStyle/>
          <a:p>
            <a:pPr>
              <a:defRPr/>
            </a:pPr>
            <a:endParaRPr lang="nl-NL" sz="2400">
              <a:latin typeface="+mn-lt"/>
              <a:cs typeface="Arial" pitchFamily="34" charset="0"/>
            </a:endParaRPr>
          </a:p>
        </p:txBody>
      </p:sp>
      <p:sp>
        <p:nvSpPr>
          <p:cNvPr id="22" name="Line 18"/>
          <p:cNvSpPr>
            <a:spLocks noChangeShapeType="1"/>
          </p:cNvSpPr>
          <p:nvPr/>
        </p:nvSpPr>
        <p:spPr bwMode="auto">
          <a:xfrm>
            <a:off x="1581150" y="2447925"/>
            <a:ext cx="1143000" cy="0"/>
          </a:xfrm>
          <a:prstGeom prst="line">
            <a:avLst/>
          </a:prstGeom>
          <a:noFill/>
          <a:ln w="28575">
            <a:solidFill>
              <a:schemeClr val="tx1"/>
            </a:solidFill>
            <a:round/>
            <a:headEnd/>
            <a:tailEnd type="triangle" w="med" len="med"/>
          </a:ln>
        </p:spPr>
        <p:txBody>
          <a:bodyPr wrap="none" anchor="ctr"/>
          <a:lstStyle/>
          <a:p>
            <a:pPr>
              <a:defRPr/>
            </a:pPr>
            <a:endParaRPr lang="en-US" sz="2400">
              <a:latin typeface="+mn-lt"/>
              <a:cs typeface="Arial" pitchFamily="34" charset="0"/>
            </a:endParaRPr>
          </a:p>
        </p:txBody>
      </p:sp>
      <p:sp>
        <p:nvSpPr>
          <p:cNvPr id="23" name="Text Box 20"/>
          <p:cNvSpPr txBox="1">
            <a:spLocks noChangeArrowheads="1"/>
          </p:cNvSpPr>
          <p:nvPr/>
        </p:nvSpPr>
        <p:spPr bwMode="auto">
          <a:xfrm>
            <a:off x="2716213" y="6156325"/>
            <a:ext cx="320675"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C</a:t>
            </a:r>
          </a:p>
        </p:txBody>
      </p:sp>
      <p:sp>
        <p:nvSpPr>
          <p:cNvPr id="24" name="Text Box 21"/>
          <p:cNvSpPr txBox="1">
            <a:spLocks noChangeArrowheads="1"/>
          </p:cNvSpPr>
          <p:nvPr/>
        </p:nvSpPr>
        <p:spPr bwMode="auto">
          <a:xfrm>
            <a:off x="6686550" y="6172200"/>
            <a:ext cx="403225"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j()</a:t>
            </a:r>
          </a:p>
        </p:txBody>
      </p:sp>
      <p:sp>
        <p:nvSpPr>
          <p:cNvPr id="27" name="Text Box 24"/>
          <p:cNvSpPr txBox="1">
            <a:spLocks noChangeArrowheads="1"/>
          </p:cNvSpPr>
          <p:nvPr/>
        </p:nvSpPr>
        <p:spPr bwMode="auto">
          <a:xfrm>
            <a:off x="2716213" y="4170363"/>
            <a:ext cx="328612" cy="400050"/>
          </a:xfrm>
          <a:prstGeom prst="rect">
            <a:avLst/>
          </a:prstGeom>
          <a:noFill/>
          <a:ln w="12700">
            <a:noFill/>
            <a:miter lim="800000"/>
            <a:headEnd/>
            <a:tailEnd/>
          </a:ln>
        </p:spPr>
        <p:txBody>
          <a:bodyPr wrap="none">
            <a:spAutoFit/>
          </a:bodyPr>
          <a:lstStyle/>
          <a:p>
            <a:pPr algn="ctr">
              <a:defRPr/>
            </a:pPr>
            <a:r>
              <a:rPr lang="en-US" sz="2000" b="1">
                <a:solidFill>
                  <a:srgbClr val="00005A"/>
                </a:solidFill>
                <a:latin typeface="+mn-lt"/>
                <a:cs typeface="Arial" pitchFamily="34" charset="0"/>
              </a:rPr>
              <a:t>B</a:t>
            </a:r>
          </a:p>
        </p:txBody>
      </p:sp>
      <p:sp>
        <p:nvSpPr>
          <p:cNvPr id="28" name="Text Box 25"/>
          <p:cNvSpPr txBox="1">
            <a:spLocks noChangeArrowheads="1"/>
          </p:cNvSpPr>
          <p:nvPr/>
        </p:nvSpPr>
        <p:spPr bwMode="auto">
          <a:xfrm>
            <a:off x="5133975" y="4186238"/>
            <a:ext cx="476250"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h()</a:t>
            </a:r>
          </a:p>
        </p:txBody>
      </p:sp>
      <p:sp>
        <p:nvSpPr>
          <p:cNvPr id="29" name="Text Box 26"/>
          <p:cNvSpPr txBox="1">
            <a:spLocks noChangeArrowheads="1"/>
          </p:cNvSpPr>
          <p:nvPr/>
        </p:nvSpPr>
        <p:spPr bwMode="auto">
          <a:xfrm>
            <a:off x="5924550" y="4186238"/>
            <a:ext cx="401638"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i()</a:t>
            </a:r>
          </a:p>
        </p:txBody>
      </p:sp>
      <p:sp>
        <p:nvSpPr>
          <p:cNvPr id="31" name="Line 28"/>
          <p:cNvSpPr>
            <a:spLocks noChangeShapeType="1"/>
          </p:cNvSpPr>
          <p:nvPr/>
        </p:nvSpPr>
        <p:spPr bwMode="auto">
          <a:xfrm>
            <a:off x="5519738" y="4338638"/>
            <a:ext cx="457200" cy="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32" name="Line 30"/>
          <p:cNvSpPr>
            <a:spLocks noChangeShapeType="1"/>
          </p:cNvSpPr>
          <p:nvPr/>
        </p:nvSpPr>
        <p:spPr bwMode="auto">
          <a:xfrm flipV="1">
            <a:off x="1763713" y="4343400"/>
            <a:ext cx="889000" cy="22225"/>
          </a:xfrm>
          <a:prstGeom prst="line">
            <a:avLst/>
          </a:prstGeom>
          <a:noFill/>
          <a:ln w="28575">
            <a:solidFill>
              <a:schemeClr val="tx1"/>
            </a:solidFill>
            <a:round/>
            <a:headEnd/>
            <a:tailEnd type="triangle" w="med" len="med"/>
          </a:ln>
        </p:spPr>
        <p:txBody>
          <a:bodyPr wrap="none" anchor="ctr"/>
          <a:lstStyle/>
          <a:p>
            <a:pPr>
              <a:defRPr/>
            </a:pPr>
            <a:endParaRPr lang="en-US" sz="2400">
              <a:latin typeface="+mn-lt"/>
              <a:cs typeface="Arial" pitchFamily="34" charset="0"/>
            </a:endParaRPr>
          </a:p>
        </p:txBody>
      </p:sp>
      <p:sp>
        <p:nvSpPr>
          <p:cNvPr id="33" name="Line 32"/>
          <p:cNvSpPr>
            <a:spLocks noChangeShapeType="1"/>
          </p:cNvSpPr>
          <p:nvPr/>
        </p:nvSpPr>
        <p:spPr bwMode="auto">
          <a:xfrm>
            <a:off x="1509713" y="6327775"/>
            <a:ext cx="1143000" cy="0"/>
          </a:xfrm>
          <a:prstGeom prst="line">
            <a:avLst/>
          </a:prstGeom>
          <a:noFill/>
          <a:ln w="28575">
            <a:solidFill>
              <a:schemeClr val="tx1"/>
            </a:solidFill>
            <a:round/>
            <a:headEnd/>
            <a:tailEnd type="triangle" w="med" len="med"/>
          </a:ln>
        </p:spPr>
        <p:txBody>
          <a:bodyPr wrap="none" anchor="ctr"/>
          <a:lstStyle/>
          <a:p>
            <a:pPr>
              <a:defRPr/>
            </a:pPr>
            <a:endParaRPr lang="en-US" sz="2400">
              <a:latin typeface="+mn-lt"/>
              <a:cs typeface="Arial" pitchFamily="34" charset="0"/>
            </a:endParaRPr>
          </a:p>
        </p:txBody>
      </p:sp>
      <p:sp>
        <p:nvSpPr>
          <p:cNvPr id="51" name="Text Box 50"/>
          <p:cNvSpPr txBox="1">
            <a:spLocks noChangeArrowheads="1"/>
          </p:cNvSpPr>
          <p:nvPr/>
        </p:nvSpPr>
        <p:spPr bwMode="auto">
          <a:xfrm>
            <a:off x="2709863" y="3462338"/>
            <a:ext cx="339725" cy="400050"/>
          </a:xfrm>
          <a:prstGeom prst="rect">
            <a:avLst/>
          </a:prstGeom>
          <a:noFill/>
          <a:ln w="12700">
            <a:noFill/>
            <a:miter lim="800000"/>
            <a:headEnd/>
            <a:tailEnd/>
          </a:ln>
        </p:spPr>
        <p:txBody>
          <a:bodyPr wrap="none">
            <a:spAutoFit/>
          </a:bodyPr>
          <a:lstStyle/>
          <a:p>
            <a:pPr algn="ctr">
              <a:defRPr/>
            </a:pPr>
            <a:r>
              <a:rPr lang="en-US" sz="2000" b="1">
                <a:latin typeface="+mn-lt"/>
                <a:cs typeface="Arial" pitchFamily="34" charset="0"/>
              </a:rPr>
              <a:t>A</a:t>
            </a:r>
          </a:p>
        </p:txBody>
      </p:sp>
      <p:sp>
        <p:nvSpPr>
          <p:cNvPr id="52" name="Text Box 51"/>
          <p:cNvSpPr txBox="1">
            <a:spLocks noChangeArrowheads="1"/>
          </p:cNvSpPr>
          <p:nvPr/>
        </p:nvSpPr>
        <p:spPr bwMode="auto">
          <a:xfrm>
            <a:off x="3414713" y="3478213"/>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d()</a:t>
            </a:r>
          </a:p>
        </p:txBody>
      </p:sp>
      <p:sp>
        <p:nvSpPr>
          <p:cNvPr id="53" name="Text Box 52"/>
          <p:cNvSpPr txBox="1">
            <a:spLocks noChangeArrowheads="1"/>
          </p:cNvSpPr>
          <p:nvPr/>
        </p:nvSpPr>
        <p:spPr bwMode="auto">
          <a:xfrm>
            <a:off x="6688138" y="3478213"/>
            <a:ext cx="403225"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j()</a:t>
            </a:r>
          </a:p>
        </p:txBody>
      </p:sp>
      <p:sp>
        <p:nvSpPr>
          <p:cNvPr id="54" name="Text Box 53"/>
          <p:cNvSpPr txBox="1">
            <a:spLocks noChangeArrowheads="1"/>
          </p:cNvSpPr>
          <p:nvPr/>
        </p:nvSpPr>
        <p:spPr bwMode="auto">
          <a:xfrm>
            <a:off x="4405313" y="3478213"/>
            <a:ext cx="461962"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g()</a:t>
            </a:r>
          </a:p>
        </p:txBody>
      </p:sp>
      <p:sp>
        <p:nvSpPr>
          <p:cNvPr id="55" name="Text Box 54"/>
          <p:cNvSpPr txBox="1">
            <a:spLocks noChangeArrowheads="1"/>
          </p:cNvSpPr>
          <p:nvPr/>
        </p:nvSpPr>
        <p:spPr bwMode="auto">
          <a:xfrm>
            <a:off x="5138738" y="3478213"/>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h()</a:t>
            </a:r>
          </a:p>
        </p:txBody>
      </p:sp>
      <p:sp>
        <p:nvSpPr>
          <p:cNvPr id="56" name="Text Box 55"/>
          <p:cNvSpPr txBox="1">
            <a:spLocks noChangeArrowheads="1"/>
          </p:cNvSpPr>
          <p:nvPr/>
        </p:nvSpPr>
        <p:spPr bwMode="auto">
          <a:xfrm>
            <a:off x="5926138" y="3478213"/>
            <a:ext cx="401637"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i()</a:t>
            </a:r>
          </a:p>
        </p:txBody>
      </p:sp>
      <p:sp>
        <p:nvSpPr>
          <p:cNvPr id="62" name="Text Box 61"/>
          <p:cNvSpPr txBox="1">
            <a:spLocks noChangeArrowheads="1"/>
          </p:cNvSpPr>
          <p:nvPr/>
        </p:nvSpPr>
        <p:spPr bwMode="auto">
          <a:xfrm>
            <a:off x="2709863" y="4989513"/>
            <a:ext cx="333375"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A</a:t>
            </a:r>
          </a:p>
        </p:txBody>
      </p:sp>
      <p:sp>
        <p:nvSpPr>
          <p:cNvPr id="63" name="Text Box 62"/>
          <p:cNvSpPr txBox="1">
            <a:spLocks noChangeArrowheads="1"/>
          </p:cNvSpPr>
          <p:nvPr/>
        </p:nvSpPr>
        <p:spPr bwMode="auto">
          <a:xfrm>
            <a:off x="3414713" y="5024438"/>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d()</a:t>
            </a:r>
          </a:p>
        </p:txBody>
      </p:sp>
      <p:sp>
        <p:nvSpPr>
          <p:cNvPr id="64" name="Text Box 63"/>
          <p:cNvSpPr txBox="1">
            <a:spLocks noChangeArrowheads="1"/>
          </p:cNvSpPr>
          <p:nvPr/>
        </p:nvSpPr>
        <p:spPr bwMode="auto">
          <a:xfrm>
            <a:off x="6688138" y="5024438"/>
            <a:ext cx="403225"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j()</a:t>
            </a:r>
          </a:p>
        </p:txBody>
      </p:sp>
      <p:sp>
        <p:nvSpPr>
          <p:cNvPr id="65" name="Text Box 64"/>
          <p:cNvSpPr txBox="1">
            <a:spLocks noChangeArrowheads="1"/>
          </p:cNvSpPr>
          <p:nvPr/>
        </p:nvSpPr>
        <p:spPr bwMode="auto">
          <a:xfrm>
            <a:off x="4405313" y="5024438"/>
            <a:ext cx="461962"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g()</a:t>
            </a:r>
          </a:p>
        </p:txBody>
      </p:sp>
      <p:sp>
        <p:nvSpPr>
          <p:cNvPr id="66" name="Text Box 65"/>
          <p:cNvSpPr txBox="1">
            <a:spLocks noChangeArrowheads="1"/>
          </p:cNvSpPr>
          <p:nvPr/>
        </p:nvSpPr>
        <p:spPr bwMode="auto">
          <a:xfrm>
            <a:off x="5138738" y="5024438"/>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h()</a:t>
            </a:r>
          </a:p>
        </p:txBody>
      </p:sp>
      <p:sp>
        <p:nvSpPr>
          <p:cNvPr id="67" name="Text Box 66"/>
          <p:cNvSpPr txBox="1">
            <a:spLocks noChangeArrowheads="1"/>
          </p:cNvSpPr>
          <p:nvPr/>
        </p:nvSpPr>
        <p:spPr bwMode="auto">
          <a:xfrm>
            <a:off x="5926138" y="5024438"/>
            <a:ext cx="401637"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i()</a:t>
            </a:r>
          </a:p>
        </p:txBody>
      </p:sp>
      <p:sp>
        <p:nvSpPr>
          <p:cNvPr id="69" name="Text Box 68"/>
          <p:cNvSpPr txBox="1">
            <a:spLocks noChangeArrowheads="1"/>
          </p:cNvSpPr>
          <p:nvPr/>
        </p:nvSpPr>
        <p:spPr bwMode="auto">
          <a:xfrm>
            <a:off x="2709863" y="5562600"/>
            <a:ext cx="3238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B</a:t>
            </a:r>
          </a:p>
        </p:txBody>
      </p:sp>
      <p:sp>
        <p:nvSpPr>
          <p:cNvPr id="70" name="Text Box 69"/>
          <p:cNvSpPr txBox="1">
            <a:spLocks noChangeArrowheads="1"/>
          </p:cNvSpPr>
          <p:nvPr/>
        </p:nvSpPr>
        <p:spPr bwMode="auto">
          <a:xfrm>
            <a:off x="5138738" y="5597525"/>
            <a:ext cx="476250"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h()</a:t>
            </a:r>
          </a:p>
        </p:txBody>
      </p:sp>
      <p:sp>
        <p:nvSpPr>
          <p:cNvPr id="71" name="Text Box 70"/>
          <p:cNvSpPr txBox="1">
            <a:spLocks noChangeArrowheads="1"/>
          </p:cNvSpPr>
          <p:nvPr/>
        </p:nvSpPr>
        <p:spPr bwMode="auto">
          <a:xfrm>
            <a:off x="5926138" y="5597525"/>
            <a:ext cx="401637"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i()</a:t>
            </a:r>
          </a:p>
        </p:txBody>
      </p:sp>
      <p:sp>
        <p:nvSpPr>
          <p:cNvPr id="72" name="Text Box 71"/>
          <p:cNvSpPr txBox="1">
            <a:spLocks noChangeArrowheads="1"/>
          </p:cNvSpPr>
          <p:nvPr/>
        </p:nvSpPr>
        <p:spPr bwMode="auto">
          <a:xfrm>
            <a:off x="7204075" y="5562600"/>
            <a:ext cx="458788" cy="400050"/>
          </a:xfrm>
          <a:prstGeom prst="rect">
            <a:avLst/>
          </a:prstGeom>
          <a:noFill/>
          <a:ln w="12700">
            <a:noFill/>
            <a:miter lim="800000"/>
            <a:headEnd/>
            <a:tailEnd/>
          </a:ln>
        </p:spPr>
        <p:txBody>
          <a:bodyPr wrap="none">
            <a:spAutoFit/>
          </a:bodyPr>
          <a:lstStyle/>
          <a:p>
            <a:pPr algn="ctr">
              <a:defRPr/>
            </a:pPr>
            <a:r>
              <a:rPr lang="en-US" sz="2000">
                <a:latin typeface="+mn-lt"/>
                <a:cs typeface="Arial" pitchFamily="34" charset="0"/>
              </a:rPr>
              <a:t>k()</a:t>
            </a:r>
          </a:p>
        </p:txBody>
      </p:sp>
      <p:sp>
        <p:nvSpPr>
          <p:cNvPr id="78" name="Line 77"/>
          <p:cNvSpPr>
            <a:spLocks noChangeShapeType="1"/>
          </p:cNvSpPr>
          <p:nvPr/>
        </p:nvSpPr>
        <p:spPr bwMode="auto">
          <a:xfrm>
            <a:off x="3719513" y="3714750"/>
            <a:ext cx="685800" cy="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79" name="Line 78"/>
          <p:cNvSpPr>
            <a:spLocks noChangeShapeType="1"/>
          </p:cNvSpPr>
          <p:nvPr/>
        </p:nvSpPr>
        <p:spPr bwMode="auto">
          <a:xfrm>
            <a:off x="4710113" y="3805238"/>
            <a:ext cx="457200" cy="45720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0" name="Line 79"/>
          <p:cNvSpPr>
            <a:spLocks noChangeShapeType="1"/>
          </p:cNvSpPr>
          <p:nvPr/>
        </p:nvSpPr>
        <p:spPr bwMode="auto">
          <a:xfrm flipV="1">
            <a:off x="6081713" y="3881438"/>
            <a:ext cx="0" cy="38100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1" name="Line 80"/>
          <p:cNvSpPr>
            <a:spLocks noChangeShapeType="1"/>
          </p:cNvSpPr>
          <p:nvPr/>
        </p:nvSpPr>
        <p:spPr bwMode="auto">
          <a:xfrm>
            <a:off x="6234113" y="3614738"/>
            <a:ext cx="533400" cy="0"/>
          </a:xfrm>
          <a:prstGeom prst="line">
            <a:avLst/>
          </a:prstGeom>
          <a:noFill/>
          <a:ln w="28575">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2" name="Line 81"/>
          <p:cNvSpPr>
            <a:spLocks noChangeShapeType="1"/>
          </p:cNvSpPr>
          <p:nvPr/>
        </p:nvSpPr>
        <p:spPr bwMode="auto">
          <a:xfrm>
            <a:off x="4710113" y="3630613"/>
            <a:ext cx="457200" cy="0"/>
          </a:xfrm>
          <a:prstGeom prst="line">
            <a:avLst/>
          </a:prstGeom>
          <a:noFill/>
          <a:ln w="12700" cap="rnd">
            <a:solidFill>
              <a:schemeClr val="tx1"/>
            </a:solidFill>
            <a:prstDash val="sysDot"/>
            <a:round/>
            <a:headEnd/>
            <a:tailEnd type="arrow" w="med" len="med"/>
          </a:ln>
        </p:spPr>
        <p:txBody>
          <a:bodyPr wrap="none" anchor="ctr"/>
          <a:lstStyle/>
          <a:p>
            <a:pPr>
              <a:defRPr/>
            </a:pPr>
            <a:endParaRPr lang="en-US" sz="2000">
              <a:latin typeface="+mn-lt"/>
              <a:cs typeface="Arial" pitchFamily="34" charset="0"/>
            </a:endParaRPr>
          </a:p>
        </p:txBody>
      </p:sp>
      <p:sp>
        <p:nvSpPr>
          <p:cNvPr id="83" name="Line 82"/>
          <p:cNvSpPr>
            <a:spLocks noChangeShapeType="1"/>
          </p:cNvSpPr>
          <p:nvPr/>
        </p:nvSpPr>
        <p:spPr bwMode="auto">
          <a:xfrm>
            <a:off x="3752850" y="5214938"/>
            <a:ext cx="685800" cy="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4" name="Line 83"/>
          <p:cNvSpPr>
            <a:spLocks noChangeShapeType="1"/>
          </p:cNvSpPr>
          <p:nvPr/>
        </p:nvSpPr>
        <p:spPr bwMode="auto">
          <a:xfrm>
            <a:off x="4710113" y="5410200"/>
            <a:ext cx="457200" cy="30480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5" name="Line 84"/>
          <p:cNvSpPr>
            <a:spLocks noChangeShapeType="1"/>
          </p:cNvSpPr>
          <p:nvPr/>
        </p:nvSpPr>
        <p:spPr bwMode="auto">
          <a:xfrm flipV="1">
            <a:off x="5508625" y="5876925"/>
            <a:ext cx="503238" cy="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7" name="Line 86"/>
          <p:cNvSpPr>
            <a:spLocks noChangeShapeType="1"/>
          </p:cNvSpPr>
          <p:nvPr/>
        </p:nvSpPr>
        <p:spPr bwMode="auto">
          <a:xfrm flipV="1">
            <a:off x="6119813" y="5395913"/>
            <a:ext cx="0" cy="22860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8" name="Line 87"/>
          <p:cNvSpPr>
            <a:spLocks noChangeShapeType="1"/>
          </p:cNvSpPr>
          <p:nvPr/>
        </p:nvSpPr>
        <p:spPr bwMode="auto">
          <a:xfrm>
            <a:off x="6262688" y="5481638"/>
            <a:ext cx="504825" cy="766762"/>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89" name="Line 88"/>
          <p:cNvSpPr>
            <a:spLocks noChangeShapeType="1"/>
          </p:cNvSpPr>
          <p:nvPr/>
        </p:nvSpPr>
        <p:spPr bwMode="auto">
          <a:xfrm flipV="1">
            <a:off x="6996113" y="5867400"/>
            <a:ext cx="304800" cy="457200"/>
          </a:xfrm>
          <a:prstGeom prst="line">
            <a:avLst/>
          </a:prstGeom>
          <a:noFill/>
          <a:ln w="38100">
            <a:solidFill>
              <a:srgbClr val="C00000"/>
            </a:solidFill>
            <a:round/>
            <a:headEnd/>
            <a:tailEnd type="triangle" w="med" len="med"/>
          </a:ln>
        </p:spPr>
        <p:txBody>
          <a:bodyPr wrap="none" anchor="ctr"/>
          <a:lstStyle/>
          <a:p>
            <a:pPr>
              <a:defRPr/>
            </a:pPr>
            <a:endParaRPr lang="en-US" sz="2000">
              <a:latin typeface="+mn-lt"/>
              <a:cs typeface="Arial" pitchFamily="34" charset="0"/>
            </a:endParaRPr>
          </a:p>
        </p:txBody>
      </p:sp>
      <p:sp>
        <p:nvSpPr>
          <p:cNvPr id="91" name="Line 90"/>
          <p:cNvSpPr>
            <a:spLocks noChangeShapeType="1"/>
          </p:cNvSpPr>
          <p:nvPr/>
        </p:nvSpPr>
        <p:spPr bwMode="auto">
          <a:xfrm>
            <a:off x="4710113" y="5176838"/>
            <a:ext cx="457200" cy="0"/>
          </a:xfrm>
          <a:prstGeom prst="line">
            <a:avLst/>
          </a:prstGeom>
          <a:noFill/>
          <a:ln w="12700" cap="rnd">
            <a:solidFill>
              <a:schemeClr val="tx1"/>
            </a:solidFill>
            <a:prstDash val="sysDot"/>
            <a:round/>
            <a:headEnd/>
            <a:tailEnd type="arrow" w="med" len="med"/>
          </a:ln>
        </p:spPr>
        <p:txBody>
          <a:bodyPr wrap="none" anchor="ctr"/>
          <a:lstStyle/>
          <a:p>
            <a:pPr>
              <a:defRPr/>
            </a:pPr>
            <a:endParaRPr lang="en-US" sz="2000">
              <a:latin typeface="+mn-lt"/>
              <a:cs typeface="Arial" pitchFamily="34" charset="0"/>
            </a:endParaRPr>
          </a:p>
        </p:txBody>
      </p:sp>
      <p:sp>
        <p:nvSpPr>
          <p:cNvPr id="93" name="Line 92"/>
          <p:cNvSpPr>
            <a:spLocks noChangeShapeType="1"/>
          </p:cNvSpPr>
          <p:nvPr/>
        </p:nvSpPr>
        <p:spPr bwMode="auto">
          <a:xfrm>
            <a:off x="6157913" y="5176838"/>
            <a:ext cx="609600" cy="0"/>
          </a:xfrm>
          <a:prstGeom prst="line">
            <a:avLst/>
          </a:prstGeom>
          <a:noFill/>
          <a:ln w="12700" cap="rnd">
            <a:solidFill>
              <a:schemeClr val="tx1"/>
            </a:solidFill>
            <a:prstDash val="sysDot"/>
            <a:round/>
            <a:headEnd/>
            <a:tailEnd type="arrow" w="med" len="med"/>
          </a:ln>
        </p:spPr>
        <p:txBody>
          <a:bodyPr wrap="none" anchor="ctr"/>
          <a:lstStyle/>
          <a:p>
            <a:pPr>
              <a:defRPr/>
            </a:pPr>
            <a:endParaRPr lang="en-US" sz="2000">
              <a:latin typeface="+mn-lt"/>
              <a:cs typeface="Arial" pitchFamily="34" charset="0"/>
            </a:endParaRPr>
          </a:p>
        </p:txBody>
      </p:sp>
      <p:sp>
        <p:nvSpPr>
          <p:cNvPr id="95" name="Text Box 94"/>
          <p:cNvSpPr txBox="1">
            <a:spLocks noChangeArrowheads="1"/>
          </p:cNvSpPr>
          <p:nvPr/>
        </p:nvSpPr>
        <p:spPr bwMode="auto">
          <a:xfrm>
            <a:off x="2787650" y="2279650"/>
            <a:ext cx="369888" cy="461963"/>
          </a:xfrm>
          <a:prstGeom prst="rect">
            <a:avLst/>
          </a:prstGeom>
          <a:noFill/>
          <a:ln w="12700">
            <a:noFill/>
            <a:miter lim="800000"/>
            <a:headEnd/>
            <a:tailEnd/>
          </a:ln>
        </p:spPr>
        <p:txBody>
          <a:bodyPr wrap="none">
            <a:spAutoFit/>
          </a:bodyPr>
          <a:lstStyle/>
          <a:p>
            <a:pPr algn="ctr">
              <a:defRPr/>
            </a:pPr>
            <a:r>
              <a:rPr lang="en-US" sz="2400" b="1">
                <a:solidFill>
                  <a:srgbClr val="00005A"/>
                </a:solidFill>
                <a:latin typeface="+mn-lt"/>
                <a:cs typeface="Arial" pitchFamily="34" charset="0"/>
              </a:rPr>
              <a:t>A</a:t>
            </a:r>
          </a:p>
        </p:txBody>
      </p:sp>
      <p:sp>
        <p:nvSpPr>
          <p:cNvPr id="96" name="Text Box 95"/>
          <p:cNvSpPr txBox="1">
            <a:spLocks noChangeArrowheads="1"/>
          </p:cNvSpPr>
          <p:nvPr/>
        </p:nvSpPr>
        <p:spPr bwMode="auto">
          <a:xfrm>
            <a:off x="3481388" y="2295525"/>
            <a:ext cx="476250" cy="400050"/>
          </a:xfrm>
          <a:prstGeom prst="rect">
            <a:avLst/>
          </a:prstGeom>
          <a:noFill/>
          <a:ln w="12700">
            <a:noFill/>
            <a:miter lim="800000"/>
            <a:headEnd/>
            <a:tailEnd/>
          </a:ln>
        </p:spPr>
        <p:txBody>
          <a:bodyPr wrap="none">
            <a:spAutoFit/>
          </a:bodyPr>
          <a:lstStyle/>
          <a:p>
            <a:pPr algn="ctr">
              <a:defRPr/>
            </a:pPr>
            <a:r>
              <a:rPr lang="en-US" sz="2000" dirty="0">
                <a:solidFill>
                  <a:srgbClr val="00005A"/>
                </a:solidFill>
                <a:latin typeface="+mn-lt"/>
                <a:cs typeface="Arial" pitchFamily="34" charset="0"/>
              </a:rPr>
              <a:t>d()</a:t>
            </a:r>
          </a:p>
        </p:txBody>
      </p:sp>
      <p:sp>
        <p:nvSpPr>
          <p:cNvPr id="97" name="Text Box 96"/>
          <p:cNvSpPr txBox="1">
            <a:spLocks noChangeArrowheads="1"/>
          </p:cNvSpPr>
          <p:nvPr/>
        </p:nvSpPr>
        <p:spPr bwMode="auto">
          <a:xfrm>
            <a:off x="6757988" y="2295525"/>
            <a:ext cx="403225"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j()</a:t>
            </a:r>
          </a:p>
        </p:txBody>
      </p:sp>
      <p:sp>
        <p:nvSpPr>
          <p:cNvPr id="98" name="Text Box 97"/>
          <p:cNvSpPr txBox="1">
            <a:spLocks noChangeArrowheads="1"/>
          </p:cNvSpPr>
          <p:nvPr/>
        </p:nvSpPr>
        <p:spPr bwMode="auto">
          <a:xfrm>
            <a:off x="4471988" y="2295525"/>
            <a:ext cx="461962"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g()</a:t>
            </a:r>
          </a:p>
        </p:txBody>
      </p:sp>
      <p:sp>
        <p:nvSpPr>
          <p:cNvPr id="99" name="Text Box 98"/>
          <p:cNvSpPr txBox="1">
            <a:spLocks noChangeArrowheads="1"/>
          </p:cNvSpPr>
          <p:nvPr/>
        </p:nvSpPr>
        <p:spPr bwMode="auto">
          <a:xfrm>
            <a:off x="5205413" y="2295525"/>
            <a:ext cx="476250"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h()</a:t>
            </a:r>
          </a:p>
        </p:txBody>
      </p:sp>
      <p:sp>
        <p:nvSpPr>
          <p:cNvPr id="100" name="Text Box 99"/>
          <p:cNvSpPr txBox="1">
            <a:spLocks noChangeArrowheads="1"/>
          </p:cNvSpPr>
          <p:nvPr/>
        </p:nvSpPr>
        <p:spPr bwMode="auto">
          <a:xfrm>
            <a:off x="5995988" y="2295525"/>
            <a:ext cx="401637" cy="400050"/>
          </a:xfrm>
          <a:prstGeom prst="rect">
            <a:avLst/>
          </a:prstGeom>
          <a:noFill/>
          <a:ln w="12700">
            <a:noFill/>
            <a:miter lim="800000"/>
            <a:headEnd/>
            <a:tailEnd/>
          </a:ln>
        </p:spPr>
        <p:txBody>
          <a:bodyPr wrap="none">
            <a:spAutoFit/>
          </a:bodyPr>
          <a:lstStyle/>
          <a:p>
            <a:pPr algn="ctr">
              <a:defRPr/>
            </a:pPr>
            <a:r>
              <a:rPr lang="en-US" sz="2000">
                <a:solidFill>
                  <a:srgbClr val="00005A"/>
                </a:solidFill>
                <a:latin typeface="+mn-lt"/>
                <a:cs typeface="Arial" pitchFamily="34" charset="0"/>
              </a:rPr>
              <a:t>i()</a:t>
            </a:r>
          </a:p>
        </p:txBody>
      </p:sp>
      <p:sp>
        <p:nvSpPr>
          <p:cNvPr id="102" name="Line 102"/>
          <p:cNvSpPr>
            <a:spLocks noChangeShapeType="1"/>
          </p:cNvSpPr>
          <p:nvPr/>
        </p:nvSpPr>
        <p:spPr bwMode="auto">
          <a:xfrm>
            <a:off x="3867150" y="2447925"/>
            <a:ext cx="6096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3" name="Line 103"/>
          <p:cNvSpPr>
            <a:spLocks noChangeShapeType="1"/>
          </p:cNvSpPr>
          <p:nvPr/>
        </p:nvSpPr>
        <p:spPr bwMode="auto">
          <a:xfrm>
            <a:off x="4829175" y="2447925"/>
            <a:ext cx="4572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4" name="Line 104"/>
          <p:cNvSpPr>
            <a:spLocks noChangeShapeType="1"/>
          </p:cNvSpPr>
          <p:nvPr/>
        </p:nvSpPr>
        <p:spPr bwMode="auto">
          <a:xfrm>
            <a:off x="5591175" y="2447925"/>
            <a:ext cx="4572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5" name="Line 105"/>
          <p:cNvSpPr>
            <a:spLocks noChangeShapeType="1"/>
          </p:cNvSpPr>
          <p:nvPr/>
        </p:nvSpPr>
        <p:spPr bwMode="auto">
          <a:xfrm>
            <a:off x="6276975" y="2447925"/>
            <a:ext cx="533400" cy="0"/>
          </a:xfrm>
          <a:prstGeom prst="line">
            <a:avLst/>
          </a:prstGeom>
          <a:noFill/>
          <a:ln w="28575">
            <a:solidFill>
              <a:srgbClr val="C00000"/>
            </a:solidFill>
            <a:round/>
            <a:headEnd/>
            <a:tailEnd type="triangle" w="med" len="med"/>
          </a:ln>
        </p:spPr>
        <p:txBody>
          <a:bodyPr wrap="none" anchor="ctr"/>
          <a:lstStyle/>
          <a:p>
            <a:pPr>
              <a:defRPr/>
            </a:pPr>
            <a:endParaRPr lang="en-US" sz="2800">
              <a:latin typeface="+mn-lt"/>
              <a:cs typeface="Arial" pitchFamily="34" charset="0"/>
            </a:endParaRPr>
          </a:p>
        </p:txBody>
      </p:sp>
      <p:sp>
        <p:nvSpPr>
          <p:cNvPr id="107" name="Line 110"/>
          <p:cNvSpPr>
            <a:spLocks noChangeShapeType="1"/>
          </p:cNvSpPr>
          <p:nvPr/>
        </p:nvSpPr>
        <p:spPr bwMode="auto">
          <a:xfrm>
            <a:off x="4946650" y="4033838"/>
            <a:ext cx="192088" cy="228600"/>
          </a:xfrm>
          <a:prstGeom prst="line">
            <a:avLst/>
          </a:prstGeom>
          <a:noFill/>
          <a:ln w="28575">
            <a:solidFill>
              <a:srgbClr val="C00000"/>
            </a:solidFill>
            <a:round/>
            <a:headEnd/>
            <a:tailEnd type="triangle" w="med" len="med"/>
          </a:ln>
        </p:spPr>
        <p:txBody>
          <a:bodyPr/>
          <a:lstStyle/>
          <a:p>
            <a:pPr>
              <a:defRPr/>
            </a:pPr>
            <a:endParaRPr lang="en-US" sz="2000">
              <a:latin typeface="+mn-lt"/>
              <a:cs typeface="Arial" pitchFamily="34" charset="0"/>
            </a:endParaRPr>
          </a:p>
        </p:txBody>
      </p:sp>
      <p:sp>
        <p:nvSpPr>
          <p:cNvPr id="108" name="Line 111"/>
          <p:cNvSpPr>
            <a:spLocks noChangeShapeType="1"/>
          </p:cNvSpPr>
          <p:nvPr/>
        </p:nvSpPr>
        <p:spPr bwMode="auto">
          <a:xfrm>
            <a:off x="6081713" y="4033838"/>
            <a:ext cx="0" cy="228600"/>
          </a:xfrm>
          <a:prstGeom prst="line">
            <a:avLst/>
          </a:prstGeom>
          <a:noFill/>
          <a:ln w="9525">
            <a:solidFill>
              <a:srgbClr val="000000"/>
            </a:solidFill>
            <a:round/>
            <a:headEnd/>
            <a:tailEnd/>
          </a:ln>
        </p:spPr>
        <p:txBody>
          <a:bodyPr/>
          <a:lstStyle/>
          <a:p>
            <a:pPr>
              <a:defRPr/>
            </a:pPr>
            <a:endParaRPr lang="en-US" sz="2000">
              <a:latin typeface="+mn-lt"/>
              <a:cs typeface="Arial" pitchFamily="34" charset="0"/>
            </a:endParaRPr>
          </a:p>
        </p:txBody>
      </p:sp>
      <p:sp>
        <p:nvSpPr>
          <p:cNvPr id="110" name="Line 113"/>
          <p:cNvSpPr>
            <a:spLocks noChangeShapeType="1"/>
          </p:cNvSpPr>
          <p:nvPr/>
        </p:nvSpPr>
        <p:spPr bwMode="auto">
          <a:xfrm>
            <a:off x="3186113" y="4033838"/>
            <a:ext cx="0" cy="609600"/>
          </a:xfrm>
          <a:prstGeom prst="line">
            <a:avLst/>
          </a:prstGeom>
          <a:noFill/>
          <a:ln w="9525">
            <a:solidFill>
              <a:schemeClr val="bg2"/>
            </a:solidFill>
            <a:round/>
            <a:headEnd/>
            <a:tailEnd/>
          </a:ln>
        </p:spPr>
        <p:txBody>
          <a:bodyPr/>
          <a:lstStyle/>
          <a:p>
            <a:pPr>
              <a:defRPr/>
            </a:pPr>
            <a:endParaRPr lang="en-US" sz="2000" b="1">
              <a:latin typeface="+mn-lt"/>
              <a:cs typeface="Arial" pitchFamily="34" charset="0"/>
            </a:endParaRPr>
          </a:p>
        </p:txBody>
      </p:sp>
      <p:sp>
        <p:nvSpPr>
          <p:cNvPr id="111" name="Line 114"/>
          <p:cNvSpPr>
            <a:spLocks noChangeShapeType="1"/>
          </p:cNvSpPr>
          <p:nvPr/>
        </p:nvSpPr>
        <p:spPr bwMode="auto">
          <a:xfrm>
            <a:off x="3186113" y="6096000"/>
            <a:ext cx="0" cy="441325"/>
          </a:xfrm>
          <a:prstGeom prst="line">
            <a:avLst/>
          </a:prstGeom>
          <a:noFill/>
          <a:ln w="9525">
            <a:solidFill>
              <a:schemeClr val="bg2"/>
            </a:solidFill>
            <a:round/>
            <a:headEnd/>
            <a:tailEnd/>
          </a:ln>
        </p:spPr>
        <p:txBody>
          <a:bodyPr/>
          <a:lstStyle/>
          <a:p>
            <a:pPr>
              <a:defRPr/>
            </a:pPr>
            <a:endParaRPr lang="en-US" sz="2000">
              <a:latin typeface="+mn-lt"/>
              <a:cs typeface="Arial" pitchFamily="34" charset="0"/>
            </a:endParaRPr>
          </a:p>
        </p:txBody>
      </p:sp>
      <p:sp>
        <p:nvSpPr>
          <p:cNvPr id="114" name="Line 38"/>
          <p:cNvSpPr>
            <a:spLocks noChangeShapeType="1"/>
          </p:cNvSpPr>
          <p:nvPr/>
        </p:nvSpPr>
        <p:spPr bwMode="auto">
          <a:xfrm flipV="1">
            <a:off x="819150" y="5157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115" name="Line 39"/>
          <p:cNvSpPr>
            <a:spLocks noChangeShapeType="1"/>
          </p:cNvSpPr>
          <p:nvPr/>
        </p:nvSpPr>
        <p:spPr bwMode="auto">
          <a:xfrm flipH="1" flipV="1">
            <a:off x="895350" y="5157788"/>
            <a:ext cx="76200" cy="15240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116" name="Line 40"/>
          <p:cNvSpPr>
            <a:spLocks noChangeShapeType="1"/>
          </p:cNvSpPr>
          <p:nvPr/>
        </p:nvSpPr>
        <p:spPr bwMode="auto">
          <a:xfrm>
            <a:off x="819150" y="5310188"/>
            <a:ext cx="152400" cy="0"/>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117" name="Line 41"/>
          <p:cNvSpPr>
            <a:spLocks noChangeShapeType="1"/>
          </p:cNvSpPr>
          <p:nvPr/>
        </p:nvSpPr>
        <p:spPr bwMode="auto">
          <a:xfrm flipH="1">
            <a:off x="877888" y="5300663"/>
            <a:ext cx="22225" cy="414337"/>
          </a:xfrm>
          <a:prstGeom prst="line">
            <a:avLst/>
          </a:prstGeom>
          <a:noFill/>
          <a:ln w="12700">
            <a:solidFill>
              <a:schemeClr val="tx1"/>
            </a:solidFill>
            <a:round/>
            <a:headEnd/>
            <a:tailEnd/>
          </a:ln>
        </p:spPr>
        <p:txBody>
          <a:bodyPr wrap="none" anchor="ctr"/>
          <a:lstStyle/>
          <a:p>
            <a:pPr>
              <a:defRPr/>
            </a:pPr>
            <a:endParaRPr lang="en-US" sz="2400">
              <a:latin typeface="+mn-lt"/>
              <a:cs typeface="Arial" pitchFamily="34" charset="0"/>
            </a:endParaRPr>
          </a:p>
        </p:txBody>
      </p:sp>
      <p:sp>
        <p:nvSpPr>
          <p:cNvPr id="2" name="TextBox 1">
            <a:extLst>
              <a:ext uri="{FF2B5EF4-FFF2-40B4-BE49-F238E27FC236}">
                <a16:creationId xmlns:a16="http://schemas.microsoft.com/office/drawing/2014/main" id="{47B3D0BF-C4A5-BE87-B143-7AC7156B32ED}"/>
              </a:ext>
            </a:extLst>
          </p:cNvPr>
          <p:cNvSpPr txBox="1"/>
          <p:nvPr/>
        </p:nvSpPr>
        <p:spPr>
          <a:xfrm>
            <a:off x="1763713" y="1224609"/>
            <a:ext cx="7056437" cy="646331"/>
          </a:xfrm>
          <a:prstGeom prst="rect">
            <a:avLst/>
          </a:prstGeom>
          <a:noFill/>
        </p:spPr>
        <p:txBody>
          <a:bodyPr wrap="square" rtlCol="0">
            <a:spAutoFit/>
          </a:bodyPr>
          <a:lstStyle/>
          <a:p>
            <a:r>
              <a:rPr lang="en-US" i="1" dirty="0">
                <a:highlight>
                  <a:srgbClr val="FFFF00"/>
                </a:highlight>
              </a:rPr>
              <a:t>Y</a:t>
            </a:r>
            <a:r>
              <a:rPr lang="en-US" sz="1800" i="1" dirty="0">
                <a:highlight>
                  <a:srgbClr val="FFFF00"/>
                </a:highlight>
              </a:rPr>
              <a:t>oyo behavior </a:t>
            </a:r>
            <a:r>
              <a:rPr lang="en-US" sz="1800" i="1" dirty="0"/>
              <a:t>: methods of a class interact with that of its super classes.  Alexander-</a:t>
            </a:r>
            <a:r>
              <a:rPr lang="en-US" sz="1800" i="1" dirty="0" err="1"/>
              <a:t>Offut</a:t>
            </a:r>
            <a:r>
              <a:rPr lang="en-US" sz="1800" i="1" dirty="0"/>
              <a:t> 2000</a:t>
            </a:r>
            <a:endParaRPr lang="en-NL"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32B8-0B79-5C4F-9BAA-6C9BF1712CEE}"/>
              </a:ext>
            </a:extLst>
          </p:cNvPr>
          <p:cNvSpPr>
            <a:spLocks noGrp="1"/>
          </p:cNvSpPr>
          <p:nvPr>
            <p:ph type="title"/>
          </p:nvPr>
        </p:nvSpPr>
        <p:spPr/>
        <p:txBody>
          <a:bodyPr/>
          <a:lstStyle/>
          <a:p>
            <a:r>
              <a:rPr lang="en-US" dirty="0"/>
              <a:t>Testing OO programs </a:t>
            </a:r>
          </a:p>
        </p:txBody>
      </p:sp>
      <p:sp>
        <p:nvSpPr>
          <p:cNvPr id="4" name="Content Placeholder 3">
            <a:extLst>
              <a:ext uri="{FF2B5EF4-FFF2-40B4-BE49-F238E27FC236}">
                <a16:creationId xmlns:a16="http://schemas.microsoft.com/office/drawing/2014/main" id="{3EBDFA80-6C74-2245-8C2A-3952BA792504}"/>
              </a:ext>
            </a:extLst>
          </p:cNvPr>
          <p:cNvSpPr>
            <a:spLocks noGrp="1"/>
          </p:cNvSpPr>
          <p:nvPr>
            <p:ph idx="1"/>
          </p:nvPr>
        </p:nvSpPr>
        <p:spPr/>
        <p:txBody>
          <a:bodyPr/>
          <a:lstStyle/>
          <a:p>
            <a:r>
              <a:rPr lang="en-US" sz="2400" dirty="0"/>
              <a:t>Of course: every method/class should be unit-tested.</a:t>
            </a:r>
          </a:p>
          <a:p>
            <a:r>
              <a:rPr lang="en-US" sz="2400" dirty="0"/>
              <a:t>However, previously mentioned inheritance-related error prone situations happen at the integration level when a module uses a class C, but it might get a subclass of C at the runtime.</a:t>
            </a:r>
          </a:p>
          <a:p>
            <a:r>
              <a:rPr lang="en-US" sz="2400" dirty="0"/>
              <a:t>We can test this through the previously discussed integration test approach, and enhance it to cover for inheritance as well.</a:t>
            </a:r>
          </a:p>
          <a:p>
            <a:endParaRPr lang="en-US" sz="2400" dirty="0"/>
          </a:p>
        </p:txBody>
      </p:sp>
      <p:sp>
        <p:nvSpPr>
          <p:cNvPr id="3" name="Slide Number Placeholder 2">
            <a:extLst>
              <a:ext uri="{FF2B5EF4-FFF2-40B4-BE49-F238E27FC236}">
                <a16:creationId xmlns:a16="http://schemas.microsoft.com/office/drawing/2014/main" id="{A4B68833-2582-384F-A95E-4E1E221310B8}"/>
              </a:ext>
            </a:extLst>
          </p:cNvPr>
          <p:cNvSpPr>
            <a:spLocks noGrp="1"/>
          </p:cNvSpPr>
          <p:nvPr>
            <p:ph type="sldNum" sz="quarter" idx="12"/>
          </p:nvPr>
        </p:nvSpPr>
        <p:spPr/>
        <p:txBody>
          <a:bodyPr/>
          <a:lstStyle/>
          <a:p>
            <a:pPr>
              <a:defRPr/>
            </a:pPr>
            <a:fld id="{E2F37286-FE51-4C52-8532-323FC50E77F0}" type="slidenum">
              <a:rPr lang="en-US" smtClean="0"/>
              <a:pPr>
                <a:defRPr/>
              </a:pPr>
              <a:t>30</a:t>
            </a:fld>
            <a:endParaRPr lang="en-US"/>
          </a:p>
        </p:txBody>
      </p:sp>
    </p:spTree>
    <p:extLst>
      <p:ext uri="{BB962C8B-B14F-4D97-AF65-F5344CB8AC3E}">
        <p14:creationId xmlns:p14="http://schemas.microsoft.com/office/powerpoint/2010/main" val="4232089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457200" y="274638"/>
            <a:ext cx="8229600" cy="1138237"/>
          </a:xfrm>
        </p:spPr>
        <p:txBody>
          <a:bodyPr/>
          <a:lstStyle/>
          <a:p>
            <a:r>
              <a:rPr lang="en-US" dirty="0"/>
              <a:t>Testing Direct Coupling</a:t>
            </a:r>
            <a:endParaRPr lang="en-US" sz="3200" dirty="0"/>
          </a:p>
        </p:txBody>
      </p:sp>
      <p:sp>
        <p:nvSpPr>
          <p:cNvPr id="31747" name="Content Placeholder 2"/>
          <p:cNvSpPr>
            <a:spLocks noGrp="1"/>
          </p:cNvSpPr>
          <p:nvPr>
            <p:ph idx="1"/>
          </p:nvPr>
        </p:nvSpPr>
        <p:spPr>
          <a:xfrm>
            <a:off x="395536" y="3861048"/>
            <a:ext cx="8246690" cy="2481263"/>
          </a:xfrm>
        </p:spPr>
        <p:txBody>
          <a:bodyPr/>
          <a:lstStyle/>
          <a:p>
            <a:pPr marL="0" indent="0" algn="just">
              <a:buNone/>
            </a:pPr>
            <a:r>
              <a:rPr lang="en-US" sz="2400" dirty="0"/>
              <a:t>Testing the usage of class A by class E (direct coupling) : treat this as an integration testing problem ➝</a:t>
            </a:r>
            <a:r>
              <a:rPr lang="en-US" sz="2400" dirty="0">
                <a:sym typeface="Wingdings" pitchFamily="2" charset="2"/>
              </a:rPr>
              <a:t> </a:t>
            </a:r>
            <a:r>
              <a:rPr lang="en-US" sz="2400" dirty="0"/>
              <a:t>we already have a solution  (data-flow based integration test), </a:t>
            </a:r>
            <a:r>
              <a:rPr lang="en-US" sz="2400" dirty="0">
                <a:sym typeface="Wingdings" pitchFamily="2" charset="2"/>
              </a:rPr>
              <a:t>but </a:t>
            </a:r>
            <a:r>
              <a:rPr lang="en-US" sz="2400" b="1" dirty="0">
                <a:sym typeface="Wingdings" pitchFamily="2" charset="2"/>
              </a:rPr>
              <a:t>additionally</a:t>
            </a:r>
            <a:r>
              <a:rPr lang="en-US" sz="2400" dirty="0">
                <a:sym typeface="Wingdings" pitchFamily="2" charset="2"/>
              </a:rPr>
              <a:t> now we need to quantify over the subclasses of A, due to </a:t>
            </a:r>
            <a:r>
              <a:rPr lang="en-US" sz="2400" dirty="0"/>
              <a:t>dynamic binding</a:t>
            </a:r>
            <a:r>
              <a:rPr lang="en-US" sz="2400" dirty="0">
                <a:sym typeface="Wingdings" pitchFamily="2" charset="2"/>
              </a:rPr>
              <a:t>  (the exact </a:t>
            </a:r>
            <a:r>
              <a:rPr lang="en-US" sz="2400" i="1" dirty="0">
                <a:sym typeface="Wingdings" pitchFamily="2" charset="2"/>
              </a:rPr>
              <a:t>m</a:t>
            </a:r>
            <a:r>
              <a:rPr lang="en-US" sz="2400" dirty="0">
                <a:sym typeface="Wingdings" pitchFamily="2" charset="2"/>
              </a:rPr>
              <a:t> called in </a:t>
            </a:r>
            <a:r>
              <a:rPr lang="en-US" sz="2400" i="1" dirty="0">
                <a:sym typeface="Wingdings" pitchFamily="2" charset="2"/>
              </a:rPr>
              <a:t>f</a:t>
            </a:r>
            <a:r>
              <a:rPr lang="en-US" sz="2400" dirty="0">
                <a:sym typeface="Wingdings" pitchFamily="2" charset="2"/>
              </a:rPr>
              <a:t> depends on the type of actual type of </a:t>
            </a:r>
            <a:r>
              <a:rPr lang="en-US" sz="2400" i="1" dirty="0">
                <a:sym typeface="Wingdings" pitchFamily="2" charset="2"/>
              </a:rPr>
              <a:t>o </a:t>
            </a:r>
            <a:r>
              <a:rPr lang="en-US" sz="2400" dirty="0">
                <a:sym typeface="Wingdings" pitchFamily="2" charset="2"/>
              </a:rPr>
              <a:t>).</a:t>
            </a:r>
          </a:p>
        </p:txBody>
      </p:sp>
      <p:sp>
        <p:nvSpPr>
          <p:cNvPr id="4" name="Slide Number Placeholder 3"/>
          <p:cNvSpPr>
            <a:spLocks noGrp="1"/>
          </p:cNvSpPr>
          <p:nvPr>
            <p:ph type="sldNum" sz="quarter" idx="12"/>
          </p:nvPr>
        </p:nvSpPr>
        <p:spPr/>
        <p:txBody>
          <a:bodyPr/>
          <a:lstStyle/>
          <a:p>
            <a:pPr>
              <a:defRPr/>
            </a:pPr>
            <a:fld id="{9C36300D-7A5F-4A55-A723-E5304E3FE0FD}" type="slidenum">
              <a:rPr lang="en-US" smtClean="0"/>
              <a:pPr>
                <a:defRPr/>
              </a:pPr>
              <a:t>31</a:t>
            </a:fld>
            <a:endParaRPr lang="en-US"/>
          </a:p>
        </p:txBody>
      </p:sp>
      <p:sp>
        <p:nvSpPr>
          <p:cNvPr id="5" name="TextBox 4"/>
          <p:cNvSpPr txBox="1"/>
          <p:nvPr/>
        </p:nvSpPr>
        <p:spPr>
          <a:xfrm>
            <a:off x="1547664" y="1742952"/>
            <a:ext cx="3384376" cy="1938992"/>
          </a:xfrm>
          <a:prstGeom prst="rect">
            <a:avLst/>
          </a:prstGeom>
          <a:solidFill>
            <a:schemeClr val="accent5">
              <a:lumMod val="20000"/>
              <a:lumOff val="80000"/>
            </a:schemeClr>
          </a:solidFill>
          <a:ln>
            <a:solidFill>
              <a:schemeClr val="tx1"/>
            </a:solidFill>
          </a:ln>
        </p:spPr>
        <p:txBody>
          <a:bodyPr wrap="square">
            <a:spAutoFit/>
          </a:bodyPr>
          <a:lstStyle/>
          <a:p>
            <a:pPr>
              <a:defRPr/>
            </a:pPr>
            <a:r>
              <a:rPr lang="en-US" sz="2400" b="1" dirty="0">
                <a:latin typeface="+mn-lt"/>
              </a:rPr>
              <a:t>class</a:t>
            </a:r>
            <a:r>
              <a:rPr lang="en-US" sz="2400" dirty="0">
                <a:latin typeface="+mn-lt"/>
              </a:rPr>
              <a:t> E {</a:t>
            </a:r>
            <a:br>
              <a:rPr lang="en-US" sz="2400" dirty="0">
                <a:latin typeface="+mn-lt"/>
              </a:rPr>
            </a:br>
            <a:r>
              <a:rPr lang="en-US" sz="2400" dirty="0">
                <a:latin typeface="+mn-lt"/>
              </a:rPr>
              <a:t>   f(x) {  A o = Factory(x ) ;     </a:t>
            </a:r>
            <a:br>
              <a:rPr lang="en-US" sz="2400" dirty="0">
                <a:latin typeface="+mn-lt"/>
              </a:rPr>
            </a:br>
            <a:r>
              <a:rPr lang="en-US" sz="2400" dirty="0">
                <a:latin typeface="+mn-lt"/>
              </a:rPr>
              <a:t>            ...</a:t>
            </a:r>
            <a:endParaRPr lang="en-US" sz="2400" dirty="0">
              <a:solidFill>
                <a:schemeClr val="accent1">
                  <a:lumMod val="60000"/>
                  <a:lumOff val="40000"/>
                </a:schemeClr>
              </a:solidFill>
              <a:latin typeface="+mn-lt"/>
            </a:endParaRPr>
          </a:p>
          <a:p>
            <a:pPr>
              <a:defRPr/>
            </a:pPr>
            <a:r>
              <a:rPr lang="en-US" sz="2400" dirty="0">
                <a:latin typeface="+mn-lt"/>
              </a:rPr>
              <a:t>           y = </a:t>
            </a:r>
            <a:r>
              <a:rPr lang="en-US" sz="2400" dirty="0" err="1">
                <a:latin typeface="+mn-lt"/>
              </a:rPr>
              <a:t>o.m</a:t>
            </a:r>
            <a:r>
              <a:rPr lang="en-US" sz="2400" dirty="0">
                <a:latin typeface="+mn-lt"/>
              </a:rPr>
              <a:t>(...)    </a:t>
            </a:r>
            <a:br>
              <a:rPr lang="en-US" sz="2400" dirty="0">
                <a:latin typeface="+mn-lt"/>
              </a:rPr>
            </a:br>
            <a:r>
              <a:rPr lang="en-US" sz="2400" dirty="0">
                <a:latin typeface="+mn-lt"/>
              </a:rPr>
              <a:t>            ….} }</a:t>
            </a:r>
          </a:p>
        </p:txBody>
      </p:sp>
      <p:sp>
        <p:nvSpPr>
          <p:cNvPr id="6" name="TextBox 5">
            <a:extLst>
              <a:ext uri="{FF2B5EF4-FFF2-40B4-BE49-F238E27FC236}">
                <a16:creationId xmlns:a16="http://schemas.microsoft.com/office/drawing/2014/main" id="{5E7FCCE2-3534-5141-8ED2-D508474C23C1}"/>
              </a:ext>
            </a:extLst>
          </p:cNvPr>
          <p:cNvSpPr txBox="1"/>
          <p:nvPr/>
        </p:nvSpPr>
        <p:spPr>
          <a:xfrm>
            <a:off x="6228513" y="1572044"/>
            <a:ext cx="1103187" cy="830997"/>
          </a:xfrm>
          <a:prstGeom prst="rect">
            <a:avLst/>
          </a:prstGeom>
          <a:solidFill>
            <a:schemeClr val="bg1">
              <a:lumMod val="85000"/>
            </a:schemeClr>
          </a:solidFill>
          <a:ln>
            <a:solidFill>
              <a:schemeClr val="tx1"/>
            </a:solidFill>
          </a:ln>
        </p:spPr>
        <p:txBody>
          <a:bodyPr wrap="none">
            <a:spAutoFit/>
          </a:bodyPr>
          <a:lstStyle/>
          <a:p>
            <a:pPr>
              <a:defRPr/>
            </a:pPr>
            <a:r>
              <a:rPr lang="en-US" sz="2400" b="1" dirty="0">
                <a:latin typeface="+mn-lt"/>
              </a:rPr>
              <a:t>class</a:t>
            </a:r>
            <a:r>
              <a:rPr lang="en-US" sz="2400" dirty="0">
                <a:latin typeface="+mn-lt"/>
              </a:rPr>
              <a:t> A </a:t>
            </a:r>
          </a:p>
          <a:p>
            <a:pPr>
              <a:defRPr/>
            </a:pPr>
            <a:r>
              <a:rPr lang="en-US" sz="2400" dirty="0">
                <a:latin typeface="+mn-lt"/>
              </a:rPr>
              <a:t>+ m(...)</a:t>
            </a:r>
          </a:p>
        </p:txBody>
      </p:sp>
      <p:cxnSp>
        <p:nvCxnSpPr>
          <p:cNvPr id="3" name="Straight Arrow Connector 2">
            <a:extLst>
              <a:ext uri="{FF2B5EF4-FFF2-40B4-BE49-F238E27FC236}">
                <a16:creationId xmlns:a16="http://schemas.microsoft.com/office/drawing/2014/main" id="{3E5D2127-D77C-C943-8B24-12C857C00030}"/>
              </a:ext>
            </a:extLst>
          </p:cNvPr>
          <p:cNvCxnSpPr>
            <a:cxnSpLocks/>
            <a:stCxn id="6" idx="1"/>
          </p:cNvCxnSpPr>
          <p:nvPr/>
        </p:nvCxnSpPr>
        <p:spPr>
          <a:xfrm flipH="1">
            <a:off x="3779912" y="1987543"/>
            <a:ext cx="2448601" cy="1009409"/>
          </a:xfrm>
          <a:prstGeom prst="straightConnector1">
            <a:avLst/>
          </a:prstGeom>
          <a:ln>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7F57FC7-3F71-3A4A-B45B-E5578FF2E07D}"/>
              </a:ext>
            </a:extLst>
          </p:cNvPr>
          <p:cNvSpPr txBox="1"/>
          <p:nvPr/>
        </p:nvSpPr>
        <p:spPr>
          <a:xfrm>
            <a:off x="6265578" y="2712448"/>
            <a:ext cx="1103187" cy="830997"/>
          </a:xfrm>
          <a:prstGeom prst="rect">
            <a:avLst/>
          </a:prstGeom>
          <a:solidFill>
            <a:schemeClr val="bg1">
              <a:lumMod val="85000"/>
            </a:schemeClr>
          </a:solidFill>
          <a:ln>
            <a:solidFill>
              <a:schemeClr val="tx1"/>
            </a:solidFill>
          </a:ln>
        </p:spPr>
        <p:txBody>
          <a:bodyPr wrap="none">
            <a:spAutoFit/>
          </a:bodyPr>
          <a:lstStyle/>
          <a:p>
            <a:pPr>
              <a:defRPr/>
            </a:pPr>
            <a:r>
              <a:rPr lang="en-US" sz="2400" b="1" dirty="0">
                <a:latin typeface="+mn-lt"/>
              </a:rPr>
              <a:t>class</a:t>
            </a:r>
            <a:r>
              <a:rPr lang="en-US" sz="2400" dirty="0">
                <a:latin typeface="+mn-lt"/>
              </a:rPr>
              <a:t> B </a:t>
            </a:r>
          </a:p>
          <a:p>
            <a:pPr>
              <a:defRPr/>
            </a:pPr>
            <a:r>
              <a:rPr lang="en-US" sz="2400" dirty="0">
                <a:latin typeface="+mn-lt"/>
              </a:rPr>
              <a:t>+ m(...)</a:t>
            </a:r>
          </a:p>
        </p:txBody>
      </p:sp>
      <p:sp>
        <p:nvSpPr>
          <p:cNvPr id="12" name="Isosceles Triangle 7">
            <a:extLst>
              <a:ext uri="{FF2B5EF4-FFF2-40B4-BE49-F238E27FC236}">
                <a16:creationId xmlns:a16="http://schemas.microsoft.com/office/drawing/2014/main" id="{D5F2F233-3477-4D48-95AB-B826080CD8A1}"/>
              </a:ext>
            </a:extLst>
          </p:cNvPr>
          <p:cNvSpPr/>
          <p:nvPr/>
        </p:nvSpPr>
        <p:spPr>
          <a:xfrm>
            <a:off x="6732240" y="2412045"/>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3" name="Straight Connector 12">
            <a:extLst>
              <a:ext uri="{FF2B5EF4-FFF2-40B4-BE49-F238E27FC236}">
                <a16:creationId xmlns:a16="http://schemas.microsoft.com/office/drawing/2014/main" id="{33CB57FA-2947-294C-AB0E-5BAB8B3711B0}"/>
              </a:ext>
            </a:extLst>
          </p:cNvPr>
          <p:cNvCxnSpPr>
            <a:cxnSpLocks/>
            <a:stCxn id="11" idx="0"/>
            <a:endCxn id="12" idx="3"/>
          </p:cNvCxnSpPr>
          <p:nvPr/>
        </p:nvCxnSpPr>
        <p:spPr>
          <a:xfrm flipV="1">
            <a:off x="6817172" y="2626358"/>
            <a:ext cx="0" cy="860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300372"/>
            <a:ext cx="8229600" cy="868808"/>
          </a:xfrm>
        </p:spPr>
        <p:txBody>
          <a:bodyPr/>
          <a:lstStyle/>
          <a:p>
            <a:r>
              <a:rPr lang="en-US" sz="3600" dirty="0"/>
              <a:t>Indirect coupling</a:t>
            </a:r>
          </a:p>
        </p:txBody>
      </p:sp>
      <p:sp>
        <p:nvSpPr>
          <p:cNvPr id="32771" name="Content Placeholder 2"/>
          <p:cNvSpPr>
            <a:spLocks noGrp="1"/>
          </p:cNvSpPr>
          <p:nvPr>
            <p:ph idx="1"/>
          </p:nvPr>
        </p:nvSpPr>
        <p:spPr>
          <a:xfrm>
            <a:off x="323528" y="4095302"/>
            <a:ext cx="8568952" cy="1949755"/>
          </a:xfrm>
        </p:spPr>
        <p:txBody>
          <a:bodyPr/>
          <a:lstStyle/>
          <a:p>
            <a:pPr marL="0" indent="0" algn="just">
              <a:buNone/>
            </a:pPr>
            <a:r>
              <a:rPr lang="en-US" sz="2000" dirty="0">
                <a:sym typeface="Wingdings" pitchFamily="2" charset="2"/>
              </a:rPr>
              <a:t>We want to check the </a:t>
            </a:r>
            <a:r>
              <a:rPr lang="en-US" sz="2000" dirty="0">
                <a:highlight>
                  <a:srgbClr val="FFFF00"/>
                </a:highlight>
                <a:sym typeface="Wingdings" pitchFamily="2" charset="2"/>
              </a:rPr>
              <a:t>interactions between methods of class A (or B) in </a:t>
            </a:r>
            <a:r>
              <a:rPr lang="en-US" sz="2000" b="1" dirty="0">
                <a:highlight>
                  <a:srgbClr val="FFFF00"/>
                </a:highlight>
                <a:sym typeface="Wingdings" pitchFamily="2" charset="2"/>
              </a:rPr>
              <a:t>the context </a:t>
            </a:r>
            <a:r>
              <a:rPr lang="en-US" sz="2000" dirty="0">
                <a:highlight>
                  <a:srgbClr val="FFFF00"/>
                </a:highlight>
                <a:sym typeface="Wingdings" pitchFamily="2" charset="2"/>
              </a:rPr>
              <a:t>of the class E2</a:t>
            </a:r>
            <a:r>
              <a:rPr lang="en-US" sz="2000" dirty="0">
                <a:sym typeface="Wingdings" pitchFamily="2" charset="2"/>
              </a:rPr>
              <a:t> (indirect coupling).  In the example above, </a:t>
            </a:r>
            <a:r>
              <a:rPr lang="en-US" sz="2000" dirty="0" err="1">
                <a:sym typeface="Wingdings" pitchFamily="2" charset="2"/>
              </a:rPr>
              <a:t>o.m</a:t>
            </a:r>
            <a:r>
              <a:rPr lang="en-US" sz="2000" dirty="0">
                <a:sym typeface="Wingdings" pitchFamily="2" charset="2"/>
              </a:rPr>
              <a:t>(...) may change the state of o, which influences the behavior of </a:t>
            </a:r>
            <a:r>
              <a:rPr lang="en-US" sz="2000" dirty="0" err="1">
                <a:sym typeface="Wingdings" pitchFamily="2" charset="2"/>
              </a:rPr>
              <a:t>o.k</a:t>
            </a:r>
            <a:r>
              <a:rPr lang="en-US" sz="2000" dirty="0">
                <a:sym typeface="Wingdings" pitchFamily="2" charset="2"/>
              </a:rPr>
              <a:t>(...) that comes after. </a:t>
            </a:r>
          </a:p>
          <a:p>
            <a:pPr algn="just"/>
            <a:r>
              <a:rPr lang="en-US" sz="2000" dirty="0">
                <a:sym typeface="Wingdings" pitchFamily="2" charset="2"/>
              </a:rPr>
              <a:t>You may have tested method interactions when you tested A and B, e.g. via the ADT approach. But if you only independently unit-test the methods, you may not have tested their interactions enough.</a:t>
            </a:r>
          </a:p>
          <a:p>
            <a:pPr algn="just"/>
            <a:r>
              <a:rPr lang="en-US" sz="2000" dirty="0">
                <a:sym typeface="Wingdings" pitchFamily="2" charset="2"/>
              </a:rPr>
              <a:t>Even then, you may not tested possible Yoyo behavior in your unit tests.</a:t>
            </a:r>
          </a:p>
          <a:p>
            <a:pPr marL="0" indent="0" algn="just">
              <a:buNone/>
            </a:pPr>
            <a:endParaRPr lang="en-US" sz="2000" dirty="0">
              <a:sym typeface="Wingdings" pitchFamily="2" charset="2"/>
            </a:endParaRPr>
          </a:p>
          <a:p>
            <a:pPr marL="0" indent="0" algn="just">
              <a:buNone/>
            </a:pPr>
            <a:endParaRPr lang="en-US" sz="2000" dirty="0">
              <a:sym typeface="Wingdings" pitchFamily="2" charset="2"/>
            </a:endParaRPr>
          </a:p>
        </p:txBody>
      </p:sp>
      <p:sp>
        <p:nvSpPr>
          <p:cNvPr id="4" name="Slide Number Placeholder 3"/>
          <p:cNvSpPr>
            <a:spLocks noGrp="1"/>
          </p:cNvSpPr>
          <p:nvPr>
            <p:ph type="sldNum" sz="quarter" idx="12"/>
          </p:nvPr>
        </p:nvSpPr>
        <p:spPr/>
        <p:txBody>
          <a:bodyPr/>
          <a:lstStyle/>
          <a:p>
            <a:pPr>
              <a:defRPr/>
            </a:pPr>
            <a:endParaRPr lang="en-US" dirty="0"/>
          </a:p>
        </p:txBody>
      </p:sp>
      <p:sp>
        <p:nvSpPr>
          <p:cNvPr id="6" name="TextBox 5"/>
          <p:cNvSpPr txBox="1"/>
          <p:nvPr/>
        </p:nvSpPr>
        <p:spPr>
          <a:xfrm>
            <a:off x="427693" y="1521123"/>
            <a:ext cx="4032448" cy="2308324"/>
          </a:xfrm>
          <a:prstGeom prst="rect">
            <a:avLst/>
          </a:prstGeom>
          <a:solidFill>
            <a:schemeClr val="accent5">
              <a:lumMod val="20000"/>
              <a:lumOff val="80000"/>
            </a:schemeClr>
          </a:solidFill>
          <a:ln>
            <a:solidFill>
              <a:schemeClr val="tx1"/>
            </a:solidFill>
          </a:ln>
        </p:spPr>
        <p:txBody>
          <a:bodyPr wrap="square">
            <a:spAutoFit/>
          </a:bodyPr>
          <a:lstStyle/>
          <a:p>
            <a:pPr>
              <a:defRPr/>
            </a:pPr>
            <a:r>
              <a:rPr lang="en-US" sz="2400" b="1" dirty="0">
                <a:latin typeface="+mn-lt"/>
              </a:rPr>
              <a:t>class</a:t>
            </a:r>
            <a:r>
              <a:rPr lang="en-US" sz="2400" dirty="0">
                <a:latin typeface="+mn-lt"/>
              </a:rPr>
              <a:t> E2 {</a:t>
            </a:r>
          </a:p>
          <a:p>
            <a:pPr>
              <a:defRPr/>
            </a:pPr>
            <a:r>
              <a:rPr lang="en-US" sz="2400" dirty="0">
                <a:latin typeface="+mn-lt"/>
              </a:rPr>
              <a:t>   f(x) {   A o = Factory(x ) ;   </a:t>
            </a:r>
            <a:br>
              <a:rPr lang="en-US" sz="2400" dirty="0">
                <a:latin typeface="+mn-lt"/>
              </a:rPr>
            </a:br>
            <a:r>
              <a:rPr lang="en-US" sz="2400" dirty="0">
                <a:latin typeface="+mn-lt"/>
              </a:rPr>
              <a:t>              …  </a:t>
            </a:r>
            <a:endParaRPr lang="en-US" sz="2400" dirty="0">
              <a:solidFill>
                <a:schemeClr val="accent1">
                  <a:lumMod val="60000"/>
                  <a:lumOff val="40000"/>
                </a:schemeClr>
              </a:solidFill>
              <a:latin typeface="+mn-lt"/>
            </a:endParaRPr>
          </a:p>
          <a:p>
            <a:pPr>
              <a:defRPr/>
            </a:pPr>
            <a:r>
              <a:rPr lang="en-US" sz="2400" dirty="0">
                <a:latin typeface="+mn-lt"/>
              </a:rPr>
              <a:t>              y = </a:t>
            </a:r>
            <a:r>
              <a:rPr lang="en-US" sz="2400" dirty="0" err="1">
                <a:latin typeface="+mn-lt"/>
              </a:rPr>
              <a:t>o.m</a:t>
            </a:r>
            <a:r>
              <a:rPr lang="en-US" sz="2400" dirty="0">
                <a:latin typeface="+mn-lt"/>
              </a:rPr>
              <a:t>(...)                         </a:t>
            </a:r>
            <a:endParaRPr lang="en-US" sz="2400" dirty="0">
              <a:solidFill>
                <a:schemeClr val="accent1">
                  <a:lumMod val="60000"/>
                  <a:lumOff val="40000"/>
                </a:schemeClr>
              </a:solidFill>
              <a:latin typeface="+mn-lt"/>
            </a:endParaRPr>
          </a:p>
          <a:p>
            <a:pPr>
              <a:defRPr/>
            </a:pPr>
            <a:r>
              <a:rPr lang="en-US" sz="2400" dirty="0">
                <a:latin typeface="+mn-lt"/>
              </a:rPr>
              <a:t>              ...</a:t>
            </a:r>
          </a:p>
          <a:p>
            <a:pPr>
              <a:defRPr/>
            </a:pPr>
            <a:r>
              <a:rPr lang="en-US" sz="2400" dirty="0">
                <a:latin typeface="+mn-lt"/>
              </a:rPr>
              <a:t>              z = </a:t>
            </a:r>
            <a:r>
              <a:rPr lang="en-US" sz="2400" dirty="0" err="1">
                <a:latin typeface="+mn-lt"/>
              </a:rPr>
              <a:t>o.k</a:t>
            </a:r>
            <a:r>
              <a:rPr lang="en-US" sz="2400" dirty="0">
                <a:latin typeface="+mn-lt"/>
              </a:rPr>
              <a:t>(...)   …}</a:t>
            </a:r>
            <a:endParaRPr lang="en-US" sz="2400" dirty="0">
              <a:solidFill>
                <a:schemeClr val="accent1">
                  <a:lumMod val="60000"/>
                  <a:lumOff val="40000"/>
                </a:schemeClr>
              </a:solidFill>
              <a:latin typeface="+mn-lt"/>
            </a:endParaRPr>
          </a:p>
        </p:txBody>
      </p:sp>
      <p:sp>
        <p:nvSpPr>
          <p:cNvPr id="8" name="TextBox 7">
            <a:extLst>
              <a:ext uri="{FF2B5EF4-FFF2-40B4-BE49-F238E27FC236}">
                <a16:creationId xmlns:a16="http://schemas.microsoft.com/office/drawing/2014/main" id="{9C2921CC-6203-D243-BBEC-90C8C10E534F}"/>
              </a:ext>
            </a:extLst>
          </p:cNvPr>
          <p:cNvSpPr txBox="1"/>
          <p:nvPr/>
        </p:nvSpPr>
        <p:spPr>
          <a:xfrm>
            <a:off x="5539572" y="1483881"/>
            <a:ext cx="1103187" cy="1200329"/>
          </a:xfrm>
          <a:prstGeom prst="rect">
            <a:avLst/>
          </a:prstGeom>
          <a:solidFill>
            <a:schemeClr val="bg1">
              <a:lumMod val="85000"/>
            </a:schemeClr>
          </a:solidFill>
          <a:ln>
            <a:solidFill>
              <a:schemeClr val="tx1"/>
            </a:solidFill>
          </a:ln>
        </p:spPr>
        <p:txBody>
          <a:bodyPr wrap="none">
            <a:spAutoFit/>
          </a:bodyPr>
          <a:lstStyle/>
          <a:p>
            <a:pPr>
              <a:defRPr/>
            </a:pPr>
            <a:r>
              <a:rPr lang="en-US" sz="2400" b="1" dirty="0">
                <a:latin typeface="+mn-lt"/>
              </a:rPr>
              <a:t>class</a:t>
            </a:r>
            <a:r>
              <a:rPr lang="en-US" sz="2400" dirty="0">
                <a:latin typeface="+mn-lt"/>
              </a:rPr>
              <a:t> A </a:t>
            </a:r>
          </a:p>
          <a:p>
            <a:pPr>
              <a:defRPr/>
            </a:pPr>
            <a:r>
              <a:rPr lang="en-US" sz="2400" dirty="0">
                <a:latin typeface="+mn-lt"/>
              </a:rPr>
              <a:t>+ m(...)</a:t>
            </a:r>
          </a:p>
          <a:p>
            <a:pPr>
              <a:defRPr/>
            </a:pPr>
            <a:r>
              <a:rPr lang="en-US" sz="2400" dirty="0">
                <a:latin typeface="+mn-lt"/>
              </a:rPr>
              <a:t>+ k(..)</a:t>
            </a:r>
          </a:p>
        </p:txBody>
      </p:sp>
      <p:sp>
        <p:nvSpPr>
          <p:cNvPr id="9" name="TextBox 8">
            <a:extLst>
              <a:ext uri="{FF2B5EF4-FFF2-40B4-BE49-F238E27FC236}">
                <a16:creationId xmlns:a16="http://schemas.microsoft.com/office/drawing/2014/main" id="{85C97C57-A31E-054B-8ACF-1778A99FC5DD}"/>
              </a:ext>
            </a:extLst>
          </p:cNvPr>
          <p:cNvSpPr txBox="1"/>
          <p:nvPr/>
        </p:nvSpPr>
        <p:spPr>
          <a:xfrm>
            <a:off x="5576637" y="3046769"/>
            <a:ext cx="1103187" cy="830997"/>
          </a:xfrm>
          <a:prstGeom prst="rect">
            <a:avLst/>
          </a:prstGeom>
          <a:solidFill>
            <a:schemeClr val="bg1">
              <a:lumMod val="85000"/>
            </a:schemeClr>
          </a:solidFill>
          <a:ln>
            <a:solidFill>
              <a:schemeClr val="tx1"/>
            </a:solidFill>
          </a:ln>
        </p:spPr>
        <p:txBody>
          <a:bodyPr wrap="none">
            <a:spAutoFit/>
          </a:bodyPr>
          <a:lstStyle/>
          <a:p>
            <a:pPr>
              <a:defRPr/>
            </a:pPr>
            <a:r>
              <a:rPr lang="en-US" sz="2400" b="1" dirty="0">
                <a:latin typeface="+mn-lt"/>
              </a:rPr>
              <a:t>class</a:t>
            </a:r>
            <a:r>
              <a:rPr lang="en-US" sz="2400" dirty="0">
                <a:latin typeface="+mn-lt"/>
              </a:rPr>
              <a:t> B </a:t>
            </a:r>
          </a:p>
          <a:p>
            <a:pPr>
              <a:defRPr/>
            </a:pPr>
            <a:r>
              <a:rPr lang="en-US" sz="2400" dirty="0">
                <a:latin typeface="+mn-lt"/>
              </a:rPr>
              <a:t>+ m(...)</a:t>
            </a:r>
          </a:p>
        </p:txBody>
      </p:sp>
      <p:sp>
        <p:nvSpPr>
          <p:cNvPr id="10" name="Isosceles Triangle 7">
            <a:extLst>
              <a:ext uri="{FF2B5EF4-FFF2-40B4-BE49-F238E27FC236}">
                <a16:creationId xmlns:a16="http://schemas.microsoft.com/office/drawing/2014/main" id="{FF0B83F9-2496-1D49-A39B-177376EE32DB}"/>
              </a:ext>
            </a:extLst>
          </p:cNvPr>
          <p:cNvSpPr/>
          <p:nvPr/>
        </p:nvSpPr>
        <p:spPr>
          <a:xfrm>
            <a:off x="6043299" y="2746366"/>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1" name="Straight Connector 10">
            <a:extLst>
              <a:ext uri="{FF2B5EF4-FFF2-40B4-BE49-F238E27FC236}">
                <a16:creationId xmlns:a16="http://schemas.microsoft.com/office/drawing/2014/main" id="{D940DD6B-2D8A-9D45-A3E5-7E832B4BB404}"/>
              </a:ext>
            </a:extLst>
          </p:cNvPr>
          <p:cNvCxnSpPr>
            <a:cxnSpLocks/>
            <a:stCxn id="9" idx="0"/>
            <a:endCxn id="10" idx="3"/>
          </p:cNvCxnSpPr>
          <p:nvPr/>
        </p:nvCxnSpPr>
        <p:spPr>
          <a:xfrm flipV="1">
            <a:off x="6128231" y="2960679"/>
            <a:ext cx="0" cy="860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34461E-DB0C-D3BF-07B3-171E60C58EEA}"/>
              </a:ext>
            </a:extLst>
          </p:cNvPr>
          <p:cNvSpPr txBox="1"/>
          <p:nvPr/>
        </p:nvSpPr>
        <p:spPr>
          <a:xfrm>
            <a:off x="6840902" y="3003724"/>
            <a:ext cx="1910836" cy="954107"/>
          </a:xfrm>
          <a:prstGeom prst="rect">
            <a:avLst/>
          </a:prstGeom>
          <a:noFill/>
        </p:spPr>
        <p:txBody>
          <a:bodyPr wrap="square" rtlCol="0">
            <a:spAutoFit/>
          </a:bodyPr>
          <a:lstStyle/>
          <a:p>
            <a:r>
              <a:rPr lang="en-NL" sz="1400" dirty="0"/>
              <a:t>subclass B overrides m(), but not k(), leading to possible Yoyo.</a:t>
            </a:r>
          </a:p>
        </p:txBody>
      </p:sp>
    </p:spTree>
    <p:extLst>
      <p:ext uri="{BB962C8B-B14F-4D97-AF65-F5344CB8AC3E}">
        <p14:creationId xmlns:p14="http://schemas.microsoft.com/office/powerpoint/2010/main" val="272014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F3FCA-648D-9543-2980-1CE0DB7C1C6D}"/>
              </a:ext>
            </a:extLst>
          </p:cNvPr>
          <p:cNvSpPr>
            <a:spLocks noGrp="1"/>
          </p:cNvSpPr>
          <p:nvPr>
            <p:ph type="title"/>
          </p:nvPr>
        </p:nvSpPr>
        <p:spPr/>
        <p:txBody>
          <a:bodyPr/>
          <a:lstStyle/>
          <a:p>
            <a:r>
              <a:rPr lang="en-NL" sz="4000" dirty="0"/>
              <a:t>Testing Direct and Indirect Coupling</a:t>
            </a:r>
          </a:p>
        </p:txBody>
      </p:sp>
      <p:sp>
        <p:nvSpPr>
          <p:cNvPr id="4" name="Slide Number Placeholder 3">
            <a:extLst>
              <a:ext uri="{FF2B5EF4-FFF2-40B4-BE49-F238E27FC236}">
                <a16:creationId xmlns:a16="http://schemas.microsoft.com/office/drawing/2014/main" id="{D3D89580-BBC2-225D-E931-BA9AFF16FD0E}"/>
              </a:ext>
            </a:extLst>
          </p:cNvPr>
          <p:cNvSpPr>
            <a:spLocks noGrp="1"/>
          </p:cNvSpPr>
          <p:nvPr>
            <p:ph type="sldNum" sz="quarter" idx="12"/>
          </p:nvPr>
        </p:nvSpPr>
        <p:spPr>
          <a:xfrm>
            <a:off x="6440108" y="6736283"/>
            <a:ext cx="2133600" cy="365125"/>
          </a:xfrm>
        </p:spPr>
        <p:txBody>
          <a:bodyPr/>
          <a:lstStyle/>
          <a:p>
            <a:pPr>
              <a:defRPr/>
            </a:pPr>
            <a:fld id="{F51486F7-ACCF-4DB7-BBF3-9BC4B709FB28}" type="slidenum">
              <a:rPr lang="en-US" smtClean="0"/>
              <a:pPr>
                <a:defRPr/>
              </a:pPr>
              <a:t>33</a:t>
            </a:fld>
            <a:endParaRPr lang="en-US"/>
          </a:p>
        </p:txBody>
      </p:sp>
      <p:sp>
        <p:nvSpPr>
          <p:cNvPr id="6" name="Rounded Rectangle 5">
            <a:extLst>
              <a:ext uri="{FF2B5EF4-FFF2-40B4-BE49-F238E27FC236}">
                <a16:creationId xmlns:a16="http://schemas.microsoft.com/office/drawing/2014/main" id="{A5556B07-4F08-1994-AF89-A7E883097183}"/>
              </a:ext>
            </a:extLst>
          </p:cNvPr>
          <p:cNvSpPr/>
          <p:nvPr/>
        </p:nvSpPr>
        <p:spPr>
          <a:xfrm>
            <a:off x="580352" y="2025454"/>
            <a:ext cx="3355291" cy="1085291"/>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 name="TextBox 6">
            <a:extLst>
              <a:ext uri="{FF2B5EF4-FFF2-40B4-BE49-F238E27FC236}">
                <a16:creationId xmlns:a16="http://schemas.microsoft.com/office/drawing/2014/main" id="{8C240F83-51CF-C939-6DED-C9A94ABB597D}"/>
              </a:ext>
            </a:extLst>
          </p:cNvPr>
          <p:cNvSpPr txBox="1"/>
          <p:nvPr/>
        </p:nvSpPr>
        <p:spPr>
          <a:xfrm>
            <a:off x="1055323" y="2499317"/>
            <a:ext cx="2605200" cy="400110"/>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000" dirty="0">
                <a:latin typeface="+mn-lt"/>
              </a:rPr>
              <a:t>f (x)  {   ...  m(e) ...         }</a:t>
            </a:r>
          </a:p>
        </p:txBody>
      </p:sp>
      <p:sp>
        <p:nvSpPr>
          <p:cNvPr id="8" name="TextBox 7">
            <a:extLst>
              <a:ext uri="{FF2B5EF4-FFF2-40B4-BE49-F238E27FC236}">
                <a16:creationId xmlns:a16="http://schemas.microsoft.com/office/drawing/2014/main" id="{B1D9EDE5-8ECC-223B-F422-8F07F9696EAE}"/>
              </a:ext>
            </a:extLst>
          </p:cNvPr>
          <p:cNvSpPr txBox="1"/>
          <p:nvPr/>
        </p:nvSpPr>
        <p:spPr>
          <a:xfrm>
            <a:off x="5026312" y="2524930"/>
            <a:ext cx="1188146" cy="400110"/>
          </a:xfrm>
          <a:prstGeom prst="rect">
            <a:avLst/>
          </a:prstGeom>
          <a:solidFill>
            <a:schemeClr val="accent5">
              <a:lumMod val="20000"/>
              <a:lumOff val="80000"/>
            </a:schemeClr>
          </a:solidFill>
          <a:ln>
            <a:solidFill>
              <a:schemeClr val="tx1"/>
            </a:solidFill>
          </a:ln>
        </p:spPr>
        <p:txBody>
          <a:bodyPr wrap="none">
            <a:spAutoFit/>
          </a:bodyPr>
          <a:lstStyle/>
          <a:p>
            <a:pPr>
              <a:defRPr/>
            </a:pPr>
            <a:r>
              <a:rPr lang="en-US" sz="2000" dirty="0">
                <a:latin typeface="+mn-lt"/>
              </a:rPr>
              <a:t>m(y) { ... }</a:t>
            </a:r>
          </a:p>
        </p:txBody>
      </p:sp>
      <p:cxnSp>
        <p:nvCxnSpPr>
          <p:cNvPr id="9" name="Curved Connector 8">
            <a:extLst>
              <a:ext uri="{FF2B5EF4-FFF2-40B4-BE49-F238E27FC236}">
                <a16:creationId xmlns:a16="http://schemas.microsoft.com/office/drawing/2014/main" id="{73110BD1-87BF-94C0-677B-58E094DD898B}"/>
              </a:ext>
            </a:extLst>
          </p:cNvPr>
          <p:cNvCxnSpPr>
            <a:cxnSpLocks/>
            <a:stCxn id="7" idx="3"/>
            <a:endCxn id="8" idx="1"/>
          </p:cNvCxnSpPr>
          <p:nvPr/>
        </p:nvCxnSpPr>
        <p:spPr>
          <a:xfrm>
            <a:off x="3660523" y="2699372"/>
            <a:ext cx="1365789" cy="25613"/>
          </a:xfrm>
          <a:prstGeom prst="curvedConnector3">
            <a:avLst>
              <a:gd name="adj1" fmla="val 50000"/>
            </a:avLst>
          </a:prstGeom>
          <a:ln>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AC9A96-7027-4DEF-DDEF-E1986CBEE464}"/>
              </a:ext>
            </a:extLst>
          </p:cNvPr>
          <p:cNvSpPr txBox="1"/>
          <p:nvPr/>
        </p:nvSpPr>
        <p:spPr>
          <a:xfrm>
            <a:off x="4440254" y="2020414"/>
            <a:ext cx="1027845" cy="461665"/>
          </a:xfrm>
          <a:prstGeom prst="rect">
            <a:avLst/>
          </a:prstGeom>
          <a:noFill/>
        </p:spPr>
        <p:txBody>
          <a:bodyPr wrap="none">
            <a:spAutoFit/>
          </a:bodyPr>
          <a:lstStyle/>
          <a:p>
            <a:pPr>
              <a:defRPr/>
            </a:pPr>
            <a:r>
              <a:rPr lang="en-US" sz="2400" dirty="0">
                <a:latin typeface="+mn-lt"/>
              </a:rPr>
              <a:t>class </a:t>
            </a:r>
            <a:r>
              <a:rPr lang="en-US" sz="2400" b="1" dirty="0">
                <a:latin typeface="+mn-lt"/>
              </a:rPr>
              <a:t>A</a:t>
            </a:r>
          </a:p>
        </p:txBody>
      </p:sp>
      <p:sp>
        <p:nvSpPr>
          <p:cNvPr id="11" name="TextBox 10">
            <a:extLst>
              <a:ext uri="{FF2B5EF4-FFF2-40B4-BE49-F238E27FC236}">
                <a16:creationId xmlns:a16="http://schemas.microsoft.com/office/drawing/2014/main" id="{0B53E7B5-9DEC-C82E-0D25-8CDD6A163BF6}"/>
              </a:ext>
            </a:extLst>
          </p:cNvPr>
          <p:cNvSpPr txBox="1"/>
          <p:nvPr/>
        </p:nvSpPr>
        <p:spPr>
          <a:xfrm>
            <a:off x="663531" y="2025454"/>
            <a:ext cx="992579" cy="461665"/>
          </a:xfrm>
          <a:prstGeom prst="rect">
            <a:avLst/>
          </a:prstGeom>
          <a:noFill/>
        </p:spPr>
        <p:txBody>
          <a:bodyPr wrap="none">
            <a:spAutoFit/>
          </a:bodyPr>
          <a:lstStyle/>
          <a:p>
            <a:pPr>
              <a:defRPr/>
            </a:pPr>
            <a:r>
              <a:rPr lang="en-US" sz="2400" dirty="0">
                <a:latin typeface="+mn-lt"/>
              </a:rPr>
              <a:t>class</a:t>
            </a:r>
            <a:r>
              <a:rPr lang="en-US" sz="2400" b="1" dirty="0">
                <a:latin typeface="+mn-lt"/>
              </a:rPr>
              <a:t> E</a:t>
            </a:r>
          </a:p>
        </p:txBody>
      </p:sp>
      <p:sp>
        <p:nvSpPr>
          <p:cNvPr id="12" name="Rounded Rectangle 11">
            <a:extLst>
              <a:ext uri="{FF2B5EF4-FFF2-40B4-BE49-F238E27FC236}">
                <a16:creationId xmlns:a16="http://schemas.microsoft.com/office/drawing/2014/main" id="{C88CC6C7-6153-4DDB-596C-E3E9EE2BAC9A}"/>
              </a:ext>
            </a:extLst>
          </p:cNvPr>
          <p:cNvSpPr/>
          <p:nvPr/>
        </p:nvSpPr>
        <p:spPr>
          <a:xfrm>
            <a:off x="4440255" y="1996751"/>
            <a:ext cx="1944215" cy="1108794"/>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5" name="TextBox 14">
            <a:extLst>
              <a:ext uri="{FF2B5EF4-FFF2-40B4-BE49-F238E27FC236}">
                <a16:creationId xmlns:a16="http://schemas.microsoft.com/office/drawing/2014/main" id="{EB46A626-8FD9-EC55-C29F-B9FC50F6542C}"/>
              </a:ext>
            </a:extLst>
          </p:cNvPr>
          <p:cNvSpPr txBox="1"/>
          <p:nvPr/>
        </p:nvSpPr>
        <p:spPr>
          <a:xfrm>
            <a:off x="7323038" y="2611631"/>
            <a:ext cx="1188146" cy="400110"/>
          </a:xfrm>
          <a:prstGeom prst="rect">
            <a:avLst/>
          </a:prstGeom>
          <a:solidFill>
            <a:schemeClr val="accent5">
              <a:lumMod val="20000"/>
              <a:lumOff val="80000"/>
            </a:schemeClr>
          </a:solidFill>
          <a:ln>
            <a:solidFill>
              <a:schemeClr val="tx1"/>
            </a:solidFill>
          </a:ln>
        </p:spPr>
        <p:txBody>
          <a:bodyPr wrap="none">
            <a:spAutoFit/>
          </a:bodyPr>
          <a:lstStyle/>
          <a:p>
            <a:pPr>
              <a:defRPr/>
            </a:pPr>
            <a:r>
              <a:rPr lang="en-US" sz="2000" dirty="0">
                <a:latin typeface="+mn-lt"/>
              </a:rPr>
              <a:t>m(y) { ... }</a:t>
            </a:r>
          </a:p>
        </p:txBody>
      </p:sp>
      <p:sp>
        <p:nvSpPr>
          <p:cNvPr id="16" name="TextBox 15">
            <a:extLst>
              <a:ext uri="{FF2B5EF4-FFF2-40B4-BE49-F238E27FC236}">
                <a16:creationId xmlns:a16="http://schemas.microsoft.com/office/drawing/2014/main" id="{44DF36A2-6C7A-FE04-93EE-08052C6E0E89}"/>
              </a:ext>
            </a:extLst>
          </p:cNvPr>
          <p:cNvSpPr txBox="1"/>
          <p:nvPr/>
        </p:nvSpPr>
        <p:spPr>
          <a:xfrm>
            <a:off x="6736980" y="2104162"/>
            <a:ext cx="1015021" cy="461665"/>
          </a:xfrm>
          <a:prstGeom prst="rect">
            <a:avLst/>
          </a:prstGeom>
          <a:noFill/>
        </p:spPr>
        <p:txBody>
          <a:bodyPr wrap="none">
            <a:spAutoFit/>
          </a:bodyPr>
          <a:lstStyle/>
          <a:p>
            <a:pPr>
              <a:defRPr/>
            </a:pPr>
            <a:r>
              <a:rPr lang="en-US" sz="2400" dirty="0">
                <a:latin typeface="+mn-lt"/>
              </a:rPr>
              <a:t>class </a:t>
            </a:r>
            <a:r>
              <a:rPr lang="en-US" sz="2400" b="1" dirty="0">
                <a:latin typeface="+mn-lt"/>
              </a:rPr>
              <a:t>B</a:t>
            </a:r>
          </a:p>
        </p:txBody>
      </p:sp>
      <p:sp>
        <p:nvSpPr>
          <p:cNvPr id="17" name="Rounded Rectangle 16">
            <a:extLst>
              <a:ext uri="{FF2B5EF4-FFF2-40B4-BE49-F238E27FC236}">
                <a16:creationId xmlns:a16="http://schemas.microsoft.com/office/drawing/2014/main" id="{E252CCC8-6145-5288-82C4-1D86DD0CD479}"/>
              </a:ext>
            </a:extLst>
          </p:cNvPr>
          <p:cNvSpPr/>
          <p:nvPr/>
        </p:nvSpPr>
        <p:spPr>
          <a:xfrm>
            <a:off x="6791949" y="2104162"/>
            <a:ext cx="1851919" cy="1108795"/>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Isosceles Triangle 7">
            <a:extLst>
              <a:ext uri="{FF2B5EF4-FFF2-40B4-BE49-F238E27FC236}">
                <a16:creationId xmlns:a16="http://schemas.microsoft.com/office/drawing/2014/main" id="{911884A9-6E14-55D7-EA14-D72C34FA5B0E}"/>
              </a:ext>
            </a:extLst>
          </p:cNvPr>
          <p:cNvSpPr/>
          <p:nvPr/>
        </p:nvSpPr>
        <p:spPr>
          <a:xfrm rot="16200000">
            <a:off x="6432006" y="2555583"/>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1" name="Straight Connector 20">
            <a:extLst>
              <a:ext uri="{FF2B5EF4-FFF2-40B4-BE49-F238E27FC236}">
                <a16:creationId xmlns:a16="http://schemas.microsoft.com/office/drawing/2014/main" id="{39D6F376-3D33-BB7D-D164-21B3E59A553B}"/>
              </a:ext>
            </a:extLst>
          </p:cNvPr>
          <p:cNvCxnSpPr>
            <a:cxnSpLocks/>
            <a:stCxn id="20" idx="3"/>
            <a:endCxn id="17" idx="1"/>
          </p:cNvCxnSpPr>
          <p:nvPr/>
        </p:nvCxnSpPr>
        <p:spPr>
          <a:xfrm flipV="1">
            <a:off x="6624094" y="2658560"/>
            <a:ext cx="167855" cy="41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urved Connector 25">
            <a:extLst>
              <a:ext uri="{FF2B5EF4-FFF2-40B4-BE49-F238E27FC236}">
                <a16:creationId xmlns:a16="http://schemas.microsoft.com/office/drawing/2014/main" id="{7E28EF49-A49C-DC5E-6D22-E45B9CB13A1A}"/>
              </a:ext>
            </a:extLst>
          </p:cNvPr>
          <p:cNvCxnSpPr>
            <a:cxnSpLocks/>
            <a:stCxn id="7" idx="3"/>
            <a:endCxn id="15" idx="2"/>
          </p:cNvCxnSpPr>
          <p:nvPr/>
        </p:nvCxnSpPr>
        <p:spPr>
          <a:xfrm>
            <a:off x="3660523" y="2699372"/>
            <a:ext cx="4256588" cy="312369"/>
          </a:xfrm>
          <a:prstGeom prst="curvedConnector4">
            <a:avLst>
              <a:gd name="adj1" fmla="val 8693"/>
              <a:gd name="adj2" fmla="val 173183"/>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C6619C8D-BC61-1D4F-DDCE-92757B0CEA2D}"/>
              </a:ext>
            </a:extLst>
          </p:cNvPr>
          <p:cNvSpPr/>
          <p:nvPr/>
        </p:nvSpPr>
        <p:spPr>
          <a:xfrm>
            <a:off x="629705" y="4409723"/>
            <a:ext cx="3355291" cy="1085291"/>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5" name="TextBox 34">
            <a:extLst>
              <a:ext uri="{FF2B5EF4-FFF2-40B4-BE49-F238E27FC236}">
                <a16:creationId xmlns:a16="http://schemas.microsoft.com/office/drawing/2014/main" id="{2BE0BB0A-A6AB-0045-A866-DB0A6D143204}"/>
              </a:ext>
            </a:extLst>
          </p:cNvPr>
          <p:cNvSpPr txBox="1"/>
          <p:nvPr/>
        </p:nvSpPr>
        <p:spPr>
          <a:xfrm>
            <a:off x="1104676" y="4883586"/>
            <a:ext cx="2860078" cy="400110"/>
          </a:xfrm>
          <a:prstGeom prst="rect">
            <a:avLst/>
          </a:prstGeom>
          <a:solidFill>
            <a:schemeClr val="accent1">
              <a:lumMod val="20000"/>
              <a:lumOff val="80000"/>
            </a:schemeClr>
          </a:solidFill>
          <a:ln>
            <a:solidFill>
              <a:schemeClr val="tx1"/>
            </a:solidFill>
          </a:ln>
        </p:spPr>
        <p:txBody>
          <a:bodyPr wrap="none">
            <a:spAutoFit/>
          </a:bodyPr>
          <a:lstStyle/>
          <a:p>
            <a:pPr>
              <a:defRPr/>
            </a:pPr>
            <a:r>
              <a:rPr lang="en-US" sz="2000" dirty="0">
                <a:latin typeface="+mn-lt"/>
              </a:rPr>
              <a:t>f (x)  {   ...  m(e) ... k(e’)... }</a:t>
            </a:r>
          </a:p>
        </p:txBody>
      </p:sp>
      <p:sp>
        <p:nvSpPr>
          <p:cNvPr id="36" name="TextBox 35">
            <a:extLst>
              <a:ext uri="{FF2B5EF4-FFF2-40B4-BE49-F238E27FC236}">
                <a16:creationId xmlns:a16="http://schemas.microsoft.com/office/drawing/2014/main" id="{30071BD8-DAD5-F53E-B8DE-ABAA783ECB40}"/>
              </a:ext>
            </a:extLst>
          </p:cNvPr>
          <p:cNvSpPr txBox="1"/>
          <p:nvPr/>
        </p:nvSpPr>
        <p:spPr>
          <a:xfrm>
            <a:off x="5075665" y="4909199"/>
            <a:ext cx="1188146" cy="1015663"/>
          </a:xfrm>
          <a:prstGeom prst="rect">
            <a:avLst/>
          </a:prstGeom>
          <a:solidFill>
            <a:schemeClr val="accent5">
              <a:lumMod val="20000"/>
              <a:lumOff val="80000"/>
            </a:schemeClr>
          </a:solidFill>
          <a:ln>
            <a:solidFill>
              <a:schemeClr val="tx1"/>
            </a:solidFill>
          </a:ln>
        </p:spPr>
        <p:txBody>
          <a:bodyPr wrap="none">
            <a:spAutoFit/>
          </a:bodyPr>
          <a:lstStyle/>
          <a:p>
            <a:pPr>
              <a:defRPr/>
            </a:pPr>
            <a:r>
              <a:rPr lang="en-US" sz="2000" dirty="0">
                <a:latin typeface="+mn-lt"/>
              </a:rPr>
              <a:t>m(y) { ... }</a:t>
            </a:r>
          </a:p>
          <a:p>
            <a:pPr>
              <a:defRPr/>
            </a:pPr>
            <a:endParaRPr lang="en-US" sz="2000" dirty="0">
              <a:latin typeface="+mn-lt"/>
            </a:endParaRPr>
          </a:p>
          <a:p>
            <a:pPr>
              <a:defRPr/>
            </a:pPr>
            <a:r>
              <a:rPr lang="en-US" sz="2000" dirty="0">
                <a:latin typeface="+mn-lt"/>
              </a:rPr>
              <a:t>k(z) { ...}</a:t>
            </a:r>
          </a:p>
        </p:txBody>
      </p:sp>
      <p:sp>
        <p:nvSpPr>
          <p:cNvPr id="38" name="TextBox 37">
            <a:extLst>
              <a:ext uri="{FF2B5EF4-FFF2-40B4-BE49-F238E27FC236}">
                <a16:creationId xmlns:a16="http://schemas.microsoft.com/office/drawing/2014/main" id="{F9741079-AD39-C61B-F953-DD18EFF0AE5A}"/>
              </a:ext>
            </a:extLst>
          </p:cNvPr>
          <p:cNvSpPr txBox="1"/>
          <p:nvPr/>
        </p:nvSpPr>
        <p:spPr>
          <a:xfrm>
            <a:off x="4489607" y="4404683"/>
            <a:ext cx="1027845" cy="461665"/>
          </a:xfrm>
          <a:prstGeom prst="rect">
            <a:avLst/>
          </a:prstGeom>
          <a:noFill/>
        </p:spPr>
        <p:txBody>
          <a:bodyPr wrap="none">
            <a:spAutoFit/>
          </a:bodyPr>
          <a:lstStyle/>
          <a:p>
            <a:pPr>
              <a:defRPr/>
            </a:pPr>
            <a:r>
              <a:rPr lang="en-US" sz="2400" dirty="0">
                <a:latin typeface="+mn-lt"/>
              </a:rPr>
              <a:t>class </a:t>
            </a:r>
            <a:r>
              <a:rPr lang="en-US" sz="2400" b="1" dirty="0">
                <a:latin typeface="+mn-lt"/>
              </a:rPr>
              <a:t>A</a:t>
            </a:r>
          </a:p>
        </p:txBody>
      </p:sp>
      <p:sp>
        <p:nvSpPr>
          <p:cNvPr id="39" name="TextBox 38">
            <a:extLst>
              <a:ext uri="{FF2B5EF4-FFF2-40B4-BE49-F238E27FC236}">
                <a16:creationId xmlns:a16="http://schemas.microsoft.com/office/drawing/2014/main" id="{3A4BB950-A044-2D66-E21F-84D717FA08C1}"/>
              </a:ext>
            </a:extLst>
          </p:cNvPr>
          <p:cNvSpPr txBox="1"/>
          <p:nvPr/>
        </p:nvSpPr>
        <p:spPr>
          <a:xfrm>
            <a:off x="712884" y="4409723"/>
            <a:ext cx="1148071" cy="461665"/>
          </a:xfrm>
          <a:prstGeom prst="rect">
            <a:avLst/>
          </a:prstGeom>
          <a:noFill/>
        </p:spPr>
        <p:txBody>
          <a:bodyPr wrap="none">
            <a:spAutoFit/>
          </a:bodyPr>
          <a:lstStyle/>
          <a:p>
            <a:pPr>
              <a:defRPr/>
            </a:pPr>
            <a:r>
              <a:rPr lang="en-US" sz="2400" dirty="0">
                <a:latin typeface="+mn-lt"/>
              </a:rPr>
              <a:t>class</a:t>
            </a:r>
            <a:r>
              <a:rPr lang="en-US" sz="2400" b="1" dirty="0">
                <a:latin typeface="+mn-lt"/>
              </a:rPr>
              <a:t> E2</a:t>
            </a:r>
          </a:p>
        </p:txBody>
      </p:sp>
      <p:sp>
        <p:nvSpPr>
          <p:cNvPr id="40" name="Rounded Rectangle 39">
            <a:extLst>
              <a:ext uri="{FF2B5EF4-FFF2-40B4-BE49-F238E27FC236}">
                <a16:creationId xmlns:a16="http://schemas.microsoft.com/office/drawing/2014/main" id="{20CD4DCB-D44B-6640-DB4E-F019C08DCEBD}"/>
              </a:ext>
            </a:extLst>
          </p:cNvPr>
          <p:cNvSpPr/>
          <p:nvPr/>
        </p:nvSpPr>
        <p:spPr>
          <a:xfrm>
            <a:off x="4484775" y="4360469"/>
            <a:ext cx="1944215" cy="1752719"/>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1" name="TextBox 40">
            <a:extLst>
              <a:ext uri="{FF2B5EF4-FFF2-40B4-BE49-F238E27FC236}">
                <a16:creationId xmlns:a16="http://schemas.microsoft.com/office/drawing/2014/main" id="{10C75D4D-1E6D-9576-C68A-3788C3FFD1C4}"/>
              </a:ext>
            </a:extLst>
          </p:cNvPr>
          <p:cNvSpPr txBox="1"/>
          <p:nvPr/>
        </p:nvSpPr>
        <p:spPr>
          <a:xfrm>
            <a:off x="7372391" y="4995900"/>
            <a:ext cx="1188146" cy="707886"/>
          </a:xfrm>
          <a:prstGeom prst="rect">
            <a:avLst/>
          </a:prstGeom>
          <a:solidFill>
            <a:schemeClr val="accent5">
              <a:lumMod val="20000"/>
              <a:lumOff val="80000"/>
            </a:schemeClr>
          </a:solidFill>
          <a:ln>
            <a:solidFill>
              <a:schemeClr val="tx1"/>
            </a:solidFill>
          </a:ln>
        </p:spPr>
        <p:txBody>
          <a:bodyPr wrap="none">
            <a:spAutoFit/>
          </a:bodyPr>
          <a:lstStyle/>
          <a:p>
            <a:pPr>
              <a:defRPr/>
            </a:pPr>
            <a:r>
              <a:rPr lang="en-US" sz="2000" dirty="0">
                <a:latin typeface="+mn-lt"/>
              </a:rPr>
              <a:t>m(y) { ... }</a:t>
            </a:r>
          </a:p>
          <a:p>
            <a:pPr>
              <a:defRPr/>
            </a:pPr>
            <a:endParaRPr lang="en-US" sz="2000" dirty="0">
              <a:latin typeface="+mn-lt"/>
            </a:endParaRPr>
          </a:p>
        </p:txBody>
      </p:sp>
      <p:sp>
        <p:nvSpPr>
          <p:cNvPr id="42" name="TextBox 41">
            <a:extLst>
              <a:ext uri="{FF2B5EF4-FFF2-40B4-BE49-F238E27FC236}">
                <a16:creationId xmlns:a16="http://schemas.microsoft.com/office/drawing/2014/main" id="{B483D2FF-A5A1-3883-7AAB-3431706AD809}"/>
              </a:ext>
            </a:extLst>
          </p:cNvPr>
          <p:cNvSpPr txBox="1"/>
          <p:nvPr/>
        </p:nvSpPr>
        <p:spPr>
          <a:xfrm>
            <a:off x="6786333" y="4488431"/>
            <a:ext cx="1015021" cy="461665"/>
          </a:xfrm>
          <a:prstGeom prst="rect">
            <a:avLst/>
          </a:prstGeom>
          <a:noFill/>
        </p:spPr>
        <p:txBody>
          <a:bodyPr wrap="none">
            <a:spAutoFit/>
          </a:bodyPr>
          <a:lstStyle/>
          <a:p>
            <a:pPr>
              <a:defRPr/>
            </a:pPr>
            <a:r>
              <a:rPr lang="en-US" sz="2400" dirty="0">
                <a:latin typeface="+mn-lt"/>
              </a:rPr>
              <a:t>class </a:t>
            </a:r>
            <a:r>
              <a:rPr lang="en-US" sz="2400" b="1" dirty="0">
                <a:latin typeface="+mn-lt"/>
              </a:rPr>
              <a:t>B</a:t>
            </a:r>
          </a:p>
        </p:txBody>
      </p:sp>
      <p:sp>
        <p:nvSpPr>
          <p:cNvPr id="43" name="Rounded Rectangle 42">
            <a:extLst>
              <a:ext uri="{FF2B5EF4-FFF2-40B4-BE49-F238E27FC236}">
                <a16:creationId xmlns:a16="http://schemas.microsoft.com/office/drawing/2014/main" id="{95667B00-0C33-FA2E-9F90-D41499E2867C}"/>
              </a:ext>
            </a:extLst>
          </p:cNvPr>
          <p:cNvSpPr/>
          <p:nvPr/>
        </p:nvSpPr>
        <p:spPr>
          <a:xfrm>
            <a:off x="6845250" y="4360469"/>
            <a:ext cx="1851919" cy="1752719"/>
          </a:xfrm>
          <a:prstGeom prst="roundRect">
            <a:avLst/>
          </a:prstGeom>
          <a:solidFill>
            <a:schemeClr val="accent5">
              <a:lumMod val="20000"/>
              <a:lumOff val="80000"/>
              <a:alpha val="2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4" name="Isosceles Triangle 7">
            <a:extLst>
              <a:ext uri="{FF2B5EF4-FFF2-40B4-BE49-F238E27FC236}">
                <a16:creationId xmlns:a16="http://schemas.microsoft.com/office/drawing/2014/main" id="{150A1A42-814A-D1EA-D6DC-60F424455DF5}"/>
              </a:ext>
            </a:extLst>
          </p:cNvPr>
          <p:cNvSpPr/>
          <p:nvPr/>
        </p:nvSpPr>
        <p:spPr>
          <a:xfrm rot="16200000">
            <a:off x="6469098" y="5116527"/>
            <a:ext cx="169863" cy="214313"/>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45" name="Straight Connector 44">
            <a:extLst>
              <a:ext uri="{FF2B5EF4-FFF2-40B4-BE49-F238E27FC236}">
                <a16:creationId xmlns:a16="http://schemas.microsoft.com/office/drawing/2014/main" id="{2BCE71A1-C0F6-E449-DE7B-2DF5EFF7DA6B}"/>
              </a:ext>
            </a:extLst>
          </p:cNvPr>
          <p:cNvCxnSpPr>
            <a:cxnSpLocks/>
            <a:stCxn id="44" idx="3"/>
            <a:endCxn id="43" idx="1"/>
          </p:cNvCxnSpPr>
          <p:nvPr/>
        </p:nvCxnSpPr>
        <p:spPr>
          <a:xfrm>
            <a:off x="6661186" y="5223683"/>
            <a:ext cx="184064" cy="131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Freeform 48">
            <a:extLst>
              <a:ext uri="{FF2B5EF4-FFF2-40B4-BE49-F238E27FC236}">
                <a16:creationId xmlns:a16="http://schemas.microsoft.com/office/drawing/2014/main" id="{501F1AA9-FBFF-4FD4-35D7-48DA47B533A1}"/>
              </a:ext>
            </a:extLst>
          </p:cNvPr>
          <p:cNvSpPr/>
          <p:nvPr/>
        </p:nvSpPr>
        <p:spPr>
          <a:xfrm>
            <a:off x="2701749" y="4736780"/>
            <a:ext cx="2447441" cy="1039906"/>
          </a:xfrm>
          <a:custGeom>
            <a:avLst/>
            <a:gdLst>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71794 w 2447441"/>
              <a:gd name="connsiteY37" fmla="*/ 519953 h 1039906"/>
              <a:gd name="connsiteX38" fmla="*/ 89724 w 2447441"/>
              <a:gd name="connsiteY38" fmla="*/ 555812 h 1039906"/>
              <a:gd name="connsiteX39" fmla="*/ 143512 w 2447441"/>
              <a:gd name="connsiteY39" fmla="*/ 627529 h 1039906"/>
              <a:gd name="connsiteX40" fmla="*/ 161441 w 2447441"/>
              <a:gd name="connsiteY40" fmla="*/ 663388 h 1039906"/>
              <a:gd name="connsiteX41" fmla="*/ 188335 w 2447441"/>
              <a:gd name="connsiteY41" fmla="*/ 690282 h 1039906"/>
              <a:gd name="connsiteX42" fmla="*/ 269018 w 2447441"/>
              <a:gd name="connsiteY42" fmla="*/ 788894 h 1039906"/>
              <a:gd name="connsiteX43" fmla="*/ 295912 w 2447441"/>
              <a:gd name="connsiteY43" fmla="*/ 806824 h 1039906"/>
              <a:gd name="connsiteX44" fmla="*/ 322806 w 2447441"/>
              <a:gd name="connsiteY44" fmla="*/ 815788 h 1039906"/>
              <a:gd name="connsiteX45" fmla="*/ 367630 w 2447441"/>
              <a:gd name="connsiteY45" fmla="*/ 833718 h 1039906"/>
              <a:gd name="connsiteX46" fmla="*/ 439347 w 2447441"/>
              <a:gd name="connsiteY46" fmla="*/ 860612 h 1039906"/>
              <a:gd name="connsiteX47" fmla="*/ 466241 w 2447441"/>
              <a:gd name="connsiteY47" fmla="*/ 878541 h 1039906"/>
              <a:gd name="connsiteX48" fmla="*/ 502100 w 2447441"/>
              <a:gd name="connsiteY48" fmla="*/ 887506 h 1039906"/>
              <a:gd name="connsiteX49" fmla="*/ 528994 w 2447441"/>
              <a:gd name="connsiteY49" fmla="*/ 896471 h 1039906"/>
              <a:gd name="connsiteX50" fmla="*/ 618641 w 2447441"/>
              <a:gd name="connsiteY50" fmla="*/ 914400 h 1039906"/>
              <a:gd name="connsiteX51" fmla="*/ 690359 w 2447441"/>
              <a:gd name="connsiteY51" fmla="*/ 941294 h 1039906"/>
              <a:gd name="connsiteX52" fmla="*/ 726218 w 2447441"/>
              <a:gd name="connsiteY52" fmla="*/ 959224 h 1039906"/>
              <a:gd name="connsiteX53" fmla="*/ 815865 w 2447441"/>
              <a:gd name="connsiteY53" fmla="*/ 986118 h 1039906"/>
              <a:gd name="connsiteX54" fmla="*/ 842759 w 2447441"/>
              <a:gd name="connsiteY54" fmla="*/ 995082 h 1039906"/>
              <a:gd name="connsiteX55" fmla="*/ 941371 w 2447441"/>
              <a:gd name="connsiteY55" fmla="*/ 1013012 h 1039906"/>
              <a:gd name="connsiteX56" fmla="*/ 986194 w 2447441"/>
              <a:gd name="connsiteY56" fmla="*/ 1021977 h 1039906"/>
              <a:gd name="connsiteX57" fmla="*/ 1237206 w 2447441"/>
              <a:gd name="connsiteY57" fmla="*/ 1039906 h 1039906"/>
              <a:gd name="connsiteX58" fmla="*/ 1667512 w 2447441"/>
              <a:gd name="connsiteY58" fmla="*/ 1030941 h 1039906"/>
              <a:gd name="connsiteX59" fmla="*/ 1721300 w 2447441"/>
              <a:gd name="connsiteY59" fmla="*/ 1021977 h 1039906"/>
              <a:gd name="connsiteX60" fmla="*/ 1828877 w 2447441"/>
              <a:gd name="connsiteY60" fmla="*/ 1004047 h 1039906"/>
              <a:gd name="connsiteX61" fmla="*/ 2008171 w 2447441"/>
              <a:gd name="connsiteY61" fmla="*/ 995082 h 1039906"/>
              <a:gd name="connsiteX62" fmla="*/ 2070924 w 2447441"/>
              <a:gd name="connsiteY62" fmla="*/ 986118 h 1039906"/>
              <a:gd name="connsiteX63" fmla="*/ 2115747 w 2447441"/>
              <a:gd name="connsiteY63" fmla="*/ 977153 h 1039906"/>
              <a:gd name="connsiteX64" fmla="*/ 2277112 w 2447441"/>
              <a:gd name="connsiteY64"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89724 w 2447441"/>
              <a:gd name="connsiteY38" fmla="*/ 555812 h 1039906"/>
              <a:gd name="connsiteX39" fmla="*/ 143512 w 2447441"/>
              <a:gd name="connsiteY39" fmla="*/ 627529 h 1039906"/>
              <a:gd name="connsiteX40" fmla="*/ 161441 w 2447441"/>
              <a:gd name="connsiteY40" fmla="*/ 663388 h 1039906"/>
              <a:gd name="connsiteX41" fmla="*/ 188335 w 2447441"/>
              <a:gd name="connsiteY41" fmla="*/ 690282 h 1039906"/>
              <a:gd name="connsiteX42" fmla="*/ 269018 w 2447441"/>
              <a:gd name="connsiteY42" fmla="*/ 788894 h 1039906"/>
              <a:gd name="connsiteX43" fmla="*/ 295912 w 2447441"/>
              <a:gd name="connsiteY43" fmla="*/ 806824 h 1039906"/>
              <a:gd name="connsiteX44" fmla="*/ 322806 w 2447441"/>
              <a:gd name="connsiteY44" fmla="*/ 815788 h 1039906"/>
              <a:gd name="connsiteX45" fmla="*/ 367630 w 2447441"/>
              <a:gd name="connsiteY45" fmla="*/ 833718 h 1039906"/>
              <a:gd name="connsiteX46" fmla="*/ 439347 w 2447441"/>
              <a:gd name="connsiteY46" fmla="*/ 860612 h 1039906"/>
              <a:gd name="connsiteX47" fmla="*/ 466241 w 2447441"/>
              <a:gd name="connsiteY47" fmla="*/ 878541 h 1039906"/>
              <a:gd name="connsiteX48" fmla="*/ 502100 w 2447441"/>
              <a:gd name="connsiteY48" fmla="*/ 887506 h 1039906"/>
              <a:gd name="connsiteX49" fmla="*/ 528994 w 2447441"/>
              <a:gd name="connsiteY49" fmla="*/ 896471 h 1039906"/>
              <a:gd name="connsiteX50" fmla="*/ 618641 w 2447441"/>
              <a:gd name="connsiteY50" fmla="*/ 914400 h 1039906"/>
              <a:gd name="connsiteX51" fmla="*/ 690359 w 2447441"/>
              <a:gd name="connsiteY51" fmla="*/ 941294 h 1039906"/>
              <a:gd name="connsiteX52" fmla="*/ 726218 w 2447441"/>
              <a:gd name="connsiteY52" fmla="*/ 959224 h 1039906"/>
              <a:gd name="connsiteX53" fmla="*/ 815865 w 2447441"/>
              <a:gd name="connsiteY53" fmla="*/ 986118 h 1039906"/>
              <a:gd name="connsiteX54" fmla="*/ 842759 w 2447441"/>
              <a:gd name="connsiteY54" fmla="*/ 995082 h 1039906"/>
              <a:gd name="connsiteX55" fmla="*/ 941371 w 2447441"/>
              <a:gd name="connsiteY55" fmla="*/ 1013012 h 1039906"/>
              <a:gd name="connsiteX56" fmla="*/ 986194 w 2447441"/>
              <a:gd name="connsiteY56" fmla="*/ 1021977 h 1039906"/>
              <a:gd name="connsiteX57" fmla="*/ 1237206 w 2447441"/>
              <a:gd name="connsiteY57" fmla="*/ 1039906 h 1039906"/>
              <a:gd name="connsiteX58" fmla="*/ 1667512 w 2447441"/>
              <a:gd name="connsiteY58" fmla="*/ 1030941 h 1039906"/>
              <a:gd name="connsiteX59" fmla="*/ 1721300 w 2447441"/>
              <a:gd name="connsiteY59" fmla="*/ 1021977 h 1039906"/>
              <a:gd name="connsiteX60" fmla="*/ 1828877 w 2447441"/>
              <a:gd name="connsiteY60" fmla="*/ 1004047 h 1039906"/>
              <a:gd name="connsiteX61" fmla="*/ 2008171 w 2447441"/>
              <a:gd name="connsiteY61" fmla="*/ 995082 h 1039906"/>
              <a:gd name="connsiteX62" fmla="*/ 2070924 w 2447441"/>
              <a:gd name="connsiteY62" fmla="*/ 986118 h 1039906"/>
              <a:gd name="connsiteX63" fmla="*/ 2115747 w 2447441"/>
              <a:gd name="connsiteY63" fmla="*/ 977153 h 1039906"/>
              <a:gd name="connsiteX64" fmla="*/ 2277112 w 2447441"/>
              <a:gd name="connsiteY64"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248474 w 2447441"/>
              <a:gd name="connsiteY38" fmla="*/ 517712 h 1039906"/>
              <a:gd name="connsiteX39" fmla="*/ 143512 w 2447441"/>
              <a:gd name="connsiteY39" fmla="*/ 627529 h 1039906"/>
              <a:gd name="connsiteX40" fmla="*/ 161441 w 2447441"/>
              <a:gd name="connsiteY40" fmla="*/ 663388 h 1039906"/>
              <a:gd name="connsiteX41" fmla="*/ 188335 w 2447441"/>
              <a:gd name="connsiteY41" fmla="*/ 690282 h 1039906"/>
              <a:gd name="connsiteX42" fmla="*/ 269018 w 2447441"/>
              <a:gd name="connsiteY42" fmla="*/ 788894 h 1039906"/>
              <a:gd name="connsiteX43" fmla="*/ 295912 w 2447441"/>
              <a:gd name="connsiteY43" fmla="*/ 806824 h 1039906"/>
              <a:gd name="connsiteX44" fmla="*/ 322806 w 2447441"/>
              <a:gd name="connsiteY44" fmla="*/ 815788 h 1039906"/>
              <a:gd name="connsiteX45" fmla="*/ 367630 w 2447441"/>
              <a:gd name="connsiteY45" fmla="*/ 833718 h 1039906"/>
              <a:gd name="connsiteX46" fmla="*/ 439347 w 2447441"/>
              <a:gd name="connsiteY46" fmla="*/ 860612 h 1039906"/>
              <a:gd name="connsiteX47" fmla="*/ 466241 w 2447441"/>
              <a:gd name="connsiteY47" fmla="*/ 878541 h 1039906"/>
              <a:gd name="connsiteX48" fmla="*/ 502100 w 2447441"/>
              <a:gd name="connsiteY48" fmla="*/ 887506 h 1039906"/>
              <a:gd name="connsiteX49" fmla="*/ 528994 w 2447441"/>
              <a:gd name="connsiteY49" fmla="*/ 896471 h 1039906"/>
              <a:gd name="connsiteX50" fmla="*/ 618641 w 2447441"/>
              <a:gd name="connsiteY50" fmla="*/ 914400 h 1039906"/>
              <a:gd name="connsiteX51" fmla="*/ 690359 w 2447441"/>
              <a:gd name="connsiteY51" fmla="*/ 941294 h 1039906"/>
              <a:gd name="connsiteX52" fmla="*/ 726218 w 2447441"/>
              <a:gd name="connsiteY52" fmla="*/ 959224 h 1039906"/>
              <a:gd name="connsiteX53" fmla="*/ 815865 w 2447441"/>
              <a:gd name="connsiteY53" fmla="*/ 986118 h 1039906"/>
              <a:gd name="connsiteX54" fmla="*/ 842759 w 2447441"/>
              <a:gd name="connsiteY54" fmla="*/ 995082 h 1039906"/>
              <a:gd name="connsiteX55" fmla="*/ 941371 w 2447441"/>
              <a:gd name="connsiteY55" fmla="*/ 1013012 h 1039906"/>
              <a:gd name="connsiteX56" fmla="*/ 986194 w 2447441"/>
              <a:gd name="connsiteY56" fmla="*/ 1021977 h 1039906"/>
              <a:gd name="connsiteX57" fmla="*/ 1237206 w 2447441"/>
              <a:gd name="connsiteY57" fmla="*/ 1039906 h 1039906"/>
              <a:gd name="connsiteX58" fmla="*/ 1667512 w 2447441"/>
              <a:gd name="connsiteY58" fmla="*/ 1030941 h 1039906"/>
              <a:gd name="connsiteX59" fmla="*/ 1721300 w 2447441"/>
              <a:gd name="connsiteY59" fmla="*/ 1021977 h 1039906"/>
              <a:gd name="connsiteX60" fmla="*/ 1828877 w 2447441"/>
              <a:gd name="connsiteY60" fmla="*/ 1004047 h 1039906"/>
              <a:gd name="connsiteX61" fmla="*/ 2008171 w 2447441"/>
              <a:gd name="connsiteY61" fmla="*/ 995082 h 1039906"/>
              <a:gd name="connsiteX62" fmla="*/ 2070924 w 2447441"/>
              <a:gd name="connsiteY62" fmla="*/ 986118 h 1039906"/>
              <a:gd name="connsiteX63" fmla="*/ 2115747 w 2447441"/>
              <a:gd name="connsiteY63" fmla="*/ 977153 h 1039906"/>
              <a:gd name="connsiteX64" fmla="*/ 2277112 w 2447441"/>
              <a:gd name="connsiteY64"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143512 w 2447441"/>
              <a:gd name="connsiteY39" fmla="*/ 627529 h 1039906"/>
              <a:gd name="connsiteX40" fmla="*/ 161441 w 2447441"/>
              <a:gd name="connsiteY40" fmla="*/ 663388 h 1039906"/>
              <a:gd name="connsiteX41" fmla="*/ 188335 w 2447441"/>
              <a:gd name="connsiteY41" fmla="*/ 690282 h 1039906"/>
              <a:gd name="connsiteX42" fmla="*/ 269018 w 2447441"/>
              <a:gd name="connsiteY42" fmla="*/ 788894 h 1039906"/>
              <a:gd name="connsiteX43" fmla="*/ 295912 w 2447441"/>
              <a:gd name="connsiteY43" fmla="*/ 806824 h 1039906"/>
              <a:gd name="connsiteX44" fmla="*/ 322806 w 2447441"/>
              <a:gd name="connsiteY44" fmla="*/ 815788 h 1039906"/>
              <a:gd name="connsiteX45" fmla="*/ 367630 w 2447441"/>
              <a:gd name="connsiteY45" fmla="*/ 833718 h 1039906"/>
              <a:gd name="connsiteX46" fmla="*/ 439347 w 2447441"/>
              <a:gd name="connsiteY46" fmla="*/ 860612 h 1039906"/>
              <a:gd name="connsiteX47" fmla="*/ 466241 w 2447441"/>
              <a:gd name="connsiteY47" fmla="*/ 878541 h 1039906"/>
              <a:gd name="connsiteX48" fmla="*/ 502100 w 2447441"/>
              <a:gd name="connsiteY48" fmla="*/ 887506 h 1039906"/>
              <a:gd name="connsiteX49" fmla="*/ 528994 w 2447441"/>
              <a:gd name="connsiteY49" fmla="*/ 896471 h 1039906"/>
              <a:gd name="connsiteX50" fmla="*/ 618641 w 2447441"/>
              <a:gd name="connsiteY50" fmla="*/ 914400 h 1039906"/>
              <a:gd name="connsiteX51" fmla="*/ 690359 w 2447441"/>
              <a:gd name="connsiteY51" fmla="*/ 941294 h 1039906"/>
              <a:gd name="connsiteX52" fmla="*/ 726218 w 2447441"/>
              <a:gd name="connsiteY52" fmla="*/ 959224 h 1039906"/>
              <a:gd name="connsiteX53" fmla="*/ 815865 w 2447441"/>
              <a:gd name="connsiteY53" fmla="*/ 986118 h 1039906"/>
              <a:gd name="connsiteX54" fmla="*/ 842759 w 2447441"/>
              <a:gd name="connsiteY54" fmla="*/ 995082 h 1039906"/>
              <a:gd name="connsiteX55" fmla="*/ 941371 w 2447441"/>
              <a:gd name="connsiteY55" fmla="*/ 1013012 h 1039906"/>
              <a:gd name="connsiteX56" fmla="*/ 986194 w 2447441"/>
              <a:gd name="connsiteY56" fmla="*/ 1021977 h 1039906"/>
              <a:gd name="connsiteX57" fmla="*/ 1237206 w 2447441"/>
              <a:gd name="connsiteY57" fmla="*/ 1039906 h 1039906"/>
              <a:gd name="connsiteX58" fmla="*/ 1667512 w 2447441"/>
              <a:gd name="connsiteY58" fmla="*/ 1030941 h 1039906"/>
              <a:gd name="connsiteX59" fmla="*/ 1721300 w 2447441"/>
              <a:gd name="connsiteY59" fmla="*/ 1021977 h 1039906"/>
              <a:gd name="connsiteX60" fmla="*/ 1828877 w 2447441"/>
              <a:gd name="connsiteY60" fmla="*/ 1004047 h 1039906"/>
              <a:gd name="connsiteX61" fmla="*/ 2008171 w 2447441"/>
              <a:gd name="connsiteY61" fmla="*/ 995082 h 1039906"/>
              <a:gd name="connsiteX62" fmla="*/ 2070924 w 2447441"/>
              <a:gd name="connsiteY62" fmla="*/ 986118 h 1039906"/>
              <a:gd name="connsiteX63" fmla="*/ 2115747 w 2447441"/>
              <a:gd name="connsiteY63" fmla="*/ 977153 h 1039906"/>
              <a:gd name="connsiteX64" fmla="*/ 2277112 w 2447441"/>
              <a:gd name="connsiteY64"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161441 w 2447441"/>
              <a:gd name="connsiteY40" fmla="*/ 663388 h 1039906"/>
              <a:gd name="connsiteX41" fmla="*/ 188335 w 2447441"/>
              <a:gd name="connsiteY41" fmla="*/ 690282 h 1039906"/>
              <a:gd name="connsiteX42" fmla="*/ 269018 w 2447441"/>
              <a:gd name="connsiteY42" fmla="*/ 788894 h 1039906"/>
              <a:gd name="connsiteX43" fmla="*/ 295912 w 2447441"/>
              <a:gd name="connsiteY43" fmla="*/ 806824 h 1039906"/>
              <a:gd name="connsiteX44" fmla="*/ 322806 w 2447441"/>
              <a:gd name="connsiteY44" fmla="*/ 815788 h 1039906"/>
              <a:gd name="connsiteX45" fmla="*/ 367630 w 2447441"/>
              <a:gd name="connsiteY45" fmla="*/ 833718 h 1039906"/>
              <a:gd name="connsiteX46" fmla="*/ 439347 w 2447441"/>
              <a:gd name="connsiteY46" fmla="*/ 860612 h 1039906"/>
              <a:gd name="connsiteX47" fmla="*/ 466241 w 2447441"/>
              <a:gd name="connsiteY47" fmla="*/ 878541 h 1039906"/>
              <a:gd name="connsiteX48" fmla="*/ 502100 w 2447441"/>
              <a:gd name="connsiteY48" fmla="*/ 887506 h 1039906"/>
              <a:gd name="connsiteX49" fmla="*/ 528994 w 2447441"/>
              <a:gd name="connsiteY49" fmla="*/ 896471 h 1039906"/>
              <a:gd name="connsiteX50" fmla="*/ 618641 w 2447441"/>
              <a:gd name="connsiteY50" fmla="*/ 914400 h 1039906"/>
              <a:gd name="connsiteX51" fmla="*/ 690359 w 2447441"/>
              <a:gd name="connsiteY51" fmla="*/ 941294 h 1039906"/>
              <a:gd name="connsiteX52" fmla="*/ 726218 w 2447441"/>
              <a:gd name="connsiteY52" fmla="*/ 959224 h 1039906"/>
              <a:gd name="connsiteX53" fmla="*/ 815865 w 2447441"/>
              <a:gd name="connsiteY53" fmla="*/ 986118 h 1039906"/>
              <a:gd name="connsiteX54" fmla="*/ 842759 w 2447441"/>
              <a:gd name="connsiteY54" fmla="*/ 995082 h 1039906"/>
              <a:gd name="connsiteX55" fmla="*/ 941371 w 2447441"/>
              <a:gd name="connsiteY55" fmla="*/ 1013012 h 1039906"/>
              <a:gd name="connsiteX56" fmla="*/ 986194 w 2447441"/>
              <a:gd name="connsiteY56" fmla="*/ 1021977 h 1039906"/>
              <a:gd name="connsiteX57" fmla="*/ 1237206 w 2447441"/>
              <a:gd name="connsiteY57" fmla="*/ 1039906 h 1039906"/>
              <a:gd name="connsiteX58" fmla="*/ 1667512 w 2447441"/>
              <a:gd name="connsiteY58" fmla="*/ 1030941 h 1039906"/>
              <a:gd name="connsiteX59" fmla="*/ 1721300 w 2447441"/>
              <a:gd name="connsiteY59" fmla="*/ 1021977 h 1039906"/>
              <a:gd name="connsiteX60" fmla="*/ 1828877 w 2447441"/>
              <a:gd name="connsiteY60" fmla="*/ 1004047 h 1039906"/>
              <a:gd name="connsiteX61" fmla="*/ 2008171 w 2447441"/>
              <a:gd name="connsiteY61" fmla="*/ 995082 h 1039906"/>
              <a:gd name="connsiteX62" fmla="*/ 2070924 w 2447441"/>
              <a:gd name="connsiteY62" fmla="*/ 986118 h 1039906"/>
              <a:gd name="connsiteX63" fmla="*/ 2115747 w 2447441"/>
              <a:gd name="connsiteY63" fmla="*/ 977153 h 1039906"/>
              <a:gd name="connsiteX64" fmla="*/ 2277112 w 2447441"/>
              <a:gd name="connsiteY64"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188335 w 2447441"/>
              <a:gd name="connsiteY41" fmla="*/ 690282 h 1039906"/>
              <a:gd name="connsiteX42" fmla="*/ 269018 w 2447441"/>
              <a:gd name="connsiteY42" fmla="*/ 788894 h 1039906"/>
              <a:gd name="connsiteX43" fmla="*/ 295912 w 2447441"/>
              <a:gd name="connsiteY43" fmla="*/ 806824 h 1039906"/>
              <a:gd name="connsiteX44" fmla="*/ 322806 w 2447441"/>
              <a:gd name="connsiteY44" fmla="*/ 815788 h 1039906"/>
              <a:gd name="connsiteX45" fmla="*/ 367630 w 2447441"/>
              <a:gd name="connsiteY45" fmla="*/ 833718 h 1039906"/>
              <a:gd name="connsiteX46" fmla="*/ 439347 w 2447441"/>
              <a:gd name="connsiteY46" fmla="*/ 860612 h 1039906"/>
              <a:gd name="connsiteX47" fmla="*/ 466241 w 2447441"/>
              <a:gd name="connsiteY47" fmla="*/ 878541 h 1039906"/>
              <a:gd name="connsiteX48" fmla="*/ 502100 w 2447441"/>
              <a:gd name="connsiteY48" fmla="*/ 887506 h 1039906"/>
              <a:gd name="connsiteX49" fmla="*/ 528994 w 2447441"/>
              <a:gd name="connsiteY49" fmla="*/ 896471 h 1039906"/>
              <a:gd name="connsiteX50" fmla="*/ 618641 w 2447441"/>
              <a:gd name="connsiteY50" fmla="*/ 914400 h 1039906"/>
              <a:gd name="connsiteX51" fmla="*/ 690359 w 2447441"/>
              <a:gd name="connsiteY51" fmla="*/ 941294 h 1039906"/>
              <a:gd name="connsiteX52" fmla="*/ 726218 w 2447441"/>
              <a:gd name="connsiteY52" fmla="*/ 959224 h 1039906"/>
              <a:gd name="connsiteX53" fmla="*/ 815865 w 2447441"/>
              <a:gd name="connsiteY53" fmla="*/ 986118 h 1039906"/>
              <a:gd name="connsiteX54" fmla="*/ 842759 w 2447441"/>
              <a:gd name="connsiteY54" fmla="*/ 995082 h 1039906"/>
              <a:gd name="connsiteX55" fmla="*/ 941371 w 2447441"/>
              <a:gd name="connsiteY55" fmla="*/ 1013012 h 1039906"/>
              <a:gd name="connsiteX56" fmla="*/ 986194 w 2447441"/>
              <a:gd name="connsiteY56" fmla="*/ 1021977 h 1039906"/>
              <a:gd name="connsiteX57" fmla="*/ 1237206 w 2447441"/>
              <a:gd name="connsiteY57" fmla="*/ 1039906 h 1039906"/>
              <a:gd name="connsiteX58" fmla="*/ 1667512 w 2447441"/>
              <a:gd name="connsiteY58" fmla="*/ 1030941 h 1039906"/>
              <a:gd name="connsiteX59" fmla="*/ 1721300 w 2447441"/>
              <a:gd name="connsiteY59" fmla="*/ 1021977 h 1039906"/>
              <a:gd name="connsiteX60" fmla="*/ 1828877 w 2447441"/>
              <a:gd name="connsiteY60" fmla="*/ 1004047 h 1039906"/>
              <a:gd name="connsiteX61" fmla="*/ 2008171 w 2447441"/>
              <a:gd name="connsiteY61" fmla="*/ 995082 h 1039906"/>
              <a:gd name="connsiteX62" fmla="*/ 2070924 w 2447441"/>
              <a:gd name="connsiteY62" fmla="*/ 986118 h 1039906"/>
              <a:gd name="connsiteX63" fmla="*/ 2115747 w 2447441"/>
              <a:gd name="connsiteY63" fmla="*/ 977153 h 1039906"/>
              <a:gd name="connsiteX64" fmla="*/ 2277112 w 2447441"/>
              <a:gd name="connsiteY64"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269018 w 2447441"/>
              <a:gd name="connsiteY41" fmla="*/ 788894 h 1039906"/>
              <a:gd name="connsiteX42" fmla="*/ 295912 w 2447441"/>
              <a:gd name="connsiteY42" fmla="*/ 806824 h 1039906"/>
              <a:gd name="connsiteX43" fmla="*/ 322806 w 2447441"/>
              <a:gd name="connsiteY43" fmla="*/ 815788 h 1039906"/>
              <a:gd name="connsiteX44" fmla="*/ 367630 w 2447441"/>
              <a:gd name="connsiteY44" fmla="*/ 833718 h 1039906"/>
              <a:gd name="connsiteX45" fmla="*/ 439347 w 2447441"/>
              <a:gd name="connsiteY45" fmla="*/ 860612 h 1039906"/>
              <a:gd name="connsiteX46" fmla="*/ 466241 w 2447441"/>
              <a:gd name="connsiteY46" fmla="*/ 878541 h 1039906"/>
              <a:gd name="connsiteX47" fmla="*/ 502100 w 2447441"/>
              <a:gd name="connsiteY47" fmla="*/ 887506 h 1039906"/>
              <a:gd name="connsiteX48" fmla="*/ 528994 w 2447441"/>
              <a:gd name="connsiteY48" fmla="*/ 896471 h 1039906"/>
              <a:gd name="connsiteX49" fmla="*/ 618641 w 2447441"/>
              <a:gd name="connsiteY49" fmla="*/ 914400 h 1039906"/>
              <a:gd name="connsiteX50" fmla="*/ 690359 w 2447441"/>
              <a:gd name="connsiteY50" fmla="*/ 941294 h 1039906"/>
              <a:gd name="connsiteX51" fmla="*/ 726218 w 2447441"/>
              <a:gd name="connsiteY51" fmla="*/ 959224 h 1039906"/>
              <a:gd name="connsiteX52" fmla="*/ 815865 w 2447441"/>
              <a:gd name="connsiteY52" fmla="*/ 986118 h 1039906"/>
              <a:gd name="connsiteX53" fmla="*/ 842759 w 2447441"/>
              <a:gd name="connsiteY53" fmla="*/ 995082 h 1039906"/>
              <a:gd name="connsiteX54" fmla="*/ 941371 w 2447441"/>
              <a:gd name="connsiteY54" fmla="*/ 1013012 h 1039906"/>
              <a:gd name="connsiteX55" fmla="*/ 986194 w 2447441"/>
              <a:gd name="connsiteY55" fmla="*/ 1021977 h 1039906"/>
              <a:gd name="connsiteX56" fmla="*/ 1237206 w 2447441"/>
              <a:gd name="connsiteY56" fmla="*/ 1039906 h 1039906"/>
              <a:gd name="connsiteX57" fmla="*/ 1667512 w 2447441"/>
              <a:gd name="connsiteY57" fmla="*/ 1030941 h 1039906"/>
              <a:gd name="connsiteX58" fmla="*/ 1721300 w 2447441"/>
              <a:gd name="connsiteY58" fmla="*/ 1021977 h 1039906"/>
              <a:gd name="connsiteX59" fmla="*/ 1828877 w 2447441"/>
              <a:gd name="connsiteY59" fmla="*/ 1004047 h 1039906"/>
              <a:gd name="connsiteX60" fmla="*/ 2008171 w 2447441"/>
              <a:gd name="connsiteY60" fmla="*/ 995082 h 1039906"/>
              <a:gd name="connsiteX61" fmla="*/ 2070924 w 2447441"/>
              <a:gd name="connsiteY61" fmla="*/ 986118 h 1039906"/>
              <a:gd name="connsiteX62" fmla="*/ 2115747 w 2447441"/>
              <a:gd name="connsiteY62" fmla="*/ 977153 h 1039906"/>
              <a:gd name="connsiteX63" fmla="*/ 2277112 w 2447441"/>
              <a:gd name="connsiteY63"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295912 w 2447441"/>
              <a:gd name="connsiteY41" fmla="*/ 806824 h 1039906"/>
              <a:gd name="connsiteX42" fmla="*/ 322806 w 2447441"/>
              <a:gd name="connsiteY42" fmla="*/ 815788 h 1039906"/>
              <a:gd name="connsiteX43" fmla="*/ 367630 w 2447441"/>
              <a:gd name="connsiteY43" fmla="*/ 833718 h 1039906"/>
              <a:gd name="connsiteX44" fmla="*/ 439347 w 2447441"/>
              <a:gd name="connsiteY44" fmla="*/ 860612 h 1039906"/>
              <a:gd name="connsiteX45" fmla="*/ 466241 w 2447441"/>
              <a:gd name="connsiteY45" fmla="*/ 878541 h 1039906"/>
              <a:gd name="connsiteX46" fmla="*/ 502100 w 2447441"/>
              <a:gd name="connsiteY46" fmla="*/ 887506 h 1039906"/>
              <a:gd name="connsiteX47" fmla="*/ 528994 w 2447441"/>
              <a:gd name="connsiteY47" fmla="*/ 896471 h 1039906"/>
              <a:gd name="connsiteX48" fmla="*/ 618641 w 2447441"/>
              <a:gd name="connsiteY48" fmla="*/ 914400 h 1039906"/>
              <a:gd name="connsiteX49" fmla="*/ 690359 w 2447441"/>
              <a:gd name="connsiteY49" fmla="*/ 941294 h 1039906"/>
              <a:gd name="connsiteX50" fmla="*/ 726218 w 2447441"/>
              <a:gd name="connsiteY50" fmla="*/ 959224 h 1039906"/>
              <a:gd name="connsiteX51" fmla="*/ 815865 w 2447441"/>
              <a:gd name="connsiteY51" fmla="*/ 986118 h 1039906"/>
              <a:gd name="connsiteX52" fmla="*/ 842759 w 2447441"/>
              <a:gd name="connsiteY52" fmla="*/ 995082 h 1039906"/>
              <a:gd name="connsiteX53" fmla="*/ 941371 w 2447441"/>
              <a:gd name="connsiteY53" fmla="*/ 1013012 h 1039906"/>
              <a:gd name="connsiteX54" fmla="*/ 986194 w 2447441"/>
              <a:gd name="connsiteY54" fmla="*/ 1021977 h 1039906"/>
              <a:gd name="connsiteX55" fmla="*/ 1237206 w 2447441"/>
              <a:gd name="connsiteY55" fmla="*/ 1039906 h 1039906"/>
              <a:gd name="connsiteX56" fmla="*/ 1667512 w 2447441"/>
              <a:gd name="connsiteY56" fmla="*/ 1030941 h 1039906"/>
              <a:gd name="connsiteX57" fmla="*/ 1721300 w 2447441"/>
              <a:gd name="connsiteY57" fmla="*/ 1021977 h 1039906"/>
              <a:gd name="connsiteX58" fmla="*/ 1828877 w 2447441"/>
              <a:gd name="connsiteY58" fmla="*/ 1004047 h 1039906"/>
              <a:gd name="connsiteX59" fmla="*/ 2008171 w 2447441"/>
              <a:gd name="connsiteY59" fmla="*/ 995082 h 1039906"/>
              <a:gd name="connsiteX60" fmla="*/ 2070924 w 2447441"/>
              <a:gd name="connsiteY60" fmla="*/ 986118 h 1039906"/>
              <a:gd name="connsiteX61" fmla="*/ 2115747 w 2447441"/>
              <a:gd name="connsiteY61" fmla="*/ 977153 h 1039906"/>
              <a:gd name="connsiteX62" fmla="*/ 2277112 w 2447441"/>
              <a:gd name="connsiteY62"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295912 w 2447441"/>
              <a:gd name="connsiteY41" fmla="*/ 806824 h 1039906"/>
              <a:gd name="connsiteX42" fmla="*/ 367630 w 2447441"/>
              <a:gd name="connsiteY42" fmla="*/ 833718 h 1039906"/>
              <a:gd name="connsiteX43" fmla="*/ 439347 w 2447441"/>
              <a:gd name="connsiteY43" fmla="*/ 860612 h 1039906"/>
              <a:gd name="connsiteX44" fmla="*/ 466241 w 2447441"/>
              <a:gd name="connsiteY44" fmla="*/ 878541 h 1039906"/>
              <a:gd name="connsiteX45" fmla="*/ 502100 w 2447441"/>
              <a:gd name="connsiteY45" fmla="*/ 887506 h 1039906"/>
              <a:gd name="connsiteX46" fmla="*/ 528994 w 2447441"/>
              <a:gd name="connsiteY46" fmla="*/ 896471 h 1039906"/>
              <a:gd name="connsiteX47" fmla="*/ 618641 w 2447441"/>
              <a:gd name="connsiteY47" fmla="*/ 914400 h 1039906"/>
              <a:gd name="connsiteX48" fmla="*/ 690359 w 2447441"/>
              <a:gd name="connsiteY48" fmla="*/ 941294 h 1039906"/>
              <a:gd name="connsiteX49" fmla="*/ 726218 w 2447441"/>
              <a:gd name="connsiteY49" fmla="*/ 959224 h 1039906"/>
              <a:gd name="connsiteX50" fmla="*/ 815865 w 2447441"/>
              <a:gd name="connsiteY50" fmla="*/ 986118 h 1039906"/>
              <a:gd name="connsiteX51" fmla="*/ 842759 w 2447441"/>
              <a:gd name="connsiteY51" fmla="*/ 995082 h 1039906"/>
              <a:gd name="connsiteX52" fmla="*/ 941371 w 2447441"/>
              <a:gd name="connsiteY52" fmla="*/ 1013012 h 1039906"/>
              <a:gd name="connsiteX53" fmla="*/ 986194 w 2447441"/>
              <a:gd name="connsiteY53" fmla="*/ 1021977 h 1039906"/>
              <a:gd name="connsiteX54" fmla="*/ 1237206 w 2447441"/>
              <a:gd name="connsiteY54" fmla="*/ 1039906 h 1039906"/>
              <a:gd name="connsiteX55" fmla="*/ 1667512 w 2447441"/>
              <a:gd name="connsiteY55" fmla="*/ 1030941 h 1039906"/>
              <a:gd name="connsiteX56" fmla="*/ 1721300 w 2447441"/>
              <a:gd name="connsiteY56" fmla="*/ 1021977 h 1039906"/>
              <a:gd name="connsiteX57" fmla="*/ 1828877 w 2447441"/>
              <a:gd name="connsiteY57" fmla="*/ 1004047 h 1039906"/>
              <a:gd name="connsiteX58" fmla="*/ 2008171 w 2447441"/>
              <a:gd name="connsiteY58" fmla="*/ 995082 h 1039906"/>
              <a:gd name="connsiteX59" fmla="*/ 2070924 w 2447441"/>
              <a:gd name="connsiteY59" fmla="*/ 986118 h 1039906"/>
              <a:gd name="connsiteX60" fmla="*/ 2115747 w 2447441"/>
              <a:gd name="connsiteY60" fmla="*/ 977153 h 1039906"/>
              <a:gd name="connsiteX61" fmla="*/ 2277112 w 2447441"/>
              <a:gd name="connsiteY61"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367630 w 2447441"/>
              <a:gd name="connsiteY41" fmla="*/ 833718 h 1039906"/>
              <a:gd name="connsiteX42" fmla="*/ 439347 w 2447441"/>
              <a:gd name="connsiteY42" fmla="*/ 860612 h 1039906"/>
              <a:gd name="connsiteX43" fmla="*/ 466241 w 2447441"/>
              <a:gd name="connsiteY43" fmla="*/ 878541 h 1039906"/>
              <a:gd name="connsiteX44" fmla="*/ 502100 w 2447441"/>
              <a:gd name="connsiteY44" fmla="*/ 887506 h 1039906"/>
              <a:gd name="connsiteX45" fmla="*/ 528994 w 2447441"/>
              <a:gd name="connsiteY45" fmla="*/ 896471 h 1039906"/>
              <a:gd name="connsiteX46" fmla="*/ 618641 w 2447441"/>
              <a:gd name="connsiteY46" fmla="*/ 914400 h 1039906"/>
              <a:gd name="connsiteX47" fmla="*/ 690359 w 2447441"/>
              <a:gd name="connsiteY47" fmla="*/ 941294 h 1039906"/>
              <a:gd name="connsiteX48" fmla="*/ 726218 w 2447441"/>
              <a:gd name="connsiteY48" fmla="*/ 959224 h 1039906"/>
              <a:gd name="connsiteX49" fmla="*/ 815865 w 2447441"/>
              <a:gd name="connsiteY49" fmla="*/ 986118 h 1039906"/>
              <a:gd name="connsiteX50" fmla="*/ 842759 w 2447441"/>
              <a:gd name="connsiteY50" fmla="*/ 995082 h 1039906"/>
              <a:gd name="connsiteX51" fmla="*/ 941371 w 2447441"/>
              <a:gd name="connsiteY51" fmla="*/ 1013012 h 1039906"/>
              <a:gd name="connsiteX52" fmla="*/ 986194 w 2447441"/>
              <a:gd name="connsiteY52" fmla="*/ 1021977 h 1039906"/>
              <a:gd name="connsiteX53" fmla="*/ 1237206 w 2447441"/>
              <a:gd name="connsiteY53" fmla="*/ 1039906 h 1039906"/>
              <a:gd name="connsiteX54" fmla="*/ 1667512 w 2447441"/>
              <a:gd name="connsiteY54" fmla="*/ 1030941 h 1039906"/>
              <a:gd name="connsiteX55" fmla="*/ 1721300 w 2447441"/>
              <a:gd name="connsiteY55" fmla="*/ 1021977 h 1039906"/>
              <a:gd name="connsiteX56" fmla="*/ 1828877 w 2447441"/>
              <a:gd name="connsiteY56" fmla="*/ 1004047 h 1039906"/>
              <a:gd name="connsiteX57" fmla="*/ 2008171 w 2447441"/>
              <a:gd name="connsiteY57" fmla="*/ 995082 h 1039906"/>
              <a:gd name="connsiteX58" fmla="*/ 2070924 w 2447441"/>
              <a:gd name="connsiteY58" fmla="*/ 986118 h 1039906"/>
              <a:gd name="connsiteX59" fmla="*/ 2115747 w 2447441"/>
              <a:gd name="connsiteY59" fmla="*/ 977153 h 1039906"/>
              <a:gd name="connsiteX60" fmla="*/ 2277112 w 2447441"/>
              <a:gd name="connsiteY60"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439347 w 2447441"/>
              <a:gd name="connsiteY41" fmla="*/ 860612 h 1039906"/>
              <a:gd name="connsiteX42" fmla="*/ 466241 w 2447441"/>
              <a:gd name="connsiteY42" fmla="*/ 878541 h 1039906"/>
              <a:gd name="connsiteX43" fmla="*/ 502100 w 2447441"/>
              <a:gd name="connsiteY43" fmla="*/ 887506 h 1039906"/>
              <a:gd name="connsiteX44" fmla="*/ 528994 w 2447441"/>
              <a:gd name="connsiteY44" fmla="*/ 896471 h 1039906"/>
              <a:gd name="connsiteX45" fmla="*/ 618641 w 2447441"/>
              <a:gd name="connsiteY45" fmla="*/ 914400 h 1039906"/>
              <a:gd name="connsiteX46" fmla="*/ 690359 w 2447441"/>
              <a:gd name="connsiteY46" fmla="*/ 941294 h 1039906"/>
              <a:gd name="connsiteX47" fmla="*/ 726218 w 2447441"/>
              <a:gd name="connsiteY47" fmla="*/ 959224 h 1039906"/>
              <a:gd name="connsiteX48" fmla="*/ 815865 w 2447441"/>
              <a:gd name="connsiteY48" fmla="*/ 986118 h 1039906"/>
              <a:gd name="connsiteX49" fmla="*/ 842759 w 2447441"/>
              <a:gd name="connsiteY49" fmla="*/ 995082 h 1039906"/>
              <a:gd name="connsiteX50" fmla="*/ 941371 w 2447441"/>
              <a:gd name="connsiteY50" fmla="*/ 1013012 h 1039906"/>
              <a:gd name="connsiteX51" fmla="*/ 986194 w 2447441"/>
              <a:gd name="connsiteY51" fmla="*/ 1021977 h 1039906"/>
              <a:gd name="connsiteX52" fmla="*/ 1237206 w 2447441"/>
              <a:gd name="connsiteY52" fmla="*/ 1039906 h 1039906"/>
              <a:gd name="connsiteX53" fmla="*/ 1667512 w 2447441"/>
              <a:gd name="connsiteY53" fmla="*/ 1030941 h 1039906"/>
              <a:gd name="connsiteX54" fmla="*/ 1721300 w 2447441"/>
              <a:gd name="connsiteY54" fmla="*/ 1021977 h 1039906"/>
              <a:gd name="connsiteX55" fmla="*/ 1828877 w 2447441"/>
              <a:gd name="connsiteY55" fmla="*/ 1004047 h 1039906"/>
              <a:gd name="connsiteX56" fmla="*/ 2008171 w 2447441"/>
              <a:gd name="connsiteY56" fmla="*/ 995082 h 1039906"/>
              <a:gd name="connsiteX57" fmla="*/ 2070924 w 2447441"/>
              <a:gd name="connsiteY57" fmla="*/ 986118 h 1039906"/>
              <a:gd name="connsiteX58" fmla="*/ 2115747 w 2447441"/>
              <a:gd name="connsiteY58" fmla="*/ 977153 h 1039906"/>
              <a:gd name="connsiteX59" fmla="*/ 2277112 w 2447441"/>
              <a:gd name="connsiteY59"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439347 w 2447441"/>
              <a:gd name="connsiteY41" fmla="*/ 860612 h 1039906"/>
              <a:gd name="connsiteX42" fmla="*/ 502100 w 2447441"/>
              <a:gd name="connsiteY42" fmla="*/ 887506 h 1039906"/>
              <a:gd name="connsiteX43" fmla="*/ 528994 w 2447441"/>
              <a:gd name="connsiteY43" fmla="*/ 896471 h 1039906"/>
              <a:gd name="connsiteX44" fmla="*/ 618641 w 2447441"/>
              <a:gd name="connsiteY44" fmla="*/ 914400 h 1039906"/>
              <a:gd name="connsiteX45" fmla="*/ 690359 w 2447441"/>
              <a:gd name="connsiteY45" fmla="*/ 941294 h 1039906"/>
              <a:gd name="connsiteX46" fmla="*/ 726218 w 2447441"/>
              <a:gd name="connsiteY46" fmla="*/ 959224 h 1039906"/>
              <a:gd name="connsiteX47" fmla="*/ 815865 w 2447441"/>
              <a:gd name="connsiteY47" fmla="*/ 986118 h 1039906"/>
              <a:gd name="connsiteX48" fmla="*/ 842759 w 2447441"/>
              <a:gd name="connsiteY48" fmla="*/ 995082 h 1039906"/>
              <a:gd name="connsiteX49" fmla="*/ 941371 w 2447441"/>
              <a:gd name="connsiteY49" fmla="*/ 1013012 h 1039906"/>
              <a:gd name="connsiteX50" fmla="*/ 986194 w 2447441"/>
              <a:gd name="connsiteY50" fmla="*/ 1021977 h 1039906"/>
              <a:gd name="connsiteX51" fmla="*/ 1237206 w 2447441"/>
              <a:gd name="connsiteY51" fmla="*/ 1039906 h 1039906"/>
              <a:gd name="connsiteX52" fmla="*/ 1667512 w 2447441"/>
              <a:gd name="connsiteY52" fmla="*/ 1030941 h 1039906"/>
              <a:gd name="connsiteX53" fmla="*/ 1721300 w 2447441"/>
              <a:gd name="connsiteY53" fmla="*/ 1021977 h 1039906"/>
              <a:gd name="connsiteX54" fmla="*/ 1828877 w 2447441"/>
              <a:gd name="connsiteY54" fmla="*/ 1004047 h 1039906"/>
              <a:gd name="connsiteX55" fmla="*/ 2008171 w 2447441"/>
              <a:gd name="connsiteY55" fmla="*/ 995082 h 1039906"/>
              <a:gd name="connsiteX56" fmla="*/ 2070924 w 2447441"/>
              <a:gd name="connsiteY56" fmla="*/ 986118 h 1039906"/>
              <a:gd name="connsiteX57" fmla="*/ 2115747 w 2447441"/>
              <a:gd name="connsiteY57" fmla="*/ 977153 h 1039906"/>
              <a:gd name="connsiteX58" fmla="*/ 2277112 w 2447441"/>
              <a:gd name="connsiteY58"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502100 w 2447441"/>
              <a:gd name="connsiteY41" fmla="*/ 887506 h 1039906"/>
              <a:gd name="connsiteX42" fmla="*/ 528994 w 2447441"/>
              <a:gd name="connsiteY42" fmla="*/ 896471 h 1039906"/>
              <a:gd name="connsiteX43" fmla="*/ 618641 w 2447441"/>
              <a:gd name="connsiteY43" fmla="*/ 914400 h 1039906"/>
              <a:gd name="connsiteX44" fmla="*/ 690359 w 2447441"/>
              <a:gd name="connsiteY44" fmla="*/ 941294 h 1039906"/>
              <a:gd name="connsiteX45" fmla="*/ 726218 w 2447441"/>
              <a:gd name="connsiteY45" fmla="*/ 959224 h 1039906"/>
              <a:gd name="connsiteX46" fmla="*/ 815865 w 2447441"/>
              <a:gd name="connsiteY46" fmla="*/ 986118 h 1039906"/>
              <a:gd name="connsiteX47" fmla="*/ 842759 w 2447441"/>
              <a:gd name="connsiteY47" fmla="*/ 995082 h 1039906"/>
              <a:gd name="connsiteX48" fmla="*/ 941371 w 2447441"/>
              <a:gd name="connsiteY48" fmla="*/ 1013012 h 1039906"/>
              <a:gd name="connsiteX49" fmla="*/ 986194 w 2447441"/>
              <a:gd name="connsiteY49" fmla="*/ 1021977 h 1039906"/>
              <a:gd name="connsiteX50" fmla="*/ 1237206 w 2447441"/>
              <a:gd name="connsiteY50" fmla="*/ 1039906 h 1039906"/>
              <a:gd name="connsiteX51" fmla="*/ 1667512 w 2447441"/>
              <a:gd name="connsiteY51" fmla="*/ 1030941 h 1039906"/>
              <a:gd name="connsiteX52" fmla="*/ 1721300 w 2447441"/>
              <a:gd name="connsiteY52" fmla="*/ 1021977 h 1039906"/>
              <a:gd name="connsiteX53" fmla="*/ 1828877 w 2447441"/>
              <a:gd name="connsiteY53" fmla="*/ 1004047 h 1039906"/>
              <a:gd name="connsiteX54" fmla="*/ 2008171 w 2447441"/>
              <a:gd name="connsiteY54" fmla="*/ 995082 h 1039906"/>
              <a:gd name="connsiteX55" fmla="*/ 2070924 w 2447441"/>
              <a:gd name="connsiteY55" fmla="*/ 986118 h 1039906"/>
              <a:gd name="connsiteX56" fmla="*/ 2115747 w 2447441"/>
              <a:gd name="connsiteY56" fmla="*/ 977153 h 1039906"/>
              <a:gd name="connsiteX57" fmla="*/ 2277112 w 2447441"/>
              <a:gd name="connsiteY57"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528994 w 2447441"/>
              <a:gd name="connsiteY41" fmla="*/ 896471 h 1039906"/>
              <a:gd name="connsiteX42" fmla="*/ 618641 w 2447441"/>
              <a:gd name="connsiteY42" fmla="*/ 914400 h 1039906"/>
              <a:gd name="connsiteX43" fmla="*/ 690359 w 2447441"/>
              <a:gd name="connsiteY43" fmla="*/ 941294 h 1039906"/>
              <a:gd name="connsiteX44" fmla="*/ 726218 w 2447441"/>
              <a:gd name="connsiteY44" fmla="*/ 959224 h 1039906"/>
              <a:gd name="connsiteX45" fmla="*/ 815865 w 2447441"/>
              <a:gd name="connsiteY45" fmla="*/ 986118 h 1039906"/>
              <a:gd name="connsiteX46" fmla="*/ 842759 w 2447441"/>
              <a:gd name="connsiteY46" fmla="*/ 995082 h 1039906"/>
              <a:gd name="connsiteX47" fmla="*/ 941371 w 2447441"/>
              <a:gd name="connsiteY47" fmla="*/ 1013012 h 1039906"/>
              <a:gd name="connsiteX48" fmla="*/ 986194 w 2447441"/>
              <a:gd name="connsiteY48" fmla="*/ 1021977 h 1039906"/>
              <a:gd name="connsiteX49" fmla="*/ 1237206 w 2447441"/>
              <a:gd name="connsiteY49" fmla="*/ 1039906 h 1039906"/>
              <a:gd name="connsiteX50" fmla="*/ 1667512 w 2447441"/>
              <a:gd name="connsiteY50" fmla="*/ 1030941 h 1039906"/>
              <a:gd name="connsiteX51" fmla="*/ 1721300 w 2447441"/>
              <a:gd name="connsiteY51" fmla="*/ 1021977 h 1039906"/>
              <a:gd name="connsiteX52" fmla="*/ 1828877 w 2447441"/>
              <a:gd name="connsiteY52" fmla="*/ 1004047 h 1039906"/>
              <a:gd name="connsiteX53" fmla="*/ 2008171 w 2447441"/>
              <a:gd name="connsiteY53" fmla="*/ 995082 h 1039906"/>
              <a:gd name="connsiteX54" fmla="*/ 2070924 w 2447441"/>
              <a:gd name="connsiteY54" fmla="*/ 986118 h 1039906"/>
              <a:gd name="connsiteX55" fmla="*/ 2115747 w 2447441"/>
              <a:gd name="connsiteY55" fmla="*/ 977153 h 1039906"/>
              <a:gd name="connsiteX56" fmla="*/ 2277112 w 2447441"/>
              <a:gd name="connsiteY56" fmla="*/ 968188 h 1039906"/>
              <a:gd name="connsiteX0" fmla="*/ 2447441 w 2447441"/>
              <a:gd name="connsiteY0" fmla="*/ 430306 h 1039906"/>
              <a:gd name="connsiteX1" fmla="*/ 2375724 w 2447441"/>
              <a:gd name="connsiteY1" fmla="*/ 403412 h 1039906"/>
              <a:gd name="connsiteX2" fmla="*/ 2304006 w 2447441"/>
              <a:gd name="connsiteY2" fmla="*/ 394447 h 1039906"/>
              <a:gd name="connsiteX3" fmla="*/ 2241253 w 2447441"/>
              <a:gd name="connsiteY3" fmla="*/ 385482 h 1039906"/>
              <a:gd name="connsiteX4" fmla="*/ 2106783 w 2447441"/>
              <a:gd name="connsiteY4" fmla="*/ 340659 h 1039906"/>
              <a:gd name="connsiteX5" fmla="*/ 1981277 w 2447441"/>
              <a:gd name="connsiteY5" fmla="*/ 304800 h 1039906"/>
              <a:gd name="connsiteX6" fmla="*/ 1882665 w 2447441"/>
              <a:gd name="connsiteY6" fmla="*/ 259977 h 1039906"/>
              <a:gd name="connsiteX7" fmla="*/ 1837841 w 2447441"/>
              <a:gd name="connsiteY7" fmla="*/ 233082 h 1039906"/>
              <a:gd name="connsiteX8" fmla="*/ 1810947 w 2447441"/>
              <a:gd name="connsiteY8" fmla="*/ 215153 h 1039906"/>
              <a:gd name="connsiteX9" fmla="*/ 1739230 w 2447441"/>
              <a:gd name="connsiteY9" fmla="*/ 197224 h 1039906"/>
              <a:gd name="connsiteX10" fmla="*/ 1685441 w 2447441"/>
              <a:gd name="connsiteY10" fmla="*/ 179294 h 1039906"/>
              <a:gd name="connsiteX11" fmla="*/ 1586830 w 2447441"/>
              <a:gd name="connsiteY11" fmla="*/ 161365 h 1039906"/>
              <a:gd name="connsiteX12" fmla="*/ 1506147 w 2447441"/>
              <a:gd name="connsiteY12" fmla="*/ 143435 h 1039906"/>
              <a:gd name="connsiteX13" fmla="*/ 1479253 w 2447441"/>
              <a:gd name="connsiteY13" fmla="*/ 134471 h 1039906"/>
              <a:gd name="connsiteX14" fmla="*/ 1407535 w 2447441"/>
              <a:gd name="connsiteY14" fmla="*/ 116541 h 1039906"/>
              <a:gd name="connsiteX15" fmla="*/ 1380641 w 2447441"/>
              <a:gd name="connsiteY15" fmla="*/ 98612 h 1039906"/>
              <a:gd name="connsiteX16" fmla="*/ 1353747 w 2447441"/>
              <a:gd name="connsiteY16" fmla="*/ 89647 h 1039906"/>
              <a:gd name="connsiteX17" fmla="*/ 1326853 w 2447441"/>
              <a:gd name="connsiteY17" fmla="*/ 71718 h 1039906"/>
              <a:gd name="connsiteX18" fmla="*/ 1273065 w 2447441"/>
              <a:gd name="connsiteY18" fmla="*/ 53788 h 1039906"/>
              <a:gd name="connsiteX19" fmla="*/ 1246171 w 2447441"/>
              <a:gd name="connsiteY19" fmla="*/ 35859 h 1039906"/>
              <a:gd name="connsiteX20" fmla="*/ 1192383 w 2447441"/>
              <a:gd name="connsiteY20" fmla="*/ 17929 h 1039906"/>
              <a:gd name="connsiteX21" fmla="*/ 1120665 w 2447441"/>
              <a:gd name="connsiteY21" fmla="*/ 0 h 1039906"/>
              <a:gd name="connsiteX22" fmla="*/ 833794 w 2447441"/>
              <a:gd name="connsiteY22" fmla="*/ 17929 h 1039906"/>
              <a:gd name="connsiteX23" fmla="*/ 797935 w 2447441"/>
              <a:gd name="connsiteY23" fmla="*/ 26894 h 1039906"/>
              <a:gd name="connsiteX24" fmla="*/ 609677 w 2447441"/>
              <a:gd name="connsiteY24" fmla="*/ 44824 h 1039906"/>
              <a:gd name="connsiteX25" fmla="*/ 502100 w 2447441"/>
              <a:gd name="connsiteY25" fmla="*/ 62753 h 1039906"/>
              <a:gd name="connsiteX26" fmla="*/ 394524 w 2447441"/>
              <a:gd name="connsiteY26" fmla="*/ 80682 h 1039906"/>
              <a:gd name="connsiteX27" fmla="*/ 277983 w 2447441"/>
              <a:gd name="connsiteY27" fmla="*/ 107577 h 1039906"/>
              <a:gd name="connsiteX28" fmla="*/ 233159 w 2447441"/>
              <a:gd name="connsiteY28" fmla="*/ 116541 h 1039906"/>
              <a:gd name="connsiteX29" fmla="*/ 152477 w 2447441"/>
              <a:gd name="connsiteY29" fmla="*/ 152400 h 1039906"/>
              <a:gd name="connsiteX30" fmla="*/ 125583 w 2447441"/>
              <a:gd name="connsiteY30" fmla="*/ 161365 h 1039906"/>
              <a:gd name="connsiteX31" fmla="*/ 80759 w 2447441"/>
              <a:gd name="connsiteY31" fmla="*/ 197224 h 1039906"/>
              <a:gd name="connsiteX32" fmla="*/ 9041 w 2447441"/>
              <a:gd name="connsiteY32" fmla="*/ 251012 h 1039906"/>
              <a:gd name="connsiteX33" fmla="*/ 77 w 2447441"/>
              <a:gd name="connsiteY33" fmla="*/ 286871 h 1039906"/>
              <a:gd name="connsiteX34" fmla="*/ 18006 w 2447441"/>
              <a:gd name="connsiteY34" fmla="*/ 376518 h 1039906"/>
              <a:gd name="connsiteX35" fmla="*/ 35935 w 2447441"/>
              <a:gd name="connsiteY35" fmla="*/ 448235 h 1039906"/>
              <a:gd name="connsiteX36" fmla="*/ 44900 w 2447441"/>
              <a:gd name="connsiteY36" fmla="*/ 484094 h 1039906"/>
              <a:gd name="connsiteX37" fmla="*/ 170219 w 2447441"/>
              <a:gd name="connsiteY37" fmla="*/ 478678 h 1039906"/>
              <a:gd name="connsiteX38" fmla="*/ 308799 w 2447441"/>
              <a:gd name="connsiteY38" fmla="*/ 511362 h 1039906"/>
              <a:gd name="connsiteX39" fmla="*/ 321312 w 2447441"/>
              <a:gd name="connsiteY39" fmla="*/ 646579 h 1039906"/>
              <a:gd name="connsiteX40" fmla="*/ 520216 w 2447441"/>
              <a:gd name="connsiteY40" fmla="*/ 745938 h 1039906"/>
              <a:gd name="connsiteX41" fmla="*/ 618641 w 2447441"/>
              <a:gd name="connsiteY41" fmla="*/ 914400 h 1039906"/>
              <a:gd name="connsiteX42" fmla="*/ 690359 w 2447441"/>
              <a:gd name="connsiteY42" fmla="*/ 941294 h 1039906"/>
              <a:gd name="connsiteX43" fmla="*/ 726218 w 2447441"/>
              <a:gd name="connsiteY43" fmla="*/ 959224 h 1039906"/>
              <a:gd name="connsiteX44" fmla="*/ 815865 w 2447441"/>
              <a:gd name="connsiteY44" fmla="*/ 986118 h 1039906"/>
              <a:gd name="connsiteX45" fmla="*/ 842759 w 2447441"/>
              <a:gd name="connsiteY45" fmla="*/ 995082 h 1039906"/>
              <a:gd name="connsiteX46" fmla="*/ 941371 w 2447441"/>
              <a:gd name="connsiteY46" fmla="*/ 1013012 h 1039906"/>
              <a:gd name="connsiteX47" fmla="*/ 986194 w 2447441"/>
              <a:gd name="connsiteY47" fmla="*/ 1021977 h 1039906"/>
              <a:gd name="connsiteX48" fmla="*/ 1237206 w 2447441"/>
              <a:gd name="connsiteY48" fmla="*/ 1039906 h 1039906"/>
              <a:gd name="connsiteX49" fmla="*/ 1667512 w 2447441"/>
              <a:gd name="connsiteY49" fmla="*/ 1030941 h 1039906"/>
              <a:gd name="connsiteX50" fmla="*/ 1721300 w 2447441"/>
              <a:gd name="connsiteY50" fmla="*/ 1021977 h 1039906"/>
              <a:gd name="connsiteX51" fmla="*/ 1828877 w 2447441"/>
              <a:gd name="connsiteY51" fmla="*/ 1004047 h 1039906"/>
              <a:gd name="connsiteX52" fmla="*/ 2008171 w 2447441"/>
              <a:gd name="connsiteY52" fmla="*/ 995082 h 1039906"/>
              <a:gd name="connsiteX53" fmla="*/ 2070924 w 2447441"/>
              <a:gd name="connsiteY53" fmla="*/ 986118 h 1039906"/>
              <a:gd name="connsiteX54" fmla="*/ 2115747 w 2447441"/>
              <a:gd name="connsiteY54" fmla="*/ 977153 h 1039906"/>
              <a:gd name="connsiteX55" fmla="*/ 2277112 w 2447441"/>
              <a:gd name="connsiteY55" fmla="*/ 968188 h 103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447441" h="1039906">
                <a:moveTo>
                  <a:pt x="2447441" y="430306"/>
                </a:moveTo>
                <a:cubicBezTo>
                  <a:pt x="2423535" y="421341"/>
                  <a:pt x="2400493" y="409604"/>
                  <a:pt x="2375724" y="403412"/>
                </a:cubicBezTo>
                <a:cubicBezTo>
                  <a:pt x="2352351" y="397569"/>
                  <a:pt x="2327887" y="397631"/>
                  <a:pt x="2304006" y="394447"/>
                </a:cubicBezTo>
                <a:lnTo>
                  <a:pt x="2241253" y="385482"/>
                </a:lnTo>
                <a:cubicBezTo>
                  <a:pt x="2143216" y="343466"/>
                  <a:pt x="2214259" y="369971"/>
                  <a:pt x="2106783" y="340659"/>
                </a:cubicBezTo>
                <a:cubicBezTo>
                  <a:pt x="2064807" y="329211"/>
                  <a:pt x="2020193" y="324258"/>
                  <a:pt x="1981277" y="304800"/>
                </a:cubicBezTo>
                <a:cubicBezTo>
                  <a:pt x="1901107" y="264715"/>
                  <a:pt x="1934915" y="277392"/>
                  <a:pt x="1882665" y="259977"/>
                </a:cubicBezTo>
                <a:cubicBezTo>
                  <a:pt x="1847645" y="224957"/>
                  <a:pt x="1884390" y="256357"/>
                  <a:pt x="1837841" y="233082"/>
                </a:cubicBezTo>
                <a:cubicBezTo>
                  <a:pt x="1828204" y="228264"/>
                  <a:pt x="1821072" y="218835"/>
                  <a:pt x="1810947" y="215153"/>
                </a:cubicBezTo>
                <a:cubicBezTo>
                  <a:pt x="1787789" y="206732"/>
                  <a:pt x="1762607" y="205016"/>
                  <a:pt x="1739230" y="197224"/>
                </a:cubicBezTo>
                <a:cubicBezTo>
                  <a:pt x="1721300" y="191247"/>
                  <a:pt x="1703974" y="183001"/>
                  <a:pt x="1685441" y="179294"/>
                </a:cubicBezTo>
                <a:cubicBezTo>
                  <a:pt x="1622794" y="166764"/>
                  <a:pt x="1655648" y="172834"/>
                  <a:pt x="1586830" y="161365"/>
                </a:cubicBezTo>
                <a:cubicBezTo>
                  <a:pt x="1526290" y="141185"/>
                  <a:pt x="1600804" y="164469"/>
                  <a:pt x="1506147" y="143435"/>
                </a:cubicBezTo>
                <a:cubicBezTo>
                  <a:pt x="1496922" y="141385"/>
                  <a:pt x="1488420" y="136763"/>
                  <a:pt x="1479253" y="134471"/>
                </a:cubicBezTo>
                <a:cubicBezTo>
                  <a:pt x="1458795" y="129356"/>
                  <a:pt x="1428027" y="126787"/>
                  <a:pt x="1407535" y="116541"/>
                </a:cubicBezTo>
                <a:cubicBezTo>
                  <a:pt x="1397898" y="111723"/>
                  <a:pt x="1390278" y="103430"/>
                  <a:pt x="1380641" y="98612"/>
                </a:cubicBezTo>
                <a:cubicBezTo>
                  <a:pt x="1372189" y="94386"/>
                  <a:pt x="1362199" y="93873"/>
                  <a:pt x="1353747" y="89647"/>
                </a:cubicBezTo>
                <a:cubicBezTo>
                  <a:pt x="1344110" y="84829"/>
                  <a:pt x="1336699" y="76094"/>
                  <a:pt x="1326853" y="71718"/>
                </a:cubicBezTo>
                <a:cubicBezTo>
                  <a:pt x="1309583" y="64042"/>
                  <a:pt x="1288790" y="64271"/>
                  <a:pt x="1273065" y="53788"/>
                </a:cubicBezTo>
                <a:cubicBezTo>
                  <a:pt x="1264100" y="47812"/>
                  <a:pt x="1256017" y="40235"/>
                  <a:pt x="1246171" y="35859"/>
                </a:cubicBezTo>
                <a:cubicBezTo>
                  <a:pt x="1228901" y="28183"/>
                  <a:pt x="1210312" y="23905"/>
                  <a:pt x="1192383" y="17929"/>
                </a:cubicBezTo>
                <a:cubicBezTo>
                  <a:pt x="1151043" y="4149"/>
                  <a:pt x="1174738" y="10815"/>
                  <a:pt x="1120665" y="0"/>
                </a:cubicBezTo>
                <a:cubicBezTo>
                  <a:pt x="1051304" y="3303"/>
                  <a:pt x="915185" y="7077"/>
                  <a:pt x="833794" y="17929"/>
                </a:cubicBezTo>
                <a:cubicBezTo>
                  <a:pt x="821581" y="19557"/>
                  <a:pt x="810168" y="25426"/>
                  <a:pt x="797935" y="26894"/>
                </a:cubicBezTo>
                <a:cubicBezTo>
                  <a:pt x="735347" y="34405"/>
                  <a:pt x="609677" y="44824"/>
                  <a:pt x="609677" y="44824"/>
                </a:cubicBezTo>
                <a:cubicBezTo>
                  <a:pt x="551869" y="64092"/>
                  <a:pt x="607187" y="47741"/>
                  <a:pt x="502100" y="62753"/>
                </a:cubicBezTo>
                <a:cubicBezTo>
                  <a:pt x="466112" y="67894"/>
                  <a:pt x="394524" y="80682"/>
                  <a:pt x="394524" y="80682"/>
                </a:cubicBezTo>
                <a:cubicBezTo>
                  <a:pt x="338722" y="99283"/>
                  <a:pt x="376890" y="87796"/>
                  <a:pt x="277983" y="107577"/>
                </a:cubicBezTo>
                <a:cubicBezTo>
                  <a:pt x="263042" y="110565"/>
                  <a:pt x="247614" y="111722"/>
                  <a:pt x="233159" y="116541"/>
                </a:cubicBezTo>
                <a:cubicBezTo>
                  <a:pt x="94390" y="162799"/>
                  <a:pt x="237715" y="109781"/>
                  <a:pt x="152477" y="152400"/>
                </a:cubicBezTo>
                <a:cubicBezTo>
                  <a:pt x="144025" y="156626"/>
                  <a:pt x="134035" y="157139"/>
                  <a:pt x="125583" y="161365"/>
                </a:cubicBezTo>
                <a:cubicBezTo>
                  <a:pt x="81697" y="183308"/>
                  <a:pt x="114119" y="172204"/>
                  <a:pt x="80759" y="197224"/>
                </a:cubicBezTo>
                <a:cubicBezTo>
                  <a:pt x="-339" y="258048"/>
                  <a:pt x="50162" y="209891"/>
                  <a:pt x="9041" y="251012"/>
                </a:cubicBezTo>
                <a:cubicBezTo>
                  <a:pt x="6053" y="262965"/>
                  <a:pt x="-801" y="274582"/>
                  <a:pt x="77" y="286871"/>
                </a:cubicBezTo>
                <a:cubicBezTo>
                  <a:pt x="2248" y="317268"/>
                  <a:pt x="12030" y="346636"/>
                  <a:pt x="18006" y="376518"/>
                </a:cubicBezTo>
                <a:cubicBezTo>
                  <a:pt x="36229" y="467631"/>
                  <a:pt x="17561" y="383924"/>
                  <a:pt x="35935" y="448235"/>
                </a:cubicBezTo>
                <a:cubicBezTo>
                  <a:pt x="39320" y="460082"/>
                  <a:pt x="22519" y="479020"/>
                  <a:pt x="44900" y="484094"/>
                </a:cubicBezTo>
                <a:cubicBezTo>
                  <a:pt x="67281" y="489168"/>
                  <a:pt x="126236" y="474133"/>
                  <a:pt x="170219" y="478678"/>
                </a:cubicBezTo>
                <a:cubicBezTo>
                  <a:pt x="214202" y="483223"/>
                  <a:pt x="283617" y="483379"/>
                  <a:pt x="308799" y="511362"/>
                </a:cubicBezTo>
                <a:cubicBezTo>
                  <a:pt x="333981" y="539345"/>
                  <a:pt x="286076" y="607483"/>
                  <a:pt x="321312" y="646579"/>
                </a:cubicBezTo>
                <a:cubicBezTo>
                  <a:pt x="356548" y="685675"/>
                  <a:pt x="470661" y="701301"/>
                  <a:pt x="520216" y="745938"/>
                </a:cubicBezTo>
                <a:cubicBezTo>
                  <a:pt x="569771" y="790575"/>
                  <a:pt x="590284" y="881841"/>
                  <a:pt x="618641" y="914400"/>
                </a:cubicBezTo>
                <a:cubicBezTo>
                  <a:pt x="646998" y="946959"/>
                  <a:pt x="592701" y="904671"/>
                  <a:pt x="690359" y="941294"/>
                </a:cubicBezTo>
                <a:cubicBezTo>
                  <a:pt x="702872" y="945987"/>
                  <a:pt x="713810" y="954261"/>
                  <a:pt x="726218" y="959224"/>
                </a:cubicBezTo>
                <a:cubicBezTo>
                  <a:pt x="779464" y="980522"/>
                  <a:pt x="769645" y="972913"/>
                  <a:pt x="815865" y="986118"/>
                </a:cubicBezTo>
                <a:cubicBezTo>
                  <a:pt x="824951" y="988714"/>
                  <a:pt x="833592" y="992790"/>
                  <a:pt x="842759" y="995082"/>
                </a:cubicBezTo>
                <a:cubicBezTo>
                  <a:pt x="872289" y="1002464"/>
                  <a:pt x="912059" y="1007682"/>
                  <a:pt x="941371" y="1013012"/>
                </a:cubicBezTo>
                <a:cubicBezTo>
                  <a:pt x="956362" y="1015738"/>
                  <a:pt x="971091" y="1019963"/>
                  <a:pt x="986194" y="1021977"/>
                </a:cubicBezTo>
                <a:cubicBezTo>
                  <a:pt x="1068039" y="1032889"/>
                  <a:pt x="1156009" y="1035395"/>
                  <a:pt x="1237206" y="1039906"/>
                </a:cubicBezTo>
                <a:lnTo>
                  <a:pt x="1667512" y="1030941"/>
                </a:lnTo>
                <a:cubicBezTo>
                  <a:pt x="1685676" y="1030268"/>
                  <a:pt x="1703417" y="1025228"/>
                  <a:pt x="1721300" y="1021977"/>
                </a:cubicBezTo>
                <a:cubicBezTo>
                  <a:pt x="1762074" y="1014564"/>
                  <a:pt x="1785389" y="1007268"/>
                  <a:pt x="1828877" y="1004047"/>
                </a:cubicBezTo>
                <a:cubicBezTo>
                  <a:pt x="1888553" y="999626"/>
                  <a:pt x="1948406" y="998070"/>
                  <a:pt x="2008171" y="995082"/>
                </a:cubicBezTo>
                <a:cubicBezTo>
                  <a:pt x="2029089" y="992094"/>
                  <a:pt x="2050081" y="989592"/>
                  <a:pt x="2070924" y="986118"/>
                </a:cubicBezTo>
                <a:cubicBezTo>
                  <a:pt x="2085954" y="983613"/>
                  <a:pt x="2100573" y="978533"/>
                  <a:pt x="2115747" y="977153"/>
                </a:cubicBezTo>
                <a:cubicBezTo>
                  <a:pt x="2216289" y="968013"/>
                  <a:pt x="2220480" y="968188"/>
                  <a:pt x="2277112" y="968188"/>
                </a:cubicBezTo>
              </a:path>
            </a:pathLst>
          </a:custGeom>
          <a:noFill/>
          <a:ln w="1270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0" name="Freeform 49">
            <a:extLst>
              <a:ext uri="{FF2B5EF4-FFF2-40B4-BE49-F238E27FC236}">
                <a16:creationId xmlns:a16="http://schemas.microsoft.com/office/drawing/2014/main" id="{C87DBF26-62B8-366D-77EA-1A16292AA18F}"/>
              </a:ext>
            </a:extLst>
          </p:cNvPr>
          <p:cNvSpPr/>
          <p:nvPr/>
        </p:nvSpPr>
        <p:spPr>
          <a:xfrm>
            <a:off x="2413236" y="4172004"/>
            <a:ext cx="4941272" cy="2366682"/>
          </a:xfrm>
          <a:custGeom>
            <a:avLst/>
            <a:gdLst>
              <a:gd name="connsiteX0" fmla="*/ 5002306 w 5002306"/>
              <a:gd name="connsiteY0" fmla="*/ 1129553 h 2366682"/>
              <a:gd name="connsiteX1" fmla="*/ 4930588 w 5002306"/>
              <a:gd name="connsiteY1" fmla="*/ 1156447 h 2366682"/>
              <a:gd name="connsiteX2" fmla="*/ 4894730 w 5002306"/>
              <a:gd name="connsiteY2" fmla="*/ 1165411 h 2366682"/>
              <a:gd name="connsiteX3" fmla="*/ 4867835 w 5002306"/>
              <a:gd name="connsiteY3" fmla="*/ 1183341 h 2366682"/>
              <a:gd name="connsiteX4" fmla="*/ 4769224 w 5002306"/>
              <a:gd name="connsiteY4" fmla="*/ 1201270 h 2366682"/>
              <a:gd name="connsiteX5" fmla="*/ 4616824 w 5002306"/>
              <a:gd name="connsiteY5" fmla="*/ 1192305 h 2366682"/>
              <a:gd name="connsiteX6" fmla="*/ 4509247 w 5002306"/>
              <a:gd name="connsiteY6" fmla="*/ 1174376 h 2366682"/>
              <a:gd name="connsiteX7" fmla="*/ 4437530 w 5002306"/>
              <a:gd name="connsiteY7" fmla="*/ 1165411 h 2366682"/>
              <a:gd name="connsiteX8" fmla="*/ 4365812 w 5002306"/>
              <a:gd name="connsiteY8" fmla="*/ 1147482 h 2366682"/>
              <a:gd name="connsiteX9" fmla="*/ 4294094 w 5002306"/>
              <a:gd name="connsiteY9" fmla="*/ 1120588 h 2366682"/>
              <a:gd name="connsiteX10" fmla="*/ 4231341 w 5002306"/>
              <a:gd name="connsiteY10" fmla="*/ 1102658 h 2366682"/>
              <a:gd name="connsiteX11" fmla="*/ 4204447 w 5002306"/>
              <a:gd name="connsiteY11" fmla="*/ 1093694 h 2366682"/>
              <a:gd name="connsiteX12" fmla="*/ 4150659 w 5002306"/>
              <a:gd name="connsiteY12" fmla="*/ 1066800 h 2366682"/>
              <a:gd name="connsiteX13" fmla="*/ 4123765 w 5002306"/>
              <a:gd name="connsiteY13" fmla="*/ 1048870 h 2366682"/>
              <a:gd name="connsiteX14" fmla="*/ 4061012 w 5002306"/>
              <a:gd name="connsiteY14" fmla="*/ 1021976 h 2366682"/>
              <a:gd name="connsiteX15" fmla="*/ 4007224 w 5002306"/>
              <a:gd name="connsiteY15" fmla="*/ 986117 h 2366682"/>
              <a:gd name="connsiteX16" fmla="*/ 3971365 w 5002306"/>
              <a:gd name="connsiteY16" fmla="*/ 968188 h 2366682"/>
              <a:gd name="connsiteX17" fmla="*/ 3890682 w 5002306"/>
              <a:gd name="connsiteY17" fmla="*/ 923364 h 2366682"/>
              <a:gd name="connsiteX18" fmla="*/ 3801035 w 5002306"/>
              <a:gd name="connsiteY18" fmla="*/ 878541 h 2366682"/>
              <a:gd name="connsiteX19" fmla="*/ 3720353 w 5002306"/>
              <a:gd name="connsiteY19" fmla="*/ 833717 h 2366682"/>
              <a:gd name="connsiteX20" fmla="*/ 3639671 w 5002306"/>
              <a:gd name="connsiteY20" fmla="*/ 753035 h 2366682"/>
              <a:gd name="connsiteX21" fmla="*/ 3612777 w 5002306"/>
              <a:gd name="connsiteY21" fmla="*/ 726141 h 2366682"/>
              <a:gd name="connsiteX22" fmla="*/ 3594847 w 5002306"/>
              <a:gd name="connsiteY22" fmla="*/ 708211 h 2366682"/>
              <a:gd name="connsiteX23" fmla="*/ 3541059 w 5002306"/>
              <a:gd name="connsiteY23" fmla="*/ 663388 h 2366682"/>
              <a:gd name="connsiteX24" fmla="*/ 3460377 w 5002306"/>
              <a:gd name="connsiteY24" fmla="*/ 582705 h 2366682"/>
              <a:gd name="connsiteX25" fmla="*/ 3424518 w 5002306"/>
              <a:gd name="connsiteY25" fmla="*/ 546847 h 2366682"/>
              <a:gd name="connsiteX26" fmla="*/ 3397624 w 5002306"/>
              <a:gd name="connsiteY26" fmla="*/ 519953 h 2366682"/>
              <a:gd name="connsiteX27" fmla="*/ 3352800 w 5002306"/>
              <a:gd name="connsiteY27" fmla="*/ 484094 h 2366682"/>
              <a:gd name="connsiteX28" fmla="*/ 3290047 w 5002306"/>
              <a:gd name="connsiteY28" fmla="*/ 421341 h 2366682"/>
              <a:gd name="connsiteX29" fmla="*/ 3245224 w 5002306"/>
              <a:gd name="connsiteY29" fmla="*/ 376517 h 2366682"/>
              <a:gd name="connsiteX30" fmla="*/ 3048000 w 5002306"/>
              <a:gd name="connsiteY30" fmla="*/ 224117 h 2366682"/>
              <a:gd name="connsiteX31" fmla="*/ 2967318 w 5002306"/>
              <a:gd name="connsiteY31" fmla="*/ 161364 h 2366682"/>
              <a:gd name="connsiteX32" fmla="*/ 2931459 w 5002306"/>
              <a:gd name="connsiteY32" fmla="*/ 143435 h 2366682"/>
              <a:gd name="connsiteX33" fmla="*/ 2877671 w 5002306"/>
              <a:gd name="connsiteY33" fmla="*/ 98611 h 2366682"/>
              <a:gd name="connsiteX34" fmla="*/ 2859741 w 5002306"/>
              <a:gd name="connsiteY34" fmla="*/ 80682 h 2366682"/>
              <a:gd name="connsiteX35" fmla="*/ 2832847 w 5002306"/>
              <a:gd name="connsiteY35" fmla="*/ 71717 h 2366682"/>
              <a:gd name="connsiteX36" fmla="*/ 2761130 w 5002306"/>
              <a:gd name="connsiteY36" fmla="*/ 35858 h 2366682"/>
              <a:gd name="connsiteX37" fmla="*/ 2698377 w 5002306"/>
              <a:gd name="connsiteY37" fmla="*/ 8964 h 2366682"/>
              <a:gd name="connsiteX38" fmla="*/ 2635624 w 5002306"/>
              <a:gd name="connsiteY38" fmla="*/ 0 h 2366682"/>
              <a:gd name="connsiteX39" fmla="*/ 2456330 w 5002306"/>
              <a:gd name="connsiteY39" fmla="*/ 8964 h 2366682"/>
              <a:gd name="connsiteX40" fmla="*/ 2420471 w 5002306"/>
              <a:gd name="connsiteY40" fmla="*/ 17929 h 2366682"/>
              <a:gd name="connsiteX41" fmla="*/ 2339788 w 5002306"/>
              <a:gd name="connsiteY41" fmla="*/ 26894 h 2366682"/>
              <a:gd name="connsiteX42" fmla="*/ 2223247 w 5002306"/>
              <a:gd name="connsiteY42" fmla="*/ 44823 h 2366682"/>
              <a:gd name="connsiteX43" fmla="*/ 2142565 w 5002306"/>
              <a:gd name="connsiteY43" fmla="*/ 71717 h 2366682"/>
              <a:gd name="connsiteX44" fmla="*/ 2079812 w 5002306"/>
              <a:gd name="connsiteY44" fmla="*/ 89647 h 2366682"/>
              <a:gd name="connsiteX45" fmla="*/ 1694330 w 5002306"/>
              <a:gd name="connsiteY45" fmla="*/ 98611 h 2366682"/>
              <a:gd name="connsiteX46" fmla="*/ 1524000 w 5002306"/>
              <a:gd name="connsiteY46" fmla="*/ 116541 h 2366682"/>
              <a:gd name="connsiteX47" fmla="*/ 1461247 w 5002306"/>
              <a:gd name="connsiteY47" fmla="*/ 125505 h 2366682"/>
              <a:gd name="connsiteX48" fmla="*/ 1380565 w 5002306"/>
              <a:gd name="connsiteY48" fmla="*/ 134470 h 2366682"/>
              <a:gd name="connsiteX49" fmla="*/ 1308847 w 5002306"/>
              <a:gd name="connsiteY49" fmla="*/ 152400 h 2366682"/>
              <a:gd name="connsiteX50" fmla="*/ 1264024 w 5002306"/>
              <a:gd name="connsiteY50" fmla="*/ 161364 h 2366682"/>
              <a:gd name="connsiteX51" fmla="*/ 1210235 w 5002306"/>
              <a:gd name="connsiteY51" fmla="*/ 179294 h 2366682"/>
              <a:gd name="connsiteX52" fmla="*/ 1111624 w 5002306"/>
              <a:gd name="connsiteY52" fmla="*/ 206188 h 2366682"/>
              <a:gd name="connsiteX53" fmla="*/ 1084730 w 5002306"/>
              <a:gd name="connsiteY53" fmla="*/ 215153 h 2366682"/>
              <a:gd name="connsiteX54" fmla="*/ 1004047 w 5002306"/>
              <a:gd name="connsiteY54" fmla="*/ 233082 h 2366682"/>
              <a:gd name="connsiteX55" fmla="*/ 950259 w 5002306"/>
              <a:gd name="connsiteY55" fmla="*/ 251011 h 2366682"/>
              <a:gd name="connsiteX56" fmla="*/ 923365 w 5002306"/>
              <a:gd name="connsiteY56" fmla="*/ 259976 h 2366682"/>
              <a:gd name="connsiteX57" fmla="*/ 896471 w 5002306"/>
              <a:gd name="connsiteY57" fmla="*/ 277905 h 2366682"/>
              <a:gd name="connsiteX58" fmla="*/ 860612 w 5002306"/>
              <a:gd name="connsiteY58" fmla="*/ 286870 h 2366682"/>
              <a:gd name="connsiteX59" fmla="*/ 824753 w 5002306"/>
              <a:gd name="connsiteY59" fmla="*/ 304800 h 2366682"/>
              <a:gd name="connsiteX60" fmla="*/ 797859 w 5002306"/>
              <a:gd name="connsiteY60" fmla="*/ 313764 h 2366682"/>
              <a:gd name="connsiteX61" fmla="*/ 744071 w 5002306"/>
              <a:gd name="connsiteY61" fmla="*/ 349623 h 2366682"/>
              <a:gd name="connsiteX62" fmla="*/ 726141 w 5002306"/>
              <a:gd name="connsiteY62" fmla="*/ 367553 h 2366682"/>
              <a:gd name="connsiteX63" fmla="*/ 663388 w 5002306"/>
              <a:gd name="connsiteY63" fmla="*/ 412376 h 2366682"/>
              <a:gd name="connsiteX64" fmla="*/ 627530 w 5002306"/>
              <a:gd name="connsiteY64" fmla="*/ 448235 h 2366682"/>
              <a:gd name="connsiteX65" fmla="*/ 591671 w 5002306"/>
              <a:gd name="connsiteY65" fmla="*/ 475129 h 2366682"/>
              <a:gd name="connsiteX66" fmla="*/ 546847 w 5002306"/>
              <a:gd name="connsiteY66" fmla="*/ 519953 h 2366682"/>
              <a:gd name="connsiteX67" fmla="*/ 457200 w 5002306"/>
              <a:gd name="connsiteY67" fmla="*/ 600635 h 2366682"/>
              <a:gd name="connsiteX68" fmla="*/ 412377 w 5002306"/>
              <a:gd name="connsiteY68" fmla="*/ 645458 h 2366682"/>
              <a:gd name="connsiteX69" fmla="*/ 349624 w 5002306"/>
              <a:gd name="connsiteY69" fmla="*/ 717176 h 2366682"/>
              <a:gd name="connsiteX70" fmla="*/ 295835 w 5002306"/>
              <a:gd name="connsiteY70" fmla="*/ 753035 h 2366682"/>
              <a:gd name="connsiteX71" fmla="*/ 259977 w 5002306"/>
              <a:gd name="connsiteY71" fmla="*/ 806823 h 2366682"/>
              <a:gd name="connsiteX72" fmla="*/ 224118 w 5002306"/>
              <a:gd name="connsiteY72" fmla="*/ 851647 h 2366682"/>
              <a:gd name="connsiteX73" fmla="*/ 215153 w 5002306"/>
              <a:gd name="connsiteY73" fmla="*/ 878541 h 2366682"/>
              <a:gd name="connsiteX74" fmla="*/ 188259 w 5002306"/>
              <a:gd name="connsiteY74" fmla="*/ 914400 h 2366682"/>
              <a:gd name="connsiteX75" fmla="*/ 134471 w 5002306"/>
              <a:gd name="connsiteY75" fmla="*/ 995082 h 2366682"/>
              <a:gd name="connsiteX76" fmla="*/ 89647 w 5002306"/>
              <a:gd name="connsiteY76" fmla="*/ 1075764 h 2366682"/>
              <a:gd name="connsiteX77" fmla="*/ 80682 w 5002306"/>
              <a:gd name="connsiteY77" fmla="*/ 1102658 h 2366682"/>
              <a:gd name="connsiteX78" fmla="*/ 62753 w 5002306"/>
              <a:gd name="connsiteY78" fmla="*/ 1138517 h 2366682"/>
              <a:gd name="connsiteX79" fmla="*/ 53788 w 5002306"/>
              <a:gd name="connsiteY79" fmla="*/ 1165411 h 2366682"/>
              <a:gd name="connsiteX80" fmla="*/ 35859 w 5002306"/>
              <a:gd name="connsiteY80" fmla="*/ 1201270 h 2366682"/>
              <a:gd name="connsiteX81" fmla="*/ 8965 w 5002306"/>
              <a:gd name="connsiteY81" fmla="*/ 1317811 h 2366682"/>
              <a:gd name="connsiteX82" fmla="*/ 0 w 5002306"/>
              <a:gd name="connsiteY82" fmla="*/ 1353670 h 2366682"/>
              <a:gd name="connsiteX83" fmla="*/ 17930 w 5002306"/>
              <a:gd name="connsiteY83" fmla="*/ 1667435 h 2366682"/>
              <a:gd name="connsiteX84" fmla="*/ 44824 w 5002306"/>
              <a:gd name="connsiteY84" fmla="*/ 1757082 h 2366682"/>
              <a:gd name="connsiteX85" fmla="*/ 53788 w 5002306"/>
              <a:gd name="connsiteY85" fmla="*/ 1792941 h 2366682"/>
              <a:gd name="connsiteX86" fmla="*/ 107577 w 5002306"/>
              <a:gd name="connsiteY86" fmla="*/ 1882588 h 2366682"/>
              <a:gd name="connsiteX87" fmla="*/ 161365 w 5002306"/>
              <a:gd name="connsiteY87" fmla="*/ 1972235 h 2366682"/>
              <a:gd name="connsiteX88" fmla="*/ 197224 w 5002306"/>
              <a:gd name="connsiteY88" fmla="*/ 1999129 h 2366682"/>
              <a:gd name="connsiteX89" fmla="*/ 224118 w 5002306"/>
              <a:gd name="connsiteY89" fmla="*/ 2026023 h 2366682"/>
              <a:gd name="connsiteX90" fmla="*/ 268941 w 5002306"/>
              <a:gd name="connsiteY90" fmla="*/ 2043953 h 2366682"/>
              <a:gd name="connsiteX91" fmla="*/ 322730 w 5002306"/>
              <a:gd name="connsiteY91" fmla="*/ 2070847 h 2366682"/>
              <a:gd name="connsiteX92" fmla="*/ 358588 w 5002306"/>
              <a:gd name="connsiteY92" fmla="*/ 2097741 h 2366682"/>
              <a:gd name="connsiteX93" fmla="*/ 448235 w 5002306"/>
              <a:gd name="connsiteY93" fmla="*/ 2133600 h 2366682"/>
              <a:gd name="connsiteX94" fmla="*/ 484094 w 5002306"/>
              <a:gd name="connsiteY94" fmla="*/ 2151529 h 2366682"/>
              <a:gd name="connsiteX95" fmla="*/ 546847 w 5002306"/>
              <a:gd name="connsiteY95" fmla="*/ 2169458 h 2366682"/>
              <a:gd name="connsiteX96" fmla="*/ 654424 w 5002306"/>
              <a:gd name="connsiteY96" fmla="*/ 2205317 h 2366682"/>
              <a:gd name="connsiteX97" fmla="*/ 699247 w 5002306"/>
              <a:gd name="connsiteY97" fmla="*/ 2223247 h 2366682"/>
              <a:gd name="connsiteX98" fmla="*/ 797859 w 5002306"/>
              <a:gd name="connsiteY98" fmla="*/ 2250141 h 2366682"/>
              <a:gd name="connsiteX99" fmla="*/ 833718 w 5002306"/>
              <a:gd name="connsiteY99" fmla="*/ 2268070 h 2366682"/>
              <a:gd name="connsiteX100" fmla="*/ 869577 w 5002306"/>
              <a:gd name="connsiteY100" fmla="*/ 2277035 h 2366682"/>
              <a:gd name="connsiteX101" fmla="*/ 905435 w 5002306"/>
              <a:gd name="connsiteY101" fmla="*/ 2294964 h 2366682"/>
              <a:gd name="connsiteX102" fmla="*/ 986118 w 5002306"/>
              <a:gd name="connsiteY102" fmla="*/ 2312894 h 2366682"/>
              <a:gd name="connsiteX103" fmla="*/ 1111624 w 5002306"/>
              <a:gd name="connsiteY103" fmla="*/ 2348753 h 2366682"/>
              <a:gd name="connsiteX104" fmla="*/ 1156447 w 5002306"/>
              <a:gd name="connsiteY104" fmla="*/ 2357717 h 2366682"/>
              <a:gd name="connsiteX105" fmla="*/ 1201271 w 5002306"/>
              <a:gd name="connsiteY105" fmla="*/ 2366682 h 2366682"/>
              <a:gd name="connsiteX106" fmla="*/ 1452282 w 5002306"/>
              <a:gd name="connsiteY106" fmla="*/ 2357717 h 2366682"/>
              <a:gd name="connsiteX107" fmla="*/ 1497106 w 5002306"/>
              <a:gd name="connsiteY107" fmla="*/ 2339788 h 2366682"/>
              <a:gd name="connsiteX108" fmla="*/ 1541930 w 5002306"/>
              <a:gd name="connsiteY108" fmla="*/ 2330823 h 2366682"/>
              <a:gd name="connsiteX109" fmla="*/ 1577788 w 5002306"/>
              <a:gd name="connsiteY109" fmla="*/ 2321858 h 2366682"/>
              <a:gd name="connsiteX110" fmla="*/ 1685365 w 5002306"/>
              <a:gd name="connsiteY110" fmla="*/ 2277035 h 2366682"/>
              <a:gd name="connsiteX111" fmla="*/ 1775012 w 5002306"/>
              <a:gd name="connsiteY111" fmla="*/ 2241176 h 2366682"/>
              <a:gd name="connsiteX112" fmla="*/ 1837765 w 5002306"/>
              <a:gd name="connsiteY112" fmla="*/ 2214282 h 2366682"/>
              <a:gd name="connsiteX113" fmla="*/ 1909482 w 5002306"/>
              <a:gd name="connsiteY113" fmla="*/ 2169458 h 2366682"/>
              <a:gd name="connsiteX114" fmla="*/ 1990165 w 5002306"/>
              <a:gd name="connsiteY114" fmla="*/ 2115670 h 2366682"/>
              <a:gd name="connsiteX115" fmla="*/ 2008094 w 5002306"/>
              <a:gd name="connsiteY115" fmla="*/ 2088776 h 2366682"/>
              <a:gd name="connsiteX116" fmla="*/ 2079812 w 5002306"/>
              <a:gd name="connsiteY116" fmla="*/ 2034988 h 2366682"/>
              <a:gd name="connsiteX117" fmla="*/ 2115671 w 5002306"/>
              <a:gd name="connsiteY117" fmla="*/ 1999129 h 2366682"/>
              <a:gd name="connsiteX118" fmla="*/ 2142565 w 5002306"/>
              <a:gd name="connsiteY118" fmla="*/ 1981200 h 2366682"/>
              <a:gd name="connsiteX119" fmla="*/ 2160494 w 5002306"/>
              <a:gd name="connsiteY119" fmla="*/ 1963270 h 2366682"/>
              <a:gd name="connsiteX120" fmla="*/ 2232212 w 5002306"/>
              <a:gd name="connsiteY120" fmla="*/ 1918447 h 2366682"/>
              <a:gd name="connsiteX121" fmla="*/ 2268071 w 5002306"/>
              <a:gd name="connsiteY121" fmla="*/ 1882588 h 2366682"/>
              <a:gd name="connsiteX122" fmla="*/ 2286000 w 5002306"/>
              <a:gd name="connsiteY122" fmla="*/ 1846729 h 2366682"/>
              <a:gd name="connsiteX123" fmla="*/ 2366682 w 5002306"/>
              <a:gd name="connsiteY123" fmla="*/ 1810870 h 2366682"/>
              <a:gd name="connsiteX124" fmla="*/ 2393577 w 5002306"/>
              <a:gd name="connsiteY124" fmla="*/ 1801905 h 2366682"/>
              <a:gd name="connsiteX125" fmla="*/ 2429435 w 5002306"/>
              <a:gd name="connsiteY125" fmla="*/ 1792941 h 2366682"/>
              <a:gd name="connsiteX0" fmla="*/ 5002306 w 5002306"/>
              <a:gd name="connsiteY0" fmla="*/ 1129553 h 2366682"/>
              <a:gd name="connsiteX1" fmla="*/ 4930588 w 5002306"/>
              <a:gd name="connsiteY1" fmla="*/ 1156447 h 2366682"/>
              <a:gd name="connsiteX2" fmla="*/ 4894730 w 5002306"/>
              <a:gd name="connsiteY2" fmla="*/ 1165411 h 2366682"/>
              <a:gd name="connsiteX3" fmla="*/ 4867835 w 5002306"/>
              <a:gd name="connsiteY3" fmla="*/ 1183341 h 2366682"/>
              <a:gd name="connsiteX4" fmla="*/ 4769224 w 5002306"/>
              <a:gd name="connsiteY4" fmla="*/ 1201270 h 2366682"/>
              <a:gd name="connsiteX5" fmla="*/ 4616824 w 5002306"/>
              <a:gd name="connsiteY5" fmla="*/ 1192305 h 2366682"/>
              <a:gd name="connsiteX6" fmla="*/ 4509247 w 5002306"/>
              <a:gd name="connsiteY6" fmla="*/ 1174376 h 2366682"/>
              <a:gd name="connsiteX7" fmla="*/ 4437530 w 5002306"/>
              <a:gd name="connsiteY7" fmla="*/ 1165411 h 2366682"/>
              <a:gd name="connsiteX8" fmla="*/ 4365812 w 5002306"/>
              <a:gd name="connsiteY8" fmla="*/ 1147482 h 2366682"/>
              <a:gd name="connsiteX9" fmla="*/ 4294094 w 5002306"/>
              <a:gd name="connsiteY9" fmla="*/ 1120588 h 2366682"/>
              <a:gd name="connsiteX10" fmla="*/ 4231341 w 5002306"/>
              <a:gd name="connsiteY10" fmla="*/ 1102658 h 2366682"/>
              <a:gd name="connsiteX11" fmla="*/ 4204447 w 5002306"/>
              <a:gd name="connsiteY11" fmla="*/ 1093694 h 2366682"/>
              <a:gd name="connsiteX12" fmla="*/ 4150659 w 5002306"/>
              <a:gd name="connsiteY12" fmla="*/ 1066800 h 2366682"/>
              <a:gd name="connsiteX13" fmla="*/ 4123765 w 5002306"/>
              <a:gd name="connsiteY13" fmla="*/ 1048870 h 2366682"/>
              <a:gd name="connsiteX14" fmla="*/ 4061012 w 5002306"/>
              <a:gd name="connsiteY14" fmla="*/ 1021976 h 2366682"/>
              <a:gd name="connsiteX15" fmla="*/ 4007224 w 5002306"/>
              <a:gd name="connsiteY15" fmla="*/ 986117 h 2366682"/>
              <a:gd name="connsiteX16" fmla="*/ 3971365 w 5002306"/>
              <a:gd name="connsiteY16" fmla="*/ 968188 h 2366682"/>
              <a:gd name="connsiteX17" fmla="*/ 3890682 w 5002306"/>
              <a:gd name="connsiteY17" fmla="*/ 923364 h 2366682"/>
              <a:gd name="connsiteX18" fmla="*/ 3801035 w 5002306"/>
              <a:gd name="connsiteY18" fmla="*/ 878541 h 2366682"/>
              <a:gd name="connsiteX19" fmla="*/ 3720353 w 5002306"/>
              <a:gd name="connsiteY19" fmla="*/ 833717 h 2366682"/>
              <a:gd name="connsiteX20" fmla="*/ 3639671 w 5002306"/>
              <a:gd name="connsiteY20" fmla="*/ 753035 h 2366682"/>
              <a:gd name="connsiteX21" fmla="*/ 3612777 w 5002306"/>
              <a:gd name="connsiteY21" fmla="*/ 726141 h 2366682"/>
              <a:gd name="connsiteX22" fmla="*/ 3594847 w 5002306"/>
              <a:gd name="connsiteY22" fmla="*/ 708211 h 2366682"/>
              <a:gd name="connsiteX23" fmla="*/ 3541059 w 5002306"/>
              <a:gd name="connsiteY23" fmla="*/ 663388 h 2366682"/>
              <a:gd name="connsiteX24" fmla="*/ 3460377 w 5002306"/>
              <a:gd name="connsiteY24" fmla="*/ 582705 h 2366682"/>
              <a:gd name="connsiteX25" fmla="*/ 3424518 w 5002306"/>
              <a:gd name="connsiteY25" fmla="*/ 546847 h 2366682"/>
              <a:gd name="connsiteX26" fmla="*/ 3397624 w 5002306"/>
              <a:gd name="connsiteY26" fmla="*/ 519953 h 2366682"/>
              <a:gd name="connsiteX27" fmla="*/ 3352800 w 5002306"/>
              <a:gd name="connsiteY27" fmla="*/ 484094 h 2366682"/>
              <a:gd name="connsiteX28" fmla="*/ 3290047 w 5002306"/>
              <a:gd name="connsiteY28" fmla="*/ 421341 h 2366682"/>
              <a:gd name="connsiteX29" fmla="*/ 3245224 w 5002306"/>
              <a:gd name="connsiteY29" fmla="*/ 376517 h 2366682"/>
              <a:gd name="connsiteX30" fmla="*/ 3048000 w 5002306"/>
              <a:gd name="connsiteY30" fmla="*/ 224117 h 2366682"/>
              <a:gd name="connsiteX31" fmla="*/ 2967318 w 5002306"/>
              <a:gd name="connsiteY31" fmla="*/ 161364 h 2366682"/>
              <a:gd name="connsiteX32" fmla="*/ 2931459 w 5002306"/>
              <a:gd name="connsiteY32" fmla="*/ 143435 h 2366682"/>
              <a:gd name="connsiteX33" fmla="*/ 2877671 w 5002306"/>
              <a:gd name="connsiteY33" fmla="*/ 98611 h 2366682"/>
              <a:gd name="connsiteX34" fmla="*/ 2859741 w 5002306"/>
              <a:gd name="connsiteY34" fmla="*/ 80682 h 2366682"/>
              <a:gd name="connsiteX35" fmla="*/ 2832847 w 5002306"/>
              <a:gd name="connsiteY35" fmla="*/ 71717 h 2366682"/>
              <a:gd name="connsiteX36" fmla="*/ 2761130 w 5002306"/>
              <a:gd name="connsiteY36" fmla="*/ 35858 h 2366682"/>
              <a:gd name="connsiteX37" fmla="*/ 2698377 w 5002306"/>
              <a:gd name="connsiteY37" fmla="*/ 8964 h 2366682"/>
              <a:gd name="connsiteX38" fmla="*/ 2635624 w 5002306"/>
              <a:gd name="connsiteY38" fmla="*/ 0 h 2366682"/>
              <a:gd name="connsiteX39" fmla="*/ 2456330 w 5002306"/>
              <a:gd name="connsiteY39" fmla="*/ 8964 h 2366682"/>
              <a:gd name="connsiteX40" fmla="*/ 2420471 w 5002306"/>
              <a:gd name="connsiteY40" fmla="*/ 17929 h 2366682"/>
              <a:gd name="connsiteX41" fmla="*/ 2339788 w 5002306"/>
              <a:gd name="connsiteY41" fmla="*/ 26894 h 2366682"/>
              <a:gd name="connsiteX42" fmla="*/ 2223247 w 5002306"/>
              <a:gd name="connsiteY42" fmla="*/ 44823 h 2366682"/>
              <a:gd name="connsiteX43" fmla="*/ 2142565 w 5002306"/>
              <a:gd name="connsiteY43" fmla="*/ 71717 h 2366682"/>
              <a:gd name="connsiteX44" fmla="*/ 2079812 w 5002306"/>
              <a:gd name="connsiteY44" fmla="*/ 89647 h 2366682"/>
              <a:gd name="connsiteX45" fmla="*/ 1694330 w 5002306"/>
              <a:gd name="connsiteY45" fmla="*/ 98611 h 2366682"/>
              <a:gd name="connsiteX46" fmla="*/ 1524000 w 5002306"/>
              <a:gd name="connsiteY46" fmla="*/ 116541 h 2366682"/>
              <a:gd name="connsiteX47" fmla="*/ 1461247 w 5002306"/>
              <a:gd name="connsiteY47" fmla="*/ 125505 h 2366682"/>
              <a:gd name="connsiteX48" fmla="*/ 1380565 w 5002306"/>
              <a:gd name="connsiteY48" fmla="*/ 134470 h 2366682"/>
              <a:gd name="connsiteX49" fmla="*/ 1308847 w 5002306"/>
              <a:gd name="connsiteY49" fmla="*/ 152400 h 2366682"/>
              <a:gd name="connsiteX50" fmla="*/ 1264024 w 5002306"/>
              <a:gd name="connsiteY50" fmla="*/ 161364 h 2366682"/>
              <a:gd name="connsiteX51" fmla="*/ 1210235 w 5002306"/>
              <a:gd name="connsiteY51" fmla="*/ 179294 h 2366682"/>
              <a:gd name="connsiteX52" fmla="*/ 1111624 w 5002306"/>
              <a:gd name="connsiteY52" fmla="*/ 206188 h 2366682"/>
              <a:gd name="connsiteX53" fmla="*/ 1084730 w 5002306"/>
              <a:gd name="connsiteY53" fmla="*/ 215153 h 2366682"/>
              <a:gd name="connsiteX54" fmla="*/ 1004047 w 5002306"/>
              <a:gd name="connsiteY54" fmla="*/ 233082 h 2366682"/>
              <a:gd name="connsiteX55" fmla="*/ 950259 w 5002306"/>
              <a:gd name="connsiteY55" fmla="*/ 251011 h 2366682"/>
              <a:gd name="connsiteX56" fmla="*/ 923365 w 5002306"/>
              <a:gd name="connsiteY56" fmla="*/ 259976 h 2366682"/>
              <a:gd name="connsiteX57" fmla="*/ 896471 w 5002306"/>
              <a:gd name="connsiteY57" fmla="*/ 277905 h 2366682"/>
              <a:gd name="connsiteX58" fmla="*/ 860612 w 5002306"/>
              <a:gd name="connsiteY58" fmla="*/ 286870 h 2366682"/>
              <a:gd name="connsiteX59" fmla="*/ 824753 w 5002306"/>
              <a:gd name="connsiteY59" fmla="*/ 304800 h 2366682"/>
              <a:gd name="connsiteX60" fmla="*/ 797859 w 5002306"/>
              <a:gd name="connsiteY60" fmla="*/ 313764 h 2366682"/>
              <a:gd name="connsiteX61" fmla="*/ 744071 w 5002306"/>
              <a:gd name="connsiteY61" fmla="*/ 349623 h 2366682"/>
              <a:gd name="connsiteX62" fmla="*/ 726141 w 5002306"/>
              <a:gd name="connsiteY62" fmla="*/ 367553 h 2366682"/>
              <a:gd name="connsiteX63" fmla="*/ 663388 w 5002306"/>
              <a:gd name="connsiteY63" fmla="*/ 412376 h 2366682"/>
              <a:gd name="connsiteX64" fmla="*/ 627530 w 5002306"/>
              <a:gd name="connsiteY64" fmla="*/ 448235 h 2366682"/>
              <a:gd name="connsiteX65" fmla="*/ 591671 w 5002306"/>
              <a:gd name="connsiteY65" fmla="*/ 475129 h 2366682"/>
              <a:gd name="connsiteX66" fmla="*/ 546847 w 5002306"/>
              <a:gd name="connsiteY66" fmla="*/ 519953 h 2366682"/>
              <a:gd name="connsiteX67" fmla="*/ 457200 w 5002306"/>
              <a:gd name="connsiteY67" fmla="*/ 600635 h 2366682"/>
              <a:gd name="connsiteX68" fmla="*/ 412377 w 5002306"/>
              <a:gd name="connsiteY68" fmla="*/ 645458 h 2366682"/>
              <a:gd name="connsiteX69" fmla="*/ 349624 w 5002306"/>
              <a:gd name="connsiteY69" fmla="*/ 717176 h 2366682"/>
              <a:gd name="connsiteX70" fmla="*/ 295835 w 5002306"/>
              <a:gd name="connsiteY70" fmla="*/ 753035 h 2366682"/>
              <a:gd name="connsiteX71" fmla="*/ 259977 w 5002306"/>
              <a:gd name="connsiteY71" fmla="*/ 806823 h 2366682"/>
              <a:gd name="connsiteX72" fmla="*/ 224118 w 5002306"/>
              <a:gd name="connsiteY72" fmla="*/ 851647 h 2366682"/>
              <a:gd name="connsiteX73" fmla="*/ 215153 w 5002306"/>
              <a:gd name="connsiteY73" fmla="*/ 878541 h 2366682"/>
              <a:gd name="connsiteX74" fmla="*/ 188259 w 5002306"/>
              <a:gd name="connsiteY74" fmla="*/ 914400 h 2366682"/>
              <a:gd name="connsiteX75" fmla="*/ 134471 w 5002306"/>
              <a:gd name="connsiteY75" fmla="*/ 995082 h 2366682"/>
              <a:gd name="connsiteX76" fmla="*/ 89647 w 5002306"/>
              <a:gd name="connsiteY76" fmla="*/ 1075764 h 2366682"/>
              <a:gd name="connsiteX77" fmla="*/ 502957 w 5002306"/>
              <a:gd name="connsiteY77" fmla="*/ 1109008 h 2366682"/>
              <a:gd name="connsiteX78" fmla="*/ 62753 w 5002306"/>
              <a:gd name="connsiteY78" fmla="*/ 1138517 h 2366682"/>
              <a:gd name="connsiteX79" fmla="*/ 53788 w 5002306"/>
              <a:gd name="connsiteY79" fmla="*/ 1165411 h 2366682"/>
              <a:gd name="connsiteX80" fmla="*/ 35859 w 5002306"/>
              <a:gd name="connsiteY80" fmla="*/ 1201270 h 2366682"/>
              <a:gd name="connsiteX81" fmla="*/ 8965 w 5002306"/>
              <a:gd name="connsiteY81" fmla="*/ 1317811 h 2366682"/>
              <a:gd name="connsiteX82" fmla="*/ 0 w 5002306"/>
              <a:gd name="connsiteY82" fmla="*/ 1353670 h 2366682"/>
              <a:gd name="connsiteX83" fmla="*/ 17930 w 5002306"/>
              <a:gd name="connsiteY83" fmla="*/ 1667435 h 2366682"/>
              <a:gd name="connsiteX84" fmla="*/ 44824 w 5002306"/>
              <a:gd name="connsiteY84" fmla="*/ 1757082 h 2366682"/>
              <a:gd name="connsiteX85" fmla="*/ 53788 w 5002306"/>
              <a:gd name="connsiteY85" fmla="*/ 1792941 h 2366682"/>
              <a:gd name="connsiteX86" fmla="*/ 107577 w 5002306"/>
              <a:gd name="connsiteY86" fmla="*/ 1882588 h 2366682"/>
              <a:gd name="connsiteX87" fmla="*/ 161365 w 5002306"/>
              <a:gd name="connsiteY87" fmla="*/ 1972235 h 2366682"/>
              <a:gd name="connsiteX88" fmla="*/ 197224 w 5002306"/>
              <a:gd name="connsiteY88" fmla="*/ 1999129 h 2366682"/>
              <a:gd name="connsiteX89" fmla="*/ 224118 w 5002306"/>
              <a:gd name="connsiteY89" fmla="*/ 2026023 h 2366682"/>
              <a:gd name="connsiteX90" fmla="*/ 268941 w 5002306"/>
              <a:gd name="connsiteY90" fmla="*/ 2043953 h 2366682"/>
              <a:gd name="connsiteX91" fmla="*/ 322730 w 5002306"/>
              <a:gd name="connsiteY91" fmla="*/ 2070847 h 2366682"/>
              <a:gd name="connsiteX92" fmla="*/ 358588 w 5002306"/>
              <a:gd name="connsiteY92" fmla="*/ 2097741 h 2366682"/>
              <a:gd name="connsiteX93" fmla="*/ 448235 w 5002306"/>
              <a:gd name="connsiteY93" fmla="*/ 2133600 h 2366682"/>
              <a:gd name="connsiteX94" fmla="*/ 484094 w 5002306"/>
              <a:gd name="connsiteY94" fmla="*/ 2151529 h 2366682"/>
              <a:gd name="connsiteX95" fmla="*/ 546847 w 5002306"/>
              <a:gd name="connsiteY95" fmla="*/ 2169458 h 2366682"/>
              <a:gd name="connsiteX96" fmla="*/ 654424 w 5002306"/>
              <a:gd name="connsiteY96" fmla="*/ 2205317 h 2366682"/>
              <a:gd name="connsiteX97" fmla="*/ 699247 w 5002306"/>
              <a:gd name="connsiteY97" fmla="*/ 2223247 h 2366682"/>
              <a:gd name="connsiteX98" fmla="*/ 797859 w 5002306"/>
              <a:gd name="connsiteY98" fmla="*/ 2250141 h 2366682"/>
              <a:gd name="connsiteX99" fmla="*/ 833718 w 5002306"/>
              <a:gd name="connsiteY99" fmla="*/ 2268070 h 2366682"/>
              <a:gd name="connsiteX100" fmla="*/ 869577 w 5002306"/>
              <a:gd name="connsiteY100" fmla="*/ 2277035 h 2366682"/>
              <a:gd name="connsiteX101" fmla="*/ 905435 w 5002306"/>
              <a:gd name="connsiteY101" fmla="*/ 2294964 h 2366682"/>
              <a:gd name="connsiteX102" fmla="*/ 986118 w 5002306"/>
              <a:gd name="connsiteY102" fmla="*/ 2312894 h 2366682"/>
              <a:gd name="connsiteX103" fmla="*/ 1111624 w 5002306"/>
              <a:gd name="connsiteY103" fmla="*/ 2348753 h 2366682"/>
              <a:gd name="connsiteX104" fmla="*/ 1156447 w 5002306"/>
              <a:gd name="connsiteY104" fmla="*/ 2357717 h 2366682"/>
              <a:gd name="connsiteX105" fmla="*/ 1201271 w 5002306"/>
              <a:gd name="connsiteY105" fmla="*/ 2366682 h 2366682"/>
              <a:gd name="connsiteX106" fmla="*/ 1452282 w 5002306"/>
              <a:gd name="connsiteY106" fmla="*/ 2357717 h 2366682"/>
              <a:gd name="connsiteX107" fmla="*/ 1497106 w 5002306"/>
              <a:gd name="connsiteY107" fmla="*/ 2339788 h 2366682"/>
              <a:gd name="connsiteX108" fmla="*/ 1541930 w 5002306"/>
              <a:gd name="connsiteY108" fmla="*/ 2330823 h 2366682"/>
              <a:gd name="connsiteX109" fmla="*/ 1577788 w 5002306"/>
              <a:gd name="connsiteY109" fmla="*/ 2321858 h 2366682"/>
              <a:gd name="connsiteX110" fmla="*/ 1685365 w 5002306"/>
              <a:gd name="connsiteY110" fmla="*/ 2277035 h 2366682"/>
              <a:gd name="connsiteX111" fmla="*/ 1775012 w 5002306"/>
              <a:gd name="connsiteY111" fmla="*/ 2241176 h 2366682"/>
              <a:gd name="connsiteX112" fmla="*/ 1837765 w 5002306"/>
              <a:gd name="connsiteY112" fmla="*/ 2214282 h 2366682"/>
              <a:gd name="connsiteX113" fmla="*/ 1909482 w 5002306"/>
              <a:gd name="connsiteY113" fmla="*/ 2169458 h 2366682"/>
              <a:gd name="connsiteX114" fmla="*/ 1990165 w 5002306"/>
              <a:gd name="connsiteY114" fmla="*/ 2115670 h 2366682"/>
              <a:gd name="connsiteX115" fmla="*/ 2008094 w 5002306"/>
              <a:gd name="connsiteY115" fmla="*/ 2088776 h 2366682"/>
              <a:gd name="connsiteX116" fmla="*/ 2079812 w 5002306"/>
              <a:gd name="connsiteY116" fmla="*/ 2034988 h 2366682"/>
              <a:gd name="connsiteX117" fmla="*/ 2115671 w 5002306"/>
              <a:gd name="connsiteY117" fmla="*/ 1999129 h 2366682"/>
              <a:gd name="connsiteX118" fmla="*/ 2142565 w 5002306"/>
              <a:gd name="connsiteY118" fmla="*/ 1981200 h 2366682"/>
              <a:gd name="connsiteX119" fmla="*/ 2160494 w 5002306"/>
              <a:gd name="connsiteY119" fmla="*/ 1963270 h 2366682"/>
              <a:gd name="connsiteX120" fmla="*/ 2232212 w 5002306"/>
              <a:gd name="connsiteY120" fmla="*/ 1918447 h 2366682"/>
              <a:gd name="connsiteX121" fmla="*/ 2268071 w 5002306"/>
              <a:gd name="connsiteY121" fmla="*/ 1882588 h 2366682"/>
              <a:gd name="connsiteX122" fmla="*/ 2286000 w 5002306"/>
              <a:gd name="connsiteY122" fmla="*/ 1846729 h 2366682"/>
              <a:gd name="connsiteX123" fmla="*/ 2366682 w 5002306"/>
              <a:gd name="connsiteY123" fmla="*/ 1810870 h 2366682"/>
              <a:gd name="connsiteX124" fmla="*/ 2393577 w 5002306"/>
              <a:gd name="connsiteY124" fmla="*/ 1801905 h 2366682"/>
              <a:gd name="connsiteX125" fmla="*/ 2429435 w 5002306"/>
              <a:gd name="connsiteY125" fmla="*/ 1792941 h 2366682"/>
              <a:gd name="connsiteX0" fmla="*/ 5002306 w 5002306"/>
              <a:gd name="connsiteY0" fmla="*/ 1129553 h 2366682"/>
              <a:gd name="connsiteX1" fmla="*/ 4930588 w 5002306"/>
              <a:gd name="connsiteY1" fmla="*/ 1156447 h 2366682"/>
              <a:gd name="connsiteX2" fmla="*/ 4894730 w 5002306"/>
              <a:gd name="connsiteY2" fmla="*/ 1165411 h 2366682"/>
              <a:gd name="connsiteX3" fmla="*/ 4867835 w 5002306"/>
              <a:gd name="connsiteY3" fmla="*/ 1183341 h 2366682"/>
              <a:gd name="connsiteX4" fmla="*/ 4769224 w 5002306"/>
              <a:gd name="connsiteY4" fmla="*/ 1201270 h 2366682"/>
              <a:gd name="connsiteX5" fmla="*/ 4616824 w 5002306"/>
              <a:gd name="connsiteY5" fmla="*/ 1192305 h 2366682"/>
              <a:gd name="connsiteX6" fmla="*/ 4509247 w 5002306"/>
              <a:gd name="connsiteY6" fmla="*/ 1174376 h 2366682"/>
              <a:gd name="connsiteX7" fmla="*/ 4437530 w 5002306"/>
              <a:gd name="connsiteY7" fmla="*/ 1165411 h 2366682"/>
              <a:gd name="connsiteX8" fmla="*/ 4365812 w 5002306"/>
              <a:gd name="connsiteY8" fmla="*/ 1147482 h 2366682"/>
              <a:gd name="connsiteX9" fmla="*/ 4294094 w 5002306"/>
              <a:gd name="connsiteY9" fmla="*/ 1120588 h 2366682"/>
              <a:gd name="connsiteX10" fmla="*/ 4231341 w 5002306"/>
              <a:gd name="connsiteY10" fmla="*/ 1102658 h 2366682"/>
              <a:gd name="connsiteX11" fmla="*/ 4204447 w 5002306"/>
              <a:gd name="connsiteY11" fmla="*/ 1093694 h 2366682"/>
              <a:gd name="connsiteX12" fmla="*/ 4150659 w 5002306"/>
              <a:gd name="connsiteY12" fmla="*/ 1066800 h 2366682"/>
              <a:gd name="connsiteX13" fmla="*/ 4123765 w 5002306"/>
              <a:gd name="connsiteY13" fmla="*/ 1048870 h 2366682"/>
              <a:gd name="connsiteX14" fmla="*/ 4061012 w 5002306"/>
              <a:gd name="connsiteY14" fmla="*/ 1021976 h 2366682"/>
              <a:gd name="connsiteX15" fmla="*/ 4007224 w 5002306"/>
              <a:gd name="connsiteY15" fmla="*/ 986117 h 2366682"/>
              <a:gd name="connsiteX16" fmla="*/ 3971365 w 5002306"/>
              <a:gd name="connsiteY16" fmla="*/ 968188 h 2366682"/>
              <a:gd name="connsiteX17" fmla="*/ 3890682 w 5002306"/>
              <a:gd name="connsiteY17" fmla="*/ 923364 h 2366682"/>
              <a:gd name="connsiteX18" fmla="*/ 3801035 w 5002306"/>
              <a:gd name="connsiteY18" fmla="*/ 878541 h 2366682"/>
              <a:gd name="connsiteX19" fmla="*/ 3720353 w 5002306"/>
              <a:gd name="connsiteY19" fmla="*/ 833717 h 2366682"/>
              <a:gd name="connsiteX20" fmla="*/ 3639671 w 5002306"/>
              <a:gd name="connsiteY20" fmla="*/ 753035 h 2366682"/>
              <a:gd name="connsiteX21" fmla="*/ 3612777 w 5002306"/>
              <a:gd name="connsiteY21" fmla="*/ 726141 h 2366682"/>
              <a:gd name="connsiteX22" fmla="*/ 3594847 w 5002306"/>
              <a:gd name="connsiteY22" fmla="*/ 708211 h 2366682"/>
              <a:gd name="connsiteX23" fmla="*/ 3541059 w 5002306"/>
              <a:gd name="connsiteY23" fmla="*/ 663388 h 2366682"/>
              <a:gd name="connsiteX24" fmla="*/ 3460377 w 5002306"/>
              <a:gd name="connsiteY24" fmla="*/ 582705 h 2366682"/>
              <a:gd name="connsiteX25" fmla="*/ 3424518 w 5002306"/>
              <a:gd name="connsiteY25" fmla="*/ 546847 h 2366682"/>
              <a:gd name="connsiteX26" fmla="*/ 3397624 w 5002306"/>
              <a:gd name="connsiteY26" fmla="*/ 519953 h 2366682"/>
              <a:gd name="connsiteX27" fmla="*/ 3352800 w 5002306"/>
              <a:gd name="connsiteY27" fmla="*/ 484094 h 2366682"/>
              <a:gd name="connsiteX28" fmla="*/ 3290047 w 5002306"/>
              <a:gd name="connsiteY28" fmla="*/ 421341 h 2366682"/>
              <a:gd name="connsiteX29" fmla="*/ 3245224 w 5002306"/>
              <a:gd name="connsiteY29" fmla="*/ 376517 h 2366682"/>
              <a:gd name="connsiteX30" fmla="*/ 3048000 w 5002306"/>
              <a:gd name="connsiteY30" fmla="*/ 224117 h 2366682"/>
              <a:gd name="connsiteX31" fmla="*/ 2967318 w 5002306"/>
              <a:gd name="connsiteY31" fmla="*/ 161364 h 2366682"/>
              <a:gd name="connsiteX32" fmla="*/ 2931459 w 5002306"/>
              <a:gd name="connsiteY32" fmla="*/ 143435 h 2366682"/>
              <a:gd name="connsiteX33" fmla="*/ 2877671 w 5002306"/>
              <a:gd name="connsiteY33" fmla="*/ 98611 h 2366682"/>
              <a:gd name="connsiteX34" fmla="*/ 2859741 w 5002306"/>
              <a:gd name="connsiteY34" fmla="*/ 80682 h 2366682"/>
              <a:gd name="connsiteX35" fmla="*/ 2832847 w 5002306"/>
              <a:gd name="connsiteY35" fmla="*/ 71717 h 2366682"/>
              <a:gd name="connsiteX36" fmla="*/ 2761130 w 5002306"/>
              <a:gd name="connsiteY36" fmla="*/ 35858 h 2366682"/>
              <a:gd name="connsiteX37" fmla="*/ 2698377 w 5002306"/>
              <a:gd name="connsiteY37" fmla="*/ 8964 h 2366682"/>
              <a:gd name="connsiteX38" fmla="*/ 2635624 w 5002306"/>
              <a:gd name="connsiteY38" fmla="*/ 0 h 2366682"/>
              <a:gd name="connsiteX39" fmla="*/ 2456330 w 5002306"/>
              <a:gd name="connsiteY39" fmla="*/ 8964 h 2366682"/>
              <a:gd name="connsiteX40" fmla="*/ 2420471 w 5002306"/>
              <a:gd name="connsiteY40" fmla="*/ 17929 h 2366682"/>
              <a:gd name="connsiteX41" fmla="*/ 2339788 w 5002306"/>
              <a:gd name="connsiteY41" fmla="*/ 26894 h 2366682"/>
              <a:gd name="connsiteX42" fmla="*/ 2223247 w 5002306"/>
              <a:gd name="connsiteY42" fmla="*/ 44823 h 2366682"/>
              <a:gd name="connsiteX43" fmla="*/ 2142565 w 5002306"/>
              <a:gd name="connsiteY43" fmla="*/ 71717 h 2366682"/>
              <a:gd name="connsiteX44" fmla="*/ 2079812 w 5002306"/>
              <a:gd name="connsiteY44" fmla="*/ 89647 h 2366682"/>
              <a:gd name="connsiteX45" fmla="*/ 1694330 w 5002306"/>
              <a:gd name="connsiteY45" fmla="*/ 98611 h 2366682"/>
              <a:gd name="connsiteX46" fmla="*/ 1524000 w 5002306"/>
              <a:gd name="connsiteY46" fmla="*/ 116541 h 2366682"/>
              <a:gd name="connsiteX47" fmla="*/ 1461247 w 5002306"/>
              <a:gd name="connsiteY47" fmla="*/ 125505 h 2366682"/>
              <a:gd name="connsiteX48" fmla="*/ 1380565 w 5002306"/>
              <a:gd name="connsiteY48" fmla="*/ 134470 h 2366682"/>
              <a:gd name="connsiteX49" fmla="*/ 1308847 w 5002306"/>
              <a:gd name="connsiteY49" fmla="*/ 152400 h 2366682"/>
              <a:gd name="connsiteX50" fmla="*/ 1264024 w 5002306"/>
              <a:gd name="connsiteY50" fmla="*/ 161364 h 2366682"/>
              <a:gd name="connsiteX51" fmla="*/ 1210235 w 5002306"/>
              <a:gd name="connsiteY51" fmla="*/ 179294 h 2366682"/>
              <a:gd name="connsiteX52" fmla="*/ 1111624 w 5002306"/>
              <a:gd name="connsiteY52" fmla="*/ 206188 h 2366682"/>
              <a:gd name="connsiteX53" fmla="*/ 1084730 w 5002306"/>
              <a:gd name="connsiteY53" fmla="*/ 215153 h 2366682"/>
              <a:gd name="connsiteX54" fmla="*/ 1004047 w 5002306"/>
              <a:gd name="connsiteY54" fmla="*/ 233082 h 2366682"/>
              <a:gd name="connsiteX55" fmla="*/ 950259 w 5002306"/>
              <a:gd name="connsiteY55" fmla="*/ 251011 h 2366682"/>
              <a:gd name="connsiteX56" fmla="*/ 923365 w 5002306"/>
              <a:gd name="connsiteY56" fmla="*/ 259976 h 2366682"/>
              <a:gd name="connsiteX57" fmla="*/ 896471 w 5002306"/>
              <a:gd name="connsiteY57" fmla="*/ 277905 h 2366682"/>
              <a:gd name="connsiteX58" fmla="*/ 860612 w 5002306"/>
              <a:gd name="connsiteY58" fmla="*/ 286870 h 2366682"/>
              <a:gd name="connsiteX59" fmla="*/ 824753 w 5002306"/>
              <a:gd name="connsiteY59" fmla="*/ 304800 h 2366682"/>
              <a:gd name="connsiteX60" fmla="*/ 797859 w 5002306"/>
              <a:gd name="connsiteY60" fmla="*/ 313764 h 2366682"/>
              <a:gd name="connsiteX61" fmla="*/ 744071 w 5002306"/>
              <a:gd name="connsiteY61" fmla="*/ 349623 h 2366682"/>
              <a:gd name="connsiteX62" fmla="*/ 726141 w 5002306"/>
              <a:gd name="connsiteY62" fmla="*/ 367553 h 2366682"/>
              <a:gd name="connsiteX63" fmla="*/ 663388 w 5002306"/>
              <a:gd name="connsiteY63" fmla="*/ 412376 h 2366682"/>
              <a:gd name="connsiteX64" fmla="*/ 627530 w 5002306"/>
              <a:gd name="connsiteY64" fmla="*/ 448235 h 2366682"/>
              <a:gd name="connsiteX65" fmla="*/ 591671 w 5002306"/>
              <a:gd name="connsiteY65" fmla="*/ 475129 h 2366682"/>
              <a:gd name="connsiteX66" fmla="*/ 546847 w 5002306"/>
              <a:gd name="connsiteY66" fmla="*/ 519953 h 2366682"/>
              <a:gd name="connsiteX67" fmla="*/ 457200 w 5002306"/>
              <a:gd name="connsiteY67" fmla="*/ 600635 h 2366682"/>
              <a:gd name="connsiteX68" fmla="*/ 412377 w 5002306"/>
              <a:gd name="connsiteY68" fmla="*/ 645458 h 2366682"/>
              <a:gd name="connsiteX69" fmla="*/ 349624 w 5002306"/>
              <a:gd name="connsiteY69" fmla="*/ 717176 h 2366682"/>
              <a:gd name="connsiteX70" fmla="*/ 295835 w 5002306"/>
              <a:gd name="connsiteY70" fmla="*/ 753035 h 2366682"/>
              <a:gd name="connsiteX71" fmla="*/ 259977 w 5002306"/>
              <a:gd name="connsiteY71" fmla="*/ 806823 h 2366682"/>
              <a:gd name="connsiteX72" fmla="*/ 224118 w 5002306"/>
              <a:gd name="connsiteY72" fmla="*/ 851647 h 2366682"/>
              <a:gd name="connsiteX73" fmla="*/ 215153 w 5002306"/>
              <a:gd name="connsiteY73" fmla="*/ 878541 h 2366682"/>
              <a:gd name="connsiteX74" fmla="*/ 188259 w 5002306"/>
              <a:gd name="connsiteY74" fmla="*/ 914400 h 2366682"/>
              <a:gd name="connsiteX75" fmla="*/ 134471 w 5002306"/>
              <a:gd name="connsiteY75" fmla="*/ 995082 h 2366682"/>
              <a:gd name="connsiteX76" fmla="*/ 89647 w 5002306"/>
              <a:gd name="connsiteY76" fmla="*/ 1075764 h 2366682"/>
              <a:gd name="connsiteX77" fmla="*/ 502957 w 5002306"/>
              <a:gd name="connsiteY77" fmla="*/ 1109008 h 2366682"/>
              <a:gd name="connsiteX78" fmla="*/ 500903 w 5002306"/>
              <a:gd name="connsiteY78" fmla="*/ 1224242 h 2366682"/>
              <a:gd name="connsiteX79" fmla="*/ 53788 w 5002306"/>
              <a:gd name="connsiteY79" fmla="*/ 1165411 h 2366682"/>
              <a:gd name="connsiteX80" fmla="*/ 35859 w 5002306"/>
              <a:gd name="connsiteY80" fmla="*/ 1201270 h 2366682"/>
              <a:gd name="connsiteX81" fmla="*/ 8965 w 5002306"/>
              <a:gd name="connsiteY81" fmla="*/ 1317811 h 2366682"/>
              <a:gd name="connsiteX82" fmla="*/ 0 w 5002306"/>
              <a:gd name="connsiteY82" fmla="*/ 1353670 h 2366682"/>
              <a:gd name="connsiteX83" fmla="*/ 17930 w 5002306"/>
              <a:gd name="connsiteY83" fmla="*/ 1667435 h 2366682"/>
              <a:gd name="connsiteX84" fmla="*/ 44824 w 5002306"/>
              <a:gd name="connsiteY84" fmla="*/ 1757082 h 2366682"/>
              <a:gd name="connsiteX85" fmla="*/ 53788 w 5002306"/>
              <a:gd name="connsiteY85" fmla="*/ 1792941 h 2366682"/>
              <a:gd name="connsiteX86" fmla="*/ 107577 w 5002306"/>
              <a:gd name="connsiteY86" fmla="*/ 1882588 h 2366682"/>
              <a:gd name="connsiteX87" fmla="*/ 161365 w 5002306"/>
              <a:gd name="connsiteY87" fmla="*/ 1972235 h 2366682"/>
              <a:gd name="connsiteX88" fmla="*/ 197224 w 5002306"/>
              <a:gd name="connsiteY88" fmla="*/ 1999129 h 2366682"/>
              <a:gd name="connsiteX89" fmla="*/ 224118 w 5002306"/>
              <a:gd name="connsiteY89" fmla="*/ 2026023 h 2366682"/>
              <a:gd name="connsiteX90" fmla="*/ 268941 w 5002306"/>
              <a:gd name="connsiteY90" fmla="*/ 2043953 h 2366682"/>
              <a:gd name="connsiteX91" fmla="*/ 322730 w 5002306"/>
              <a:gd name="connsiteY91" fmla="*/ 2070847 h 2366682"/>
              <a:gd name="connsiteX92" fmla="*/ 358588 w 5002306"/>
              <a:gd name="connsiteY92" fmla="*/ 2097741 h 2366682"/>
              <a:gd name="connsiteX93" fmla="*/ 448235 w 5002306"/>
              <a:gd name="connsiteY93" fmla="*/ 2133600 h 2366682"/>
              <a:gd name="connsiteX94" fmla="*/ 484094 w 5002306"/>
              <a:gd name="connsiteY94" fmla="*/ 2151529 h 2366682"/>
              <a:gd name="connsiteX95" fmla="*/ 546847 w 5002306"/>
              <a:gd name="connsiteY95" fmla="*/ 2169458 h 2366682"/>
              <a:gd name="connsiteX96" fmla="*/ 654424 w 5002306"/>
              <a:gd name="connsiteY96" fmla="*/ 2205317 h 2366682"/>
              <a:gd name="connsiteX97" fmla="*/ 699247 w 5002306"/>
              <a:gd name="connsiteY97" fmla="*/ 2223247 h 2366682"/>
              <a:gd name="connsiteX98" fmla="*/ 797859 w 5002306"/>
              <a:gd name="connsiteY98" fmla="*/ 2250141 h 2366682"/>
              <a:gd name="connsiteX99" fmla="*/ 833718 w 5002306"/>
              <a:gd name="connsiteY99" fmla="*/ 2268070 h 2366682"/>
              <a:gd name="connsiteX100" fmla="*/ 869577 w 5002306"/>
              <a:gd name="connsiteY100" fmla="*/ 2277035 h 2366682"/>
              <a:gd name="connsiteX101" fmla="*/ 905435 w 5002306"/>
              <a:gd name="connsiteY101" fmla="*/ 2294964 h 2366682"/>
              <a:gd name="connsiteX102" fmla="*/ 986118 w 5002306"/>
              <a:gd name="connsiteY102" fmla="*/ 2312894 h 2366682"/>
              <a:gd name="connsiteX103" fmla="*/ 1111624 w 5002306"/>
              <a:gd name="connsiteY103" fmla="*/ 2348753 h 2366682"/>
              <a:gd name="connsiteX104" fmla="*/ 1156447 w 5002306"/>
              <a:gd name="connsiteY104" fmla="*/ 2357717 h 2366682"/>
              <a:gd name="connsiteX105" fmla="*/ 1201271 w 5002306"/>
              <a:gd name="connsiteY105" fmla="*/ 2366682 h 2366682"/>
              <a:gd name="connsiteX106" fmla="*/ 1452282 w 5002306"/>
              <a:gd name="connsiteY106" fmla="*/ 2357717 h 2366682"/>
              <a:gd name="connsiteX107" fmla="*/ 1497106 w 5002306"/>
              <a:gd name="connsiteY107" fmla="*/ 2339788 h 2366682"/>
              <a:gd name="connsiteX108" fmla="*/ 1541930 w 5002306"/>
              <a:gd name="connsiteY108" fmla="*/ 2330823 h 2366682"/>
              <a:gd name="connsiteX109" fmla="*/ 1577788 w 5002306"/>
              <a:gd name="connsiteY109" fmla="*/ 2321858 h 2366682"/>
              <a:gd name="connsiteX110" fmla="*/ 1685365 w 5002306"/>
              <a:gd name="connsiteY110" fmla="*/ 2277035 h 2366682"/>
              <a:gd name="connsiteX111" fmla="*/ 1775012 w 5002306"/>
              <a:gd name="connsiteY111" fmla="*/ 2241176 h 2366682"/>
              <a:gd name="connsiteX112" fmla="*/ 1837765 w 5002306"/>
              <a:gd name="connsiteY112" fmla="*/ 2214282 h 2366682"/>
              <a:gd name="connsiteX113" fmla="*/ 1909482 w 5002306"/>
              <a:gd name="connsiteY113" fmla="*/ 2169458 h 2366682"/>
              <a:gd name="connsiteX114" fmla="*/ 1990165 w 5002306"/>
              <a:gd name="connsiteY114" fmla="*/ 2115670 h 2366682"/>
              <a:gd name="connsiteX115" fmla="*/ 2008094 w 5002306"/>
              <a:gd name="connsiteY115" fmla="*/ 2088776 h 2366682"/>
              <a:gd name="connsiteX116" fmla="*/ 2079812 w 5002306"/>
              <a:gd name="connsiteY116" fmla="*/ 2034988 h 2366682"/>
              <a:gd name="connsiteX117" fmla="*/ 2115671 w 5002306"/>
              <a:gd name="connsiteY117" fmla="*/ 1999129 h 2366682"/>
              <a:gd name="connsiteX118" fmla="*/ 2142565 w 5002306"/>
              <a:gd name="connsiteY118" fmla="*/ 1981200 h 2366682"/>
              <a:gd name="connsiteX119" fmla="*/ 2160494 w 5002306"/>
              <a:gd name="connsiteY119" fmla="*/ 1963270 h 2366682"/>
              <a:gd name="connsiteX120" fmla="*/ 2232212 w 5002306"/>
              <a:gd name="connsiteY120" fmla="*/ 1918447 h 2366682"/>
              <a:gd name="connsiteX121" fmla="*/ 2268071 w 5002306"/>
              <a:gd name="connsiteY121" fmla="*/ 1882588 h 2366682"/>
              <a:gd name="connsiteX122" fmla="*/ 2286000 w 5002306"/>
              <a:gd name="connsiteY122" fmla="*/ 1846729 h 2366682"/>
              <a:gd name="connsiteX123" fmla="*/ 2366682 w 5002306"/>
              <a:gd name="connsiteY123" fmla="*/ 1810870 h 2366682"/>
              <a:gd name="connsiteX124" fmla="*/ 2393577 w 5002306"/>
              <a:gd name="connsiteY124" fmla="*/ 1801905 h 2366682"/>
              <a:gd name="connsiteX125" fmla="*/ 2429435 w 5002306"/>
              <a:gd name="connsiteY125" fmla="*/ 1792941 h 2366682"/>
              <a:gd name="connsiteX0" fmla="*/ 5021787 w 5021787"/>
              <a:gd name="connsiteY0" fmla="*/ 1129553 h 2366682"/>
              <a:gd name="connsiteX1" fmla="*/ 4950069 w 5021787"/>
              <a:gd name="connsiteY1" fmla="*/ 1156447 h 2366682"/>
              <a:gd name="connsiteX2" fmla="*/ 4914211 w 5021787"/>
              <a:gd name="connsiteY2" fmla="*/ 1165411 h 2366682"/>
              <a:gd name="connsiteX3" fmla="*/ 4887316 w 5021787"/>
              <a:gd name="connsiteY3" fmla="*/ 1183341 h 2366682"/>
              <a:gd name="connsiteX4" fmla="*/ 4788705 w 5021787"/>
              <a:gd name="connsiteY4" fmla="*/ 1201270 h 2366682"/>
              <a:gd name="connsiteX5" fmla="*/ 4636305 w 5021787"/>
              <a:gd name="connsiteY5" fmla="*/ 1192305 h 2366682"/>
              <a:gd name="connsiteX6" fmla="*/ 4528728 w 5021787"/>
              <a:gd name="connsiteY6" fmla="*/ 1174376 h 2366682"/>
              <a:gd name="connsiteX7" fmla="*/ 4457011 w 5021787"/>
              <a:gd name="connsiteY7" fmla="*/ 1165411 h 2366682"/>
              <a:gd name="connsiteX8" fmla="*/ 4385293 w 5021787"/>
              <a:gd name="connsiteY8" fmla="*/ 1147482 h 2366682"/>
              <a:gd name="connsiteX9" fmla="*/ 4313575 w 5021787"/>
              <a:gd name="connsiteY9" fmla="*/ 1120588 h 2366682"/>
              <a:gd name="connsiteX10" fmla="*/ 4250822 w 5021787"/>
              <a:gd name="connsiteY10" fmla="*/ 1102658 h 2366682"/>
              <a:gd name="connsiteX11" fmla="*/ 4223928 w 5021787"/>
              <a:gd name="connsiteY11" fmla="*/ 1093694 h 2366682"/>
              <a:gd name="connsiteX12" fmla="*/ 4170140 w 5021787"/>
              <a:gd name="connsiteY12" fmla="*/ 1066800 h 2366682"/>
              <a:gd name="connsiteX13" fmla="*/ 4143246 w 5021787"/>
              <a:gd name="connsiteY13" fmla="*/ 1048870 h 2366682"/>
              <a:gd name="connsiteX14" fmla="*/ 4080493 w 5021787"/>
              <a:gd name="connsiteY14" fmla="*/ 1021976 h 2366682"/>
              <a:gd name="connsiteX15" fmla="*/ 4026705 w 5021787"/>
              <a:gd name="connsiteY15" fmla="*/ 986117 h 2366682"/>
              <a:gd name="connsiteX16" fmla="*/ 3990846 w 5021787"/>
              <a:gd name="connsiteY16" fmla="*/ 968188 h 2366682"/>
              <a:gd name="connsiteX17" fmla="*/ 3910163 w 5021787"/>
              <a:gd name="connsiteY17" fmla="*/ 923364 h 2366682"/>
              <a:gd name="connsiteX18" fmla="*/ 3820516 w 5021787"/>
              <a:gd name="connsiteY18" fmla="*/ 878541 h 2366682"/>
              <a:gd name="connsiteX19" fmla="*/ 3739834 w 5021787"/>
              <a:gd name="connsiteY19" fmla="*/ 833717 h 2366682"/>
              <a:gd name="connsiteX20" fmla="*/ 3659152 w 5021787"/>
              <a:gd name="connsiteY20" fmla="*/ 753035 h 2366682"/>
              <a:gd name="connsiteX21" fmla="*/ 3632258 w 5021787"/>
              <a:gd name="connsiteY21" fmla="*/ 726141 h 2366682"/>
              <a:gd name="connsiteX22" fmla="*/ 3614328 w 5021787"/>
              <a:gd name="connsiteY22" fmla="*/ 708211 h 2366682"/>
              <a:gd name="connsiteX23" fmla="*/ 3560540 w 5021787"/>
              <a:gd name="connsiteY23" fmla="*/ 663388 h 2366682"/>
              <a:gd name="connsiteX24" fmla="*/ 3479858 w 5021787"/>
              <a:gd name="connsiteY24" fmla="*/ 582705 h 2366682"/>
              <a:gd name="connsiteX25" fmla="*/ 3443999 w 5021787"/>
              <a:gd name="connsiteY25" fmla="*/ 546847 h 2366682"/>
              <a:gd name="connsiteX26" fmla="*/ 3417105 w 5021787"/>
              <a:gd name="connsiteY26" fmla="*/ 519953 h 2366682"/>
              <a:gd name="connsiteX27" fmla="*/ 3372281 w 5021787"/>
              <a:gd name="connsiteY27" fmla="*/ 484094 h 2366682"/>
              <a:gd name="connsiteX28" fmla="*/ 3309528 w 5021787"/>
              <a:gd name="connsiteY28" fmla="*/ 421341 h 2366682"/>
              <a:gd name="connsiteX29" fmla="*/ 3264705 w 5021787"/>
              <a:gd name="connsiteY29" fmla="*/ 376517 h 2366682"/>
              <a:gd name="connsiteX30" fmla="*/ 3067481 w 5021787"/>
              <a:gd name="connsiteY30" fmla="*/ 224117 h 2366682"/>
              <a:gd name="connsiteX31" fmla="*/ 2986799 w 5021787"/>
              <a:gd name="connsiteY31" fmla="*/ 161364 h 2366682"/>
              <a:gd name="connsiteX32" fmla="*/ 2950940 w 5021787"/>
              <a:gd name="connsiteY32" fmla="*/ 143435 h 2366682"/>
              <a:gd name="connsiteX33" fmla="*/ 2897152 w 5021787"/>
              <a:gd name="connsiteY33" fmla="*/ 98611 h 2366682"/>
              <a:gd name="connsiteX34" fmla="*/ 2879222 w 5021787"/>
              <a:gd name="connsiteY34" fmla="*/ 80682 h 2366682"/>
              <a:gd name="connsiteX35" fmla="*/ 2852328 w 5021787"/>
              <a:gd name="connsiteY35" fmla="*/ 71717 h 2366682"/>
              <a:gd name="connsiteX36" fmla="*/ 2780611 w 5021787"/>
              <a:gd name="connsiteY36" fmla="*/ 35858 h 2366682"/>
              <a:gd name="connsiteX37" fmla="*/ 2717858 w 5021787"/>
              <a:gd name="connsiteY37" fmla="*/ 8964 h 2366682"/>
              <a:gd name="connsiteX38" fmla="*/ 2655105 w 5021787"/>
              <a:gd name="connsiteY38" fmla="*/ 0 h 2366682"/>
              <a:gd name="connsiteX39" fmla="*/ 2475811 w 5021787"/>
              <a:gd name="connsiteY39" fmla="*/ 8964 h 2366682"/>
              <a:gd name="connsiteX40" fmla="*/ 2439952 w 5021787"/>
              <a:gd name="connsiteY40" fmla="*/ 17929 h 2366682"/>
              <a:gd name="connsiteX41" fmla="*/ 2359269 w 5021787"/>
              <a:gd name="connsiteY41" fmla="*/ 26894 h 2366682"/>
              <a:gd name="connsiteX42" fmla="*/ 2242728 w 5021787"/>
              <a:gd name="connsiteY42" fmla="*/ 44823 h 2366682"/>
              <a:gd name="connsiteX43" fmla="*/ 2162046 w 5021787"/>
              <a:gd name="connsiteY43" fmla="*/ 71717 h 2366682"/>
              <a:gd name="connsiteX44" fmla="*/ 2099293 w 5021787"/>
              <a:gd name="connsiteY44" fmla="*/ 89647 h 2366682"/>
              <a:gd name="connsiteX45" fmla="*/ 1713811 w 5021787"/>
              <a:gd name="connsiteY45" fmla="*/ 98611 h 2366682"/>
              <a:gd name="connsiteX46" fmla="*/ 1543481 w 5021787"/>
              <a:gd name="connsiteY46" fmla="*/ 116541 h 2366682"/>
              <a:gd name="connsiteX47" fmla="*/ 1480728 w 5021787"/>
              <a:gd name="connsiteY47" fmla="*/ 125505 h 2366682"/>
              <a:gd name="connsiteX48" fmla="*/ 1400046 w 5021787"/>
              <a:gd name="connsiteY48" fmla="*/ 134470 h 2366682"/>
              <a:gd name="connsiteX49" fmla="*/ 1328328 w 5021787"/>
              <a:gd name="connsiteY49" fmla="*/ 152400 h 2366682"/>
              <a:gd name="connsiteX50" fmla="*/ 1283505 w 5021787"/>
              <a:gd name="connsiteY50" fmla="*/ 161364 h 2366682"/>
              <a:gd name="connsiteX51" fmla="*/ 1229716 w 5021787"/>
              <a:gd name="connsiteY51" fmla="*/ 179294 h 2366682"/>
              <a:gd name="connsiteX52" fmla="*/ 1131105 w 5021787"/>
              <a:gd name="connsiteY52" fmla="*/ 206188 h 2366682"/>
              <a:gd name="connsiteX53" fmla="*/ 1104211 w 5021787"/>
              <a:gd name="connsiteY53" fmla="*/ 215153 h 2366682"/>
              <a:gd name="connsiteX54" fmla="*/ 1023528 w 5021787"/>
              <a:gd name="connsiteY54" fmla="*/ 233082 h 2366682"/>
              <a:gd name="connsiteX55" fmla="*/ 969740 w 5021787"/>
              <a:gd name="connsiteY55" fmla="*/ 251011 h 2366682"/>
              <a:gd name="connsiteX56" fmla="*/ 942846 w 5021787"/>
              <a:gd name="connsiteY56" fmla="*/ 259976 h 2366682"/>
              <a:gd name="connsiteX57" fmla="*/ 915952 w 5021787"/>
              <a:gd name="connsiteY57" fmla="*/ 277905 h 2366682"/>
              <a:gd name="connsiteX58" fmla="*/ 880093 w 5021787"/>
              <a:gd name="connsiteY58" fmla="*/ 286870 h 2366682"/>
              <a:gd name="connsiteX59" fmla="*/ 844234 w 5021787"/>
              <a:gd name="connsiteY59" fmla="*/ 304800 h 2366682"/>
              <a:gd name="connsiteX60" fmla="*/ 817340 w 5021787"/>
              <a:gd name="connsiteY60" fmla="*/ 313764 h 2366682"/>
              <a:gd name="connsiteX61" fmla="*/ 763552 w 5021787"/>
              <a:gd name="connsiteY61" fmla="*/ 349623 h 2366682"/>
              <a:gd name="connsiteX62" fmla="*/ 745622 w 5021787"/>
              <a:gd name="connsiteY62" fmla="*/ 367553 h 2366682"/>
              <a:gd name="connsiteX63" fmla="*/ 682869 w 5021787"/>
              <a:gd name="connsiteY63" fmla="*/ 412376 h 2366682"/>
              <a:gd name="connsiteX64" fmla="*/ 647011 w 5021787"/>
              <a:gd name="connsiteY64" fmla="*/ 448235 h 2366682"/>
              <a:gd name="connsiteX65" fmla="*/ 611152 w 5021787"/>
              <a:gd name="connsiteY65" fmla="*/ 475129 h 2366682"/>
              <a:gd name="connsiteX66" fmla="*/ 566328 w 5021787"/>
              <a:gd name="connsiteY66" fmla="*/ 519953 h 2366682"/>
              <a:gd name="connsiteX67" fmla="*/ 476681 w 5021787"/>
              <a:gd name="connsiteY67" fmla="*/ 600635 h 2366682"/>
              <a:gd name="connsiteX68" fmla="*/ 431858 w 5021787"/>
              <a:gd name="connsiteY68" fmla="*/ 645458 h 2366682"/>
              <a:gd name="connsiteX69" fmla="*/ 369105 w 5021787"/>
              <a:gd name="connsiteY69" fmla="*/ 717176 h 2366682"/>
              <a:gd name="connsiteX70" fmla="*/ 315316 w 5021787"/>
              <a:gd name="connsiteY70" fmla="*/ 753035 h 2366682"/>
              <a:gd name="connsiteX71" fmla="*/ 279458 w 5021787"/>
              <a:gd name="connsiteY71" fmla="*/ 806823 h 2366682"/>
              <a:gd name="connsiteX72" fmla="*/ 243599 w 5021787"/>
              <a:gd name="connsiteY72" fmla="*/ 851647 h 2366682"/>
              <a:gd name="connsiteX73" fmla="*/ 234634 w 5021787"/>
              <a:gd name="connsiteY73" fmla="*/ 878541 h 2366682"/>
              <a:gd name="connsiteX74" fmla="*/ 207740 w 5021787"/>
              <a:gd name="connsiteY74" fmla="*/ 914400 h 2366682"/>
              <a:gd name="connsiteX75" fmla="*/ 153952 w 5021787"/>
              <a:gd name="connsiteY75" fmla="*/ 995082 h 2366682"/>
              <a:gd name="connsiteX76" fmla="*/ 109128 w 5021787"/>
              <a:gd name="connsiteY76" fmla="*/ 1075764 h 2366682"/>
              <a:gd name="connsiteX77" fmla="*/ 522438 w 5021787"/>
              <a:gd name="connsiteY77" fmla="*/ 1109008 h 2366682"/>
              <a:gd name="connsiteX78" fmla="*/ 520384 w 5021787"/>
              <a:gd name="connsiteY78" fmla="*/ 1224242 h 2366682"/>
              <a:gd name="connsiteX79" fmla="*/ 701919 w 5021787"/>
              <a:gd name="connsiteY79" fmla="*/ 1457511 h 2366682"/>
              <a:gd name="connsiteX80" fmla="*/ 55340 w 5021787"/>
              <a:gd name="connsiteY80" fmla="*/ 1201270 h 2366682"/>
              <a:gd name="connsiteX81" fmla="*/ 28446 w 5021787"/>
              <a:gd name="connsiteY81" fmla="*/ 1317811 h 2366682"/>
              <a:gd name="connsiteX82" fmla="*/ 19481 w 5021787"/>
              <a:gd name="connsiteY82" fmla="*/ 1353670 h 2366682"/>
              <a:gd name="connsiteX83" fmla="*/ 37411 w 5021787"/>
              <a:gd name="connsiteY83" fmla="*/ 1667435 h 2366682"/>
              <a:gd name="connsiteX84" fmla="*/ 64305 w 5021787"/>
              <a:gd name="connsiteY84" fmla="*/ 1757082 h 2366682"/>
              <a:gd name="connsiteX85" fmla="*/ 73269 w 5021787"/>
              <a:gd name="connsiteY85" fmla="*/ 1792941 h 2366682"/>
              <a:gd name="connsiteX86" fmla="*/ 127058 w 5021787"/>
              <a:gd name="connsiteY86" fmla="*/ 1882588 h 2366682"/>
              <a:gd name="connsiteX87" fmla="*/ 180846 w 5021787"/>
              <a:gd name="connsiteY87" fmla="*/ 1972235 h 2366682"/>
              <a:gd name="connsiteX88" fmla="*/ 216705 w 5021787"/>
              <a:gd name="connsiteY88" fmla="*/ 1999129 h 2366682"/>
              <a:gd name="connsiteX89" fmla="*/ 243599 w 5021787"/>
              <a:gd name="connsiteY89" fmla="*/ 2026023 h 2366682"/>
              <a:gd name="connsiteX90" fmla="*/ 288422 w 5021787"/>
              <a:gd name="connsiteY90" fmla="*/ 2043953 h 2366682"/>
              <a:gd name="connsiteX91" fmla="*/ 342211 w 5021787"/>
              <a:gd name="connsiteY91" fmla="*/ 2070847 h 2366682"/>
              <a:gd name="connsiteX92" fmla="*/ 378069 w 5021787"/>
              <a:gd name="connsiteY92" fmla="*/ 2097741 h 2366682"/>
              <a:gd name="connsiteX93" fmla="*/ 467716 w 5021787"/>
              <a:gd name="connsiteY93" fmla="*/ 2133600 h 2366682"/>
              <a:gd name="connsiteX94" fmla="*/ 503575 w 5021787"/>
              <a:gd name="connsiteY94" fmla="*/ 2151529 h 2366682"/>
              <a:gd name="connsiteX95" fmla="*/ 566328 w 5021787"/>
              <a:gd name="connsiteY95" fmla="*/ 2169458 h 2366682"/>
              <a:gd name="connsiteX96" fmla="*/ 673905 w 5021787"/>
              <a:gd name="connsiteY96" fmla="*/ 2205317 h 2366682"/>
              <a:gd name="connsiteX97" fmla="*/ 718728 w 5021787"/>
              <a:gd name="connsiteY97" fmla="*/ 2223247 h 2366682"/>
              <a:gd name="connsiteX98" fmla="*/ 817340 w 5021787"/>
              <a:gd name="connsiteY98" fmla="*/ 2250141 h 2366682"/>
              <a:gd name="connsiteX99" fmla="*/ 853199 w 5021787"/>
              <a:gd name="connsiteY99" fmla="*/ 2268070 h 2366682"/>
              <a:gd name="connsiteX100" fmla="*/ 889058 w 5021787"/>
              <a:gd name="connsiteY100" fmla="*/ 2277035 h 2366682"/>
              <a:gd name="connsiteX101" fmla="*/ 924916 w 5021787"/>
              <a:gd name="connsiteY101" fmla="*/ 2294964 h 2366682"/>
              <a:gd name="connsiteX102" fmla="*/ 1005599 w 5021787"/>
              <a:gd name="connsiteY102" fmla="*/ 2312894 h 2366682"/>
              <a:gd name="connsiteX103" fmla="*/ 1131105 w 5021787"/>
              <a:gd name="connsiteY103" fmla="*/ 2348753 h 2366682"/>
              <a:gd name="connsiteX104" fmla="*/ 1175928 w 5021787"/>
              <a:gd name="connsiteY104" fmla="*/ 2357717 h 2366682"/>
              <a:gd name="connsiteX105" fmla="*/ 1220752 w 5021787"/>
              <a:gd name="connsiteY105" fmla="*/ 2366682 h 2366682"/>
              <a:gd name="connsiteX106" fmla="*/ 1471763 w 5021787"/>
              <a:gd name="connsiteY106" fmla="*/ 2357717 h 2366682"/>
              <a:gd name="connsiteX107" fmla="*/ 1516587 w 5021787"/>
              <a:gd name="connsiteY107" fmla="*/ 2339788 h 2366682"/>
              <a:gd name="connsiteX108" fmla="*/ 1561411 w 5021787"/>
              <a:gd name="connsiteY108" fmla="*/ 2330823 h 2366682"/>
              <a:gd name="connsiteX109" fmla="*/ 1597269 w 5021787"/>
              <a:gd name="connsiteY109" fmla="*/ 2321858 h 2366682"/>
              <a:gd name="connsiteX110" fmla="*/ 1704846 w 5021787"/>
              <a:gd name="connsiteY110" fmla="*/ 2277035 h 2366682"/>
              <a:gd name="connsiteX111" fmla="*/ 1794493 w 5021787"/>
              <a:gd name="connsiteY111" fmla="*/ 2241176 h 2366682"/>
              <a:gd name="connsiteX112" fmla="*/ 1857246 w 5021787"/>
              <a:gd name="connsiteY112" fmla="*/ 2214282 h 2366682"/>
              <a:gd name="connsiteX113" fmla="*/ 1928963 w 5021787"/>
              <a:gd name="connsiteY113" fmla="*/ 2169458 h 2366682"/>
              <a:gd name="connsiteX114" fmla="*/ 2009646 w 5021787"/>
              <a:gd name="connsiteY114" fmla="*/ 2115670 h 2366682"/>
              <a:gd name="connsiteX115" fmla="*/ 2027575 w 5021787"/>
              <a:gd name="connsiteY115" fmla="*/ 2088776 h 2366682"/>
              <a:gd name="connsiteX116" fmla="*/ 2099293 w 5021787"/>
              <a:gd name="connsiteY116" fmla="*/ 2034988 h 2366682"/>
              <a:gd name="connsiteX117" fmla="*/ 2135152 w 5021787"/>
              <a:gd name="connsiteY117" fmla="*/ 1999129 h 2366682"/>
              <a:gd name="connsiteX118" fmla="*/ 2162046 w 5021787"/>
              <a:gd name="connsiteY118" fmla="*/ 1981200 h 2366682"/>
              <a:gd name="connsiteX119" fmla="*/ 2179975 w 5021787"/>
              <a:gd name="connsiteY119" fmla="*/ 1963270 h 2366682"/>
              <a:gd name="connsiteX120" fmla="*/ 2251693 w 5021787"/>
              <a:gd name="connsiteY120" fmla="*/ 1918447 h 2366682"/>
              <a:gd name="connsiteX121" fmla="*/ 2287552 w 5021787"/>
              <a:gd name="connsiteY121" fmla="*/ 1882588 h 2366682"/>
              <a:gd name="connsiteX122" fmla="*/ 2305481 w 5021787"/>
              <a:gd name="connsiteY122" fmla="*/ 1846729 h 2366682"/>
              <a:gd name="connsiteX123" fmla="*/ 2386163 w 5021787"/>
              <a:gd name="connsiteY123" fmla="*/ 1810870 h 2366682"/>
              <a:gd name="connsiteX124" fmla="*/ 2413058 w 5021787"/>
              <a:gd name="connsiteY124" fmla="*/ 1801905 h 2366682"/>
              <a:gd name="connsiteX125" fmla="*/ 2448916 w 5021787"/>
              <a:gd name="connsiteY125" fmla="*/ 1792941 h 2366682"/>
              <a:gd name="connsiteX0" fmla="*/ 5021787 w 5021787"/>
              <a:gd name="connsiteY0" fmla="*/ 1129553 h 2366682"/>
              <a:gd name="connsiteX1" fmla="*/ 4950069 w 5021787"/>
              <a:gd name="connsiteY1" fmla="*/ 1156447 h 2366682"/>
              <a:gd name="connsiteX2" fmla="*/ 4914211 w 5021787"/>
              <a:gd name="connsiteY2" fmla="*/ 1165411 h 2366682"/>
              <a:gd name="connsiteX3" fmla="*/ 4887316 w 5021787"/>
              <a:gd name="connsiteY3" fmla="*/ 1183341 h 2366682"/>
              <a:gd name="connsiteX4" fmla="*/ 4788705 w 5021787"/>
              <a:gd name="connsiteY4" fmla="*/ 1201270 h 2366682"/>
              <a:gd name="connsiteX5" fmla="*/ 4636305 w 5021787"/>
              <a:gd name="connsiteY5" fmla="*/ 1192305 h 2366682"/>
              <a:gd name="connsiteX6" fmla="*/ 4528728 w 5021787"/>
              <a:gd name="connsiteY6" fmla="*/ 1174376 h 2366682"/>
              <a:gd name="connsiteX7" fmla="*/ 4457011 w 5021787"/>
              <a:gd name="connsiteY7" fmla="*/ 1165411 h 2366682"/>
              <a:gd name="connsiteX8" fmla="*/ 4385293 w 5021787"/>
              <a:gd name="connsiteY8" fmla="*/ 1147482 h 2366682"/>
              <a:gd name="connsiteX9" fmla="*/ 4313575 w 5021787"/>
              <a:gd name="connsiteY9" fmla="*/ 1120588 h 2366682"/>
              <a:gd name="connsiteX10" fmla="*/ 4250822 w 5021787"/>
              <a:gd name="connsiteY10" fmla="*/ 1102658 h 2366682"/>
              <a:gd name="connsiteX11" fmla="*/ 4223928 w 5021787"/>
              <a:gd name="connsiteY11" fmla="*/ 1093694 h 2366682"/>
              <a:gd name="connsiteX12" fmla="*/ 4170140 w 5021787"/>
              <a:gd name="connsiteY12" fmla="*/ 1066800 h 2366682"/>
              <a:gd name="connsiteX13" fmla="*/ 4143246 w 5021787"/>
              <a:gd name="connsiteY13" fmla="*/ 1048870 h 2366682"/>
              <a:gd name="connsiteX14" fmla="*/ 4080493 w 5021787"/>
              <a:gd name="connsiteY14" fmla="*/ 1021976 h 2366682"/>
              <a:gd name="connsiteX15" fmla="*/ 4026705 w 5021787"/>
              <a:gd name="connsiteY15" fmla="*/ 986117 h 2366682"/>
              <a:gd name="connsiteX16" fmla="*/ 3990846 w 5021787"/>
              <a:gd name="connsiteY16" fmla="*/ 968188 h 2366682"/>
              <a:gd name="connsiteX17" fmla="*/ 3910163 w 5021787"/>
              <a:gd name="connsiteY17" fmla="*/ 923364 h 2366682"/>
              <a:gd name="connsiteX18" fmla="*/ 3820516 w 5021787"/>
              <a:gd name="connsiteY18" fmla="*/ 878541 h 2366682"/>
              <a:gd name="connsiteX19" fmla="*/ 3739834 w 5021787"/>
              <a:gd name="connsiteY19" fmla="*/ 833717 h 2366682"/>
              <a:gd name="connsiteX20" fmla="*/ 3659152 w 5021787"/>
              <a:gd name="connsiteY20" fmla="*/ 753035 h 2366682"/>
              <a:gd name="connsiteX21" fmla="*/ 3632258 w 5021787"/>
              <a:gd name="connsiteY21" fmla="*/ 726141 h 2366682"/>
              <a:gd name="connsiteX22" fmla="*/ 3614328 w 5021787"/>
              <a:gd name="connsiteY22" fmla="*/ 708211 h 2366682"/>
              <a:gd name="connsiteX23" fmla="*/ 3560540 w 5021787"/>
              <a:gd name="connsiteY23" fmla="*/ 663388 h 2366682"/>
              <a:gd name="connsiteX24" fmla="*/ 3479858 w 5021787"/>
              <a:gd name="connsiteY24" fmla="*/ 582705 h 2366682"/>
              <a:gd name="connsiteX25" fmla="*/ 3443999 w 5021787"/>
              <a:gd name="connsiteY25" fmla="*/ 546847 h 2366682"/>
              <a:gd name="connsiteX26" fmla="*/ 3417105 w 5021787"/>
              <a:gd name="connsiteY26" fmla="*/ 519953 h 2366682"/>
              <a:gd name="connsiteX27" fmla="*/ 3372281 w 5021787"/>
              <a:gd name="connsiteY27" fmla="*/ 484094 h 2366682"/>
              <a:gd name="connsiteX28" fmla="*/ 3309528 w 5021787"/>
              <a:gd name="connsiteY28" fmla="*/ 421341 h 2366682"/>
              <a:gd name="connsiteX29" fmla="*/ 3264705 w 5021787"/>
              <a:gd name="connsiteY29" fmla="*/ 376517 h 2366682"/>
              <a:gd name="connsiteX30" fmla="*/ 3067481 w 5021787"/>
              <a:gd name="connsiteY30" fmla="*/ 224117 h 2366682"/>
              <a:gd name="connsiteX31" fmla="*/ 2986799 w 5021787"/>
              <a:gd name="connsiteY31" fmla="*/ 161364 h 2366682"/>
              <a:gd name="connsiteX32" fmla="*/ 2950940 w 5021787"/>
              <a:gd name="connsiteY32" fmla="*/ 143435 h 2366682"/>
              <a:gd name="connsiteX33" fmla="*/ 2897152 w 5021787"/>
              <a:gd name="connsiteY33" fmla="*/ 98611 h 2366682"/>
              <a:gd name="connsiteX34" fmla="*/ 2879222 w 5021787"/>
              <a:gd name="connsiteY34" fmla="*/ 80682 h 2366682"/>
              <a:gd name="connsiteX35" fmla="*/ 2852328 w 5021787"/>
              <a:gd name="connsiteY35" fmla="*/ 71717 h 2366682"/>
              <a:gd name="connsiteX36" fmla="*/ 2780611 w 5021787"/>
              <a:gd name="connsiteY36" fmla="*/ 35858 h 2366682"/>
              <a:gd name="connsiteX37" fmla="*/ 2717858 w 5021787"/>
              <a:gd name="connsiteY37" fmla="*/ 8964 h 2366682"/>
              <a:gd name="connsiteX38" fmla="*/ 2655105 w 5021787"/>
              <a:gd name="connsiteY38" fmla="*/ 0 h 2366682"/>
              <a:gd name="connsiteX39" fmla="*/ 2475811 w 5021787"/>
              <a:gd name="connsiteY39" fmla="*/ 8964 h 2366682"/>
              <a:gd name="connsiteX40" fmla="*/ 2439952 w 5021787"/>
              <a:gd name="connsiteY40" fmla="*/ 17929 h 2366682"/>
              <a:gd name="connsiteX41" fmla="*/ 2359269 w 5021787"/>
              <a:gd name="connsiteY41" fmla="*/ 26894 h 2366682"/>
              <a:gd name="connsiteX42" fmla="*/ 2242728 w 5021787"/>
              <a:gd name="connsiteY42" fmla="*/ 44823 h 2366682"/>
              <a:gd name="connsiteX43" fmla="*/ 2162046 w 5021787"/>
              <a:gd name="connsiteY43" fmla="*/ 71717 h 2366682"/>
              <a:gd name="connsiteX44" fmla="*/ 2099293 w 5021787"/>
              <a:gd name="connsiteY44" fmla="*/ 89647 h 2366682"/>
              <a:gd name="connsiteX45" fmla="*/ 1713811 w 5021787"/>
              <a:gd name="connsiteY45" fmla="*/ 98611 h 2366682"/>
              <a:gd name="connsiteX46" fmla="*/ 1543481 w 5021787"/>
              <a:gd name="connsiteY46" fmla="*/ 116541 h 2366682"/>
              <a:gd name="connsiteX47" fmla="*/ 1480728 w 5021787"/>
              <a:gd name="connsiteY47" fmla="*/ 125505 h 2366682"/>
              <a:gd name="connsiteX48" fmla="*/ 1400046 w 5021787"/>
              <a:gd name="connsiteY48" fmla="*/ 134470 h 2366682"/>
              <a:gd name="connsiteX49" fmla="*/ 1328328 w 5021787"/>
              <a:gd name="connsiteY49" fmla="*/ 152400 h 2366682"/>
              <a:gd name="connsiteX50" fmla="*/ 1283505 w 5021787"/>
              <a:gd name="connsiteY50" fmla="*/ 161364 h 2366682"/>
              <a:gd name="connsiteX51" fmla="*/ 1229716 w 5021787"/>
              <a:gd name="connsiteY51" fmla="*/ 179294 h 2366682"/>
              <a:gd name="connsiteX52" fmla="*/ 1131105 w 5021787"/>
              <a:gd name="connsiteY52" fmla="*/ 206188 h 2366682"/>
              <a:gd name="connsiteX53" fmla="*/ 1104211 w 5021787"/>
              <a:gd name="connsiteY53" fmla="*/ 215153 h 2366682"/>
              <a:gd name="connsiteX54" fmla="*/ 1023528 w 5021787"/>
              <a:gd name="connsiteY54" fmla="*/ 233082 h 2366682"/>
              <a:gd name="connsiteX55" fmla="*/ 969740 w 5021787"/>
              <a:gd name="connsiteY55" fmla="*/ 251011 h 2366682"/>
              <a:gd name="connsiteX56" fmla="*/ 942846 w 5021787"/>
              <a:gd name="connsiteY56" fmla="*/ 259976 h 2366682"/>
              <a:gd name="connsiteX57" fmla="*/ 915952 w 5021787"/>
              <a:gd name="connsiteY57" fmla="*/ 277905 h 2366682"/>
              <a:gd name="connsiteX58" fmla="*/ 880093 w 5021787"/>
              <a:gd name="connsiteY58" fmla="*/ 286870 h 2366682"/>
              <a:gd name="connsiteX59" fmla="*/ 844234 w 5021787"/>
              <a:gd name="connsiteY59" fmla="*/ 304800 h 2366682"/>
              <a:gd name="connsiteX60" fmla="*/ 817340 w 5021787"/>
              <a:gd name="connsiteY60" fmla="*/ 313764 h 2366682"/>
              <a:gd name="connsiteX61" fmla="*/ 763552 w 5021787"/>
              <a:gd name="connsiteY61" fmla="*/ 349623 h 2366682"/>
              <a:gd name="connsiteX62" fmla="*/ 745622 w 5021787"/>
              <a:gd name="connsiteY62" fmla="*/ 367553 h 2366682"/>
              <a:gd name="connsiteX63" fmla="*/ 682869 w 5021787"/>
              <a:gd name="connsiteY63" fmla="*/ 412376 h 2366682"/>
              <a:gd name="connsiteX64" fmla="*/ 647011 w 5021787"/>
              <a:gd name="connsiteY64" fmla="*/ 448235 h 2366682"/>
              <a:gd name="connsiteX65" fmla="*/ 611152 w 5021787"/>
              <a:gd name="connsiteY65" fmla="*/ 475129 h 2366682"/>
              <a:gd name="connsiteX66" fmla="*/ 566328 w 5021787"/>
              <a:gd name="connsiteY66" fmla="*/ 519953 h 2366682"/>
              <a:gd name="connsiteX67" fmla="*/ 476681 w 5021787"/>
              <a:gd name="connsiteY67" fmla="*/ 600635 h 2366682"/>
              <a:gd name="connsiteX68" fmla="*/ 431858 w 5021787"/>
              <a:gd name="connsiteY68" fmla="*/ 645458 h 2366682"/>
              <a:gd name="connsiteX69" fmla="*/ 369105 w 5021787"/>
              <a:gd name="connsiteY69" fmla="*/ 717176 h 2366682"/>
              <a:gd name="connsiteX70" fmla="*/ 315316 w 5021787"/>
              <a:gd name="connsiteY70" fmla="*/ 753035 h 2366682"/>
              <a:gd name="connsiteX71" fmla="*/ 279458 w 5021787"/>
              <a:gd name="connsiteY71" fmla="*/ 806823 h 2366682"/>
              <a:gd name="connsiteX72" fmla="*/ 243599 w 5021787"/>
              <a:gd name="connsiteY72" fmla="*/ 851647 h 2366682"/>
              <a:gd name="connsiteX73" fmla="*/ 234634 w 5021787"/>
              <a:gd name="connsiteY73" fmla="*/ 878541 h 2366682"/>
              <a:gd name="connsiteX74" fmla="*/ 207740 w 5021787"/>
              <a:gd name="connsiteY74" fmla="*/ 914400 h 2366682"/>
              <a:gd name="connsiteX75" fmla="*/ 153952 w 5021787"/>
              <a:gd name="connsiteY75" fmla="*/ 995082 h 2366682"/>
              <a:gd name="connsiteX76" fmla="*/ 109128 w 5021787"/>
              <a:gd name="connsiteY76" fmla="*/ 1075764 h 2366682"/>
              <a:gd name="connsiteX77" fmla="*/ 522438 w 5021787"/>
              <a:gd name="connsiteY77" fmla="*/ 1109008 h 2366682"/>
              <a:gd name="connsiteX78" fmla="*/ 701919 w 5021787"/>
              <a:gd name="connsiteY78" fmla="*/ 1457511 h 2366682"/>
              <a:gd name="connsiteX79" fmla="*/ 55340 w 5021787"/>
              <a:gd name="connsiteY79" fmla="*/ 1201270 h 2366682"/>
              <a:gd name="connsiteX80" fmla="*/ 28446 w 5021787"/>
              <a:gd name="connsiteY80" fmla="*/ 1317811 h 2366682"/>
              <a:gd name="connsiteX81" fmla="*/ 19481 w 5021787"/>
              <a:gd name="connsiteY81" fmla="*/ 1353670 h 2366682"/>
              <a:gd name="connsiteX82" fmla="*/ 37411 w 5021787"/>
              <a:gd name="connsiteY82" fmla="*/ 1667435 h 2366682"/>
              <a:gd name="connsiteX83" fmla="*/ 64305 w 5021787"/>
              <a:gd name="connsiteY83" fmla="*/ 1757082 h 2366682"/>
              <a:gd name="connsiteX84" fmla="*/ 73269 w 5021787"/>
              <a:gd name="connsiteY84" fmla="*/ 1792941 h 2366682"/>
              <a:gd name="connsiteX85" fmla="*/ 127058 w 5021787"/>
              <a:gd name="connsiteY85" fmla="*/ 1882588 h 2366682"/>
              <a:gd name="connsiteX86" fmla="*/ 180846 w 5021787"/>
              <a:gd name="connsiteY86" fmla="*/ 1972235 h 2366682"/>
              <a:gd name="connsiteX87" fmla="*/ 216705 w 5021787"/>
              <a:gd name="connsiteY87" fmla="*/ 1999129 h 2366682"/>
              <a:gd name="connsiteX88" fmla="*/ 243599 w 5021787"/>
              <a:gd name="connsiteY88" fmla="*/ 2026023 h 2366682"/>
              <a:gd name="connsiteX89" fmla="*/ 288422 w 5021787"/>
              <a:gd name="connsiteY89" fmla="*/ 2043953 h 2366682"/>
              <a:gd name="connsiteX90" fmla="*/ 342211 w 5021787"/>
              <a:gd name="connsiteY90" fmla="*/ 2070847 h 2366682"/>
              <a:gd name="connsiteX91" fmla="*/ 378069 w 5021787"/>
              <a:gd name="connsiteY91" fmla="*/ 2097741 h 2366682"/>
              <a:gd name="connsiteX92" fmla="*/ 467716 w 5021787"/>
              <a:gd name="connsiteY92" fmla="*/ 2133600 h 2366682"/>
              <a:gd name="connsiteX93" fmla="*/ 503575 w 5021787"/>
              <a:gd name="connsiteY93" fmla="*/ 2151529 h 2366682"/>
              <a:gd name="connsiteX94" fmla="*/ 566328 w 5021787"/>
              <a:gd name="connsiteY94" fmla="*/ 2169458 h 2366682"/>
              <a:gd name="connsiteX95" fmla="*/ 673905 w 5021787"/>
              <a:gd name="connsiteY95" fmla="*/ 2205317 h 2366682"/>
              <a:gd name="connsiteX96" fmla="*/ 718728 w 5021787"/>
              <a:gd name="connsiteY96" fmla="*/ 2223247 h 2366682"/>
              <a:gd name="connsiteX97" fmla="*/ 817340 w 5021787"/>
              <a:gd name="connsiteY97" fmla="*/ 2250141 h 2366682"/>
              <a:gd name="connsiteX98" fmla="*/ 853199 w 5021787"/>
              <a:gd name="connsiteY98" fmla="*/ 2268070 h 2366682"/>
              <a:gd name="connsiteX99" fmla="*/ 889058 w 5021787"/>
              <a:gd name="connsiteY99" fmla="*/ 2277035 h 2366682"/>
              <a:gd name="connsiteX100" fmla="*/ 924916 w 5021787"/>
              <a:gd name="connsiteY100" fmla="*/ 2294964 h 2366682"/>
              <a:gd name="connsiteX101" fmla="*/ 1005599 w 5021787"/>
              <a:gd name="connsiteY101" fmla="*/ 2312894 h 2366682"/>
              <a:gd name="connsiteX102" fmla="*/ 1131105 w 5021787"/>
              <a:gd name="connsiteY102" fmla="*/ 2348753 h 2366682"/>
              <a:gd name="connsiteX103" fmla="*/ 1175928 w 5021787"/>
              <a:gd name="connsiteY103" fmla="*/ 2357717 h 2366682"/>
              <a:gd name="connsiteX104" fmla="*/ 1220752 w 5021787"/>
              <a:gd name="connsiteY104" fmla="*/ 2366682 h 2366682"/>
              <a:gd name="connsiteX105" fmla="*/ 1471763 w 5021787"/>
              <a:gd name="connsiteY105" fmla="*/ 2357717 h 2366682"/>
              <a:gd name="connsiteX106" fmla="*/ 1516587 w 5021787"/>
              <a:gd name="connsiteY106" fmla="*/ 2339788 h 2366682"/>
              <a:gd name="connsiteX107" fmla="*/ 1561411 w 5021787"/>
              <a:gd name="connsiteY107" fmla="*/ 2330823 h 2366682"/>
              <a:gd name="connsiteX108" fmla="*/ 1597269 w 5021787"/>
              <a:gd name="connsiteY108" fmla="*/ 2321858 h 2366682"/>
              <a:gd name="connsiteX109" fmla="*/ 1704846 w 5021787"/>
              <a:gd name="connsiteY109" fmla="*/ 2277035 h 2366682"/>
              <a:gd name="connsiteX110" fmla="*/ 1794493 w 5021787"/>
              <a:gd name="connsiteY110" fmla="*/ 2241176 h 2366682"/>
              <a:gd name="connsiteX111" fmla="*/ 1857246 w 5021787"/>
              <a:gd name="connsiteY111" fmla="*/ 2214282 h 2366682"/>
              <a:gd name="connsiteX112" fmla="*/ 1928963 w 5021787"/>
              <a:gd name="connsiteY112" fmla="*/ 2169458 h 2366682"/>
              <a:gd name="connsiteX113" fmla="*/ 2009646 w 5021787"/>
              <a:gd name="connsiteY113" fmla="*/ 2115670 h 2366682"/>
              <a:gd name="connsiteX114" fmla="*/ 2027575 w 5021787"/>
              <a:gd name="connsiteY114" fmla="*/ 2088776 h 2366682"/>
              <a:gd name="connsiteX115" fmla="*/ 2099293 w 5021787"/>
              <a:gd name="connsiteY115" fmla="*/ 2034988 h 2366682"/>
              <a:gd name="connsiteX116" fmla="*/ 2135152 w 5021787"/>
              <a:gd name="connsiteY116" fmla="*/ 1999129 h 2366682"/>
              <a:gd name="connsiteX117" fmla="*/ 2162046 w 5021787"/>
              <a:gd name="connsiteY117" fmla="*/ 1981200 h 2366682"/>
              <a:gd name="connsiteX118" fmla="*/ 2179975 w 5021787"/>
              <a:gd name="connsiteY118" fmla="*/ 1963270 h 2366682"/>
              <a:gd name="connsiteX119" fmla="*/ 2251693 w 5021787"/>
              <a:gd name="connsiteY119" fmla="*/ 1918447 h 2366682"/>
              <a:gd name="connsiteX120" fmla="*/ 2287552 w 5021787"/>
              <a:gd name="connsiteY120" fmla="*/ 1882588 h 2366682"/>
              <a:gd name="connsiteX121" fmla="*/ 2305481 w 5021787"/>
              <a:gd name="connsiteY121" fmla="*/ 1846729 h 2366682"/>
              <a:gd name="connsiteX122" fmla="*/ 2386163 w 5021787"/>
              <a:gd name="connsiteY122" fmla="*/ 1810870 h 2366682"/>
              <a:gd name="connsiteX123" fmla="*/ 2413058 w 5021787"/>
              <a:gd name="connsiteY123" fmla="*/ 1801905 h 2366682"/>
              <a:gd name="connsiteX124" fmla="*/ 2448916 w 5021787"/>
              <a:gd name="connsiteY124" fmla="*/ 1792941 h 2366682"/>
              <a:gd name="connsiteX0" fmla="*/ 5045613 w 5045613"/>
              <a:gd name="connsiteY0" fmla="*/ 1129553 h 2366682"/>
              <a:gd name="connsiteX1" fmla="*/ 4973895 w 5045613"/>
              <a:gd name="connsiteY1" fmla="*/ 1156447 h 2366682"/>
              <a:gd name="connsiteX2" fmla="*/ 4938037 w 5045613"/>
              <a:gd name="connsiteY2" fmla="*/ 1165411 h 2366682"/>
              <a:gd name="connsiteX3" fmla="*/ 4911142 w 5045613"/>
              <a:gd name="connsiteY3" fmla="*/ 1183341 h 2366682"/>
              <a:gd name="connsiteX4" fmla="*/ 4812531 w 5045613"/>
              <a:gd name="connsiteY4" fmla="*/ 1201270 h 2366682"/>
              <a:gd name="connsiteX5" fmla="*/ 4660131 w 5045613"/>
              <a:gd name="connsiteY5" fmla="*/ 1192305 h 2366682"/>
              <a:gd name="connsiteX6" fmla="*/ 4552554 w 5045613"/>
              <a:gd name="connsiteY6" fmla="*/ 1174376 h 2366682"/>
              <a:gd name="connsiteX7" fmla="*/ 4480837 w 5045613"/>
              <a:gd name="connsiteY7" fmla="*/ 1165411 h 2366682"/>
              <a:gd name="connsiteX8" fmla="*/ 4409119 w 5045613"/>
              <a:gd name="connsiteY8" fmla="*/ 1147482 h 2366682"/>
              <a:gd name="connsiteX9" fmla="*/ 4337401 w 5045613"/>
              <a:gd name="connsiteY9" fmla="*/ 1120588 h 2366682"/>
              <a:gd name="connsiteX10" fmla="*/ 4274648 w 5045613"/>
              <a:gd name="connsiteY10" fmla="*/ 1102658 h 2366682"/>
              <a:gd name="connsiteX11" fmla="*/ 4247754 w 5045613"/>
              <a:gd name="connsiteY11" fmla="*/ 1093694 h 2366682"/>
              <a:gd name="connsiteX12" fmla="*/ 4193966 w 5045613"/>
              <a:gd name="connsiteY12" fmla="*/ 1066800 h 2366682"/>
              <a:gd name="connsiteX13" fmla="*/ 4167072 w 5045613"/>
              <a:gd name="connsiteY13" fmla="*/ 1048870 h 2366682"/>
              <a:gd name="connsiteX14" fmla="*/ 4104319 w 5045613"/>
              <a:gd name="connsiteY14" fmla="*/ 1021976 h 2366682"/>
              <a:gd name="connsiteX15" fmla="*/ 4050531 w 5045613"/>
              <a:gd name="connsiteY15" fmla="*/ 986117 h 2366682"/>
              <a:gd name="connsiteX16" fmla="*/ 4014672 w 5045613"/>
              <a:gd name="connsiteY16" fmla="*/ 968188 h 2366682"/>
              <a:gd name="connsiteX17" fmla="*/ 3933989 w 5045613"/>
              <a:gd name="connsiteY17" fmla="*/ 923364 h 2366682"/>
              <a:gd name="connsiteX18" fmla="*/ 3844342 w 5045613"/>
              <a:gd name="connsiteY18" fmla="*/ 878541 h 2366682"/>
              <a:gd name="connsiteX19" fmla="*/ 3763660 w 5045613"/>
              <a:gd name="connsiteY19" fmla="*/ 833717 h 2366682"/>
              <a:gd name="connsiteX20" fmla="*/ 3682978 w 5045613"/>
              <a:gd name="connsiteY20" fmla="*/ 753035 h 2366682"/>
              <a:gd name="connsiteX21" fmla="*/ 3656084 w 5045613"/>
              <a:gd name="connsiteY21" fmla="*/ 726141 h 2366682"/>
              <a:gd name="connsiteX22" fmla="*/ 3638154 w 5045613"/>
              <a:gd name="connsiteY22" fmla="*/ 708211 h 2366682"/>
              <a:gd name="connsiteX23" fmla="*/ 3584366 w 5045613"/>
              <a:gd name="connsiteY23" fmla="*/ 663388 h 2366682"/>
              <a:gd name="connsiteX24" fmla="*/ 3503684 w 5045613"/>
              <a:gd name="connsiteY24" fmla="*/ 582705 h 2366682"/>
              <a:gd name="connsiteX25" fmla="*/ 3467825 w 5045613"/>
              <a:gd name="connsiteY25" fmla="*/ 546847 h 2366682"/>
              <a:gd name="connsiteX26" fmla="*/ 3440931 w 5045613"/>
              <a:gd name="connsiteY26" fmla="*/ 519953 h 2366682"/>
              <a:gd name="connsiteX27" fmla="*/ 3396107 w 5045613"/>
              <a:gd name="connsiteY27" fmla="*/ 484094 h 2366682"/>
              <a:gd name="connsiteX28" fmla="*/ 3333354 w 5045613"/>
              <a:gd name="connsiteY28" fmla="*/ 421341 h 2366682"/>
              <a:gd name="connsiteX29" fmla="*/ 3288531 w 5045613"/>
              <a:gd name="connsiteY29" fmla="*/ 376517 h 2366682"/>
              <a:gd name="connsiteX30" fmla="*/ 3091307 w 5045613"/>
              <a:gd name="connsiteY30" fmla="*/ 224117 h 2366682"/>
              <a:gd name="connsiteX31" fmla="*/ 3010625 w 5045613"/>
              <a:gd name="connsiteY31" fmla="*/ 161364 h 2366682"/>
              <a:gd name="connsiteX32" fmla="*/ 2974766 w 5045613"/>
              <a:gd name="connsiteY32" fmla="*/ 143435 h 2366682"/>
              <a:gd name="connsiteX33" fmla="*/ 2920978 w 5045613"/>
              <a:gd name="connsiteY33" fmla="*/ 98611 h 2366682"/>
              <a:gd name="connsiteX34" fmla="*/ 2903048 w 5045613"/>
              <a:gd name="connsiteY34" fmla="*/ 80682 h 2366682"/>
              <a:gd name="connsiteX35" fmla="*/ 2876154 w 5045613"/>
              <a:gd name="connsiteY35" fmla="*/ 71717 h 2366682"/>
              <a:gd name="connsiteX36" fmla="*/ 2804437 w 5045613"/>
              <a:gd name="connsiteY36" fmla="*/ 35858 h 2366682"/>
              <a:gd name="connsiteX37" fmla="*/ 2741684 w 5045613"/>
              <a:gd name="connsiteY37" fmla="*/ 8964 h 2366682"/>
              <a:gd name="connsiteX38" fmla="*/ 2678931 w 5045613"/>
              <a:gd name="connsiteY38" fmla="*/ 0 h 2366682"/>
              <a:gd name="connsiteX39" fmla="*/ 2499637 w 5045613"/>
              <a:gd name="connsiteY39" fmla="*/ 8964 h 2366682"/>
              <a:gd name="connsiteX40" fmla="*/ 2463778 w 5045613"/>
              <a:gd name="connsiteY40" fmla="*/ 17929 h 2366682"/>
              <a:gd name="connsiteX41" fmla="*/ 2383095 w 5045613"/>
              <a:gd name="connsiteY41" fmla="*/ 26894 h 2366682"/>
              <a:gd name="connsiteX42" fmla="*/ 2266554 w 5045613"/>
              <a:gd name="connsiteY42" fmla="*/ 44823 h 2366682"/>
              <a:gd name="connsiteX43" fmla="*/ 2185872 w 5045613"/>
              <a:gd name="connsiteY43" fmla="*/ 71717 h 2366682"/>
              <a:gd name="connsiteX44" fmla="*/ 2123119 w 5045613"/>
              <a:gd name="connsiteY44" fmla="*/ 89647 h 2366682"/>
              <a:gd name="connsiteX45" fmla="*/ 1737637 w 5045613"/>
              <a:gd name="connsiteY45" fmla="*/ 98611 h 2366682"/>
              <a:gd name="connsiteX46" fmla="*/ 1567307 w 5045613"/>
              <a:gd name="connsiteY46" fmla="*/ 116541 h 2366682"/>
              <a:gd name="connsiteX47" fmla="*/ 1504554 w 5045613"/>
              <a:gd name="connsiteY47" fmla="*/ 125505 h 2366682"/>
              <a:gd name="connsiteX48" fmla="*/ 1423872 w 5045613"/>
              <a:gd name="connsiteY48" fmla="*/ 134470 h 2366682"/>
              <a:gd name="connsiteX49" fmla="*/ 1352154 w 5045613"/>
              <a:gd name="connsiteY49" fmla="*/ 152400 h 2366682"/>
              <a:gd name="connsiteX50" fmla="*/ 1307331 w 5045613"/>
              <a:gd name="connsiteY50" fmla="*/ 161364 h 2366682"/>
              <a:gd name="connsiteX51" fmla="*/ 1253542 w 5045613"/>
              <a:gd name="connsiteY51" fmla="*/ 179294 h 2366682"/>
              <a:gd name="connsiteX52" fmla="*/ 1154931 w 5045613"/>
              <a:gd name="connsiteY52" fmla="*/ 206188 h 2366682"/>
              <a:gd name="connsiteX53" fmla="*/ 1128037 w 5045613"/>
              <a:gd name="connsiteY53" fmla="*/ 215153 h 2366682"/>
              <a:gd name="connsiteX54" fmla="*/ 1047354 w 5045613"/>
              <a:gd name="connsiteY54" fmla="*/ 233082 h 2366682"/>
              <a:gd name="connsiteX55" fmla="*/ 993566 w 5045613"/>
              <a:gd name="connsiteY55" fmla="*/ 251011 h 2366682"/>
              <a:gd name="connsiteX56" fmla="*/ 966672 w 5045613"/>
              <a:gd name="connsiteY56" fmla="*/ 259976 h 2366682"/>
              <a:gd name="connsiteX57" fmla="*/ 939778 w 5045613"/>
              <a:gd name="connsiteY57" fmla="*/ 277905 h 2366682"/>
              <a:gd name="connsiteX58" fmla="*/ 903919 w 5045613"/>
              <a:gd name="connsiteY58" fmla="*/ 286870 h 2366682"/>
              <a:gd name="connsiteX59" fmla="*/ 868060 w 5045613"/>
              <a:gd name="connsiteY59" fmla="*/ 304800 h 2366682"/>
              <a:gd name="connsiteX60" fmla="*/ 841166 w 5045613"/>
              <a:gd name="connsiteY60" fmla="*/ 313764 h 2366682"/>
              <a:gd name="connsiteX61" fmla="*/ 787378 w 5045613"/>
              <a:gd name="connsiteY61" fmla="*/ 349623 h 2366682"/>
              <a:gd name="connsiteX62" fmla="*/ 769448 w 5045613"/>
              <a:gd name="connsiteY62" fmla="*/ 367553 h 2366682"/>
              <a:gd name="connsiteX63" fmla="*/ 706695 w 5045613"/>
              <a:gd name="connsiteY63" fmla="*/ 412376 h 2366682"/>
              <a:gd name="connsiteX64" fmla="*/ 670837 w 5045613"/>
              <a:gd name="connsiteY64" fmla="*/ 448235 h 2366682"/>
              <a:gd name="connsiteX65" fmla="*/ 634978 w 5045613"/>
              <a:gd name="connsiteY65" fmla="*/ 475129 h 2366682"/>
              <a:gd name="connsiteX66" fmla="*/ 590154 w 5045613"/>
              <a:gd name="connsiteY66" fmla="*/ 519953 h 2366682"/>
              <a:gd name="connsiteX67" fmla="*/ 500507 w 5045613"/>
              <a:gd name="connsiteY67" fmla="*/ 600635 h 2366682"/>
              <a:gd name="connsiteX68" fmla="*/ 455684 w 5045613"/>
              <a:gd name="connsiteY68" fmla="*/ 645458 h 2366682"/>
              <a:gd name="connsiteX69" fmla="*/ 392931 w 5045613"/>
              <a:gd name="connsiteY69" fmla="*/ 717176 h 2366682"/>
              <a:gd name="connsiteX70" fmla="*/ 339142 w 5045613"/>
              <a:gd name="connsiteY70" fmla="*/ 753035 h 2366682"/>
              <a:gd name="connsiteX71" fmla="*/ 303284 w 5045613"/>
              <a:gd name="connsiteY71" fmla="*/ 806823 h 2366682"/>
              <a:gd name="connsiteX72" fmla="*/ 267425 w 5045613"/>
              <a:gd name="connsiteY72" fmla="*/ 851647 h 2366682"/>
              <a:gd name="connsiteX73" fmla="*/ 258460 w 5045613"/>
              <a:gd name="connsiteY73" fmla="*/ 878541 h 2366682"/>
              <a:gd name="connsiteX74" fmla="*/ 231566 w 5045613"/>
              <a:gd name="connsiteY74" fmla="*/ 914400 h 2366682"/>
              <a:gd name="connsiteX75" fmla="*/ 177778 w 5045613"/>
              <a:gd name="connsiteY75" fmla="*/ 995082 h 2366682"/>
              <a:gd name="connsiteX76" fmla="*/ 132954 w 5045613"/>
              <a:gd name="connsiteY76" fmla="*/ 1075764 h 2366682"/>
              <a:gd name="connsiteX77" fmla="*/ 546264 w 5045613"/>
              <a:gd name="connsiteY77" fmla="*/ 1109008 h 2366682"/>
              <a:gd name="connsiteX78" fmla="*/ 725745 w 5045613"/>
              <a:gd name="connsiteY78" fmla="*/ 1457511 h 2366682"/>
              <a:gd name="connsiteX79" fmla="*/ 52272 w 5045613"/>
              <a:gd name="connsiteY79" fmla="*/ 1317811 h 2366682"/>
              <a:gd name="connsiteX80" fmla="*/ 43307 w 5045613"/>
              <a:gd name="connsiteY80" fmla="*/ 1353670 h 2366682"/>
              <a:gd name="connsiteX81" fmla="*/ 61237 w 5045613"/>
              <a:gd name="connsiteY81" fmla="*/ 1667435 h 2366682"/>
              <a:gd name="connsiteX82" fmla="*/ 88131 w 5045613"/>
              <a:gd name="connsiteY82" fmla="*/ 1757082 h 2366682"/>
              <a:gd name="connsiteX83" fmla="*/ 97095 w 5045613"/>
              <a:gd name="connsiteY83" fmla="*/ 1792941 h 2366682"/>
              <a:gd name="connsiteX84" fmla="*/ 150884 w 5045613"/>
              <a:gd name="connsiteY84" fmla="*/ 1882588 h 2366682"/>
              <a:gd name="connsiteX85" fmla="*/ 204672 w 5045613"/>
              <a:gd name="connsiteY85" fmla="*/ 1972235 h 2366682"/>
              <a:gd name="connsiteX86" fmla="*/ 240531 w 5045613"/>
              <a:gd name="connsiteY86" fmla="*/ 1999129 h 2366682"/>
              <a:gd name="connsiteX87" fmla="*/ 267425 w 5045613"/>
              <a:gd name="connsiteY87" fmla="*/ 2026023 h 2366682"/>
              <a:gd name="connsiteX88" fmla="*/ 312248 w 5045613"/>
              <a:gd name="connsiteY88" fmla="*/ 2043953 h 2366682"/>
              <a:gd name="connsiteX89" fmla="*/ 366037 w 5045613"/>
              <a:gd name="connsiteY89" fmla="*/ 2070847 h 2366682"/>
              <a:gd name="connsiteX90" fmla="*/ 401895 w 5045613"/>
              <a:gd name="connsiteY90" fmla="*/ 2097741 h 2366682"/>
              <a:gd name="connsiteX91" fmla="*/ 491542 w 5045613"/>
              <a:gd name="connsiteY91" fmla="*/ 2133600 h 2366682"/>
              <a:gd name="connsiteX92" fmla="*/ 527401 w 5045613"/>
              <a:gd name="connsiteY92" fmla="*/ 2151529 h 2366682"/>
              <a:gd name="connsiteX93" fmla="*/ 590154 w 5045613"/>
              <a:gd name="connsiteY93" fmla="*/ 2169458 h 2366682"/>
              <a:gd name="connsiteX94" fmla="*/ 697731 w 5045613"/>
              <a:gd name="connsiteY94" fmla="*/ 2205317 h 2366682"/>
              <a:gd name="connsiteX95" fmla="*/ 742554 w 5045613"/>
              <a:gd name="connsiteY95" fmla="*/ 2223247 h 2366682"/>
              <a:gd name="connsiteX96" fmla="*/ 841166 w 5045613"/>
              <a:gd name="connsiteY96" fmla="*/ 2250141 h 2366682"/>
              <a:gd name="connsiteX97" fmla="*/ 877025 w 5045613"/>
              <a:gd name="connsiteY97" fmla="*/ 2268070 h 2366682"/>
              <a:gd name="connsiteX98" fmla="*/ 912884 w 5045613"/>
              <a:gd name="connsiteY98" fmla="*/ 2277035 h 2366682"/>
              <a:gd name="connsiteX99" fmla="*/ 948742 w 5045613"/>
              <a:gd name="connsiteY99" fmla="*/ 2294964 h 2366682"/>
              <a:gd name="connsiteX100" fmla="*/ 1029425 w 5045613"/>
              <a:gd name="connsiteY100" fmla="*/ 2312894 h 2366682"/>
              <a:gd name="connsiteX101" fmla="*/ 1154931 w 5045613"/>
              <a:gd name="connsiteY101" fmla="*/ 2348753 h 2366682"/>
              <a:gd name="connsiteX102" fmla="*/ 1199754 w 5045613"/>
              <a:gd name="connsiteY102" fmla="*/ 2357717 h 2366682"/>
              <a:gd name="connsiteX103" fmla="*/ 1244578 w 5045613"/>
              <a:gd name="connsiteY103" fmla="*/ 2366682 h 2366682"/>
              <a:gd name="connsiteX104" fmla="*/ 1495589 w 5045613"/>
              <a:gd name="connsiteY104" fmla="*/ 2357717 h 2366682"/>
              <a:gd name="connsiteX105" fmla="*/ 1540413 w 5045613"/>
              <a:gd name="connsiteY105" fmla="*/ 2339788 h 2366682"/>
              <a:gd name="connsiteX106" fmla="*/ 1585237 w 5045613"/>
              <a:gd name="connsiteY106" fmla="*/ 2330823 h 2366682"/>
              <a:gd name="connsiteX107" fmla="*/ 1621095 w 5045613"/>
              <a:gd name="connsiteY107" fmla="*/ 2321858 h 2366682"/>
              <a:gd name="connsiteX108" fmla="*/ 1728672 w 5045613"/>
              <a:gd name="connsiteY108" fmla="*/ 2277035 h 2366682"/>
              <a:gd name="connsiteX109" fmla="*/ 1818319 w 5045613"/>
              <a:gd name="connsiteY109" fmla="*/ 2241176 h 2366682"/>
              <a:gd name="connsiteX110" fmla="*/ 1881072 w 5045613"/>
              <a:gd name="connsiteY110" fmla="*/ 2214282 h 2366682"/>
              <a:gd name="connsiteX111" fmla="*/ 1952789 w 5045613"/>
              <a:gd name="connsiteY111" fmla="*/ 2169458 h 2366682"/>
              <a:gd name="connsiteX112" fmla="*/ 2033472 w 5045613"/>
              <a:gd name="connsiteY112" fmla="*/ 2115670 h 2366682"/>
              <a:gd name="connsiteX113" fmla="*/ 2051401 w 5045613"/>
              <a:gd name="connsiteY113" fmla="*/ 2088776 h 2366682"/>
              <a:gd name="connsiteX114" fmla="*/ 2123119 w 5045613"/>
              <a:gd name="connsiteY114" fmla="*/ 2034988 h 2366682"/>
              <a:gd name="connsiteX115" fmla="*/ 2158978 w 5045613"/>
              <a:gd name="connsiteY115" fmla="*/ 1999129 h 2366682"/>
              <a:gd name="connsiteX116" fmla="*/ 2185872 w 5045613"/>
              <a:gd name="connsiteY116" fmla="*/ 1981200 h 2366682"/>
              <a:gd name="connsiteX117" fmla="*/ 2203801 w 5045613"/>
              <a:gd name="connsiteY117" fmla="*/ 1963270 h 2366682"/>
              <a:gd name="connsiteX118" fmla="*/ 2275519 w 5045613"/>
              <a:gd name="connsiteY118" fmla="*/ 1918447 h 2366682"/>
              <a:gd name="connsiteX119" fmla="*/ 2311378 w 5045613"/>
              <a:gd name="connsiteY119" fmla="*/ 1882588 h 2366682"/>
              <a:gd name="connsiteX120" fmla="*/ 2329307 w 5045613"/>
              <a:gd name="connsiteY120" fmla="*/ 1846729 h 2366682"/>
              <a:gd name="connsiteX121" fmla="*/ 2409989 w 5045613"/>
              <a:gd name="connsiteY121" fmla="*/ 1810870 h 2366682"/>
              <a:gd name="connsiteX122" fmla="*/ 2436884 w 5045613"/>
              <a:gd name="connsiteY122" fmla="*/ 1801905 h 2366682"/>
              <a:gd name="connsiteX123" fmla="*/ 2472742 w 5045613"/>
              <a:gd name="connsiteY123" fmla="*/ 1792941 h 2366682"/>
              <a:gd name="connsiteX0" fmla="*/ 5002306 w 5002306"/>
              <a:gd name="connsiteY0" fmla="*/ 1129553 h 2366682"/>
              <a:gd name="connsiteX1" fmla="*/ 4930588 w 5002306"/>
              <a:gd name="connsiteY1" fmla="*/ 1156447 h 2366682"/>
              <a:gd name="connsiteX2" fmla="*/ 4894730 w 5002306"/>
              <a:gd name="connsiteY2" fmla="*/ 1165411 h 2366682"/>
              <a:gd name="connsiteX3" fmla="*/ 4867835 w 5002306"/>
              <a:gd name="connsiteY3" fmla="*/ 1183341 h 2366682"/>
              <a:gd name="connsiteX4" fmla="*/ 4769224 w 5002306"/>
              <a:gd name="connsiteY4" fmla="*/ 1201270 h 2366682"/>
              <a:gd name="connsiteX5" fmla="*/ 4616824 w 5002306"/>
              <a:gd name="connsiteY5" fmla="*/ 1192305 h 2366682"/>
              <a:gd name="connsiteX6" fmla="*/ 4509247 w 5002306"/>
              <a:gd name="connsiteY6" fmla="*/ 1174376 h 2366682"/>
              <a:gd name="connsiteX7" fmla="*/ 4437530 w 5002306"/>
              <a:gd name="connsiteY7" fmla="*/ 1165411 h 2366682"/>
              <a:gd name="connsiteX8" fmla="*/ 4365812 w 5002306"/>
              <a:gd name="connsiteY8" fmla="*/ 1147482 h 2366682"/>
              <a:gd name="connsiteX9" fmla="*/ 4294094 w 5002306"/>
              <a:gd name="connsiteY9" fmla="*/ 1120588 h 2366682"/>
              <a:gd name="connsiteX10" fmla="*/ 4231341 w 5002306"/>
              <a:gd name="connsiteY10" fmla="*/ 1102658 h 2366682"/>
              <a:gd name="connsiteX11" fmla="*/ 4204447 w 5002306"/>
              <a:gd name="connsiteY11" fmla="*/ 1093694 h 2366682"/>
              <a:gd name="connsiteX12" fmla="*/ 4150659 w 5002306"/>
              <a:gd name="connsiteY12" fmla="*/ 1066800 h 2366682"/>
              <a:gd name="connsiteX13" fmla="*/ 4123765 w 5002306"/>
              <a:gd name="connsiteY13" fmla="*/ 1048870 h 2366682"/>
              <a:gd name="connsiteX14" fmla="*/ 4061012 w 5002306"/>
              <a:gd name="connsiteY14" fmla="*/ 1021976 h 2366682"/>
              <a:gd name="connsiteX15" fmla="*/ 4007224 w 5002306"/>
              <a:gd name="connsiteY15" fmla="*/ 986117 h 2366682"/>
              <a:gd name="connsiteX16" fmla="*/ 3971365 w 5002306"/>
              <a:gd name="connsiteY16" fmla="*/ 968188 h 2366682"/>
              <a:gd name="connsiteX17" fmla="*/ 3890682 w 5002306"/>
              <a:gd name="connsiteY17" fmla="*/ 923364 h 2366682"/>
              <a:gd name="connsiteX18" fmla="*/ 3801035 w 5002306"/>
              <a:gd name="connsiteY18" fmla="*/ 878541 h 2366682"/>
              <a:gd name="connsiteX19" fmla="*/ 3720353 w 5002306"/>
              <a:gd name="connsiteY19" fmla="*/ 833717 h 2366682"/>
              <a:gd name="connsiteX20" fmla="*/ 3639671 w 5002306"/>
              <a:gd name="connsiteY20" fmla="*/ 753035 h 2366682"/>
              <a:gd name="connsiteX21" fmla="*/ 3612777 w 5002306"/>
              <a:gd name="connsiteY21" fmla="*/ 726141 h 2366682"/>
              <a:gd name="connsiteX22" fmla="*/ 3594847 w 5002306"/>
              <a:gd name="connsiteY22" fmla="*/ 708211 h 2366682"/>
              <a:gd name="connsiteX23" fmla="*/ 3541059 w 5002306"/>
              <a:gd name="connsiteY23" fmla="*/ 663388 h 2366682"/>
              <a:gd name="connsiteX24" fmla="*/ 3460377 w 5002306"/>
              <a:gd name="connsiteY24" fmla="*/ 582705 h 2366682"/>
              <a:gd name="connsiteX25" fmla="*/ 3424518 w 5002306"/>
              <a:gd name="connsiteY25" fmla="*/ 546847 h 2366682"/>
              <a:gd name="connsiteX26" fmla="*/ 3397624 w 5002306"/>
              <a:gd name="connsiteY26" fmla="*/ 519953 h 2366682"/>
              <a:gd name="connsiteX27" fmla="*/ 3352800 w 5002306"/>
              <a:gd name="connsiteY27" fmla="*/ 484094 h 2366682"/>
              <a:gd name="connsiteX28" fmla="*/ 3290047 w 5002306"/>
              <a:gd name="connsiteY28" fmla="*/ 421341 h 2366682"/>
              <a:gd name="connsiteX29" fmla="*/ 3245224 w 5002306"/>
              <a:gd name="connsiteY29" fmla="*/ 376517 h 2366682"/>
              <a:gd name="connsiteX30" fmla="*/ 3048000 w 5002306"/>
              <a:gd name="connsiteY30" fmla="*/ 224117 h 2366682"/>
              <a:gd name="connsiteX31" fmla="*/ 2967318 w 5002306"/>
              <a:gd name="connsiteY31" fmla="*/ 161364 h 2366682"/>
              <a:gd name="connsiteX32" fmla="*/ 2931459 w 5002306"/>
              <a:gd name="connsiteY32" fmla="*/ 143435 h 2366682"/>
              <a:gd name="connsiteX33" fmla="*/ 2877671 w 5002306"/>
              <a:gd name="connsiteY33" fmla="*/ 98611 h 2366682"/>
              <a:gd name="connsiteX34" fmla="*/ 2859741 w 5002306"/>
              <a:gd name="connsiteY34" fmla="*/ 80682 h 2366682"/>
              <a:gd name="connsiteX35" fmla="*/ 2832847 w 5002306"/>
              <a:gd name="connsiteY35" fmla="*/ 71717 h 2366682"/>
              <a:gd name="connsiteX36" fmla="*/ 2761130 w 5002306"/>
              <a:gd name="connsiteY36" fmla="*/ 35858 h 2366682"/>
              <a:gd name="connsiteX37" fmla="*/ 2698377 w 5002306"/>
              <a:gd name="connsiteY37" fmla="*/ 8964 h 2366682"/>
              <a:gd name="connsiteX38" fmla="*/ 2635624 w 5002306"/>
              <a:gd name="connsiteY38" fmla="*/ 0 h 2366682"/>
              <a:gd name="connsiteX39" fmla="*/ 2456330 w 5002306"/>
              <a:gd name="connsiteY39" fmla="*/ 8964 h 2366682"/>
              <a:gd name="connsiteX40" fmla="*/ 2420471 w 5002306"/>
              <a:gd name="connsiteY40" fmla="*/ 17929 h 2366682"/>
              <a:gd name="connsiteX41" fmla="*/ 2339788 w 5002306"/>
              <a:gd name="connsiteY41" fmla="*/ 26894 h 2366682"/>
              <a:gd name="connsiteX42" fmla="*/ 2223247 w 5002306"/>
              <a:gd name="connsiteY42" fmla="*/ 44823 h 2366682"/>
              <a:gd name="connsiteX43" fmla="*/ 2142565 w 5002306"/>
              <a:gd name="connsiteY43" fmla="*/ 71717 h 2366682"/>
              <a:gd name="connsiteX44" fmla="*/ 2079812 w 5002306"/>
              <a:gd name="connsiteY44" fmla="*/ 89647 h 2366682"/>
              <a:gd name="connsiteX45" fmla="*/ 1694330 w 5002306"/>
              <a:gd name="connsiteY45" fmla="*/ 98611 h 2366682"/>
              <a:gd name="connsiteX46" fmla="*/ 1524000 w 5002306"/>
              <a:gd name="connsiteY46" fmla="*/ 116541 h 2366682"/>
              <a:gd name="connsiteX47" fmla="*/ 1461247 w 5002306"/>
              <a:gd name="connsiteY47" fmla="*/ 125505 h 2366682"/>
              <a:gd name="connsiteX48" fmla="*/ 1380565 w 5002306"/>
              <a:gd name="connsiteY48" fmla="*/ 134470 h 2366682"/>
              <a:gd name="connsiteX49" fmla="*/ 1308847 w 5002306"/>
              <a:gd name="connsiteY49" fmla="*/ 152400 h 2366682"/>
              <a:gd name="connsiteX50" fmla="*/ 1264024 w 5002306"/>
              <a:gd name="connsiteY50" fmla="*/ 161364 h 2366682"/>
              <a:gd name="connsiteX51" fmla="*/ 1210235 w 5002306"/>
              <a:gd name="connsiteY51" fmla="*/ 179294 h 2366682"/>
              <a:gd name="connsiteX52" fmla="*/ 1111624 w 5002306"/>
              <a:gd name="connsiteY52" fmla="*/ 206188 h 2366682"/>
              <a:gd name="connsiteX53" fmla="*/ 1084730 w 5002306"/>
              <a:gd name="connsiteY53" fmla="*/ 215153 h 2366682"/>
              <a:gd name="connsiteX54" fmla="*/ 1004047 w 5002306"/>
              <a:gd name="connsiteY54" fmla="*/ 233082 h 2366682"/>
              <a:gd name="connsiteX55" fmla="*/ 950259 w 5002306"/>
              <a:gd name="connsiteY55" fmla="*/ 251011 h 2366682"/>
              <a:gd name="connsiteX56" fmla="*/ 923365 w 5002306"/>
              <a:gd name="connsiteY56" fmla="*/ 259976 h 2366682"/>
              <a:gd name="connsiteX57" fmla="*/ 896471 w 5002306"/>
              <a:gd name="connsiteY57" fmla="*/ 277905 h 2366682"/>
              <a:gd name="connsiteX58" fmla="*/ 860612 w 5002306"/>
              <a:gd name="connsiteY58" fmla="*/ 286870 h 2366682"/>
              <a:gd name="connsiteX59" fmla="*/ 824753 w 5002306"/>
              <a:gd name="connsiteY59" fmla="*/ 304800 h 2366682"/>
              <a:gd name="connsiteX60" fmla="*/ 797859 w 5002306"/>
              <a:gd name="connsiteY60" fmla="*/ 313764 h 2366682"/>
              <a:gd name="connsiteX61" fmla="*/ 744071 w 5002306"/>
              <a:gd name="connsiteY61" fmla="*/ 349623 h 2366682"/>
              <a:gd name="connsiteX62" fmla="*/ 726141 w 5002306"/>
              <a:gd name="connsiteY62" fmla="*/ 367553 h 2366682"/>
              <a:gd name="connsiteX63" fmla="*/ 663388 w 5002306"/>
              <a:gd name="connsiteY63" fmla="*/ 412376 h 2366682"/>
              <a:gd name="connsiteX64" fmla="*/ 627530 w 5002306"/>
              <a:gd name="connsiteY64" fmla="*/ 448235 h 2366682"/>
              <a:gd name="connsiteX65" fmla="*/ 591671 w 5002306"/>
              <a:gd name="connsiteY65" fmla="*/ 475129 h 2366682"/>
              <a:gd name="connsiteX66" fmla="*/ 546847 w 5002306"/>
              <a:gd name="connsiteY66" fmla="*/ 519953 h 2366682"/>
              <a:gd name="connsiteX67" fmla="*/ 457200 w 5002306"/>
              <a:gd name="connsiteY67" fmla="*/ 600635 h 2366682"/>
              <a:gd name="connsiteX68" fmla="*/ 412377 w 5002306"/>
              <a:gd name="connsiteY68" fmla="*/ 645458 h 2366682"/>
              <a:gd name="connsiteX69" fmla="*/ 349624 w 5002306"/>
              <a:gd name="connsiteY69" fmla="*/ 717176 h 2366682"/>
              <a:gd name="connsiteX70" fmla="*/ 295835 w 5002306"/>
              <a:gd name="connsiteY70" fmla="*/ 753035 h 2366682"/>
              <a:gd name="connsiteX71" fmla="*/ 259977 w 5002306"/>
              <a:gd name="connsiteY71" fmla="*/ 806823 h 2366682"/>
              <a:gd name="connsiteX72" fmla="*/ 224118 w 5002306"/>
              <a:gd name="connsiteY72" fmla="*/ 851647 h 2366682"/>
              <a:gd name="connsiteX73" fmla="*/ 215153 w 5002306"/>
              <a:gd name="connsiteY73" fmla="*/ 878541 h 2366682"/>
              <a:gd name="connsiteX74" fmla="*/ 188259 w 5002306"/>
              <a:gd name="connsiteY74" fmla="*/ 914400 h 2366682"/>
              <a:gd name="connsiteX75" fmla="*/ 134471 w 5002306"/>
              <a:gd name="connsiteY75" fmla="*/ 995082 h 2366682"/>
              <a:gd name="connsiteX76" fmla="*/ 89647 w 5002306"/>
              <a:gd name="connsiteY76" fmla="*/ 1075764 h 2366682"/>
              <a:gd name="connsiteX77" fmla="*/ 502957 w 5002306"/>
              <a:gd name="connsiteY77" fmla="*/ 1109008 h 2366682"/>
              <a:gd name="connsiteX78" fmla="*/ 682438 w 5002306"/>
              <a:gd name="connsiteY78" fmla="*/ 1457511 h 2366682"/>
              <a:gd name="connsiteX79" fmla="*/ 0 w 5002306"/>
              <a:gd name="connsiteY79" fmla="*/ 1353670 h 2366682"/>
              <a:gd name="connsiteX80" fmla="*/ 17930 w 5002306"/>
              <a:gd name="connsiteY80" fmla="*/ 1667435 h 2366682"/>
              <a:gd name="connsiteX81" fmla="*/ 44824 w 5002306"/>
              <a:gd name="connsiteY81" fmla="*/ 1757082 h 2366682"/>
              <a:gd name="connsiteX82" fmla="*/ 53788 w 5002306"/>
              <a:gd name="connsiteY82" fmla="*/ 1792941 h 2366682"/>
              <a:gd name="connsiteX83" fmla="*/ 107577 w 5002306"/>
              <a:gd name="connsiteY83" fmla="*/ 1882588 h 2366682"/>
              <a:gd name="connsiteX84" fmla="*/ 161365 w 5002306"/>
              <a:gd name="connsiteY84" fmla="*/ 1972235 h 2366682"/>
              <a:gd name="connsiteX85" fmla="*/ 197224 w 5002306"/>
              <a:gd name="connsiteY85" fmla="*/ 1999129 h 2366682"/>
              <a:gd name="connsiteX86" fmla="*/ 224118 w 5002306"/>
              <a:gd name="connsiteY86" fmla="*/ 2026023 h 2366682"/>
              <a:gd name="connsiteX87" fmla="*/ 268941 w 5002306"/>
              <a:gd name="connsiteY87" fmla="*/ 2043953 h 2366682"/>
              <a:gd name="connsiteX88" fmla="*/ 322730 w 5002306"/>
              <a:gd name="connsiteY88" fmla="*/ 2070847 h 2366682"/>
              <a:gd name="connsiteX89" fmla="*/ 358588 w 5002306"/>
              <a:gd name="connsiteY89" fmla="*/ 2097741 h 2366682"/>
              <a:gd name="connsiteX90" fmla="*/ 448235 w 5002306"/>
              <a:gd name="connsiteY90" fmla="*/ 2133600 h 2366682"/>
              <a:gd name="connsiteX91" fmla="*/ 484094 w 5002306"/>
              <a:gd name="connsiteY91" fmla="*/ 2151529 h 2366682"/>
              <a:gd name="connsiteX92" fmla="*/ 546847 w 5002306"/>
              <a:gd name="connsiteY92" fmla="*/ 2169458 h 2366682"/>
              <a:gd name="connsiteX93" fmla="*/ 654424 w 5002306"/>
              <a:gd name="connsiteY93" fmla="*/ 2205317 h 2366682"/>
              <a:gd name="connsiteX94" fmla="*/ 699247 w 5002306"/>
              <a:gd name="connsiteY94" fmla="*/ 2223247 h 2366682"/>
              <a:gd name="connsiteX95" fmla="*/ 797859 w 5002306"/>
              <a:gd name="connsiteY95" fmla="*/ 2250141 h 2366682"/>
              <a:gd name="connsiteX96" fmla="*/ 833718 w 5002306"/>
              <a:gd name="connsiteY96" fmla="*/ 2268070 h 2366682"/>
              <a:gd name="connsiteX97" fmla="*/ 869577 w 5002306"/>
              <a:gd name="connsiteY97" fmla="*/ 2277035 h 2366682"/>
              <a:gd name="connsiteX98" fmla="*/ 905435 w 5002306"/>
              <a:gd name="connsiteY98" fmla="*/ 2294964 h 2366682"/>
              <a:gd name="connsiteX99" fmla="*/ 986118 w 5002306"/>
              <a:gd name="connsiteY99" fmla="*/ 2312894 h 2366682"/>
              <a:gd name="connsiteX100" fmla="*/ 1111624 w 5002306"/>
              <a:gd name="connsiteY100" fmla="*/ 2348753 h 2366682"/>
              <a:gd name="connsiteX101" fmla="*/ 1156447 w 5002306"/>
              <a:gd name="connsiteY101" fmla="*/ 2357717 h 2366682"/>
              <a:gd name="connsiteX102" fmla="*/ 1201271 w 5002306"/>
              <a:gd name="connsiteY102" fmla="*/ 2366682 h 2366682"/>
              <a:gd name="connsiteX103" fmla="*/ 1452282 w 5002306"/>
              <a:gd name="connsiteY103" fmla="*/ 2357717 h 2366682"/>
              <a:gd name="connsiteX104" fmla="*/ 1497106 w 5002306"/>
              <a:gd name="connsiteY104" fmla="*/ 2339788 h 2366682"/>
              <a:gd name="connsiteX105" fmla="*/ 1541930 w 5002306"/>
              <a:gd name="connsiteY105" fmla="*/ 2330823 h 2366682"/>
              <a:gd name="connsiteX106" fmla="*/ 1577788 w 5002306"/>
              <a:gd name="connsiteY106" fmla="*/ 2321858 h 2366682"/>
              <a:gd name="connsiteX107" fmla="*/ 1685365 w 5002306"/>
              <a:gd name="connsiteY107" fmla="*/ 2277035 h 2366682"/>
              <a:gd name="connsiteX108" fmla="*/ 1775012 w 5002306"/>
              <a:gd name="connsiteY108" fmla="*/ 2241176 h 2366682"/>
              <a:gd name="connsiteX109" fmla="*/ 1837765 w 5002306"/>
              <a:gd name="connsiteY109" fmla="*/ 2214282 h 2366682"/>
              <a:gd name="connsiteX110" fmla="*/ 1909482 w 5002306"/>
              <a:gd name="connsiteY110" fmla="*/ 2169458 h 2366682"/>
              <a:gd name="connsiteX111" fmla="*/ 1990165 w 5002306"/>
              <a:gd name="connsiteY111" fmla="*/ 2115670 h 2366682"/>
              <a:gd name="connsiteX112" fmla="*/ 2008094 w 5002306"/>
              <a:gd name="connsiteY112" fmla="*/ 2088776 h 2366682"/>
              <a:gd name="connsiteX113" fmla="*/ 2079812 w 5002306"/>
              <a:gd name="connsiteY113" fmla="*/ 2034988 h 2366682"/>
              <a:gd name="connsiteX114" fmla="*/ 2115671 w 5002306"/>
              <a:gd name="connsiteY114" fmla="*/ 1999129 h 2366682"/>
              <a:gd name="connsiteX115" fmla="*/ 2142565 w 5002306"/>
              <a:gd name="connsiteY115" fmla="*/ 1981200 h 2366682"/>
              <a:gd name="connsiteX116" fmla="*/ 2160494 w 5002306"/>
              <a:gd name="connsiteY116" fmla="*/ 1963270 h 2366682"/>
              <a:gd name="connsiteX117" fmla="*/ 2232212 w 5002306"/>
              <a:gd name="connsiteY117" fmla="*/ 1918447 h 2366682"/>
              <a:gd name="connsiteX118" fmla="*/ 2268071 w 5002306"/>
              <a:gd name="connsiteY118" fmla="*/ 1882588 h 2366682"/>
              <a:gd name="connsiteX119" fmla="*/ 2286000 w 5002306"/>
              <a:gd name="connsiteY119" fmla="*/ 1846729 h 2366682"/>
              <a:gd name="connsiteX120" fmla="*/ 2366682 w 5002306"/>
              <a:gd name="connsiteY120" fmla="*/ 1810870 h 2366682"/>
              <a:gd name="connsiteX121" fmla="*/ 2393577 w 5002306"/>
              <a:gd name="connsiteY121" fmla="*/ 1801905 h 2366682"/>
              <a:gd name="connsiteX122" fmla="*/ 2429435 w 5002306"/>
              <a:gd name="connsiteY122" fmla="*/ 1792941 h 2366682"/>
              <a:gd name="connsiteX0" fmla="*/ 5026087 w 5026087"/>
              <a:gd name="connsiteY0" fmla="*/ 1129553 h 2366682"/>
              <a:gd name="connsiteX1" fmla="*/ 4954369 w 5026087"/>
              <a:gd name="connsiteY1" fmla="*/ 1156447 h 2366682"/>
              <a:gd name="connsiteX2" fmla="*/ 4918511 w 5026087"/>
              <a:gd name="connsiteY2" fmla="*/ 1165411 h 2366682"/>
              <a:gd name="connsiteX3" fmla="*/ 4891616 w 5026087"/>
              <a:gd name="connsiteY3" fmla="*/ 1183341 h 2366682"/>
              <a:gd name="connsiteX4" fmla="*/ 4793005 w 5026087"/>
              <a:gd name="connsiteY4" fmla="*/ 1201270 h 2366682"/>
              <a:gd name="connsiteX5" fmla="*/ 4640605 w 5026087"/>
              <a:gd name="connsiteY5" fmla="*/ 1192305 h 2366682"/>
              <a:gd name="connsiteX6" fmla="*/ 4533028 w 5026087"/>
              <a:gd name="connsiteY6" fmla="*/ 1174376 h 2366682"/>
              <a:gd name="connsiteX7" fmla="*/ 4461311 w 5026087"/>
              <a:gd name="connsiteY7" fmla="*/ 1165411 h 2366682"/>
              <a:gd name="connsiteX8" fmla="*/ 4389593 w 5026087"/>
              <a:gd name="connsiteY8" fmla="*/ 1147482 h 2366682"/>
              <a:gd name="connsiteX9" fmla="*/ 4317875 w 5026087"/>
              <a:gd name="connsiteY9" fmla="*/ 1120588 h 2366682"/>
              <a:gd name="connsiteX10" fmla="*/ 4255122 w 5026087"/>
              <a:gd name="connsiteY10" fmla="*/ 1102658 h 2366682"/>
              <a:gd name="connsiteX11" fmla="*/ 4228228 w 5026087"/>
              <a:gd name="connsiteY11" fmla="*/ 1093694 h 2366682"/>
              <a:gd name="connsiteX12" fmla="*/ 4174440 w 5026087"/>
              <a:gd name="connsiteY12" fmla="*/ 1066800 h 2366682"/>
              <a:gd name="connsiteX13" fmla="*/ 4147546 w 5026087"/>
              <a:gd name="connsiteY13" fmla="*/ 1048870 h 2366682"/>
              <a:gd name="connsiteX14" fmla="*/ 4084793 w 5026087"/>
              <a:gd name="connsiteY14" fmla="*/ 1021976 h 2366682"/>
              <a:gd name="connsiteX15" fmla="*/ 4031005 w 5026087"/>
              <a:gd name="connsiteY15" fmla="*/ 986117 h 2366682"/>
              <a:gd name="connsiteX16" fmla="*/ 3995146 w 5026087"/>
              <a:gd name="connsiteY16" fmla="*/ 968188 h 2366682"/>
              <a:gd name="connsiteX17" fmla="*/ 3914463 w 5026087"/>
              <a:gd name="connsiteY17" fmla="*/ 923364 h 2366682"/>
              <a:gd name="connsiteX18" fmla="*/ 3824816 w 5026087"/>
              <a:gd name="connsiteY18" fmla="*/ 878541 h 2366682"/>
              <a:gd name="connsiteX19" fmla="*/ 3744134 w 5026087"/>
              <a:gd name="connsiteY19" fmla="*/ 833717 h 2366682"/>
              <a:gd name="connsiteX20" fmla="*/ 3663452 w 5026087"/>
              <a:gd name="connsiteY20" fmla="*/ 753035 h 2366682"/>
              <a:gd name="connsiteX21" fmla="*/ 3636558 w 5026087"/>
              <a:gd name="connsiteY21" fmla="*/ 726141 h 2366682"/>
              <a:gd name="connsiteX22" fmla="*/ 3618628 w 5026087"/>
              <a:gd name="connsiteY22" fmla="*/ 708211 h 2366682"/>
              <a:gd name="connsiteX23" fmla="*/ 3564840 w 5026087"/>
              <a:gd name="connsiteY23" fmla="*/ 663388 h 2366682"/>
              <a:gd name="connsiteX24" fmla="*/ 3484158 w 5026087"/>
              <a:gd name="connsiteY24" fmla="*/ 582705 h 2366682"/>
              <a:gd name="connsiteX25" fmla="*/ 3448299 w 5026087"/>
              <a:gd name="connsiteY25" fmla="*/ 546847 h 2366682"/>
              <a:gd name="connsiteX26" fmla="*/ 3421405 w 5026087"/>
              <a:gd name="connsiteY26" fmla="*/ 519953 h 2366682"/>
              <a:gd name="connsiteX27" fmla="*/ 3376581 w 5026087"/>
              <a:gd name="connsiteY27" fmla="*/ 484094 h 2366682"/>
              <a:gd name="connsiteX28" fmla="*/ 3313828 w 5026087"/>
              <a:gd name="connsiteY28" fmla="*/ 421341 h 2366682"/>
              <a:gd name="connsiteX29" fmla="*/ 3269005 w 5026087"/>
              <a:gd name="connsiteY29" fmla="*/ 376517 h 2366682"/>
              <a:gd name="connsiteX30" fmla="*/ 3071781 w 5026087"/>
              <a:gd name="connsiteY30" fmla="*/ 224117 h 2366682"/>
              <a:gd name="connsiteX31" fmla="*/ 2991099 w 5026087"/>
              <a:gd name="connsiteY31" fmla="*/ 161364 h 2366682"/>
              <a:gd name="connsiteX32" fmla="*/ 2955240 w 5026087"/>
              <a:gd name="connsiteY32" fmla="*/ 143435 h 2366682"/>
              <a:gd name="connsiteX33" fmla="*/ 2901452 w 5026087"/>
              <a:gd name="connsiteY33" fmla="*/ 98611 h 2366682"/>
              <a:gd name="connsiteX34" fmla="*/ 2883522 w 5026087"/>
              <a:gd name="connsiteY34" fmla="*/ 80682 h 2366682"/>
              <a:gd name="connsiteX35" fmla="*/ 2856628 w 5026087"/>
              <a:gd name="connsiteY35" fmla="*/ 71717 h 2366682"/>
              <a:gd name="connsiteX36" fmla="*/ 2784911 w 5026087"/>
              <a:gd name="connsiteY36" fmla="*/ 35858 h 2366682"/>
              <a:gd name="connsiteX37" fmla="*/ 2722158 w 5026087"/>
              <a:gd name="connsiteY37" fmla="*/ 8964 h 2366682"/>
              <a:gd name="connsiteX38" fmla="*/ 2659405 w 5026087"/>
              <a:gd name="connsiteY38" fmla="*/ 0 h 2366682"/>
              <a:gd name="connsiteX39" fmla="*/ 2480111 w 5026087"/>
              <a:gd name="connsiteY39" fmla="*/ 8964 h 2366682"/>
              <a:gd name="connsiteX40" fmla="*/ 2444252 w 5026087"/>
              <a:gd name="connsiteY40" fmla="*/ 17929 h 2366682"/>
              <a:gd name="connsiteX41" fmla="*/ 2363569 w 5026087"/>
              <a:gd name="connsiteY41" fmla="*/ 26894 h 2366682"/>
              <a:gd name="connsiteX42" fmla="*/ 2247028 w 5026087"/>
              <a:gd name="connsiteY42" fmla="*/ 44823 h 2366682"/>
              <a:gd name="connsiteX43" fmla="*/ 2166346 w 5026087"/>
              <a:gd name="connsiteY43" fmla="*/ 71717 h 2366682"/>
              <a:gd name="connsiteX44" fmla="*/ 2103593 w 5026087"/>
              <a:gd name="connsiteY44" fmla="*/ 89647 h 2366682"/>
              <a:gd name="connsiteX45" fmla="*/ 1718111 w 5026087"/>
              <a:gd name="connsiteY45" fmla="*/ 98611 h 2366682"/>
              <a:gd name="connsiteX46" fmla="*/ 1547781 w 5026087"/>
              <a:gd name="connsiteY46" fmla="*/ 116541 h 2366682"/>
              <a:gd name="connsiteX47" fmla="*/ 1485028 w 5026087"/>
              <a:gd name="connsiteY47" fmla="*/ 125505 h 2366682"/>
              <a:gd name="connsiteX48" fmla="*/ 1404346 w 5026087"/>
              <a:gd name="connsiteY48" fmla="*/ 134470 h 2366682"/>
              <a:gd name="connsiteX49" fmla="*/ 1332628 w 5026087"/>
              <a:gd name="connsiteY49" fmla="*/ 152400 h 2366682"/>
              <a:gd name="connsiteX50" fmla="*/ 1287805 w 5026087"/>
              <a:gd name="connsiteY50" fmla="*/ 161364 h 2366682"/>
              <a:gd name="connsiteX51" fmla="*/ 1234016 w 5026087"/>
              <a:gd name="connsiteY51" fmla="*/ 179294 h 2366682"/>
              <a:gd name="connsiteX52" fmla="*/ 1135405 w 5026087"/>
              <a:gd name="connsiteY52" fmla="*/ 206188 h 2366682"/>
              <a:gd name="connsiteX53" fmla="*/ 1108511 w 5026087"/>
              <a:gd name="connsiteY53" fmla="*/ 215153 h 2366682"/>
              <a:gd name="connsiteX54" fmla="*/ 1027828 w 5026087"/>
              <a:gd name="connsiteY54" fmla="*/ 233082 h 2366682"/>
              <a:gd name="connsiteX55" fmla="*/ 974040 w 5026087"/>
              <a:gd name="connsiteY55" fmla="*/ 251011 h 2366682"/>
              <a:gd name="connsiteX56" fmla="*/ 947146 w 5026087"/>
              <a:gd name="connsiteY56" fmla="*/ 259976 h 2366682"/>
              <a:gd name="connsiteX57" fmla="*/ 920252 w 5026087"/>
              <a:gd name="connsiteY57" fmla="*/ 277905 h 2366682"/>
              <a:gd name="connsiteX58" fmla="*/ 884393 w 5026087"/>
              <a:gd name="connsiteY58" fmla="*/ 286870 h 2366682"/>
              <a:gd name="connsiteX59" fmla="*/ 848534 w 5026087"/>
              <a:gd name="connsiteY59" fmla="*/ 304800 h 2366682"/>
              <a:gd name="connsiteX60" fmla="*/ 821640 w 5026087"/>
              <a:gd name="connsiteY60" fmla="*/ 313764 h 2366682"/>
              <a:gd name="connsiteX61" fmla="*/ 767852 w 5026087"/>
              <a:gd name="connsiteY61" fmla="*/ 349623 h 2366682"/>
              <a:gd name="connsiteX62" fmla="*/ 749922 w 5026087"/>
              <a:gd name="connsiteY62" fmla="*/ 367553 h 2366682"/>
              <a:gd name="connsiteX63" fmla="*/ 687169 w 5026087"/>
              <a:gd name="connsiteY63" fmla="*/ 412376 h 2366682"/>
              <a:gd name="connsiteX64" fmla="*/ 651311 w 5026087"/>
              <a:gd name="connsiteY64" fmla="*/ 448235 h 2366682"/>
              <a:gd name="connsiteX65" fmla="*/ 615452 w 5026087"/>
              <a:gd name="connsiteY65" fmla="*/ 475129 h 2366682"/>
              <a:gd name="connsiteX66" fmla="*/ 570628 w 5026087"/>
              <a:gd name="connsiteY66" fmla="*/ 519953 h 2366682"/>
              <a:gd name="connsiteX67" fmla="*/ 480981 w 5026087"/>
              <a:gd name="connsiteY67" fmla="*/ 600635 h 2366682"/>
              <a:gd name="connsiteX68" fmla="*/ 436158 w 5026087"/>
              <a:gd name="connsiteY68" fmla="*/ 645458 h 2366682"/>
              <a:gd name="connsiteX69" fmla="*/ 373405 w 5026087"/>
              <a:gd name="connsiteY69" fmla="*/ 717176 h 2366682"/>
              <a:gd name="connsiteX70" fmla="*/ 319616 w 5026087"/>
              <a:gd name="connsiteY70" fmla="*/ 753035 h 2366682"/>
              <a:gd name="connsiteX71" fmla="*/ 283758 w 5026087"/>
              <a:gd name="connsiteY71" fmla="*/ 806823 h 2366682"/>
              <a:gd name="connsiteX72" fmla="*/ 247899 w 5026087"/>
              <a:gd name="connsiteY72" fmla="*/ 851647 h 2366682"/>
              <a:gd name="connsiteX73" fmla="*/ 238934 w 5026087"/>
              <a:gd name="connsiteY73" fmla="*/ 878541 h 2366682"/>
              <a:gd name="connsiteX74" fmla="*/ 212040 w 5026087"/>
              <a:gd name="connsiteY74" fmla="*/ 914400 h 2366682"/>
              <a:gd name="connsiteX75" fmla="*/ 158252 w 5026087"/>
              <a:gd name="connsiteY75" fmla="*/ 995082 h 2366682"/>
              <a:gd name="connsiteX76" fmla="*/ 113428 w 5026087"/>
              <a:gd name="connsiteY76" fmla="*/ 1075764 h 2366682"/>
              <a:gd name="connsiteX77" fmla="*/ 526738 w 5026087"/>
              <a:gd name="connsiteY77" fmla="*/ 1109008 h 2366682"/>
              <a:gd name="connsiteX78" fmla="*/ 706219 w 5026087"/>
              <a:gd name="connsiteY78" fmla="*/ 1457511 h 2366682"/>
              <a:gd name="connsiteX79" fmla="*/ 41711 w 5026087"/>
              <a:gd name="connsiteY79" fmla="*/ 1667435 h 2366682"/>
              <a:gd name="connsiteX80" fmla="*/ 68605 w 5026087"/>
              <a:gd name="connsiteY80" fmla="*/ 1757082 h 2366682"/>
              <a:gd name="connsiteX81" fmla="*/ 77569 w 5026087"/>
              <a:gd name="connsiteY81" fmla="*/ 1792941 h 2366682"/>
              <a:gd name="connsiteX82" fmla="*/ 131358 w 5026087"/>
              <a:gd name="connsiteY82" fmla="*/ 1882588 h 2366682"/>
              <a:gd name="connsiteX83" fmla="*/ 185146 w 5026087"/>
              <a:gd name="connsiteY83" fmla="*/ 1972235 h 2366682"/>
              <a:gd name="connsiteX84" fmla="*/ 221005 w 5026087"/>
              <a:gd name="connsiteY84" fmla="*/ 1999129 h 2366682"/>
              <a:gd name="connsiteX85" fmla="*/ 247899 w 5026087"/>
              <a:gd name="connsiteY85" fmla="*/ 2026023 h 2366682"/>
              <a:gd name="connsiteX86" fmla="*/ 292722 w 5026087"/>
              <a:gd name="connsiteY86" fmla="*/ 2043953 h 2366682"/>
              <a:gd name="connsiteX87" fmla="*/ 346511 w 5026087"/>
              <a:gd name="connsiteY87" fmla="*/ 2070847 h 2366682"/>
              <a:gd name="connsiteX88" fmla="*/ 382369 w 5026087"/>
              <a:gd name="connsiteY88" fmla="*/ 2097741 h 2366682"/>
              <a:gd name="connsiteX89" fmla="*/ 472016 w 5026087"/>
              <a:gd name="connsiteY89" fmla="*/ 2133600 h 2366682"/>
              <a:gd name="connsiteX90" fmla="*/ 507875 w 5026087"/>
              <a:gd name="connsiteY90" fmla="*/ 2151529 h 2366682"/>
              <a:gd name="connsiteX91" fmla="*/ 570628 w 5026087"/>
              <a:gd name="connsiteY91" fmla="*/ 2169458 h 2366682"/>
              <a:gd name="connsiteX92" fmla="*/ 678205 w 5026087"/>
              <a:gd name="connsiteY92" fmla="*/ 2205317 h 2366682"/>
              <a:gd name="connsiteX93" fmla="*/ 723028 w 5026087"/>
              <a:gd name="connsiteY93" fmla="*/ 2223247 h 2366682"/>
              <a:gd name="connsiteX94" fmla="*/ 821640 w 5026087"/>
              <a:gd name="connsiteY94" fmla="*/ 2250141 h 2366682"/>
              <a:gd name="connsiteX95" fmla="*/ 857499 w 5026087"/>
              <a:gd name="connsiteY95" fmla="*/ 2268070 h 2366682"/>
              <a:gd name="connsiteX96" fmla="*/ 893358 w 5026087"/>
              <a:gd name="connsiteY96" fmla="*/ 2277035 h 2366682"/>
              <a:gd name="connsiteX97" fmla="*/ 929216 w 5026087"/>
              <a:gd name="connsiteY97" fmla="*/ 2294964 h 2366682"/>
              <a:gd name="connsiteX98" fmla="*/ 1009899 w 5026087"/>
              <a:gd name="connsiteY98" fmla="*/ 2312894 h 2366682"/>
              <a:gd name="connsiteX99" fmla="*/ 1135405 w 5026087"/>
              <a:gd name="connsiteY99" fmla="*/ 2348753 h 2366682"/>
              <a:gd name="connsiteX100" fmla="*/ 1180228 w 5026087"/>
              <a:gd name="connsiteY100" fmla="*/ 2357717 h 2366682"/>
              <a:gd name="connsiteX101" fmla="*/ 1225052 w 5026087"/>
              <a:gd name="connsiteY101" fmla="*/ 2366682 h 2366682"/>
              <a:gd name="connsiteX102" fmla="*/ 1476063 w 5026087"/>
              <a:gd name="connsiteY102" fmla="*/ 2357717 h 2366682"/>
              <a:gd name="connsiteX103" fmla="*/ 1520887 w 5026087"/>
              <a:gd name="connsiteY103" fmla="*/ 2339788 h 2366682"/>
              <a:gd name="connsiteX104" fmla="*/ 1565711 w 5026087"/>
              <a:gd name="connsiteY104" fmla="*/ 2330823 h 2366682"/>
              <a:gd name="connsiteX105" fmla="*/ 1601569 w 5026087"/>
              <a:gd name="connsiteY105" fmla="*/ 2321858 h 2366682"/>
              <a:gd name="connsiteX106" fmla="*/ 1709146 w 5026087"/>
              <a:gd name="connsiteY106" fmla="*/ 2277035 h 2366682"/>
              <a:gd name="connsiteX107" fmla="*/ 1798793 w 5026087"/>
              <a:gd name="connsiteY107" fmla="*/ 2241176 h 2366682"/>
              <a:gd name="connsiteX108" fmla="*/ 1861546 w 5026087"/>
              <a:gd name="connsiteY108" fmla="*/ 2214282 h 2366682"/>
              <a:gd name="connsiteX109" fmla="*/ 1933263 w 5026087"/>
              <a:gd name="connsiteY109" fmla="*/ 2169458 h 2366682"/>
              <a:gd name="connsiteX110" fmla="*/ 2013946 w 5026087"/>
              <a:gd name="connsiteY110" fmla="*/ 2115670 h 2366682"/>
              <a:gd name="connsiteX111" fmla="*/ 2031875 w 5026087"/>
              <a:gd name="connsiteY111" fmla="*/ 2088776 h 2366682"/>
              <a:gd name="connsiteX112" fmla="*/ 2103593 w 5026087"/>
              <a:gd name="connsiteY112" fmla="*/ 2034988 h 2366682"/>
              <a:gd name="connsiteX113" fmla="*/ 2139452 w 5026087"/>
              <a:gd name="connsiteY113" fmla="*/ 1999129 h 2366682"/>
              <a:gd name="connsiteX114" fmla="*/ 2166346 w 5026087"/>
              <a:gd name="connsiteY114" fmla="*/ 1981200 h 2366682"/>
              <a:gd name="connsiteX115" fmla="*/ 2184275 w 5026087"/>
              <a:gd name="connsiteY115" fmla="*/ 1963270 h 2366682"/>
              <a:gd name="connsiteX116" fmla="*/ 2255993 w 5026087"/>
              <a:gd name="connsiteY116" fmla="*/ 1918447 h 2366682"/>
              <a:gd name="connsiteX117" fmla="*/ 2291852 w 5026087"/>
              <a:gd name="connsiteY117" fmla="*/ 1882588 h 2366682"/>
              <a:gd name="connsiteX118" fmla="*/ 2309781 w 5026087"/>
              <a:gd name="connsiteY118" fmla="*/ 1846729 h 2366682"/>
              <a:gd name="connsiteX119" fmla="*/ 2390463 w 5026087"/>
              <a:gd name="connsiteY119" fmla="*/ 1810870 h 2366682"/>
              <a:gd name="connsiteX120" fmla="*/ 2417358 w 5026087"/>
              <a:gd name="connsiteY120" fmla="*/ 1801905 h 2366682"/>
              <a:gd name="connsiteX121" fmla="*/ 2453216 w 5026087"/>
              <a:gd name="connsiteY121" fmla="*/ 1792941 h 2366682"/>
              <a:gd name="connsiteX0" fmla="*/ 5002981 w 5002981"/>
              <a:gd name="connsiteY0" fmla="*/ 1129553 h 2366682"/>
              <a:gd name="connsiteX1" fmla="*/ 4931263 w 5002981"/>
              <a:gd name="connsiteY1" fmla="*/ 1156447 h 2366682"/>
              <a:gd name="connsiteX2" fmla="*/ 4895405 w 5002981"/>
              <a:gd name="connsiteY2" fmla="*/ 1165411 h 2366682"/>
              <a:gd name="connsiteX3" fmla="*/ 4868510 w 5002981"/>
              <a:gd name="connsiteY3" fmla="*/ 1183341 h 2366682"/>
              <a:gd name="connsiteX4" fmla="*/ 4769899 w 5002981"/>
              <a:gd name="connsiteY4" fmla="*/ 1201270 h 2366682"/>
              <a:gd name="connsiteX5" fmla="*/ 4617499 w 5002981"/>
              <a:gd name="connsiteY5" fmla="*/ 1192305 h 2366682"/>
              <a:gd name="connsiteX6" fmla="*/ 4509922 w 5002981"/>
              <a:gd name="connsiteY6" fmla="*/ 1174376 h 2366682"/>
              <a:gd name="connsiteX7" fmla="*/ 4438205 w 5002981"/>
              <a:gd name="connsiteY7" fmla="*/ 1165411 h 2366682"/>
              <a:gd name="connsiteX8" fmla="*/ 4366487 w 5002981"/>
              <a:gd name="connsiteY8" fmla="*/ 1147482 h 2366682"/>
              <a:gd name="connsiteX9" fmla="*/ 4294769 w 5002981"/>
              <a:gd name="connsiteY9" fmla="*/ 1120588 h 2366682"/>
              <a:gd name="connsiteX10" fmla="*/ 4232016 w 5002981"/>
              <a:gd name="connsiteY10" fmla="*/ 1102658 h 2366682"/>
              <a:gd name="connsiteX11" fmla="*/ 4205122 w 5002981"/>
              <a:gd name="connsiteY11" fmla="*/ 1093694 h 2366682"/>
              <a:gd name="connsiteX12" fmla="*/ 4151334 w 5002981"/>
              <a:gd name="connsiteY12" fmla="*/ 1066800 h 2366682"/>
              <a:gd name="connsiteX13" fmla="*/ 4124440 w 5002981"/>
              <a:gd name="connsiteY13" fmla="*/ 1048870 h 2366682"/>
              <a:gd name="connsiteX14" fmla="*/ 4061687 w 5002981"/>
              <a:gd name="connsiteY14" fmla="*/ 1021976 h 2366682"/>
              <a:gd name="connsiteX15" fmla="*/ 4007899 w 5002981"/>
              <a:gd name="connsiteY15" fmla="*/ 986117 h 2366682"/>
              <a:gd name="connsiteX16" fmla="*/ 3972040 w 5002981"/>
              <a:gd name="connsiteY16" fmla="*/ 968188 h 2366682"/>
              <a:gd name="connsiteX17" fmla="*/ 3891357 w 5002981"/>
              <a:gd name="connsiteY17" fmla="*/ 923364 h 2366682"/>
              <a:gd name="connsiteX18" fmla="*/ 3801710 w 5002981"/>
              <a:gd name="connsiteY18" fmla="*/ 878541 h 2366682"/>
              <a:gd name="connsiteX19" fmla="*/ 3721028 w 5002981"/>
              <a:gd name="connsiteY19" fmla="*/ 833717 h 2366682"/>
              <a:gd name="connsiteX20" fmla="*/ 3640346 w 5002981"/>
              <a:gd name="connsiteY20" fmla="*/ 753035 h 2366682"/>
              <a:gd name="connsiteX21" fmla="*/ 3613452 w 5002981"/>
              <a:gd name="connsiteY21" fmla="*/ 726141 h 2366682"/>
              <a:gd name="connsiteX22" fmla="*/ 3595522 w 5002981"/>
              <a:gd name="connsiteY22" fmla="*/ 708211 h 2366682"/>
              <a:gd name="connsiteX23" fmla="*/ 3541734 w 5002981"/>
              <a:gd name="connsiteY23" fmla="*/ 663388 h 2366682"/>
              <a:gd name="connsiteX24" fmla="*/ 3461052 w 5002981"/>
              <a:gd name="connsiteY24" fmla="*/ 582705 h 2366682"/>
              <a:gd name="connsiteX25" fmla="*/ 3425193 w 5002981"/>
              <a:gd name="connsiteY25" fmla="*/ 546847 h 2366682"/>
              <a:gd name="connsiteX26" fmla="*/ 3398299 w 5002981"/>
              <a:gd name="connsiteY26" fmla="*/ 519953 h 2366682"/>
              <a:gd name="connsiteX27" fmla="*/ 3353475 w 5002981"/>
              <a:gd name="connsiteY27" fmla="*/ 484094 h 2366682"/>
              <a:gd name="connsiteX28" fmla="*/ 3290722 w 5002981"/>
              <a:gd name="connsiteY28" fmla="*/ 421341 h 2366682"/>
              <a:gd name="connsiteX29" fmla="*/ 3245899 w 5002981"/>
              <a:gd name="connsiteY29" fmla="*/ 376517 h 2366682"/>
              <a:gd name="connsiteX30" fmla="*/ 3048675 w 5002981"/>
              <a:gd name="connsiteY30" fmla="*/ 224117 h 2366682"/>
              <a:gd name="connsiteX31" fmla="*/ 2967993 w 5002981"/>
              <a:gd name="connsiteY31" fmla="*/ 161364 h 2366682"/>
              <a:gd name="connsiteX32" fmla="*/ 2932134 w 5002981"/>
              <a:gd name="connsiteY32" fmla="*/ 143435 h 2366682"/>
              <a:gd name="connsiteX33" fmla="*/ 2878346 w 5002981"/>
              <a:gd name="connsiteY33" fmla="*/ 98611 h 2366682"/>
              <a:gd name="connsiteX34" fmla="*/ 2860416 w 5002981"/>
              <a:gd name="connsiteY34" fmla="*/ 80682 h 2366682"/>
              <a:gd name="connsiteX35" fmla="*/ 2833522 w 5002981"/>
              <a:gd name="connsiteY35" fmla="*/ 71717 h 2366682"/>
              <a:gd name="connsiteX36" fmla="*/ 2761805 w 5002981"/>
              <a:gd name="connsiteY36" fmla="*/ 35858 h 2366682"/>
              <a:gd name="connsiteX37" fmla="*/ 2699052 w 5002981"/>
              <a:gd name="connsiteY37" fmla="*/ 8964 h 2366682"/>
              <a:gd name="connsiteX38" fmla="*/ 2636299 w 5002981"/>
              <a:gd name="connsiteY38" fmla="*/ 0 h 2366682"/>
              <a:gd name="connsiteX39" fmla="*/ 2457005 w 5002981"/>
              <a:gd name="connsiteY39" fmla="*/ 8964 h 2366682"/>
              <a:gd name="connsiteX40" fmla="*/ 2421146 w 5002981"/>
              <a:gd name="connsiteY40" fmla="*/ 17929 h 2366682"/>
              <a:gd name="connsiteX41" fmla="*/ 2340463 w 5002981"/>
              <a:gd name="connsiteY41" fmla="*/ 26894 h 2366682"/>
              <a:gd name="connsiteX42" fmla="*/ 2223922 w 5002981"/>
              <a:gd name="connsiteY42" fmla="*/ 44823 h 2366682"/>
              <a:gd name="connsiteX43" fmla="*/ 2143240 w 5002981"/>
              <a:gd name="connsiteY43" fmla="*/ 71717 h 2366682"/>
              <a:gd name="connsiteX44" fmla="*/ 2080487 w 5002981"/>
              <a:gd name="connsiteY44" fmla="*/ 89647 h 2366682"/>
              <a:gd name="connsiteX45" fmla="*/ 1695005 w 5002981"/>
              <a:gd name="connsiteY45" fmla="*/ 98611 h 2366682"/>
              <a:gd name="connsiteX46" fmla="*/ 1524675 w 5002981"/>
              <a:gd name="connsiteY46" fmla="*/ 116541 h 2366682"/>
              <a:gd name="connsiteX47" fmla="*/ 1461922 w 5002981"/>
              <a:gd name="connsiteY47" fmla="*/ 125505 h 2366682"/>
              <a:gd name="connsiteX48" fmla="*/ 1381240 w 5002981"/>
              <a:gd name="connsiteY48" fmla="*/ 134470 h 2366682"/>
              <a:gd name="connsiteX49" fmla="*/ 1309522 w 5002981"/>
              <a:gd name="connsiteY49" fmla="*/ 152400 h 2366682"/>
              <a:gd name="connsiteX50" fmla="*/ 1264699 w 5002981"/>
              <a:gd name="connsiteY50" fmla="*/ 161364 h 2366682"/>
              <a:gd name="connsiteX51" fmla="*/ 1210910 w 5002981"/>
              <a:gd name="connsiteY51" fmla="*/ 179294 h 2366682"/>
              <a:gd name="connsiteX52" fmla="*/ 1112299 w 5002981"/>
              <a:gd name="connsiteY52" fmla="*/ 206188 h 2366682"/>
              <a:gd name="connsiteX53" fmla="*/ 1085405 w 5002981"/>
              <a:gd name="connsiteY53" fmla="*/ 215153 h 2366682"/>
              <a:gd name="connsiteX54" fmla="*/ 1004722 w 5002981"/>
              <a:gd name="connsiteY54" fmla="*/ 233082 h 2366682"/>
              <a:gd name="connsiteX55" fmla="*/ 950934 w 5002981"/>
              <a:gd name="connsiteY55" fmla="*/ 251011 h 2366682"/>
              <a:gd name="connsiteX56" fmla="*/ 924040 w 5002981"/>
              <a:gd name="connsiteY56" fmla="*/ 259976 h 2366682"/>
              <a:gd name="connsiteX57" fmla="*/ 897146 w 5002981"/>
              <a:gd name="connsiteY57" fmla="*/ 277905 h 2366682"/>
              <a:gd name="connsiteX58" fmla="*/ 861287 w 5002981"/>
              <a:gd name="connsiteY58" fmla="*/ 286870 h 2366682"/>
              <a:gd name="connsiteX59" fmla="*/ 825428 w 5002981"/>
              <a:gd name="connsiteY59" fmla="*/ 304800 h 2366682"/>
              <a:gd name="connsiteX60" fmla="*/ 798534 w 5002981"/>
              <a:gd name="connsiteY60" fmla="*/ 313764 h 2366682"/>
              <a:gd name="connsiteX61" fmla="*/ 744746 w 5002981"/>
              <a:gd name="connsiteY61" fmla="*/ 349623 h 2366682"/>
              <a:gd name="connsiteX62" fmla="*/ 726816 w 5002981"/>
              <a:gd name="connsiteY62" fmla="*/ 367553 h 2366682"/>
              <a:gd name="connsiteX63" fmla="*/ 664063 w 5002981"/>
              <a:gd name="connsiteY63" fmla="*/ 412376 h 2366682"/>
              <a:gd name="connsiteX64" fmla="*/ 628205 w 5002981"/>
              <a:gd name="connsiteY64" fmla="*/ 448235 h 2366682"/>
              <a:gd name="connsiteX65" fmla="*/ 592346 w 5002981"/>
              <a:gd name="connsiteY65" fmla="*/ 475129 h 2366682"/>
              <a:gd name="connsiteX66" fmla="*/ 547522 w 5002981"/>
              <a:gd name="connsiteY66" fmla="*/ 519953 h 2366682"/>
              <a:gd name="connsiteX67" fmla="*/ 457875 w 5002981"/>
              <a:gd name="connsiteY67" fmla="*/ 600635 h 2366682"/>
              <a:gd name="connsiteX68" fmla="*/ 413052 w 5002981"/>
              <a:gd name="connsiteY68" fmla="*/ 645458 h 2366682"/>
              <a:gd name="connsiteX69" fmla="*/ 350299 w 5002981"/>
              <a:gd name="connsiteY69" fmla="*/ 717176 h 2366682"/>
              <a:gd name="connsiteX70" fmla="*/ 296510 w 5002981"/>
              <a:gd name="connsiteY70" fmla="*/ 753035 h 2366682"/>
              <a:gd name="connsiteX71" fmla="*/ 260652 w 5002981"/>
              <a:gd name="connsiteY71" fmla="*/ 806823 h 2366682"/>
              <a:gd name="connsiteX72" fmla="*/ 224793 w 5002981"/>
              <a:gd name="connsiteY72" fmla="*/ 851647 h 2366682"/>
              <a:gd name="connsiteX73" fmla="*/ 215828 w 5002981"/>
              <a:gd name="connsiteY73" fmla="*/ 878541 h 2366682"/>
              <a:gd name="connsiteX74" fmla="*/ 188934 w 5002981"/>
              <a:gd name="connsiteY74" fmla="*/ 914400 h 2366682"/>
              <a:gd name="connsiteX75" fmla="*/ 135146 w 5002981"/>
              <a:gd name="connsiteY75" fmla="*/ 995082 h 2366682"/>
              <a:gd name="connsiteX76" fmla="*/ 90322 w 5002981"/>
              <a:gd name="connsiteY76" fmla="*/ 1075764 h 2366682"/>
              <a:gd name="connsiteX77" fmla="*/ 503632 w 5002981"/>
              <a:gd name="connsiteY77" fmla="*/ 1109008 h 2366682"/>
              <a:gd name="connsiteX78" fmla="*/ 683113 w 5002981"/>
              <a:gd name="connsiteY78" fmla="*/ 1457511 h 2366682"/>
              <a:gd name="connsiteX79" fmla="*/ 45499 w 5002981"/>
              <a:gd name="connsiteY79" fmla="*/ 1757082 h 2366682"/>
              <a:gd name="connsiteX80" fmla="*/ 54463 w 5002981"/>
              <a:gd name="connsiteY80" fmla="*/ 1792941 h 2366682"/>
              <a:gd name="connsiteX81" fmla="*/ 108252 w 5002981"/>
              <a:gd name="connsiteY81" fmla="*/ 1882588 h 2366682"/>
              <a:gd name="connsiteX82" fmla="*/ 162040 w 5002981"/>
              <a:gd name="connsiteY82" fmla="*/ 1972235 h 2366682"/>
              <a:gd name="connsiteX83" fmla="*/ 197899 w 5002981"/>
              <a:gd name="connsiteY83" fmla="*/ 1999129 h 2366682"/>
              <a:gd name="connsiteX84" fmla="*/ 224793 w 5002981"/>
              <a:gd name="connsiteY84" fmla="*/ 2026023 h 2366682"/>
              <a:gd name="connsiteX85" fmla="*/ 269616 w 5002981"/>
              <a:gd name="connsiteY85" fmla="*/ 2043953 h 2366682"/>
              <a:gd name="connsiteX86" fmla="*/ 323405 w 5002981"/>
              <a:gd name="connsiteY86" fmla="*/ 2070847 h 2366682"/>
              <a:gd name="connsiteX87" fmla="*/ 359263 w 5002981"/>
              <a:gd name="connsiteY87" fmla="*/ 2097741 h 2366682"/>
              <a:gd name="connsiteX88" fmla="*/ 448910 w 5002981"/>
              <a:gd name="connsiteY88" fmla="*/ 2133600 h 2366682"/>
              <a:gd name="connsiteX89" fmla="*/ 484769 w 5002981"/>
              <a:gd name="connsiteY89" fmla="*/ 2151529 h 2366682"/>
              <a:gd name="connsiteX90" fmla="*/ 547522 w 5002981"/>
              <a:gd name="connsiteY90" fmla="*/ 2169458 h 2366682"/>
              <a:gd name="connsiteX91" fmla="*/ 655099 w 5002981"/>
              <a:gd name="connsiteY91" fmla="*/ 2205317 h 2366682"/>
              <a:gd name="connsiteX92" fmla="*/ 699922 w 5002981"/>
              <a:gd name="connsiteY92" fmla="*/ 2223247 h 2366682"/>
              <a:gd name="connsiteX93" fmla="*/ 798534 w 5002981"/>
              <a:gd name="connsiteY93" fmla="*/ 2250141 h 2366682"/>
              <a:gd name="connsiteX94" fmla="*/ 834393 w 5002981"/>
              <a:gd name="connsiteY94" fmla="*/ 2268070 h 2366682"/>
              <a:gd name="connsiteX95" fmla="*/ 870252 w 5002981"/>
              <a:gd name="connsiteY95" fmla="*/ 2277035 h 2366682"/>
              <a:gd name="connsiteX96" fmla="*/ 906110 w 5002981"/>
              <a:gd name="connsiteY96" fmla="*/ 2294964 h 2366682"/>
              <a:gd name="connsiteX97" fmla="*/ 986793 w 5002981"/>
              <a:gd name="connsiteY97" fmla="*/ 2312894 h 2366682"/>
              <a:gd name="connsiteX98" fmla="*/ 1112299 w 5002981"/>
              <a:gd name="connsiteY98" fmla="*/ 2348753 h 2366682"/>
              <a:gd name="connsiteX99" fmla="*/ 1157122 w 5002981"/>
              <a:gd name="connsiteY99" fmla="*/ 2357717 h 2366682"/>
              <a:gd name="connsiteX100" fmla="*/ 1201946 w 5002981"/>
              <a:gd name="connsiteY100" fmla="*/ 2366682 h 2366682"/>
              <a:gd name="connsiteX101" fmla="*/ 1452957 w 5002981"/>
              <a:gd name="connsiteY101" fmla="*/ 2357717 h 2366682"/>
              <a:gd name="connsiteX102" fmla="*/ 1497781 w 5002981"/>
              <a:gd name="connsiteY102" fmla="*/ 2339788 h 2366682"/>
              <a:gd name="connsiteX103" fmla="*/ 1542605 w 5002981"/>
              <a:gd name="connsiteY103" fmla="*/ 2330823 h 2366682"/>
              <a:gd name="connsiteX104" fmla="*/ 1578463 w 5002981"/>
              <a:gd name="connsiteY104" fmla="*/ 2321858 h 2366682"/>
              <a:gd name="connsiteX105" fmla="*/ 1686040 w 5002981"/>
              <a:gd name="connsiteY105" fmla="*/ 2277035 h 2366682"/>
              <a:gd name="connsiteX106" fmla="*/ 1775687 w 5002981"/>
              <a:gd name="connsiteY106" fmla="*/ 2241176 h 2366682"/>
              <a:gd name="connsiteX107" fmla="*/ 1838440 w 5002981"/>
              <a:gd name="connsiteY107" fmla="*/ 2214282 h 2366682"/>
              <a:gd name="connsiteX108" fmla="*/ 1910157 w 5002981"/>
              <a:gd name="connsiteY108" fmla="*/ 2169458 h 2366682"/>
              <a:gd name="connsiteX109" fmla="*/ 1990840 w 5002981"/>
              <a:gd name="connsiteY109" fmla="*/ 2115670 h 2366682"/>
              <a:gd name="connsiteX110" fmla="*/ 2008769 w 5002981"/>
              <a:gd name="connsiteY110" fmla="*/ 2088776 h 2366682"/>
              <a:gd name="connsiteX111" fmla="*/ 2080487 w 5002981"/>
              <a:gd name="connsiteY111" fmla="*/ 2034988 h 2366682"/>
              <a:gd name="connsiteX112" fmla="*/ 2116346 w 5002981"/>
              <a:gd name="connsiteY112" fmla="*/ 1999129 h 2366682"/>
              <a:gd name="connsiteX113" fmla="*/ 2143240 w 5002981"/>
              <a:gd name="connsiteY113" fmla="*/ 1981200 h 2366682"/>
              <a:gd name="connsiteX114" fmla="*/ 2161169 w 5002981"/>
              <a:gd name="connsiteY114" fmla="*/ 1963270 h 2366682"/>
              <a:gd name="connsiteX115" fmla="*/ 2232887 w 5002981"/>
              <a:gd name="connsiteY115" fmla="*/ 1918447 h 2366682"/>
              <a:gd name="connsiteX116" fmla="*/ 2268746 w 5002981"/>
              <a:gd name="connsiteY116" fmla="*/ 1882588 h 2366682"/>
              <a:gd name="connsiteX117" fmla="*/ 2286675 w 5002981"/>
              <a:gd name="connsiteY117" fmla="*/ 1846729 h 2366682"/>
              <a:gd name="connsiteX118" fmla="*/ 2367357 w 5002981"/>
              <a:gd name="connsiteY118" fmla="*/ 1810870 h 2366682"/>
              <a:gd name="connsiteX119" fmla="*/ 2394252 w 5002981"/>
              <a:gd name="connsiteY119" fmla="*/ 1801905 h 2366682"/>
              <a:gd name="connsiteX120" fmla="*/ 2430110 w 5002981"/>
              <a:gd name="connsiteY120" fmla="*/ 1792941 h 2366682"/>
              <a:gd name="connsiteX0" fmla="*/ 4982763 w 4982763"/>
              <a:gd name="connsiteY0" fmla="*/ 1129553 h 2366682"/>
              <a:gd name="connsiteX1" fmla="*/ 4911045 w 4982763"/>
              <a:gd name="connsiteY1" fmla="*/ 1156447 h 2366682"/>
              <a:gd name="connsiteX2" fmla="*/ 4875187 w 4982763"/>
              <a:gd name="connsiteY2" fmla="*/ 1165411 h 2366682"/>
              <a:gd name="connsiteX3" fmla="*/ 4848292 w 4982763"/>
              <a:gd name="connsiteY3" fmla="*/ 1183341 h 2366682"/>
              <a:gd name="connsiteX4" fmla="*/ 4749681 w 4982763"/>
              <a:gd name="connsiteY4" fmla="*/ 1201270 h 2366682"/>
              <a:gd name="connsiteX5" fmla="*/ 4597281 w 4982763"/>
              <a:gd name="connsiteY5" fmla="*/ 1192305 h 2366682"/>
              <a:gd name="connsiteX6" fmla="*/ 4489704 w 4982763"/>
              <a:gd name="connsiteY6" fmla="*/ 1174376 h 2366682"/>
              <a:gd name="connsiteX7" fmla="*/ 4417987 w 4982763"/>
              <a:gd name="connsiteY7" fmla="*/ 1165411 h 2366682"/>
              <a:gd name="connsiteX8" fmla="*/ 4346269 w 4982763"/>
              <a:gd name="connsiteY8" fmla="*/ 1147482 h 2366682"/>
              <a:gd name="connsiteX9" fmla="*/ 4274551 w 4982763"/>
              <a:gd name="connsiteY9" fmla="*/ 1120588 h 2366682"/>
              <a:gd name="connsiteX10" fmla="*/ 4211798 w 4982763"/>
              <a:gd name="connsiteY10" fmla="*/ 1102658 h 2366682"/>
              <a:gd name="connsiteX11" fmla="*/ 4184904 w 4982763"/>
              <a:gd name="connsiteY11" fmla="*/ 1093694 h 2366682"/>
              <a:gd name="connsiteX12" fmla="*/ 4131116 w 4982763"/>
              <a:gd name="connsiteY12" fmla="*/ 1066800 h 2366682"/>
              <a:gd name="connsiteX13" fmla="*/ 4104222 w 4982763"/>
              <a:gd name="connsiteY13" fmla="*/ 1048870 h 2366682"/>
              <a:gd name="connsiteX14" fmla="*/ 4041469 w 4982763"/>
              <a:gd name="connsiteY14" fmla="*/ 1021976 h 2366682"/>
              <a:gd name="connsiteX15" fmla="*/ 3987681 w 4982763"/>
              <a:gd name="connsiteY15" fmla="*/ 986117 h 2366682"/>
              <a:gd name="connsiteX16" fmla="*/ 3951822 w 4982763"/>
              <a:gd name="connsiteY16" fmla="*/ 968188 h 2366682"/>
              <a:gd name="connsiteX17" fmla="*/ 3871139 w 4982763"/>
              <a:gd name="connsiteY17" fmla="*/ 923364 h 2366682"/>
              <a:gd name="connsiteX18" fmla="*/ 3781492 w 4982763"/>
              <a:gd name="connsiteY18" fmla="*/ 878541 h 2366682"/>
              <a:gd name="connsiteX19" fmla="*/ 3700810 w 4982763"/>
              <a:gd name="connsiteY19" fmla="*/ 833717 h 2366682"/>
              <a:gd name="connsiteX20" fmla="*/ 3620128 w 4982763"/>
              <a:gd name="connsiteY20" fmla="*/ 753035 h 2366682"/>
              <a:gd name="connsiteX21" fmla="*/ 3593234 w 4982763"/>
              <a:gd name="connsiteY21" fmla="*/ 726141 h 2366682"/>
              <a:gd name="connsiteX22" fmla="*/ 3575304 w 4982763"/>
              <a:gd name="connsiteY22" fmla="*/ 708211 h 2366682"/>
              <a:gd name="connsiteX23" fmla="*/ 3521516 w 4982763"/>
              <a:gd name="connsiteY23" fmla="*/ 663388 h 2366682"/>
              <a:gd name="connsiteX24" fmla="*/ 3440834 w 4982763"/>
              <a:gd name="connsiteY24" fmla="*/ 582705 h 2366682"/>
              <a:gd name="connsiteX25" fmla="*/ 3404975 w 4982763"/>
              <a:gd name="connsiteY25" fmla="*/ 546847 h 2366682"/>
              <a:gd name="connsiteX26" fmla="*/ 3378081 w 4982763"/>
              <a:gd name="connsiteY26" fmla="*/ 519953 h 2366682"/>
              <a:gd name="connsiteX27" fmla="*/ 3333257 w 4982763"/>
              <a:gd name="connsiteY27" fmla="*/ 484094 h 2366682"/>
              <a:gd name="connsiteX28" fmla="*/ 3270504 w 4982763"/>
              <a:gd name="connsiteY28" fmla="*/ 421341 h 2366682"/>
              <a:gd name="connsiteX29" fmla="*/ 3225681 w 4982763"/>
              <a:gd name="connsiteY29" fmla="*/ 376517 h 2366682"/>
              <a:gd name="connsiteX30" fmla="*/ 3028457 w 4982763"/>
              <a:gd name="connsiteY30" fmla="*/ 224117 h 2366682"/>
              <a:gd name="connsiteX31" fmla="*/ 2947775 w 4982763"/>
              <a:gd name="connsiteY31" fmla="*/ 161364 h 2366682"/>
              <a:gd name="connsiteX32" fmla="*/ 2911916 w 4982763"/>
              <a:gd name="connsiteY32" fmla="*/ 143435 h 2366682"/>
              <a:gd name="connsiteX33" fmla="*/ 2858128 w 4982763"/>
              <a:gd name="connsiteY33" fmla="*/ 98611 h 2366682"/>
              <a:gd name="connsiteX34" fmla="*/ 2840198 w 4982763"/>
              <a:gd name="connsiteY34" fmla="*/ 80682 h 2366682"/>
              <a:gd name="connsiteX35" fmla="*/ 2813304 w 4982763"/>
              <a:gd name="connsiteY35" fmla="*/ 71717 h 2366682"/>
              <a:gd name="connsiteX36" fmla="*/ 2741587 w 4982763"/>
              <a:gd name="connsiteY36" fmla="*/ 35858 h 2366682"/>
              <a:gd name="connsiteX37" fmla="*/ 2678834 w 4982763"/>
              <a:gd name="connsiteY37" fmla="*/ 8964 h 2366682"/>
              <a:gd name="connsiteX38" fmla="*/ 2616081 w 4982763"/>
              <a:gd name="connsiteY38" fmla="*/ 0 h 2366682"/>
              <a:gd name="connsiteX39" fmla="*/ 2436787 w 4982763"/>
              <a:gd name="connsiteY39" fmla="*/ 8964 h 2366682"/>
              <a:gd name="connsiteX40" fmla="*/ 2400928 w 4982763"/>
              <a:gd name="connsiteY40" fmla="*/ 17929 h 2366682"/>
              <a:gd name="connsiteX41" fmla="*/ 2320245 w 4982763"/>
              <a:gd name="connsiteY41" fmla="*/ 26894 h 2366682"/>
              <a:gd name="connsiteX42" fmla="*/ 2203704 w 4982763"/>
              <a:gd name="connsiteY42" fmla="*/ 44823 h 2366682"/>
              <a:gd name="connsiteX43" fmla="*/ 2123022 w 4982763"/>
              <a:gd name="connsiteY43" fmla="*/ 71717 h 2366682"/>
              <a:gd name="connsiteX44" fmla="*/ 2060269 w 4982763"/>
              <a:gd name="connsiteY44" fmla="*/ 89647 h 2366682"/>
              <a:gd name="connsiteX45" fmla="*/ 1674787 w 4982763"/>
              <a:gd name="connsiteY45" fmla="*/ 98611 h 2366682"/>
              <a:gd name="connsiteX46" fmla="*/ 1504457 w 4982763"/>
              <a:gd name="connsiteY46" fmla="*/ 116541 h 2366682"/>
              <a:gd name="connsiteX47" fmla="*/ 1441704 w 4982763"/>
              <a:gd name="connsiteY47" fmla="*/ 125505 h 2366682"/>
              <a:gd name="connsiteX48" fmla="*/ 1361022 w 4982763"/>
              <a:gd name="connsiteY48" fmla="*/ 134470 h 2366682"/>
              <a:gd name="connsiteX49" fmla="*/ 1289304 w 4982763"/>
              <a:gd name="connsiteY49" fmla="*/ 152400 h 2366682"/>
              <a:gd name="connsiteX50" fmla="*/ 1244481 w 4982763"/>
              <a:gd name="connsiteY50" fmla="*/ 161364 h 2366682"/>
              <a:gd name="connsiteX51" fmla="*/ 1190692 w 4982763"/>
              <a:gd name="connsiteY51" fmla="*/ 179294 h 2366682"/>
              <a:gd name="connsiteX52" fmla="*/ 1092081 w 4982763"/>
              <a:gd name="connsiteY52" fmla="*/ 206188 h 2366682"/>
              <a:gd name="connsiteX53" fmla="*/ 1065187 w 4982763"/>
              <a:gd name="connsiteY53" fmla="*/ 215153 h 2366682"/>
              <a:gd name="connsiteX54" fmla="*/ 984504 w 4982763"/>
              <a:gd name="connsiteY54" fmla="*/ 233082 h 2366682"/>
              <a:gd name="connsiteX55" fmla="*/ 930716 w 4982763"/>
              <a:gd name="connsiteY55" fmla="*/ 251011 h 2366682"/>
              <a:gd name="connsiteX56" fmla="*/ 903822 w 4982763"/>
              <a:gd name="connsiteY56" fmla="*/ 259976 h 2366682"/>
              <a:gd name="connsiteX57" fmla="*/ 876928 w 4982763"/>
              <a:gd name="connsiteY57" fmla="*/ 277905 h 2366682"/>
              <a:gd name="connsiteX58" fmla="*/ 841069 w 4982763"/>
              <a:gd name="connsiteY58" fmla="*/ 286870 h 2366682"/>
              <a:gd name="connsiteX59" fmla="*/ 805210 w 4982763"/>
              <a:gd name="connsiteY59" fmla="*/ 304800 h 2366682"/>
              <a:gd name="connsiteX60" fmla="*/ 778316 w 4982763"/>
              <a:gd name="connsiteY60" fmla="*/ 313764 h 2366682"/>
              <a:gd name="connsiteX61" fmla="*/ 724528 w 4982763"/>
              <a:gd name="connsiteY61" fmla="*/ 349623 h 2366682"/>
              <a:gd name="connsiteX62" fmla="*/ 706598 w 4982763"/>
              <a:gd name="connsiteY62" fmla="*/ 367553 h 2366682"/>
              <a:gd name="connsiteX63" fmla="*/ 643845 w 4982763"/>
              <a:gd name="connsiteY63" fmla="*/ 412376 h 2366682"/>
              <a:gd name="connsiteX64" fmla="*/ 607987 w 4982763"/>
              <a:gd name="connsiteY64" fmla="*/ 448235 h 2366682"/>
              <a:gd name="connsiteX65" fmla="*/ 572128 w 4982763"/>
              <a:gd name="connsiteY65" fmla="*/ 475129 h 2366682"/>
              <a:gd name="connsiteX66" fmla="*/ 527304 w 4982763"/>
              <a:gd name="connsiteY66" fmla="*/ 519953 h 2366682"/>
              <a:gd name="connsiteX67" fmla="*/ 437657 w 4982763"/>
              <a:gd name="connsiteY67" fmla="*/ 600635 h 2366682"/>
              <a:gd name="connsiteX68" fmla="*/ 392834 w 4982763"/>
              <a:gd name="connsiteY68" fmla="*/ 645458 h 2366682"/>
              <a:gd name="connsiteX69" fmla="*/ 330081 w 4982763"/>
              <a:gd name="connsiteY69" fmla="*/ 717176 h 2366682"/>
              <a:gd name="connsiteX70" fmla="*/ 276292 w 4982763"/>
              <a:gd name="connsiteY70" fmla="*/ 753035 h 2366682"/>
              <a:gd name="connsiteX71" fmla="*/ 240434 w 4982763"/>
              <a:gd name="connsiteY71" fmla="*/ 806823 h 2366682"/>
              <a:gd name="connsiteX72" fmla="*/ 204575 w 4982763"/>
              <a:gd name="connsiteY72" fmla="*/ 851647 h 2366682"/>
              <a:gd name="connsiteX73" fmla="*/ 195610 w 4982763"/>
              <a:gd name="connsiteY73" fmla="*/ 878541 h 2366682"/>
              <a:gd name="connsiteX74" fmla="*/ 168716 w 4982763"/>
              <a:gd name="connsiteY74" fmla="*/ 914400 h 2366682"/>
              <a:gd name="connsiteX75" fmla="*/ 114928 w 4982763"/>
              <a:gd name="connsiteY75" fmla="*/ 995082 h 2366682"/>
              <a:gd name="connsiteX76" fmla="*/ 70104 w 4982763"/>
              <a:gd name="connsiteY76" fmla="*/ 1075764 h 2366682"/>
              <a:gd name="connsiteX77" fmla="*/ 483414 w 4982763"/>
              <a:gd name="connsiteY77" fmla="*/ 1109008 h 2366682"/>
              <a:gd name="connsiteX78" fmla="*/ 662895 w 4982763"/>
              <a:gd name="connsiteY78" fmla="*/ 1457511 h 2366682"/>
              <a:gd name="connsiteX79" fmla="*/ 34245 w 4982763"/>
              <a:gd name="connsiteY79" fmla="*/ 1792941 h 2366682"/>
              <a:gd name="connsiteX80" fmla="*/ 88034 w 4982763"/>
              <a:gd name="connsiteY80" fmla="*/ 1882588 h 2366682"/>
              <a:gd name="connsiteX81" fmla="*/ 141822 w 4982763"/>
              <a:gd name="connsiteY81" fmla="*/ 1972235 h 2366682"/>
              <a:gd name="connsiteX82" fmla="*/ 177681 w 4982763"/>
              <a:gd name="connsiteY82" fmla="*/ 1999129 h 2366682"/>
              <a:gd name="connsiteX83" fmla="*/ 204575 w 4982763"/>
              <a:gd name="connsiteY83" fmla="*/ 2026023 h 2366682"/>
              <a:gd name="connsiteX84" fmla="*/ 249398 w 4982763"/>
              <a:gd name="connsiteY84" fmla="*/ 2043953 h 2366682"/>
              <a:gd name="connsiteX85" fmla="*/ 303187 w 4982763"/>
              <a:gd name="connsiteY85" fmla="*/ 2070847 h 2366682"/>
              <a:gd name="connsiteX86" fmla="*/ 339045 w 4982763"/>
              <a:gd name="connsiteY86" fmla="*/ 2097741 h 2366682"/>
              <a:gd name="connsiteX87" fmla="*/ 428692 w 4982763"/>
              <a:gd name="connsiteY87" fmla="*/ 2133600 h 2366682"/>
              <a:gd name="connsiteX88" fmla="*/ 464551 w 4982763"/>
              <a:gd name="connsiteY88" fmla="*/ 2151529 h 2366682"/>
              <a:gd name="connsiteX89" fmla="*/ 527304 w 4982763"/>
              <a:gd name="connsiteY89" fmla="*/ 2169458 h 2366682"/>
              <a:gd name="connsiteX90" fmla="*/ 634881 w 4982763"/>
              <a:gd name="connsiteY90" fmla="*/ 2205317 h 2366682"/>
              <a:gd name="connsiteX91" fmla="*/ 679704 w 4982763"/>
              <a:gd name="connsiteY91" fmla="*/ 2223247 h 2366682"/>
              <a:gd name="connsiteX92" fmla="*/ 778316 w 4982763"/>
              <a:gd name="connsiteY92" fmla="*/ 2250141 h 2366682"/>
              <a:gd name="connsiteX93" fmla="*/ 814175 w 4982763"/>
              <a:gd name="connsiteY93" fmla="*/ 2268070 h 2366682"/>
              <a:gd name="connsiteX94" fmla="*/ 850034 w 4982763"/>
              <a:gd name="connsiteY94" fmla="*/ 2277035 h 2366682"/>
              <a:gd name="connsiteX95" fmla="*/ 885892 w 4982763"/>
              <a:gd name="connsiteY95" fmla="*/ 2294964 h 2366682"/>
              <a:gd name="connsiteX96" fmla="*/ 966575 w 4982763"/>
              <a:gd name="connsiteY96" fmla="*/ 2312894 h 2366682"/>
              <a:gd name="connsiteX97" fmla="*/ 1092081 w 4982763"/>
              <a:gd name="connsiteY97" fmla="*/ 2348753 h 2366682"/>
              <a:gd name="connsiteX98" fmla="*/ 1136904 w 4982763"/>
              <a:gd name="connsiteY98" fmla="*/ 2357717 h 2366682"/>
              <a:gd name="connsiteX99" fmla="*/ 1181728 w 4982763"/>
              <a:gd name="connsiteY99" fmla="*/ 2366682 h 2366682"/>
              <a:gd name="connsiteX100" fmla="*/ 1432739 w 4982763"/>
              <a:gd name="connsiteY100" fmla="*/ 2357717 h 2366682"/>
              <a:gd name="connsiteX101" fmla="*/ 1477563 w 4982763"/>
              <a:gd name="connsiteY101" fmla="*/ 2339788 h 2366682"/>
              <a:gd name="connsiteX102" fmla="*/ 1522387 w 4982763"/>
              <a:gd name="connsiteY102" fmla="*/ 2330823 h 2366682"/>
              <a:gd name="connsiteX103" fmla="*/ 1558245 w 4982763"/>
              <a:gd name="connsiteY103" fmla="*/ 2321858 h 2366682"/>
              <a:gd name="connsiteX104" fmla="*/ 1665822 w 4982763"/>
              <a:gd name="connsiteY104" fmla="*/ 2277035 h 2366682"/>
              <a:gd name="connsiteX105" fmla="*/ 1755469 w 4982763"/>
              <a:gd name="connsiteY105" fmla="*/ 2241176 h 2366682"/>
              <a:gd name="connsiteX106" fmla="*/ 1818222 w 4982763"/>
              <a:gd name="connsiteY106" fmla="*/ 2214282 h 2366682"/>
              <a:gd name="connsiteX107" fmla="*/ 1889939 w 4982763"/>
              <a:gd name="connsiteY107" fmla="*/ 2169458 h 2366682"/>
              <a:gd name="connsiteX108" fmla="*/ 1970622 w 4982763"/>
              <a:gd name="connsiteY108" fmla="*/ 2115670 h 2366682"/>
              <a:gd name="connsiteX109" fmla="*/ 1988551 w 4982763"/>
              <a:gd name="connsiteY109" fmla="*/ 2088776 h 2366682"/>
              <a:gd name="connsiteX110" fmla="*/ 2060269 w 4982763"/>
              <a:gd name="connsiteY110" fmla="*/ 2034988 h 2366682"/>
              <a:gd name="connsiteX111" fmla="*/ 2096128 w 4982763"/>
              <a:gd name="connsiteY111" fmla="*/ 1999129 h 2366682"/>
              <a:gd name="connsiteX112" fmla="*/ 2123022 w 4982763"/>
              <a:gd name="connsiteY112" fmla="*/ 1981200 h 2366682"/>
              <a:gd name="connsiteX113" fmla="*/ 2140951 w 4982763"/>
              <a:gd name="connsiteY113" fmla="*/ 1963270 h 2366682"/>
              <a:gd name="connsiteX114" fmla="*/ 2212669 w 4982763"/>
              <a:gd name="connsiteY114" fmla="*/ 1918447 h 2366682"/>
              <a:gd name="connsiteX115" fmla="*/ 2248528 w 4982763"/>
              <a:gd name="connsiteY115" fmla="*/ 1882588 h 2366682"/>
              <a:gd name="connsiteX116" fmla="*/ 2266457 w 4982763"/>
              <a:gd name="connsiteY116" fmla="*/ 1846729 h 2366682"/>
              <a:gd name="connsiteX117" fmla="*/ 2347139 w 4982763"/>
              <a:gd name="connsiteY117" fmla="*/ 1810870 h 2366682"/>
              <a:gd name="connsiteX118" fmla="*/ 2374034 w 4982763"/>
              <a:gd name="connsiteY118" fmla="*/ 1801905 h 2366682"/>
              <a:gd name="connsiteX119" fmla="*/ 2409892 w 4982763"/>
              <a:gd name="connsiteY119" fmla="*/ 1792941 h 2366682"/>
              <a:gd name="connsiteX0" fmla="*/ 4934054 w 4934054"/>
              <a:gd name="connsiteY0" fmla="*/ 1129553 h 2366682"/>
              <a:gd name="connsiteX1" fmla="*/ 4862336 w 4934054"/>
              <a:gd name="connsiteY1" fmla="*/ 1156447 h 2366682"/>
              <a:gd name="connsiteX2" fmla="*/ 4826478 w 4934054"/>
              <a:gd name="connsiteY2" fmla="*/ 1165411 h 2366682"/>
              <a:gd name="connsiteX3" fmla="*/ 4799583 w 4934054"/>
              <a:gd name="connsiteY3" fmla="*/ 1183341 h 2366682"/>
              <a:gd name="connsiteX4" fmla="*/ 4700972 w 4934054"/>
              <a:gd name="connsiteY4" fmla="*/ 1201270 h 2366682"/>
              <a:gd name="connsiteX5" fmla="*/ 4548572 w 4934054"/>
              <a:gd name="connsiteY5" fmla="*/ 1192305 h 2366682"/>
              <a:gd name="connsiteX6" fmla="*/ 4440995 w 4934054"/>
              <a:gd name="connsiteY6" fmla="*/ 1174376 h 2366682"/>
              <a:gd name="connsiteX7" fmla="*/ 4369278 w 4934054"/>
              <a:gd name="connsiteY7" fmla="*/ 1165411 h 2366682"/>
              <a:gd name="connsiteX8" fmla="*/ 4297560 w 4934054"/>
              <a:gd name="connsiteY8" fmla="*/ 1147482 h 2366682"/>
              <a:gd name="connsiteX9" fmla="*/ 4225842 w 4934054"/>
              <a:gd name="connsiteY9" fmla="*/ 1120588 h 2366682"/>
              <a:gd name="connsiteX10" fmla="*/ 4163089 w 4934054"/>
              <a:gd name="connsiteY10" fmla="*/ 1102658 h 2366682"/>
              <a:gd name="connsiteX11" fmla="*/ 4136195 w 4934054"/>
              <a:gd name="connsiteY11" fmla="*/ 1093694 h 2366682"/>
              <a:gd name="connsiteX12" fmla="*/ 4082407 w 4934054"/>
              <a:gd name="connsiteY12" fmla="*/ 1066800 h 2366682"/>
              <a:gd name="connsiteX13" fmla="*/ 4055513 w 4934054"/>
              <a:gd name="connsiteY13" fmla="*/ 1048870 h 2366682"/>
              <a:gd name="connsiteX14" fmla="*/ 3992760 w 4934054"/>
              <a:gd name="connsiteY14" fmla="*/ 1021976 h 2366682"/>
              <a:gd name="connsiteX15" fmla="*/ 3938972 w 4934054"/>
              <a:gd name="connsiteY15" fmla="*/ 986117 h 2366682"/>
              <a:gd name="connsiteX16" fmla="*/ 3903113 w 4934054"/>
              <a:gd name="connsiteY16" fmla="*/ 968188 h 2366682"/>
              <a:gd name="connsiteX17" fmla="*/ 3822430 w 4934054"/>
              <a:gd name="connsiteY17" fmla="*/ 923364 h 2366682"/>
              <a:gd name="connsiteX18" fmla="*/ 3732783 w 4934054"/>
              <a:gd name="connsiteY18" fmla="*/ 878541 h 2366682"/>
              <a:gd name="connsiteX19" fmla="*/ 3652101 w 4934054"/>
              <a:gd name="connsiteY19" fmla="*/ 833717 h 2366682"/>
              <a:gd name="connsiteX20" fmla="*/ 3571419 w 4934054"/>
              <a:gd name="connsiteY20" fmla="*/ 753035 h 2366682"/>
              <a:gd name="connsiteX21" fmla="*/ 3544525 w 4934054"/>
              <a:gd name="connsiteY21" fmla="*/ 726141 h 2366682"/>
              <a:gd name="connsiteX22" fmla="*/ 3526595 w 4934054"/>
              <a:gd name="connsiteY22" fmla="*/ 708211 h 2366682"/>
              <a:gd name="connsiteX23" fmla="*/ 3472807 w 4934054"/>
              <a:gd name="connsiteY23" fmla="*/ 663388 h 2366682"/>
              <a:gd name="connsiteX24" fmla="*/ 3392125 w 4934054"/>
              <a:gd name="connsiteY24" fmla="*/ 582705 h 2366682"/>
              <a:gd name="connsiteX25" fmla="*/ 3356266 w 4934054"/>
              <a:gd name="connsiteY25" fmla="*/ 546847 h 2366682"/>
              <a:gd name="connsiteX26" fmla="*/ 3329372 w 4934054"/>
              <a:gd name="connsiteY26" fmla="*/ 519953 h 2366682"/>
              <a:gd name="connsiteX27" fmla="*/ 3284548 w 4934054"/>
              <a:gd name="connsiteY27" fmla="*/ 484094 h 2366682"/>
              <a:gd name="connsiteX28" fmla="*/ 3221795 w 4934054"/>
              <a:gd name="connsiteY28" fmla="*/ 421341 h 2366682"/>
              <a:gd name="connsiteX29" fmla="*/ 3176972 w 4934054"/>
              <a:gd name="connsiteY29" fmla="*/ 376517 h 2366682"/>
              <a:gd name="connsiteX30" fmla="*/ 2979748 w 4934054"/>
              <a:gd name="connsiteY30" fmla="*/ 224117 h 2366682"/>
              <a:gd name="connsiteX31" fmla="*/ 2899066 w 4934054"/>
              <a:gd name="connsiteY31" fmla="*/ 161364 h 2366682"/>
              <a:gd name="connsiteX32" fmla="*/ 2863207 w 4934054"/>
              <a:gd name="connsiteY32" fmla="*/ 143435 h 2366682"/>
              <a:gd name="connsiteX33" fmla="*/ 2809419 w 4934054"/>
              <a:gd name="connsiteY33" fmla="*/ 98611 h 2366682"/>
              <a:gd name="connsiteX34" fmla="*/ 2791489 w 4934054"/>
              <a:gd name="connsiteY34" fmla="*/ 80682 h 2366682"/>
              <a:gd name="connsiteX35" fmla="*/ 2764595 w 4934054"/>
              <a:gd name="connsiteY35" fmla="*/ 71717 h 2366682"/>
              <a:gd name="connsiteX36" fmla="*/ 2692878 w 4934054"/>
              <a:gd name="connsiteY36" fmla="*/ 35858 h 2366682"/>
              <a:gd name="connsiteX37" fmla="*/ 2630125 w 4934054"/>
              <a:gd name="connsiteY37" fmla="*/ 8964 h 2366682"/>
              <a:gd name="connsiteX38" fmla="*/ 2567372 w 4934054"/>
              <a:gd name="connsiteY38" fmla="*/ 0 h 2366682"/>
              <a:gd name="connsiteX39" fmla="*/ 2388078 w 4934054"/>
              <a:gd name="connsiteY39" fmla="*/ 8964 h 2366682"/>
              <a:gd name="connsiteX40" fmla="*/ 2352219 w 4934054"/>
              <a:gd name="connsiteY40" fmla="*/ 17929 h 2366682"/>
              <a:gd name="connsiteX41" fmla="*/ 2271536 w 4934054"/>
              <a:gd name="connsiteY41" fmla="*/ 26894 h 2366682"/>
              <a:gd name="connsiteX42" fmla="*/ 2154995 w 4934054"/>
              <a:gd name="connsiteY42" fmla="*/ 44823 h 2366682"/>
              <a:gd name="connsiteX43" fmla="*/ 2074313 w 4934054"/>
              <a:gd name="connsiteY43" fmla="*/ 71717 h 2366682"/>
              <a:gd name="connsiteX44" fmla="*/ 2011560 w 4934054"/>
              <a:gd name="connsiteY44" fmla="*/ 89647 h 2366682"/>
              <a:gd name="connsiteX45" fmla="*/ 1626078 w 4934054"/>
              <a:gd name="connsiteY45" fmla="*/ 98611 h 2366682"/>
              <a:gd name="connsiteX46" fmla="*/ 1455748 w 4934054"/>
              <a:gd name="connsiteY46" fmla="*/ 116541 h 2366682"/>
              <a:gd name="connsiteX47" fmla="*/ 1392995 w 4934054"/>
              <a:gd name="connsiteY47" fmla="*/ 125505 h 2366682"/>
              <a:gd name="connsiteX48" fmla="*/ 1312313 w 4934054"/>
              <a:gd name="connsiteY48" fmla="*/ 134470 h 2366682"/>
              <a:gd name="connsiteX49" fmla="*/ 1240595 w 4934054"/>
              <a:gd name="connsiteY49" fmla="*/ 152400 h 2366682"/>
              <a:gd name="connsiteX50" fmla="*/ 1195772 w 4934054"/>
              <a:gd name="connsiteY50" fmla="*/ 161364 h 2366682"/>
              <a:gd name="connsiteX51" fmla="*/ 1141983 w 4934054"/>
              <a:gd name="connsiteY51" fmla="*/ 179294 h 2366682"/>
              <a:gd name="connsiteX52" fmla="*/ 1043372 w 4934054"/>
              <a:gd name="connsiteY52" fmla="*/ 206188 h 2366682"/>
              <a:gd name="connsiteX53" fmla="*/ 1016478 w 4934054"/>
              <a:gd name="connsiteY53" fmla="*/ 215153 h 2366682"/>
              <a:gd name="connsiteX54" fmla="*/ 935795 w 4934054"/>
              <a:gd name="connsiteY54" fmla="*/ 233082 h 2366682"/>
              <a:gd name="connsiteX55" fmla="*/ 882007 w 4934054"/>
              <a:gd name="connsiteY55" fmla="*/ 251011 h 2366682"/>
              <a:gd name="connsiteX56" fmla="*/ 855113 w 4934054"/>
              <a:gd name="connsiteY56" fmla="*/ 259976 h 2366682"/>
              <a:gd name="connsiteX57" fmla="*/ 828219 w 4934054"/>
              <a:gd name="connsiteY57" fmla="*/ 277905 h 2366682"/>
              <a:gd name="connsiteX58" fmla="*/ 792360 w 4934054"/>
              <a:gd name="connsiteY58" fmla="*/ 286870 h 2366682"/>
              <a:gd name="connsiteX59" fmla="*/ 756501 w 4934054"/>
              <a:gd name="connsiteY59" fmla="*/ 304800 h 2366682"/>
              <a:gd name="connsiteX60" fmla="*/ 729607 w 4934054"/>
              <a:gd name="connsiteY60" fmla="*/ 313764 h 2366682"/>
              <a:gd name="connsiteX61" fmla="*/ 675819 w 4934054"/>
              <a:gd name="connsiteY61" fmla="*/ 349623 h 2366682"/>
              <a:gd name="connsiteX62" fmla="*/ 657889 w 4934054"/>
              <a:gd name="connsiteY62" fmla="*/ 367553 h 2366682"/>
              <a:gd name="connsiteX63" fmla="*/ 595136 w 4934054"/>
              <a:gd name="connsiteY63" fmla="*/ 412376 h 2366682"/>
              <a:gd name="connsiteX64" fmla="*/ 559278 w 4934054"/>
              <a:gd name="connsiteY64" fmla="*/ 448235 h 2366682"/>
              <a:gd name="connsiteX65" fmla="*/ 523419 w 4934054"/>
              <a:gd name="connsiteY65" fmla="*/ 475129 h 2366682"/>
              <a:gd name="connsiteX66" fmla="*/ 478595 w 4934054"/>
              <a:gd name="connsiteY66" fmla="*/ 519953 h 2366682"/>
              <a:gd name="connsiteX67" fmla="*/ 388948 w 4934054"/>
              <a:gd name="connsiteY67" fmla="*/ 600635 h 2366682"/>
              <a:gd name="connsiteX68" fmla="*/ 344125 w 4934054"/>
              <a:gd name="connsiteY68" fmla="*/ 645458 h 2366682"/>
              <a:gd name="connsiteX69" fmla="*/ 281372 w 4934054"/>
              <a:gd name="connsiteY69" fmla="*/ 717176 h 2366682"/>
              <a:gd name="connsiteX70" fmla="*/ 227583 w 4934054"/>
              <a:gd name="connsiteY70" fmla="*/ 753035 h 2366682"/>
              <a:gd name="connsiteX71" fmla="*/ 191725 w 4934054"/>
              <a:gd name="connsiteY71" fmla="*/ 806823 h 2366682"/>
              <a:gd name="connsiteX72" fmla="*/ 155866 w 4934054"/>
              <a:gd name="connsiteY72" fmla="*/ 851647 h 2366682"/>
              <a:gd name="connsiteX73" fmla="*/ 146901 w 4934054"/>
              <a:gd name="connsiteY73" fmla="*/ 878541 h 2366682"/>
              <a:gd name="connsiteX74" fmla="*/ 120007 w 4934054"/>
              <a:gd name="connsiteY74" fmla="*/ 914400 h 2366682"/>
              <a:gd name="connsiteX75" fmla="*/ 66219 w 4934054"/>
              <a:gd name="connsiteY75" fmla="*/ 995082 h 2366682"/>
              <a:gd name="connsiteX76" fmla="*/ 21395 w 4934054"/>
              <a:gd name="connsiteY76" fmla="*/ 1075764 h 2366682"/>
              <a:gd name="connsiteX77" fmla="*/ 434705 w 4934054"/>
              <a:gd name="connsiteY77" fmla="*/ 1109008 h 2366682"/>
              <a:gd name="connsiteX78" fmla="*/ 614186 w 4934054"/>
              <a:gd name="connsiteY78" fmla="*/ 1457511 h 2366682"/>
              <a:gd name="connsiteX79" fmla="*/ 39325 w 4934054"/>
              <a:gd name="connsiteY79" fmla="*/ 1882588 h 2366682"/>
              <a:gd name="connsiteX80" fmla="*/ 93113 w 4934054"/>
              <a:gd name="connsiteY80" fmla="*/ 1972235 h 2366682"/>
              <a:gd name="connsiteX81" fmla="*/ 128972 w 4934054"/>
              <a:gd name="connsiteY81" fmla="*/ 1999129 h 2366682"/>
              <a:gd name="connsiteX82" fmla="*/ 155866 w 4934054"/>
              <a:gd name="connsiteY82" fmla="*/ 2026023 h 2366682"/>
              <a:gd name="connsiteX83" fmla="*/ 200689 w 4934054"/>
              <a:gd name="connsiteY83" fmla="*/ 2043953 h 2366682"/>
              <a:gd name="connsiteX84" fmla="*/ 254478 w 4934054"/>
              <a:gd name="connsiteY84" fmla="*/ 2070847 h 2366682"/>
              <a:gd name="connsiteX85" fmla="*/ 290336 w 4934054"/>
              <a:gd name="connsiteY85" fmla="*/ 2097741 h 2366682"/>
              <a:gd name="connsiteX86" fmla="*/ 379983 w 4934054"/>
              <a:gd name="connsiteY86" fmla="*/ 2133600 h 2366682"/>
              <a:gd name="connsiteX87" fmla="*/ 415842 w 4934054"/>
              <a:gd name="connsiteY87" fmla="*/ 2151529 h 2366682"/>
              <a:gd name="connsiteX88" fmla="*/ 478595 w 4934054"/>
              <a:gd name="connsiteY88" fmla="*/ 2169458 h 2366682"/>
              <a:gd name="connsiteX89" fmla="*/ 586172 w 4934054"/>
              <a:gd name="connsiteY89" fmla="*/ 2205317 h 2366682"/>
              <a:gd name="connsiteX90" fmla="*/ 630995 w 4934054"/>
              <a:gd name="connsiteY90" fmla="*/ 2223247 h 2366682"/>
              <a:gd name="connsiteX91" fmla="*/ 729607 w 4934054"/>
              <a:gd name="connsiteY91" fmla="*/ 2250141 h 2366682"/>
              <a:gd name="connsiteX92" fmla="*/ 765466 w 4934054"/>
              <a:gd name="connsiteY92" fmla="*/ 2268070 h 2366682"/>
              <a:gd name="connsiteX93" fmla="*/ 801325 w 4934054"/>
              <a:gd name="connsiteY93" fmla="*/ 2277035 h 2366682"/>
              <a:gd name="connsiteX94" fmla="*/ 837183 w 4934054"/>
              <a:gd name="connsiteY94" fmla="*/ 2294964 h 2366682"/>
              <a:gd name="connsiteX95" fmla="*/ 917866 w 4934054"/>
              <a:gd name="connsiteY95" fmla="*/ 2312894 h 2366682"/>
              <a:gd name="connsiteX96" fmla="*/ 1043372 w 4934054"/>
              <a:gd name="connsiteY96" fmla="*/ 2348753 h 2366682"/>
              <a:gd name="connsiteX97" fmla="*/ 1088195 w 4934054"/>
              <a:gd name="connsiteY97" fmla="*/ 2357717 h 2366682"/>
              <a:gd name="connsiteX98" fmla="*/ 1133019 w 4934054"/>
              <a:gd name="connsiteY98" fmla="*/ 2366682 h 2366682"/>
              <a:gd name="connsiteX99" fmla="*/ 1384030 w 4934054"/>
              <a:gd name="connsiteY99" fmla="*/ 2357717 h 2366682"/>
              <a:gd name="connsiteX100" fmla="*/ 1428854 w 4934054"/>
              <a:gd name="connsiteY100" fmla="*/ 2339788 h 2366682"/>
              <a:gd name="connsiteX101" fmla="*/ 1473678 w 4934054"/>
              <a:gd name="connsiteY101" fmla="*/ 2330823 h 2366682"/>
              <a:gd name="connsiteX102" fmla="*/ 1509536 w 4934054"/>
              <a:gd name="connsiteY102" fmla="*/ 2321858 h 2366682"/>
              <a:gd name="connsiteX103" fmla="*/ 1617113 w 4934054"/>
              <a:gd name="connsiteY103" fmla="*/ 2277035 h 2366682"/>
              <a:gd name="connsiteX104" fmla="*/ 1706760 w 4934054"/>
              <a:gd name="connsiteY104" fmla="*/ 2241176 h 2366682"/>
              <a:gd name="connsiteX105" fmla="*/ 1769513 w 4934054"/>
              <a:gd name="connsiteY105" fmla="*/ 2214282 h 2366682"/>
              <a:gd name="connsiteX106" fmla="*/ 1841230 w 4934054"/>
              <a:gd name="connsiteY106" fmla="*/ 2169458 h 2366682"/>
              <a:gd name="connsiteX107" fmla="*/ 1921913 w 4934054"/>
              <a:gd name="connsiteY107" fmla="*/ 2115670 h 2366682"/>
              <a:gd name="connsiteX108" fmla="*/ 1939842 w 4934054"/>
              <a:gd name="connsiteY108" fmla="*/ 2088776 h 2366682"/>
              <a:gd name="connsiteX109" fmla="*/ 2011560 w 4934054"/>
              <a:gd name="connsiteY109" fmla="*/ 2034988 h 2366682"/>
              <a:gd name="connsiteX110" fmla="*/ 2047419 w 4934054"/>
              <a:gd name="connsiteY110" fmla="*/ 1999129 h 2366682"/>
              <a:gd name="connsiteX111" fmla="*/ 2074313 w 4934054"/>
              <a:gd name="connsiteY111" fmla="*/ 1981200 h 2366682"/>
              <a:gd name="connsiteX112" fmla="*/ 2092242 w 4934054"/>
              <a:gd name="connsiteY112" fmla="*/ 1963270 h 2366682"/>
              <a:gd name="connsiteX113" fmla="*/ 2163960 w 4934054"/>
              <a:gd name="connsiteY113" fmla="*/ 1918447 h 2366682"/>
              <a:gd name="connsiteX114" fmla="*/ 2199819 w 4934054"/>
              <a:gd name="connsiteY114" fmla="*/ 1882588 h 2366682"/>
              <a:gd name="connsiteX115" fmla="*/ 2217748 w 4934054"/>
              <a:gd name="connsiteY115" fmla="*/ 1846729 h 2366682"/>
              <a:gd name="connsiteX116" fmla="*/ 2298430 w 4934054"/>
              <a:gd name="connsiteY116" fmla="*/ 1810870 h 2366682"/>
              <a:gd name="connsiteX117" fmla="*/ 2325325 w 4934054"/>
              <a:gd name="connsiteY117" fmla="*/ 1801905 h 2366682"/>
              <a:gd name="connsiteX118" fmla="*/ 2361183 w 4934054"/>
              <a:gd name="connsiteY118"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621404 w 4941272"/>
              <a:gd name="connsiteY78" fmla="*/ 1457511 h 2366682"/>
              <a:gd name="connsiteX79" fmla="*/ 46543 w 4941272"/>
              <a:gd name="connsiteY79" fmla="*/ 1882588 h 2366682"/>
              <a:gd name="connsiteX80" fmla="*/ 100331 w 4941272"/>
              <a:gd name="connsiteY80" fmla="*/ 1972235 h 2366682"/>
              <a:gd name="connsiteX81" fmla="*/ 136190 w 4941272"/>
              <a:gd name="connsiteY81" fmla="*/ 1999129 h 2366682"/>
              <a:gd name="connsiteX82" fmla="*/ 163084 w 4941272"/>
              <a:gd name="connsiteY82" fmla="*/ 2026023 h 2366682"/>
              <a:gd name="connsiteX83" fmla="*/ 207907 w 4941272"/>
              <a:gd name="connsiteY83" fmla="*/ 2043953 h 2366682"/>
              <a:gd name="connsiteX84" fmla="*/ 261696 w 4941272"/>
              <a:gd name="connsiteY84" fmla="*/ 2070847 h 2366682"/>
              <a:gd name="connsiteX85" fmla="*/ 297554 w 4941272"/>
              <a:gd name="connsiteY85" fmla="*/ 2097741 h 2366682"/>
              <a:gd name="connsiteX86" fmla="*/ 387201 w 4941272"/>
              <a:gd name="connsiteY86" fmla="*/ 2133600 h 2366682"/>
              <a:gd name="connsiteX87" fmla="*/ 423060 w 4941272"/>
              <a:gd name="connsiteY87" fmla="*/ 2151529 h 2366682"/>
              <a:gd name="connsiteX88" fmla="*/ 485813 w 4941272"/>
              <a:gd name="connsiteY88" fmla="*/ 2169458 h 2366682"/>
              <a:gd name="connsiteX89" fmla="*/ 593390 w 4941272"/>
              <a:gd name="connsiteY89" fmla="*/ 2205317 h 2366682"/>
              <a:gd name="connsiteX90" fmla="*/ 638213 w 4941272"/>
              <a:gd name="connsiteY90" fmla="*/ 2223247 h 2366682"/>
              <a:gd name="connsiteX91" fmla="*/ 736825 w 4941272"/>
              <a:gd name="connsiteY91" fmla="*/ 2250141 h 2366682"/>
              <a:gd name="connsiteX92" fmla="*/ 772684 w 4941272"/>
              <a:gd name="connsiteY92" fmla="*/ 2268070 h 2366682"/>
              <a:gd name="connsiteX93" fmla="*/ 808543 w 4941272"/>
              <a:gd name="connsiteY93" fmla="*/ 2277035 h 2366682"/>
              <a:gd name="connsiteX94" fmla="*/ 844401 w 4941272"/>
              <a:gd name="connsiteY94" fmla="*/ 2294964 h 2366682"/>
              <a:gd name="connsiteX95" fmla="*/ 925084 w 4941272"/>
              <a:gd name="connsiteY95" fmla="*/ 2312894 h 2366682"/>
              <a:gd name="connsiteX96" fmla="*/ 1050590 w 4941272"/>
              <a:gd name="connsiteY96" fmla="*/ 2348753 h 2366682"/>
              <a:gd name="connsiteX97" fmla="*/ 1095413 w 4941272"/>
              <a:gd name="connsiteY97" fmla="*/ 2357717 h 2366682"/>
              <a:gd name="connsiteX98" fmla="*/ 1140237 w 4941272"/>
              <a:gd name="connsiteY98" fmla="*/ 2366682 h 2366682"/>
              <a:gd name="connsiteX99" fmla="*/ 1391248 w 4941272"/>
              <a:gd name="connsiteY99" fmla="*/ 2357717 h 2366682"/>
              <a:gd name="connsiteX100" fmla="*/ 1436072 w 4941272"/>
              <a:gd name="connsiteY100" fmla="*/ 2339788 h 2366682"/>
              <a:gd name="connsiteX101" fmla="*/ 1480896 w 4941272"/>
              <a:gd name="connsiteY101" fmla="*/ 2330823 h 2366682"/>
              <a:gd name="connsiteX102" fmla="*/ 1516754 w 4941272"/>
              <a:gd name="connsiteY102" fmla="*/ 2321858 h 2366682"/>
              <a:gd name="connsiteX103" fmla="*/ 1624331 w 4941272"/>
              <a:gd name="connsiteY103" fmla="*/ 2277035 h 2366682"/>
              <a:gd name="connsiteX104" fmla="*/ 1713978 w 4941272"/>
              <a:gd name="connsiteY104" fmla="*/ 2241176 h 2366682"/>
              <a:gd name="connsiteX105" fmla="*/ 1776731 w 4941272"/>
              <a:gd name="connsiteY105" fmla="*/ 2214282 h 2366682"/>
              <a:gd name="connsiteX106" fmla="*/ 1848448 w 4941272"/>
              <a:gd name="connsiteY106" fmla="*/ 2169458 h 2366682"/>
              <a:gd name="connsiteX107" fmla="*/ 1929131 w 4941272"/>
              <a:gd name="connsiteY107" fmla="*/ 2115670 h 2366682"/>
              <a:gd name="connsiteX108" fmla="*/ 1947060 w 4941272"/>
              <a:gd name="connsiteY108" fmla="*/ 2088776 h 2366682"/>
              <a:gd name="connsiteX109" fmla="*/ 2018778 w 4941272"/>
              <a:gd name="connsiteY109" fmla="*/ 2034988 h 2366682"/>
              <a:gd name="connsiteX110" fmla="*/ 2054637 w 4941272"/>
              <a:gd name="connsiteY110" fmla="*/ 1999129 h 2366682"/>
              <a:gd name="connsiteX111" fmla="*/ 2081531 w 4941272"/>
              <a:gd name="connsiteY111" fmla="*/ 1981200 h 2366682"/>
              <a:gd name="connsiteX112" fmla="*/ 2099460 w 4941272"/>
              <a:gd name="connsiteY112" fmla="*/ 1963270 h 2366682"/>
              <a:gd name="connsiteX113" fmla="*/ 2171178 w 4941272"/>
              <a:gd name="connsiteY113" fmla="*/ 1918447 h 2366682"/>
              <a:gd name="connsiteX114" fmla="*/ 2207037 w 4941272"/>
              <a:gd name="connsiteY114" fmla="*/ 1882588 h 2366682"/>
              <a:gd name="connsiteX115" fmla="*/ 2224966 w 4941272"/>
              <a:gd name="connsiteY115" fmla="*/ 1846729 h 2366682"/>
              <a:gd name="connsiteX116" fmla="*/ 2305648 w 4941272"/>
              <a:gd name="connsiteY116" fmla="*/ 1810870 h 2366682"/>
              <a:gd name="connsiteX117" fmla="*/ 2332543 w 4941272"/>
              <a:gd name="connsiteY117" fmla="*/ 1801905 h 2366682"/>
              <a:gd name="connsiteX118" fmla="*/ 2368401 w 4941272"/>
              <a:gd name="connsiteY118"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46543 w 4941272"/>
              <a:gd name="connsiteY79" fmla="*/ 1882588 h 2366682"/>
              <a:gd name="connsiteX80" fmla="*/ 100331 w 4941272"/>
              <a:gd name="connsiteY80" fmla="*/ 1972235 h 2366682"/>
              <a:gd name="connsiteX81" fmla="*/ 136190 w 4941272"/>
              <a:gd name="connsiteY81" fmla="*/ 1999129 h 2366682"/>
              <a:gd name="connsiteX82" fmla="*/ 163084 w 4941272"/>
              <a:gd name="connsiteY82" fmla="*/ 2026023 h 2366682"/>
              <a:gd name="connsiteX83" fmla="*/ 207907 w 4941272"/>
              <a:gd name="connsiteY83" fmla="*/ 2043953 h 2366682"/>
              <a:gd name="connsiteX84" fmla="*/ 261696 w 4941272"/>
              <a:gd name="connsiteY84" fmla="*/ 2070847 h 2366682"/>
              <a:gd name="connsiteX85" fmla="*/ 297554 w 4941272"/>
              <a:gd name="connsiteY85" fmla="*/ 2097741 h 2366682"/>
              <a:gd name="connsiteX86" fmla="*/ 387201 w 4941272"/>
              <a:gd name="connsiteY86" fmla="*/ 2133600 h 2366682"/>
              <a:gd name="connsiteX87" fmla="*/ 423060 w 4941272"/>
              <a:gd name="connsiteY87" fmla="*/ 2151529 h 2366682"/>
              <a:gd name="connsiteX88" fmla="*/ 485813 w 4941272"/>
              <a:gd name="connsiteY88" fmla="*/ 2169458 h 2366682"/>
              <a:gd name="connsiteX89" fmla="*/ 593390 w 4941272"/>
              <a:gd name="connsiteY89" fmla="*/ 2205317 h 2366682"/>
              <a:gd name="connsiteX90" fmla="*/ 638213 w 4941272"/>
              <a:gd name="connsiteY90" fmla="*/ 2223247 h 2366682"/>
              <a:gd name="connsiteX91" fmla="*/ 736825 w 4941272"/>
              <a:gd name="connsiteY91" fmla="*/ 2250141 h 2366682"/>
              <a:gd name="connsiteX92" fmla="*/ 772684 w 4941272"/>
              <a:gd name="connsiteY92" fmla="*/ 2268070 h 2366682"/>
              <a:gd name="connsiteX93" fmla="*/ 808543 w 4941272"/>
              <a:gd name="connsiteY93" fmla="*/ 2277035 h 2366682"/>
              <a:gd name="connsiteX94" fmla="*/ 844401 w 4941272"/>
              <a:gd name="connsiteY94" fmla="*/ 2294964 h 2366682"/>
              <a:gd name="connsiteX95" fmla="*/ 925084 w 4941272"/>
              <a:gd name="connsiteY95" fmla="*/ 2312894 h 2366682"/>
              <a:gd name="connsiteX96" fmla="*/ 1050590 w 4941272"/>
              <a:gd name="connsiteY96" fmla="*/ 2348753 h 2366682"/>
              <a:gd name="connsiteX97" fmla="*/ 1095413 w 4941272"/>
              <a:gd name="connsiteY97" fmla="*/ 2357717 h 2366682"/>
              <a:gd name="connsiteX98" fmla="*/ 1140237 w 4941272"/>
              <a:gd name="connsiteY98" fmla="*/ 2366682 h 2366682"/>
              <a:gd name="connsiteX99" fmla="*/ 1391248 w 4941272"/>
              <a:gd name="connsiteY99" fmla="*/ 2357717 h 2366682"/>
              <a:gd name="connsiteX100" fmla="*/ 1436072 w 4941272"/>
              <a:gd name="connsiteY100" fmla="*/ 2339788 h 2366682"/>
              <a:gd name="connsiteX101" fmla="*/ 1480896 w 4941272"/>
              <a:gd name="connsiteY101" fmla="*/ 2330823 h 2366682"/>
              <a:gd name="connsiteX102" fmla="*/ 1516754 w 4941272"/>
              <a:gd name="connsiteY102" fmla="*/ 2321858 h 2366682"/>
              <a:gd name="connsiteX103" fmla="*/ 1624331 w 4941272"/>
              <a:gd name="connsiteY103" fmla="*/ 2277035 h 2366682"/>
              <a:gd name="connsiteX104" fmla="*/ 1713978 w 4941272"/>
              <a:gd name="connsiteY104" fmla="*/ 2241176 h 2366682"/>
              <a:gd name="connsiteX105" fmla="*/ 1776731 w 4941272"/>
              <a:gd name="connsiteY105" fmla="*/ 2214282 h 2366682"/>
              <a:gd name="connsiteX106" fmla="*/ 1848448 w 4941272"/>
              <a:gd name="connsiteY106" fmla="*/ 2169458 h 2366682"/>
              <a:gd name="connsiteX107" fmla="*/ 1929131 w 4941272"/>
              <a:gd name="connsiteY107" fmla="*/ 2115670 h 2366682"/>
              <a:gd name="connsiteX108" fmla="*/ 1947060 w 4941272"/>
              <a:gd name="connsiteY108" fmla="*/ 2088776 h 2366682"/>
              <a:gd name="connsiteX109" fmla="*/ 2018778 w 4941272"/>
              <a:gd name="connsiteY109" fmla="*/ 2034988 h 2366682"/>
              <a:gd name="connsiteX110" fmla="*/ 2054637 w 4941272"/>
              <a:gd name="connsiteY110" fmla="*/ 1999129 h 2366682"/>
              <a:gd name="connsiteX111" fmla="*/ 2081531 w 4941272"/>
              <a:gd name="connsiteY111" fmla="*/ 1981200 h 2366682"/>
              <a:gd name="connsiteX112" fmla="*/ 2099460 w 4941272"/>
              <a:gd name="connsiteY112" fmla="*/ 1963270 h 2366682"/>
              <a:gd name="connsiteX113" fmla="*/ 2171178 w 4941272"/>
              <a:gd name="connsiteY113" fmla="*/ 1918447 h 2366682"/>
              <a:gd name="connsiteX114" fmla="*/ 2207037 w 4941272"/>
              <a:gd name="connsiteY114" fmla="*/ 1882588 h 2366682"/>
              <a:gd name="connsiteX115" fmla="*/ 2224966 w 4941272"/>
              <a:gd name="connsiteY115" fmla="*/ 1846729 h 2366682"/>
              <a:gd name="connsiteX116" fmla="*/ 2305648 w 4941272"/>
              <a:gd name="connsiteY116" fmla="*/ 1810870 h 2366682"/>
              <a:gd name="connsiteX117" fmla="*/ 2332543 w 4941272"/>
              <a:gd name="connsiteY117" fmla="*/ 1801905 h 2366682"/>
              <a:gd name="connsiteX118" fmla="*/ 2368401 w 4941272"/>
              <a:gd name="connsiteY118"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100331 w 4941272"/>
              <a:gd name="connsiteY79" fmla="*/ 1972235 h 2366682"/>
              <a:gd name="connsiteX80" fmla="*/ 136190 w 4941272"/>
              <a:gd name="connsiteY80" fmla="*/ 1999129 h 2366682"/>
              <a:gd name="connsiteX81" fmla="*/ 163084 w 4941272"/>
              <a:gd name="connsiteY81" fmla="*/ 2026023 h 2366682"/>
              <a:gd name="connsiteX82" fmla="*/ 207907 w 4941272"/>
              <a:gd name="connsiteY82" fmla="*/ 2043953 h 2366682"/>
              <a:gd name="connsiteX83" fmla="*/ 261696 w 4941272"/>
              <a:gd name="connsiteY83" fmla="*/ 2070847 h 2366682"/>
              <a:gd name="connsiteX84" fmla="*/ 297554 w 4941272"/>
              <a:gd name="connsiteY84" fmla="*/ 2097741 h 2366682"/>
              <a:gd name="connsiteX85" fmla="*/ 387201 w 4941272"/>
              <a:gd name="connsiteY85" fmla="*/ 2133600 h 2366682"/>
              <a:gd name="connsiteX86" fmla="*/ 423060 w 4941272"/>
              <a:gd name="connsiteY86" fmla="*/ 2151529 h 2366682"/>
              <a:gd name="connsiteX87" fmla="*/ 485813 w 4941272"/>
              <a:gd name="connsiteY87" fmla="*/ 2169458 h 2366682"/>
              <a:gd name="connsiteX88" fmla="*/ 593390 w 4941272"/>
              <a:gd name="connsiteY88" fmla="*/ 2205317 h 2366682"/>
              <a:gd name="connsiteX89" fmla="*/ 638213 w 4941272"/>
              <a:gd name="connsiteY89" fmla="*/ 2223247 h 2366682"/>
              <a:gd name="connsiteX90" fmla="*/ 736825 w 4941272"/>
              <a:gd name="connsiteY90" fmla="*/ 2250141 h 2366682"/>
              <a:gd name="connsiteX91" fmla="*/ 772684 w 4941272"/>
              <a:gd name="connsiteY91" fmla="*/ 2268070 h 2366682"/>
              <a:gd name="connsiteX92" fmla="*/ 808543 w 4941272"/>
              <a:gd name="connsiteY92" fmla="*/ 2277035 h 2366682"/>
              <a:gd name="connsiteX93" fmla="*/ 844401 w 4941272"/>
              <a:gd name="connsiteY93" fmla="*/ 2294964 h 2366682"/>
              <a:gd name="connsiteX94" fmla="*/ 925084 w 4941272"/>
              <a:gd name="connsiteY94" fmla="*/ 2312894 h 2366682"/>
              <a:gd name="connsiteX95" fmla="*/ 1050590 w 4941272"/>
              <a:gd name="connsiteY95" fmla="*/ 2348753 h 2366682"/>
              <a:gd name="connsiteX96" fmla="*/ 1095413 w 4941272"/>
              <a:gd name="connsiteY96" fmla="*/ 2357717 h 2366682"/>
              <a:gd name="connsiteX97" fmla="*/ 1140237 w 4941272"/>
              <a:gd name="connsiteY97" fmla="*/ 2366682 h 2366682"/>
              <a:gd name="connsiteX98" fmla="*/ 1391248 w 4941272"/>
              <a:gd name="connsiteY98" fmla="*/ 2357717 h 2366682"/>
              <a:gd name="connsiteX99" fmla="*/ 1436072 w 4941272"/>
              <a:gd name="connsiteY99" fmla="*/ 2339788 h 2366682"/>
              <a:gd name="connsiteX100" fmla="*/ 1480896 w 4941272"/>
              <a:gd name="connsiteY100" fmla="*/ 2330823 h 2366682"/>
              <a:gd name="connsiteX101" fmla="*/ 1516754 w 4941272"/>
              <a:gd name="connsiteY101" fmla="*/ 2321858 h 2366682"/>
              <a:gd name="connsiteX102" fmla="*/ 1624331 w 4941272"/>
              <a:gd name="connsiteY102" fmla="*/ 2277035 h 2366682"/>
              <a:gd name="connsiteX103" fmla="*/ 1713978 w 4941272"/>
              <a:gd name="connsiteY103" fmla="*/ 2241176 h 2366682"/>
              <a:gd name="connsiteX104" fmla="*/ 1776731 w 4941272"/>
              <a:gd name="connsiteY104" fmla="*/ 2214282 h 2366682"/>
              <a:gd name="connsiteX105" fmla="*/ 1848448 w 4941272"/>
              <a:gd name="connsiteY105" fmla="*/ 2169458 h 2366682"/>
              <a:gd name="connsiteX106" fmla="*/ 1929131 w 4941272"/>
              <a:gd name="connsiteY106" fmla="*/ 2115670 h 2366682"/>
              <a:gd name="connsiteX107" fmla="*/ 1947060 w 4941272"/>
              <a:gd name="connsiteY107" fmla="*/ 2088776 h 2366682"/>
              <a:gd name="connsiteX108" fmla="*/ 2018778 w 4941272"/>
              <a:gd name="connsiteY108" fmla="*/ 2034988 h 2366682"/>
              <a:gd name="connsiteX109" fmla="*/ 2054637 w 4941272"/>
              <a:gd name="connsiteY109" fmla="*/ 1999129 h 2366682"/>
              <a:gd name="connsiteX110" fmla="*/ 2081531 w 4941272"/>
              <a:gd name="connsiteY110" fmla="*/ 1981200 h 2366682"/>
              <a:gd name="connsiteX111" fmla="*/ 2099460 w 4941272"/>
              <a:gd name="connsiteY111" fmla="*/ 1963270 h 2366682"/>
              <a:gd name="connsiteX112" fmla="*/ 2171178 w 4941272"/>
              <a:gd name="connsiteY112" fmla="*/ 1918447 h 2366682"/>
              <a:gd name="connsiteX113" fmla="*/ 2207037 w 4941272"/>
              <a:gd name="connsiteY113" fmla="*/ 1882588 h 2366682"/>
              <a:gd name="connsiteX114" fmla="*/ 2224966 w 4941272"/>
              <a:gd name="connsiteY114" fmla="*/ 1846729 h 2366682"/>
              <a:gd name="connsiteX115" fmla="*/ 2305648 w 4941272"/>
              <a:gd name="connsiteY115" fmla="*/ 1810870 h 2366682"/>
              <a:gd name="connsiteX116" fmla="*/ 2332543 w 4941272"/>
              <a:gd name="connsiteY116" fmla="*/ 1801905 h 2366682"/>
              <a:gd name="connsiteX117" fmla="*/ 2368401 w 4941272"/>
              <a:gd name="connsiteY117"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136190 w 4941272"/>
              <a:gd name="connsiteY79" fmla="*/ 1999129 h 2366682"/>
              <a:gd name="connsiteX80" fmla="*/ 163084 w 4941272"/>
              <a:gd name="connsiteY80" fmla="*/ 2026023 h 2366682"/>
              <a:gd name="connsiteX81" fmla="*/ 207907 w 4941272"/>
              <a:gd name="connsiteY81" fmla="*/ 2043953 h 2366682"/>
              <a:gd name="connsiteX82" fmla="*/ 261696 w 4941272"/>
              <a:gd name="connsiteY82" fmla="*/ 2070847 h 2366682"/>
              <a:gd name="connsiteX83" fmla="*/ 297554 w 4941272"/>
              <a:gd name="connsiteY83" fmla="*/ 2097741 h 2366682"/>
              <a:gd name="connsiteX84" fmla="*/ 387201 w 4941272"/>
              <a:gd name="connsiteY84" fmla="*/ 2133600 h 2366682"/>
              <a:gd name="connsiteX85" fmla="*/ 423060 w 4941272"/>
              <a:gd name="connsiteY85" fmla="*/ 2151529 h 2366682"/>
              <a:gd name="connsiteX86" fmla="*/ 485813 w 4941272"/>
              <a:gd name="connsiteY86" fmla="*/ 2169458 h 2366682"/>
              <a:gd name="connsiteX87" fmla="*/ 593390 w 4941272"/>
              <a:gd name="connsiteY87" fmla="*/ 2205317 h 2366682"/>
              <a:gd name="connsiteX88" fmla="*/ 638213 w 4941272"/>
              <a:gd name="connsiteY88" fmla="*/ 2223247 h 2366682"/>
              <a:gd name="connsiteX89" fmla="*/ 736825 w 4941272"/>
              <a:gd name="connsiteY89" fmla="*/ 2250141 h 2366682"/>
              <a:gd name="connsiteX90" fmla="*/ 772684 w 4941272"/>
              <a:gd name="connsiteY90" fmla="*/ 2268070 h 2366682"/>
              <a:gd name="connsiteX91" fmla="*/ 808543 w 4941272"/>
              <a:gd name="connsiteY91" fmla="*/ 2277035 h 2366682"/>
              <a:gd name="connsiteX92" fmla="*/ 844401 w 4941272"/>
              <a:gd name="connsiteY92" fmla="*/ 2294964 h 2366682"/>
              <a:gd name="connsiteX93" fmla="*/ 925084 w 4941272"/>
              <a:gd name="connsiteY93" fmla="*/ 2312894 h 2366682"/>
              <a:gd name="connsiteX94" fmla="*/ 1050590 w 4941272"/>
              <a:gd name="connsiteY94" fmla="*/ 2348753 h 2366682"/>
              <a:gd name="connsiteX95" fmla="*/ 1095413 w 4941272"/>
              <a:gd name="connsiteY95" fmla="*/ 2357717 h 2366682"/>
              <a:gd name="connsiteX96" fmla="*/ 1140237 w 4941272"/>
              <a:gd name="connsiteY96" fmla="*/ 2366682 h 2366682"/>
              <a:gd name="connsiteX97" fmla="*/ 1391248 w 4941272"/>
              <a:gd name="connsiteY97" fmla="*/ 2357717 h 2366682"/>
              <a:gd name="connsiteX98" fmla="*/ 1436072 w 4941272"/>
              <a:gd name="connsiteY98" fmla="*/ 2339788 h 2366682"/>
              <a:gd name="connsiteX99" fmla="*/ 1480896 w 4941272"/>
              <a:gd name="connsiteY99" fmla="*/ 2330823 h 2366682"/>
              <a:gd name="connsiteX100" fmla="*/ 1516754 w 4941272"/>
              <a:gd name="connsiteY100" fmla="*/ 2321858 h 2366682"/>
              <a:gd name="connsiteX101" fmla="*/ 1624331 w 4941272"/>
              <a:gd name="connsiteY101" fmla="*/ 2277035 h 2366682"/>
              <a:gd name="connsiteX102" fmla="*/ 1713978 w 4941272"/>
              <a:gd name="connsiteY102" fmla="*/ 2241176 h 2366682"/>
              <a:gd name="connsiteX103" fmla="*/ 1776731 w 4941272"/>
              <a:gd name="connsiteY103" fmla="*/ 2214282 h 2366682"/>
              <a:gd name="connsiteX104" fmla="*/ 1848448 w 4941272"/>
              <a:gd name="connsiteY104" fmla="*/ 2169458 h 2366682"/>
              <a:gd name="connsiteX105" fmla="*/ 1929131 w 4941272"/>
              <a:gd name="connsiteY105" fmla="*/ 2115670 h 2366682"/>
              <a:gd name="connsiteX106" fmla="*/ 1947060 w 4941272"/>
              <a:gd name="connsiteY106" fmla="*/ 2088776 h 2366682"/>
              <a:gd name="connsiteX107" fmla="*/ 2018778 w 4941272"/>
              <a:gd name="connsiteY107" fmla="*/ 2034988 h 2366682"/>
              <a:gd name="connsiteX108" fmla="*/ 2054637 w 4941272"/>
              <a:gd name="connsiteY108" fmla="*/ 1999129 h 2366682"/>
              <a:gd name="connsiteX109" fmla="*/ 2081531 w 4941272"/>
              <a:gd name="connsiteY109" fmla="*/ 1981200 h 2366682"/>
              <a:gd name="connsiteX110" fmla="*/ 2099460 w 4941272"/>
              <a:gd name="connsiteY110" fmla="*/ 1963270 h 2366682"/>
              <a:gd name="connsiteX111" fmla="*/ 2171178 w 4941272"/>
              <a:gd name="connsiteY111" fmla="*/ 1918447 h 2366682"/>
              <a:gd name="connsiteX112" fmla="*/ 2207037 w 4941272"/>
              <a:gd name="connsiteY112" fmla="*/ 1882588 h 2366682"/>
              <a:gd name="connsiteX113" fmla="*/ 2224966 w 4941272"/>
              <a:gd name="connsiteY113" fmla="*/ 1846729 h 2366682"/>
              <a:gd name="connsiteX114" fmla="*/ 2305648 w 4941272"/>
              <a:gd name="connsiteY114" fmla="*/ 1810870 h 2366682"/>
              <a:gd name="connsiteX115" fmla="*/ 2332543 w 4941272"/>
              <a:gd name="connsiteY115" fmla="*/ 1801905 h 2366682"/>
              <a:gd name="connsiteX116" fmla="*/ 2368401 w 4941272"/>
              <a:gd name="connsiteY116"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163084 w 4941272"/>
              <a:gd name="connsiteY79" fmla="*/ 2026023 h 2366682"/>
              <a:gd name="connsiteX80" fmla="*/ 207907 w 4941272"/>
              <a:gd name="connsiteY80" fmla="*/ 2043953 h 2366682"/>
              <a:gd name="connsiteX81" fmla="*/ 261696 w 4941272"/>
              <a:gd name="connsiteY81" fmla="*/ 2070847 h 2366682"/>
              <a:gd name="connsiteX82" fmla="*/ 297554 w 4941272"/>
              <a:gd name="connsiteY82" fmla="*/ 2097741 h 2366682"/>
              <a:gd name="connsiteX83" fmla="*/ 387201 w 4941272"/>
              <a:gd name="connsiteY83" fmla="*/ 2133600 h 2366682"/>
              <a:gd name="connsiteX84" fmla="*/ 423060 w 4941272"/>
              <a:gd name="connsiteY84" fmla="*/ 2151529 h 2366682"/>
              <a:gd name="connsiteX85" fmla="*/ 485813 w 4941272"/>
              <a:gd name="connsiteY85" fmla="*/ 2169458 h 2366682"/>
              <a:gd name="connsiteX86" fmla="*/ 593390 w 4941272"/>
              <a:gd name="connsiteY86" fmla="*/ 2205317 h 2366682"/>
              <a:gd name="connsiteX87" fmla="*/ 638213 w 4941272"/>
              <a:gd name="connsiteY87" fmla="*/ 2223247 h 2366682"/>
              <a:gd name="connsiteX88" fmla="*/ 736825 w 4941272"/>
              <a:gd name="connsiteY88" fmla="*/ 2250141 h 2366682"/>
              <a:gd name="connsiteX89" fmla="*/ 772684 w 4941272"/>
              <a:gd name="connsiteY89" fmla="*/ 2268070 h 2366682"/>
              <a:gd name="connsiteX90" fmla="*/ 808543 w 4941272"/>
              <a:gd name="connsiteY90" fmla="*/ 2277035 h 2366682"/>
              <a:gd name="connsiteX91" fmla="*/ 844401 w 4941272"/>
              <a:gd name="connsiteY91" fmla="*/ 2294964 h 2366682"/>
              <a:gd name="connsiteX92" fmla="*/ 925084 w 4941272"/>
              <a:gd name="connsiteY92" fmla="*/ 2312894 h 2366682"/>
              <a:gd name="connsiteX93" fmla="*/ 1050590 w 4941272"/>
              <a:gd name="connsiteY93" fmla="*/ 2348753 h 2366682"/>
              <a:gd name="connsiteX94" fmla="*/ 1095413 w 4941272"/>
              <a:gd name="connsiteY94" fmla="*/ 2357717 h 2366682"/>
              <a:gd name="connsiteX95" fmla="*/ 1140237 w 4941272"/>
              <a:gd name="connsiteY95" fmla="*/ 2366682 h 2366682"/>
              <a:gd name="connsiteX96" fmla="*/ 1391248 w 4941272"/>
              <a:gd name="connsiteY96" fmla="*/ 2357717 h 2366682"/>
              <a:gd name="connsiteX97" fmla="*/ 1436072 w 4941272"/>
              <a:gd name="connsiteY97" fmla="*/ 2339788 h 2366682"/>
              <a:gd name="connsiteX98" fmla="*/ 1480896 w 4941272"/>
              <a:gd name="connsiteY98" fmla="*/ 2330823 h 2366682"/>
              <a:gd name="connsiteX99" fmla="*/ 1516754 w 4941272"/>
              <a:gd name="connsiteY99" fmla="*/ 2321858 h 2366682"/>
              <a:gd name="connsiteX100" fmla="*/ 1624331 w 4941272"/>
              <a:gd name="connsiteY100" fmla="*/ 2277035 h 2366682"/>
              <a:gd name="connsiteX101" fmla="*/ 1713978 w 4941272"/>
              <a:gd name="connsiteY101" fmla="*/ 2241176 h 2366682"/>
              <a:gd name="connsiteX102" fmla="*/ 1776731 w 4941272"/>
              <a:gd name="connsiteY102" fmla="*/ 2214282 h 2366682"/>
              <a:gd name="connsiteX103" fmla="*/ 1848448 w 4941272"/>
              <a:gd name="connsiteY103" fmla="*/ 2169458 h 2366682"/>
              <a:gd name="connsiteX104" fmla="*/ 1929131 w 4941272"/>
              <a:gd name="connsiteY104" fmla="*/ 2115670 h 2366682"/>
              <a:gd name="connsiteX105" fmla="*/ 1947060 w 4941272"/>
              <a:gd name="connsiteY105" fmla="*/ 2088776 h 2366682"/>
              <a:gd name="connsiteX106" fmla="*/ 2018778 w 4941272"/>
              <a:gd name="connsiteY106" fmla="*/ 2034988 h 2366682"/>
              <a:gd name="connsiteX107" fmla="*/ 2054637 w 4941272"/>
              <a:gd name="connsiteY107" fmla="*/ 1999129 h 2366682"/>
              <a:gd name="connsiteX108" fmla="*/ 2081531 w 4941272"/>
              <a:gd name="connsiteY108" fmla="*/ 1981200 h 2366682"/>
              <a:gd name="connsiteX109" fmla="*/ 2099460 w 4941272"/>
              <a:gd name="connsiteY109" fmla="*/ 1963270 h 2366682"/>
              <a:gd name="connsiteX110" fmla="*/ 2171178 w 4941272"/>
              <a:gd name="connsiteY110" fmla="*/ 1918447 h 2366682"/>
              <a:gd name="connsiteX111" fmla="*/ 2207037 w 4941272"/>
              <a:gd name="connsiteY111" fmla="*/ 1882588 h 2366682"/>
              <a:gd name="connsiteX112" fmla="*/ 2224966 w 4941272"/>
              <a:gd name="connsiteY112" fmla="*/ 1846729 h 2366682"/>
              <a:gd name="connsiteX113" fmla="*/ 2305648 w 4941272"/>
              <a:gd name="connsiteY113" fmla="*/ 1810870 h 2366682"/>
              <a:gd name="connsiteX114" fmla="*/ 2332543 w 4941272"/>
              <a:gd name="connsiteY114" fmla="*/ 1801905 h 2366682"/>
              <a:gd name="connsiteX115" fmla="*/ 2368401 w 4941272"/>
              <a:gd name="connsiteY115"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207907 w 4941272"/>
              <a:gd name="connsiteY79" fmla="*/ 2043953 h 2366682"/>
              <a:gd name="connsiteX80" fmla="*/ 261696 w 4941272"/>
              <a:gd name="connsiteY80" fmla="*/ 2070847 h 2366682"/>
              <a:gd name="connsiteX81" fmla="*/ 297554 w 4941272"/>
              <a:gd name="connsiteY81" fmla="*/ 2097741 h 2366682"/>
              <a:gd name="connsiteX82" fmla="*/ 387201 w 4941272"/>
              <a:gd name="connsiteY82" fmla="*/ 2133600 h 2366682"/>
              <a:gd name="connsiteX83" fmla="*/ 423060 w 4941272"/>
              <a:gd name="connsiteY83" fmla="*/ 2151529 h 2366682"/>
              <a:gd name="connsiteX84" fmla="*/ 485813 w 4941272"/>
              <a:gd name="connsiteY84" fmla="*/ 2169458 h 2366682"/>
              <a:gd name="connsiteX85" fmla="*/ 593390 w 4941272"/>
              <a:gd name="connsiteY85" fmla="*/ 2205317 h 2366682"/>
              <a:gd name="connsiteX86" fmla="*/ 638213 w 4941272"/>
              <a:gd name="connsiteY86" fmla="*/ 2223247 h 2366682"/>
              <a:gd name="connsiteX87" fmla="*/ 736825 w 4941272"/>
              <a:gd name="connsiteY87" fmla="*/ 2250141 h 2366682"/>
              <a:gd name="connsiteX88" fmla="*/ 772684 w 4941272"/>
              <a:gd name="connsiteY88" fmla="*/ 2268070 h 2366682"/>
              <a:gd name="connsiteX89" fmla="*/ 808543 w 4941272"/>
              <a:gd name="connsiteY89" fmla="*/ 2277035 h 2366682"/>
              <a:gd name="connsiteX90" fmla="*/ 844401 w 4941272"/>
              <a:gd name="connsiteY90" fmla="*/ 2294964 h 2366682"/>
              <a:gd name="connsiteX91" fmla="*/ 925084 w 4941272"/>
              <a:gd name="connsiteY91" fmla="*/ 2312894 h 2366682"/>
              <a:gd name="connsiteX92" fmla="*/ 1050590 w 4941272"/>
              <a:gd name="connsiteY92" fmla="*/ 2348753 h 2366682"/>
              <a:gd name="connsiteX93" fmla="*/ 1095413 w 4941272"/>
              <a:gd name="connsiteY93" fmla="*/ 2357717 h 2366682"/>
              <a:gd name="connsiteX94" fmla="*/ 1140237 w 4941272"/>
              <a:gd name="connsiteY94" fmla="*/ 2366682 h 2366682"/>
              <a:gd name="connsiteX95" fmla="*/ 1391248 w 4941272"/>
              <a:gd name="connsiteY95" fmla="*/ 2357717 h 2366682"/>
              <a:gd name="connsiteX96" fmla="*/ 1436072 w 4941272"/>
              <a:gd name="connsiteY96" fmla="*/ 2339788 h 2366682"/>
              <a:gd name="connsiteX97" fmla="*/ 1480896 w 4941272"/>
              <a:gd name="connsiteY97" fmla="*/ 2330823 h 2366682"/>
              <a:gd name="connsiteX98" fmla="*/ 1516754 w 4941272"/>
              <a:gd name="connsiteY98" fmla="*/ 2321858 h 2366682"/>
              <a:gd name="connsiteX99" fmla="*/ 1624331 w 4941272"/>
              <a:gd name="connsiteY99" fmla="*/ 2277035 h 2366682"/>
              <a:gd name="connsiteX100" fmla="*/ 1713978 w 4941272"/>
              <a:gd name="connsiteY100" fmla="*/ 2241176 h 2366682"/>
              <a:gd name="connsiteX101" fmla="*/ 1776731 w 4941272"/>
              <a:gd name="connsiteY101" fmla="*/ 2214282 h 2366682"/>
              <a:gd name="connsiteX102" fmla="*/ 1848448 w 4941272"/>
              <a:gd name="connsiteY102" fmla="*/ 2169458 h 2366682"/>
              <a:gd name="connsiteX103" fmla="*/ 1929131 w 4941272"/>
              <a:gd name="connsiteY103" fmla="*/ 2115670 h 2366682"/>
              <a:gd name="connsiteX104" fmla="*/ 1947060 w 4941272"/>
              <a:gd name="connsiteY104" fmla="*/ 2088776 h 2366682"/>
              <a:gd name="connsiteX105" fmla="*/ 2018778 w 4941272"/>
              <a:gd name="connsiteY105" fmla="*/ 2034988 h 2366682"/>
              <a:gd name="connsiteX106" fmla="*/ 2054637 w 4941272"/>
              <a:gd name="connsiteY106" fmla="*/ 1999129 h 2366682"/>
              <a:gd name="connsiteX107" fmla="*/ 2081531 w 4941272"/>
              <a:gd name="connsiteY107" fmla="*/ 1981200 h 2366682"/>
              <a:gd name="connsiteX108" fmla="*/ 2099460 w 4941272"/>
              <a:gd name="connsiteY108" fmla="*/ 1963270 h 2366682"/>
              <a:gd name="connsiteX109" fmla="*/ 2171178 w 4941272"/>
              <a:gd name="connsiteY109" fmla="*/ 1918447 h 2366682"/>
              <a:gd name="connsiteX110" fmla="*/ 2207037 w 4941272"/>
              <a:gd name="connsiteY110" fmla="*/ 1882588 h 2366682"/>
              <a:gd name="connsiteX111" fmla="*/ 2224966 w 4941272"/>
              <a:gd name="connsiteY111" fmla="*/ 1846729 h 2366682"/>
              <a:gd name="connsiteX112" fmla="*/ 2305648 w 4941272"/>
              <a:gd name="connsiteY112" fmla="*/ 1810870 h 2366682"/>
              <a:gd name="connsiteX113" fmla="*/ 2332543 w 4941272"/>
              <a:gd name="connsiteY113" fmla="*/ 1801905 h 2366682"/>
              <a:gd name="connsiteX114" fmla="*/ 2368401 w 4941272"/>
              <a:gd name="connsiteY114"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261696 w 4941272"/>
              <a:gd name="connsiteY79" fmla="*/ 2070847 h 2366682"/>
              <a:gd name="connsiteX80" fmla="*/ 297554 w 4941272"/>
              <a:gd name="connsiteY80" fmla="*/ 2097741 h 2366682"/>
              <a:gd name="connsiteX81" fmla="*/ 387201 w 4941272"/>
              <a:gd name="connsiteY81" fmla="*/ 2133600 h 2366682"/>
              <a:gd name="connsiteX82" fmla="*/ 423060 w 4941272"/>
              <a:gd name="connsiteY82" fmla="*/ 2151529 h 2366682"/>
              <a:gd name="connsiteX83" fmla="*/ 485813 w 4941272"/>
              <a:gd name="connsiteY83" fmla="*/ 2169458 h 2366682"/>
              <a:gd name="connsiteX84" fmla="*/ 593390 w 4941272"/>
              <a:gd name="connsiteY84" fmla="*/ 2205317 h 2366682"/>
              <a:gd name="connsiteX85" fmla="*/ 638213 w 4941272"/>
              <a:gd name="connsiteY85" fmla="*/ 2223247 h 2366682"/>
              <a:gd name="connsiteX86" fmla="*/ 736825 w 4941272"/>
              <a:gd name="connsiteY86" fmla="*/ 2250141 h 2366682"/>
              <a:gd name="connsiteX87" fmla="*/ 772684 w 4941272"/>
              <a:gd name="connsiteY87" fmla="*/ 2268070 h 2366682"/>
              <a:gd name="connsiteX88" fmla="*/ 808543 w 4941272"/>
              <a:gd name="connsiteY88" fmla="*/ 2277035 h 2366682"/>
              <a:gd name="connsiteX89" fmla="*/ 844401 w 4941272"/>
              <a:gd name="connsiteY89" fmla="*/ 2294964 h 2366682"/>
              <a:gd name="connsiteX90" fmla="*/ 925084 w 4941272"/>
              <a:gd name="connsiteY90" fmla="*/ 2312894 h 2366682"/>
              <a:gd name="connsiteX91" fmla="*/ 1050590 w 4941272"/>
              <a:gd name="connsiteY91" fmla="*/ 2348753 h 2366682"/>
              <a:gd name="connsiteX92" fmla="*/ 1095413 w 4941272"/>
              <a:gd name="connsiteY92" fmla="*/ 2357717 h 2366682"/>
              <a:gd name="connsiteX93" fmla="*/ 1140237 w 4941272"/>
              <a:gd name="connsiteY93" fmla="*/ 2366682 h 2366682"/>
              <a:gd name="connsiteX94" fmla="*/ 1391248 w 4941272"/>
              <a:gd name="connsiteY94" fmla="*/ 2357717 h 2366682"/>
              <a:gd name="connsiteX95" fmla="*/ 1436072 w 4941272"/>
              <a:gd name="connsiteY95" fmla="*/ 2339788 h 2366682"/>
              <a:gd name="connsiteX96" fmla="*/ 1480896 w 4941272"/>
              <a:gd name="connsiteY96" fmla="*/ 2330823 h 2366682"/>
              <a:gd name="connsiteX97" fmla="*/ 1516754 w 4941272"/>
              <a:gd name="connsiteY97" fmla="*/ 2321858 h 2366682"/>
              <a:gd name="connsiteX98" fmla="*/ 1624331 w 4941272"/>
              <a:gd name="connsiteY98" fmla="*/ 2277035 h 2366682"/>
              <a:gd name="connsiteX99" fmla="*/ 1713978 w 4941272"/>
              <a:gd name="connsiteY99" fmla="*/ 2241176 h 2366682"/>
              <a:gd name="connsiteX100" fmla="*/ 1776731 w 4941272"/>
              <a:gd name="connsiteY100" fmla="*/ 2214282 h 2366682"/>
              <a:gd name="connsiteX101" fmla="*/ 1848448 w 4941272"/>
              <a:gd name="connsiteY101" fmla="*/ 2169458 h 2366682"/>
              <a:gd name="connsiteX102" fmla="*/ 1929131 w 4941272"/>
              <a:gd name="connsiteY102" fmla="*/ 2115670 h 2366682"/>
              <a:gd name="connsiteX103" fmla="*/ 1947060 w 4941272"/>
              <a:gd name="connsiteY103" fmla="*/ 2088776 h 2366682"/>
              <a:gd name="connsiteX104" fmla="*/ 2018778 w 4941272"/>
              <a:gd name="connsiteY104" fmla="*/ 2034988 h 2366682"/>
              <a:gd name="connsiteX105" fmla="*/ 2054637 w 4941272"/>
              <a:gd name="connsiteY105" fmla="*/ 1999129 h 2366682"/>
              <a:gd name="connsiteX106" fmla="*/ 2081531 w 4941272"/>
              <a:gd name="connsiteY106" fmla="*/ 1981200 h 2366682"/>
              <a:gd name="connsiteX107" fmla="*/ 2099460 w 4941272"/>
              <a:gd name="connsiteY107" fmla="*/ 1963270 h 2366682"/>
              <a:gd name="connsiteX108" fmla="*/ 2171178 w 4941272"/>
              <a:gd name="connsiteY108" fmla="*/ 1918447 h 2366682"/>
              <a:gd name="connsiteX109" fmla="*/ 2207037 w 4941272"/>
              <a:gd name="connsiteY109" fmla="*/ 1882588 h 2366682"/>
              <a:gd name="connsiteX110" fmla="*/ 2224966 w 4941272"/>
              <a:gd name="connsiteY110" fmla="*/ 1846729 h 2366682"/>
              <a:gd name="connsiteX111" fmla="*/ 2305648 w 4941272"/>
              <a:gd name="connsiteY111" fmla="*/ 1810870 h 2366682"/>
              <a:gd name="connsiteX112" fmla="*/ 2332543 w 4941272"/>
              <a:gd name="connsiteY112" fmla="*/ 1801905 h 2366682"/>
              <a:gd name="connsiteX113" fmla="*/ 2368401 w 4941272"/>
              <a:gd name="connsiteY113"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297554 w 4941272"/>
              <a:gd name="connsiteY79" fmla="*/ 2097741 h 2366682"/>
              <a:gd name="connsiteX80" fmla="*/ 387201 w 4941272"/>
              <a:gd name="connsiteY80" fmla="*/ 2133600 h 2366682"/>
              <a:gd name="connsiteX81" fmla="*/ 423060 w 4941272"/>
              <a:gd name="connsiteY81" fmla="*/ 2151529 h 2366682"/>
              <a:gd name="connsiteX82" fmla="*/ 485813 w 4941272"/>
              <a:gd name="connsiteY82" fmla="*/ 2169458 h 2366682"/>
              <a:gd name="connsiteX83" fmla="*/ 593390 w 4941272"/>
              <a:gd name="connsiteY83" fmla="*/ 2205317 h 2366682"/>
              <a:gd name="connsiteX84" fmla="*/ 638213 w 4941272"/>
              <a:gd name="connsiteY84" fmla="*/ 2223247 h 2366682"/>
              <a:gd name="connsiteX85" fmla="*/ 736825 w 4941272"/>
              <a:gd name="connsiteY85" fmla="*/ 2250141 h 2366682"/>
              <a:gd name="connsiteX86" fmla="*/ 772684 w 4941272"/>
              <a:gd name="connsiteY86" fmla="*/ 2268070 h 2366682"/>
              <a:gd name="connsiteX87" fmla="*/ 808543 w 4941272"/>
              <a:gd name="connsiteY87" fmla="*/ 2277035 h 2366682"/>
              <a:gd name="connsiteX88" fmla="*/ 844401 w 4941272"/>
              <a:gd name="connsiteY88" fmla="*/ 2294964 h 2366682"/>
              <a:gd name="connsiteX89" fmla="*/ 925084 w 4941272"/>
              <a:gd name="connsiteY89" fmla="*/ 2312894 h 2366682"/>
              <a:gd name="connsiteX90" fmla="*/ 1050590 w 4941272"/>
              <a:gd name="connsiteY90" fmla="*/ 2348753 h 2366682"/>
              <a:gd name="connsiteX91" fmla="*/ 1095413 w 4941272"/>
              <a:gd name="connsiteY91" fmla="*/ 2357717 h 2366682"/>
              <a:gd name="connsiteX92" fmla="*/ 1140237 w 4941272"/>
              <a:gd name="connsiteY92" fmla="*/ 2366682 h 2366682"/>
              <a:gd name="connsiteX93" fmla="*/ 1391248 w 4941272"/>
              <a:gd name="connsiteY93" fmla="*/ 2357717 h 2366682"/>
              <a:gd name="connsiteX94" fmla="*/ 1436072 w 4941272"/>
              <a:gd name="connsiteY94" fmla="*/ 2339788 h 2366682"/>
              <a:gd name="connsiteX95" fmla="*/ 1480896 w 4941272"/>
              <a:gd name="connsiteY95" fmla="*/ 2330823 h 2366682"/>
              <a:gd name="connsiteX96" fmla="*/ 1516754 w 4941272"/>
              <a:gd name="connsiteY96" fmla="*/ 2321858 h 2366682"/>
              <a:gd name="connsiteX97" fmla="*/ 1624331 w 4941272"/>
              <a:gd name="connsiteY97" fmla="*/ 2277035 h 2366682"/>
              <a:gd name="connsiteX98" fmla="*/ 1713978 w 4941272"/>
              <a:gd name="connsiteY98" fmla="*/ 2241176 h 2366682"/>
              <a:gd name="connsiteX99" fmla="*/ 1776731 w 4941272"/>
              <a:gd name="connsiteY99" fmla="*/ 2214282 h 2366682"/>
              <a:gd name="connsiteX100" fmla="*/ 1848448 w 4941272"/>
              <a:gd name="connsiteY100" fmla="*/ 2169458 h 2366682"/>
              <a:gd name="connsiteX101" fmla="*/ 1929131 w 4941272"/>
              <a:gd name="connsiteY101" fmla="*/ 2115670 h 2366682"/>
              <a:gd name="connsiteX102" fmla="*/ 1947060 w 4941272"/>
              <a:gd name="connsiteY102" fmla="*/ 2088776 h 2366682"/>
              <a:gd name="connsiteX103" fmla="*/ 2018778 w 4941272"/>
              <a:gd name="connsiteY103" fmla="*/ 2034988 h 2366682"/>
              <a:gd name="connsiteX104" fmla="*/ 2054637 w 4941272"/>
              <a:gd name="connsiteY104" fmla="*/ 1999129 h 2366682"/>
              <a:gd name="connsiteX105" fmla="*/ 2081531 w 4941272"/>
              <a:gd name="connsiteY105" fmla="*/ 1981200 h 2366682"/>
              <a:gd name="connsiteX106" fmla="*/ 2099460 w 4941272"/>
              <a:gd name="connsiteY106" fmla="*/ 1963270 h 2366682"/>
              <a:gd name="connsiteX107" fmla="*/ 2171178 w 4941272"/>
              <a:gd name="connsiteY107" fmla="*/ 1918447 h 2366682"/>
              <a:gd name="connsiteX108" fmla="*/ 2207037 w 4941272"/>
              <a:gd name="connsiteY108" fmla="*/ 1882588 h 2366682"/>
              <a:gd name="connsiteX109" fmla="*/ 2224966 w 4941272"/>
              <a:gd name="connsiteY109" fmla="*/ 1846729 h 2366682"/>
              <a:gd name="connsiteX110" fmla="*/ 2305648 w 4941272"/>
              <a:gd name="connsiteY110" fmla="*/ 1810870 h 2366682"/>
              <a:gd name="connsiteX111" fmla="*/ 2332543 w 4941272"/>
              <a:gd name="connsiteY111" fmla="*/ 1801905 h 2366682"/>
              <a:gd name="connsiteX112" fmla="*/ 2368401 w 4941272"/>
              <a:gd name="connsiteY112"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387201 w 4941272"/>
              <a:gd name="connsiteY79" fmla="*/ 2133600 h 2366682"/>
              <a:gd name="connsiteX80" fmla="*/ 423060 w 4941272"/>
              <a:gd name="connsiteY80" fmla="*/ 2151529 h 2366682"/>
              <a:gd name="connsiteX81" fmla="*/ 485813 w 4941272"/>
              <a:gd name="connsiteY81" fmla="*/ 2169458 h 2366682"/>
              <a:gd name="connsiteX82" fmla="*/ 593390 w 4941272"/>
              <a:gd name="connsiteY82" fmla="*/ 2205317 h 2366682"/>
              <a:gd name="connsiteX83" fmla="*/ 638213 w 4941272"/>
              <a:gd name="connsiteY83" fmla="*/ 2223247 h 2366682"/>
              <a:gd name="connsiteX84" fmla="*/ 736825 w 4941272"/>
              <a:gd name="connsiteY84" fmla="*/ 2250141 h 2366682"/>
              <a:gd name="connsiteX85" fmla="*/ 772684 w 4941272"/>
              <a:gd name="connsiteY85" fmla="*/ 2268070 h 2366682"/>
              <a:gd name="connsiteX86" fmla="*/ 808543 w 4941272"/>
              <a:gd name="connsiteY86" fmla="*/ 2277035 h 2366682"/>
              <a:gd name="connsiteX87" fmla="*/ 844401 w 4941272"/>
              <a:gd name="connsiteY87" fmla="*/ 2294964 h 2366682"/>
              <a:gd name="connsiteX88" fmla="*/ 925084 w 4941272"/>
              <a:gd name="connsiteY88" fmla="*/ 2312894 h 2366682"/>
              <a:gd name="connsiteX89" fmla="*/ 1050590 w 4941272"/>
              <a:gd name="connsiteY89" fmla="*/ 2348753 h 2366682"/>
              <a:gd name="connsiteX90" fmla="*/ 1095413 w 4941272"/>
              <a:gd name="connsiteY90" fmla="*/ 2357717 h 2366682"/>
              <a:gd name="connsiteX91" fmla="*/ 1140237 w 4941272"/>
              <a:gd name="connsiteY91" fmla="*/ 2366682 h 2366682"/>
              <a:gd name="connsiteX92" fmla="*/ 1391248 w 4941272"/>
              <a:gd name="connsiteY92" fmla="*/ 2357717 h 2366682"/>
              <a:gd name="connsiteX93" fmla="*/ 1436072 w 4941272"/>
              <a:gd name="connsiteY93" fmla="*/ 2339788 h 2366682"/>
              <a:gd name="connsiteX94" fmla="*/ 1480896 w 4941272"/>
              <a:gd name="connsiteY94" fmla="*/ 2330823 h 2366682"/>
              <a:gd name="connsiteX95" fmla="*/ 1516754 w 4941272"/>
              <a:gd name="connsiteY95" fmla="*/ 2321858 h 2366682"/>
              <a:gd name="connsiteX96" fmla="*/ 1624331 w 4941272"/>
              <a:gd name="connsiteY96" fmla="*/ 2277035 h 2366682"/>
              <a:gd name="connsiteX97" fmla="*/ 1713978 w 4941272"/>
              <a:gd name="connsiteY97" fmla="*/ 2241176 h 2366682"/>
              <a:gd name="connsiteX98" fmla="*/ 1776731 w 4941272"/>
              <a:gd name="connsiteY98" fmla="*/ 2214282 h 2366682"/>
              <a:gd name="connsiteX99" fmla="*/ 1848448 w 4941272"/>
              <a:gd name="connsiteY99" fmla="*/ 2169458 h 2366682"/>
              <a:gd name="connsiteX100" fmla="*/ 1929131 w 4941272"/>
              <a:gd name="connsiteY100" fmla="*/ 2115670 h 2366682"/>
              <a:gd name="connsiteX101" fmla="*/ 1947060 w 4941272"/>
              <a:gd name="connsiteY101" fmla="*/ 2088776 h 2366682"/>
              <a:gd name="connsiteX102" fmla="*/ 2018778 w 4941272"/>
              <a:gd name="connsiteY102" fmla="*/ 2034988 h 2366682"/>
              <a:gd name="connsiteX103" fmla="*/ 2054637 w 4941272"/>
              <a:gd name="connsiteY103" fmla="*/ 1999129 h 2366682"/>
              <a:gd name="connsiteX104" fmla="*/ 2081531 w 4941272"/>
              <a:gd name="connsiteY104" fmla="*/ 1981200 h 2366682"/>
              <a:gd name="connsiteX105" fmla="*/ 2099460 w 4941272"/>
              <a:gd name="connsiteY105" fmla="*/ 1963270 h 2366682"/>
              <a:gd name="connsiteX106" fmla="*/ 2171178 w 4941272"/>
              <a:gd name="connsiteY106" fmla="*/ 1918447 h 2366682"/>
              <a:gd name="connsiteX107" fmla="*/ 2207037 w 4941272"/>
              <a:gd name="connsiteY107" fmla="*/ 1882588 h 2366682"/>
              <a:gd name="connsiteX108" fmla="*/ 2224966 w 4941272"/>
              <a:gd name="connsiteY108" fmla="*/ 1846729 h 2366682"/>
              <a:gd name="connsiteX109" fmla="*/ 2305648 w 4941272"/>
              <a:gd name="connsiteY109" fmla="*/ 1810870 h 2366682"/>
              <a:gd name="connsiteX110" fmla="*/ 2332543 w 4941272"/>
              <a:gd name="connsiteY110" fmla="*/ 1801905 h 2366682"/>
              <a:gd name="connsiteX111" fmla="*/ 2368401 w 4941272"/>
              <a:gd name="connsiteY111"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423060 w 4941272"/>
              <a:gd name="connsiteY79" fmla="*/ 2151529 h 2366682"/>
              <a:gd name="connsiteX80" fmla="*/ 485813 w 4941272"/>
              <a:gd name="connsiteY80" fmla="*/ 2169458 h 2366682"/>
              <a:gd name="connsiteX81" fmla="*/ 593390 w 4941272"/>
              <a:gd name="connsiteY81" fmla="*/ 2205317 h 2366682"/>
              <a:gd name="connsiteX82" fmla="*/ 638213 w 4941272"/>
              <a:gd name="connsiteY82" fmla="*/ 2223247 h 2366682"/>
              <a:gd name="connsiteX83" fmla="*/ 736825 w 4941272"/>
              <a:gd name="connsiteY83" fmla="*/ 2250141 h 2366682"/>
              <a:gd name="connsiteX84" fmla="*/ 772684 w 4941272"/>
              <a:gd name="connsiteY84" fmla="*/ 2268070 h 2366682"/>
              <a:gd name="connsiteX85" fmla="*/ 808543 w 4941272"/>
              <a:gd name="connsiteY85" fmla="*/ 2277035 h 2366682"/>
              <a:gd name="connsiteX86" fmla="*/ 844401 w 4941272"/>
              <a:gd name="connsiteY86" fmla="*/ 2294964 h 2366682"/>
              <a:gd name="connsiteX87" fmla="*/ 925084 w 4941272"/>
              <a:gd name="connsiteY87" fmla="*/ 2312894 h 2366682"/>
              <a:gd name="connsiteX88" fmla="*/ 1050590 w 4941272"/>
              <a:gd name="connsiteY88" fmla="*/ 2348753 h 2366682"/>
              <a:gd name="connsiteX89" fmla="*/ 1095413 w 4941272"/>
              <a:gd name="connsiteY89" fmla="*/ 2357717 h 2366682"/>
              <a:gd name="connsiteX90" fmla="*/ 1140237 w 4941272"/>
              <a:gd name="connsiteY90" fmla="*/ 2366682 h 2366682"/>
              <a:gd name="connsiteX91" fmla="*/ 1391248 w 4941272"/>
              <a:gd name="connsiteY91" fmla="*/ 2357717 h 2366682"/>
              <a:gd name="connsiteX92" fmla="*/ 1436072 w 4941272"/>
              <a:gd name="connsiteY92" fmla="*/ 2339788 h 2366682"/>
              <a:gd name="connsiteX93" fmla="*/ 1480896 w 4941272"/>
              <a:gd name="connsiteY93" fmla="*/ 2330823 h 2366682"/>
              <a:gd name="connsiteX94" fmla="*/ 1516754 w 4941272"/>
              <a:gd name="connsiteY94" fmla="*/ 2321858 h 2366682"/>
              <a:gd name="connsiteX95" fmla="*/ 1624331 w 4941272"/>
              <a:gd name="connsiteY95" fmla="*/ 2277035 h 2366682"/>
              <a:gd name="connsiteX96" fmla="*/ 1713978 w 4941272"/>
              <a:gd name="connsiteY96" fmla="*/ 2241176 h 2366682"/>
              <a:gd name="connsiteX97" fmla="*/ 1776731 w 4941272"/>
              <a:gd name="connsiteY97" fmla="*/ 2214282 h 2366682"/>
              <a:gd name="connsiteX98" fmla="*/ 1848448 w 4941272"/>
              <a:gd name="connsiteY98" fmla="*/ 2169458 h 2366682"/>
              <a:gd name="connsiteX99" fmla="*/ 1929131 w 4941272"/>
              <a:gd name="connsiteY99" fmla="*/ 2115670 h 2366682"/>
              <a:gd name="connsiteX100" fmla="*/ 1947060 w 4941272"/>
              <a:gd name="connsiteY100" fmla="*/ 2088776 h 2366682"/>
              <a:gd name="connsiteX101" fmla="*/ 2018778 w 4941272"/>
              <a:gd name="connsiteY101" fmla="*/ 2034988 h 2366682"/>
              <a:gd name="connsiteX102" fmla="*/ 2054637 w 4941272"/>
              <a:gd name="connsiteY102" fmla="*/ 1999129 h 2366682"/>
              <a:gd name="connsiteX103" fmla="*/ 2081531 w 4941272"/>
              <a:gd name="connsiteY103" fmla="*/ 1981200 h 2366682"/>
              <a:gd name="connsiteX104" fmla="*/ 2099460 w 4941272"/>
              <a:gd name="connsiteY104" fmla="*/ 1963270 h 2366682"/>
              <a:gd name="connsiteX105" fmla="*/ 2171178 w 4941272"/>
              <a:gd name="connsiteY105" fmla="*/ 1918447 h 2366682"/>
              <a:gd name="connsiteX106" fmla="*/ 2207037 w 4941272"/>
              <a:gd name="connsiteY106" fmla="*/ 1882588 h 2366682"/>
              <a:gd name="connsiteX107" fmla="*/ 2224966 w 4941272"/>
              <a:gd name="connsiteY107" fmla="*/ 1846729 h 2366682"/>
              <a:gd name="connsiteX108" fmla="*/ 2305648 w 4941272"/>
              <a:gd name="connsiteY108" fmla="*/ 1810870 h 2366682"/>
              <a:gd name="connsiteX109" fmla="*/ 2332543 w 4941272"/>
              <a:gd name="connsiteY109" fmla="*/ 1801905 h 2366682"/>
              <a:gd name="connsiteX110" fmla="*/ 2368401 w 4941272"/>
              <a:gd name="connsiteY110"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485813 w 4941272"/>
              <a:gd name="connsiteY79" fmla="*/ 2169458 h 2366682"/>
              <a:gd name="connsiteX80" fmla="*/ 593390 w 4941272"/>
              <a:gd name="connsiteY80" fmla="*/ 2205317 h 2366682"/>
              <a:gd name="connsiteX81" fmla="*/ 638213 w 4941272"/>
              <a:gd name="connsiteY81" fmla="*/ 2223247 h 2366682"/>
              <a:gd name="connsiteX82" fmla="*/ 736825 w 4941272"/>
              <a:gd name="connsiteY82" fmla="*/ 2250141 h 2366682"/>
              <a:gd name="connsiteX83" fmla="*/ 772684 w 4941272"/>
              <a:gd name="connsiteY83" fmla="*/ 2268070 h 2366682"/>
              <a:gd name="connsiteX84" fmla="*/ 808543 w 4941272"/>
              <a:gd name="connsiteY84" fmla="*/ 2277035 h 2366682"/>
              <a:gd name="connsiteX85" fmla="*/ 844401 w 4941272"/>
              <a:gd name="connsiteY85" fmla="*/ 2294964 h 2366682"/>
              <a:gd name="connsiteX86" fmla="*/ 925084 w 4941272"/>
              <a:gd name="connsiteY86" fmla="*/ 2312894 h 2366682"/>
              <a:gd name="connsiteX87" fmla="*/ 1050590 w 4941272"/>
              <a:gd name="connsiteY87" fmla="*/ 2348753 h 2366682"/>
              <a:gd name="connsiteX88" fmla="*/ 1095413 w 4941272"/>
              <a:gd name="connsiteY88" fmla="*/ 2357717 h 2366682"/>
              <a:gd name="connsiteX89" fmla="*/ 1140237 w 4941272"/>
              <a:gd name="connsiteY89" fmla="*/ 2366682 h 2366682"/>
              <a:gd name="connsiteX90" fmla="*/ 1391248 w 4941272"/>
              <a:gd name="connsiteY90" fmla="*/ 2357717 h 2366682"/>
              <a:gd name="connsiteX91" fmla="*/ 1436072 w 4941272"/>
              <a:gd name="connsiteY91" fmla="*/ 2339788 h 2366682"/>
              <a:gd name="connsiteX92" fmla="*/ 1480896 w 4941272"/>
              <a:gd name="connsiteY92" fmla="*/ 2330823 h 2366682"/>
              <a:gd name="connsiteX93" fmla="*/ 1516754 w 4941272"/>
              <a:gd name="connsiteY93" fmla="*/ 2321858 h 2366682"/>
              <a:gd name="connsiteX94" fmla="*/ 1624331 w 4941272"/>
              <a:gd name="connsiteY94" fmla="*/ 2277035 h 2366682"/>
              <a:gd name="connsiteX95" fmla="*/ 1713978 w 4941272"/>
              <a:gd name="connsiteY95" fmla="*/ 2241176 h 2366682"/>
              <a:gd name="connsiteX96" fmla="*/ 1776731 w 4941272"/>
              <a:gd name="connsiteY96" fmla="*/ 2214282 h 2366682"/>
              <a:gd name="connsiteX97" fmla="*/ 1848448 w 4941272"/>
              <a:gd name="connsiteY97" fmla="*/ 2169458 h 2366682"/>
              <a:gd name="connsiteX98" fmla="*/ 1929131 w 4941272"/>
              <a:gd name="connsiteY98" fmla="*/ 2115670 h 2366682"/>
              <a:gd name="connsiteX99" fmla="*/ 1947060 w 4941272"/>
              <a:gd name="connsiteY99" fmla="*/ 2088776 h 2366682"/>
              <a:gd name="connsiteX100" fmla="*/ 2018778 w 4941272"/>
              <a:gd name="connsiteY100" fmla="*/ 2034988 h 2366682"/>
              <a:gd name="connsiteX101" fmla="*/ 2054637 w 4941272"/>
              <a:gd name="connsiteY101" fmla="*/ 1999129 h 2366682"/>
              <a:gd name="connsiteX102" fmla="*/ 2081531 w 4941272"/>
              <a:gd name="connsiteY102" fmla="*/ 1981200 h 2366682"/>
              <a:gd name="connsiteX103" fmla="*/ 2099460 w 4941272"/>
              <a:gd name="connsiteY103" fmla="*/ 1963270 h 2366682"/>
              <a:gd name="connsiteX104" fmla="*/ 2171178 w 4941272"/>
              <a:gd name="connsiteY104" fmla="*/ 1918447 h 2366682"/>
              <a:gd name="connsiteX105" fmla="*/ 2207037 w 4941272"/>
              <a:gd name="connsiteY105" fmla="*/ 1882588 h 2366682"/>
              <a:gd name="connsiteX106" fmla="*/ 2224966 w 4941272"/>
              <a:gd name="connsiteY106" fmla="*/ 1846729 h 2366682"/>
              <a:gd name="connsiteX107" fmla="*/ 2305648 w 4941272"/>
              <a:gd name="connsiteY107" fmla="*/ 1810870 h 2366682"/>
              <a:gd name="connsiteX108" fmla="*/ 2332543 w 4941272"/>
              <a:gd name="connsiteY108" fmla="*/ 1801905 h 2366682"/>
              <a:gd name="connsiteX109" fmla="*/ 2368401 w 4941272"/>
              <a:gd name="connsiteY109"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593390 w 4941272"/>
              <a:gd name="connsiteY79" fmla="*/ 2205317 h 2366682"/>
              <a:gd name="connsiteX80" fmla="*/ 638213 w 4941272"/>
              <a:gd name="connsiteY80" fmla="*/ 2223247 h 2366682"/>
              <a:gd name="connsiteX81" fmla="*/ 736825 w 4941272"/>
              <a:gd name="connsiteY81" fmla="*/ 2250141 h 2366682"/>
              <a:gd name="connsiteX82" fmla="*/ 772684 w 4941272"/>
              <a:gd name="connsiteY82" fmla="*/ 2268070 h 2366682"/>
              <a:gd name="connsiteX83" fmla="*/ 808543 w 4941272"/>
              <a:gd name="connsiteY83" fmla="*/ 2277035 h 2366682"/>
              <a:gd name="connsiteX84" fmla="*/ 844401 w 4941272"/>
              <a:gd name="connsiteY84" fmla="*/ 2294964 h 2366682"/>
              <a:gd name="connsiteX85" fmla="*/ 925084 w 4941272"/>
              <a:gd name="connsiteY85" fmla="*/ 2312894 h 2366682"/>
              <a:gd name="connsiteX86" fmla="*/ 1050590 w 4941272"/>
              <a:gd name="connsiteY86" fmla="*/ 2348753 h 2366682"/>
              <a:gd name="connsiteX87" fmla="*/ 1095413 w 4941272"/>
              <a:gd name="connsiteY87" fmla="*/ 2357717 h 2366682"/>
              <a:gd name="connsiteX88" fmla="*/ 1140237 w 4941272"/>
              <a:gd name="connsiteY88" fmla="*/ 2366682 h 2366682"/>
              <a:gd name="connsiteX89" fmla="*/ 1391248 w 4941272"/>
              <a:gd name="connsiteY89" fmla="*/ 2357717 h 2366682"/>
              <a:gd name="connsiteX90" fmla="*/ 1436072 w 4941272"/>
              <a:gd name="connsiteY90" fmla="*/ 2339788 h 2366682"/>
              <a:gd name="connsiteX91" fmla="*/ 1480896 w 4941272"/>
              <a:gd name="connsiteY91" fmla="*/ 2330823 h 2366682"/>
              <a:gd name="connsiteX92" fmla="*/ 1516754 w 4941272"/>
              <a:gd name="connsiteY92" fmla="*/ 2321858 h 2366682"/>
              <a:gd name="connsiteX93" fmla="*/ 1624331 w 4941272"/>
              <a:gd name="connsiteY93" fmla="*/ 2277035 h 2366682"/>
              <a:gd name="connsiteX94" fmla="*/ 1713978 w 4941272"/>
              <a:gd name="connsiteY94" fmla="*/ 2241176 h 2366682"/>
              <a:gd name="connsiteX95" fmla="*/ 1776731 w 4941272"/>
              <a:gd name="connsiteY95" fmla="*/ 2214282 h 2366682"/>
              <a:gd name="connsiteX96" fmla="*/ 1848448 w 4941272"/>
              <a:gd name="connsiteY96" fmla="*/ 2169458 h 2366682"/>
              <a:gd name="connsiteX97" fmla="*/ 1929131 w 4941272"/>
              <a:gd name="connsiteY97" fmla="*/ 2115670 h 2366682"/>
              <a:gd name="connsiteX98" fmla="*/ 1947060 w 4941272"/>
              <a:gd name="connsiteY98" fmla="*/ 2088776 h 2366682"/>
              <a:gd name="connsiteX99" fmla="*/ 2018778 w 4941272"/>
              <a:gd name="connsiteY99" fmla="*/ 2034988 h 2366682"/>
              <a:gd name="connsiteX100" fmla="*/ 2054637 w 4941272"/>
              <a:gd name="connsiteY100" fmla="*/ 1999129 h 2366682"/>
              <a:gd name="connsiteX101" fmla="*/ 2081531 w 4941272"/>
              <a:gd name="connsiteY101" fmla="*/ 1981200 h 2366682"/>
              <a:gd name="connsiteX102" fmla="*/ 2099460 w 4941272"/>
              <a:gd name="connsiteY102" fmla="*/ 1963270 h 2366682"/>
              <a:gd name="connsiteX103" fmla="*/ 2171178 w 4941272"/>
              <a:gd name="connsiteY103" fmla="*/ 1918447 h 2366682"/>
              <a:gd name="connsiteX104" fmla="*/ 2207037 w 4941272"/>
              <a:gd name="connsiteY104" fmla="*/ 1882588 h 2366682"/>
              <a:gd name="connsiteX105" fmla="*/ 2224966 w 4941272"/>
              <a:gd name="connsiteY105" fmla="*/ 1846729 h 2366682"/>
              <a:gd name="connsiteX106" fmla="*/ 2305648 w 4941272"/>
              <a:gd name="connsiteY106" fmla="*/ 1810870 h 2366682"/>
              <a:gd name="connsiteX107" fmla="*/ 2332543 w 4941272"/>
              <a:gd name="connsiteY107" fmla="*/ 1801905 h 2366682"/>
              <a:gd name="connsiteX108" fmla="*/ 2368401 w 4941272"/>
              <a:gd name="connsiteY108"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593390 w 4941272"/>
              <a:gd name="connsiteY79" fmla="*/ 2205317 h 2366682"/>
              <a:gd name="connsiteX80" fmla="*/ 736825 w 4941272"/>
              <a:gd name="connsiteY80" fmla="*/ 2250141 h 2366682"/>
              <a:gd name="connsiteX81" fmla="*/ 772684 w 4941272"/>
              <a:gd name="connsiteY81" fmla="*/ 2268070 h 2366682"/>
              <a:gd name="connsiteX82" fmla="*/ 808543 w 4941272"/>
              <a:gd name="connsiteY82" fmla="*/ 2277035 h 2366682"/>
              <a:gd name="connsiteX83" fmla="*/ 844401 w 4941272"/>
              <a:gd name="connsiteY83" fmla="*/ 2294964 h 2366682"/>
              <a:gd name="connsiteX84" fmla="*/ 925084 w 4941272"/>
              <a:gd name="connsiteY84" fmla="*/ 2312894 h 2366682"/>
              <a:gd name="connsiteX85" fmla="*/ 1050590 w 4941272"/>
              <a:gd name="connsiteY85" fmla="*/ 2348753 h 2366682"/>
              <a:gd name="connsiteX86" fmla="*/ 1095413 w 4941272"/>
              <a:gd name="connsiteY86" fmla="*/ 2357717 h 2366682"/>
              <a:gd name="connsiteX87" fmla="*/ 1140237 w 4941272"/>
              <a:gd name="connsiteY87" fmla="*/ 2366682 h 2366682"/>
              <a:gd name="connsiteX88" fmla="*/ 1391248 w 4941272"/>
              <a:gd name="connsiteY88" fmla="*/ 2357717 h 2366682"/>
              <a:gd name="connsiteX89" fmla="*/ 1436072 w 4941272"/>
              <a:gd name="connsiteY89" fmla="*/ 2339788 h 2366682"/>
              <a:gd name="connsiteX90" fmla="*/ 1480896 w 4941272"/>
              <a:gd name="connsiteY90" fmla="*/ 2330823 h 2366682"/>
              <a:gd name="connsiteX91" fmla="*/ 1516754 w 4941272"/>
              <a:gd name="connsiteY91" fmla="*/ 2321858 h 2366682"/>
              <a:gd name="connsiteX92" fmla="*/ 1624331 w 4941272"/>
              <a:gd name="connsiteY92" fmla="*/ 2277035 h 2366682"/>
              <a:gd name="connsiteX93" fmla="*/ 1713978 w 4941272"/>
              <a:gd name="connsiteY93" fmla="*/ 2241176 h 2366682"/>
              <a:gd name="connsiteX94" fmla="*/ 1776731 w 4941272"/>
              <a:gd name="connsiteY94" fmla="*/ 2214282 h 2366682"/>
              <a:gd name="connsiteX95" fmla="*/ 1848448 w 4941272"/>
              <a:gd name="connsiteY95" fmla="*/ 2169458 h 2366682"/>
              <a:gd name="connsiteX96" fmla="*/ 1929131 w 4941272"/>
              <a:gd name="connsiteY96" fmla="*/ 2115670 h 2366682"/>
              <a:gd name="connsiteX97" fmla="*/ 1947060 w 4941272"/>
              <a:gd name="connsiteY97" fmla="*/ 2088776 h 2366682"/>
              <a:gd name="connsiteX98" fmla="*/ 2018778 w 4941272"/>
              <a:gd name="connsiteY98" fmla="*/ 2034988 h 2366682"/>
              <a:gd name="connsiteX99" fmla="*/ 2054637 w 4941272"/>
              <a:gd name="connsiteY99" fmla="*/ 1999129 h 2366682"/>
              <a:gd name="connsiteX100" fmla="*/ 2081531 w 4941272"/>
              <a:gd name="connsiteY100" fmla="*/ 1981200 h 2366682"/>
              <a:gd name="connsiteX101" fmla="*/ 2099460 w 4941272"/>
              <a:gd name="connsiteY101" fmla="*/ 1963270 h 2366682"/>
              <a:gd name="connsiteX102" fmla="*/ 2171178 w 4941272"/>
              <a:gd name="connsiteY102" fmla="*/ 1918447 h 2366682"/>
              <a:gd name="connsiteX103" fmla="*/ 2207037 w 4941272"/>
              <a:gd name="connsiteY103" fmla="*/ 1882588 h 2366682"/>
              <a:gd name="connsiteX104" fmla="*/ 2224966 w 4941272"/>
              <a:gd name="connsiteY104" fmla="*/ 1846729 h 2366682"/>
              <a:gd name="connsiteX105" fmla="*/ 2305648 w 4941272"/>
              <a:gd name="connsiteY105" fmla="*/ 1810870 h 2366682"/>
              <a:gd name="connsiteX106" fmla="*/ 2332543 w 4941272"/>
              <a:gd name="connsiteY106" fmla="*/ 1801905 h 2366682"/>
              <a:gd name="connsiteX107" fmla="*/ 2368401 w 4941272"/>
              <a:gd name="connsiteY107"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736825 w 4941272"/>
              <a:gd name="connsiteY79" fmla="*/ 2250141 h 2366682"/>
              <a:gd name="connsiteX80" fmla="*/ 772684 w 4941272"/>
              <a:gd name="connsiteY80" fmla="*/ 2268070 h 2366682"/>
              <a:gd name="connsiteX81" fmla="*/ 808543 w 4941272"/>
              <a:gd name="connsiteY81" fmla="*/ 2277035 h 2366682"/>
              <a:gd name="connsiteX82" fmla="*/ 844401 w 4941272"/>
              <a:gd name="connsiteY82" fmla="*/ 2294964 h 2366682"/>
              <a:gd name="connsiteX83" fmla="*/ 925084 w 4941272"/>
              <a:gd name="connsiteY83" fmla="*/ 2312894 h 2366682"/>
              <a:gd name="connsiteX84" fmla="*/ 1050590 w 4941272"/>
              <a:gd name="connsiteY84" fmla="*/ 2348753 h 2366682"/>
              <a:gd name="connsiteX85" fmla="*/ 1095413 w 4941272"/>
              <a:gd name="connsiteY85" fmla="*/ 2357717 h 2366682"/>
              <a:gd name="connsiteX86" fmla="*/ 1140237 w 4941272"/>
              <a:gd name="connsiteY86" fmla="*/ 2366682 h 2366682"/>
              <a:gd name="connsiteX87" fmla="*/ 1391248 w 4941272"/>
              <a:gd name="connsiteY87" fmla="*/ 2357717 h 2366682"/>
              <a:gd name="connsiteX88" fmla="*/ 1436072 w 4941272"/>
              <a:gd name="connsiteY88" fmla="*/ 2339788 h 2366682"/>
              <a:gd name="connsiteX89" fmla="*/ 1480896 w 4941272"/>
              <a:gd name="connsiteY89" fmla="*/ 2330823 h 2366682"/>
              <a:gd name="connsiteX90" fmla="*/ 1516754 w 4941272"/>
              <a:gd name="connsiteY90" fmla="*/ 2321858 h 2366682"/>
              <a:gd name="connsiteX91" fmla="*/ 1624331 w 4941272"/>
              <a:gd name="connsiteY91" fmla="*/ 2277035 h 2366682"/>
              <a:gd name="connsiteX92" fmla="*/ 1713978 w 4941272"/>
              <a:gd name="connsiteY92" fmla="*/ 2241176 h 2366682"/>
              <a:gd name="connsiteX93" fmla="*/ 1776731 w 4941272"/>
              <a:gd name="connsiteY93" fmla="*/ 2214282 h 2366682"/>
              <a:gd name="connsiteX94" fmla="*/ 1848448 w 4941272"/>
              <a:gd name="connsiteY94" fmla="*/ 2169458 h 2366682"/>
              <a:gd name="connsiteX95" fmla="*/ 1929131 w 4941272"/>
              <a:gd name="connsiteY95" fmla="*/ 2115670 h 2366682"/>
              <a:gd name="connsiteX96" fmla="*/ 1947060 w 4941272"/>
              <a:gd name="connsiteY96" fmla="*/ 2088776 h 2366682"/>
              <a:gd name="connsiteX97" fmla="*/ 2018778 w 4941272"/>
              <a:gd name="connsiteY97" fmla="*/ 2034988 h 2366682"/>
              <a:gd name="connsiteX98" fmla="*/ 2054637 w 4941272"/>
              <a:gd name="connsiteY98" fmla="*/ 1999129 h 2366682"/>
              <a:gd name="connsiteX99" fmla="*/ 2081531 w 4941272"/>
              <a:gd name="connsiteY99" fmla="*/ 1981200 h 2366682"/>
              <a:gd name="connsiteX100" fmla="*/ 2099460 w 4941272"/>
              <a:gd name="connsiteY100" fmla="*/ 1963270 h 2366682"/>
              <a:gd name="connsiteX101" fmla="*/ 2171178 w 4941272"/>
              <a:gd name="connsiteY101" fmla="*/ 1918447 h 2366682"/>
              <a:gd name="connsiteX102" fmla="*/ 2207037 w 4941272"/>
              <a:gd name="connsiteY102" fmla="*/ 1882588 h 2366682"/>
              <a:gd name="connsiteX103" fmla="*/ 2224966 w 4941272"/>
              <a:gd name="connsiteY103" fmla="*/ 1846729 h 2366682"/>
              <a:gd name="connsiteX104" fmla="*/ 2305648 w 4941272"/>
              <a:gd name="connsiteY104" fmla="*/ 1810870 h 2366682"/>
              <a:gd name="connsiteX105" fmla="*/ 2332543 w 4941272"/>
              <a:gd name="connsiteY105" fmla="*/ 1801905 h 2366682"/>
              <a:gd name="connsiteX106" fmla="*/ 2368401 w 4941272"/>
              <a:gd name="connsiteY106"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772684 w 4941272"/>
              <a:gd name="connsiteY79" fmla="*/ 2268070 h 2366682"/>
              <a:gd name="connsiteX80" fmla="*/ 808543 w 4941272"/>
              <a:gd name="connsiteY80" fmla="*/ 2277035 h 2366682"/>
              <a:gd name="connsiteX81" fmla="*/ 844401 w 4941272"/>
              <a:gd name="connsiteY81" fmla="*/ 2294964 h 2366682"/>
              <a:gd name="connsiteX82" fmla="*/ 925084 w 4941272"/>
              <a:gd name="connsiteY82" fmla="*/ 2312894 h 2366682"/>
              <a:gd name="connsiteX83" fmla="*/ 1050590 w 4941272"/>
              <a:gd name="connsiteY83" fmla="*/ 2348753 h 2366682"/>
              <a:gd name="connsiteX84" fmla="*/ 1095413 w 4941272"/>
              <a:gd name="connsiteY84" fmla="*/ 2357717 h 2366682"/>
              <a:gd name="connsiteX85" fmla="*/ 1140237 w 4941272"/>
              <a:gd name="connsiteY85" fmla="*/ 2366682 h 2366682"/>
              <a:gd name="connsiteX86" fmla="*/ 1391248 w 4941272"/>
              <a:gd name="connsiteY86" fmla="*/ 2357717 h 2366682"/>
              <a:gd name="connsiteX87" fmla="*/ 1436072 w 4941272"/>
              <a:gd name="connsiteY87" fmla="*/ 2339788 h 2366682"/>
              <a:gd name="connsiteX88" fmla="*/ 1480896 w 4941272"/>
              <a:gd name="connsiteY88" fmla="*/ 2330823 h 2366682"/>
              <a:gd name="connsiteX89" fmla="*/ 1516754 w 4941272"/>
              <a:gd name="connsiteY89" fmla="*/ 2321858 h 2366682"/>
              <a:gd name="connsiteX90" fmla="*/ 1624331 w 4941272"/>
              <a:gd name="connsiteY90" fmla="*/ 2277035 h 2366682"/>
              <a:gd name="connsiteX91" fmla="*/ 1713978 w 4941272"/>
              <a:gd name="connsiteY91" fmla="*/ 2241176 h 2366682"/>
              <a:gd name="connsiteX92" fmla="*/ 1776731 w 4941272"/>
              <a:gd name="connsiteY92" fmla="*/ 2214282 h 2366682"/>
              <a:gd name="connsiteX93" fmla="*/ 1848448 w 4941272"/>
              <a:gd name="connsiteY93" fmla="*/ 2169458 h 2366682"/>
              <a:gd name="connsiteX94" fmla="*/ 1929131 w 4941272"/>
              <a:gd name="connsiteY94" fmla="*/ 2115670 h 2366682"/>
              <a:gd name="connsiteX95" fmla="*/ 1947060 w 4941272"/>
              <a:gd name="connsiteY95" fmla="*/ 2088776 h 2366682"/>
              <a:gd name="connsiteX96" fmla="*/ 2018778 w 4941272"/>
              <a:gd name="connsiteY96" fmla="*/ 2034988 h 2366682"/>
              <a:gd name="connsiteX97" fmla="*/ 2054637 w 4941272"/>
              <a:gd name="connsiteY97" fmla="*/ 1999129 h 2366682"/>
              <a:gd name="connsiteX98" fmla="*/ 2081531 w 4941272"/>
              <a:gd name="connsiteY98" fmla="*/ 1981200 h 2366682"/>
              <a:gd name="connsiteX99" fmla="*/ 2099460 w 4941272"/>
              <a:gd name="connsiteY99" fmla="*/ 1963270 h 2366682"/>
              <a:gd name="connsiteX100" fmla="*/ 2171178 w 4941272"/>
              <a:gd name="connsiteY100" fmla="*/ 1918447 h 2366682"/>
              <a:gd name="connsiteX101" fmla="*/ 2207037 w 4941272"/>
              <a:gd name="connsiteY101" fmla="*/ 1882588 h 2366682"/>
              <a:gd name="connsiteX102" fmla="*/ 2224966 w 4941272"/>
              <a:gd name="connsiteY102" fmla="*/ 1846729 h 2366682"/>
              <a:gd name="connsiteX103" fmla="*/ 2305648 w 4941272"/>
              <a:gd name="connsiteY103" fmla="*/ 1810870 h 2366682"/>
              <a:gd name="connsiteX104" fmla="*/ 2332543 w 4941272"/>
              <a:gd name="connsiteY104" fmla="*/ 1801905 h 2366682"/>
              <a:gd name="connsiteX105" fmla="*/ 2368401 w 4941272"/>
              <a:gd name="connsiteY105" fmla="*/ 1792941 h 2366682"/>
              <a:gd name="connsiteX0" fmla="*/ 4941272 w 4941272"/>
              <a:gd name="connsiteY0" fmla="*/ 1129553 h 2366682"/>
              <a:gd name="connsiteX1" fmla="*/ 4869554 w 4941272"/>
              <a:gd name="connsiteY1" fmla="*/ 1156447 h 2366682"/>
              <a:gd name="connsiteX2" fmla="*/ 4833696 w 4941272"/>
              <a:gd name="connsiteY2" fmla="*/ 1165411 h 2366682"/>
              <a:gd name="connsiteX3" fmla="*/ 4806801 w 4941272"/>
              <a:gd name="connsiteY3" fmla="*/ 1183341 h 2366682"/>
              <a:gd name="connsiteX4" fmla="*/ 4708190 w 4941272"/>
              <a:gd name="connsiteY4" fmla="*/ 1201270 h 2366682"/>
              <a:gd name="connsiteX5" fmla="*/ 4555790 w 4941272"/>
              <a:gd name="connsiteY5" fmla="*/ 1192305 h 2366682"/>
              <a:gd name="connsiteX6" fmla="*/ 4448213 w 4941272"/>
              <a:gd name="connsiteY6" fmla="*/ 1174376 h 2366682"/>
              <a:gd name="connsiteX7" fmla="*/ 4376496 w 4941272"/>
              <a:gd name="connsiteY7" fmla="*/ 1165411 h 2366682"/>
              <a:gd name="connsiteX8" fmla="*/ 4304778 w 4941272"/>
              <a:gd name="connsiteY8" fmla="*/ 1147482 h 2366682"/>
              <a:gd name="connsiteX9" fmla="*/ 4233060 w 4941272"/>
              <a:gd name="connsiteY9" fmla="*/ 1120588 h 2366682"/>
              <a:gd name="connsiteX10" fmla="*/ 4170307 w 4941272"/>
              <a:gd name="connsiteY10" fmla="*/ 1102658 h 2366682"/>
              <a:gd name="connsiteX11" fmla="*/ 4143413 w 4941272"/>
              <a:gd name="connsiteY11" fmla="*/ 1093694 h 2366682"/>
              <a:gd name="connsiteX12" fmla="*/ 4089625 w 4941272"/>
              <a:gd name="connsiteY12" fmla="*/ 1066800 h 2366682"/>
              <a:gd name="connsiteX13" fmla="*/ 4062731 w 4941272"/>
              <a:gd name="connsiteY13" fmla="*/ 1048870 h 2366682"/>
              <a:gd name="connsiteX14" fmla="*/ 3999978 w 4941272"/>
              <a:gd name="connsiteY14" fmla="*/ 1021976 h 2366682"/>
              <a:gd name="connsiteX15" fmla="*/ 3946190 w 4941272"/>
              <a:gd name="connsiteY15" fmla="*/ 986117 h 2366682"/>
              <a:gd name="connsiteX16" fmla="*/ 3910331 w 4941272"/>
              <a:gd name="connsiteY16" fmla="*/ 968188 h 2366682"/>
              <a:gd name="connsiteX17" fmla="*/ 3829648 w 4941272"/>
              <a:gd name="connsiteY17" fmla="*/ 923364 h 2366682"/>
              <a:gd name="connsiteX18" fmla="*/ 3740001 w 4941272"/>
              <a:gd name="connsiteY18" fmla="*/ 878541 h 2366682"/>
              <a:gd name="connsiteX19" fmla="*/ 3659319 w 4941272"/>
              <a:gd name="connsiteY19" fmla="*/ 833717 h 2366682"/>
              <a:gd name="connsiteX20" fmla="*/ 3578637 w 4941272"/>
              <a:gd name="connsiteY20" fmla="*/ 753035 h 2366682"/>
              <a:gd name="connsiteX21" fmla="*/ 3551743 w 4941272"/>
              <a:gd name="connsiteY21" fmla="*/ 726141 h 2366682"/>
              <a:gd name="connsiteX22" fmla="*/ 3533813 w 4941272"/>
              <a:gd name="connsiteY22" fmla="*/ 708211 h 2366682"/>
              <a:gd name="connsiteX23" fmla="*/ 3480025 w 4941272"/>
              <a:gd name="connsiteY23" fmla="*/ 663388 h 2366682"/>
              <a:gd name="connsiteX24" fmla="*/ 3399343 w 4941272"/>
              <a:gd name="connsiteY24" fmla="*/ 582705 h 2366682"/>
              <a:gd name="connsiteX25" fmla="*/ 3363484 w 4941272"/>
              <a:gd name="connsiteY25" fmla="*/ 546847 h 2366682"/>
              <a:gd name="connsiteX26" fmla="*/ 3336590 w 4941272"/>
              <a:gd name="connsiteY26" fmla="*/ 519953 h 2366682"/>
              <a:gd name="connsiteX27" fmla="*/ 3291766 w 4941272"/>
              <a:gd name="connsiteY27" fmla="*/ 484094 h 2366682"/>
              <a:gd name="connsiteX28" fmla="*/ 3229013 w 4941272"/>
              <a:gd name="connsiteY28" fmla="*/ 421341 h 2366682"/>
              <a:gd name="connsiteX29" fmla="*/ 3184190 w 4941272"/>
              <a:gd name="connsiteY29" fmla="*/ 376517 h 2366682"/>
              <a:gd name="connsiteX30" fmla="*/ 2986966 w 4941272"/>
              <a:gd name="connsiteY30" fmla="*/ 224117 h 2366682"/>
              <a:gd name="connsiteX31" fmla="*/ 2906284 w 4941272"/>
              <a:gd name="connsiteY31" fmla="*/ 161364 h 2366682"/>
              <a:gd name="connsiteX32" fmla="*/ 2870425 w 4941272"/>
              <a:gd name="connsiteY32" fmla="*/ 143435 h 2366682"/>
              <a:gd name="connsiteX33" fmla="*/ 2816637 w 4941272"/>
              <a:gd name="connsiteY33" fmla="*/ 98611 h 2366682"/>
              <a:gd name="connsiteX34" fmla="*/ 2798707 w 4941272"/>
              <a:gd name="connsiteY34" fmla="*/ 80682 h 2366682"/>
              <a:gd name="connsiteX35" fmla="*/ 2771813 w 4941272"/>
              <a:gd name="connsiteY35" fmla="*/ 71717 h 2366682"/>
              <a:gd name="connsiteX36" fmla="*/ 2700096 w 4941272"/>
              <a:gd name="connsiteY36" fmla="*/ 35858 h 2366682"/>
              <a:gd name="connsiteX37" fmla="*/ 2637343 w 4941272"/>
              <a:gd name="connsiteY37" fmla="*/ 8964 h 2366682"/>
              <a:gd name="connsiteX38" fmla="*/ 2574590 w 4941272"/>
              <a:gd name="connsiteY38" fmla="*/ 0 h 2366682"/>
              <a:gd name="connsiteX39" fmla="*/ 2395296 w 4941272"/>
              <a:gd name="connsiteY39" fmla="*/ 8964 h 2366682"/>
              <a:gd name="connsiteX40" fmla="*/ 2359437 w 4941272"/>
              <a:gd name="connsiteY40" fmla="*/ 17929 h 2366682"/>
              <a:gd name="connsiteX41" fmla="*/ 2278754 w 4941272"/>
              <a:gd name="connsiteY41" fmla="*/ 26894 h 2366682"/>
              <a:gd name="connsiteX42" fmla="*/ 2162213 w 4941272"/>
              <a:gd name="connsiteY42" fmla="*/ 44823 h 2366682"/>
              <a:gd name="connsiteX43" fmla="*/ 2081531 w 4941272"/>
              <a:gd name="connsiteY43" fmla="*/ 71717 h 2366682"/>
              <a:gd name="connsiteX44" fmla="*/ 2018778 w 4941272"/>
              <a:gd name="connsiteY44" fmla="*/ 89647 h 2366682"/>
              <a:gd name="connsiteX45" fmla="*/ 1633296 w 4941272"/>
              <a:gd name="connsiteY45" fmla="*/ 98611 h 2366682"/>
              <a:gd name="connsiteX46" fmla="*/ 1462966 w 4941272"/>
              <a:gd name="connsiteY46" fmla="*/ 116541 h 2366682"/>
              <a:gd name="connsiteX47" fmla="*/ 1400213 w 4941272"/>
              <a:gd name="connsiteY47" fmla="*/ 125505 h 2366682"/>
              <a:gd name="connsiteX48" fmla="*/ 1319531 w 4941272"/>
              <a:gd name="connsiteY48" fmla="*/ 134470 h 2366682"/>
              <a:gd name="connsiteX49" fmla="*/ 1247813 w 4941272"/>
              <a:gd name="connsiteY49" fmla="*/ 152400 h 2366682"/>
              <a:gd name="connsiteX50" fmla="*/ 1202990 w 4941272"/>
              <a:gd name="connsiteY50" fmla="*/ 161364 h 2366682"/>
              <a:gd name="connsiteX51" fmla="*/ 1149201 w 4941272"/>
              <a:gd name="connsiteY51" fmla="*/ 179294 h 2366682"/>
              <a:gd name="connsiteX52" fmla="*/ 1050590 w 4941272"/>
              <a:gd name="connsiteY52" fmla="*/ 206188 h 2366682"/>
              <a:gd name="connsiteX53" fmla="*/ 1023696 w 4941272"/>
              <a:gd name="connsiteY53" fmla="*/ 215153 h 2366682"/>
              <a:gd name="connsiteX54" fmla="*/ 943013 w 4941272"/>
              <a:gd name="connsiteY54" fmla="*/ 233082 h 2366682"/>
              <a:gd name="connsiteX55" fmla="*/ 889225 w 4941272"/>
              <a:gd name="connsiteY55" fmla="*/ 251011 h 2366682"/>
              <a:gd name="connsiteX56" fmla="*/ 862331 w 4941272"/>
              <a:gd name="connsiteY56" fmla="*/ 259976 h 2366682"/>
              <a:gd name="connsiteX57" fmla="*/ 835437 w 4941272"/>
              <a:gd name="connsiteY57" fmla="*/ 277905 h 2366682"/>
              <a:gd name="connsiteX58" fmla="*/ 799578 w 4941272"/>
              <a:gd name="connsiteY58" fmla="*/ 286870 h 2366682"/>
              <a:gd name="connsiteX59" fmla="*/ 763719 w 4941272"/>
              <a:gd name="connsiteY59" fmla="*/ 304800 h 2366682"/>
              <a:gd name="connsiteX60" fmla="*/ 736825 w 4941272"/>
              <a:gd name="connsiteY60" fmla="*/ 313764 h 2366682"/>
              <a:gd name="connsiteX61" fmla="*/ 683037 w 4941272"/>
              <a:gd name="connsiteY61" fmla="*/ 349623 h 2366682"/>
              <a:gd name="connsiteX62" fmla="*/ 665107 w 4941272"/>
              <a:gd name="connsiteY62" fmla="*/ 367553 h 2366682"/>
              <a:gd name="connsiteX63" fmla="*/ 602354 w 4941272"/>
              <a:gd name="connsiteY63" fmla="*/ 412376 h 2366682"/>
              <a:gd name="connsiteX64" fmla="*/ 566496 w 4941272"/>
              <a:gd name="connsiteY64" fmla="*/ 448235 h 2366682"/>
              <a:gd name="connsiteX65" fmla="*/ 530637 w 4941272"/>
              <a:gd name="connsiteY65" fmla="*/ 475129 h 2366682"/>
              <a:gd name="connsiteX66" fmla="*/ 485813 w 4941272"/>
              <a:gd name="connsiteY66" fmla="*/ 519953 h 2366682"/>
              <a:gd name="connsiteX67" fmla="*/ 396166 w 4941272"/>
              <a:gd name="connsiteY67" fmla="*/ 600635 h 2366682"/>
              <a:gd name="connsiteX68" fmla="*/ 351343 w 4941272"/>
              <a:gd name="connsiteY68" fmla="*/ 645458 h 2366682"/>
              <a:gd name="connsiteX69" fmla="*/ 288590 w 4941272"/>
              <a:gd name="connsiteY69" fmla="*/ 717176 h 2366682"/>
              <a:gd name="connsiteX70" fmla="*/ 234801 w 4941272"/>
              <a:gd name="connsiteY70" fmla="*/ 753035 h 2366682"/>
              <a:gd name="connsiteX71" fmla="*/ 198943 w 4941272"/>
              <a:gd name="connsiteY71" fmla="*/ 806823 h 2366682"/>
              <a:gd name="connsiteX72" fmla="*/ 163084 w 4941272"/>
              <a:gd name="connsiteY72" fmla="*/ 851647 h 2366682"/>
              <a:gd name="connsiteX73" fmla="*/ 154119 w 4941272"/>
              <a:gd name="connsiteY73" fmla="*/ 878541 h 2366682"/>
              <a:gd name="connsiteX74" fmla="*/ 127225 w 4941272"/>
              <a:gd name="connsiteY74" fmla="*/ 914400 h 2366682"/>
              <a:gd name="connsiteX75" fmla="*/ 73437 w 4941272"/>
              <a:gd name="connsiteY75" fmla="*/ 995082 h 2366682"/>
              <a:gd name="connsiteX76" fmla="*/ 28613 w 4941272"/>
              <a:gd name="connsiteY76" fmla="*/ 1075764 h 2366682"/>
              <a:gd name="connsiteX77" fmla="*/ 543523 w 4941272"/>
              <a:gd name="connsiteY77" fmla="*/ 1089958 h 2366682"/>
              <a:gd name="connsiteX78" fmla="*/ 703954 w 4941272"/>
              <a:gd name="connsiteY78" fmla="*/ 1416236 h 2366682"/>
              <a:gd name="connsiteX79" fmla="*/ 772684 w 4941272"/>
              <a:gd name="connsiteY79" fmla="*/ 2268070 h 2366682"/>
              <a:gd name="connsiteX80" fmla="*/ 844401 w 4941272"/>
              <a:gd name="connsiteY80" fmla="*/ 2294964 h 2366682"/>
              <a:gd name="connsiteX81" fmla="*/ 925084 w 4941272"/>
              <a:gd name="connsiteY81" fmla="*/ 2312894 h 2366682"/>
              <a:gd name="connsiteX82" fmla="*/ 1050590 w 4941272"/>
              <a:gd name="connsiteY82" fmla="*/ 2348753 h 2366682"/>
              <a:gd name="connsiteX83" fmla="*/ 1095413 w 4941272"/>
              <a:gd name="connsiteY83" fmla="*/ 2357717 h 2366682"/>
              <a:gd name="connsiteX84" fmla="*/ 1140237 w 4941272"/>
              <a:gd name="connsiteY84" fmla="*/ 2366682 h 2366682"/>
              <a:gd name="connsiteX85" fmla="*/ 1391248 w 4941272"/>
              <a:gd name="connsiteY85" fmla="*/ 2357717 h 2366682"/>
              <a:gd name="connsiteX86" fmla="*/ 1436072 w 4941272"/>
              <a:gd name="connsiteY86" fmla="*/ 2339788 h 2366682"/>
              <a:gd name="connsiteX87" fmla="*/ 1480896 w 4941272"/>
              <a:gd name="connsiteY87" fmla="*/ 2330823 h 2366682"/>
              <a:gd name="connsiteX88" fmla="*/ 1516754 w 4941272"/>
              <a:gd name="connsiteY88" fmla="*/ 2321858 h 2366682"/>
              <a:gd name="connsiteX89" fmla="*/ 1624331 w 4941272"/>
              <a:gd name="connsiteY89" fmla="*/ 2277035 h 2366682"/>
              <a:gd name="connsiteX90" fmla="*/ 1713978 w 4941272"/>
              <a:gd name="connsiteY90" fmla="*/ 2241176 h 2366682"/>
              <a:gd name="connsiteX91" fmla="*/ 1776731 w 4941272"/>
              <a:gd name="connsiteY91" fmla="*/ 2214282 h 2366682"/>
              <a:gd name="connsiteX92" fmla="*/ 1848448 w 4941272"/>
              <a:gd name="connsiteY92" fmla="*/ 2169458 h 2366682"/>
              <a:gd name="connsiteX93" fmla="*/ 1929131 w 4941272"/>
              <a:gd name="connsiteY93" fmla="*/ 2115670 h 2366682"/>
              <a:gd name="connsiteX94" fmla="*/ 1947060 w 4941272"/>
              <a:gd name="connsiteY94" fmla="*/ 2088776 h 2366682"/>
              <a:gd name="connsiteX95" fmla="*/ 2018778 w 4941272"/>
              <a:gd name="connsiteY95" fmla="*/ 2034988 h 2366682"/>
              <a:gd name="connsiteX96" fmla="*/ 2054637 w 4941272"/>
              <a:gd name="connsiteY96" fmla="*/ 1999129 h 2366682"/>
              <a:gd name="connsiteX97" fmla="*/ 2081531 w 4941272"/>
              <a:gd name="connsiteY97" fmla="*/ 1981200 h 2366682"/>
              <a:gd name="connsiteX98" fmla="*/ 2099460 w 4941272"/>
              <a:gd name="connsiteY98" fmla="*/ 1963270 h 2366682"/>
              <a:gd name="connsiteX99" fmla="*/ 2171178 w 4941272"/>
              <a:gd name="connsiteY99" fmla="*/ 1918447 h 2366682"/>
              <a:gd name="connsiteX100" fmla="*/ 2207037 w 4941272"/>
              <a:gd name="connsiteY100" fmla="*/ 1882588 h 2366682"/>
              <a:gd name="connsiteX101" fmla="*/ 2224966 w 4941272"/>
              <a:gd name="connsiteY101" fmla="*/ 1846729 h 2366682"/>
              <a:gd name="connsiteX102" fmla="*/ 2305648 w 4941272"/>
              <a:gd name="connsiteY102" fmla="*/ 1810870 h 2366682"/>
              <a:gd name="connsiteX103" fmla="*/ 2332543 w 4941272"/>
              <a:gd name="connsiteY103" fmla="*/ 1801905 h 2366682"/>
              <a:gd name="connsiteX104" fmla="*/ 2368401 w 4941272"/>
              <a:gd name="connsiteY104" fmla="*/ 1792941 h 236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41272" h="2366682">
                <a:moveTo>
                  <a:pt x="4941272" y="1129553"/>
                </a:moveTo>
                <a:cubicBezTo>
                  <a:pt x="4917602" y="1139021"/>
                  <a:pt x="4894140" y="1149422"/>
                  <a:pt x="4869554" y="1156447"/>
                </a:cubicBezTo>
                <a:cubicBezTo>
                  <a:pt x="4857708" y="1159832"/>
                  <a:pt x="4845649" y="1162423"/>
                  <a:pt x="4833696" y="1165411"/>
                </a:cubicBezTo>
                <a:cubicBezTo>
                  <a:pt x="4824731" y="1171388"/>
                  <a:pt x="4816704" y="1179097"/>
                  <a:pt x="4806801" y="1183341"/>
                </a:cubicBezTo>
                <a:cubicBezTo>
                  <a:pt x="4785670" y="1192397"/>
                  <a:pt x="4722725" y="1199193"/>
                  <a:pt x="4708190" y="1201270"/>
                </a:cubicBezTo>
                <a:cubicBezTo>
                  <a:pt x="4657390" y="1198282"/>
                  <a:pt x="4606502" y="1196531"/>
                  <a:pt x="4555790" y="1192305"/>
                </a:cubicBezTo>
                <a:cubicBezTo>
                  <a:pt x="4484157" y="1186336"/>
                  <a:pt x="4509283" y="1183772"/>
                  <a:pt x="4448213" y="1174376"/>
                </a:cubicBezTo>
                <a:cubicBezTo>
                  <a:pt x="4424401" y="1170713"/>
                  <a:pt x="4400402" y="1168399"/>
                  <a:pt x="4376496" y="1165411"/>
                </a:cubicBezTo>
                <a:cubicBezTo>
                  <a:pt x="4315006" y="1144917"/>
                  <a:pt x="4391340" y="1169124"/>
                  <a:pt x="4304778" y="1147482"/>
                </a:cubicBezTo>
                <a:cubicBezTo>
                  <a:pt x="4284435" y="1142396"/>
                  <a:pt x="4249503" y="1126754"/>
                  <a:pt x="4233060" y="1120588"/>
                </a:cubicBezTo>
                <a:cubicBezTo>
                  <a:pt x="4198668" y="1107691"/>
                  <a:pt x="4209870" y="1113961"/>
                  <a:pt x="4170307" y="1102658"/>
                </a:cubicBezTo>
                <a:cubicBezTo>
                  <a:pt x="4161221" y="1100062"/>
                  <a:pt x="4152378" y="1096682"/>
                  <a:pt x="4143413" y="1093694"/>
                </a:cubicBezTo>
                <a:cubicBezTo>
                  <a:pt x="4107327" y="1057606"/>
                  <a:pt x="4147452" y="1091583"/>
                  <a:pt x="4089625" y="1066800"/>
                </a:cubicBezTo>
                <a:cubicBezTo>
                  <a:pt x="4079722" y="1062556"/>
                  <a:pt x="4072368" y="1053689"/>
                  <a:pt x="4062731" y="1048870"/>
                </a:cubicBezTo>
                <a:cubicBezTo>
                  <a:pt x="3988532" y="1011769"/>
                  <a:pt x="4093258" y="1077944"/>
                  <a:pt x="3999978" y="1021976"/>
                </a:cubicBezTo>
                <a:cubicBezTo>
                  <a:pt x="3981500" y="1010889"/>
                  <a:pt x="3965464" y="995754"/>
                  <a:pt x="3946190" y="986117"/>
                </a:cubicBezTo>
                <a:cubicBezTo>
                  <a:pt x="3934237" y="980141"/>
                  <a:pt x="3922013" y="974678"/>
                  <a:pt x="3910331" y="968188"/>
                </a:cubicBezTo>
                <a:cubicBezTo>
                  <a:pt x="3865078" y="943048"/>
                  <a:pt x="3872632" y="942468"/>
                  <a:pt x="3829648" y="923364"/>
                </a:cubicBezTo>
                <a:cubicBezTo>
                  <a:pt x="3712564" y="871326"/>
                  <a:pt x="3859350" y="943640"/>
                  <a:pt x="3740001" y="878541"/>
                </a:cubicBezTo>
                <a:cubicBezTo>
                  <a:pt x="3723401" y="869487"/>
                  <a:pt x="3677724" y="850588"/>
                  <a:pt x="3659319" y="833717"/>
                </a:cubicBezTo>
                <a:cubicBezTo>
                  <a:pt x="3631282" y="808016"/>
                  <a:pt x="3605531" y="779929"/>
                  <a:pt x="3578637" y="753035"/>
                </a:cubicBezTo>
                <a:lnTo>
                  <a:pt x="3551743" y="726141"/>
                </a:lnTo>
                <a:cubicBezTo>
                  <a:pt x="3545766" y="720164"/>
                  <a:pt x="3540306" y="713622"/>
                  <a:pt x="3533813" y="708211"/>
                </a:cubicBezTo>
                <a:cubicBezTo>
                  <a:pt x="3515884" y="693270"/>
                  <a:pt x="3497229" y="679158"/>
                  <a:pt x="3480025" y="663388"/>
                </a:cubicBezTo>
                <a:cubicBezTo>
                  <a:pt x="3479985" y="663351"/>
                  <a:pt x="3412809" y="596171"/>
                  <a:pt x="3399343" y="582705"/>
                </a:cubicBezTo>
                <a:lnTo>
                  <a:pt x="3363484" y="546847"/>
                </a:lnTo>
                <a:cubicBezTo>
                  <a:pt x="3354519" y="537882"/>
                  <a:pt x="3346490" y="527873"/>
                  <a:pt x="3336590" y="519953"/>
                </a:cubicBezTo>
                <a:cubicBezTo>
                  <a:pt x="3321649" y="508000"/>
                  <a:pt x="3305871" y="497023"/>
                  <a:pt x="3291766" y="484094"/>
                </a:cubicBezTo>
                <a:cubicBezTo>
                  <a:pt x="3269959" y="464105"/>
                  <a:pt x="3249931" y="442259"/>
                  <a:pt x="3229013" y="421341"/>
                </a:cubicBezTo>
                <a:cubicBezTo>
                  <a:pt x="3214072" y="406400"/>
                  <a:pt x="3200544" y="389897"/>
                  <a:pt x="3184190" y="376517"/>
                </a:cubicBezTo>
                <a:cubicBezTo>
                  <a:pt x="3007795" y="232195"/>
                  <a:pt x="3164259" y="357088"/>
                  <a:pt x="2986966" y="224117"/>
                </a:cubicBezTo>
                <a:cubicBezTo>
                  <a:pt x="2984698" y="222416"/>
                  <a:pt x="2915110" y="165777"/>
                  <a:pt x="2906284" y="161364"/>
                </a:cubicBezTo>
                <a:lnTo>
                  <a:pt x="2870425" y="143435"/>
                </a:lnTo>
                <a:cubicBezTo>
                  <a:pt x="2829884" y="102892"/>
                  <a:pt x="2880554" y="151874"/>
                  <a:pt x="2816637" y="98611"/>
                </a:cubicBezTo>
                <a:cubicBezTo>
                  <a:pt x="2810144" y="93200"/>
                  <a:pt x="2805955" y="85030"/>
                  <a:pt x="2798707" y="80682"/>
                </a:cubicBezTo>
                <a:cubicBezTo>
                  <a:pt x="2790604" y="75820"/>
                  <a:pt x="2780416" y="75627"/>
                  <a:pt x="2771813" y="71717"/>
                </a:cubicBezTo>
                <a:cubicBezTo>
                  <a:pt x="2747481" y="60657"/>
                  <a:pt x="2724002" y="47811"/>
                  <a:pt x="2700096" y="35858"/>
                </a:cubicBezTo>
                <a:cubicBezTo>
                  <a:pt x="2680662" y="26141"/>
                  <a:pt x="2659324" y="13360"/>
                  <a:pt x="2637343" y="8964"/>
                </a:cubicBezTo>
                <a:cubicBezTo>
                  <a:pt x="2616623" y="4820"/>
                  <a:pt x="2595508" y="2988"/>
                  <a:pt x="2574590" y="0"/>
                </a:cubicBezTo>
                <a:cubicBezTo>
                  <a:pt x="2514825" y="2988"/>
                  <a:pt x="2454929" y="3995"/>
                  <a:pt x="2395296" y="8964"/>
                </a:cubicBezTo>
                <a:cubicBezTo>
                  <a:pt x="2383018" y="9987"/>
                  <a:pt x="2371615" y="16055"/>
                  <a:pt x="2359437" y="17929"/>
                </a:cubicBezTo>
                <a:cubicBezTo>
                  <a:pt x="2332692" y="22044"/>
                  <a:pt x="2305605" y="23538"/>
                  <a:pt x="2278754" y="26894"/>
                </a:cubicBezTo>
                <a:cubicBezTo>
                  <a:pt x="2232590" y="32664"/>
                  <a:pt x="2207095" y="37342"/>
                  <a:pt x="2162213" y="44823"/>
                </a:cubicBezTo>
                <a:cubicBezTo>
                  <a:pt x="2114579" y="76580"/>
                  <a:pt x="2155421" y="54666"/>
                  <a:pt x="2081531" y="71717"/>
                </a:cubicBezTo>
                <a:cubicBezTo>
                  <a:pt x="2060333" y="76609"/>
                  <a:pt x="2040494" y="88344"/>
                  <a:pt x="2018778" y="89647"/>
                </a:cubicBezTo>
                <a:cubicBezTo>
                  <a:pt x="1890480" y="97345"/>
                  <a:pt x="1761790" y="95623"/>
                  <a:pt x="1633296" y="98611"/>
                </a:cubicBezTo>
                <a:cubicBezTo>
                  <a:pt x="1519334" y="117605"/>
                  <a:pt x="1644232" y="98415"/>
                  <a:pt x="1462966" y="116541"/>
                </a:cubicBezTo>
                <a:cubicBezTo>
                  <a:pt x="1441941" y="118643"/>
                  <a:pt x="1421180" y="122884"/>
                  <a:pt x="1400213" y="125505"/>
                </a:cubicBezTo>
                <a:cubicBezTo>
                  <a:pt x="1373362" y="128861"/>
                  <a:pt x="1346425" y="131482"/>
                  <a:pt x="1319531" y="134470"/>
                </a:cubicBezTo>
                <a:cubicBezTo>
                  <a:pt x="1295625" y="140447"/>
                  <a:pt x="1271976" y="147568"/>
                  <a:pt x="1247813" y="152400"/>
                </a:cubicBezTo>
                <a:cubicBezTo>
                  <a:pt x="1232872" y="155388"/>
                  <a:pt x="1217690" y="157355"/>
                  <a:pt x="1202990" y="161364"/>
                </a:cubicBezTo>
                <a:cubicBezTo>
                  <a:pt x="1184756" y="166337"/>
                  <a:pt x="1167536" y="174710"/>
                  <a:pt x="1149201" y="179294"/>
                </a:cubicBezTo>
                <a:cubicBezTo>
                  <a:pt x="1104304" y="190518"/>
                  <a:pt x="1103884" y="190199"/>
                  <a:pt x="1050590" y="206188"/>
                </a:cubicBezTo>
                <a:cubicBezTo>
                  <a:pt x="1041539" y="208903"/>
                  <a:pt x="1032863" y="212861"/>
                  <a:pt x="1023696" y="215153"/>
                </a:cubicBezTo>
                <a:cubicBezTo>
                  <a:pt x="972489" y="227954"/>
                  <a:pt x="989046" y="219272"/>
                  <a:pt x="943013" y="233082"/>
                </a:cubicBezTo>
                <a:cubicBezTo>
                  <a:pt x="924911" y="238513"/>
                  <a:pt x="907154" y="245035"/>
                  <a:pt x="889225" y="251011"/>
                </a:cubicBezTo>
                <a:cubicBezTo>
                  <a:pt x="880260" y="253999"/>
                  <a:pt x="870194" y="254734"/>
                  <a:pt x="862331" y="259976"/>
                </a:cubicBezTo>
                <a:cubicBezTo>
                  <a:pt x="853366" y="265952"/>
                  <a:pt x="845340" y="273661"/>
                  <a:pt x="835437" y="277905"/>
                </a:cubicBezTo>
                <a:cubicBezTo>
                  <a:pt x="824112" y="282758"/>
                  <a:pt x="811114" y="282544"/>
                  <a:pt x="799578" y="286870"/>
                </a:cubicBezTo>
                <a:cubicBezTo>
                  <a:pt x="787065" y="291563"/>
                  <a:pt x="776002" y="299536"/>
                  <a:pt x="763719" y="304800"/>
                </a:cubicBezTo>
                <a:cubicBezTo>
                  <a:pt x="755034" y="308522"/>
                  <a:pt x="745790" y="310776"/>
                  <a:pt x="736825" y="313764"/>
                </a:cubicBezTo>
                <a:cubicBezTo>
                  <a:pt x="718896" y="325717"/>
                  <a:pt x="698274" y="334386"/>
                  <a:pt x="683037" y="349623"/>
                </a:cubicBezTo>
                <a:cubicBezTo>
                  <a:pt x="677060" y="355600"/>
                  <a:pt x="671707" y="362273"/>
                  <a:pt x="665107" y="367553"/>
                </a:cubicBezTo>
                <a:cubicBezTo>
                  <a:pt x="609330" y="412175"/>
                  <a:pt x="669647" y="353494"/>
                  <a:pt x="602354" y="412376"/>
                </a:cubicBezTo>
                <a:cubicBezTo>
                  <a:pt x="589633" y="423507"/>
                  <a:pt x="579217" y="437104"/>
                  <a:pt x="566496" y="448235"/>
                </a:cubicBezTo>
                <a:cubicBezTo>
                  <a:pt x="555252" y="458074"/>
                  <a:pt x="541804" y="465203"/>
                  <a:pt x="530637" y="475129"/>
                </a:cubicBezTo>
                <a:cubicBezTo>
                  <a:pt x="514844" y="489167"/>
                  <a:pt x="502717" y="507275"/>
                  <a:pt x="485813" y="519953"/>
                </a:cubicBezTo>
                <a:cubicBezTo>
                  <a:pt x="429669" y="562060"/>
                  <a:pt x="460519" y="536282"/>
                  <a:pt x="396166" y="600635"/>
                </a:cubicBezTo>
                <a:cubicBezTo>
                  <a:pt x="381225" y="615576"/>
                  <a:pt x="364021" y="628554"/>
                  <a:pt x="351343" y="645458"/>
                </a:cubicBezTo>
                <a:cubicBezTo>
                  <a:pt x="329696" y="674320"/>
                  <a:pt x="317601" y="693967"/>
                  <a:pt x="288590" y="717176"/>
                </a:cubicBezTo>
                <a:cubicBezTo>
                  <a:pt x="271763" y="730637"/>
                  <a:pt x="234801" y="753035"/>
                  <a:pt x="234801" y="753035"/>
                </a:cubicBezTo>
                <a:cubicBezTo>
                  <a:pt x="222848" y="770964"/>
                  <a:pt x="214180" y="791586"/>
                  <a:pt x="198943" y="806823"/>
                </a:cubicBezTo>
                <a:cubicBezTo>
                  <a:pt x="182266" y="823500"/>
                  <a:pt x="174393" y="829028"/>
                  <a:pt x="163084" y="851647"/>
                </a:cubicBezTo>
                <a:cubicBezTo>
                  <a:pt x="158858" y="860099"/>
                  <a:pt x="158807" y="870336"/>
                  <a:pt x="154119" y="878541"/>
                </a:cubicBezTo>
                <a:cubicBezTo>
                  <a:pt x="146706" y="891514"/>
                  <a:pt x="135513" y="901968"/>
                  <a:pt x="127225" y="914400"/>
                </a:cubicBezTo>
                <a:cubicBezTo>
                  <a:pt x="58063" y="1018144"/>
                  <a:pt x="140439" y="905745"/>
                  <a:pt x="73437" y="995082"/>
                </a:cubicBezTo>
                <a:cubicBezTo>
                  <a:pt x="55741" y="1065864"/>
                  <a:pt x="-49735" y="1059951"/>
                  <a:pt x="28613" y="1075764"/>
                </a:cubicBezTo>
                <a:cubicBezTo>
                  <a:pt x="106961" y="1091577"/>
                  <a:pt x="430966" y="1033213"/>
                  <a:pt x="543523" y="1089958"/>
                </a:cubicBezTo>
                <a:cubicBezTo>
                  <a:pt x="656080" y="1146703"/>
                  <a:pt x="665761" y="1219884"/>
                  <a:pt x="703954" y="1416236"/>
                </a:cubicBezTo>
                <a:cubicBezTo>
                  <a:pt x="742148" y="1612588"/>
                  <a:pt x="749276" y="2121615"/>
                  <a:pt x="772684" y="2268070"/>
                </a:cubicBezTo>
                <a:cubicBezTo>
                  <a:pt x="796092" y="2414525"/>
                  <a:pt x="819001" y="2287493"/>
                  <a:pt x="844401" y="2294964"/>
                </a:cubicBezTo>
                <a:cubicBezTo>
                  <a:pt x="869801" y="2302435"/>
                  <a:pt x="879114" y="2295655"/>
                  <a:pt x="925084" y="2312894"/>
                </a:cubicBezTo>
                <a:cubicBezTo>
                  <a:pt x="1033278" y="2353467"/>
                  <a:pt x="845044" y="2307644"/>
                  <a:pt x="1050590" y="2348753"/>
                </a:cubicBezTo>
                <a:lnTo>
                  <a:pt x="1095413" y="2357717"/>
                </a:lnTo>
                <a:lnTo>
                  <a:pt x="1140237" y="2366682"/>
                </a:lnTo>
                <a:cubicBezTo>
                  <a:pt x="1223907" y="2363694"/>
                  <a:pt x="1307868" y="2365297"/>
                  <a:pt x="1391248" y="2357717"/>
                </a:cubicBezTo>
                <a:cubicBezTo>
                  <a:pt x="1407274" y="2356260"/>
                  <a:pt x="1420658" y="2344412"/>
                  <a:pt x="1436072" y="2339788"/>
                </a:cubicBezTo>
                <a:cubicBezTo>
                  <a:pt x="1450667" y="2335410"/>
                  <a:pt x="1466022" y="2334129"/>
                  <a:pt x="1480896" y="2330823"/>
                </a:cubicBezTo>
                <a:cubicBezTo>
                  <a:pt x="1492923" y="2328150"/>
                  <a:pt x="1504801" y="2324846"/>
                  <a:pt x="1516754" y="2321858"/>
                </a:cubicBezTo>
                <a:cubicBezTo>
                  <a:pt x="1597563" y="2273374"/>
                  <a:pt x="1523187" y="2312733"/>
                  <a:pt x="1624331" y="2277035"/>
                </a:cubicBezTo>
                <a:cubicBezTo>
                  <a:pt x="1654680" y="2266323"/>
                  <a:pt x="1685191" y="2255569"/>
                  <a:pt x="1713978" y="2241176"/>
                </a:cubicBezTo>
                <a:cubicBezTo>
                  <a:pt x="1758289" y="2219021"/>
                  <a:pt x="1737159" y="2227473"/>
                  <a:pt x="1776731" y="2214282"/>
                </a:cubicBezTo>
                <a:cubicBezTo>
                  <a:pt x="1870445" y="2143997"/>
                  <a:pt x="1757042" y="2225708"/>
                  <a:pt x="1848448" y="2169458"/>
                </a:cubicBezTo>
                <a:cubicBezTo>
                  <a:pt x="1875976" y="2152518"/>
                  <a:pt x="1929131" y="2115670"/>
                  <a:pt x="1929131" y="2115670"/>
                </a:cubicBezTo>
                <a:cubicBezTo>
                  <a:pt x="1935107" y="2106705"/>
                  <a:pt x="1939442" y="2096394"/>
                  <a:pt x="1947060" y="2088776"/>
                </a:cubicBezTo>
                <a:cubicBezTo>
                  <a:pt x="2027149" y="2008687"/>
                  <a:pt x="1960844" y="2084646"/>
                  <a:pt x="2018778" y="2034988"/>
                </a:cubicBezTo>
                <a:cubicBezTo>
                  <a:pt x="2031613" y="2023987"/>
                  <a:pt x="2040572" y="2008506"/>
                  <a:pt x="2054637" y="1999129"/>
                </a:cubicBezTo>
                <a:cubicBezTo>
                  <a:pt x="2063602" y="1993153"/>
                  <a:pt x="2073118" y="1987931"/>
                  <a:pt x="2081531" y="1981200"/>
                </a:cubicBezTo>
                <a:cubicBezTo>
                  <a:pt x="2088131" y="1975920"/>
                  <a:pt x="2092582" y="1968183"/>
                  <a:pt x="2099460" y="1963270"/>
                </a:cubicBezTo>
                <a:cubicBezTo>
                  <a:pt x="2107517" y="1957515"/>
                  <a:pt x="2158233" y="1929543"/>
                  <a:pt x="2171178" y="1918447"/>
                </a:cubicBezTo>
                <a:cubicBezTo>
                  <a:pt x="2184013" y="1907446"/>
                  <a:pt x="2207037" y="1882588"/>
                  <a:pt x="2207037" y="1882588"/>
                </a:cubicBezTo>
                <a:cubicBezTo>
                  <a:pt x="2213013" y="1870635"/>
                  <a:pt x="2216411" y="1856995"/>
                  <a:pt x="2224966" y="1846729"/>
                </a:cubicBezTo>
                <a:cubicBezTo>
                  <a:pt x="2241357" y="1827060"/>
                  <a:pt x="2287647" y="1816871"/>
                  <a:pt x="2305648" y="1810870"/>
                </a:cubicBezTo>
                <a:cubicBezTo>
                  <a:pt x="2314613" y="1807882"/>
                  <a:pt x="2323375" y="1804197"/>
                  <a:pt x="2332543" y="1801905"/>
                </a:cubicBezTo>
                <a:lnTo>
                  <a:pt x="2368401" y="1792941"/>
                </a:lnTo>
              </a:path>
            </a:pathLst>
          </a:custGeom>
          <a:noFill/>
          <a:ln>
            <a:solidFill>
              <a:srgbClr val="FFC00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5" name="TextBox 54">
            <a:extLst>
              <a:ext uri="{FF2B5EF4-FFF2-40B4-BE49-F238E27FC236}">
                <a16:creationId xmlns:a16="http://schemas.microsoft.com/office/drawing/2014/main" id="{E17DE363-14E4-48F9-677A-CA90ED756D58}"/>
              </a:ext>
            </a:extLst>
          </p:cNvPr>
          <p:cNvSpPr txBox="1"/>
          <p:nvPr/>
        </p:nvSpPr>
        <p:spPr>
          <a:xfrm>
            <a:off x="6786333" y="6072919"/>
            <a:ext cx="1910836" cy="738664"/>
          </a:xfrm>
          <a:prstGeom prst="rect">
            <a:avLst/>
          </a:prstGeom>
          <a:noFill/>
        </p:spPr>
        <p:txBody>
          <a:bodyPr wrap="square" rtlCol="0">
            <a:spAutoFit/>
          </a:bodyPr>
          <a:lstStyle/>
          <a:p>
            <a:r>
              <a:rPr lang="en-NL" sz="1400" dirty="0"/>
              <a:t>imagine subclass B overrides m(), but not k()</a:t>
            </a:r>
          </a:p>
        </p:txBody>
      </p:sp>
      <p:sp>
        <p:nvSpPr>
          <p:cNvPr id="56" name="TextBox 55">
            <a:extLst>
              <a:ext uri="{FF2B5EF4-FFF2-40B4-BE49-F238E27FC236}">
                <a16:creationId xmlns:a16="http://schemas.microsoft.com/office/drawing/2014/main" id="{B8679004-9E3C-CAAE-9638-65056A1524DE}"/>
              </a:ext>
            </a:extLst>
          </p:cNvPr>
          <p:cNvSpPr txBox="1"/>
          <p:nvPr/>
        </p:nvSpPr>
        <p:spPr>
          <a:xfrm>
            <a:off x="360745" y="1558400"/>
            <a:ext cx="4660315" cy="369332"/>
          </a:xfrm>
          <a:prstGeom prst="rect">
            <a:avLst/>
          </a:prstGeom>
          <a:noFill/>
        </p:spPr>
        <p:txBody>
          <a:bodyPr wrap="none" rtlCol="0">
            <a:spAutoFit/>
          </a:bodyPr>
          <a:lstStyle/>
          <a:p>
            <a:r>
              <a:rPr lang="en-NL" dirty="0"/>
              <a:t>setup-1 : direct coupling between E and A/B</a:t>
            </a:r>
          </a:p>
        </p:txBody>
      </p:sp>
      <p:sp>
        <p:nvSpPr>
          <p:cNvPr id="57" name="TextBox 56">
            <a:extLst>
              <a:ext uri="{FF2B5EF4-FFF2-40B4-BE49-F238E27FC236}">
                <a16:creationId xmlns:a16="http://schemas.microsoft.com/office/drawing/2014/main" id="{E497A6CA-07A7-790B-BEE0-F9BC31FD0C19}"/>
              </a:ext>
            </a:extLst>
          </p:cNvPr>
          <p:cNvSpPr txBox="1"/>
          <p:nvPr/>
        </p:nvSpPr>
        <p:spPr>
          <a:xfrm>
            <a:off x="395536" y="3758003"/>
            <a:ext cx="7417480" cy="369332"/>
          </a:xfrm>
          <a:prstGeom prst="rect">
            <a:avLst/>
          </a:prstGeom>
          <a:noFill/>
        </p:spPr>
        <p:txBody>
          <a:bodyPr wrap="none" rtlCol="0">
            <a:spAutoFit/>
          </a:bodyPr>
          <a:lstStyle/>
          <a:p>
            <a:r>
              <a:rPr lang="en-NL" dirty="0"/>
              <a:t>setup-2 : indirect coupling between methods of A/B in the context of E2</a:t>
            </a:r>
          </a:p>
        </p:txBody>
      </p:sp>
      <p:sp>
        <p:nvSpPr>
          <p:cNvPr id="58" name="TextBox 57">
            <a:extLst>
              <a:ext uri="{FF2B5EF4-FFF2-40B4-BE49-F238E27FC236}">
                <a16:creationId xmlns:a16="http://schemas.microsoft.com/office/drawing/2014/main" id="{E8281053-588F-47CA-AEAA-26CCFC24D32F}"/>
              </a:ext>
            </a:extLst>
          </p:cNvPr>
          <p:cNvSpPr txBox="1"/>
          <p:nvPr/>
        </p:nvSpPr>
        <p:spPr>
          <a:xfrm>
            <a:off x="1286919" y="5818242"/>
            <a:ext cx="1755427" cy="523220"/>
          </a:xfrm>
          <a:prstGeom prst="rect">
            <a:avLst/>
          </a:prstGeom>
          <a:noFill/>
        </p:spPr>
        <p:txBody>
          <a:bodyPr wrap="square" rtlCol="0">
            <a:spAutoFit/>
          </a:bodyPr>
          <a:lstStyle/>
          <a:p>
            <a:pPr algn="r"/>
            <a:r>
              <a:rPr lang="en-NL" sz="1400" dirty="0"/>
              <a:t>yellow exposes “yoyo”</a:t>
            </a:r>
          </a:p>
        </p:txBody>
      </p:sp>
    </p:spTree>
    <p:extLst>
      <p:ext uri="{BB962C8B-B14F-4D97-AF65-F5344CB8AC3E}">
        <p14:creationId xmlns:p14="http://schemas.microsoft.com/office/powerpoint/2010/main" val="3177077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sz="4000" dirty="0"/>
              <a:t>Terminology</a:t>
            </a:r>
          </a:p>
        </p:txBody>
      </p:sp>
      <p:sp>
        <p:nvSpPr>
          <p:cNvPr id="33795" name="Content Placeholder 2"/>
          <p:cNvSpPr>
            <a:spLocks noGrp="1"/>
          </p:cNvSpPr>
          <p:nvPr>
            <p:ph idx="1"/>
          </p:nvPr>
        </p:nvSpPr>
        <p:spPr>
          <a:xfrm>
            <a:off x="457200" y="3320394"/>
            <a:ext cx="8229600" cy="2697163"/>
          </a:xfrm>
        </p:spPr>
        <p:txBody>
          <a:bodyPr/>
          <a:lstStyle/>
          <a:p>
            <a:r>
              <a:rPr lang="en-US" sz="2400" i="1" dirty="0">
                <a:sym typeface="Wingdings" pitchFamily="2" charset="2"/>
              </a:rPr>
              <a:t>f</a:t>
            </a:r>
            <a:r>
              <a:rPr lang="en-US" sz="2400" dirty="0">
                <a:sym typeface="Wingdings" pitchFamily="2" charset="2"/>
              </a:rPr>
              <a:t>  itself  is here called the </a:t>
            </a:r>
            <a:r>
              <a:rPr lang="en-US" sz="2400" i="1" dirty="0">
                <a:solidFill>
                  <a:srgbClr val="FF0000"/>
                </a:solidFill>
                <a:sym typeface="Wingdings" pitchFamily="2" charset="2"/>
              </a:rPr>
              <a:t>coupling method</a:t>
            </a:r>
            <a:r>
              <a:rPr lang="en-US" sz="2400" i="1" dirty="0">
                <a:sym typeface="Wingdings" pitchFamily="2" charset="2"/>
              </a:rPr>
              <a:t>.</a:t>
            </a:r>
            <a:endParaRPr lang="en-US" sz="2400" dirty="0"/>
          </a:p>
          <a:p>
            <a:r>
              <a:rPr lang="en-US" sz="2400" dirty="0"/>
              <a:t>The field </a:t>
            </a:r>
            <a:r>
              <a:rPr lang="en-US" sz="2400" dirty="0" err="1"/>
              <a:t>o.x</a:t>
            </a:r>
            <a:r>
              <a:rPr lang="en-US" sz="2400" dirty="0"/>
              <a:t> is “indirectly” defined (</a:t>
            </a:r>
            <a:r>
              <a:rPr lang="en-US" sz="2400" dirty="0" err="1">
                <a:solidFill>
                  <a:srgbClr val="FF0000"/>
                </a:solidFill>
              </a:rPr>
              <a:t>i</a:t>
            </a:r>
            <a:r>
              <a:rPr lang="en-US" sz="2400" dirty="0">
                <a:solidFill>
                  <a:srgbClr val="FF0000"/>
                </a:solidFill>
              </a:rPr>
              <a:t>-def</a:t>
            </a:r>
            <a:r>
              <a:rPr lang="en-US" sz="2400" dirty="0"/>
              <a:t>) if the field is updated in some </a:t>
            </a:r>
            <a:r>
              <a:rPr lang="en-US" sz="2400" dirty="0" err="1"/>
              <a:t>o.method</a:t>
            </a:r>
            <a:r>
              <a:rPr lang="en-US" sz="2400" dirty="0"/>
              <a:t>() called by f.</a:t>
            </a:r>
            <a:br>
              <a:rPr lang="en-US" sz="2400" dirty="0"/>
            </a:br>
            <a:r>
              <a:rPr lang="en-US" sz="2400" dirty="0"/>
              <a:t>Analogously, we define </a:t>
            </a:r>
            <a:r>
              <a:rPr lang="en-US" sz="2400" dirty="0" err="1">
                <a:solidFill>
                  <a:srgbClr val="FF0000"/>
                </a:solidFill>
              </a:rPr>
              <a:t>i</a:t>
            </a:r>
            <a:r>
              <a:rPr lang="en-US" sz="2400" dirty="0">
                <a:solidFill>
                  <a:srgbClr val="FF0000"/>
                </a:solidFill>
              </a:rPr>
              <a:t>-use</a:t>
            </a:r>
            <a:r>
              <a:rPr lang="en-US" sz="2400" dirty="0"/>
              <a:t>. </a:t>
            </a:r>
          </a:p>
          <a:p>
            <a:r>
              <a:rPr lang="en-US" sz="2400" dirty="0"/>
              <a:t>Focus on coupling </a:t>
            </a:r>
            <a:r>
              <a:rPr lang="en-US" sz="2400" b="1" dirty="0"/>
              <a:t>within</a:t>
            </a:r>
            <a:r>
              <a:rPr lang="en-US" sz="2400" dirty="0"/>
              <a:t> </a:t>
            </a:r>
            <a:r>
              <a:rPr lang="en-US" sz="2400" i="1" dirty="0"/>
              <a:t>f</a:t>
            </a:r>
            <a:r>
              <a:rPr lang="en-US" sz="2400" dirty="0"/>
              <a:t> due to fields </a:t>
            </a:r>
            <a:r>
              <a:rPr lang="en-US" sz="2400" dirty="0" err="1"/>
              <a:t>o.</a:t>
            </a:r>
            <a:r>
              <a:rPr lang="en-US" sz="2400" i="1" dirty="0" err="1"/>
              <a:t>x</a:t>
            </a:r>
            <a:r>
              <a:rPr lang="en-US" sz="2400" i="1" dirty="0"/>
              <a:t> </a:t>
            </a:r>
            <a:r>
              <a:rPr lang="en-US" sz="2400" dirty="0"/>
              <a:t>indirectly defined by </a:t>
            </a:r>
            <a:r>
              <a:rPr lang="en-US" sz="2400" dirty="0" err="1"/>
              <a:t>o.</a:t>
            </a:r>
            <a:r>
              <a:rPr lang="en-US" sz="2400" i="1" dirty="0" err="1"/>
              <a:t>m</a:t>
            </a:r>
            <a:r>
              <a:rPr lang="en-US" sz="2400" dirty="0"/>
              <a:t>(), and used by </a:t>
            </a:r>
            <a:r>
              <a:rPr lang="en-US" sz="2400" dirty="0" err="1"/>
              <a:t>o.</a:t>
            </a:r>
            <a:r>
              <a:rPr lang="en-US" sz="2400" i="1" dirty="0" err="1"/>
              <a:t>k</a:t>
            </a:r>
            <a:r>
              <a:rPr lang="en-US" sz="2400" dirty="0"/>
              <a:t>(); </a:t>
            </a:r>
            <a:r>
              <a:rPr lang="en-US" sz="2400" dirty="0" err="1"/>
              <a:t>o.m</a:t>
            </a:r>
            <a:r>
              <a:rPr lang="en-US" sz="2400" dirty="0"/>
              <a:t>() is then called </a:t>
            </a:r>
            <a:r>
              <a:rPr lang="en-US" sz="2400" i="1" dirty="0">
                <a:solidFill>
                  <a:srgbClr val="FF0000"/>
                </a:solidFill>
              </a:rPr>
              <a:t>antecedent</a:t>
            </a:r>
            <a:r>
              <a:rPr lang="en-US" sz="2400" dirty="0"/>
              <a:t> of this coupling and </a:t>
            </a:r>
            <a:r>
              <a:rPr lang="en-US" sz="2400" dirty="0" err="1"/>
              <a:t>o.k</a:t>
            </a:r>
            <a:r>
              <a:rPr lang="en-US" sz="2400" dirty="0"/>
              <a:t>() the</a:t>
            </a:r>
            <a:r>
              <a:rPr lang="en-US" sz="2400" dirty="0">
                <a:sym typeface="Wingdings" pitchFamily="2" charset="2"/>
              </a:rPr>
              <a:t> </a:t>
            </a:r>
            <a:r>
              <a:rPr lang="en-US" sz="2400" i="1" dirty="0">
                <a:solidFill>
                  <a:srgbClr val="FF0000"/>
                </a:solidFill>
                <a:sym typeface="Wingdings" pitchFamily="2" charset="2"/>
              </a:rPr>
              <a:t>consequent</a:t>
            </a:r>
            <a:r>
              <a:rPr lang="en-US" sz="2400" dirty="0">
                <a:sym typeface="Wingdings" pitchFamily="2" charset="2"/>
              </a:rPr>
              <a:t>. </a:t>
            </a:r>
          </a:p>
        </p:txBody>
      </p:sp>
      <p:sp>
        <p:nvSpPr>
          <p:cNvPr id="4" name="Slide Number Placeholder 3"/>
          <p:cNvSpPr>
            <a:spLocks noGrp="1"/>
          </p:cNvSpPr>
          <p:nvPr>
            <p:ph type="sldNum" sz="quarter" idx="12"/>
          </p:nvPr>
        </p:nvSpPr>
        <p:spPr/>
        <p:txBody>
          <a:bodyPr/>
          <a:lstStyle/>
          <a:p>
            <a:pPr>
              <a:defRPr/>
            </a:pPr>
            <a:fld id="{A0D741F4-878F-4035-8C97-BFF5C4968CE8}" type="slidenum">
              <a:rPr lang="en-US" smtClean="0"/>
              <a:pPr>
                <a:defRPr/>
              </a:pPr>
              <a:t>34</a:t>
            </a:fld>
            <a:endParaRPr lang="en-US"/>
          </a:p>
        </p:txBody>
      </p:sp>
      <p:sp>
        <p:nvSpPr>
          <p:cNvPr id="7" name="TextBox 6"/>
          <p:cNvSpPr txBox="1"/>
          <p:nvPr/>
        </p:nvSpPr>
        <p:spPr>
          <a:xfrm>
            <a:off x="2555776" y="1578908"/>
            <a:ext cx="4228978" cy="1569660"/>
          </a:xfrm>
          <a:prstGeom prst="rect">
            <a:avLst/>
          </a:prstGeom>
          <a:solidFill>
            <a:schemeClr val="accent5">
              <a:lumMod val="20000"/>
              <a:lumOff val="80000"/>
            </a:schemeClr>
          </a:solidFill>
          <a:ln>
            <a:solidFill>
              <a:schemeClr val="tx1"/>
            </a:solidFill>
          </a:ln>
        </p:spPr>
        <p:txBody>
          <a:bodyPr wrap="none">
            <a:spAutoFit/>
          </a:bodyPr>
          <a:lstStyle/>
          <a:p>
            <a:pPr>
              <a:defRPr/>
            </a:pPr>
            <a:r>
              <a:rPr lang="en-US" sz="2400" dirty="0">
                <a:latin typeface="+mn-lt"/>
              </a:rPr>
              <a:t>f(x) {   </a:t>
            </a:r>
            <a:r>
              <a:rPr lang="en-US" sz="2400" dirty="0">
                <a:solidFill>
                  <a:schemeClr val="accent2">
                    <a:lumMod val="60000"/>
                    <a:lumOff val="40000"/>
                  </a:schemeClr>
                </a:solidFill>
                <a:latin typeface="+mn-lt"/>
              </a:rPr>
              <a:t>(1)  </a:t>
            </a:r>
            <a:r>
              <a:rPr lang="en-US" sz="2400" dirty="0">
                <a:latin typeface="+mn-lt"/>
              </a:rPr>
              <a:t>A o = Factory(x ) ; </a:t>
            </a:r>
            <a:endParaRPr lang="en-US" sz="2400" dirty="0">
              <a:solidFill>
                <a:schemeClr val="accent1">
                  <a:lumMod val="60000"/>
                  <a:lumOff val="40000"/>
                </a:schemeClr>
              </a:solidFill>
              <a:latin typeface="+mn-lt"/>
            </a:endParaRPr>
          </a:p>
          <a:p>
            <a:pPr>
              <a:defRPr/>
            </a:pPr>
            <a:r>
              <a:rPr lang="en-US" sz="2400" dirty="0">
                <a:latin typeface="+mn-lt"/>
              </a:rPr>
              <a:t>          </a:t>
            </a:r>
            <a:r>
              <a:rPr lang="en-US" sz="2400" dirty="0">
                <a:solidFill>
                  <a:schemeClr val="accent2">
                    <a:lumMod val="60000"/>
                    <a:lumOff val="40000"/>
                  </a:schemeClr>
                </a:solidFill>
                <a:latin typeface="+mn-lt"/>
              </a:rPr>
              <a:t> (2)  </a:t>
            </a:r>
            <a:r>
              <a:rPr lang="en-US" sz="2400" dirty="0">
                <a:latin typeface="+mn-lt"/>
              </a:rPr>
              <a:t>y = </a:t>
            </a:r>
            <a:r>
              <a:rPr lang="en-US" sz="2400" dirty="0" err="1">
                <a:latin typeface="+mn-lt"/>
              </a:rPr>
              <a:t>o.m</a:t>
            </a:r>
            <a:r>
              <a:rPr lang="en-US" sz="2400" dirty="0">
                <a:latin typeface="+mn-lt"/>
              </a:rPr>
              <a:t>(..) ;                  </a:t>
            </a:r>
            <a:endParaRPr lang="en-US" sz="2400" dirty="0">
              <a:solidFill>
                <a:schemeClr val="accent1">
                  <a:lumMod val="60000"/>
                  <a:lumOff val="40000"/>
                </a:schemeClr>
              </a:solidFill>
              <a:latin typeface="+mn-lt"/>
            </a:endParaRPr>
          </a:p>
          <a:p>
            <a:pPr>
              <a:defRPr/>
            </a:pPr>
            <a:r>
              <a:rPr lang="en-US" sz="2400" dirty="0">
                <a:latin typeface="+mn-lt"/>
              </a:rPr>
              <a:t>           ...</a:t>
            </a:r>
          </a:p>
          <a:p>
            <a:pPr>
              <a:defRPr/>
            </a:pPr>
            <a:r>
              <a:rPr lang="en-US" sz="2400" dirty="0">
                <a:latin typeface="+mn-lt"/>
              </a:rPr>
              <a:t>           </a:t>
            </a:r>
            <a:r>
              <a:rPr lang="en-US" sz="2400" dirty="0">
                <a:solidFill>
                  <a:schemeClr val="accent2">
                    <a:lumMod val="60000"/>
                    <a:lumOff val="40000"/>
                  </a:schemeClr>
                </a:solidFill>
                <a:latin typeface="+mn-lt"/>
              </a:rPr>
              <a:t>(3)  </a:t>
            </a:r>
            <a:r>
              <a:rPr lang="en-US" sz="2400" dirty="0">
                <a:latin typeface="+mn-lt"/>
              </a:rPr>
              <a:t>z = </a:t>
            </a:r>
            <a:r>
              <a:rPr lang="en-US" sz="2400" dirty="0" err="1">
                <a:latin typeface="+mn-lt"/>
              </a:rPr>
              <a:t>o.k</a:t>
            </a:r>
            <a:r>
              <a:rPr lang="en-US" sz="2400" dirty="0">
                <a:latin typeface="+mn-lt"/>
              </a:rPr>
              <a:t>(..)  }</a:t>
            </a:r>
            <a:endParaRPr lang="en-US" sz="2400" dirty="0">
              <a:solidFill>
                <a:schemeClr val="accent1">
                  <a:lumMod val="60000"/>
                  <a:lumOff val="40000"/>
                </a:schemeClr>
              </a:solidFill>
              <a:latin typeface="+mn-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274638"/>
            <a:ext cx="8229600" cy="642269"/>
          </a:xfrm>
        </p:spPr>
        <p:txBody>
          <a:bodyPr/>
          <a:lstStyle/>
          <a:p>
            <a:r>
              <a:rPr lang="en-US" sz="4000" dirty="0"/>
              <a:t>Terminology</a:t>
            </a:r>
          </a:p>
        </p:txBody>
      </p:sp>
      <p:sp>
        <p:nvSpPr>
          <p:cNvPr id="34819" name="Content Placeholder 2"/>
          <p:cNvSpPr>
            <a:spLocks noGrp="1"/>
          </p:cNvSpPr>
          <p:nvPr>
            <p:ph idx="1"/>
          </p:nvPr>
        </p:nvSpPr>
        <p:spPr>
          <a:xfrm>
            <a:off x="454348" y="3046257"/>
            <a:ext cx="8229600" cy="2894836"/>
          </a:xfrm>
        </p:spPr>
        <p:txBody>
          <a:bodyPr/>
          <a:lstStyle/>
          <a:p>
            <a:pPr algn="just"/>
            <a:r>
              <a:rPr lang="en-US" sz="2400" i="1" dirty="0">
                <a:solidFill>
                  <a:srgbClr val="FF0000"/>
                </a:solidFill>
              </a:rPr>
              <a:t>Coupling sequence </a:t>
            </a:r>
            <a:r>
              <a:rPr lang="en-US" sz="2400" i="1" dirty="0"/>
              <a:t>c</a:t>
            </a:r>
            <a:r>
              <a:rPr lang="en-US" sz="2400" dirty="0"/>
              <a:t>: a pair of antecedent m, and consequence </a:t>
            </a:r>
            <a:r>
              <a:rPr lang="en-US" sz="2400" i="1" dirty="0"/>
              <a:t>n</a:t>
            </a:r>
            <a:r>
              <a:rPr lang="en-US" sz="2400" dirty="0"/>
              <a:t>, such that there is at least 1x </a:t>
            </a:r>
            <a:r>
              <a:rPr lang="en-US" sz="2400" i="1" dirty="0">
                <a:solidFill>
                  <a:srgbClr val="C00000"/>
                </a:solidFill>
              </a:rPr>
              <a:t>coupling path</a:t>
            </a:r>
            <a:r>
              <a:rPr lang="en-US" sz="2400" dirty="0"/>
              <a:t> between them: a </a:t>
            </a:r>
            <a:r>
              <a:rPr lang="en-US" sz="2400" b="1" dirty="0"/>
              <a:t>du-path</a:t>
            </a:r>
            <a:r>
              <a:rPr lang="en-US" sz="2400" dirty="0"/>
              <a:t> from a </a:t>
            </a:r>
            <a:r>
              <a:rPr lang="en-US" sz="2400" dirty="0" err="1"/>
              <a:t>i</a:t>
            </a:r>
            <a:r>
              <a:rPr lang="en-US" sz="2400" dirty="0"/>
              <a:t>-def to some </a:t>
            </a:r>
            <a:r>
              <a:rPr lang="en-US" sz="2400" dirty="0" err="1"/>
              <a:t>o.x</a:t>
            </a:r>
            <a:r>
              <a:rPr lang="en-US" sz="2400" dirty="0"/>
              <a:t> inside m(), through the purple part in f, to an </a:t>
            </a:r>
            <a:r>
              <a:rPr lang="en-US" sz="2400" dirty="0" err="1"/>
              <a:t>i</a:t>
            </a:r>
            <a:r>
              <a:rPr lang="en-US" sz="2400" dirty="0"/>
              <a:t>-use of </a:t>
            </a:r>
            <a:r>
              <a:rPr lang="en-US" sz="2400" dirty="0" err="1"/>
              <a:t>o.x</a:t>
            </a:r>
            <a:r>
              <a:rPr lang="en-US" sz="2400" dirty="0"/>
              <a:t> in k()</a:t>
            </a:r>
            <a:r>
              <a:rPr lang="en-US" sz="2400" i="1" dirty="0"/>
              <a:t>. </a:t>
            </a:r>
          </a:p>
          <a:p>
            <a:pPr lvl="1" algn="just"/>
            <a:r>
              <a:rPr lang="en-US" sz="2000" i="1" dirty="0"/>
              <a:t>o </a:t>
            </a:r>
            <a:r>
              <a:rPr lang="en-US" sz="2000" dirty="0"/>
              <a:t>is called the </a:t>
            </a:r>
            <a:r>
              <a:rPr lang="en-US" sz="2000" i="1" dirty="0">
                <a:solidFill>
                  <a:srgbClr val="FF0000"/>
                </a:solidFill>
              </a:rPr>
              <a:t>context var </a:t>
            </a:r>
            <a:r>
              <a:rPr lang="en-US" sz="2000" dirty="0"/>
              <a:t>of the coupling sequence </a:t>
            </a:r>
            <a:r>
              <a:rPr lang="en-US" sz="2000" i="1" dirty="0"/>
              <a:t>c</a:t>
            </a:r>
          </a:p>
          <a:p>
            <a:pPr lvl="1" algn="just"/>
            <a:r>
              <a:rPr lang="en-US" sz="2000" i="1" dirty="0" err="1"/>
              <a:t>o.x</a:t>
            </a:r>
            <a:r>
              <a:rPr lang="en-US" sz="2000" dirty="0"/>
              <a:t> is called a </a:t>
            </a:r>
            <a:r>
              <a:rPr lang="en-US" sz="2000" i="1" dirty="0">
                <a:solidFill>
                  <a:srgbClr val="FF0000"/>
                </a:solidFill>
              </a:rPr>
              <a:t>coupling var</a:t>
            </a:r>
            <a:r>
              <a:rPr lang="en-US" sz="2000" dirty="0">
                <a:solidFill>
                  <a:srgbClr val="FF0000"/>
                </a:solidFill>
              </a:rPr>
              <a:t> </a:t>
            </a:r>
            <a:r>
              <a:rPr lang="en-US" sz="2000" dirty="0"/>
              <a:t>(of </a:t>
            </a:r>
            <a:r>
              <a:rPr lang="en-US" sz="2000" i="1" dirty="0"/>
              <a:t>c</a:t>
            </a:r>
            <a:r>
              <a:rPr lang="en-US" sz="2000" dirty="0"/>
              <a:t>)</a:t>
            </a:r>
          </a:p>
          <a:p>
            <a:pPr algn="just"/>
            <a:r>
              <a:rPr lang="en-US" sz="2400" dirty="0"/>
              <a:t>There can be multiple such coupling sequences within the same f(x).</a:t>
            </a:r>
          </a:p>
          <a:p>
            <a:pPr algn="just"/>
            <a:endParaRPr lang="en-US" sz="2400" dirty="0"/>
          </a:p>
          <a:p>
            <a:pPr algn="just">
              <a:buFont typeface="Arial" charset="0"/>
              <a:buNone/>
            </a:pPr>
            <a:endParaRPr lang="en-US" sz="2400" dirty="0"/>
          </a:p>
        </p:txBody>
      </p:sp>
      <p:sp>
        <p:nvSpPr>
          <p:cNvPr id="4" name="Slide Number Placeholder 3"/>
          <p:cNvSpPr>
            <a:spLocks noGrp="1"/>
          </p:cNvSpPr>
          <p:nvPr>
            <p:ph type="sldNum" sz="quarter" idx="12"/>
          </p:nvPr>
        </p:nvSpPr>
        <p:spPr/>
        <p:txBody>
          <a:bodyPr/>
          <a:lstStyle/>
          <a:p>
            <a:pPr>
              <a:defRPr/>
            </a:pPr>
            <a:fld id="{3B1C7B3B-1398-4AD6-A01F-19A5BB4A5787}" type="slidenum">
              <a:rPr lang="en-US" smtClean="0"/>
              <a:pPr>
                <a:defRPr/>
              </a:pPr>
              <a:t>35</a:t>
            </a:fld>
            <a:endParaRPr lang="en-US"/>
          </a:p>
        </p:txBody>
      </p:sp>
      <p:sp>
        <p:nvSpPr>
          <p:cNvPr id="5" name="TextBox 4"/>
          <p:cNvSpPr txBox="1"/>
          <p:nvPr/>
        </p:nvSpPr>
        <p:spPr>
          <a:xfrm>
            <a:off x="2523201" y="1196752"/>
            <a:ext cx="4097597" cy="1569660"/>
          </a:xfrm>
          <a:prstGeom prst="rect">
            <a:avLst/>
          </a:prstGeom>
          <a:solidFill>
            <a:schemeClr val="accent5">
              <a:lumMod val="20000"/>
              <a:lumOff val="80000"/>
            </a:schemeClr>
          </a:solidFill>
          <a:ln>
            <a:solidFill>
              <a:schemeClr val="tx1"/>
            </a:solidFill>
          </a:ln>
        </p:spPr>
        <p:txBody>
          <a:bodyPr wrap="none">
            <a:spAutoFit/>
          </a:bodyPr>
          <a:lstStyle/>
          <a:p>
            <a:pPr>
              <a:defRPr/>
            </a:pPr>
            <a:r>
              <a:rPr lang="en-US" sz="2400" dirty="0">
                <a:latin typeface="+mn-lt"/>
              </a:rPr>
              <a:t>f(x) {  </a:t>
            </a:r>
            <a:r>
              <a:rPr lang="en-US" sz="2400" dirty="0">
                <a:solidFill>
                  <a:schemeClr val="accent2">
                    <a:lumMod val="60000"/>
                    <a:lumOff val="40000"/>
                  </a:schemeClr>
                </a:solidFill>
                <a:latin typeface="+mn-lt"/>
              </a:rPr>
              <a:t> (1)  </a:t>
            </a:r>
            <a:r>
              <a:rPr lang="en-US" sz="2400" dirty="0">
                <a:latin typeface="+mn-lt"/>
              </a:rPr>
              <a:t>A o = Factory(x ) ; </a:t>
            </a:r>
            <a:endParaRPr lang="en-US" sz="2400" dirty="0">
              <a:solidFill>
                <a:schemeClr val="accent1">
                  <a:lumMod val="60000"/>
                  <a:lumOff val="40000"/>
                </a:schemeClr>
              </a:solidFill>
              <a:latin typeface="+mn-lt"/>
            </a:endParaRPr>
          </a:p>
          <a:p>
            <a:pPr>
              <a:defRPr/>
            </a:pPr>
            <a:r>
              <a:rPr lang="en-US" sz="2400" dirty="0">
                <a:latin typeface="+mn-lt"/>
              </a:rPr>
              <a:t>          </a:t>
            </a:r>
            <a:r>
              <a:rPr lang="en-US" sz="2400" dirty="0">
                <a:solidFill>
                  <a:schemeClr val="accent2">
                    <a:lumMod val="60000"/>
                    <a:lumOff val="40000"/>
                  </a:schemeClr>
                </a:solidFill>
                <a:latin typeface="+mn-lt"/>
              </a:rPr>
              <a:t> (2)  </a:t>
            </a:r>
            <a:r>
              <a:rPr lang="en-US" sz="2400" dirty="0">
                <a:latin typeface="+mn-lt"/>
              </a:rPr>
              <a:t>y= </a:t>
            </a:r>
            <a:r>
              <a:rPr lang="en-US" sz="2400" dirty="0" err="1">
                <a:latin typeface="+mn-lt"/>
              </a:rPr>
              <a:t>o.m</a:t>
            </a:r>
            <a:r>
              <a:rPr lang="en-US" sz="2400" dirty="0">
                <a:latin typeface="+mn-lt"/>
              </a:rPr>
              <a:t>(..) ;                  </a:t>
            </a:r>
            <a:endParaRPr lang="en-US" sz="2400" dirty="0">
              <a:solidFill>
                <a:schemeClr val="accent1">
                  <a:lumMod val="60000"/>
                  <a:lumOff val="40000"/>
                </a:schemeClr>
              </a:solidFill>
              <a:latin typeface="+mn-lt"/>
            </a:endParaRPr>
          </a:p>
          <a:p>
            <a:pPr>
              <a:defRPr/>
            </a:pPr>
            <a:r>
              <a:rPr lang="en-US" sz="2400" dirty="0">
                <a:latin typeface="+mn-lt"/>
              </a:rPr>
              <a:t>          </a:t>
            </a:r>
            <a:r>
              <a:rPr lang="en-US" sz="2400" dirty="0">
                <a:highlight>
                  <a:srgbClr val="FF00FF"/>
                </a:highlight>
                <a:latin typeface="+mn-lt"/>
              </a:rPr>
              <a:t> ...</a:t>
            </a:r>
          </a:p>
          <a:p>
            <a:pPr>
              <a:defRPr/>
            </a:pPr>
            <a:r>
              <a:rPr lang="en-US" sz="2400" dirty="0">
                <a:latin typeface="+mn-lt"/>
              </a:rPr>
              <a:t>           </a:t>
            </a:r>
            <a:r>
              <a:rPr lang="en-US" sz="2400" dirty="0">
                <a:solidFill>
                  <a:schemeClr val="accent2">
                    <a:lumMod val="60000"/>
                    <a:lumOff val="40000"/>
                  </a:schemeClr>
                </a:solidFill>
                <a:latin typeface="+mn-lt"/>
              </a:rPr>
              <a:t>(3)  </a:t>
            </a:r>
            <a:r>
              <a:rPr lang="en-US" sz="2400" dirty="0">
                <a:latin typeface="+mn-lt"/>
              </a:rPr>
              <a:t>z = </a:t>
            </a:r>
            <a:r>
              <a:rPr lang="en-US" sz="2400" dirty="0" err="1">
                <a:latin typeface="+mn-lt"/>
              </a:rPr>
              <a:t>o.k</a:t>
            </a:r>
            <a:r>
              <a:rPr lang="en-US" sz="2400" dirty="0">
                <a:latin typeface="+mn-lt"/>
              </a:rPr>
              <a:t>(..)                     }</a:t>
            </a:r>
            <a:endParaRPr lang="en-US" sz="2400" dirty="0">
              <a:solidFill>
                <a:schemeClr val="accent1">
                  <a:lumMod val="60000"/>
                  <a:lumOff val="40000"/>
                </a:schemeClr>
              </a:solidFill>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274638"/>
            <a:ext cx="8229600" cy="817160"/>
          </a:xfrm>
        </p:spPr>
        <p:txBody>
          <a:bodyPr/>
          <a:lstStyle/>
          <a:p>
            <a:r>
              <a:rPr lang="en-US" sz="4000" dirty="0"/>
              <a:t>Coupling Sequence, example</a:t>
            </a:r>
          </a:p>
        </p:txBody>
      </p:sp>
      <p:sp>
        <p:nvSpPr>
          <p:cNvPr id="4" name="Slide Number Placeholder 3"/>
          <p:cNvSpPr>
            <a:spLocks noGrp="1"/>
          </p:cNvSpPr>
          <p:nvPr>
            <p:ph type="sldNum" sz="quarter" idx="12"/>
          </p:nvPr>
        </p:nvSpPr>
        <p:spPr/>
        <p:txBody>
          <a:bodyPr/>
          <a:lstStyle/>
          <a:p>
            <a:pPr>
              <a:defRPr/>
            </a:pPr>
            <a:fld id="{3B1C7B3B-1398-4AD6-A01F-19A5BB4A5787}" type="slidenum">
              <a:rPr lang="en-US" smtClean="0"/>
              <a:pPr>
                <a:defRPr/>
              </a:pPr>
              <a:t>36</a:t>
            </a:fld>
            <a:endParaRPr lang="en-US"/>
          </a:p>
        </p:txBody>
      </p:sp>
      <p:sp>
        <p:nvSpPr>
          <p:cNvPr id="5" name="TextBox 4"/>
          <p:cNvSpPr txBox="1"/>
          <p:nvPr/>
        </p:nvSpPr>
        <p:spPr>
          <a:xfrm>
            <a:off x="559714" y="1556792"/>
            <a:ext cx="3816424" cy="2308324"/>
          </a:xfrm>
          <a:prstGeom prst="rect">
            <a:avLst/>
          </a:prstGeom>
          <a:solidFill>
            <a:schemeClr val="accent5">
              <a:lumMod val="20000"/>
              <a:lumOff val="80000"/>
            </a:schemeClr>
          </a:solidFill>
          <a:ln>
            <a:solidFill>
              <a:schemeClr val="tx1"/>
            </a:solidFill>
          </a:ln>
        </p:spPr>
        <p:txBody>
          <a:bodyPr wrap="square">
            <a:spAutoFit/>
          </a:bodyPr>
          <a:lstStyle/>
          <a:p>
            <a:pPr>
              <a:defRPr/>
            </a:pPr>
            <a:r>
              <a:rPr lang="en-US" sz="2400" dirty="0">
                <a:latin typeface="+mn-lt"/>
              </a:rPr>
              <a:t>f(x) {  </a:t>
            </a:r>
            <a:r>
              <a:rPr lang="en-US" sz="2400" dirty="0">
                <a:solidFill>
                  <a:schemeClr val="accent2">
                    <a:lumMod val="60000"/>
                    <a:lumOff val="40000"/>
                  </a:schemeClr>
                </a:solidFill>
                <a:latin typeface="+mn-lt"/>
              </a:rPr>
              <a:t> (1)  </a:t>
            </a:r>
            <a:r>
              <a:rPr lang="en-US" sz="2400" dirty="0">
                <a:latin typeface="+mn-lt"/>
              </a:rPr>
              <a:t>A o = Factory(x ) ;</a:t>
            </a:r>
            <a:br>
              <a:rPr lang="en-US" sz="2400" dirty="0">
                <a:latin typeface="+mn-lt"/>
              </a:rPr>
            </a:br>
            <a:r>
              <a:rPr lang="en-US" sz="2400" dirty="0">
                <a:latin typeface="+mn-lt"/>
              </a:rPr>
              <a:t>           … </a:t>
            </a:r>
            <a:endParaRPr lang="en-US" sz="2400" dirty="0">
              <a:solidFill>
                <a:schemeClr val="accent1">
                  <a:lumMod val="60000"/>
                  <a:lumOff val="40000"/>
                </a:schemeClr>
              </a:solidFill>
              <a:latin typeface="+mn-lt"/>
            </a:endParaRPr>
          </a:p>
          <a:p>
            <a:pPr>
              <a:defRPr/>
            </a:pPr>
            <a:r>
              <a:rPr lang="en-US" sz="2400" dirty="0">
                <a:latin typeface="+mn-lt"/>
              </a:rPr>
              <a:t>          </a:t>
            </a:r>
            <a:r>
              <a:rPr lang="en-US" sz="2400" dirty="0">
                <a:solidFill>
                  <a:schemeClr val="accent2">
                    <a:lumMod val="60000"/>
                    <a:lumOff val="40000"/>
                  </a:schemeClr>
                </a:solidFill>
                <a:latin typeface="+mn-lt"/>
              </a:rPr>
              <a:t> (2)  </a:t>
            </a:r>
            <a:r>
              <a:rPr lang="en-US" sz="2400" dirty="0">
                <a:latin typeface="+mn-lt"/>
              </a:rPr>
              <a:t>y= </a:t>
            </a:r>
            <a:r>
              <a:rPr lang="en-US" sz="2400" dirty="0" err="1">
                <a:latin typeface="+mn-lt"/>
              </a:rPr>
              <a:t>o.m</a:t>
            </a:r>
            <a:r>
              <a:rPr lang="en-US" sz="2400" dirty="0">
                <a:latin typeface="+mn-lt"/>
              </a:rPr>
              <a:t>(..) ;                  </a:t>
            </a:r>
            <a:endParaRPr lang="en-US" sz="2400" dirty="0">
              <a:solidFill>
                <a:schemeClr val="accent1">
                  <a:lumMod val="60000"/>
                  <a:lumOff val="40000"/>
                </a:schemeClr>
              </a:solidFill>
              <a:latin typeface="+mn-lt"/>
            </a:endParaRPr>
          </a:p>
          <a:p>
            <a:pPr>
              <a:defRPr/>
            </a:pPr>
            <a:r>
              <a:rPr lang="en-US" sz="2400" dirty="0">
                <a:latin typeface="+mn-lt"/>
              </a:rPr>
              <a:t>           </a:t>
            </a:r>
            <a:r>
              <a:rPr lang="en-US" sz="2400" dirty="0">
                <a:highlight>
                  <a:srgbClr val="FF00FF"/>
                </a:highlight>
                <a:latin typeface="+mn-lt"/>
              </a:rPr>
              <a:t>...</a:t>
            </a:r>
          </a:p>
          <a:p>
            <a:pPr>
              <a:defRPr/>
            </a:pPr>
            <a:r>
              <a:rPr lang="en-US" sz="2400" dirty="0">
                <a:latin typeface="+mn-lt"/>
              </a:rPr>
              <a:t>           </a:t>
            </a:r>
            <a:r>
              <a:rPr lang="en-US" sz="2400" dirty="0">
                <a:solidFill>
                  <a:schemeClr val="accent2">
                    <a:lumMod val="60000"/>
                    <a:lumOff val="40000"/>
                  </a:schemeClr>
                </a:solidFill>
                <a:latin typeface="+mn-lt"/>
              </a:rPr>
              <a:t>(3)  </a:t>
            </a:r>
            <a:r>
              <a:rPr lang="en-US" sz="2400" dirty="0">
                <a:latin typeface="+mn-lt"/>
              </a:rPr>
              <a:t>z = </a:t>
            </a:r>
            <a:r>
              <a:rPr lang="en-US" sz="2400" dirty="0" err="1">
                <a:latin typeface="+mn-lt"/>
              </a:rPr>
              <a:t>o.k</a:t>
            </a:r>
            <a:r>
              <a:rPr lang="en-US" sz="2400" dirty="0">
                <a:latin typeface="+mn-lt"/>
              </a:rPr>
              <a:t>(..)                     </a:t>
            </a:r>
          </a:p>
          <a:p>
            <a:pPr>
              <a:defRPr/>
            </a:pPr>
            <a:r>
              <a:rPr lang="en-US" sz="2400" dirty="0">
                <a:latin typeface="+mn-lt"/>
              </a:rPr>
              <a:t>}</a:t>
            </a:r>
            <a:endParaRPr lang="en-US" sz="2400" dirty="0">
              <a:solidFill>
                <a:schemeClr val="accent1">
                  <a:lumMod val="60000"/>
                  <a:lumOff val="40000"/>
                </a:schemeClr>
              </a:solidFill>
              <a:latin typeface="+mn-lt"/>
            </a:endParaRPr>
          </a:p>
        </p:txBody>
      </p:sp>
      <p:sp>
        <p:nvSpPr>
          <p:cNvPr id="13" name="TextBox 12">
            <a:extLst>
              <a:ext uri="{FF2B5EF4-FFF2-40B4-BE49-F238E27FC236}">
                <a16:creationId xmlns:a16="http://schemas.microsoft.com/office/drawing/2014/main" id="{9FA46D66-B1BC-2E26-834E-7B7428B25C2C}"/>
              </a:ext>
            </a:extLst>
          </p:cNvPr>
          <p:cNvSpPr txBox="1"/>
          <p:nvPr/>
        </p:nvSpPr>
        <p:spPr>
          <a:xfrm>
            <a:off x="4962020" y="1196752"/>
            <a:ext cx="3682752" cy="3293209"/>
          </a:xfrm>
          <a:prstGeom prst="rect">
            <a:avLst/>
          </a:prstGeom>
          <a:noFill/>
          <a:ln>
            <a:solidFill>
              <a:schemeClr val="tx1"/>
            </a:solidFill>
          </a:ln>
        </p:spPr>
        <p:txBody>
          <a:bodyPr wrap="square" rtlCol="0">
            <a:spAutoFit/>
          </a:bodyPr>
          <a:lstStyle/>
          <a:p>
            <a:r>
              <a:rPr lang="en-GB" sz="1600" b="1" dirty="0"/>
              <a:t>class</a:t>
            </a:r>
            <a:r>
              <a:rPr lang="en-GB" sz="1600" dirty="0"/>
              <a:t> A {</a:t>
            </a:r>
            <a:br>
              <a:rPr lang="en-GB" sz="1600" dirty="0"/>
            </a:br>
            <a:r>
              <a:rPr lang="en-GB" sz="1600" dirty="0"/>
              <a:t>    </a:t>
            </a:r>
            <a:r>
              <a:rPr lang="en-GB" sz="1600" dirty="0">
                <a:highlight>
                  <a:srgbClr val="FFFF00"/>
                </a:highlight>
              </a:rPr>
              <a:t>int  x </a:t>
            </a:r>
            <a:br>
              <a:rPr lang="en-GB" sz="1600" dirty="0"/>
            </a:br>
            <a:endParaRPr lang="en-GB" sz="1600" dirty="0"/>
          </a:p>
          <a:p>
            <a:r>
              <a:rPr lang="en-GB" sz="1600" dirty="0"/>
              <a:t>    m</a:t>
            </a:r>
            <a:r>
              <a:rPr lang="en-NL" sz="1600" dirty="0"/>
              <a:t>(i) {</a:t>
            </a:r>
            <a:br>
              <a:rPr lang="en-NL" sz="1600" dirty="0"/>
            </a:br>
            <a:r>
              <a:rPr lang="en-NL" sz="1600" dirty="0"/>
              <a:t>           </a:t>
            </a:r>
            <a:r>
              <a:rPr lang="en-NL" sz="1600" b="1" dirty="0"/>
              <a:t>if</a:t>
            </a:r>
            <a:r>
              <a:rPr lang="en-NL" sz="1600" dirty="0"/>
              <a:t> (i==0)  </a:t>
            </a:r>
            <a:r>
              <a:rPr lang="en-NL" sz="1600" dirty="0">
                <a:solidFill>
                  <a:schemeClr val="accent6">
                    <a:lumMod val="60000"/>
                    <a:lumOff val="40000"/>
                  </a:schemeClr>
                </a:solidFill>
                <a:highlight>
                  <a:srgbClr val="00FF00"/>
                </a:highlight>
              </a:rPr>
              <a:t>this</a:t>
            </a:r>
            <a:r>
              <a:rPr lang="en-NL" sz="1600" dirty="0">
                <a:highlight>
                  <a:srgbClr val="00FF00"/>
                </a:highlight>
              </a:rPr>
              <a:t>.x  =  0</a:t>
            </a:r>
          </a:p>
          <a:p>
            <a:r>
              <a:rPr lang="en-NL" sz="1600" dirty="0"/>
              <a:t>           </a:t>
            </a:r>
            <a:r>
              <a:rPr lang="en-NL" sz="1600" b="1" dirty="0"/>
              <a:t>else</a:t>
            </a:r>
            <a:r>
              <a:rPr lang="en-NL" sz="1600" dirty="0"/>
              <a:t>        </a:t>
            </a:r>
            <a:r>
              <a:rPr lang="en-NL" sz="1600" dirty="0">
                <a:solidFill>
                  <a:schemeClr val="accent6">
                    <a:lumMod val="60000"/>
                    <a:lumOff val="40000"/>
                  </a:schemeClr>
                </a:solidFill>
                <a:highlight>
                  <a:srgbClr val="FFFF00"/>
                </a:highlight>
              </a:rPr>
              <a:t>this</a:t>
            </a:r>
            <a:r>
              <a:rPr lang="en-NL" sz="1600" dirty="0">
                <a:highlight>
                  <a:srgbClr val="FFFF00"/>
                </a:highlight>
              </a:rPr>
              <a:t>.x = 2*</a:t>
            </a:r>
            <a:r>
              <a:rPr lang="en-GB" sz="1600" dirty="0" err="1">
                <a:highlight>
                  <a:srgbClr val="FFFF00"/>
                </a:highlight>
              </a:rPr>
              <a:t>i</a:t>
            </a:r>
            <a:r>
              <a:rPr lang="en-GB" sz="1600" dirty="0">
                <a:highlight>
                  <a:srgbClr val="FFFF00"/>
                </a:highlight>
              </a:rPr>
              <a:t> </a:t>
            </a:r>
            <a:r>
              <a:rPr lang="en-NL" sz="1600" dirty="0">
                <a:highlight>
                  <a:srgbClr val="FFFF00"/>
                </a:highlight>
              </a:rPr>
              <a:t>  </a:t>
            </a:r>
          </a:p>
          <a:p>
            <a:r>
              <a:rPr lang="en-NL" sz="1600" dirty="0"/>
              <a:t>           </a:t>
            </a:r>
            <a:r>
              <a:rPr lang="en-NL" sz="1600" b="1" dirty="0"/>
              <a:t>return</a:t>
            </a:r>
            <a:r>
              <a:rPr lang="en-NL" sz="1600" dirty="0"/>
              <a:t> this.x   }</a:t>
            </a:r>
          </a:p>
          <a:p>
            <a:endParaRPr lang="en-NL" sz="1600" dirty="0"/>
          </a:p>
          <a:p>
            <a:r>
              <a:rPr lang="en-NL" sz="1600" dirty="0"/>
              <a:t>    k(i) { </a:t>
            </a:r>
          </a:p>
          <a:p>
            <a:r>
              <a:rPr lang="en-NL" sz="1600" dirty="0"/>
              <a:t>          </a:t>
            </a:r>
            <a:r>
              <a:rPr lang="en-NL" sz="1600" b="1" dirty="0"/>
              <a:t>if</a:t>
            </a:r>
            <a:r>
              <a:rPr lang="en-NL" sz="1600" dirty="0"/>
              <a:t> (</a:t>
            </a:r>
            <a:r>
              <a:rPr lang="en-NL" sz="1600" dirty="0">
                <a:solidFill>
                  <a:schemeClr val="accent6">
                    <a:lumMod val="60000"/>
                    <a:lumOff val="40000"/>
                  </a:schemeClr>
                </a:solidFill>
                <a:highlight>
                  <a:srgbClr val="00FFFF"/>
                </a:highlight>
              </a:rPr>
              <a:t>this</a:t>
            </a:r>
            <a:r>
              <a:rPr lang="en-NL" sz="1600" dirty="0">
                <a:highlight>
                  <a:srgbClr val="00FFFF"/>
                </a:highlight>
              </a:rPr>
              <a:t>.x == 0</a:t>
            </a:r>
            <a:r>
              <a:rPr lang="en-NL" sz="1600" dirty="0"/>
              <a:t>) …</a:t>
            </a:r>
          </a:p>
          <a:p>
            <a:r>
              <a:rPr lang="en-NL" sz="1600" dirty="0"/>
              <a:t>          </a:t>
            </a:r>
          </a:p>
          <a:p>
            <a:r>
              <a:rPr lang="en-NL" sz="1600" dirty="0"/>
              <a:t>      }  </a:t>
            </a:r>
          </a:p>
          <a:p>
            <a:r>
              <a:rPr lang="en-NL" sz="1600" dirty="0"/>
              <a:t>}</a:t>
            </a:r>
          </a:p>
        </p:txBody>
      </p:sp>
      <p:cxnSp>
        <p:nvCxnSpPr>
          <p:cNvPr id="15" name="Straight Arrow Connector 14">
            <a:extLst>
              <a:ext uri="{FF2B5EF4-FFF2-40B4-BE49-F238E27FC236}">
                <a16:creationId xmlns:a16="http://schemas.microsoft.com/office/drawing/2014/main" id="{BBA19E73-EBD7-BF5D-9966-C4610775F0EF}"/>
              </a:ext>
            </a:extLst>
          </p:cNvPr>
          <p:cNvCxnSpPr>
            <a:cxnSpLocks/>
          </p:cNvCxnSpPr>
          <p:nvPr/>
        </p:nvCxnSpPr>
        <p:spPr>
          <a:xfrm flipV="1">
            <a:off x="3368026" y="2204864"/>
            <a:ext cx="1800200" cy="2759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ED911CB-AAA5-7BBF-11A7-A50D1104335D}"/>
              </a:ext>
            </a:extLst>
          </p:cNvPr>
          <p:cNvCxnSpPr>
            <a:cxnSpLocks/>
          </p:cNvCxnSpPr>
          <p:nvPr/>
        </p:nvCxnSpPr>
        <p:spPr>
          <a:xfrm>
            <a:off x="3152002" y="3212976"/>
            <a:ext cx="2088232"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Freeform 20">
            <a:extLst>
              <a:ext uri="{FF2B5EF4-FFF2-40B4-BE49-F238E27FC236}">
                <a16:creationId xmlns:a16="http://schemas.microsoft.com/office/drawing/2014/main" id="{53780311-2E30-4823-D3E3-1B0D69075E74}"/>
              </a:ext>
            </a:extLst>
          </p:cNvPr>
          <p:cNvSpPr/>
          <p:nvPr/>
        </p:nvSpPr>
        <p:spPr>
          <a:xfrm>
            <a:off x="1442999" y="2555411"/>
            <a:ext cx="6114789" cy="962379"/>
          </a:xfrm>
          <a:custGeom>
            <a:avLst/>
            <a:gdLst>
              <a:gd name="connsiteX0" fmla="*/ 6106602 w 6114789"/>
              <a:gd name="connsiteY0" fmla="*/ 47708 h 962379"/>
              <a:gd name="connsiteX1" fmla="*/ 6106602 w 6114789"/>
              <a:gd name="connsiteY1" fmla="*/ 159026 h 962379"/>
              <a:gd name="connsiteX2" fmla="*/ 6090699 w 6114789"/>
              <a:gd name="connsiteY2" fmla="*/ 182880 h 962379"/>
              <a:gd name="connsiteX3" fmla="*/ 6042992 w 6114789"/>
              <a:gd name="connsiteY3" fmla="*/ 214685 h 962379"/>
              <a:gd name="connsiteX4" fmla="*/ 5995284 w 6114789"/>
              <a:gd name="connsiteY4" fmla="*/ 230588 h 962379"/>
              <a:gd name="connsiteX5" fmla="*/ 5756745 w 6114789"/>
              <a:gd name="connsiteY5" fmla="*/ 222637 h 962379"/>
              <a:gd name="connsiteX6" fmla="*/ 5597718 w 6114789"/>
              <a:gd name="connsiteY6" fmla="*/ 206734 h 962379"/>
              <a:gd name="connsiteX7" fmla="*/ 5311472 w 6114789"/>
              <a:gd name="connsiteY7" fmla="*/ 214685 h 962379"/>
              <a:gd name="connsiteX8" fmla="*/ 5263764 w 6114789"/>
              <a:gd name="connsiteY8" fmla="*/ 230588 h 962379"/>
              <a:gd name="connsiteX9" fmla="*/ 5247861 w 6114789"/>
              <a:gd name="connsiteY9" fmla="*/ 254442 h 962379"/>
              <a:gd name="connsiteX10" fmla="*/ 5224007 w 6114789"/>
              <a:gd name="connsiteY10" fmla="*/ 278296 h 962379"/>
              <a:gd name="connsiteX11" fmla="*/ 5216056 w 6114789"/>
              <a:gd name="connsiteY11" fmla="*/ 302150 h 962379"/>
              <a:gd name="connsiteX12" fmla="*/ 5192202 w 6114789"/>
              <a:gd name="connsiteY12" fmla="*/ 326004 h 962379"/>
              <a:gd name="connsiteX13" fmla="*/ 5160397 w 6114789"/>
              <a:gd name="connsiteY13" fmla="*/ 373711 h 962379"/>
              <a:gd name="connsiteX14" fmla="*/ 5144494 w 6114789"/>
              <a:gd name="connsiteY14" fmla="*/ 397565 h 962379"/>
              <a:gd name="connsiteX15" fmla="*/ 5136543 w 6114789"/>
              <a:gd name="connsiteY15" fmla="*/ 421419 h 962379"/>
              <a:gd name="connsiteX16" fmla="*/ 5096786 w 6114789"/>
              <a:gd name="connsiteY16" fmla="*/ 469127 h 962379"/>
              <a:gd name="connsiteX17" fmla="*/ 5072932 w 6114789"/>
              <a:gd name="connsiteY17" fmla="*/ 485030 h 962379"/>
              <a:gd name="connsiteX18" fmla="*/ 5025225 w 6114789"/>
              <a:gd name="connsiteY18" fmla="*/ 500932 h 962379"/>
              <a:gd name="connsiteX19" fmla="*/ 4206240 w 6114789"/>
              <a:gd name="connsiteY19" fmla="*/ 492981 h 962379"/>
              <a:gd name="connsiteX20" fmla="*/ 4094922 w 6114789"/>
              <a:gd name="connsiteY20" fmla="*/ 485030 h 962379"/>
              <a:gd name="connsiteX21" fmla="*/ 4055165 w 6114789"/>
              <a:gd name="connsiteY21" fmla="*/ 477078 h 962379"/>
              <a:gd name="connsiteX22" fmla="*/ 3943847 w 6114789"/>
              <a:gd name="connsiteY22" fmla="*/ 461176 h 962379"/>
              <a:gd name="connsiteX23" fmla="*/ 3840480 w 6114789"/>
              <a:gd name="connsiteY23" fmla="*/ 453224 h 962379"/>
              <a:gd name="connsiteX24" fmla="*/ 3705308 w 6114789"/>
              <a:gd name="connsiteY24" fmla="*/ 429371 h 962379"/>
              <a:gd name="connsiteX25" fmla="*/ 3625795 w 6114789"/>
              <a:gd name="connsiteY25" fmla="*/ 413468 h 962379"/>
              <a:gd name="connsiteX26" fmla="*/ 3530379 w 6114789"/>
              <a:gd name="connsiteY26" fmla="*/ 389614 h 962379"/>
              <a:gd name="connsiteX27" fmla="*/ 3482672 w 6114789"/>
              <a:gd name="connsiteY27" fmla="*/ 381663 h 962379"/>
              <a:gd name="connsiteX28" fmla="*/ 3395207 w 6114789"/>
              <a:gd name="connsiteY28" fmla="*/ 373711 h 962379"/>
              <a:gd name="connsiteX29" fmla="*/ 3299792 w 6114789"/>
              <a:gd name="connsiteY29" fmla="*/ 357809 h 962379"/>
              <a:gd name="connsiteX30" fmla="*/ 3252084 w 6114789"/>
              <a:gd name="connsiteY30" fmla="*/ 349858 h 962379"/>
              <a:gd name="connsiteX31" fmla="*/ 3172571 w 6114789"/>
              <a:gd name="connsiteY31" fmla="*/ 333955 h 962379"/>
              <a:gd name="connsiteX32" fmla="*/ 3045350 w 6114789"/>
              <a:gd name="connsiteY32" fmla="*/ 318052 h 962379"/>
              <a:gd name="connsiteX33" fmla="*/ 2926080 w 6114789"/>
              <a:gd name="connsiteY33" fmla="*/ 302150 h 962379"/>
              <a:gd name="connsiteX34" fmla="*/ 2854518 w 6114789"/>
              <a:gd name="connsiteY34" fmla="*/ 294198 h 962379"/>
              <a:gd name="connsiteX35" fmla="*/ 2790908 w 6114789"/>
              <a:gd name="connsiteY35" fmla="*/ 278296 h 962379"/>
              <a:gd name="connsiteX36" fmla="*/ 2767054 w 6114789"/>
              <a:gd name="connsiteY36" fmla="*/ 270344 h 962379"/>
              <a:gd name="connsiteX37" fmla="*/ 2711395 w 6114789"/>
              <a:gd name="connsiteY37" fmla="*/ 262393 h 962379"/>
              <a:gd name="connsiteX38" fmla="*/ 2687541 w 6114789"/>
              <a:gd name="connsiteY38" fmla="*/ 254442 h 962379"/>
              <a:gd name="connsiteX39" fmla="*/ 2456953 w 6114789"/>
              <a:gd name="connsiteY39" fmla="*/ 230588 h 962379"/>
              <a:gd name="connsiteX40" fmla="*/ 2361538 w 6114789"/>
              <a:gd name="connsiteY40" fmla="*/ 214685 h 962379"/>
              <a:gd name="connsiteX41" fmla="*/ 2297927 w 6114789"/>
              <a:gd name="connsiteY41" fmla="*/ 206734 h 962379"/>
              <a:gd name="connsiteX42" fmla="*/ 2202512 w 6114789"/>
              <a:gd name="connsiteY42" fmla="*/ 190831 h 962379"/>
              <a:gd name="connsiteX43" fmla="*/ 2122998 w 6114789"/>
              <a:gd name="connsiteY43" fmla="*/ 174929 h 962379"/>
              <a:gd name="connsiteX44" fmla="*/ 1979875 w 6114789"/>
              <a:gd name="connsiteY44" fmla="*/ 143124 h 962379"/>
              <a:gd name="connsiteX45" fmla="*/ 1948070 w 6114789"/>
              <a:gd name="connsiteY45" fmla="*/ 135172 h 962379"/>
              <a:gd name="connsiteX46" fmla="*/ 1900362 w 6114789"/>
              <a:gd name="connsiteY46" fmla="*/ 119270 h 962379"/>
              <a:gd name="connsiteX47" fmla="*/ 1868557 w 6114789"/>
              <a:gd name="connsiteY47" fmla="*/ 95416 h 962379"/>
              <a:gd name="connsiteX48" fmla="*/ 1844703 w 6114789"/>
              <a:gd name="connsiteY48" fmla="*/ 87464 h 962379"/>
              <a:gd name="connsiteX49" fmla="*/ 1828800 w 6114789"/>
              <a:gd name="connsiteY49" fmla="*/ 63611 h 962379"/>
              <a:gd name="connsiteX50" fmla="*/ 1781092 w 6114789"/>
              <a:gd name="connsiteY50" fmla="*/ 47708 h 962379"/>
              <a:gd name="connsiteX51" fmla="*/ 1749287 w 6114789"/>
              <a:gd name="connsiteY51" fmla="*/ 55659 h 962379"/>
              <a:gd name="connsiteX52" fmla="*/ 1781092 w 6114789"/>
              <a:gd name="connsiteY52" fmla="*/ 79513 h 962379"/>
              <a:gd name="connsiteX53" fmla="*/ 1828800 w 6114789"/>
              <a:gd name="connsiteY53" fmla="*/ 103367 h 962379"/>
              <a:gd name="connsiteX54" fmla="*/ 1796995 w 6114789"/>
              <a:gd name="connsiteY54" fmla="*/ 95416 h 962379"/>
              <a:gd name="connsiteX55" fmla="*/ 1765190 w 6114789"/>
              <a:gd name="connsiteY55" fmla="*/ 79513 h 962379"/>
              <a:gd name="connsiteX56" fmla="*/ 1606164 w 6114789"/>
              <a:gd name="connsiteY56" fmla="*/ 63611 h 962379"/>
              <a:gd name="connsiteX57" fmla="*/ 1415332 w 6114789"/>
              <a:gd name="connsiteY57" fmla="*/ 55659 h 962379"/>
              <a:gd name="connsiteX58" fmla="*/ 866692 w 6114789"/>
              <a:gd name="connsiteY58" fmla="*/ 39757 h 962379"/>
              <a:gd name="connsiteX59" fmla="*/ 834887 w 6114789"/>
              <a:gd name="connsiteY59" fmla="*/ 31805 h 962379"/>
              <a:gd name="connsiteX60" fmla="*/ 779228 w 6114789"/>
              <a:gd name="connsiteY60" fmla="*/ 23854 h 962379"/>
              <a:gd name="connsiteX61" fmla="*/ 652007 w 6114789"/>
              <a:gd name="connsiteY61" fmla="*/ 15903 h 962379"/>
              <a:gd name="connsiteX62" fmla="*/ 564543 w 6114789"/>
              <a:gd name="connsiteY62" fmla="*/ 0 h 962379"/>
              <a:gd name="connsiteX63" fmla="*/ 532738 w 6114789"/>
              <a:gd name="connsiteY63" fmla="*/ 7951 h 962379"/>
              <a:gd name="connsiteX64" fmla="*/ 508884 w 6114789"/>
              <a:gd name="connsiteY64" fmla="*/ 23854 h 962379"/>
              <a:gd name="connsiteX65" fmla="*/ 485030 w 6114789"/>
              <a:gd name="connsiteY65" fmla="*/ 47708 h 962379"/>
              <a:gd name="connsiteX66" fmla="*/ 461176 w 6114789"/>
              <a:gd name="connsiteY66" fmla="*/ 55659 h 962379"/>
              <a:gd name="connsiteX67" fmla="*/ 437322 w 6114789"/>
              <a:gd name="connsiteY67" fmla="*/ 79513 h 962379"/>
              <a:gd name="connsiteX68" fmla="*/ 405517 w 6114789"/>
              <a:gd name="connsiteY68" fmla="*/ 95416 h 962379"/>
              <a:gd name="connsiteX69" fmla="*/ 357809 w 6114789"/>
              <a:gd name="connsiteY69" fmla="*/ 127221 h 962379"/>
              <a:gd name="connsiteX70" fmla="*/ 310101 w 6114789"/>
              <a:gd name="connsiteY70" fmla="*/ 159026 h 962379"/>
              <a:gd name="connsiteX71" fmla="*/ 262393 w 6114789"/>
              <a:gd name="connsiteY71" fmla="*/ 174929 h 962379"/>
              <a:gd name="connsiteX72" fmla="*/ 190832 w 6114789"/>
              <a:gd name="connsiteY72" fmla="*/ 190831 h 962379"/>
              <a:gd name="connsiteX73" fmla="*/ 143124 w 6114789"/>
              <a:gd name="connsiteY73" fmla="*/ 206734 h 962379"/>
              <a:gd name="connsiteX74" fmla="*/ 119270 w 6114789"/>
              <a:gd name="connsiteY74" fmla="*/ 214685 h 962379"/>
              <a:gd name="connsiteX75" fmla="*/ 95416 w 6114789"/>
              <a:gd name="connsiteY75" fmla="*/ 222637 h 962379"/>
              <a:gd name="connsiteX76" fmla="*/ 71562 w 6114789"/>
              <a:gd name="connsiteY76" fmla="*/ 230588 h 962379"/>
              <a:gd name="connsiteX77" fmla="*/ 47708 w 6114789"/>
              <a:gd name="connsiteY77" fmla="*/ 246491 h 962379"/>
              <a:gd name="connsiteX78" fmla="*/ 15903 w 6114789"/>
              <a:gd name="connsiteY78" fmla="*/ 318052 h 962379"/>
              <a:gd name="connsiteX79" fmla="*/ 7952 w 6114789"/>
              <a:gd name="connsiteY79" fmla="*/ 341906 h 962379"/>
              <a:gd name="connsiteX80" fmla="*/ 0 w 6114789"/>
              <a:gd name="connsiteY80" fmla="*/ 365760 h 962379"/>
              <a:gd name="connsiteX81" fmla="*/ 31805 w 6114789"/>
              <a:gd name="connsiteY81" fmla="*/ 437322 h 962379"/>
              <a:gd name="connsiteX82" fmla="*/ 39757 w 6114789"/>
              <a:gd name="connsiteY82" fmla="*/ 461176 h 962379"/>
              <a:gd name="connsiteX83" fmla="*/ 47708 w 6114789"/>
              <a:gd name="connsiteY83" fmla="*/ 492981 h 962379"/>
              <a:gd name="connsiteX84" fmla="*/ 71562 w 6114789"/>
              <a:gd name="connsiteY84" fmla="*/ 500932 h 962379"/>
              <a:gd name="connsiteX85" fmla="*/ 190832 w 6114789"/>
              <a:gd name="connsiteY85" fmla="*/ 508884 h 962379"/>
              <a:gd name="connsiteX86" fmla="*/ 302150 w 6114789"/>
              <a:gd name="connsiteY86" fmla="*/ 500932 h 962379"/>
              <a:gd name="connsiteX87" fmla="*/ 357809 w 6114789"/>
              <a:gd name="connsiteY87" fmla="*/ 492981 h 962379"/>
              <a:gd name="connsiteX88" fmla="*/ 588397 w 6114789"/>
              <a:gd name="connsiteY88" fmla="*/ 485030 h 962379"/>
              <a:gd name="connsiteX89" fmla="*/ 659958 w 6114789"/>
              <a:gd name="connsiteY89" fmla="*/ 469127 h 962379"/>
              <a:gd name="connsiteX90" fmla="*/ 803082 w 6114789"/>
              <a:gd name="connsiteY90" fmla="*/ 461176 h 962379"/>
              <a:gd name="connsiteX91" fmla="*/ 842838 w 6114789"/>
              <a:gd name="connsiteY91" fmla="*/ 453224 h 962379"/>
              <a:gd name="connsiteX92" fmla="*/ 874644 w 6114789"/>
              <a:gd name="connsiteY92" fmla="*/ 445273 h 962379"/>
              <a:gd name="connsiteX93" fmla="*/ 938254 w 6114789"/>
              <a:gd name="connsiteY93" fmla="*/ 437322 h 962379"/>
              <a:gd name="connsiteX94" fmla="*/ 1152939 w 6114789"/>
              <a:gd name="connsiteY94" fmla="*/ 421419 h 962379"/>
              <a:gd name="connsiteX95" fmla="*/ 1264258 w 6114789"/>
              <a:gd name="connsiteY95" fmla="*/ 429371 h 962379"/>
              <a:gd name="connsiteX96" fmla="*/ 1304014 w 6114789"/>
              <a:gd name="connsiteY96" fmla="*/ 469127 h 962379"/>
              <a:gd name="connsiteX97" fmla="*/ 1343771 w 6114789"/>
              <a:gd name="connsiteY97" fmla="*/ 532738 h 962379"/>
              <a:gd name="connsiteX98" fmla="*/ 1351722 w 6114789"/>
              <a:gd name="connsiteY98" fmla="*/ 556591 h 962379"/>
              <a:gd name="connsiteX99" fmla="*/ 1367625 w 6114789"/>
              <a:gd name="connsiteY99" fmla="*/ 628153 h 962379"/>
              <a:gd name="connsiteX100" fmla="*/ 1383527 w 6114789"/>
              <a:gd name="connsiteY100" fmla="*/ 739471 h 962379"/>
              <a:gd name="connsiteX101" fmla="*/ 1391478 w 6114789"/>
              <a:gd name="connsiteY101" fmla="*/ 763325 h 962379"/>
              <a:gd name="connsiteX102" fmla="*/ 1407381 w 6114789"/>
              <a:gd name="connsiteY102" fmla="*/ 787179 h 962379"/>
              <a:gd name="connsiteX103" fmla="*/ 1439186 w 6114789"/>
              <a:gd name="connsiteY103" fmla="*/ 858741 h 962379"/>
              <a:gd name="connsiteX104" fmla="*/ 1463040 w 6114789"/>
              <a:gd name="connsiteY104" fmla="*/ 874644 h 962379"/>
              <a:gd name="connsiteX105" fmla="*/ 1486894 w 6114789"/>
              <a:gd name="connsiteY105" fmla="*/ 882595 h 962379"/>
              <a:gd name="connsiteX106" fmla="*/ 1598212 w 6114789"/>
              <a:gd name="connsiteY106" fmla="*/ 874644 h 962379"/>
              <a:gd name="connsiteX107" fmla="*/ 1709531 w 6114789"/>
              <a:gd name="connsiteY107" fmla="*/ 874644 h 962379"/>
              <a:gd name="connsiteX108" fmla="*/ 1765190 w 6114789"/>
              <a:gd name="connsiteY108" fmla="*/ 890546 h 962379"/>
              <a:gd name="connsiteX109" fmla="*/ 1812898 w 6114789"/>
              <a:gd name="connsiteY109" fmla="*/ 906449 h 962379"/>
              <a:gd name="connsiteX110" fmla="*/ 1900362 w 6114789"/>
              <a:gd name="connsiteY110" fmla="*/ 898498 h 962379"/>
              <a:gd name="connsiteX111" fmla="*/ 1932167 w 6114789"/>
              <a:gd name="connsiteY111" fmla="*/ 890546 h 962379"/>
              <a:gd name="connsiteX112" fmla="*/ 2019632 w 6114789"/>
              <a:gd name="connsiteY112" fmla="*/ 882595 h 962379"/>
              <a:gd name="connsiteX113" fmla="*/ 2107096 w 6114789"/>
              <a:gd name="connsiteY113" fmla="*/ 890546 h 962379"/>
              <a:gd name="connsiteX114" fmla="*/ 2449002 w 6114789"/>
              <a:gd name="connsiteY114" fmla="*/ 874644 h 962379"/>
              <a:gd name="connsiteX115" fmla="*/ 2480807 w 6114789"/>
              <a:gd name="connsiteY115" fmla="*/ 850790 h 962379"/>
              <a:gd name="connsiteX116" fmla="*/ 2584174 w 6114789"/>
              <a:gd name="connsiteY116" fmla="*/ 850790 h 962379"/>
              <a:gd name="connsiteX117" fmla="*/ 2798859 w 6114789"/>
              <a:gd name="connsiteY117" fmla="*/ 858741 h 962379"/>
              <a:gd name="connsiteX118" fmla="*/ 2854518 w 6114789"/>
              <a:gd name="connsiteY118" fmla="*/ 866692 h 962379"/>
              <a:gd name="connsiteX119" fmla="*/ 2926080 w 6114789"/>
              <a:gd name="connsiteY119" fmla="*/ 866692 h 962379"/>
              <a:gd name="connsiteX120" fmla="*/ 2957885 w 6114789"/>
              <a:gd name="connsiteY120" fmla="*/ 882595 h 962379"/>
              <a:gd name="connsiteX121" fmla="*/ 2981739 w 6114789"/>
              <a:gd name="connsiteY121" fmla="*/ 866692 h 962379"/>
              <a:gd name="connsiteX122" fmla="*/ 2973788 w 6114789"/>
              <a:gd name="connsiteY122" fmla="*/ 882595 h 962379"/>
              <a:gd name="connsiteX123" fmla="*/ 3442915 w 6114789"/>
              <a:gd name="connsiteY123" fmla="*/ 882595 h 962379"/>
              <a:gd name="connsiteX124" fmla="*/ 3530379 w 6114789"/>
              <a:gd name="connsiteY124" fmla="*/ 858741 h 962379"/>
              <a:gd name="connsiteX125" fmla="*/ 3593990 w 6114789"/>
              <a:gd name="connsiteY125" fmla="*/ 850790 h 962379"/>
              <a:gd name="connsiteX126" fmla="*/ 3625795 w 6114789"/>
              <a:gd name="connsiteY126" fmla="*/ 842838 h 962379"/>
              <a:gd name="connsiteX127" fmla="*/ 3673503 w 6114789"/>
              <a:gd name="connsiteY127" fmla="*/ 826936 h 962379"/>
              <a:gd name="connsiteX128" fmla="*/ 3760967 w 6114789"/>
              <a:gd name="connsiteY128" fmla="*/ 818984 h 962379"/>
              <a:gd name="connsiteX129" fmla="*/ 3848432 w 6114789"/>
              <a:gd name="connsiteY129" fmla="*/ 803082 h 962379"/>
              <a:gd name="connsiteX130" fmla="*/ 3888188 w 6114789"/>
              <a:gd name="connsiteY130" fmla="*/ 795131 h 962379"/>
              <a:gd name="connsiteX131" fmla="*/ 4047214 w 6114789"/>
              <a:gd name="connsiteY131" fmla="*/ 787179 h 962379"/>
              <a:gd name="connsiteX132" fmla="*/ 4166484 w 6114789"/>
              <a:gd name="connsiteY132" fmla="*/ 771277 h 962379"/>
              <a:gd name="connsiteX133" fmla="*/ 4214192 w 6114789"/>
              <a:gd name="connsiteY133" fmla="*/ 755374 h 962379"/>
              <a:gd name="connsiteX134" fmla="*/ 4238045 w 6114789"/>
              <a:gd name="connsiteY134" fmla="*/ 747423 h 962379"/>
              <a:gd name="connsiteX135" fmla="*/ 4325510 w 6114789"/>
              <a:gd name="connsiteY135" fmla="*/ 723569 h 962379"/>
              <a:gd name="connsiteX136" fmla="*/ 4389120 w 6114789"/>
              <a:gd name="connsiteY136" fmla="*/ 707666 h 962379"/>
              <a:gd name="connsiteX137" fmla="*/ 4643562 w 6114789"/>
              <a:gd name="connsiteY137" fmla="*/ 699715 h 962379"/>
              <a:gd name="connsiteX138" fmla="*/ 4731026 w 6114789"/>
              <a:gd name="connsiteY138" fmla="*/ 683812 h 962379"/>
              <a:gd name="connsiteX139" fmla="*/ 4882101 w 6114789"/>
              <a:gd name="connsiteY139" fmla="*/ 691764 h 962379"/>
              <a:gd name="connsiteX140" fmla="*/ 4898004 w 6114789"/>
              <a:gd name="connsiteY140" fmla="*/ 874644 h 962379"/>
              <a:gd name="connsiteX141" fmla="*/ 4921858 w 6114789"/>
              <a:gd name="connsiteY141" fmla="*/ 962108 h 962379"/>
              <a:gd name="connsiteX142" fmla="*/ 4898004 w 6114789"/>
              <a:gd name="connsiteY142" fmla="*/ 954157 h 962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114789" h="962379">
                <a:moveTo>
                  <a:pt x="6106602" y="47708"/>
                </a:moveTo>
                <a:cubicBezTo>
                  <a:pt x="6113441" y="95585"/>
                  <a:pt x="6120965" y="111149"/>
                  <a:pt x="6106602" y="159026"/>
                </a:cubicBezTo>
                <a:cubicBezTo>
                  <a:pt x="6103856" y="168179"/>
                  <a:pt x="6097891" y="176587"/>
                  <a:pt x="6090699" y="182880"/>
                </a:cubicBezTo>
                <a:cubicBezTo>
                  <a:pt x="6076316" y="195466"/>
                  <a:pt x="6061123" y="208641"/>
                  <a:pt x="6042992" y="214685"/>
                </a:cubicBezTo>
                <a:lnTo>
                  <a:pt x="5995284" y="230588"/>
                </a:lnTo>
                <a:lnTo>
                  <a:pt x="5756745" y="222637"/>
                </a:lnTo>
                <a:cubicBezTo>
                  <a:pt x="5720668" y="220877"/>
                  <a:pt x="5636651" y="211060"/>
                  <a:pt x="5597718" y="206734"/>
                </a:cubicBezTo>
                <a:cubicBezTo>
                  <a:pt x="5502303" y="209384"/>
                  <a:pt x="5406682" y="207884"/>
                  <a:pt x="5311472" y="214685"/>
                </a:cubicBezTo>
                <a:cubicBezTo>
                  <a:pt x="5294752" y="215879"/>
                  <a:pt x="5263764" y="230588"/>
                  <a:pt x="5263764" y="230588"/>
                </a:cubicBezTo>
                <a:cubicBezTo>
                  <a:pt x="5258463" y="238539"/>
                  <a:pt x="5253979" y="247101"/>
                  <a:pt x="5247861" y="254442"/>
                </a:cubicBezTo>
                <a:cubicBezTo>
                  <a:pt x="5240662" y="263081"/>
                  <a:pt x="5230244" y="268940"/>
                  <a:pt x="5224007" y="278296"/>
                </a:cubicBezTo>
                <a:cubicBezTo>
                  <a:pt x="5219358" y="285270"/>
                  <a:pt x="5220705" y="295176"/>
                  <a:pt x="5216056" y="302150"/>
                </a:cubicBezTo>
                <a:cubicBezTo>
                  <a:pt x="5209819" y="311506"/>
                  <a:pt x="5199106" y="317128"/>
                  <a:pt x="5192202" y="326004"/>
                </a:cubicBezTo>
                <a:cubicBezTo>
                  <a:pt x="5180468" y="341090"/>
                  <a:pt x="5170999" y="357809"/>
                  <a:pt x="5160397" y="373711"/>
                </a:cubicBezTo>
                <a:lnTo>
                  <a:pt x="5144494" y="397565"/>
                </a:lnTo>
                <a:cubicBezTo>
                  <a:pt x="5141844" y="405516"/>
                  <a:pt x="5140291" y="413922"/>
                  <a:pt x="5136543" y="421419"/>
                </a:cubicBezTo>
                <a:cubicBezTo>
                  <a:pt x="5127608" y="439289"/>
                  <a:pt x="5111858" y="456567"/>
                  <a:pt x="5096786" y="469127"/>
                </a:cubicBezTo>
                <a:cubicBezTo>
                  <a:pt x="5089445" y="475245"/>
                  <a:pt x="5081665" y="481149"/>
                  <a:pt x="5072932" y="485030"/>
                </a:cubicBezTo>
                <a:cubicBezTo>
                  <a:pt x="5057614" y="491838"/>
                  <a:pt x="5025225" y="500932"/>
                  <a:pt x="5025225" y="500932"/>
                </a:cubicBezTo>
                <a:lnTo>
                  <a:pt x="4206240" y="492981"/>
                </a:lnTo>
                <a:cubicBezTo>
                  <a:pt x="4169045" y="492345"/>
                  <a:pt x="4131918" y="488924"/>
                  <a:pt x="4094922" y="485030"/>
                </a:cubicBezTo>
                <a:cubicBezTo>
                  <a:pt x="4081481" y="483615"/>
                  <a:pt x="4068514" y="479186"/>
                  <a:pt x="4055165" y="477078"/>
                </a:cubicBezTo>
                <a:cubicBezTo>
                  <a:pt x="4018141" y="471232"/>
                  <a:pt x="3981219" y="464051"/>
                  <a:pt x="3943847" y="461176"/>
                </a:cubicBezTo>
                <a:lnTo>
                  <a:pt x="3840480" y="453224"/>
                </a:lnTo>
                <a:cubicBezTo>
                  <a:pt x="3777242" y="432146"/>
                  <a:pt x="3842028" y="452160"/>
                  <a:pt x="3705308" y="429371"/>
                </a:cubicBezTo>
                <a:cubicBezTo>
                  <a:pt x="3646821" y="419622"/>
                  <a:pt x="3673241" y="425329"/>
                  <a:pt x="3625795" y="413468"/>
                </a:cubicBezTo>
                <a:cubicBezTo>
                  <a:pt x="3572787" y="386963"/>
                  <a:pt x="3609520" y="400919"/>
                  <a:pt x="3530379" y="389614"/>
                </a:cubicBezTo>
                <a:cubicBezTo>
                  <a:pt x="3514419" y="387334"/>
                  <a:pt x="3498683" y="383547"/>
                  <a:pt x="3482672" y="381663"/>
                </a:cubicBezTo>
                <a:cubicBezTo>
                  <a:pt x="3453597" y="378242"/>
                  <a:pt x="3424303" y="376944"/>
                  <a:pt x="3395207" y="373711"/>
                </a:cubicBezTo>
                <a:cubicBezTo>
                  <a:pt x="3336428" y="367180"/>
                  <a:pt x="3350528" y="367033"/>
                  <a:pt x="3299792" y="357809"/>
                </a:cubicBezTo>
                <a:cubicBezTo>
                  <a:pt x="3283930" y="354925"/>
                  <a:pt x="3267987" y="352508"/>
                  <a:pt x="3252084" y="349858"/>
                </a:cubicBezTo>
                <a:cubicBezTo>
                  <a:pt x="3208700" y="335395"/>
                  <a:pt x="3240442" y="344396"/>
                  <a:pt x="3172571" y="333955"/>
                </a:cubicBezTo>
                <a:cubicBezTo>
                  <a:pt x="3061360" y="316846"/>
                  <a:pt x="3202413" y="335504"/>
                  <a:pt x="3045350" y="318052"/>
                </a:cubicBezTo>
                <a:cubicBezTo>
                  <a:pt x="2932749" y="305541"/>
                  <a:pt x="3029549" y="315084"/>
                  <a:pt x="2926080" y="302150"/>
                </a:cubicBezTo>
                <a:cubicBezTo>
                  <a:pt x="2902265" y="299173"/>
                  <a:pt x="2878372" y="296849"/>
                  <a:pt x="2854518" y="294198"/>
                </a:cubicBezTo>
                <a:cubicBezTo>
                  <a:pt x="2833315" y="288897"/>
                  <a:pt x="2811642" y="285208"/>
                  <a:pt x="2790908" y="278296"/>
                </a:cubicBezTo>
                <a:cubicBezTo>
                  <a:pt x="2782957" y="275645"/>
                  <a:pt x="2775273" y="271988"/>
                  <a:pt x="2767054" y="270344"/>
                </a:cubicBezTo>
                <a:cubicBezTo>
                  <a:pt x="2748677" y="266668"/>
                  <a:pt x="2729948" y="265043"/>
                  <a:pt x="2711395" y="262393"/>
                </a:cubicBezTo>
                <a:cubicBezTo>
                  <a:pt x="2703444" y="259743"/>
                  <a:pt x="2695795" y="255899"/>
                  <a:pt x="2687541" y="254442"/>
                </a:cubicBezTo>
                <a:cubicBezTo>
                  <a:pt x="2582925" y="235980"/>
                  <a:pt x="2564568" y="237762"/>
                  <a:pt x="2456953" y="230588"/>
                </a:cubicBezTo>
                <a:cubicBezTo>
                  <a:pt x="2425148" y="225287"/>
                  <a:pt x="2393533" y="218684"/>
                  <a:pt x="2361538" y="214685"/>
                </a:cubicBezTo>
                <a:cubicBezTo>
                  <a:pt x="2340334" y="212035"/>
                  <a:pt x="2319059" y="209904"/>
                  <a:pt x="2297927" y="206734"/>
                </a:cubicBezTo>
                <a:cubicBezTo>
                  <a:pt x="2266040" y="201951"/>
                  <a:pt x="2234130" y="197154"/>
                  <a:pt x="2202512" y="190831"/>
                </a:cubicBezTo>
                <a:cubicBezTo>
                  <a:pt x="2176007" y="185530"/>
                  <a:pt x="2149660" y="179373"/>
                  <a:pt x="2122998" y="174929"/>
                </a:cubicBezTo>
                <a:cubicBezTo>
                  <a:pt x="1973413" y="149997"/>
                  <a:pt x="2077738" y="172483"/>
                  <a:pt x="1979875" y="143124"/>
                </a:cubicBezTo>
                <a:cubicBezTo>
                  <a:pt x="1969408" y="139984"/>
                  <a:pt x="1958537" y="138312"/>
                  <a:pt x="1948070" y="135172"/>
                </a:cubicBezTo>
                <a:cubicBezTo>
                  <a:pt x="1932014" y="130355"/>
                  <a:pt x="1900362" y="119270"/>
                  <a:pt x="1900362" y="119270"/>
                </a:cubicBezTo>
                <a:cubicBezTo>
                  <a:pt x="1889760" y="111319"/>
                  <a:pt x="1880063" y="101991"/>
                  <a:pt x="1868557" y="95416"/>
                </a:cubicBezTo>
                <a:cubicBezTo>
                  <a:pt x="1861280" y="91258"/>
                  <a:pt x="1851248" y="92700"/>
                  <a:pt x="1844703" y="87464"/>
                </a:cubicBezTo>
                <a:cubicBezTo>
                  <a:pt x="1837241" y="81494"/>
                  <a:pt x="1836904" y="68676"/>
                  <a:pt x="1828800" y="63611"/>
                </a:cubicBezTo>
                <a:cubicBezTo>
                  <a:pt x="1814585" y="54727"/>
                  <a:pt x="1781092" y="47708"/>
                  <a:pt x="1781092" y="47708"/>
                </a:cubicBezTo>
                <a:cubicBezTo>
                  <a:pt x="1770490" y="50358"/>
                  <a:pt x="1749287" y="44731"/>
                  <a:pt x="1749287" y="55659"/>
                </a:cubicBezTo>
                <a:cubicBezTo>
                  <a:pt x="1749287" y="68911"/>
                  <a:pt x="1769728" y="72695"/>
                  <a:pt x="1781092" y="79513"/>
                </a:cubicBezTo>
                <a:cubicBezTo>
                  <a:pt x="1796338" y="88661"/>
                  <a:pt x="1816228" y="90795"/>
                  <a:pt x="1828800" y="103367"/>
                </a:cubicBezTo>
                <a:cubicBezTo>
                  <a:pt x="1836527" y="111094"/>
                  <a:pt x="1807597" y="98066"/>
                  <a:pt x="1796995" y="95416"/>
                </a:cubicBezTo>
                <a:cubicBezTo>
                  <a:pt x="1786393" y="90115"/>
                  <a:pt x="1776625" y="82632"/>
                  <a:pt x="1765190" y="79513"/>
                </a:cubicBezTo>
                <a:cubicBezTo>
                  <a:pt x="1735618" y="71448"/>
                  <a:pt x="1617034" y="64199"/>
                  <a:pt x="1606164" y="63611"/>
                </a:cubicBezTo>
                <a:cubicBezTo>
                  <a:pt x="1542591" y="60175"/>
                  <a:pt x="1478943" y="58310"/>
                  <a:pt x="1415332" y="55659"/>
                </a:cubicBezTo>
                <a:cubicBezTo>
                  <a:pt x="1205858" y="13765"/>
                  <a:pt x="1431314" y="56364"/>
                  <a:pt x="866692" y="39757"/>
                </a:cubicBezTo>
                <a:cubicBezTo>
                  <a:pt x="855769" y="39436"/>
                  <a:pt x="845639" y="33760"/>
                  <a:pt x="834887" y="31805"/>
                </a:cubicBezTo>
                <a:cubicBezTo>
                  <a:pt x="816448" y="28452"/>
                  <a:pt x="797899" y="25477"/>
                  <a:pt x="779228" y="23854"/>
                </a:cubicBezTo>
                <a:cubicBezTo>
                  <a:pt x="736898" y="20173"/>
                  <a:pt x="694414" y="18553"/>
                  <a:pt x="652007" y="15903"/>
                </a:cubicBezTo>
                <a:cubicBezTo>
                  <a:pt x="639075" y="13316"/>
                  <a:pt x="574723" y="0"/>
                  <a:pt x="564543" y="0"/>
                </a:cubicBezTo>
                <a:cubicBezTo>
                  <a:pt x="553615" y="0"/>
                  <a:pt x="543340" y="5301"/>
                  <a:pt x="532738" y="7951"/>
                </a:cubicBezTo>
                <a:cubicBezTo>
                  <a:pt x="524787" y="13252"/>
                  <a:pt x="516225" y="17736"/>
                  <a:pt x="508884" y="23854"/>
                </a:cubicBezTo>
                <a:cubicBezTo>
                  <a:pt x="500245" y="31053"/>
                  <a:pt x="494386" y="41471"/>
                  <a:pt x="485030" y="47708"/>
                </a:cubicBezTo>
                <a:cubicBezTo>
                  <a:pt x="478056" y="52357"/>
                  <a:pt x="469127" y="53009"/>
                  <a:pt x="461176" y="55659"/>
                </a:cubicBezTo>
                <a:cubicBezTo>
                  <a:pt x="453225" y="63610"/>
                  <a:pt x="446472" y="72977"/>
                  <a:pt x="437322" y="79513"/>
                </a:cubicBezTo>
                <a:cubicBezTo>
                  <a:pt x="427677" y="86403"/>
                  <a:pt x="415681" y="89318"/>
                  <a:pt x="405517" y="95416"/>
                </a:cubicBezTo>
                <a:cubicBezTo>
                  <a:pt x="389128" y="105249"/>
                  <a:pt x="373712" y="116619"/>
                  <a:pt x="357809" y="127221"/>
                </a:cubicBezTo>
                <a:lnTo>
                  <a:pt x="310101" y="159026"/>
                </a:lnTo>
                <a:cubicBezTo>
                  <a:pt x="294198" y="164327"/>
                  <a:pt x="278830" y="171642"/>
                  <a:pt x="262393" y="174929"/>
                </a:cubicBezTo>
                <a:cubicBezTo>
                  <a:pt x="239698" y="179468"/>
                  <a:pt x="213287" y="184094"/>
                  <a:pt x="190832" y="190831"/>
                </a:cubicBezTo>
                <a:cubicBezTo>
                  <a:pt x="174776" y="195648"/>
                  <a:pt x="159027" y="201433"/>
                  <a:pt x="143124" y="206734"/>
                </a:cubicBezTo>
                <a:lnTo>
                  <a:pt x="119270" y="214685"/>
                </a:lnTo>
                <a:lnTo>
                  <a:pt x="95416" y="222637"/>
                </a:lnTo>
                <a:lnTo>
                  <a:pt x="71562" y="230588"/>
                </a:lnTo>
                <a:cubicBezTo>
                  <a:pt x="63611" y="235889"/>
                  <a:pt x="54465" y="239734"/>
                  <a:pt x="47708" y="246491"/>
                </a:cubicBezTo>
                <a:cubicBezTo>
                  <a:pt x="28805" y="265393"/>
                  <a:pt x="23777" y="294428"/>
                  <a:pt x="15903" y="318052"/>
                </a:cubicBezTo>
                <a:lnTo>
                  <a:pt x="7952" y="341906"/>
                </a:lnTo>
                <a:lnTo>
                  <a:pt x="0" y="365760"/>
                </a:lnTo>
                <a:cubicBezTo>
                  <a:pt x="41026" y="488835"/>
                  <a:pt x="-5994" y="361723"/>
                  <a:pt x="31805" y="437322"/>
                </a:cubicBezTo>
                <a:cubicBezTo>
                  <a:pt x="35553" y="444819"/>
                  <a:pt x="37454" y="453117"/>
                  <a:pt x="39757" y="461176"/>
                </a:cubicBezTo>
                <a:cubicBezTo>
                  <a:pt x="42759" y="471683"/>
                  <a:pt x="40881" y="484448"/>
                  <a:pt x="47708" y="492981"/>
                </a:cubicBezTo>
                <a:cubicBezTo>
                  <a:pt x="52944" y="499526"/>
                  <a:pt x="63232" y="500006"/>
                  <a:pt x="71562" y="500932"/>
                </a:cubicBezTo>
                <a:cubicBezTo>
                  <a:pt x="111163" y="505332"/>
                  <a:pt x="151075" y="506233"/>
                  <a:pt x="190832" y="508884"/>
                </a:cubicBezTo>
                <a:cubicBezTo>
                  <a:pt x="227938" y="506233"/>
                  <a:pt x="265117" y="504459"/>
                  <a:pt x="302150" y="500932"/>
                </a:cubicBezTo>
                <a:cubicBezTo>
                  <a:pt x="320807" y="499155"/>
                  <a:pt x="339097" y="494021"/>
                  <a:pt x="357809" y="492981"/>
                </a:cubicBezTo>
                <a:cubicBezTo>
                  <a:pt x="434599" y="488715"/>
                  <a:pt x="511534" y="487680"/>
                  <a:pt x="588397" y="485030"/>
                </a:cubicBezTo>
                <a:cubicBezTo>
                  <a:pt x="605021" y="480874"/>
                  <a:pt x="644474" y="470473"/>
                  <a:pt x="659958" y="469127"/>
                </a:cubicBezTo>
                <a:cubicBezTo>
                  <a:pt x="707560" y="464988"/>
                  <a:pt x="755374" y="463826"/>
                  <a:pt x="803082" y="461176"/>
                </a:cubicBezTo>
                <a:cubicBezTo>
                  <a:pt x="816334" y="458525"/>
                  <a:pt x="829645" y="456156"/>
                  <a:pt x="842838" y="453224"/>
                </a:cubicBezTo>
                <a:cubicBezTo>
                  <a:pt x="853506" y="450853"/>
                  <a:pt x="863864" y="447070"/>
                  <a:pt x="874644" y="445273"/>
                </a:cubicBezTo>
                <a:cubicBezTo>
                  <a:pt x="895722" y="441760"/>
                  <a:pt x="917032" y="439819"/>
                  <a:pt x="938254" y="437322"/>
                </a:cubicBezTo>
                <a:cubicBezTo>
                  <a:pt x="1044771" y="424791"/>
                  <a:pt x="1010805" y="429316"/>
                  <a:pt x="1152939" y="421419"/>
                </a:cubicBezTo>
                <a:cubicBezTo>
                  <a:pt x="1190045" y="424070"/>
                  <a:pt x="1227623" y="422906"/>
                  <a:pt x="1264258" y="429371"/>
                </a:cubicBezTo>
                <a:cubicBezTo>
                  <a:pt x="1283623" y="432788"/>
                  <a:pt x="1295252" y="455107"/>
                  <a:pt x="1304014" y="469127"/>
                </a:cubicBezTo>
                <a:cubicBezTo>
                  <a:pt x="1351946" y="545820"/>
                  <a:pt x="1307447" y="478253"/>
                  <a:pt x="1343771" y="532738"/>
                </a:cubicBezTo>
                <a:cubicBezTo>
                  <a:pt x="1346421" y="540689"/>
                  <a:pt x="1349420" y="548532"/>
                  <a:pt x="1351722" y="556591"/>
                </a:cubicBezTo>
                <a:cubicBezTo>
                  <a:pt x="1359205" y="582783"/>
                  <a:pt x="1362161" y="600837"/>
                  <a:pt x="1367625" y="628153"/>
                </a:cubicBezTo>
                <a:cubicBezTo>
                  <a:pt x="1373961" y="691519"/>
                  <a:pt x="1370224" y="692910"/>
                  <a:pt x="1383527" y="739471"/>
                </a:cubicBezTo>
                <a:cubicBezTo>
                  <a:pt x="1385829" y="747530"/>
                  <a:pt x="1387730" y="755828"/>
                  <a:pt x="1391478" y="763325"/>
                </a:cubicBezTo>
                <a:cubicBezTo>
                  <a:pt x="1395752" y="771872"/>
                  <a:pt x="1402080" y="779228"/>
                  <a:pt x="1407381" y="787179"/>
                </a:cubicBezTo>
                <a:cubicBezTo>
                  <a:pt x="1415254" y="810796"/>
                  <a:pt x="1420287" y="839841"/>
                  <a:pt x="1439186" y="858741"/>
                </a:cubicBezTo>
                <a:cubicBezTo>
                  <a:pt x="1445943" y="865498"/>
                  <a:pt x="1454493" y="870370"/>
                  <a:pt x="1463040" y="874644"/>
                </a:cubicBezTo>
                <a:cubicBezTo>
                  <a:pt x="1470537" y="878392"/>
                  <a:pt x="1478943" y="879945"/>
                  <a:pt x="1486894" y="882595"/>
                </a:cubicBezTo>
                <a:lnTo>
                  <a:pt x="1598212" y="874644"/>
                </a:lnTo>
                <a:cubicBezTo>
                  <a:pt x="1668095" y="868291"/>
                  <a:pt x="1648083" y="860464"/>
                  <a:pt x="1709531" y="874644"/>
                </a:cubicBezTo>
                <a:cubicBezTo>
                  <a:pt x="1728332" y="878983"/>
                  <a:pt x="1746748" y="884872"/>
                  <a:pt x="1765190" y="890546"/>
                </a:cubicBezTo>
                <a:cubicBezTo>
                  <a:pt x="1781212" y="895476"/>
                  <a:pt x="1812898" y="906449"/>
                  <a:pt x="1812898" y="906449"/>
                </a:cubicBezTo>
                <a:cubicBezTo>
                  <a:pt x="1842053" y="903799"/>
                  <a:pt x="1871344" y="902367"/>
                  <a:pt x="1900362" y="898498"/>
                </a:cubicBezTo>
                <a:cubicBezTo>
                  <a:pt x="1911194" y="897054"/>
                  <a:pt x="1921335" y="891990"/>
                  <a:pt x="1932167" y="890546"/>
                </a:cubicBezTo>
                <a:cubicBezTo>
                  <a:pt x="1961185" y="886677"/>
                  <a:pt x="1990477" y="885245"/>
                  <a:pt x="2019632" y="882595"/>
                </a:cubicBezTo>
                <a:cubicBezTo>
                  <a:pt x="2086863" y="909489"/>
                  <a:pt x="2031183" y="895194"/>
                  <a:pt x="2107096" y="890546"/>
                </a:cubicBezTo>
                <a:cubicBezTo>
                  <a:pt x="2220975" y="883574"/>
                  <a:pt x="2449002" y="874644"/>
                  <a:pt x="2449002" y="874644"/>
                </a:cubicBezTo>
                <a:cubicBezTo>
                  <a:pt x="2459604" y="866693"/>
                  <a:pt x="2469301" y="857365"/>
                  <a:pt x="2480807" y="850790"/>
                </a:cubicBezTo>
                <a:cubicBezTo>
                  <a:pt x="2513264" y="832243"/>
                  <a:pt x="2549289" y="848904"/>
                  <a:pt x="2584174" y="850790"/>
                </a:cubicBezTo>
                <a:cubicBezTo>
                  <a:pt x="2655680" y="854655"/>
                  <a:pt x="2727297" y="856091"/>
                  <a:pt x="2798859" y="858741"/>
                </a:cubicBezTo>
                <a:cubicBezTo>
                  <a:pt x="2817412" y="861391"/>
                  <a:pt x="2835777" y="866692"/>
                  <a:pt x="2854518" y="866692"/>
                </a:cubicBezTo>
                <a:cubicBezTo>
                  <a:pt x="2955579" y="866692"/>
                  <a:pt x="2806177" y="842712"/>
                  <a:pt x="2926080" y="866692"/>
                </a:cubicBezTo>
                <a:cubicBezTo>
                  <a:pt x="2935168" y="893953"/>
                  <a:pt x="2927595" y="897740"/>
                  <a:pt x="2957885" y="882595"/>
                </a:cubicBezTo>
                <a:cubicBezTo>
                  <a:pt x="2966432" y="878321"/>
                  <a:pt x="2988496" y="859935"/>
                  <a:pt x="2981739" y="866692"/>
                </a:cubicBezTo>
                <a:cubicBezTo>
                  <a:pt x="2957669" y="890762"/>
                  <a:pt x="2928229" y="897781"/>
                  <a:pt x="2973788" y="882595"/>
                </a:cubicBezTo>
                <a:cubicBezTo>
                  <a:pt x="3156534" y="908701"/>
                  <a:pt x="3079669" y="900757"/>
                  <a:pt x="3442915" y="882595"/>
                </a:cubicBezTo>
                <a:cubicBezTo>
                  <a:pt x="3539446" y="877768"/>
                  <a:pt x="3476284" y="868576"/>
                  <a:pt x="3530379" y="858741"/>
                </a:cubicBezTo>
                <a:cubicBezTo>
                  <a:pt x="3551403" y="854919"/>
                  <a:pt x="3572786" y="853440"/>
                  <a:pt x="3593990" y="850790"/>
                </a:cubicBezTo>
                <a:cubicBezTo>
                  <a:pt x="3604592" y="848139"/>
                  <a:pt x="3615328" y="845978"/>
                  <a:pt x="3625795" y="842838"/>
                </a:cubicBezTo>
                <a:cubicBezTo>
                  <a:pt x="3641851" y="838021"/>
                  <a:pt x="3656809" y="828454"/>
                  <a:pt x="3673503" y="826936"/>
                </a:cubicBezTo>
                <a:lnTo>
                  <a:pt x="3760967" y="818984"/>
                </a:lnTo>
                <a:cubicBezTo>
                  <a:pt x="3822029" y="803719"/>
                  <a:pt x="3762959" y="817327"/>
                  <a:pt x="3848432" y="803082"/>
                </a:cubicBezTo>
                <a:cubicBezTo>
                  <a:pt x="3861763" y="800860"/>
                  <a:pt x="3874717" y="796209"/>
                  <a:pt x="3888188" y="795131"/>
                </a:cubicBezTo>
                <a:cubicBezTo>
                  <a:pt x="3941094" y="790898"/>
                  <a:pt x="3994205" y="789830"/>
                  <a:pt x="4047214" y="787179"/>
                </a:cubicBezTo>
                <a:cubicBezTo>
                  <a:pt x="4150145" y="761447"/>
                  <a:pt x="3953678" y="808831"/>
                  <a:pt x="4166484" y="771277"/>
                </a:cubicBezTo>
                <a:cubicBezTo>
                  <a:pt x="4182992" y="768364"/>
                  <a:pt x="4198289" y="760675"/>
                  <a:pt x="4214192" y="755374"/>
                </a:cubicBezTo>
                <a:lnTo>
                  <a:pt x="4238045" y="747423"/>
                </a:lnTo>
                <a:cubicBezTo>
                  <a:pt x="4340386" y="713309"/>
                  <a:pt x="4235605" y="746044"/>
                  <a:pt x="4325510" y="723569"/>
                </a:cubicBezTo>
                <a:cubicBezTo>
                  <a:pt x="4355618" y="716042"/>
                  <a:pt x="4351734" y="709687"/>
                  <a:pt x="4389120" y="707666"/>
                </a:cubicBezTo>
                <a:cubicBezTo>
                  <a:pt x="4473852" y="703086"/>
                  <a:pt x="4558748" y="702365"/>
                  <a:pt x="4643562" y="699715"/>
                </a:cubicBezTo>
                <a:cubicBezTo>
                  <a:pt x="4671396" y="692757"/>
                  <a:pt x="4702540" y="683812"/>
                  <a:pt x="4731026" y="683812"/>
                </a:cubicBezTo>
                <a:cubicBezTo>
                  <a:pt x="4781454" y="683812"/>
                  <a:pt x="4831743" y="689113"/>
                  <a:pt x="4882101" y="691764"/>
                </a:cubicBezTo>
                <a:cubicBezTo>
                  <a:pt x="4887402" y="752724"/>
                  <a:pt x="4890990" y="813857"/>
                  <a:pt x="4898004" y="874644"/>
                </a:cubicBezTo>
                <a:cubicBezTo>
                  <a:pt x="4899734" y="889636"/>
                  <a:pt x="4938167" y="967544"/>
                  <a:pt x="4921858" y="962108"/>
                </a:cubicBezTo>
                <a:lnTo>
                  <a:pt x="4898004" y="954157"/>
                </a:lnTo>
              </a:path>
            </a:pathLst>
          </a:custGeom>
          <a:noFill/>
          <a:ln>
            <a:solidFill>
              <a:srgbClr val="00B0F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7824A457-93EB-9D8C-298E-E5CD14C7EE27}"/>
              </a:ext>
            </a:extLst>
          </p:cNvPr>
          <p:cNvSpPr txBox="1"/>
          <p:nvPr/>
        </p:nvSpPr>
        <p:spPr>
          <a:xfrm>
            <a:off x="559714" y="4900508"/>
            <a:ext cx="8136904" cy="1323439"/>
          </a:xfrm>
          <a:prstGeom prst="rect">
            <a:avLst/>
          </a:prstGeom>
          <a:noFill/>
        </p:spPr>
        <p:txBody>
          <a:bodyPr wrap="square" rtlCol="0">
            <a:spAutoFit/>
          </a:bodyPr>
          <a:lstStyle/>
          <a:p>
            <a:pPr marL="285750" indent="-285750">
              <a:buFont typeface="Arial" panose="020B0604020202020204" pitchFamily="34" charset="0"/>
              <a:buChar char="•"/>
            </a:pPr>
            <a:r>
              <a:rPr lang="en-GB" sz="1600" dirty="0"/>
              <a:t>Dashed-blue line: a </a:t>
            </a:r>
            <a:r>
              <a:rPr lang="en-GB" sz="1600" dirty="0">
                <a:highlight>
                  <a:srgbClr val="FFFF00"/>
                </a:highlight>
              </a:rPr>
              <a:t>coupling path 𝜎 </a:t>
            </a:r>
            <a:r>
              <a:rPr lang="en-GB" sz="1600" dirty="0"/>
              <a:t>over </a:t>
            </a:r>
            <a:r>
              <a:rPr lang="en-GB" sz="1600" dirty="0" err="1"/>
              <a:t>o.x</a:t>
            </a:r>
            <a:r>
              <a:rPr lang="en-GB" sz="1600" dirty="0"/>
              <a:t> from a yellow in m() to the blue in n(), assuming the path in-between is def-clear on </a:t>
            </a:r>
            <a:r>
              <a:rPr lang="en-GB" sz="1600" dirty="0" err="1"/>
              <a:t>o.x</a:t>
            </a:r>
            <a:r>
              <a:rPr lang="en-GB" sz="1600" dirty="0"/>
              <a:t>.</a:t>
            </a:r>
          </a:p>
          <a:p>
            <a:pPr marL="285750" indent="-285750">
              <a:buFont typeface="Arial" panose="020B0604020202020204" pitchFamily="34" charset="0"/>
              <a:buChar char="•"/>
            </a:pPr>
            <a:r>
              <a:rPr lang="en-GB" sz="1600" dirty="0"/>
              <a:t>2 </a:t>
            </a:r>
            <a:r>
              <a:rPr lang="en-GB" sz="1600" dirty="0">
                <a:sym typeface="Wingdings" pitchFamily="2" charset="2"/>
              </a:rPr>
              <a:t>➝ 3 in f(x) forms a coupling sequence if there is such a coupling path.</a:t>
            </a:r>
          </a:p>
          <a:p>
            <a:pPr marL="285750" indent="-285750">
              <a:buFont typeface="Arial" panose="020B0604020202020204" pitchFamily="34" charset="0"/>
              <a:buChar char="•"/>
            </a:pPr>
            <a:r>
              <a:rPr lang="en-GB" sz="1600" dirty="0">
                <a:sym typeface="Wingdings" pitchFamily="2" charset="2"/>
              </a:rPr>
              <a:t>There is a second coupling path between the coupling sequence </a:t>
            </a:r>
            <a:r>
              <a:rPr lang="en-GB" sz="1600" dirty="0"/>
              <a:t>2 </a:t>
            </a:r>
            <a:r>
              <a:rPr lang="en-GB" sz="1600" dirty="0">
                <a:sym typeface="Wingdings" pitchFamily="2" charset="2"/>
              </a:rPr>
              <a:t>➝ 3, namely the du-path 𝜏 between ”</a:t>
            </a:r>
            <a:r>
              <a:rPr lang="en-GB" sz="1600" dirty="0" err="1">
                <a:sym typeface="Wingdings" pitchFamily="2" charset="2"/>
              </a:rPr>
              <a:t>this.x</a:t>
            </a:r>
            <a:r>
              <a:rPr lang="en-GB" sz="1600" dirty="0">
                <a:sym typeface="Wingdings" pitchFamily="2" charset="2"/>
              </a:rPr>
              <a:t> – 0” (green) and “</a:t>
            </a:r>
            <a:r>
              <a:rPr lang="en-GB" sz="1600" dirty="0" err="1">
                <a:sym typeface="Wingdings" pitchFamily="2" charset="2"/>
              </a:rPr>
              <a:t>this.x</a:t>
            </a:r>
            <a:r>
              <a:rPr lang="en-GB" sz="1600" dirty="0">
                <a:sym typeface="Wingdings" pitchFamily="2" charset="2"/>
              </a:rPr>
              <a:t>==0” (blue), passing through f().</a:t>
            </a:r>
            <a:endParaRPr lang="en-NL" sz="1600" dirty="0"/>
          </a:p>
        </p:txBody>
      </p:sp>
    </p:spTree>
    <p:extLst>
      <p:ext uri="{BB962C8B-B14F-4D97-AF65-F5344CB8AC3E}">
        <p14:creationId xmlns:p14="http://schemas.microsoft.com/office/powerpoint/2010/main" val="136907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57200" y="274638"/>
            <a:ext cx="8229600" cy="564292"/>
          </a:xfrm>
        </p:spPr>
        <p:txBody>
          <a:bodyPr/>
          <a:lstStyle/>
          <a:p>
            <a:r>
              <a:rPr lang="en-US" sz="4000" dirty="0"/>
              <a:t>Coupling Sequence, example</a:t>
            </a:r>
          </a:p>
        </p:txBody>
      </p:sp>
      <p:sp>
        <p:nvSpPr>
          <p:cNvPr id="4" name="Slide Number Placeholder 3"/>
          <p:cNvSpPr>
            <a:spLocks noGrp="1"/>
          </p:cNvSpPr>
          <p:nvPr>
            <p:ph type="sldNum" sz="quarter" idx="12"/>
          </p:nvPr>
        </p:nvSpPr>
        <p:spPr/>
        <p:txBody>
          <a:bodyPr/>
          <a:lstStyle/>
          <a:p>
            <a:pPr>
              <a:defRPr/>
            </a:pPr>
            <a:fld id="{3B1C7B3B-1398-4AD6-A01F-19A5BB4A5787}" type="slidenum">
              <a:rPr lang="en-US" smtClean="0"/>
              <a:pPr>
                <a:defRPr/>
              </a:pPr>
              <a:t>37</a:t>
            </a:fld>
            <a:endParaRPr lang="en-US"/>
          </a:p>
        </p:txBody>
      </p:sp>
      <p:sp>
        <p:nvSpPr>
          <p:cNvPr id="5" name="TextBox 4"/>
          <p:cNvSpPr txBox="1"/>
          <p:nvPr/>
        </p:nvSpPr>
        <p:spPr>
          <a:xfrm>
            <a:off x="457200" y="1700808"/>
            <a:ext cx="3364214" cy="1938992"/>
          </a:xfrm>
          <a:prstGeom prst="rect">
            <a:avLst/>
          </a:prstGeom>
          <a:solidFill>
            <a:schemeClr val="accent5">
              <a:lumMod val="20000"/>
              <a:lumOff val="80000"/>
            </a:schemeClr>
          </a:solidFill>
          <a:ln>
            <a:solidFill>
              <a:schemeClr val="tx1"/>
            </a:solidFill>
          </a:ln>
        </p:spPr>
        <p:txBody>
          <a:bodyPr wrap="square">
            <a:spAutoFit/>
          </a:bodyPr>
          <a:lstStyle/>
          <a:p>
            <a:pPr>
              <a:defRPr/>
            </a:pPr>
            <a:r>
              <a:rPr lang="en-US" sz="2000" dirty="0">
                <a:latin typeface="+mn-lt"/>
              </a:rPr>
              <a:t>f(x) {  </a:t>
            </a:r>
            <a:r>
              <a:rPr lang="en-US" sz="2000" dirty="0">
                <a:solidFill>
                  <a:schemeClr val="accent2">
                    <a:lumMod val="60000"/>
                    <a:lumOff val="40000"/>
                  </a:schemeClr>
                </a:solidFill>
                <a:latin typeface="+mn-lt"/>
              </a:rPr>
              <a:t> (1)  </a:t>
            </a:r>
            <a:r>
              <a:rPr lang="en-US" sz="2000" dirty="0">
                <a:latin typeface="+mn-lt"/>
              </a:rPr>
              <a:t>A o = Factory(x ) ;</a:t>
            </a:r>
            <a:br>
              <a:rPr lang="en-US" sz="2000" dirty="0">
                <a:latin typeface="+mn-lt"/>
              </a:rPr>
            </a:br>
            <a:r>
              <a:rPr lang="en-US" sz="2000" dirty="0">
                <a:latin typeface="+mn-lt"/>
              </a:rPr>
              <a:t>           … </a:t>
            </a:r>
            <a:endParaRPr lang="en-US" sz="2000" dirty="0">
              <a:solidFill>
                <a:schemeClr val="accent1">
                  <a:lumMod val="60000"/>
                  <a:lumOff val="40000"/>
                </a:schemeClr>
              </a:solidFill>
              <a:latin typeface="+mn-lt"/>
            </a:endParaRPr>
          </a:p>
          <a:p>
            <a:pPr>
              <a:defRPr/>
            </a:pPr>
            <a:r>
              <a:rPr lang="en-US" sz="2000" dirty="0">
                <a:latin typeface="+mn-lt"/>
              </a:rPr>
              <a:t>          </a:t>
            </a:r>
            <a:r>
              <a:rPr lang="en-US" sz="2000" dirty="0">
                <a:solidFill>
                  <a:schemeClr val="accent2">
                    <a:lumMod val="60000"/>
                    <a:lumOff val="40000"/>
                  </a:schemeClr>
                </a:solidFill>
                <a:latin typeface="+mn-lt"/>
              </a:rPr>
              <a:t> (2)  </a:t>
            </a:r>
            <a:r>
              <a:rPr lang="en-US" sz="2000" dirty="0">
                <a:latin typeface="+mn-lt"/>
              </a:rPr>
              <a:t>y= </a:t>
            </a:r>
            <a:r>
              <a:rPr lang="en-US" sz="2000" dirty="0" err="1">
                <a:latin typeface="+mn-lt"/>
              </a:rPr>
              <a:t>o.m</a:t>
            </a:r>
            <a:r>
              <a:rPr lang="en-US" sz="2000" dirty="0">
                <a:latin typeface="+mn-lt"/>
              </a:rPr>
              <a:t>(..) ;                  </a:t>
            </a:r>
            <a:endParaRPr lang="en-US" sz="2000" dirty="0">
              <a:solidFill>
                <a:schemeClr val="accent1">
                  <a:lumMod val="60000"/>
                  <a:lumOff val="40000"/>
                </a:schemeClr>
              </a:solidFill>
              <a:latin typeface="+mn-lt"/>
            </a:endParaRPr>
          </a:p>
          <a:p>
            <a:pPr>
              <a:defRPr/>
            </a:pPr>
            <a:r>
              <a:rPr lang="en-US" sz="2000" dirty="0">
                <a:latin typeface="+mn-lt"/>
              </a:rPr>
              <a:t>           ...</a:t>
            </a:r>
          </a:p>
          <a:p>
            <a:pPr>
              <a:defRPr/>
            </a:pPr>
            <a:r>
              <a:rPr lang="en-US" sz="2000" dirty="0">
                <a:latin typeface="+mn-lt"/>
              </a:rPr>
              <a:t>           </a:t>
            </a:r>
            <a:r>
              <a:rPr lang="en-US" sz="2000" dirty="0">
                <a:solidFill>
                  <a:schemeClr val="accent2">
                    <a:lumMod val="60000"/>
                    <a:lumOff val="40000"/>
                  </a:schemeClr>
                </a:solidFill>
                <a:latin typeface="+mn-lt"/>
              </a:rPr>
              <a:t>(3)  </a:t>
            </a:r>
            <a:r>
              <a:rPr lang="en-US" sz="2000" dirty="0">
                <a:latin typeface="+mn-lt"/>
              </a:rPr>
              <a:t>z = </a:t>
            </a:r>
            <a:r>
              <a:rPr lang="en-US" sz="2000" dirty="0" err="1">
                <a:latin typeface="+mn-lt"/>
              </a:rPr>
              <a:t>o.k</a:t>
            </a:r>
            <a:r>
              <a:rPr lang="en-US" sz="2000" dirty="0">
                <a:latin typeface="+mn-lt"/>
              </a:rPr>
              <a:t>(..)                     </a:t>
            </a:r>
          </a:p>
          <a:p>
            <a:pPr>
              <a:defRPr/>
            </a:pPr>
            <a:r>
              <a:rPr lang="en-US" sz="2000" dirty="0">
                <a:latin typeface="+mn-lt"/>
              </a:rPr>
              <a:t>}</a:t>
            </a:r>
            <a:endParaRPr lang="en-US" sz="2000" dirty="0">
              <a:solidFill>
                <a:schemeClr val="accent1">
                  <a:lumMod val="60000"/>
                  <a:lumOff val="40000"/>
                </a:schemeClr>
              </a:solidFill>
              <a:latin typeface="+mn-lt"/>
            </a:endParaRPr>
          </a:p>
        </p:txBody>
      </p:sp>
      <p:sp>
        <p:nvSpPr>
          <p:cNvPr id="13" name="TextBox 12">
            <a:extLst>
              <a:ext uri="{FF2B5EF4-FFF2-40B4-BE49-F238E27FC236}">
                <a16:creationId xmlns:a16="http://schemas.microsoft.com/office/drawing/2014/main" id="{9FA46D66-B1BC-2E26-834E-7B7428B25C2C}"/>
              </a:ext>
            </a:extLst>
          </p:cNvPr>
          <p:cNvSpPr txBox="1"/>
          <p:nvPr/>
        </p:nvSpPr>
        <p:spPr>
          <a:xfrm>
            <a:off x="4160926" y="1086459"/>
            <a:ext cx="2738981" cy="2800767"/>
          </a:xfrm>
          <a:prstGeom prst="rect">
            <a:avLst/>
          </a:prstGeom>
          <a:noFill/>
          <a:ln>
            <a:solidFill>
              <a:schemeClr val="tx1"/>
            </a:solidFill>
          </a:ln>
        </p:spPr>
        <p:txBody>
          <a:bodyPr wrap="square" rtlCol="0">
            <a:spAutoFit/>
          </a:bodyPr>
          <a:lstStyle/>
          <a:p>
            <a:r>
              <a:rPr lang="en-GB" sz="1600" b="1" dirty="0"/>
              <a:t>class</a:t>
            </a:r>
            <a:r>
              <a:rPr lang="en-GB" sz="1600" dirty="0"/>
              <a:t> A {</a:t>
            </a:r>
            <a:br>
              <a:rPr lang="en-GB" sz="1600" dirty="0"/>
            </a:br>
            <a:r>
              <a:rPr lang="en-GB" sz="1600" dirty="0"/>
              <a:t>    </a:t>
            </a:r>
            <a:r>
              <a:rPr lang="en-GB" sz="1600" dirty="0">
                <a:highlight>
                  <a:srgbClr val="FFFF00"/>
                </a:highlight>
              </a:rPr>
              <a:t>int  x </a:t>
            </a:r>
            <a:br>
              <a:rPr lang="en-GB" sz="1600" dirty="0"/>
            </a:br>
            <a:endParaRPr lang="en-GB" sz="1600" dirty="0"/>
          </a:p>
          <a:p>
            <a:r>
              <a:rPr lang="en-GB" sz="1600" dirty="0"/>
              <a:t>    m</a:t>
            </a:r>
            <a:r>
              <a:rPr lang="en-NL" sz="1600" dirty="0"/>
              <a:t>(i) {</a:t>
            </a:r>
            <a:br>
              <a:rPr lang="en-NL" sz="1600" dirty="0"/>
            </a:br>
            <a:r>
              <a:rPr lang="en-NL" sz="1600" dirty="0"/>
              <a:t>           </a:t>
            </a:r>
            <a:r>
              <a:rPr lang="en-NL" sz="1600" b="1" dirty="0"/>
              <a:t>if</a:t>
            </a:r>
            <a:r>
              <a:rPr lang="en-NL" sz="1600" dirty="0"/>
              <a:t> (i==0)  </a:t>
            </a:r>
            <a:r>
              <a:rPr lang="en-NL" sz="1600" dirty="0">
                <a:solidFill>
                  <a:schemeClr val="accent6">
                    <a:lumMod val="60000"/>
                    <a:lumOff val="40000"/>
                  </a:schemeClr>
                </a:solidFill>
                <a:highlight>
                  <a:srgbClr val="00FF00"/>
                </a:highlight>
              </a:rPr>
              <a:t>this</a:t>
            </a:r>
            <a:r>
              <a:rPr lang="en-NL" sz="1600" dirty="0">
                <a:highlight>
                  <a:srgbClr val="00FF00"/>
                </a:highlight>
              </a:rPr>
              <a:t>.x  =  0</a:t>
            </a:r>
          </a:p>
          <a:p>
            <a:r>
              <a:rPr lang="en-NL" sz="1600" dirty="0"/>
              <a:t>           </a:t>
            </a:r>
            <a:r>
              <a:rPr lang="en-NL" sz="1600" b="1" dirty="0"/>
              <a:t>else</a:t>
            </a:r>
            <a:r>
              <a:rPr lang="en-NL" sz="1600" dirty="0"/>
              <a:t>        </a:t>
            </a:r>
            <a:r>
              <a:rPr lang="en-NL" sz="1600" dirty="0">
                <a:solidFill>
                  <a:schemeClr val="accent6">
                    <a:lumMod val="60000"/>
                    <a:lumOff val="40000"/>
                  </a:schemeClr>
                </a:solidFill>
                <a:highlight>
                  <a:srgbClr val="FFFF00"/>
                </a:highlight>
              </a:rPr>
              <a:t>this</a:t>
            </a:r>
            <a:r>
              <a:rPr lang="en-NL" sz="1600" dirty="0">
                <a:highlight>
                  <a:srgbClr val="FFFF00"/>
                </a:highlight>
              </a:rPr>
              <a:t>.x = 2*</a:t>
            </a:r>
            <a:r>
              <a:rPr lang="en-GB" sz="1600" dirty="0" err="1">
                <a:highlight>
                  <a:srgbClr val="FFFF00"/>
                </a:highlight>
              </a:rPr>
              <a:t>i</a:t>
            </a:r>
            <a:r>
              <a:rPr lang="en-GB" sz="1600" dirty="0">
                <a:highlight>
                  <a:srgbClr val="FFFF00"/>
                </a:highlight>
              </a:rPr>
              <a:t> </a:t>
            </a:r>
            <a:r>
              <a:rPr lang="en-NL" sz="1600" dirty="0">
                <a:highlight>
                  <a:srgbClr val="FFFF00"/>
                </a:highlight>
              </a:rPr>
              <a:t>  </a:t>
            </a:r>
          </a:p>
          <a:p>
            <a:r>
              <a:rPr lang="en-NL" sz="1600" dirty="0"/>
              <a:t>           </a:t>
            </a:r>
            <a:r>
              <a:rPr lang="en-NL" sz="1600" b="1" dirty="0"/>
              <a:t>return</a:t>
            </a:r>
            <a:r>
              <a:rPr lang="en-NL" sz="1600" dirty="0"/>
              <a:t> this.x   }</a:t>
            </a:r>
          </a:p>
          <a:p>
            <a:endParaRPr lang="en-NL" sz="1600" dirty="0"/>
          </a:p>
          <a:p>
            <a:r>
              <a:rPr lang="en-NL" sz="1600" dirty="0"/>
              <a:t>    k(i) { </a:t>
            </a:r>
          </a:p>
          <a:p>
            <a:r>
              <a:rPr lang="en-NL" sz="1600" dirty="0"/>
              <a:t>          </a:t>
            </a:r>
            <a:r>
              <a:rPr lang="en-NL" sz="1600" b="1" dirty="0"/>
              <a:t>if</a:t>
            </a:r>
            <a:r>
              <a:rPr lang="en-NL" sz="1600" dirty="0"/>
              <a:t> (</a:t>
            </a:r>
            <a:r>
              <a:rPr lang="en-NL" sz="1600" dirty="0">
                <a:solidFill>
                  <a:schemeClr val="accent6">
                    <a:lumMod val="60000"/>
                    <a:lumOff val="40000"/>
                  </a:schemeClr>
                </a:solidFill>
                <a:highlight>
                  <a:srgbClr val="00FFFF"/>
                </a:highlight>
              </a:rPr>
              <a:t>this</a:t>
            </a:r>
            <a:r>
              <a:rPr lang="en-NL" sz="1600" dirty="0">
                <a:highlight>
                  <a:srgbClr val="00FFFF"/>
                </a:highlight>
              </a:rPr>
              <a:t>.x == 0</a:t>
            </a:r>
            <a:r>
              <a:rPr lang="en-NL" sz="1600" dirty="0"/>
              <a:t>) …    </a:t>
            </a:r>
          </a:p>
          <a:p>
            <a:r>
              <a:rPr lang="en-NL" sz="1600" dirty="0"/>
              <a:t>      }  }</a:t>
            </a:r>
          </a:p>
        </p:txBody>
      </p:sp>
      <p:cxnSp>
        <p:nvCxnSpPr>
          <p:cNvPr id="15" name="Straight Arrow Connector 14">
            <a:extLst>
              <a:ext uri="{FF2B5EF4-FFF2-40B4-BE49-F238E27FC236}">
                <a16:creationId xmlns:a16="http://schemas.microsoft.com/office/drawing/2014/main" id="{BBA19E73-EBD7-BF5D-9966-C4610775F0EF}"/>
              </a:ext>
            </a:extLst>
          </p:cNvPr>
          <p:cNvCxnSpPr>
            <a:cxnSpLocks/>
          </p:cNvCxnSpPr>
          <p:nvPr/>
        </p:nvCxnSpPr>
        <p:spPr>
          <a:xfrm flipV="1">
            <a:off x="2699792" y="2060848"/>
            <a:ext cx="1728192" cy="432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ED911CB-AAA5-7BBF-11A7-A50D1104335D}"/>
              </a:ext>
            </a:extLst>
          </p:cNvPr>
          <p:cNvCxnSpPr>
            <a:cxnSpLocks/>
          </p:cNvCxnSpPr>
          <p:nvPr/>
        </p:nvCxnSpPr>
        <p:spPr>
          <a:xfrm>
            <a:off x="2555776" y="3212976"/>
            <a:ext cx="18722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Freeform 20">
            <a:extLst>
              <a:ext uri="{FF2B5EF4-FFF2-40B4-BE49-F238E27FC236}">
                <a16:creationId xmlns:a16="http://schemas.microsoft.com/office/drawing/2014/main" id="{53780311-2E30-4823-D3E3-1B0D69075E74}"/>
              </a:ext>
            </a:extLst>
          </p:cNvPr>
          <p:cNvSpPr/>
          <p:nvPr/>
        </p:nvSpPr>
        <p:spPr>
          <a:xfrm>
            <a:off x="1442999" y="2555411"/>
            <a:ext cx="5001209" cy="962379"/>
          </a:xfrm>
          <a:custGeom>
            <a:avLst/>
            <a:gdLst>
              <a:gd name="connsiteX0" fmla="*/ 6106602 w 6114789"/>
              <a:gd name="connsiteY0" fmla="*/ 47708 h 962379"/>
              <a:gd name="connsiteX1" fmla="*/ 6106602 w 6114789"/>
              <a:gd name="connsiteY1" fmla="*/ 159026 h 962379"/>
              <a:gd name="connsiteX2" fmla="*/ 6090699 w 6114789"/>
              <a:gd name="connsiteY2" fmla="*/ 182880 h 962379"/>
              <a:gd name="connsiteX3" fmla="*/ 6042992 w 6114789"/>
              <a:gd name="connsiteY3" fmla="*/ 214685 h 962379"/>
              <a:gd name="connsiteX4" fmla="*/ 5995284 w 6114789"/>
              <a:gd name="connsiteY4" fmla="*/ 230588 h 962379"/>
              <a:gd name="connsiteX5" fmla="*/ 5756745 w 6114789"/>
              <a:gd name="connsiteY5" fmla="*/ 222637 h 962379"/>
              <a:gd name="connsiteX6" fmla="*/ 5597718 w 6114789"/>
              <a:gd name="connsiteY6" fmla="*/ 206734 h 962379"/>
              <a:gd name="connsiteX7" fmla="*/ 5311472 w 6114789"/>
              <a:gd name="connsiteY7" fmla="*/ 214685 h 962379"/>
              <a:gd name="connsiteX8" fmla="*/ 5263764 w 6114789"/>
              <a:gd name="connsiteY8" fmla="*/ 230588 h 962379"/>
              <a:gd name="connsiteX9" fmla="*/ 5247861 w 6114789"/>
              <a:gd name="connsiteY9" fmla="*/ 254442 h 962379"/>
              <a:gd name="connsiteX10" fmla="*/ 5224007 w 6114789"/>
              <a:gd name="connsiteY10" fmla="*/ 278296 h 962379"/>
              <a:gd name="connsiteX11" fmla="*/ 5216056 w 6114789"/>
              <a:gd name="connsiteY11" fmla="*/ 302150 h 962379"/>
              <a:gd name="connsiteX12" fmla="*/ 5192202 w 6114789"/>
              <a:gd name="connsiteY12" fmla="*/ 326004 h 962379"/>
              <a:gd name="connsiteX13" fmla="*/ 5160397 w 6114789"/>
              <a:gd name="connsiteY13" fmla="*/ 373711 h 962379"/>
              <a:gd name="connsiteX14" fmla="*/ 5144494 w 6114789"/>
              <a:gd name="connsiteY14" fmla="*/ 397565 h 962379"/>
              <a:gd name="connsiteX15" fmla="*/ 5136543 w 6114789"/>
              <a:gd name="connsiteY15" fmla="*/ 421419 h 962379"/>
              <a:gd name="connsiteX16" fmla="*/ 5096786 w 6114789"/>
              <a:gd name="connsiteY16" fmla="*/ 469127 h 962379"/>
              <a:gd name="connsiteX17" fmla="*/ 5072932 w 6114789"/>
              <a:gd name="connsiteY17" fmla="*/ 485030 h 962379"/>
              <a:gd name="connsiteX18" fmla="*/ 5025225 w 6114789"/>
              <a:gd name="connsiteY18" fmla="*/ 500932 h 962379"/>
              <a:gd name="connsiteX19" fmla="*/ 4206240 w 6114789"/>
              <a:gd name="connsiteY19" fmla="*/ 492981 h 962379"/>
              <a:gd name="connsiteX20" fmla="*/ 4094922 w 6114789"/>
              <a:gd name="connsiteY20" fmla="*/ 485030 h 962379"/>
              <a:gd name="connsiteX21" fmla="*/ 4055165 w 6114789"/>
              <a:gd name="connsiteY21" fmla="*/ 477078 h 962379"/>
              <a:gd name="connsiteX22" fmla="*/ 3943847 w 6114789"/>
              <a:gd name="connsiteY22" fmla="*/ 461176 h 962379"/>
              <a:gd name="connsiteX23" fmla="*/ 3840480 w 6114789"/>
              <a:gd name="connsiteY23" fmla="*/ 453224 h 962379"/>
              <a:gd name="connsiteX24" fmla="*/ 3705308 w 6114789"/>
              <a:gd name="connsiteY24" fmla="*/ 429371 h 962379"/>
              <a:gd name="connsiteX25" fmla="*/ 3625795 w 6114789"/>
              <a:gd name="connsiteY25" fmla="*/ 413468 h 962379"/>
              <a:gd name="connsiteX26" fmla="*/ 3530379 w 6114789"/>
              <a:gd name="connsiteY26" fmla="*/ 389614 h 962379"/>
              <a:gd name="connsiteX27" fmla="*/ 3482672 w 6114789"/>
              <a:gd name="connsiteY27" fmla="*/ 381663 h 962379"/>
              <a:gd name="connsiteX28" fmla="*/ 3395207 w 6114789"/>
              <a:gd name="connsiteY28" fmla="*/ 373711 h 962379"/>
              <a:gd name="connsiteX29" fmla="*/ 3299792 w 6114789"/>
              <a:gd name="connsiteY29" fmla="*/ 357809 h 962379"/>
              <a:gd name="connsiteX30" fmla="*/ 3252084 w 6114789"/>
              <a:gd name="connsiteY30" fmla="*/ 349858 h 962379"/>
              <a:gd name="connsiteX31" fmla="*/ 3172571 w 6114789"/>
              <a:gd name="connsiteY31" fmla="*/ 333955 h 962379"/>
              <a:gd name="connsiteX32" fmla="*/ 3045350 w 6114789"/>
              <a:gd name="connsiteY32" fmla="*/ 318052 h 962379"/>
              <a:gd name="connsiteX33" fmla="*/ 2926080 w 6114789"/>
              <a:gd name="connsiteY33" fmla="*/ 302150 h 962379"/>
              <a:gd name="connsiteX34" fmla="*/ 2854518 w 6114789"/>
              <a:gd name="connsiteY34" fmla="*/ 294198 h 962379"/>
              <a:gd name="connsiteX35" fmla="*/ 2790908 w 6114789"/>
              <a:gd name="connsiteY35" fmla="*/ 278296 h 962379"/>
              <a:gd name="connsiteX36" fmla="*/ 2767054 w 6114789"/>
              <a:gd name="connsiteY36" fmla="*/ 270344 h 962379"/>
              <a:gd name="connsiteX37" fmla="*/ 2711395 w 6114789"/>
              <a:gd name="connsiteY37" fmla="*/ 262393 h 962379"/>
              <a:gd name="connsiteX38" fmla="*/ 2687541 w 6114789"/>
              <a:gd name="connsiteY38" fmla="*/ 254442 h 962379"/>
              <a:gd name="connsiteX39" fmla="*/ 2456953 w 6114789"/>
              <a:gd name="connsiteY39" fmla="*/ 230588 h 962379"/>
              <a:gd name="connsiteX40" fmla="*/ 2361538 w 6114789"/>
              <a:gd name="connsiteY40" fmla="*/ 214685 h 962379"/>
              <a:gd name="connsiteX41" fmla="*/ 2297927 w 6114789"/>
              <a:gd name="connsiteY41" fmla="*/ 206734 h 962379"/>
              <a:gd name="connsiteX42" fmla="*/ 2202512 w 6114789"/>
              <a:gd name="connsiteY42" fmla="*/ 190831 h 962379"/>
              <a:gd name="connsiteX43" fmla="*/ 2122998 w 6114789"/>
              <a:gd name="connsiteY43" fmla="*/ 174929 h 962379"/>
              <a:gd name="connsiteX44" fmla="*/ 1979875 w 6114789"/>
              <a:gd name="connsiteY44" fmla="*/ 143124 h 962379"/>
              <a:gd name="connsiteX45" fmla="*/ 1948070 w 6114789"/>
              <a:gd name="connsiteY45" fmla="*/ 135172 h 962379"/>
              <a:gd name="connsiteX46" fmla="*/ 1900362 w 6114789"/>
              <a:gd name="connsiteY46" fmla="*/ 119270 h 962379"/>
              <a:gd name="connsiteX47" fmla="*/ 1868557 w 6114789"/>
              <a:gd name="connsiteY47" fmla="*/ 95416 h 962379"/>
              <a:gd name="connsiteX48" fmla="*/ 1844703 w 6114789"/>
              <a:gd name="connsiteY48" fmla="*/ 87464 h 962379"/>
              <a:gd name="connsiteX49" fmla="*/ 1828800 w 6114789"/>
              <a:gd name="connsiteY49" fmla="*/ 63611 h 962379"/>
              <a:gd name="connsiteX50" fmla="*/ 1781092 w 6114789"/>
              <a:gd name="connsiteY50" fmla="*/ 47708 h 962379"/>
              <a:gd name="connsiteX51" fmla="*/ 1749287 w 6114789"/>
              <a:gd name="connsiteY51" fmla="*/ 55659 h 962379"/>
              <a:gd name="connsiteX52" fmla="*/ 1781092 w 6114789"/>
              <a:gd name="connsiteY52" fmla="*/ 79513 h 962379"/>
              <a:gd name="connsiteX53" fmla="*/ 1828800 w 6114789"/>
              <a:gd name="connsiteY53" fmla="*/ 103367 h 962379"/>
              <a:gd name="connsiteX54" fmla="*/ 1796995 w 6114789"/>
              <a:gd name="connsiteY54" fmla="*/ 95416 h 962379"/>
              <a:gd name="connsiteX55" fmla="*/ 1765190 w 6114789"/>
              <a:gd name="connsiteY55" fmla="*/ 79513 h 962379"/>
              <a:gd name="connsiteX56" fmla="*/ 1606164 w 6114789"/>
              <a:gd name="connsiteY56" fmla="*/ 63611 h 962379"/>
              <a:gd name="connsiteX57" fmla="*/ 1415332 w 6114789"/>
              <a:gd name="connsiteY57" fmla="*/ 55659 h 962379"/>
              <a:gd name="connsiteX58" fmla="*/ 866692 w 6114789"/>
              <a:gd name="connsiteY58" fmla="*/ 39757 h 962379"/>
              <a:gd name="connsiteX59" fmla="*/ 834887 w 6114789"/>
              <a:gd name="connsiteY59" fmla="*/ 31805 h 962379"/>
              <a:gd name="connsiteX60" fmla="*/ 779228 w 6114789"/>
              <a:gd name="connsiteY60" fmla="*/ 23854 h 962379"/>
              <a:gd name="connsiteX61" fmla="*/ 652007 w 6114789"/>
              <a:gd name="connsiteY61" fmla="*/ 15903 h 962379"/>
              <a:gd name="connsiteX62" fmla="*/ 564543 w 6114789"/>
              <a:gd name="connsiteY62" fmla="*/ 0 h 962379"/>
              <a:gd name="connsiteX63" fmla="*/ 532738 w 6114789"/>
              <a:gd name="connsiteY63" fmla="*/ 7951 h 962379"/>
              <a:gd name="connsiteX64" fmla="*/ 508884 w 6114789"/>
              <a:gd name="connsiteY64" fmla="*/ 23854 h 962379"/>
              <a:gd name="connsiteX65" fmla="*/ 485030 w 6114789"/>
              <a:gd name="connsiteY65" fmla="*/ 47708 h 962379"/>
              <a:gd name="connsiteX66" fmla="*/ 461176 w 6114789"/>
              <a:gd name="connsiteY66" fmla="*/ 55659 h 962379"/>
              <a:gd name="connsiteX67" fmla="*/ 437322 w 6114789"/>
              <a:gd name="connsiteY67" fmla="*/ 79513 h 962379"/>
              <a:gd name="connsiteX68" fmla="*/ 405517 w 6114789"/>
              <a:gd name="connsiteY68" fmla="*/ 95416 h 962379"/>
              <a:gd name="connsiteX69" fmla="*/ 357809 w 6114789"/>
              <a:gd name="connsiteY69" fmla="*/ 127221 h 962379"/>
              <a:gd name="connsiteX70" fmla="*/ 310101 w 6114789"/>
              <a:gd name="connsiteY70" fmla="*/ 159026 h 962379"/>
              <a:gd name="connsiteX71" fmla="*/ 262393 w 6114789"/>
              <a:gd name="connsiteY71" fmla="*/ 174929 h 962379"/>
              <a:gd name="connsiteX72" fmla="*/ 190832 w 6114789"/>
              <a:gd name="connsiteY72" fmla="*/ 190831 h 962379"/>
              <a:gd name="connsiteX73" fmla="*/ 143124 w 6114789"/>
              <a:gd name="connsiteY73" fmla="*/ 206734 h 962379"/>
              <a:gd name="connsiteX74" fmla="*/ 119270 w 6114789"/>
              <a:gd name="connsiteY74" fmla="*/ 214685 h 962379"/>
              <a:gd name="connsiteX75" fmla="*/ 95416 w 6114789"/>
              <a:gd name="connsiteY75" fmla="*/ 222637 h 962379"/>
              <a:gd name="connsiteX76" fmla="*/ 71562 w 6114789"/>
              <a:gd name="connsiteY76" fmla="*/ 230588 h 962379"/>
              <a:gd name="connsiteX77" fmla="*/ 47708 w 6114789"/>
              <a:gd name="connsiteY77" fmla="*/ 246491 h 962379"/>
              <a:gd name="connsiteX78" fmla="*/ 15903 w 6114789"/>
              <a:gd name="connsiteY78" fmla="*/ 318052 h 962379"/>
              <a:gd name="connsiteX79" fmla="*/ 7952 w 6114789"/>
              <a:gd name="connsiteY79" fmla="*/ 341906 h 962379"/>
              <a:gd name="connsiteX80" fmla="*/ 0 w 6114789"/>
              <a:gd name="connsiteY80" fmla="*/ 365760 h 962379"/>
              <a:gd name="connsiteX81" fmla="*/ 31805 w 6114789"/>
              <a:gd name="connsiteY81" fmla="*/ 437322 h 962379"/>
              <a:gd name="connsiteX82" fmla="*/ 39757 w 6114789"/>
              <a:gd name="connsiteY82" fmla="*/ 461176 h 962379"/>
              <a:gd name="connsiteX83" fmla="*/ 47708 w 6114789"/>
              <a:gd name="connsiteY83" fmla="*/ 492981 h 962379"/>
              <a:gd name="connsiteX84" fmla="*/ 71562 w 6114789"/>
              <a:gd name="connsiteY84" fmla="*/ 500932 h 962379"/>
              <a:gd name="connsiteX85" fmla="*/ 190832 w 6114789"/>
              <a:gd name="connsiteY85" fmla="*/ 508884 h 962379"/>
              <a:gd name="connsiteX86" fmla="*/ 302150 w 6114789"/>
              <a:gd name="connsiteY86" fmla="*/ 500932 h 962379"/>
              <a:gd name="connsiteX87" fmla="*/ 357809 w 6114789"/>
              <a:gd name="connsiteY87" fmla="*/ 492981 h 962379"/>
              <a:gd name="connsiteX88" fmla="*/ 588397 w 6114789"/>
              <a:gd name="connsiteY88" fmla="*/ 485030 h 962379"/>
              <a:gd name="connsiteX89" fmla="*/ 659958 w 6114789"/>
              <a:gd name="connsiteY89" fmla="*/ 469127 h 962379"/>
              <a:gd name="connsiteX90" fmla="*/ 803082 w 6114789"/>
              <a:gd name="connsiteY90" fmla="*/ 461176 h 962379"/>
              <a:gd name="connsiteX91" fmla="*/ 842838 w 6114789"/>
              <a:gd name="connsiteY91" fmla="*/ 453224 h 962379"/>
              <a:gd name="connsiteX92" fmla="*/ 874644 w 6114789"/>
              <a:gd name="connsiteY92" fmla="*/ 445273 h 962379"/>
              <a:gd name="connsiteX93" fmla="*/ 938254 w 6114789"/>
              <a:gd name="connsiteY93" fmla="*/ 437322 h 962379"/>
              <a:gd name="connsiteX94" fmla="*/ 1152939 w 6114789"/>
              <a:gd name="connsiteY94" fmla="*/ 421419 h 962379"/>
              <a:gd name="connsiteX95" fmla="*/ 1264258 w 6114789"/>
              <a:gd name="connsiteY95" fmla="*/ 429371 h 962379"/>
              <a:gd name="connsiteX96" fmla="*/ 1304014 w 6114789"/>
              <a:gd name="connsiteY96" fmla="*/ 469127 h 962379"/>
              <a:gd name="connsiteX97" fmla="*/ 1343771 w 6114789"/>
              <a:gd name="connsiteY97" fmla="*/ 532738 h 962379"/>
              <a:gd name="connsiteX98" fmla="*/ 1351722 w 6114789"/>
              <a:gd name="connsiteY98" fmla="*/ 556591 h 962379"/>
              <a:gd name="connsiteX99" fmla="*/ 1367625 w 6114789"/>
              <a:gd name="connsiteY99" fmla="*/ 628153 h 962379"/>
              <a:gd name="connsiteX100" fmla="*/ 1383527 w 6114789"/>
              <a:gd name="connsiteY100" fmla="*/ 739471 h 962379"/>
              <a:gd name="connsiteX101" fmla="*/ 1391478 w 6114789"/>
              <a:gd name="connsiteY101" fmla="*/ 763325 h 962379"/>
              <a:gd name="connsiteX102" fmla="*/ 1407381 w 6114789"/>
              <a:gd name="connsiteY102" fmla="*/ 787179 h 962379"/>
              <a:gd name="connsiteX103" fmla="*/ 1439186 w 6114789"/>
              <a:gd name="connsiteY103" fmla="*/ 858741 h 962379"/>
              <a:gd name="connsiteX104" fmla="*/ 1463040 w 6114789"/>
              <a:gd name="connsiteY104" fmla="*/ 874644 h 962379"/>
              <a:gd name="connsiteX105" fmla="*/ 1486894 w 6114789"/>
              <a:gd name="connsiteY105" fmla="*/ 882595 h 962379"/>
              <a:gd name="connsiteX106" fmla="*/ 1598212 w 6114789"/>
              <a:gd name="connsiteY106" fmla="*/ 874644 h 962379"/>
              <a:gd name="connsiteX107" fmla="*/ 1709531 w 6114789"/>
              <a:gd name="connsiteY107" fmla="*/ 874644 h 962379"/>
              <a:gd name="connsiteX108" fmla="*/ 1765190 w 6114789"/>
              <a:gd name="connsiteY108" fmla="*/ 890546 h 962379"/>
              <a:gd name="connsiteX109" fmla="*/ 1812898 w 6114789"/>
              <a:gd name="connsiteY109" fmla="*/ 906449 h 962379"/>
              <a:gd name="connsiteX110" fmla="*/ 1900362 w 6114789"/>
              <a:gd name="connsiteY110" fmla="*/ 898498 h 962379"/>
              <a:gd name="connsiteX111" fmla="*/ 1932167 w 6114789"/>
              <a:gd name="connsiteY111" fmla="*/ 890546 h 962379"/>
              <a:gd name="connsiteX112" fmla="*/ 2019632 w 6114789"/>
              <a:gd name="connsiteY112" fmla="*/ 882595 h 962379"/>
              <a:gd name="connsiteX113" fmla="*/ 2107096 w 6114789"/>
              <a:gd name="connsiteY113" fmla="*/ 890546 h 962379"/>
              <a:gd name="connsiteX114" fmla="*/ 2449002 w 6114789"/>
              <a:gd name="connsiteY114" fmla="*/ 874644 h 962379"/>
              <a:gd name="connsiteX115" fmla="*/ 2480807 w 6114789"/>
              <a:gd name="connsiteY115" fmla="*/ 850790 h 962379"/>
              <a:gd name="connsiteX116" fmla="*/ 2584174 w 6114789"/>
              <a:gd name="connsiteY116" fmla="*/ 850790 h 962379"/>
              <a:gd name="connsiteX117" fmla="*/ 2798859 w 6114789"/>
              <a:gd name="connsiteY117" fmla="*/ 858741 h 962379"/>
              <a:gd name="connsiteX118" fmla="*/ 2854518 w 6114789"/>
              <a:gd name="connsiteY118" fmla="*/ 866692 h 962379"/>
              <a:gd name="connsiteX119" fmla="*/ 2926080 w 6114789"/>
              <a:gd name="connsiteY119" fmla="*/ 866692 h 962379"/>
              <a:gd name="connsiteX120" fmla="*/ 2957885 w 6114789"/>
              <a:gd name="connsiteY120" fmla="*/ 882595 h 962379"/>
              <a:gd name="connsiteX121" fmla="*/ 2981739 w 6114789"/>
              <a:gd name="connsiteY121" fmla="*/ 866692 h 962379"/>
              <a:gd name="connsiteX122" fmla="*/ 2973788 w 6114789"/>
              <a:gd name="connsiteY122" fmla="*/ 882595 h 962379"/>
              <a:gd name="connsiteX123" fmla="*/ 3442915 w 6114789"/>
              <a:gd name="connsiteY123" fmla="*/ 882595 h 962379"/>
              <a:gd name="connsiteX124" fmla="*/ 3530379 w 6114789"/>
              <a:gd name="connsiteY124" fmla="*/ 858741 h 962379"/>
              <a:gd name="connsiteX125" fmla="*/ 3593990 w 6114789"/>
              <a:gd name="connsiteY125" fmla="*/ 850790 h 962379"/>
              <a:gd name="connsiteX126" fmla="*/ 3625795 w 6114789"/>
              <a:gd name="connsiteY126" fmla="*/ 842838 h 962379"/>
              <a:gd name="connsiteX127" fmla="*/ 3673503 w 6114789"/>
              <a:gd name="connsiteY127" fmla="*/ 826936 h 962379"/>
              <a:gd name="connsiteX128" fmla="*/ 3760967 w 6114789"/>
              <a:gd name="connsiteY128" fmla="*/ 818984 h 962379"/>
              <a:gd name="connsiteX129" fmla="*/ 3848432 w 6114789"/>
              <a:gd name="connsiteY129" fmla="*/ 803082 h 962379"/>
              <a:gd name="connsiteX130" fmla="*/ 3888188 w 6114789"/>
              <a:gd name="connsiteY130" fmla="*/ 795131 h 962379"/>
              <a:gd name="connsiteX131" fmla="*/ 4047214 w 6114789"/>
              <a:gd name="connsiteY131" fmla="*/ 787179 h 962379"/>
              <a:gd name="connsiteX132" fmla="*/ 4166484 w 6114789"/>
              <a:gd name="connsiteY132" fmla="*/ 771277 h 962379"/>
              <a:gd name="connsiteX133" fmla="*/ 4214192 w 6114789"/>
              <a:gd name="connsiteY133" fmla="*/ 755374 h 962379"/>
              <a:gd name="connsiteX134" fmla="*/ 4238045 w 6114789"/>
              <a:gd name="connsiteY134" fmla="*/ 747423 h 962379"/>
              <a:gd name="connsiteX135" fmla="*/ 4325510 w 6114789"/>
              <a:gd name="connsiteY135" fmla="*/ 723569 h 962379"/>
              <a:gd name="connsiteX136" fmla="*/ 4389120 w 6114789"/>
              <a:gd name="connsiteY136" fmla="*/ 707666 h 962379"/>
              <a:gd name="connsiteX137" fmla="*/ 4643562 w 6114789"/>
              <a:gd name="connsiteY137" fmla="*/ 699715 h 962379"/>
              <a:gd name="connsiteX138" fmla="*/ 4731026 w 6114789"/>
              <a:gd name="connsiteY138" fmla="*/ 683812 h 962379"/>
              <a:gd name="connsiteX139" fmla="*/ 4882101 w 6114789"/>
              <a:gd name="connsiteY139" fmla="*/ 691764 h 962379"/>
              <a:gd name="connsiteX140" fmla="*/ 4898004 w 6114789"/>
              <a:gd name="connsiteY140" fmla="*/ 874644 h 962379"/>
              <a:gd name="connsiteX141" fmla="*/ 4921858 w 6114789"/>
              <a:gd name="connsiteY141" fmla="*/ 962108 h 962379"/>
              <a:gd name="connsiteX142" fmla="*/ 4898004 w 6114789"/>
              <a:gd name="connsiteY142" fmla="*/ 954157 h 962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114789" h="962379">
                <a:moveTo>
                  <a:pt x="6106602" y="47708"/>
                </a:moveTo>
                <a:cubicBezTo>
                  <a:pt x="6113441" y="95585"/>
                  <a:pt x="6120965" y="111149"/>
                  <a:pt x="6106602" y="159026"/>
                </a:cubicBezTo>
                <a:cubicBezTo>
                  <a:pt x="6103856" y="168179"/>
                  <a:pt x="6097891" y="176587"/>
                  <a:pt x="6090699" y="182880"/>
                </a:cubicBezTo>
                <a:cubicBezTo>
                  <a:pt x="6076316" y="195466"/>
                  <a:pt x="6061123" y="208641"/>
                  <a:pt x="6042992" y="214685"/>
                </a:cubicBezTo>
                <a:lnTo>
                  <a:pt x="5995284" y="230588"/>
                </a:lnTo>
                <a:lnTo>
                  <a:pt x="5756745" y="222637"/>
                </a:lnTo>
                <a:cubicBezTo>
                  <a:pt x="5720668" y="220877"/>
                  <a:pt x="5636651" y="211060"/>
                  <a:pt x="5597718" y="206734"/>
                </a:cubicBezTo>
                <a:cubicBezTo>
                  <a:pt x="5502303" y="209384"/>
                  <a:pt x="5406682" y="207884"/>
                  <a:pt x="5311472" y="214685"/>
                </a:cubicBezTo>
                <a:cubicBezTo>
                  <a:pt x="5294752" y="215879"/>
                  <a:pt x="5263764" y="230588"/>
                  <a:pt x="5263764" y="230588"/>
                </a:cubicBezTo>
                <a:cubicBezTo>
                  <a:pt x="5258463" y="238539"/>
                  <a:pt x="5253979" y="247101"/>
                  <a:pt x="5247861" y="254442"/>
                </a:cubicBezTo>
                <a:cubicBezTo>
                  <a:pt x="5240662" y="263081"/>
                  <a:pt x="5230244" y="268940"/>
                  <a:pt x="5224007" y="278296"/>
                </a:cubicBezTo>
                <a:cubicBezTo>
                  <a:pt x="5219358" y="285270"/>
                  <a:pt x="5220705" y="295176"/>
                  <a:pt x="5216056" y="302150"/>
                </a:cubicBezTo>
                <a:cubicBezTo>
                  <a:pt x="5209819" y="311506"/>
                  <a:pt x="5199106" y="317128"/>
                  <a:pt x="5192202" y="326004"/>
                </a:cubicBezTo>
                <a:cubicBezTo>
                  <a:pt x="5180468" y="341090"/>
                  <a:pt x="5170999" y="357809"/>
                  <a:pt x="5160397" y="373711"/>
                </a:cubicBezTo>
                <a:lnTo>
                  <a:pt x="5144494" y="397565"/>
                </a:lnTo>
                <a:cubicBezTo>
                  <a:pt x="5141844" y="405516"/>
                  <a:pt x="5140291" y="413922"/>
                  <a:pt x="5136543" y="421419"/>
                </a:cubicBezTo>
                <a:cubicBezTo>
                  <a:pt x="5127608" y="439289"/>
                  <a:pt x="5111858" y="456567"/>
                  <a:pt x="5096786" y="469127"/>
                </a:cubicBezTo>
                <a:cubicBezTo>
                  <a:pt x="5089445" y="475245"/>
                  <a:pt x="5081665" y="481149"/>
                  <a:pt x="5072932" y="485030"/>
                </a:cubicBezTo>
                <a:cubicBezTo>
                  <a:pt x="5057614" y="491838"/>
                  <a:pt x="5025225" y="500932"/>
                  <a:pt x="5025225" y="500932"/>
                </a:cubicBezTo>
                <a:lnTo>
                  <a:pt x="4206240" y="492981"/>
                </a:lnTo>
                <a:cubicBezTo>
                  <a:pt x="4169045" y="492345"/>
                  <a:pt x="4131918" y="488924"/>
                  <a:pt x="4094922" y="485030"/>
                </a:cubicBezTo>
                <a:cubicBezTo>
                  <a:pt x="4081481" y="483615"/>
                  <a:pt x="4068514" y="479186"/>
                  <a:pt x="4055165" y="477078"/>
                </a:cubicBezTo>
                <a:cubicBezTo>
                  <a:pt x="4018141" y="471232"/>
                  <a:pt x="3981219" y="464051"/>
                  <a:pt x="3943847" y="461176"/>
                </a:cubicBezTo>
                <a:lnTo>
                  <a:pt x="3840480" y="453224"/>
                </a:lnTo>
                <a:cubicBezTo>
                  <a:pt x="3777242" y="432146"/>
                  <a:pt x="3842028" y="452160"/>
                  <a:pt x="3705308" y="429371"/>
                </a:cubicBezTo>
                <a:cubicBezTo>
                  <a:pt x="3646821" y="419622"/>
                  <a:pt x="3673241" y="425329"/>
                  <a:pt x="3625795" y="413468"/>
                </a:cubicBezTo>
                <a:cubicBezTo>
                  <a:pt x="3572787" y="386963"/>
                  <a:pt x="3609520" y="400919"/>
                  <a:pt x="3530379" y="389614"/>
                </a:cubicBezTo>
                <a:cubicBezTo>
                  <a:pt x="3514419" y="387334"/>
                  <a:pt x="3498683" y="383547"/>
                  <a:pt x="3482672" y="381663"/>
                </a:cubicBezTo>
                <a:cubicBezTo>
                  <a:pt x="3453597" y="378242"/>
                  <a:pt x="3424303" y="376944"/>
                  <a:pt x="3395207" y="373711"/>
                </a:cubicBezTo>
                <a:cubicBezTo>
                  <a:pt x="3336428" y="367180"/>
                  <a:pt x="3350528" y="367033"/>
                  <a:pt x="3299792" y="357809"/>
                </a:cubicBezTo>
                <a:cubicBezTo>
                  <a:pt x="3283930" y="354925"/>
                  <a:pt x="3267987" y="352508"/>
                  <a:pt x="3252084" y="349858"/>
                </a:cubicBezTo>
                <a:cubicBezTo>
                  <a:pt x="3208700" y="335395"/>
                  <a:pt x="3240442" y="344396"/>
                  <a:pt x="3172571" y="333955"/>
                </a:cubicBezTo>
                <a:cubicBezTo>
                  <a:pt x="3061360" y="316846"/>
                  <a:pt x="3202413" y="335504"/>
                  <a:pt x="3045350" y="318052"/>
                </a:cubicBezTo>
                <a:cubicBezTo>
                  <a:pt x="2932749" y="305541"/>
                  <a:pt x="3029549" y="315084"/>
                  <a:pt x="2926080" y="302150"/>
                </a:cubicBezTo>
                <a:cubicBezTo>
                  <a:pt x="2902265" y="299173"/>
                  <a:pt x="2878372" y="296849"/>
                  <a:pt x="2854518" y="294198"/>
                </a:cubicBezTo>
                <a:cubicBezTo>
                  <a:pt x="2833315" y="288897"/>
                  <a:pt x="2811642" y="285208"/>
                  <a:pt x="2790908" y="278296"/>
                </a:cubicBezTo>
                <a:cubicBezTo>
                  <a:pt x="2782957" y="275645"/>
                  <a:pt x="2775273" y="271988"/>
                  <a:pt x="2767054" y="270344"/>
                </a:cubicBezTo>
                <a:cubicBezTo>
                  <a:pt x="2748677" y="266668"/>
                  <a:pt x="2729948" y="265043"/>
                  <a:pt x="2711395" y="262393"/>
                </a:cubicBezTo>
                <a:cubicBezTo>
                  <a:pt x="2703444" y="259743"/>
                  <a:pt x="2695795" y="255899"/>
                  <a:pt x="2687541" y="254442"/>
                </a:cubicBezTo>
                <a:cubicBezTo>
                  <a:pt x="2582925" y="235980"/>
                  <a:pt x="2564568" y="237762"/>
                  <a:pt x="2456953" y="230588"/>
                </a:cubicBezTo>
                <a:cubicBezTo>
                  <a:pt x="2425148" y="225287"/>
                  <a:pt x="2393533" y="218684"/>
                  <a:pt x="2361538" y="214685"/>
                </a:cubicBezTo>
                <a:cubicBezTo>
                  <a:pt x="2340334" y="212035"/>
                  <a:pt x="2319059" y="209904"/>
                  <a:pt x="2297927" y="206734"/>
                </a:cubicBezTo>
                <a:cubicBezTo>
                  <a:pt x="2266040" y="201951"/>
                  <a:pt x="2234130" y="197154"/>
                  <a:pt x="2202512" y="190831"/>
                </a:cubicBezTo>
                <a:cubicBezTo>
                  <a:pt x="2176007" y="185530"/>
                  <a:pt x="2149660" y="179373"/>
                  <a:pt x="2122998" y="174929"/>
                </a:cubicBezTo>
                <a:cubicBezTo>
                  <a:pt x="1973413" y="149997"/>
                  <a:pt x="2077738" y="172483"/>
                  <a:pt x="1979875" y="143124"/>
                </a:cubicBezTo>
                <a:cubicBezTo>
                  <a:pt x="1969408" y="139984"/>
                  <a:pt x="1958537" y="138312"/>
                  <a:pt x="1948070" y="135172"/>
                </a:cubicBezTo>
                <a:cubicBezTo>
                  <a:pt x="1932014" y="130355"/>
                  <a:pt x="1900362" y="119270"/>
                  <a:pt x="1900362" y="119270"/>
                </a:cubicBezTo>
                <a:cubicBezTo>
                  <a:pt x="1889760" y="111319"/>
                  <a:pt x="1880063" y="101991"/>
                  <a:pt x="1868557" y="95416"/>
                </a:cubicBezTo>
                <a:cubicBezTo>
                  <a:pt x="1861280" y="91258"/>
                  <a:pt x="1851248" y="92700"/>
                  <a:pt x="1844703" y="87464"/>
                </a:cubicBezTo>
                <a:cubicBezTo>
                  <a:pt x="1837241" y="81494"/>
                  <a:pt x="1836904" y="68676"/>
                  <a:pt x="1828800" y="63611"/>
                </a:cubicBezTo>
                <a:cubicBezTo>
                  <a:pt x="1814585" y="54727"/>
                  <a:pt x="1781092" y="47708"/>
                  <a:pt x="1781092" y="47708"/>
                </a:cubicBezTo>
                <a:cubicBezTo>
                  <a:pt x="1770490" y="50358"/>
                  <a:pt x="1749287" y="44731"/>
                  <a:pt x="1749287" y="55659"/>
                </a:cubicBezTo>
                <a:cubicBezTo>
                  <a:pt x="1749287" y="68911"/>
                  <a:pt x="1769728" y="72695"/>
                  <a:pt x="1781092" y="79513"/>
                </a:cubicBezTo>
                <a:cubicBezTo>
                  <a:pt x="1796338" y="88661"/>
                  <a:pt x="1816228" y="90795"/>
                  <a:pt x="1828800" y="103367"/>
                </a:cubicBezTo>
                <a:cubicBezTo>
                  <a:pt x="1836527" y="111094"/>
                  <a:pt x="1807597" y="98066"/>
                  <a:pt x="1796995" y="95416"/>
                </a:cubicBezTo>
                <a:cubicBezTo>
                  <a:pt x="1786393" y="90115"/>
                  <a:pt x="1776625" y="82632"/>
                  <a:pt x="1765190" y="79513"/>
                </a:cubicBezTo>
                <a:cubicBezTo>
                  <a:pt x="1735618" y="71448"/>
                  <a:pt x="1617034" y="64199"/>
                  <a:pt x="1606164" y="63611"/>
                </a:cubicBezTo>
                <a:cubicBezTo>
                  <a:pt x="1542591" y="60175"/>
                  <a:pt x="1478943" y="58310"/>
                  <a:pt x="1415332" y="55659"/>
                </a:cubicBezTo>
                <a:cubicBezTo>
                  <a:pt x="1205858" y="13765"/>
                  <a:pt x="1431314" y="56364"/>
                  <a:pt x="866692" y="39757"/>
                </a:cubicBezTo>
                <a:cubicBezTo>
                  <a:pt x="855769" y="39436"/>
                  <a:pt x="845639" y="33760"/>
                  <a:pt x="834887" y="31805"/>
                </a:cubicBezTo>
                <a:cubicBezTo>
                  <a:pt x="816448" y="28452"/>
                  <a:pt x="797899" y="25477"/>
                  <a:pt x="779228" y="23854"/>
                </a:cubicBezTo>
                <a:cubicBezTo>
                  <a:pt x="736898" y="20173"/>
                  <a:pt x="694414" y="18553"/>
                  <a:pt x="652007" y="15903"/>
                </a:cubicBezTo>
                <a:cubicBezTo>
                  <a:pt x="639075" y="13316"/>
                  <a:pt x="574723" y="0"/>
                  <a:pt x="564543" y="0"/>
                </a:cubicBezTo>
                <a:cubicBezTo>
                  <a:pt x="553615" y="0"/>
                  <a:pt x="543340" y="5301"/>
                  <a:pt x="532738" y="7951"/>
                </a:cubicBezTo>
                <a:cubicBezTo>
                  <a:pt x="524787" y="13252"/>
                  <a:pt x="516225" y="17736"/>
                  <a:pt x="508884" y="23854"/>
                </a:cubicBezTo>
                <a:cubicBezTo>
                  <a:pt x="500245" y="31053"/>
                  <a:pt x="494386" y="41471"/>
                  <a:pt x="485030" y="47708"/>
                </a:cubicBezTo>
                <a:cubicBezTo>
                  <a:pt x="478056" y="52357"/>
                  <a:pt x="469127" y="53009"/>
                  <a:pt x="461176" y="55659"/>
                </a:cubicBezTo>
                <a:cubicBezTo>
                  <a:pt x="453225" y="63610"/>
                  <a:pt x="446472" y="72977"/>
                  <a:pt x="437322" y="79513"/>
                </a:cubicBezTo>
                <a:cubicBezTo>
                  <a:pt x="427677" y="86403"/>
                  <a:pt x="415681" y="89318"/>
                  <a:pt x="405517" y="95416"/>
                </a:cubicBezTo>
                <a:cubicBezTo>
                  <a:pt x="389128" y="105249"/>
                  <a:pt x="373712" y="116619"/>
                  <a:pt x="357809" y="127221"/>
                </a:cubicBezTo>
                <a:lnTo>
                  <a:pt x="310101" y="159026"/>
                </a:lnTo>
                <a:cubicBezTo>
                  <a:pt x="294198" y="164327"/>
                  <a:pt x="278830" y="171642"/>
                  <a:pt x="262393" y="174929"/>
                </a:cubicBezTo>
                <a:cubicBezTo>
                  <a:pt x="239698" y="179468"/>
                  <a:pt x="213287" y="184094"/>
                  <a:pt x="190832" y="190831"/>
                </a:cubicBezTo>
                <a:cubicBezTo>
                  <a:pt x="174776" y="195648"/>
                  <a:pt x="159027" y="201433"/>
                  <a:pt x="143124" y="206734"/>
                </a:cubicBezTo>
                <a:lnTo>
                  <a:pt x="119270" y="214685"/>
                </a:lnTo>
                <a:lnTo>
                  <a:pt x="95416" y="222637"/>
                </a:lnTo>
                <a:lnTo>
                  <a:pt x="71562" y="230588"/>
                </a:lnTo>
                <a:cubicBezTo>
                  <a:pt x="63611" y="235889"/>
                  <a:pt x="54465" y="239734"/>
                  <a:pt x="47708" y="246491"/>
                </a:cubicBezTo>
                <a:cubicBezTo>
                  <a:pt x="28805" y="265393"/>
                  <a:pt x="23777" y="294428"/>
                  <a:pt x="15903" y="318052"/>
                </a:cubicBezTo>
                <a:lnTo>
                  <a:pt x="7952" y="341906"/>
                </a:lnTo>
                <a:lnTo>
                  <a:pt x="0" y="365760"/>
                </a:lnTo>
                <a:cubicBezTo>
                  <a:pt x="41026" y="488835"/>
                  <a:pt x="-5994" y="361723"/>
                  <a:pt x="31805" y="437322"/>
                </a:cubicBezTo>
                <a:cubicBezTo>
                  <a:pt x="35553" y="444819"/>
                  <a:pt x="37454" y="453117"/>
                  <a:pt x="39757" y="461176"/>
                </a:cubicBezTo>
                <a:cubicBezTo>
                  <a:pt x="42759" y="471683"/>
                  <a:pt x="40881" y="484448"/>
                  <a:pt x="47708" y="492981"/>
                </a:cubicBezTo>
                <a:cubicBezTo>
                  <a:pt x="52944" y="499526"/>
                  <a:pt x="63232" y="500006"/>
                  <a:pt x="71562" y="500932"/>
                </a:cubicBezTo>
                <a:cubicBezTo>
                  <a:pt x="111163" y="505332"/>
                  <a:pt x="151075" y="506233"/>
                  <a:pt x="190832" y="508884"/>
                </a:cubicBezTo>
                <a:cubicBezTo>
                  <a:pt x="227938" y="506233"/>
                  <a:pt x="265117" y="504459"/>
                  <a:pt x="302150" y="500932"/>
                </a:cubicBezTo>
                <a:cubicBezTo>
                  <a:pt x="320807" y="499155"/>
                  <a:pt x="339097" y="494021"/>
                  <a:pt x="357809" y="492981"/>
                </a:cubicBezTo>
                <a:cubicBezTo>
                  <a:pt x="434599" y="488715"/>
                  <a:pt x="511534" y="487680"/>
                  <a:pt x="588397" y="485030"/>
                </a:cubicBezTo>
                <a:cubicBezTo>
                  <a:pt x="605021" y="480874"/>
                  <a:pt x="644474" y="470473"/>
                  <a:pt x="659958" y="469127"/>
                </a:cubicBezTo>
                <a:cubicBezTo>
                  <a:pt x="707560" y="464988"/>
                  <a:pt x="755374" y="463826"/>
                  <a:pt x="803082" y="461176"/>
                </a:cubicBezTo>
                <a:cubicBezTo>
                  <a:pt x="816334" y="458525"/>
                  <a:pt x="829645" y="456156"/>
                  <a:pt x="842838" y="453224"/>
                </a:cubicBezTo>
                <a:cubicBezTo>
                  <a:pt x="853506" y="450853"/>
                  <a:pt x="863864" y="447070"/>
                  <a:pt x="874644" y="445273"/>
                </a:cubicBezTo>
                <a:cubicBezTo>
                  <a:pt x="895722" y="441760"/>
                  <a:pt x="917032" y="439819"/>
                  <a:pt x="938254" y="437322"/>
                </a:cubicBezTo>
                <a:cubicBezTo>
                  <a:pt x="1044771" y="424791"/>
                  <a:pt x="1010805" y="429316"/>
                  <a:pt x="1152939" y="421419"/>
                </a:cubicBezTo>
                <a:cubicBezTo>
                  <a:pt x="1190045" y="424070"/>
                  <a:pt x="1227623" y="422906"/>
                  <a:pt x="1264258" y="429371"/>
                </a:cubicBezTo>
                <a:cubicBezTo>
                  <a:pt x="1283623" y="432788"/>
                  <a:pt x="1295252" y="455107"/>
                  <a:pt x="1304014" y="469127"/>
                </a:cubicBezTo>
                <a:cubicBezTo>
                  <a:pt x="1351946" y="545820"/>
                  <a:pt x="1307447" y="478253"/>
                  <a:pt x="1343771" y="532738"/>
                </a:cubicBezTo>
                <a:cubicBezTo>
                  <a:pt x="1346421" y="540689"/>
                  <a:pt x="1349420" y="548532"/>
                  <a:pt x="1351722" y="556591"/>
                </a:cubicBezTo>
                <a:cubicBezTo>
                  <a:pt x="1359205" y="582783"/>
                  <a:pt x="1362161" y="600837"/>
                  <a:pt x="1367625" y="628153"/>
                </a:cubicBezTo>
                <a:cubicBezTo>
                  <a:pt x="1373961" y="691519"/>
                  <a:pt x="1370224" y="692910"/>
                  <a:pt x="1383527" y="739471"/>
                </a:cubicBezTo>
                <a:cubicBezTo>
                  <a:pt x="1385829" y="747530"/>
                  <a:pt x="1387730" y="755828"/>
                  <a:pt x="1391478" y="763325"/>
                </a:cubicBezTo>
                <a:cubicBezTo>
                  <a:pt x="1395752" y="771872"/>
                  <a:pt x="1402080" y="779228"/>
                  <a:pt x="1407381" y="787179"/>
                </a:cubicBezTo>
                <a:cubicBezTo>
                  <a:pt x="1415254" y="810796"/>
                  <a:pt x="1420287" y="839841"/>
                  <a:pt x="1439186" y="858741"/>
                </a:cubicBezTo>
                <a:cubicBezTo>
                  <a:pt x="1445943" y="865498"/>
                  <a:pt x="1454493" y="870370"/>
                  <a:pt x="1463040" y="874644"/>
                </a:cubicBezTo>
                <a:cubicBezTo>
                  <a:pt x="1470537" y="878392"/>
                  <a:pt x="1478943" y="879945"/>
                  <a:pt x="1486894" y="882595"/>
                </a:cubicBezTo>
                <a:lnTo>
                  <a:pt x="1598212" y="874644"/>
                </a:lnTo>
                <a:cubicBezTo>
                  <a:pt x="1668095" y="868291"/>
                  <a:pt x="1648083" y="860464"/>
                  <a:pt x="1709531" y="874644"/>
                </a:cubicBezTo>
                <a:cubicBezTo>
                  <a:pt x="1728332" y="878983"/>
                  <a:pt x="1746748" y="884872"/>
                  <a:pt x="1765190" y="890546"/>
                </a:cubicBezTo>
                <a:cubicBezTo>
                  <a:pt x="1781212" y="895476"/>
                  <a:pt x="1812898" y="906449"/>
                  <a:pt x="1812898" y="906449"/>
                </a:cubicBezTo>
                <a:cubicBezTo>
                  <a:pt x="1842053" y="903799"/>
                  <a:pt x="1871344" y="902367"/>
                  <a:pt x="1900362" y="898498"/>
                </a:cubicBezTo>
                <a:cubicBezTo>
                  <a:pt x="1911194" y="897054"/>
                  <a:pt x="1921335" y="891990"/>
                  <a:pt x="1932167" y="890546"/>
                </a:cubicBezTo>
                <a:cubicBezTo>
                  <a:pt x="1961185" y="886677"/>
                  <a:pt x="1990477" y="885245"/>
                  <a:pt x="2019632" y="882595"/>
                </a:cubicBezTo>
                <a:cubicBezTo>
                  <a:pt x="2086863" y="909489"/>
                  <a:pt x="2031183" y="895194"/>
                  <a:pt x="2107096" y="890546"/>
                </a:cubicBezTo>
                <a:cubicBezTo>
                  <a:pt x="2220975" y="883574"/>
                  <a:pt x="2449002" y="874644"/>
                  <a:pt x="2449002" y="874644"/>
                </a:cubicBezTo>
                <a:cubicBezTo>
                  <a:pt x="2459604" y="866693"/>
                  <a:pt x="2469301" y="857365"/>
                  <a:pt x="2480807" y="850790"/>
                </a:cubicBezTo>
                <a:cubicBezTo>
                  <a:pt x="2513264" y="832243"/>
                  <a:pt x="2549289" y="848904"/>
                  <a:pt x="2584174" y="850790"/>
                </a:cubicBezTo>
                <a:cubicBezTo>
                  <a:pt x="2655680" y="854655"/>
                  <a:pt x="2727297" y="856091"/>
                  <a:pt x="2798859" y="858741"/>
                </a:cubicBezTo>
                <a:cubicBezTo>
                  <a:pt x="2817412" y="861391"/>
                  <a:pt x="2835777" y="866692"/>
                  <a:pt x="2854518" y="866692"/>
                </a:cubicBezTo>
                <a:cubicBezTo>
                  <a:pt x="2955579" y="866692"/>
                  <a:pt x="2806177" y="842712"/>
                  <a:pt x="2926080" y="866692"/>
                </a:cubicBezTo>
                <a:cubicBezTo>
                  <a:pt x="2935168" y="893953"/>
                  <a:pt x="2927595" y="897740"/>
                  <a:pt x="2957885" y="882595"/>
                </a:cubicBezTo>
                <a:cubicBezTo>
                  <a:pt x="2966432" y="878321"/>
                  <a:pt x="2988496" y="859935"/>
                  <a:pt x="2981739" y="866692"/>
                </a:cubicBezTo>
                <a:cubicBezTo>
                  <a:pt x="2957669" y="890762"/>
                  <a:pt x="2928229" y="897781"/>
                  <a:pt x="2973788" y="882595"/>
                </a:cubicBezTo>
                <a:cubicBezTo>
                  <a:pt x="3156534" y="908701"/>
                  <a:pt x="3079669" y="900757"/>
                  <a:pt x="3442915" y="882595"/>
                </a:cubicBezTo>
                <a:cubicBezTo>
                  <a:pt x="3539446" y="877768"/>
                  <a:pt x="3476284" y="868576"/>
                  <a:pt x="3530379" y="858741"/>
                </a:cubicBezTo>
                <a:cubicBezTo>
                  <a:pt x="3551403" y="854919"/>
                  <a:pt x="3572786" y="853440"/>
                  <a:pt x="3593990" y="850790"/>
                </a:cubicBezTo>
                <a:cubicBezTo>
                  <a:pt x="3604592" y="848139"/>
                  <a:pt x="3615328" y="845978"/>
                  <a:pt x="3625795" y="842838"/>
                </a:cubicBezTo>
                <a:cubicBezTo>
                  <a:pt x="3641851" y="838021"/>
                  <a:pt x="3656809" y="828454"/>
                  <a:pt x="3673503" y="826936"/>
                </a:cubicBezTo>
                <a:lnTo>
                  <a:pt x="3760967" y="818984"/>
                </a:lnTo>
                <a:cubicBezTo>
                  <a:pt x="3822029" y="803719"/>
                  <a:pt x="3762959" y="817327"/>
                  <a:pt x="3848432" y="803082"/>
                </a:cubicBezTo>
                <a:cubicBezTo>
                  <a:pt x="3861763" y="800860"/>
                  <a:pt x="3874717" y="796209"/>
                  <a:pt x="3888188" y="795131"/>
                </a:cubicBezTo>
                <a:cubicBezTo>
                  <a:pt x="3941094" y="790898"/>
                  <a:pt x="3994205" y="789830"/>
                  <a:pt x="4047214" y="787179"/>
                </a:cubicBezTo>
                <a:cubicBezTo>
                  <a:pt x="4150145" y="761447"/>
                  <a:pt x="3953678" y="808831"/>
                  <a:pt x="4166484" y="771277"/>
                </a:cubicBezTo>
                <a:cubicBezTo>
                  <a:pt x="4182992" y="768364"/>
                  <a:pt x="4198289" y="760675"/>
                  <a:pt x="4214192" y="755374"/>
                </a:cubicBezTo>
                <a:lnTo>
                  <a:pt x="4238045" y="747423"/>
                </a:lnTo>
                <a:cubicBezTo>
                  <a:pt x="4340386" y="713309"/>
                  <a:pt x="4235605" y="746044"/>
                  <a:pt x="4325510" y="723569"/>
                </a:cubicBezTo>
                <a:cubicBezTo>
                  <a:pt x="4355618" y="716042"/>
                  <a:pt x="4351734" y="709687"/>
                  <a:pt x="4389120" y="707666"/>
                </a:cubicBezTo>
                <a:cubicBezTo>
                  <a:pt x="4473852" y="703086"/>
                  <a:pt x="4558748" y="702365"/>
                  <a:pt x="4643562" y="699715"/>
                </a:cubicBezTo>
                <a:cubicBezTo>
                  <a:pt x="4671396" y="692757"/>
                  <a:pt x="4702540" y="683812"/>
                  <a:pt x="4731026" y="683812"/>
                </a:cubicBezTo>
                <a:cubicBezTo>
                  <a:pt x="4781454" y="683812"/>
                  <a:pt x="4831743" y="689113"/>
                  <a:pt x="4882101" y="691764"/>
                </a:cubicBezTo>
                <a:cubicBezTo>
                  <a:pt x="4887402" y="752724"/>
                  <a:pt x="4890990" y="813857"/>
                  <a:pt x="4898004" y="874644"/>
                </a:cubicBezTo>
                <a:cubicBezTo>
                  <a:pt x="4899734" y="889636"/>
                  <a:pt x="4938167" y="967544"/>
                  <a:pt x="4921858" y="962108"/>
                </a:cubicBezTo>
                <a:lnTo>
                  <a:pt x="4898004" y="954157"/>
                </a:lnTo>
              </a:path>
            </a:pathLst>
          </a:custGeom>
          <a:noFill/>
          <a:ln>
            <a:solidFill>
              <a:srgbClr val="00B0F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graphicFrame>
        <p:nvGraphicFramePr>
          <p:cNvPr id="2" name="Table 1">
            <a:extLst>
              <a:ext uri="{FF2B5EF4-FFF2-40B4-BE49-F238E27FC236}">
                <a16:creationId xmlns:a16="http://schemas.microsoft.com/office/drawing/2014/main" id="{07C5A934-B8DE-32AB-32EF-A8BEE1AF99F6}"/>
              </a:ext>
            </a:extLst>
          </p:cNvPr>
          <p:cNvGraphicFramePr>
            <a:graphicFrameLocks noGrp="1"/>
          </p:cNvGraphicFramePr>
          <p:nvPr>
            <p:extLst>
              <p:ext uri="{D42A27DB-BD31-4B8C-83A1-F6EECF244321}">
                <p14:modId xmlns:p14="http://schemas.microsoft.com/office/powerpoint/2010/main" val="34804456"/>
              </p:ext>
            </p:extLst>
          </p:nvPr>
        </p:nvGraphicFramePr>
        <p:xfrm>
          <a:off x="1266209" y="4602234"/>
          <a:ext cx="6624736" cy="1752600"/>
        </p:xfrm>
        <a:graphic>
          <a:graphicData uri="http://schemas.openxmlformats.org/drawingml/2006/table">
            <a:tbl>
              <a:tblPr firstRow="1" bandRow="1">
                <a:tableStyleId>{5C22544A-7EE6-4342-B048-85BDC9FD1C3A}</a:tableStyleId>
              </a:tblPr>
              <a:tblGrid>
                <a:gridCol w="1084036">
                  <a:extLst>
                    <a:ext uri="{9D8B030D-6E8A-4147-A177-3AD203B41FA5}">
                      <a16:colId xmlns:a16="http://schemas.microsoft.com/office/drawing/2014/main" val="3512171376"/>
                    </a:ext>
                  </a:extLst>
                </a:gridCol>
                <a:gridCol w="1077017">
                  <a:extLst>
                    <a:ext uri="{9D8B030D-6E8A-4147-A177-3AD203B41FA5}">
                      <a16:colId xmlns:a16="http://schemas.microsoft.com/office/drawing/2014/main" val="1925305831"/>
                    </a:ext>
                  </a:extLst>
                </a:gridCol>
                <a:gridCol w="1077017">
                  <a:extLst>
                    <a:ext uri="{9D8B030D-6E8A-4147-A177-3AD203B41FA5}">
                      <a16:colId xmlns:a16="http://schemas.microsoft.com/office/drawing/2014/main" val="2684345908"/>
                    </a:ext>
                  </a:extLst>
                </a:gridCol>
                <a:gridCol w="3386666">
                  <a:extLst>
                    <a:ext uri="{9D8B030D-6E8A-4147-A177-3AD203B41FA5}">
                      <a16:colId xmlns:a16="http://schemas.microsoft.com/office/drawing/2014/main" val="132072588"/>
                    </a:ext>
                  </a:extLst>
                </a:gridCol>
              </a:tblGrid>
              <a:tr h="370840">
                <a:tc>
                  <a:txBody>
                    <a:bodyPr/>
                    <a:lstStyle/>
                    <a:p>
                      <a:pPr algn="ctr"/>
                      <a:r>
                        <a:rPr lang="en-US" b="0" dirty="0"/>
                        <a:t>Coupling sequence</a:t>
                      </a:r>
                    </a:p>
                  </a:txBody>
                  <a:tcPr/>
                </a:tc>
                <a:tc>
                  <a:txBody>
                    <a:bodyPr/>
                    <a:lstStyle/>
                    <a:p>
                      <a:pPr algn="ctr"/>
                      <a:r>
                        <a:rPr lang="en-US" b="0" dirty="0" err="1"/>
                        <a:t>typeof</a:t>
                      </a:r>
                      <a:r>
                        <a:rPr lang="en-US" b="0" dirty="0"/>
                        <a:t>(o)</a:t>
                      </a:r>
                    </a:p>
                  </a:txBody>
                  <a:tcPr/>
                </a:tc>
                <a:tc>
                  <a:txBody>
                    <a:bodyPr/>
                    <a:lstStyle/>
                    <a:p>
                      <a:pPr algn="ctr"/>
                      <a:r>
                        <a:rPr lang="en-US" b="0" dirty="0"/>
                        <a:t>Coupling </a:t>
                      </a:r>
                      <a:r>
                        <a:rPr lang="en-US" b="0" dirty="0" err="1"/>
                        <a:t>vars</a:t>
                      </a:r>
                      <a:endParaRPr lang="en-US" b="0" dirty="0"/>
                    </a:p>
                  </a:txBody>
                  <a:tcPr/>
                </a:tc>
                <a:tc>
                  <a:txBody>
                    <a:bodyPr/>
                    <a:lstStyle/>
                    <a:p>
                      <a:r>
                        <a:rPr lang="en-US" b="0" dirty="0"/>
                        <a:t>Coupling path</a:t>
                      </a:r>
                    </a:p>
                  </a:txBody>
                  <a:tcPr/>
                </a:tc>
                <a:extLst>
                  <a:ext uri="{0D108BD9-81ED-4DB2-BD59-A6C34878D82A}">
                    <a16:rowId xmlns:a16="http://schemas.microsoft.com/office/drawing/2014/main" val="3492498366"/>
                  </a:ext>
                </a:extLst>
              </a:tr>
              <a:tr h="370840">
                <a:tc>
                  <a:txBody>
                    <a:bodyPr/>
                    <a:lstStyle/>
                    <a:p>
                      <a:pPr algn="ctr"/>
                      <a:r>
                        <a:rPr lang="en-US" dirty="0"/>
                        <a:t>2➝3</a:t>
                      </a:r>
                    </a:p>
                  </a:txBody>
                  <a:tcPr/>
                </a:tc>
                <a:tc>
                  <a:txBody>
                    <a:bodyPr/>
                    <a:lstStyle/>
                    <a:p>
                      <a:pPr algn="ctr"/>
                      <a:r>
                        <a:rPr lang="en-US" dirty="0"/>
                        <a:t>A</a:t>
                      </a:r>
                    </a:p>
                  </a:txBody>
                  <a:tcPr>
                    <a:solidFill>
                      <a:schemeClr val="accent1">
                        <a:lumMod val="20000"/>
                        <a:lumOff val="80000"/>
                      </a:schemeClr>
                    </a:solidFill>
                  </a:tcPr>
                </a:tc>
                <a:tc>
                  <a:txBody>
                    <a:bodyPr/>
                    <a:lstStyle/>
                    <a:p>
                      <a:pPr algn="ctr"/>
                      <a:r>
                        <a:rPr lang="en-US" dirty="0" err="1"/>
                        <a:t>o.x</a:t>
                      </a:r>
                      <a:r>
                        <a:rPr lang="en-US" dirty="0"/>
                        <a:t>  </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𝜎 (dash-blue) , 𝜏 (not shown)</a:t>
                      </a:r>
                    </a:p>
                  </a:txBody>
                  <a:tcPr>
                    <a:solidFill>
                      <a:schemeClr val="accent1">
                        <a:lumMod val="20000"/>
                        <a:lumOff val="80000"/>
                      </a:schemeClr>
                    </a:solidFill>
                  </a:tcPr>
                </a:tc>
                <a:extLst>
                  <a:ext uri="{0D108BD9-81ED-4DB2-BD59-A6C34878D82A}">
                    <a16:rowId xmlns:a16="http://schemas.microsoft.com/office/drawing/2014/main" val="1052428733"/>
                  </a:ext>
                </a:extLst>
              </a:tr>
              <a:tr h="370840">
                <a:tc>
                  <a:txBody>
                    <a:bodyPr/>
                    <a:lstStyle/>
                    <a:p>
                      <a:pPr algn="ctr"/>
                      <a:endParaRPr lang="en-US" dirty="0">
                        <a:solidFill>
                          <a:schemeClr val="tx1"/>
                        </a:solidFill>
                      </a:endParaRPr>
                    </a:p>
                  </a:txBody>
                  <a:tcPr>
                    <a:noFill/>
                  </a:tcPr>
                </a:tc>
                <a:tc>
                  <a:txBody>
                    <a:bodyPr/>
                    <a:lstStyle/>
                    <a:p>
                      <a:pPr algn="ctr"/>
                      <a:r>
                        <a:rPr lang="en-US" dirty="0">
                          <a:solidFill>
                            <a:schemeClr val="tx1"/>
                          </a:solidFill>
                        </a:rPr>
                        <a:t>B</a:t>
                      </a:r>
                    </a:p>
                  </a:txBody>
                  <a:tcPr>
                    <a:solidFill>
                      <a:schemeClr val="accent1">
                        <a:lumMod val="40000"/>
                        <a:lumOff val="60000"/>
                      </a:schemeClr>
                    </a:solidFill>
                  </a:tcPr>
                </a:tc>
                <a:tc>
                  <a:txBody>
                    <a:bodyPr/>
                    <a:lstStyle/>
                    <a:p>
                      <a:pPr algn="ctr"/>
                      <a:r>
                        <a:rPr lang="en-US" dirty="0" err="1">
                          <a:solidFill>
                            <a:schemeClr val="tx1"/>
                          </a:solidFill>
                        </a:rPr>
                        <a:t>o.x</a:t>
                      </a:r>
                      <a:endParaRPr lang="en-US" dirty="0">
                        <a:solidFill>
                          <a:schemeClr val="tx1"/>
                        </a:solidFill>
                      </a:endParaRPr>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𝜌</a:t>
                      </a:r>
                      <a:r>
                        <a:rPr lang="en-US" baseline="-25000" dirty="0">
                          <a:solidFill>
                            <a:schemeClr val="tx1"/>
                          </a:solidFill>
                        </a:rPr>
                        <a:t>1</a:t>
                      </a:r>
                      <a:r>
                        <a:rPr lang="en-US" dirty="0">
                          <a:solidFill>
                            <a:schemeClr val="tx1"/>
                          </a:solidFill>
                        </a:rPr>
                        <a:t>, 𝜌</a:t>
                      </a:r>
                      <a:r>
                        <a:rPr lang="en-US" baseline="-25000" dirty="0">
                          <a:solidFill>
                            <a:schemeClr val="tx1"/>
                          </a:solidFill>
                        </a:rPr>
                        <a:t>2</a:t>
                      </a:r>
                      <a:r>
                        <a:rPr lang="en-US" dirty="0">
                          <a:solidFill>
                            <a:schemeClr val="tx1"/>
                          </a:solidFill>
                        </a:rPr>
                        <a:t> </a:t>
                      </a:r>
                      <a:r>
                        <a:rPr lang="en-US" dirty="0"/>
                        <a:t>  (not shown)</a:t>
                      </a:r>
                      <a:endParaRPr lang="en-US"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166286705"/>
                  </a:ext>
                </a:extLst>
              </a:tr>
              <a:tr h="370840">
                <a:tc>
                  <a:txBody>
                    <a:bodyPr/>
                    <a:lstStyle/>
                    <a:p>
                      <a:pPr algn="ctr"/>
                      <a:endParaRPr lang="en-US" dirty="0">
                        <a:solidFill>
                          <a:schemeClr val="tx1"/>
                        </a:solidFill>
                      </a:endParaRPr>
                    </a:p>
                  </a:txBody>
                  <a:tcPr>
                    <a:noFill/>
                  </a:tcPr>
                </a:tc>
                <a:tc>
                  <a:txBody>
                    <a:bodyPr/>
                    <a:lstStyle/>
                    <a:p>
                      <a:pPr algn="ctr"/>
                      <a:r>
                        <a:rPr lang="en-US" dirty="0">
                          <a:solidFill>
                            <a:schemeClr val="tx1"/>
                          </a:solidFill>
                        </a:rPr>
                        <a:t>C</a:t>
                      </a:r>
                    </a:p>
                  </a:txBody>
                  <a:tcPr>
                    <a:solidFill>
                      <a:schemeClr val="accent2">
                        <a:lumMod val="40000"/>
                        <a:lumOff val="60000"/>
                      </a:schemeClr>
                    </a:solidFill>
                  </a:tcPr>
                </a:tc>
                <a:tc>
                  <a:txBody>
                    <a:bodyPr/>
                    <a:lstStyle/>
                    <a:p>
                      <a:pPr algn="ctr"/>
                      <a:r>
                        <a:rPr lang="en-US" dirty="0" err="1">
                          <a:solidFill>
                            <a:schemeClr val="tx1"/>
                          </a:solidFill>
                        </a:rPr>
                        <a:t>o.x</a:t>
                      </a:r>
                      <a:r>
                        <a:rPr lang="en-US" dirty="0">
                          <a:solidFill>
                            <a:schemeClr val="tx1"/>
                          </a:solidFill>
                        </a:rPr>
                        <a:t>, </a:t>
                      </a:r>
                      <a:r>
                        <a:rPr lang="en-US" dirty="0" err="1">
                          <a:solidFill>
                            <a:schemeClr val="tx1"/>
                          </a:solidFill>
                        </a:rPr>
                        <a:t>o,y</a:t>
                      </a:r>
                      <a:endParaRPr lang="en-US" dirty="0">
                        <a:solidFill>
                          <a:schemeClr val="tx1"/>
                        </a:solidFill>
                      </a:endParaRP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𝜌</a:t>
                      </a:r>
                      <a:r>
                        <a:rPr lang="en-US" baseline="-25000" dirty="0">
                          <a:solidFill>
                            <a:schemeClr val="tx1"/>
                          </a:solidFill>
                        </a:rPr>
                        <a:t>3</a:t>
                      </a:r>
                      <a:r>
                        <a:rPr lang="en-US" dirty="0">
                          <a:solidFill>
                            <a:schemeClr val="tx1"/>
                          </a:solidFill>
                        </a:rPr>
                        <a:t> for </a:t>
                      </a:r>
                      <a:r>
                        <a:rPr lang="en-US" dirty="0" err="1">
                          <a:solidFill>
                            <a:schemeClr val="tx1"/>
                          </a:solidFill>
                        </a:rPr>
                        <a:t>o.x</a:t>
                      </a:r>
                      <a:r>
                        <a:rPr lang="en-US" dirty="0">
                          <a:solidFill>
                            <a:schemeClr val="tx1"/>
                          </a:solidFill>
                        </a:rPr>
                        <a:t>, 𝜌</a:t>
                      </a:r>
                      <a:r>
                        <a:rPr lang="en-US" baseline="-25000" dirty="0">
                          <a:solidFill>
                            <a:schemeClr val="tx1"/>
                          </a:solidFill>
                        </a:rPr>
                        <a:t>4 </a:t>
                      </a:r>
                      <a:r>
                        <a:rPr lang="en-US" dirty="0">
                          <a:solidFill>
                            <a:schemeClr val="tx1"/>
                          </a:solidFill>
                        </a:rPr>
                        <a:t> for </a:t>
                      </a:r>
                      <a:r>
                        <a:rPr lang="en-US" dirty="0" err="1">
                          <a:solidFill>
                            <a:schemeClr val="tx1"/>
                          </a:solidFill>
                        </a:rPr>
                        <a:t>o.y</a:t>
                      </a:r>
                      <a:r>
                        <a:rPr lang="en-US" dirty="0">
                          <a:solidFill>
                            <a:schemeClr val="tx1"/>
                          </a:solidFill>
                        </a:rPr>
                        <a:t> (not shown)</a:t>
                      </a:r>
                    </a:p>
                  </a:txBody>
                  <a:tcPr>
                    <a:solidFill>
                      <a:schemeClr val="accent2">
                        <a:lumMod val="40000"/>
                        <a:lumOff val="60000"/>
                      </a:schemeClr>
                    </a:solidFill>
                  </a:tcPr>
                </a:tc>
                <a:extLst>
                  <a:ext uri="{0D108BD9-81ED-4DB2-BD59-A6C34878D82A}">
                    <a16:rowId xmlns:a16="http://schemas.microsoft.com/office/drawing/2014/main" val="2898430574"/>
                  </a:ext>
                </a:extLst>
              </a:tr>
            </a:tbl>
          </a:graphicData>
        </a:graphic>
      </p:graphicFrame>
      <p:sp>
        <p:nvSpPr>
          <p:cNvPr id="9" name="Rectangle 8">
            <a:extLst>
              <a:ext uri="{FF2B5EF4-FFF2-40B4-BE49-F238E27FC236}">
                <a16:creationId xmlns:a16="http://schemas.microsoft.com/office/drawing/2014/main" id="{81897ED4-588D-AD85-973C-85FD37073BCF}"/>
              </a:ext>
            </a:extLst>
          </p:cNvPr>
          <p:cNvSpPr/>
          <p:nvPr/>
        </p:nvSpPr>
        <p:spPr>
          <a:xfrm>
            <a:off x="7677519" y="1372098"/>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A</a:t>
            </a:r>
          </a:p>
        </p:txBody>
      </p:sp>
      <p:sp>
        <p:nvSpPr>
          <p:cNvPr id="10" name="Rectangle 9">
            <a:extLst>
              <a:ext uri="{FF2B5EF4-FFF2-40B4-BE49-F238E27FC236}">
                <a16:creationId xmlns:a16="http://schemas.microsoft.com/office/drawing/2014/main" id="{0FF508DE-B892-A173-2AC0-CC127275705D}"/>
              </a:ext>
            </a:extLst>
          </p:cNvPr>
          <p:cNvSpPr/>
          <p:nvPr/>
        </p:nvSpPr>
        <p:spPr>
          <a:xfrm>
            <a:off x="7314580" y="2119578"/>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B</a:t>
            </a:r>
          </a:p>
        </p:txBody>
      </p:sp>
      <p:sp>
        <p:nvSpPr>
          <p:cNvPr id="11" name="Rectangle 10">
            <a:extLst>
              <a:ext uri="{FF2B5EF4-FFF2-40B4-BE49-F238E27FC236}">
                <a16:creationId xmlns:a16="http://schemas.microsoft.com/office/drawing/2014/main" id="{4E4EE84E-B1B0-5D60-92CB-4558D15EB966}"/>
              </a:ext>
            </a:extLst>
          </p:cNvPr>
          <p:cNvSpPr/>
          <p:nvPr/>
        </p:nvSpPr>
        <p:spPr>
          <a:xfrm>
            <a:off x="8172400" y="2136279"/>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C</a:t>
            </a:r>
          </a:p>
        </p:txBody>
      </p:sp>
      <p:sp>
        <p:nvSpPr>
          <p:cNvPr id="12" name="Isosceles Triangle 7">
            <a:extLst>
              <a:ext uri="{FF2B5EF4-FFF2-40B4-BE49-F238E27FC236}">
                <a16:creationId xmlns:a16="http://schemas.microsoft.com/office/drawing/2014/main" id="{7EFF52A7-545F-E5DA-8A6E-6FF51A756A6E}"/>
              </a:ext>
            </a:extLst>
          </p:cNvPr>
          <p:cNvSpPr/>
          <p:nvPr/>
        </p:nvSpPr>
        <p:spPr>
          <a:xfrm>
            <a:off x="7963269" y="1800723"/>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sp>
        <p:nvSpPr>
          <p:cNvPr id="19" name="TextBox 18">
            <a:extLst>
              <a:ext uri="{FF2B5EF4-FFF2-40B4-BE49-F238E27FC236}">
                <a16:creationId xmlns:a16="http://schemas.microsoft.com/office/drawing/2014/main" id="{FC2577FD-F5B9-A06C-3515-F80111D42CB4}"/>
              </a:ext>
            </a:extLst>
          </p:cNvPr>
          <p:cNvSpPr txBox="1"/>
          <p:nvPr/>
        </p:nvSpPr>
        <p:spPr>
          <a:xfrm>
            <a:off x="7239419" y="2615496"/>
            <a:ext cx="1774756" cy="461665"/>
          </a:xfrm>
          <a:prstGeom prst="rect">
            <a:avLst/>
          </a:prstGeom>
          <a:noFill/>
        </p:spPr>
        <p:txBody>
          <a:bodyPr wrap="square" rtlCol="0">
            <a:spAutoFit/>
          </a:bodyPr>
          <a:lstStyle/>
          <a:p>
            <a:pPr algn="ctr"/>
            <a:r>
              <a:rPr lang="en-NL" sz="1200" dirty="0"/>
              <a:t>Imagine A has these subclasses too</a:t>
            </a:r>
          </a:p>
        </p:txBody>
      </p:sp>
      <p:sp>
        <p:nvSpPr>
          <p:cNvPr id="20" name="TextBox 19">
            <a:extLst>
              <a:ext uri="{FF2B5EF4-FFF2-40B4-BE49-F238E27FC236}">
                <a16:creationId xmlns:a16="http://schemas.microsoft.com/office/drawing/2014/main" id="{9ABCEBCE-9E3C-AA8A-0FB3-51A854E88CCF}"/>
              </a:ext>
            </a:extLst>
          </p:cNvPr>
          <p:cNvSpPr txBox="1"/>
          <p:nvPr/>
        </p:nvSpPr>
        <p:spPr>
          <a:xfrm>
            <a:off x="1224963" y="4065542"/>
            <a:ext cx="6694074" cy="738664"/>
          </a:xfrm>
          <a:prstGeom prst="rect">
            <a:avLst/>
          </a:prstGeom>
          <a:noFill/>
        </p:spPr>
        <p:txBody>
          <a:bodyPr wrap="square" rtlCol="0">
            <a:spAutoFit/>
          </a:bodyPr>
          <a:lstStyle/>
          <a:p>
            <a:r>
              <a:rPr lang="en-NL" sz="1400" dirty="0"/>
              <a:t>Imagine a situation with these coupling vars and coupling paths for different subclasses of A, with respect to the coupling sequence </a:t>
            </a:r>
            <a:r>
              <a:rPr lang="en-US" sz="1400" dirty="0"/>
              <a:t>2➝3</a:t>
            </a:r>
          </a:p>
          <a:p>
            <a:r>
              <a:rPr lang="en-NL" sz="1400" dirty="0"/>
              <a:t> </a:t>
            </a:r>
          </a:p>
        </p:txBody>
      </p:sp>
      <p:cxnSp>
        <p:nvCxnSpPr>
          <p:cNvPr id="26" name="Elbow Connector 25">
            <a:extLst>
              <a:ext uri="{FF2B5EF4-FFF2-40B4-BE49-F238E27FC236}">
                <a16:creationId xmlns:a16="http://schemas.microsoft.com/office/drawing/2014/main" id="{ADB1E959-C37C-7002-1A95-FC45B7B5AC46}"/>
              </a:ext>
            </a:extLst>
          </p:cNvPr>
          <p:cNvCxnSpPr>
            <a:stCxn id="12" idx="3"/>
            <a:endCxn id="10" idx="0"/>
          </p:cNvCxnSpPr>
          <p:nvPr/>
        </p:nvCxnSpPr>
        <p:spPr>
          <a:xfrm rot="5400000">
            <a:off x="7800966" y="1850119"/>
            <a:ext cx="175980" cy="362939"/>
          </a:xfrm>
          <a:prstGeom prst="bentConnector3">
            <a:avLst/>
          </a:prstGeom>
        </p:spPr>
        <p:style>
          <a:lnRef idx="1">
            <a:schemeClr val="dk1"/>
          </a:lnRef>
          <a:fillRef idx="0">
            <a:schemeClr val="dk1"/>
          </a:fillRef>
          <a:effectRef idx="0">
            <a:schemeClr val="dk1"/>
          </a:effectRef>
          <a:fontRef idx="minor">
            <a:schemeClr val="tx1"/>
          </a:fontRef>
        </p:style>
      </p:cxnSp>
      <p:cxnSp>
        <p:nvCxnSpPr>
          <p:cNvPr id="28" name="Elbow Connector 27">
            <a:extLst>
              <a:ext uri="{FF2B5EF4-FFF2-40B4-BE49-F238E27FC236}">
                <a16:creationId xmlns:a16="http://schemas.microsoft.com/office/drawing/2014/main" id="{9503D62F-26DD-8AD2-619D-B74484DD4E17}"/>
              </a:ext>
            </a:extLst>
          </p:cNvPr>
          <p:cNvCxnSpPr>
            <a:cxnSpLocks/>
            <a:stCxn id="12" idx="3"/>
            <a:endCxn id="11" idx="0"/>
          </p:cNvCxnSpPr>
          <p:nvPr/>
        </p:nvCxnSpPr>
        <p:spPr>
          <a:xfrm rot="16200000" flipH="1">
            <a:off x="8221525" y="1792497"/>
            <a:ext cx="192681" cy="494881"/>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07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117D6DD-95E4-45B2-BC9C-6C77539FC9C7}" type="slidenum">
              <a:rPr lang="en-US" smtClean="0"/>
              <a:pPr>
                <a:defRPr/>
              </a:pPr>
              <a:t>38</a:t>
            </a:fld>
            <a:endParaRPr lang="en-US"/>
          </a:p>
        </p:txBody>
      </p:sp>
      <p:pic>
        <p:nvPicPr>
          <p:cNvPr id="35843" name="Picture 2"/>
          <p:cNvPicPr>
            <a:picLocks noChangeAspect="1" noChangeArrowheads="1"/>
          </p:cNvPicPr>
          <p:nvPr/>
        </p:nvPicPr>
        <p:blipFill>
          <a:blip r:embed="rId3" cstate="print"/>
          <a:srcRect/>
          <a:stretch>
            <a:fillRect/>
          </a:stretch>
        </p:blipFill>
        <p:spPr bwMode="auto">
          <a:xfrm>
            <a:off x="857250" y="1160463"/>
            <a:ext cx="7143750" cy="5697537"/>
          </a:xfrm>
          <a:prstGeom prst="rect">
            <a:avLst/>
          </a:prstGeom>
          <a:noFill/>
          <a:ln w="9525">
            <a:noFill/>
            <a:miter lim="800000"/>
            <a:headEnd/>
            <a:tailEnd/>
          </a:ln>
        </p:spPr>
      </p:pic>
      <p:sp>
        <p:nvSpPr>
          <p:cNvPr id="35844" name="Title 1"/>
          <p:cNvSpPr>
            <a:spLocks noGrp="1"/>
          </p:cNvSpPr>
          <p:nvPr>
            <p:ph type="title"/>
          </p:nvPr>
        </p:nvSpPr>
        <p:spPr/>
        <p:txBody>
          <a:bodyPr/>
          <a:lstStyle/>
          <a:p>
            <a:r>
              <a:rPr lang="en-US" sz="3600" dirty="0"/>
              <a:t>Simplifying the exposition a bit...</a:t>
            </a:r>
          </a:p>
        </p:txBody>
      </p:sp>
      <p:sp>
        <p:nvSpPr>
          <p:cNvPr id="5" name="TextBox 4"/>
          <p:cNvSpPr txBox="1"/>
          <p:nvPr/>
        </p:nvSpPr>
        <p:spPr>
          <a:xfrm>
            <a:off x="3000375" y="6215063"/>
            <a:ext cx="5143500" cy="461962"/>
          </a:xfrm>
          <a:prstGeom prst="rect">
            <a:avLst/>
          </a:prstGeom>
          <a:noFill/>
        </p:spPr>
        <p:txBody>
          <a:bodyPr>
            <a:spAutoFit/>
          </a:bodyPr>
          <a:lstStyle/>
          <a:p>
            <a:pPr>
              <a:defRPr/>
            </a:pPr>
            <a:r>
              <a:rPr lang="en-US" sz="1200" i="1" dirty="0">
                <a:latin typeface="+mn-lt"/>
              </a:rPr>
              <a:t>Notice how different types of the context o may give different coupling variables as well as coupling paths.</a:t>
            </a:r>
          </a:p>
        </p:txBody>
      </p:sp>
      <p:pic>
        <p:nvPicPr>
          <p:cNvPr id="2" name="Picture 1">
            <a:extLst>
              <a:ext uri="{FF2B5EF4-FFF2-40B4-BE49-F238E27FC236}">
                <a16:creationId xmlns:a16="http://schemas.microsoft.com/office/drawing/2014/main" id="{DC402B67-4FFA-194E-BA87-FB432E799CB4}"/>
              </a:ext>
            </a:extLst>
          </p:cNvPr>
          <p:cNvPicPr>
            <a:picLocks noChangeAspect="1"/>
          </p:cNvPicPr>
          <p:nvPr/>
        </p:nvPicPr>
        <p:blipFill>
          <a:blip r:embed="rId4"/>
          <a:stretch>
            <a:fillRect/>
          </a:stretch>
        </p:blipFill>
        <p:spPr>
          <a:xfrm>
            <a:off x="5436096" y="2835571"/>
            <a:ext cx="2032000" cy="2032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3"/>
          <p:cNvSpPr>
            <a:spLocks noGrp="1"/>
          </p:cNvSpPr>
          <p:nvPr>
            <p:ph type="title"/>
          </p:nvPr>
        </p:nvSpPr>
        <p:spPr>
          <a:xfrm>
            <a:off x="457200" y="274638"/>
            <a:ext cx="8229600" cy="763265"/>
          </a:xfrm>
        </p:spPr>
        <p:txBody>
          <a:bodyPr/>
          <a:lstStyle/>
          <a:p>
            <a:r>
              <a:rPr lang="en-US" dirty="0"/>
              <a:t>Binding triple</a:t>
            </a:r>
          </a:p>
        </p:txBody>
      </p:sp>
      <p:sp>
        <p:nvSpPr>
          <p:cNvPr id="36867" name="Content Placeholder 14"/>
          <p:cNvSpPr>
            <a:spLocks noGrp="1"/>
          </p:cNvSpPr>
          <p:nvPr>
            <p:ph idx="1"/>
          </p:nvPr>
        </p:nvSpPr>
        <p:spPr>
          <a:xfrm>
            <a:off x="457200" y="1143640"/>
            <a:ext cx="8229600" cy="1488425"/>
          </a:xfrm>
        </p:spPr>
        <p:txBody>
          <a:bodyPr/>
          <a:lstStyle/>
          <a:p>
            <a:pPr marL="0" indent="0" algn="just">
              <a:buNone/>
            </a:pPr>
            <a:r>
              <a:rPr lang="en-US" sz="2400" dirty="0"/>
              <a:t>Each coupling sequence </a:t>
            </a:r>
            <a:r>
              <a:rPr lang="en-US" sz="2400" i="1" dirty="0"/>
              <a:t>c</a:t>
            </a:r>
            <a:r>
              <a:rPr lang="en-US" sz="2400" dirty="0"/>
              <a:t> induces one or more binding “triples”; each specifying the coupling variables for </a:t>
            </a:r>
            <a:r>
              <a:rPr lang="en-US" sz="2400" b="1" dirty="0"/>
              <a:t>various types </a:t>
            </a:r>
            <a:r>
              <a:rPr lang="en-US" sz="2400" dirty="0"/>
              <a:t>of the context-var </a:t>
            </a:r>
            <a:r>
              <a:rPr lang="en-US" sz="2400" i="1" dirty="0"/>
              <a:t>o</a:t>
            </a:r>
            <a:r>
              <a:rPr lang="en-US" sz="2400" dirty="0"/>
              <a:t>. </a:t>
            </a:r>
          </a:p>
        </p:txBody>
      </p:sp>
      <p:sp>
        <p:nvSpPr>
          <p:cNvPr id="3" name="Slide Number Placeholder 2"/>
          <p:cNvSpPr>
            <a:spLocks noGrp="1"/>
          </p:cNvSpPr>
          <p:nvPr>
            <p:ph type="sldNum" sz="quarter" idx="12"/>
          </p:nvPr>
        </p:nvSpPr>
        <p:spPr/>
        <p:txBody>
          <a:bodyPr/>
          <a:lstStyle/>
          <a:p>
            <a:pPr>
              <a:defRPr/>
            </a:pPr>
            <a:fld id="{DA1AA0B2-A162-4380-AC92-14A1319477FF}" type="slidenum">
              <a:rPr lang="en-US" smtClean="0"/>
              <a:pPr>
                <a:defRPr/>
              </a:pPr>
              <a:t>39</a:t>
            </a:fld>
            <a:endParaRPr lang="en-US" dirty="0"/>
          </a:p>
        </p:txBody>
      </p:sp>
      <p:graphicFrame>
        <p:nvGraphicFramePr>
          <p:cNvPr id="2" name="Table 1">
            <a:extLst>
              <a:ext uri="{FF2B5EF4-FFF2-40B4-BE49-F238E27FC236}">
                <a16:creationId xmlns:a16="http://schemas.microsoft.com/office/drawing/2014/main" id="{641E44AD-0457-1880-2632-5712FFEDD5C3}"/>
              </a:ext>
            </a:extLst>
          </p:cNvPr>
          <p:cNvGraphicFramePr>
            <a:graphicFrameLocks noGrp="1"/>
          </p:cNvGraphicFramePr>
          <p:nvPr>
            <p:extLst>
              <p:ext uri="{D42A27DB-BD31-4B8C-83A1-F6EECF244321}">
                <p14:modId xmlns:p14="http://schemas.microsoft.com/office/powerpoint/2010/main" val="1964985106"/>
              </p:ext>
            </p:extLst>
          </p:nvPr>
        </p:nvGraphicFramePr>
        <p:xfrm>
          <a:off x="1879480" y="2467972"/>
          <a:ext cx="7093069" cy="2865120"/>
        </p:xfrm>
        <a:graphic>
          <a:graphicData uri="http://schemas.openxmlformats.org/drawingml/2006/table">
            <a:tbl>
              <a:tblPr firstRow="1" bandRow="1">
                <a:tableStyleId>{5C22544A-7EE6-4342-B048-85BDC9FD1C3A}</a:tableStyleId>
              </a:tblPr>
              <a:tblGrid>
                <a:gridCol w="1160672">
                  <a:extLst>
                    <a:ext uri="{9D8B030D-6E8A-4147-A177-3AD203B41FA5}">
                      <a16:colId xmlns:a16="http://schemas.microsoft.com/office/drawing/2014/main" val="3512171376"/>
                    </a:ext>
                  </a:extLst>
                </a:gridCol>
                <a:gridCol w="1153156">
                  <a:extLst>
                    <a:ext uri="{9D8B030D-6E8A-4147-A177-3AD203B41FA5}">
                      <a16:colId xmlns:a16="http://schemas.microsoft.com/office/drawing/2014/main" val="1925305831"/>
                    </a:ext>
                  </a:extLst>
                </a:gridCol>
                <a:gridCol w="1153156">
                  <a:extLst>
                    <a:ext uri="{9D8B030D-6E8A-4147-A177-3AD203B41FA5}">
                      <a16:colId xmlns:a16="http://schemas.microsoft.com/office/drawing/2014/main" val="2684345908"/>
                    </a:ext>
                  </a:extLst>
                </a:gridCol>
                <a:gridCol w="3626085">
                  <a:extLst>
                    <a:ext uri="{9D8B030D-6E8A-4147-A177-3AD203B41FA5}">
                      <a16:colId xmlns:a16="http://schemas.microsoft.com/office/drawing/2014/main" val="132072588"/>
                    </a:ext>
                  </a:extLst>
                </a:gridCol>
              </a:tblGrid>
              <a:tr h="370840">
                <a:tc>
                  <a:txBody>
                    <a:bodyPr/>
                    <a:lstStyle/>
                    <a:p>
                      <a:pPr algn="ctr"/>
                      <a:r>
                        <a:rPr lang="en-US" b="0" dirty="0"/>
                        <a:t>Coupling sequence</a:t>
                      </a:r>
                    </a:p>
                  </a:txBody>
                  <a:tcPr/>
                </a:tc>
                <a:tc>
                  <a:txBody>
                    <a:bodyPr/>
                    <a:lstStyle/>
                    <a:p>
                      <a:pPr algn="ctr"/>
                      <a:r>
                        <a:rPr lang="en-US" b="0" dirty="0" err="1"/>
                        <a:t>typeof</a:t>
                      </a:r>
                      <a:r>
                        <a:rPr lang="en-US" b="0" dirty="0"/>
                        <a:t>(o)</a:t>
                      </a:r>
                    </a:p>
                  </a:txBody>
                  <a:tcPr/>
                </a:tc>
                <a:tc>
                  <a:txBody>
                    <a:bodyPr/>
                    <a:lstStyle/>
                    <a:p>
                      <a:pPr algn="ctr"/>
                      <a:r>
                        <a:rPr lang="en-US" b="0" dirty="0"/>
                        <a:t>Coupling </a:t>
                      </a:r>
                      <a:r>
                        <a:rPr lang="en-US" b="0" dirty="0" err="1"/>
                        <a:t>vars</a:t>
                      </a:r>
                      <a:endParaRPr lang="en-US" b="0" dirty="0"/>
                    </a:p>
                  </a:txBody>
                  <a:tcPr/>
                </a:tc>
                <a:tc>
                  <a:txBody>
                    <a:bodyPr/>
                    <a:lstStyle/>
                    <a:p>
                      <a:r>
                        <a:rPr lang="en-US" b="0" dirty="0"/>
                        <a:t>Coupling path</a:t>
                      </a:r>
                    </a:p>
                  </a:txBody>
                  <a:tcPr/>
                </a:tc>
                <a:extLst>
                  <a:ext uri="{0D108BD9-81ED-4DB2-BD59-A6C34878D82A}">
                    <a16:rowId xmlns:a16="http://schemas.microsoft.com/office/drawing/2014/main" val="3492498366"/>
                  </a:ext>
                </a:extLst>
              </a:tr>
              <a:tr h="370840">
                <a:tc>
                  <a:txBody>
                    <a:bodyPr/>
                    <a:lstStyle/>
                    <a:p>
                      <a:pPr algn="ctr"/>
                      <a:r>
                        <a:rPr lang="en-US" dirty="0"/>
                        <a:t>2➝3</a:t>
                      </a:r>
                    </a:p>
                  </a:txBody>
                  <a:tcPr/>
                </a:tc>
                <a:tc>
                  <a:txBody>
                    <a:bodyPr/>
                    <a:lstStyle/>
                    <a:p>
                      <a:pPr algn="ctr"/>
                      <a:r>
                        <a:rPr lang="en-US" dirty="0"/>
                        <a:t>A</a:t>
                      </a:r>
                    </a:p>
                  </a:txBody>
                  <a:tcPr>
                    <a:solidFill>
                      <a:schemeClr val="accent1">
                        <a:lumMod val="20000"/>
                        <a:lumOff val="80000"/>
                      </a:schemeClr>
                    </a:solidFill>
                  </a:tcPr>
                </a:tc>
                <a:tc>
                  <a:txBody>
                    <a:bodyPr/>
                    <a:lstStyle/>
                    <a:p>
                      <a:pPr algn="ctr"/>
                      <a:r>
                        <a:rPr lang="en-US" dirty="0" err="1"/>
                        <a:t>o.x</a:t>
                      </a:r>
                      <a:r>
                        <a:rPr lang="en-US" dirty="0"/>
                        <a:t>  </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𝜎 (dash-blue) , 𝜏 (not shown)</a:t>
                      </a:r>
                    </a:p>
                  </a:txBody>
                  <a:tcPr>
                    <a:solidFill>
                      <a:schemeClr val="accent1">
                        <a:lumMod val="20000"/>
                        <a:lumOff val="80000"/>
                      </a:schemeClr>
                    </a:solidFill>
                  </a:tcPr>
                </a:tc>
                <a:extLst>
                  <a:ext uri="{0D108BD9-81ED-4DB2-BD59-A6C34878D82A}">
                    <a16:rowId xmlns:a16="http://schemas.microsoft.com/office/drawing/2014/main" val="1052428733"/>
                  </a:ext>
                </a:extLst>
              </a:tr>
              <a:tr h="370840">
                <a:tc>
                  <a:txBody>
                    <a:bodyPr/>
                    <a:lstStyle/>
                    <a:p>
                      <a:pPr algn="ctr"/>
                      <a:endParaRPr lang="en-US" dirty="0">
                        <a:solidFill>
                          <a:schemeClr val="tx1"/>
                        </a:solidFill>
                      </a:endParaRPr>
                    </a:p>
                  </a:txBody>
                  <a:tcPr>
                    <a:noFill/>
                  </a:tcPr>
                </a:tc>
                <a:tc>
                  <a:txBody>
                    <a:bodyPr/>
                    <a:lstStyle/>
                    <a:p>
                      <a:pPr algn="ctr"/>
                      <a:r>
                        <a:rPr lang="en-US" dirty="0">
                          <a:solidFill>
                            <a:schemeClr val="tx1"/>
                          </a:solidFill>
                        </a:rPr>
                        <a:t>B</a:t>
                      </a:r>
                    </a:p>
                  </a:txBody>
                  <a:tcPr>
                    <a:solidFill>
                      <a:schemeClr val="accent1">
                        <a:lumMod val="40000"/>
                        <a:lumOff val="60000"/>
                      </a:schemeClr>
                    </a:solidFill>
                  </a:tcPr>
                </a:tc>
                <a:tc>
                  <a:txBody>
                    <a:bodyPr/>
                    <a:lstStyle/>
                    <a:p>
                      <a:pPr algn="ctr"/>
                      <a:r>
                        <a:rPr lang="en-US" dirty="0" err="1">
                          <a:solidFill>
                            <a:schemeClr val="tx1"/>
                          </a:solidFill>
                        </a:rPr>
                        <a:t>o.x</a:t>
                      </a:r>
                      <a:endParaRPr lang="en-US" dirty="0">
                        <a:solidFill>
                          <a:schemeClr val="tx1"/>
                        </a:solidFill>
                      </a:endParaRPr>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𝜌</a:t>
                      </a:r>
                      <a:r>
                        <a:rPr lang="en-US" baseline="-25000" dirty="0">
                          <a:solidFill>
                            <a:schemeClr val="tx1"/>
                          </a:solidFill>
                        </a:rPr>
                        <a:t>1</a:t>
                      </a:r>
                      <a:r>
                        <a:rPr lang="en-US" dirty="0">
                          <a:solidFill>
                            <a:schemeClr val="tx1"/>
                          </a:solidFill>
                        </a:rPr>
                        <a:t>, 𝜌</a:t>
                      </a:r>
                      <a:r>
                        <a:rPr lang="en-US" baseline="-25000" dirty="0">
                          <a:solidFill>
                            <a:schemeClr val="tx1"/>
                          </a:solidFill>
                        </a:rPr>
                        <a:t>2</a:t>
                      </a:r>
                      <a:r>
                        <a:rPr lang="en-US" dirty="0"/>
                        <a:t>  (not shown)</a:t>
                      </a:r>
                      <a:endParaRPr lang="en-US"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val="1166286705"/>
                  </a:ext>
                </a:extLst>
              </a:tr>
              <a:tr h="370840">
                <a:tc>
                  <a:txBody>
                    <a:bodyPr/>
                    <a:lstStyle/>
                    <a:p>
                      <a:pPr algn="ctr"/>
                      <a:r>
                        <a:rPr lang="en-US" dirty="0">
                          <a:solidFill>
                            <a:schemeClr val="tx1"/>
                          </a:solidFill>
                        </a:rPr>
                        <a:t>11</a:t>
                      </a:r>
                    </a:p>
                  </a:txBody>
                  <a:tcPr>
                    <a:noFill/>
                  </a:tcPr>
                </a:tc>
                <a:tc>
                  <a:txBody>
                    <a:bodyPr/>
                    <a:lstStyle/>
                    <a:p>
                      <a:pPr algn="ctr"/>
                      <a:r>
                        <a:rPr lang="en-US" dirty="0">
                          <a:solidFill>
                            <a:schemeClr val="tx1"/>
                          </a:solidFill>
                        </a:rPr>
                        <a:t>C</a:t>
                      </a:r>
                    </a:p>
                  </a:txBody>
                  <a:tcPr>
                    <a:solidFill>
                      <a:schemeClr val="accent2">
                        <a:lumMod val="40000"/>
                        <a:lumOff val="60000"/>
                      </a:schemeClr>
                    </a:solidFill>
                  </a:tcPr>
                </a:tc>
                <a:tc>
                  <a:txBody>
                    <a:bodyPr/>
                    <a:lstStyle/>
                    <a:p>
                      <a:pPr algn="ctr"/>
                      <a:r>
                        <a:rPr lang="en-US" dirty="0" err="1">
                          <a:solidFill>
                            <a:schemeClr val="tx1"/>
                          </a:solidFill>
                        </a:rPr>
                        <a:t>o.x</a:t>
                      </a:r>
                      <a:r>
                        <a:rPr lang="en-US" dirty="0">
                          <a:solidFill>
                            <a:schemeClr val="tx1"/>
                          </a:solidFill>
                        </a:rPr>
                        <a:t>, </a:t>
                      </a:r>
                      <a:r>
                        <a:rPr lang="en-US" dirty="0" err="1">
                          <a:solidFill>
                            <a:schemeClr val="tx1"/>
                          </a:solidFill>
                        </a:rPr>
                        <a:t>o.y</a:t>
                      </a:r>
                      <a:r>
                        <a:rPr lang="en-US" dirty="0">
                          <a:solidFill>
                            <a:schemeClr val="tx1"/>
                          </a:solidFill>
                        </a:rPr>
                        <a:t> </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𝜌</a:t>
                      </a:r>
                      <a:r>
                        <a:rPr lang="en-US" baseline="-25000" dirty="0">
                          <a:solidFill>
                            <a:schemeClr val="tx1"/>
                          </a:solidFill>
                        </a:rPr>
                        <a:t>3</a:t>
                      </a:r>
                      <a:r>
                        <a:rPr lang="en-US" dirty="0">
                          <a:solidFill>
                            <a:schemeClr val="tx1"/>
                          </a:solidFill>
                        </a:rPr>
                        <a:t> for </a:t>
                      </a:r>
                      <a:r>
                        <a:rPr lang="en-US" dirty="0" err="1">
                          <a:solidFill>
                            <a:schemeClr val="tx1"/>
                          </a:solidFill>
                        </a:rPr>
                        <a:t>o.x</a:t>
                      </a:r>
                      <a:r>
                        <a:rPr lang="en-US" dirty="0">
                          <a:solidFill>
                            <a:schemeClr val="tx1"/>
                          </a:solidFill>
                        </a:rPr>
                        <a:t> and 𝜌</a:t>
                      </a:r>
                      <a:r>
                        <a:rPr lang="en-US" baseline="-25000" dirty="0">
                          <a:solidFill>
                            <a:schemeClr val="tx1"/>
                          </a:solidFill>
                        </a:rPr>
                        <a:t>4</a:t>
                      </a:r>
                      <a:r>
                        <a:rPr lang="en-US" dirty="0">
                          <a:solidFill>
                            <a:schemeClr val="tx1"/>
                          </a:solidFill>
                        </a:rPr>
                        <a:t> for </a:t>
                      </a:r>
                      <a:r>
                        <a:rPr lang="en-US" dirty="0" err="1">
                          <a:solidFill>
                            <a:schemeClr val="tx1"/>
                          </a:solidFill>
                        </a:rPr>
                        <a:t>o.y</a:t>
                      </a:r>
                      <a:r>
                        <a:rPr lang="en-US" dirty="0">
                          <a:solidFill>
                            <a:schemeClr val="tx1"/>
                          </a:solidFill>
                        </a:rPr>
                        <a:t> (not shown)</a:t>
                      </a:r>
                    </a:p>
                  </a:txBody>
                  <a:tcPr>
                    <a:solidFill>
                      <a:schemeClr val="accent2">
                        <a:lumMod val="40000"/>
                        <a:lumOff val="60000"/>
                      </a:schemeClr>
                    </a:solidFill>
                  </a:tcPr>
                </a:tc>
                <a:extLst>
                  <a:ext uri="{0D108BD9-81ED-4DB2-BD59-A6C34878D82A}">
                    <a16:rowId xmlns:a16="http://schemas.microsoft.com/office/drawing/2014/main" val="28984305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2➝7</a:t>
                      </a:r>
                    </a:p>
                  </a:txBody>
                  <a:tcPr>
                    <a:solidFill>
                      <a:schemeClr val="accent5">
                        <a:lumMod val="20000"/>
                        <a:lumOff val="80000"/>
                      </a:schemeClr>
                    </a:solidFill>
                  </a:tcPr>
                </a:tc>
                <a:tc>
                  <a:txBody>
                    <a:bodyPr/>
                    <a:lstStyle/>
                    <a:p>
                      <a:pPr algn="ctr"/>
                      <a:r>
                        <a:rPr lang="en-US" dirty="0">
                          <a:solidFill>
                            <a:schemeClr val="tx1"/>
                          </a:solidFill>
                        </a:rPr>
                        <a:t>A</a:t>
                      </a:r>
                    </a:p>
                  </a:txBody>
                  <a:tcPr>
                    <a:solidFill>
                      <a:schemeClr val="accent5">
                        <a:lumMod val="20000"/>
                        <a:lumOff val="80000"/>
                      </a:schemeClr>
                    </a:solidFill>
                  </a:tcPr>
                </a:tc>
                <a:tc>
                  <a:txBody>
                    <a:bodyPr/>
                    <a:lstStyle/>
                    <a:p>
                      <a:pPr algn="ctr"/>
                      <a:r>
                        <a:rPr lang="en-US" dirty="0">
                          <a:solidFill>
                            <a:schemeClr val="tx1"/>
                          </a:solidFill>
                        </a:rPr>
                        <a:t>...</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p>
                  </a:txBody>
                  <a:tcPr>
                    <a:solidFill>
                      <a:schemeClr val="accent5">
                        <a:lumMod val="20000"/>
                        <a:lumOff val="80000"/>
                      </a:schemeClr>
                    </a:solidFill>
                  </a:tcPr>
                </a:tc>
                <a:extLst>
                  <a:ext uri="{0D108BD9-81ED-4DB2-BD59-A6C34878D82A}">
                    <a16:rowId xmlns:a16="http://schemas.microsoft.com/office/drawing/2014/main" val="3212172814"/>
                  </a:ext>
                </a:extLst>
              </a:tr>
              <a:tr h="370840">
                <a:tc>
                  <a:txBody>
                    <a:bodyPr/>
                    <a:lstStyle/>
                    <a:p>
                      <a:pPr algn="ctr"/>
                      <a:endParaRPr lang="en-US" dirty="0">
                        <a:solidFill>
                          <a:schemeClr val="tx1"/>
                        </a:solidFill>
                      </a:endParaRPr>
                    </a:p>
                  </a:txBody>
                  <a:tcPr>
                    <a:noFill/>
                  </a:tcPr>
                </a:tc>
                <a:tc>
                  <a:txBody>
                    <a:bodyPr/>
                    <a:lstStyle/>
                    <a:p>
                      <a:pPr algn="ctr"/>
                      <a:r>
                        <a:rPr lang="en-US" dirty="0">
                          <a:solidFill>
                            <a:schemeClr val="tx1"/>
                          </a:solidFill>
                        </a:rPr>
                        <a:t>B</a:t>
                      </a:r>
                    </a:p>
                  </a:txBody>
                  <a:tcPr>
                    <a:solidFill>
                      <a:schemeClr val="accent5">
                        <a:lumMod val="40000"/>
                        <a:lumOff val="60000"/>
                      </a:schemeClr>
                    </a:solidFill>
                  </a:tcPr>
                </a:tc>
                <a:tc>
                  <a:txBody>
                    <a:bodyPr/>
                    <a:lstStyle/>
                    <a:p>
                      <a:pPr algn="ctr"/>
                      <a:r>
                        <a:rPr lang="en-US" dirty="0">
                          <a:solidFill>
                            <a:schemeClr val="tx1"/>
                          </a:solidFill>
                        </a:rPr>
                        <a:t>...</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p>
                  </a:txBody>
                  <a:tcPr>
                    <a:solidFill>
                      <a:schemeClr val="accent5">
                        <a:lumMod val="40000"/>
                        <a:lumOff val="60000"/>
                      </a:schemeClr>
                    </a:solidFill>
                  </a:tcPr>
                </a:tc>
                <a:extLst>
                  <a:ext uri="{0D108BD9-81ED-4DB2-BD59-A6C34878D82A}">
                    <a16:rowId xmlns:a16="http://schemas.microsoft.com/office/drawing/2014/main" val="407993177"/>
                  </a:ext>
                </a:extLst>
              </a:tr>
              <a:tr h="370840">
                <a:tc>
                  <a:txBody>
                    <a:bodyPr/>
                    <a:lstStyle/>
                    <a:p>
                      <a:pPr algn="ctr"/>
                      <a:endParaRPr lang="en-US" dirty="0">
                        <a:solidFill>
                          <a:schemeClr val="tx1"/>
                        </a:solidFill>
                      </a:endParaRPr>
                    </a:p>
                  </a:txBody>
                  <a:tcPr>
                    <a:noFill/>
                  </a:tcPr>
                </a:tc>
                <a:tc>
                  <a:txBody>
                    <a:bodyPr/>
                    <a:lstStyle/>
                    <a:p>
                      <a:pPr algn="ctr"/>
                      <a:r>
                        <a:rPr lang="en-US" dirty="0">
                          <a:solidFill>
                            <a:schemeClr val="tx1"/>
                          </a:solidFill>
                        </a:rPr>
                        <a:t>C</a:t>
                      </a:r>
                    </a:p>
                  </a:txBody>
                  <a:tcPr>
                    <a:solidFill>
                      <a:schemeClr val="accent5">
                        <a:lumMod val="40000"/>
                        <a:lumOff val="60000"/>
                      </a:schemeClr>
                    </a:solidFill>
                  </a:tcPr>
                </a:tc>
                <a:tc>
                  <a:txBody>
                    <a:bodyPr/>
                    <a:lstStyle/>
                    <a:p>
                      <a:pPr algn="ctr"/>
                      <a:r>
                        <a:rPr lang="en-US" dirty="0">
                          <a:solidFill>
                            <a:schemeClr val="tx1"/>
                          </a:solidFill>
                        </a:rPr>
                        <a:t>...</a:t>
                      </a:r>
                    </a:p>
                  </a:txBody>
                  <a:tcPr>
                    <a:solidFill>
                      <a:schemeClr val="accent5">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t>
                      </a:r>
                    </a:p>
                  </a:txBody>
                  <a:tcPr>
                    <a:solidFill>
                      <a:schemeClr val="accent5">
                        <a:lumMod val="40000"/>
                        <a:lumOff val="60000"/>
                      </a:schemeClr>
                    </a:solidFill>
                  </a:tcPr>
                </a:tc>
                <a:extLst>
                  <a:ext uri="{0D108BD9-81ED-4DB2-BD59-A6C34878D82A}">
                    <a16:rowId xmlns:a16="http://schemas.microsoft.com/office/drawing/2014/main" val="2820952100"/>
                  </a:ext>
                </a:extLst>
              </a:tr>
            </a:tbl>
          </a:graphicData>
        </a:graphic>
      </p:graphicFrame>
      <p:sp>
        <p:nvSpPr>
          <p:cNvPr id="21" name="TextBox 20">
            <a:extLst>
              <a:ext uri="{FF2B5EF4-FFF2-40B4-BE49-F238E27FC236}">
                <a16:creationId xmlns:a16="http://schemas.microsoft.com/office/drawing/2014/main" id="{0F6F97BB-7222-CC75-8F1D-CCAF7B28DB06}"/>
              </a:ext>
            </a:extLst>
          </p:cNvPr>
          <p:cNvSpPr txBox="1"/>
          <p:nvPr/>
        </p:nvSpPr>
        <p:spPr>
          <a:xfrm>
            <a:off x="2826674" y="5853455"/>
            <a:ext cx="1859805" cy="338554"/>
          </a:xfrm>
          <a:prstGeom prst="rect">
            <a:avLst/>
          </a:prstGeom>
          <a:noFill/>
        </p:spPr>
        <p:txBody>
          <a:bodyPr wrap="none" rtlCol="0">
            <a:spAutoFit/>
          </a:bodyPr>
          <a:lstStyle/>
          <a:p>
            <a:r>
              <a:rPr lang="en-NL" sz="1600" dirty="0"/>
              <a:t>binding triples (6x)</a:t>
            </a:r>
          </a:p>
        </p:txBody>
      </p:sp>
      <p:sp>
        <p:nvSpPr>
          <p:cNvPr id="22" name="Right Brace 21">
            <a:extLst>
              <a:ext uri="{FF2B5EF4-FFF2-40B4-BE49-F238E27FC236}">
                <a16:creationId xmlns:a16="http://schemas.microsoft.com/office/drawing/2014/main" id="{72786B7E-4FF0-537C-4D72-18794883AD33}"/>
              </a:ext>
            </a:extLst>
          </p:cNvPr>
          <p:cNvSpPr/>
          <p:nvPr/>
        </p:nvSpPr>
        <p:spPr>
          <a:xfrm rot="5400000">
            <a:off x="3506901" y="4051049"/>
            <a:ext cx="463406" cy="3163770"/>
          </a:xfrm>
          <a:prstGeom prst="rightBrac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23" name="Right Brace 22">
            <a:extLst>
              <a:ext uri="{FF2B5EF4-FFF2-40B4-BE49-F238E27FC236}">
                <a16:creationId xmlns:a16="http://schemas.microsoft.com/office/drawing/2014/main" id="{B7B234EA-9DCA-1162-C6A6-769405426EB3}"/>
              </a:ext>
            </a:extLst>
          </p:cNvPr>
          <p:cNvSpPr/>
          <p:nvPr/>
        </p:nvSpPr>
        <p:spPr>
          <a:xfrm rot="5400000">
            <a:off x="6951246" y="3872944"/>
            <a:ext cx="463406" cy="3579200"/>
          </a:xfrm>
          <a:prstGeom prst="rightBrac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24" name="TextBox 23">
            <a:extLst>
              <a:ext uri="{FF2B5EF4-FFF2-40B4-BE49-F238E27FC236}">
                <a16:creationId xmlns:a16="http://schemas.microsoft.com/office/drawing/2014/main" id="{C8D287C2-6790-22B3-61BD-00E34513E054}"/>
              </a:ext>
            </a:extLst>
          </p:cNvPr>
          <p:cNvSpPr txBox="1"/>
          <p:nvPr/>
        </p:nvSpPr>
        <p:spPr>
          <a:xfrm>
            <a:off x="5247629" y="5899622"/>
            <a:ext cx="3163770" cy="584775"/>
          </a:xfrm>
          <a:prstGeom prst="rect">
            <a:avLst/>
          </a:prstGeom>
          <a:noFill/>
        </p:spPr>
        <p:txBody>
          <a:bodyPr wrap="square" rtlCol="0">
            <a:spAutoFit/>
          </a:bodyPr>
          <a:lstStyle/>
          <a:p>
            <a:pPr algn="ctr"/>
            <a:r>
              <a:rPr lang="en-NL" sz="1600" dirty="0"/>
              <a:t>coupling paths to test for each triple </a:t>
            </a:r>
          </a:p>
        </p:txBody>
      </p:sp>
      <p:sp>
        <p:nvSpPr>
          <p:cNvPr id="25" name="Rectangle 24">
            <a:extLst>
              <a:ext uri="{FF2B5EF4-FFF2-40B4-BE49-F238E27FC236}">
                <a16:creationId xmlns:a16="http://schemas.microsoft.com/office/drawing/2014/main" id="{B828C757-9233-81E9-E948-3C8A88F61CC6}"/>
              </a:ext>
            </a:extLst>
          </p:cNvPr>
          <p:cNvSpPr/>
          <p:nvPr/>
        </p:nvSpPr>
        <p:spPr>
          <a:xfrm>
            <a:off x="427894" y="2523489"/>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A</a:t>
            </a:r>
          </a:p>
        </p:txBody>
      </p:sp>
      <p:sp>
        <p:nvSpPr>
          <p:cNvPr id="26" name="Rectangle 25">
            <a:extLst>
              <a:ext uri="{FF2B5EF4-FFF2-40B4-BE49-F238E27FC236}">
                <a16:creationId xmlns:a16="http://schemas.microsoft.com/office/drawing/2014/main" id="{466B9612-58AD-1568-CE6B-E70992131AFF}"/>
              </a:ext>
            </a:extLst>
          </p:cNvPr>
          <p:cNvSpPr/>
          <p:nvPr/>
        </p:nvSpPr>
        <p:spPr>
          <a:xfrm>
            <a:off x="64955" y="3270969"/>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B</a:t>
            </a:r>
          </a:p>
        </p:txBody>
      </p:sp>
      <p:sp>
        <p:nvSpPr>
          <p:cNvPr id="27" name="Rectangle 26">
            <a:extLst>
              <a:ext uri="{FF2B5EF4-FFF2-40B4-BE49-F238E27FC236}">
                <a16:creationId xmlns:a16="http://schemas.microsoft.com/office/drawing/2014/main" id="{A1482B96-1A52-E7F5-ACC3-81BCD58817F4}"/>
              </a:ext>
            </a:extLst>
          </p:cNvPr>
          <p:cNvSpPr/>
          <p:nvPr/>
        </p:nvSpPr>
        <p:spPr>
          <a:xfrm>
            <a:off x="922775" y="3287670"/>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C</a:t>
            </a:r>
          </a:p>
        </p:txBody>
      </p:sp>
      <p:sp>
        <p:nvSpPr>
          <p:cNvPr id="28" name="Isosceles Triangle 7">
            <a:extLst>
              <a:ext uri="{FF2B5EF4-FFF2-40B4-BE49-F238E27FC236}">
                <a16:creationId xmlns:a16="http://schemas.microsoft.com/office/drawing/2014/main" id="{3A2DA41E-5D54-982B-6825-BEA85610B6A1}"/>
              </a:ext>
            </a:extLst>
          </p:cNvPr>
          <p:cNvSpPr/>
          <p:nvPr/>
        </p:nvSpPr>
        <p:spPr>
          <a:xfrm>
            <a:off x="713644" y="2952114"/>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29" name="Elbow Connector 28">
            <a:extLst>
              <a:ext uri="{FF2B5EF4-FFF2-40B4-BE49-F238E27FC236}">
                <a16:creationId xmlns:a16="http://schemas.microsoft.com/office/drawing/2014/main" id="{4FD71340-CD51-976B-B281-0FB6227A95B9}"/>
              </a:ext>
            </a:extLst>
          </p:cNvPr>
          <p:cNvCxnSpPr>
            <a:stCxn id="28" idx="3"/>
            <a:endCxn id="26" idx="0"/>
          </p:cNvCxnSpPr>
          <p:nvPr/>
        </p:nvCxnSpPr>
        <p:spPr>
          <a:xfrm rot="5400000">
            <a:off x="551341" y="3001510"/>
            <a:ext cx="175980" cy="362939"/>
          </a:xfrm>
          <a:prstGeom prst="bentConnector3">
            <a:avLst/>
          </a:prstGeom>
        </p:spPr>
        <p:style>
          <a:lnRef idx="1">
            <a:schemeClr val="dk1"/>
          </a:lnRef>
          <a:fillRef idx="0">
            <a:schemeClr val="dk1"/>
          </a:fillRef>
          <a:effectRef idx="0">
            <a:schemeClr val="dk1"/>
          </a:effectRef>
          <a:fontRef idx="minor">
            <a:schemeClr val="tx1"/>
          </a:fontRef>
        </p:style>
      </p:cxnSp>
      <p:cxnSp>
        <p:nvCxnSpPr>
          <p:cNvPr id="30" name="Elbow Connector 29">
            <a:extLst>
              <a:ext uri="{FF2B5EF4-FFF2-40B4-BE49-F238E27FC236}">
                <a16:creationId xmlns:a16="http://schemas.microsoft.com/office/drawing/2014/main" id="{201C13FE-39E4-0BC2-937B-D4C231857B26}"/>
              </a:ext>
            </a:extLst>
          </p:cNvPr>
          <p:cNvCxnSpPr>
            <a:cxnSpLocks/>
            <a:stCxn id="28" idx="3"/>
            <a:endCxn id="27" idx="0"/>
          </p:cNvCxnSpPr>
          <p:nvPr/>
        </p:nvCxnSpPr>
        <p:spPr>
          <a:xfrm rot="16200000" flipH="1">
            <a:off x="971900" y="2943888"/>
            <a:ext cx="192681" cy="494881"/>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sz="4000" dirty="0"/>
              <a:t>Indirect coupling test coverage criteria</a:t>
            </a:r>
          </a:p>
        </p:txBody>
      </p:sp>
      <p:sp>
        <p:nvSpPr>
          <p:cNvPr id="37891" name="Content Placeholder 2"/>
          <p:cNvSpPr>
            <a:spLocks noGrp="1"/>
          </p:cNvSpPr>
          <p:nvPr>
            <p:ph idx="1"/>
          </p:nvPr>
        </p:nvSpPr>
        <p:spPr>
          <a:xfrm>
            <a:off x="457200" y="4655720"/>
            <a:ext cx="8229600" cy="1847106"/>
          </a:xfrm>
        </p:spPr>
        <p:txBody>
          <a:bodyPr/>
          <a:lstStyle/>
          <a:p>
            <a:pPr marL="0" indent="0" algn="just">
              <a:buNone/>
            </a:pPr>
            <a:r>
              <a:rPr lang="en-US" sz="2400" dirty="0"/>
              <a:t>(Def 7.53) </a:t>
            </a:r>
            <a:r>
              <a:rPr lang="en-US" sz="2400" b="1" dirty="0"/>
              <a:t>All-Coupling-Sequences</a:t>
            </a:r>
            <a:r>
              <a:rPr lang="en-US" sz="2400" dirty="0"/>
              <a:t> (ACS): </a:t>
            </a:r>
            <a:r>
              <a:rPr lang="en-US" sz="2400" b="1" dirty="0"/>
              <a:t>for every coupling sequence</a:t>
            </a:r>
            <a:r>
              <a:rPr lang="en-US" sz="2400" dirty="0"/>
              <a:t> </a:t>
            </a:r>
            <a:r>
              <a:rPr lang="en-US" sz="2400" i="1" dirty="0"/>
              <a:t>cs</a:t>
            </a:r>
            <a:r>
              <a:rPr lang="en-US" sz="2400" dirty="0"/>
              <a:t> in the coupling method  </a:t>
            </a:r>
            <a:r>
              <a:rPr lang="en-US" sz="2400" i="1" dirty="0"/>
              <a:t>f</a:t>
            </a:r>
            <a:r>
              <a:rPr lang="en-US" sz="2400" dirty="0"/>
              <a:t> , TR includes at least one coupling path of </a:t>
            </a:r>
            <a:r>
              <a:rPr lang="en-US" sz="2400" i="1" dirty="0"/>
              <a:t>cs.</a:t>
            </a:r>
            <a:r>
              <a:rPr lang="en-US" sz="2400" dirty="0"/>
              <a:t>  </a:t>
            </a:r>
            <a:r>
              <a:rPr lang="en-US" sz="2400" dirty="0">
                <a:sym typeface="Wingdings" pitchFamily="2" charset="2"/>
              </a:rPr>
              <a:t>  ignore polymorphism.</a:t>
            </a:r>
          </a:p>
          <a:p>
            <a:pPr marL="0" indent="0" algn="just">
              <a:buNone/>
            </a:pPr>
            <a:r>
              <a:rPr lang="en-US" sz="2400" dirty="0">
                <a:sym typeface="Wingdings" pitchFamily="2" charset="2"/>
              </a:rPr>
              <a:t>In the above example, the TR would consist of two paths, one for </a:t>
            </a:r>
            <a:r>
              <a:rPr lang="en-US" sz="2400" i="1" dirty="0">
                <a:sym typeface="Wingdings" pitchFamily="2" charset="2"/>
              </a:rPr>
              <a:t>cs1</a:t>
            </a:r>
            <a:r>
              <a:rPr lang="en-US" sz="2400" dirty="0">
                <a:sym typeface="Wingdings" pitchFamily="2" charset="2"/>
              </a:rPr>
              <a:t> and one for </a:t>
            </a:r>
            <a:r>
              <a:rPr lang="en-US" sz="2400" i="1" dirty="0">
                <a:sym typeface="Wingdings" pitchFamily="2" charset="2"/>
              </a:rPr>
              <a:t>cs2</a:t>
            </a:r>
            <a:r>
              <a:rPr lang="en-US" sz="2400" dirty="0">
                <a:sym typeface="Wingdings" pitchFamily="2" charset="2"/>
              </a:rPr>
              <a:t>.</a:t>
            </a:r>
          </a:p>
          <a:p>
            <a:pPr marL="0" indent="0" algn="just">
              <a:buNone/>
            </a:pPr>
            <a:endParaRPr lang="en-US" sz="2400" dirty="0">
              <a:sym typeface="Wingdings" pitchFamily="2" charset="2"/>
            </a:endParaRPr>
          </a:p>
        </p:txBody>
      </p:sp>
      <p:sp>
        <p:nvSpPr>
          <p:cNvPr id="4" name="Slide Number Placeholder 3"/>
          <p:cNvSpPr>
            <a:spLocks noGrp="1"/>
          </p:cNvSpPr>
          <p:nvPr>
            <p:ph type="sldNum" sz="quarter" idx="12"/>
          </p:nvPr>
        </p:nvSpPr>
        <p:spPr/>
        <p:txBody>
          <a:bodyPr/>
          <a:lstStyle/>
          <a:p>
            <a:pPr>
              <a:defRPr/>
            </a:pPr>
            <a:fld id="{42169E21-8D84-4F22-B2F8-0BE426A77F25}" type="slidenum">
              <a:rPr lang="en-US" smtClean="0"/>
              <a:pPr>
                <a:defRPr/>
              </a:pPr>
              <a:t>40</a:t>
            </a:fld>
            <a:endParaRPr lang="en-US"/>
          </a:p>
        </p:txBody>
      </p:sp>
      <p:sp>
        <p:nvSpPr>
          <p:cNvPr id="5" name="Rectangle 4"/>
          <p:cNvSpPr/>
          <p:nvPr/>
        </p:nvSpPr>
        <p:spPr>
          <a:xfrm>
            <a:off x="500063" y="2157610"/>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A</a:t>
            </a:r>
          </a:p>
        </p:txBody>
      </p:sp>
      <p:sp>
        <p:nvSpPr>
          <p:cNvPr id="6" name="Rectangle 5"/>
          <p:cNvSpPr/>
          <p:nvPr/>
        </p:nvSpPr>
        <p:spPr>
          <a:xfrm>
            <a:off x="500063" y="2871985"/>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B</a:t>
            </a:r>
          </a:p>
        </p:txBody>
      </p:sp>
      <p:sp>
        <p:nvSpPr>
          <p:cNvPr id="7" name="Rectangle 6"/>
          <p:cNvSpPr/>
          <p:nvPr/>
        </p:nvSpPr>
        <p:spPr>
          <a:xfrm>
            <a:off x="500063" y="3586360"/>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C</a:t>
            </a:r>
          </a:p>
        </p:txBody>
      </p:sp>
      <p:sp>
        <p:nvSpPr>
          <p:cNvPr id="8" name="Isosceles Triangle 7"/>
          <p:cNvSpPr/>
          <p:nvPr/>
        </p:nvSpPr>
        <p:spPr>
          <a:xfrm>
            <a:off x="785813" y="2586235"/>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9" name="Straight Connector 8"/>
          <p:cNvCxnSpPr>
            <a:stCxn id="6" idx="0"/>
            <a:endCxn id="8" idx="3"/>
          </p:cNvCxnSpPr>
          <p:nvPr/>
        </p:nvCxnSpPr>
        <p:spPr>
          <a:xfrm rot="5400000" flipH="1" flipV="1">
            <a:off x="821531" y="2799754"/>
            <a:ext cx="14287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a:off x="785813" y="3300610"/>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11" name="Straight Connector 10"/>
          <p:cNvCxnSpPr>
            <a:stCxn id="7" idx="0"/>
            <a:endCxn id="10" idx="3"/>
          </p:cNvCxnSpPr>
          <p:nvPr/>
        </p:nvCxnSpPr>
        <p:spPr>
          <a:xfrm rot="5400000" flipH="1" flipV="1">
            <a:off x="821531" y="3514129"/>
            <a:ext cx="14287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3610870857"/>
              </p:ext>
            </p:extLst>
          </p:nvPr>
        </p:nvGraphicFramePr>
        <p:xfrm>
          <a:off x="1691680" y="2169656"/>
          <a:ext cx="6329387" cy="2123440"/>
        </p:xfrm>
        <a:graphic>
          <a:graphicData uri="http://schemas.openxmlformats.org/drawingml/2006/table">
            <a:tbl>
              <a:tblPr firstRow="1" bandRow="1">
                <a:tableStyleId>{5C22544A-7EE6-4342-B048-85BDC9FD1C3A}</a:tableStyleId>
              </a:tblPr>
              <a:tblGrid>
                <a:gridCol w="1277812">
                  <a:extLst>
                    <a:ext uri="{9D8B030D-6E8A-4147-A177-3AD203B41FA5}">
                      <a16:colId xmlns:a16="http://schemas.microsoft.com/office/drawing/2014/main" val="20000"/>
                    </a:ext>
                  </a:extLst>
                </a:gridCol>
                <a:gridCol w="1195742">
                  <a:extLst>
                    <a:ext uri="{9D8B030D-6E8A-4147-A177-3AD203B41FA5}">
                      <a16:colId xmlns:a16="http://schemas.microsoft.com/office/drawing/2014/main" val="20001"/>
                    </a:ext>
                  </a:extLst>
                </a:gridCol>
                <a:gridCol w="1414878">
                  <a:extLst>
                    <a:ext uri="{9D8B030D-6E8A-4147-A177-3AD203B41FA5}">
                      <a16:colId xmlns:a16="http://schemas.microsoft.com/office/drawing/2014/main" val="20002"/>
                    </a:ext>
                  </a:extLst>
                </a:gridCol>
                <a:gridCol w="2440955">
                  <a:extLst>
                    <a:ext uri="{9D8B030D-6E8A-4147-A177-3AD203B41FA5}">
                      <a16:colId xmlns:a16="http://schemas.microsoft.com/office/drawing/2014/main" val="20003"/>
                    </a:ext>
                  </a:extLst>
                </a:gridCol>
              </a:tblGrid>
              <a:tr h="370840">
                <a:tc>
                  <a:txBody>
                    <a:bodyPr/>
                    <a:lstStyle/>
                    <a:p>
                      <a:pPr algn="ctr"/>
                      <a:r>
                        <a:rPr lang="en-US" dirty="0"/>
                        <a:t>coupling </a:t>
                      </a:r>
                      <a:r>
                        <a:rPr lang="en-US" baseline="0" dirty="0"/>
                        <a:t>seq. in f</a:t>
                      </a:r>
                      <a:endParaRPr lang="en-US" dirty="0"/>
                    </a:p>
                  </a:txBody>
                  <a:tcPr/>
                </a:tc>
                <a:tc>
                  <a:txBody>
                    <a:bodyPr/>
                    <a:lstStyle/>
                    <a:p>
                      <a:pPr algn="ctr"/>
                      <a:r>
                        <a:rPr lang="en-US" dirty="0"/>
                        <a:t>type(o)</a:t>
                      </a:r>
                    </a:p>
                  </a:txBody>
                  <a:tcPr/>
                </a:tc>
                <a:tc>
                  <a:txBody>
                    <a:bodyPr/>
                    <a:lstStyle/>
                    <a:p>
                      <a:pPr algn="ctr"/>
                      <a:r>
                        <a:rPr lang="en-US" dirty="0"/>
                        <a:t>coupling</a:t>
                      </a:r>
                      <a:r>
                        <a:rPr lang="en-US" baseline="0" dirty="0"/>
                        <a:t> </a:t>
                      </a:r>
                      <a:r>
                        <a:rPr lang="en-US" baseline="0" dirty="0" err="1"/>
                        <a:t>vars</a:t>
                      </a:r>
                      <a:endParaRPr lang="en-US" dirty="0"/>
                    </a:p>
                  </a:txBody>
                  <a:tcPr/>
                </a:tc>
                <a:tc>
                  <a:txBody>
                    <a:bodyPr/>
                    <a:lstStyle/>
                    <a:p>
                      <a:pPr algn="ctr"/>
                      <a:r>
                        <a:rPr lang="en-US" dirty="0">
                          <a:solidFill>
                            <a:schemeClr val="tx1"/>
                          </a:solidFill>
                        </a:rPr>
                        <a:t>coupling paths</a:t>
                      </a:r>
                    </a:p>
                  </a:txBody>
                  <a:tcPr>
                    <a:solidFill>
                      <a:schemeClr val="tx2">
                        <a:lumMod val="40000"/>
                        <a:lumOff val="60000"/>
                      </a:schemeClr>
                    </a:solidFill>
                  </a:tcPr>
                </a:tc>
                <a:extLst>
                  <a:ext uri="{0D108BD9-81ED-4DB2-BD59-A6C34878D82A}">
                    <a16:rowId xmlns:a16="http://schemas.microsoft.com/office/drawing/2014/main" val="10000"/>
                  </a:ext>
                </a:extLst>
              </a:tr>
              <a:tr h="370840">
                <a:tc rowSpan="3">
                  <a:txBody>
                    <a:bodyPr/>
                    <a:lstStyle/>
                    <a:p>
                      <a:pPr algn="ctr"/>
                      <a:endParaRPr lang="en-US" dirty="0"/>
                    </a:p>
                    <a:p>
                      <a:pPr algn="ctr"/>
                      <a:r>
                        <a:rPr lang="en-US" i="1" dirty="0"/>
                        <a:t>cs1</a:t>
                      </a:r>
                    </a:p>
                  </a:txBody>
                  <a:tcPr>
                    <a:solidFill>
                      <a:schemeClr val="accent5">
                        <a:lumMod val="20000"/>
                        <a:lumOff val="80000"/>
                      </a:schemeClr>
                    </a:solidFill>
                  </a:tcPr>
                </a:tc>
                <a:tc>
                  <a:txBody>
                    <a:bodyPr/>
                    <a:lstStyle/>
                    <a:p>
                      <a:pPr algn="ctr"/>
                      <a:r>
                        <a:rPr lang="en-US" dirty="0"/>
                        <a:t>A</a:t>
                      </a:r>
                    </a:p>
                  </a:txBody>
                  <a:tcPr/>
                </a:tc>
                <a:tc>
                  <a:txBody>
                    <a:bodyPr/>
                    <a:lstStyle/>
                    <a:p>
                      <a:pPr algn="ctr"/>
                      <a:r>
                        <a:rPr lang="en-US" dirty="0"/>
                        <a:t>{ </a:t>
                      </a:r>
                      <a:r>
                        <a:rPr lang="en-US" dirty="0" err="1"/>
                        <a:t>o.v</a:t>
                      </a:r>
                      <a:r>
                        <a:rPr lang="en-US" baseline="0" dirty="0"/>
                        <a:t> }</a:t>
                      </a:r>
                      <a:endParaRPr lang="en-US" dirty="0"/>
                    </a:p>
                  </a:txBody>
                  <a:tcPr/>
                </a:tc>
                <a:tc>
                  <a:txBody>
                    <a:bodyPr/>
                    <a:lstStyle/>
                    <a:p>
                      <a:pPr algn="ctr"/>
                      <a:r>
                        <a:rPr lang="en-US" dirty="0">
                          <a:solidFill>
                            <a:schemeClr val="tx1"/>
                          </a:solidFill>
                        </a:rPr>
                        <a:t> </a:t>
                      </a:r>
                      <a:r>
                        <a:rPr lang="en-US" dirty="0" err="1">
                          <a:solidFill>
                            <a:schemeClr val="tx1"/>
                          </a:solidFill>
                        </a:rPr>
                        <a:t>o.v</a:t>
                      </a:r>
                      <a:r>
                        <a:rPr lang="en-US" dirty="0">
                          <a:solidFill>
                            <a:schemeClr val="tx1"/>
                          </a:solidFill>
                        </a:rPr>
                        <a:t> :  { 𝜎</a:t>
                      </a:r>
                      <a:r>
                        <a:rPr lang="en-US" baseline="-25000" dirty="0">
                          <a:solidFill>
                            <a:schemeClr val="tx1"/>
                          </a:solidFill>
                        </a:rPr>
                        <a:t>1</a:t>
                      </a:r>
                      <a:r>
                        <a:rPr lang="en-US" dirty="0">
                          <a:solidFill>
                            <a:schemeClr val="tx1"/>
                          </a:solidFill>
                        </a:rPr>
                        <a:t> }</a:t>
                      </a:r>
                    </a:p>
                  </a:txBody>
                  <a:tcPr>
                    <a:solidFill>
                      <a:schemeClr val="tx2">
                        <a:lumMod val="40000"/>
                        <a:lumOff val="60000"/>
                      </a:schemeClr>
                    </a:solidFill>
                  </a:tcPr>
                </a:tc>
                <a:extLst>
                  <a:ext uri="{0D108BD9-81ED-4DB2-BD59-A6C34878D82A}">
                    <a16:rowId xmlns:a16="http://schemas.microsoft.com/office/drawing/2014/main" val="10001"/>
                  </a:ext>
                </a:extLst>
              </a:tr>
              <a:tr h="370840">
                <a:tc vMerge="1">
                  <a:txBody>
                    <a:bodyPr/>
                    <a:lstStyle/>
                    <a:p>
                      <a:pPr algn="ctr"/>
                      <a:endParaRPr lang="en-US" dirty="0"/>
                    </a:p>
                  </a:txBody>
                  <a:tcPr/>
                </a:tc>
                <a:tc>
                  <a:txBody>
                    <a:bodyPr/>
                    <a:lstStyle/>
                    <a:p>
                      <a:pPr algn="ctr"/>
                      <a:r>
                        <a:rPr lang="en-US" dirty="0"/>
                        <a:t> B</a:t>
                      </a:r>
                    </a:p>
                  </a:txBody>
                  <a:tcPr/>
                </a:tc>
                <a:tc>
                  <a:txBody>
                    <a:bodyPr/>
                    <a:lstStyle/>
                    <a:p>
                      <a:pPr algn="ctr"/>
                      <a:r>
                        <a:rPr lang="en-US" dirty="0"/>
                        <a:t>{ </a:t>
                      </a:r>
                      <a:r>
                        <a:rPr lang="en-US" dirty="0" err="1"/>
                        <a:t>o.u</a:t>
                      </a:r>
                      <a:r>
                        <a:rPr lang="en-US" baseline="0" dirty="0"/>
                        <a:t> }</a:t>
                      </a:r>
                      <a:endParaRPr lang="en-US" dirty="0"/>
                    </a:p>
                  </a:txBody>
                  <a:tcPr/>
                </a:tc>
                <a:tc>
                  <a:txBody>
                    <a:bodyPr/>
                    <a:lstStyle/>
                    <a:p>
                      <a:pPr algn="ctr"/>
                      <a:r>
                        <a:rPr lang="en-US" dirty="0" err="1">
                          <a:solidFill>
                            <a:schemeClr val="tx1"/>
                          </a:solidFill>
                        </a:rPr>
                        <a:t>o.u</a:t>
                      </a:r>
                      <a:r>
                        <a:rPr lang="en-US" dirty="0">
                          <a:solidFill>
                            <a:schemeClr val="tx1"/>
                          </a:solidFill>
                        </a:rPr>
                        <a:t> : {𝜏</a:t>
                      </a:r>
                      <a:r>
                        <a:rPr lang="en-US" baseline="-25000" dirty="0">
                          <a:solidFill>
                            <a:schemeClr val="tx1"/>
                          </a:solidFill>
                        </a:rPr>
                        <a:t>1</a:t>
                      </a:r>
                      <a:r>
                        <a:rPr lang="en-US" dirty="0">
                          <a:solidFill>
                            <a:schemeClr val="tx1"/>
                          </a:solidFill>
                        </a:rPr>
                        <a:t>,</a:t>
                      </a:r>
                      <a:r>
                        <a:rPr lang="en-US" baseline="0" dirty="0">
                          <a:solidFill>
                            <a:schemeClr val="tx1"/>
                          </a:solidFill>
                        </a:rPr>
                        <a:t> </a:t>
                      </a:r>
                      <a:r>
                        <a:rPr lang="en-US" dirty="0">
                          <a:solidFill>
                            <a:schemeClr val="tx1"/>
                          </a:solidFill>
                        </a:rPr>
                        <a:t>𝜏</a:t>
                      </a:r>
                      <a:r>
                        <a:rPr lang="en-US" baseline="-25000" dirty="0">
                          <a:solidFill>
                            <a:schemeClr val="tx1"/>
                          </a:solidFill>
                        </a:rPr>
                        <a:t>2</a:t>
                      </a:r>
                      <a:r>
                        <a:rPr lang="en-US" baseline="0" dirty="0">
                          <a:solidFill>
                            <a:schemeClr val="tx1"/>
                          </a:solidFill>
                        </a:rPr>
                        <a:t> }</a:t>
                      </a:r>
                      <a:endParaRPr lang="en-US" dirty="0">
                        <a:solidFill>
                          <a:schemeClr val="tx1"/>
                        </a:solidFill>
                      </a:endParaRPr>
                    </a:p>
                  </a:txBody>
                  <a:tcPr>
                    <a:solidFill>
                      <a:schemeClr val="tx2">
                        <a:lumMod val="40000"/>
                        <a:lumOff val="60000"/>
                      </a:schemeClr>
                    </a:solidFill>
                  </a:tcPr>
                </a:tc>
                <a:extLst>
                  <a:ext uri="{0D108BD9-81ED-4DB2-BD59-A6C34878D82A}">
                    <a16:rowId xmlns:a16="http://schemas.microsoft.com/office/drawing/2014/main" val="10002"/>
                  </a:ext>
                </a:extLst>
              </a:tr>
              <a:tr h="370840">
                <a:tc vMerge="1">
                  <a:txBody>
                    <a:bodyPr/>
                    <a:lstStyle/>
                    <a:p>
                      <a:pPr algn="ctr"/>
                      <a:endParaRPr lang="en-US" dirty="0"/>
                    </a:p>
                  </a:txBody>
                  <a:tcPr/>
                </a:tc>
                <a:tc>
                  <a:txBody>
                    <a:bodyPr/>
                    <a:lstStyle/>
                    <a:p>
                      <a:pPr algn="ctr"/>
                      <a:r>
                        <a:rPr lang="en-US" dirty="0"/>
                        <a:t>C</a:t>
                      </a:r>
                    </a:p>
                  </a:txBody>
                  <a:tcPr/>
                </a:tc>
                <a:tc>
                  <a:txBody>
                    <a:bodyPr/>
                    <a:lstStyle/>
                    <a:p>
                      <a:pPr algn="ctr"/>
                      <a:r>
                        <a:rPr lang="en-US" dirty="0"/>
                        <a:t>{</a:t>
                      </a:r>
                      <a:r>
                        <a:rPr lang="en-US" baseline="0" dirty="0"/>
                        <a:t> </a:t>
                      </a:r>
                      <a:r>
                        <a:rPr lang="en-US" baseline="0" dirty="0" err="1"/>
                        <a:t>o.u</a:t>
                      </a:r>
                      <a:r>
                        <a:rPr lang="en-US" baseline="0" dirty="0"/>
                        <a:t> , </a:t>
                      </a:r>
                      <a:r>
                        <a:rPr lang="en-US" baseline="0" dirty="0" err="1"/>
                        <a:t>o.v</a:t>
                      </a:r>
                      <a:r>
                        <a:rPr lang="en-US" baseline="0" dirty="0"/>
                        <a:t> }</a:t>
                      </a:r>
                      <a:endParaRPr lang="en-US" dirty="0"/>
                    </a:p>
                  </a:txBody>
                  <a:tcPr/>
                </a:tc>
                <a:tc>
                  <a:txBody>
                    <a:bodyPr/>
                    <a:lstStyle/>
                    <a:p>
                      <a:pPr algn="ctr"/>
                      <a:r>
                        <a:rPr lang="en-US" dirty="0" err="1">
                          <a:solidFill>
                            <a:schemeClr val="tx1"/>
                          </a:solidFill>
                        </a:rPr>
                        <a:t>o.u</a:t>
                      </a:r>
                      <a:r>
                        <a:rPr lang="en-US" dirty="0">
                          <a:solidFill>
                            <a:schemeClr val="tx1"/>
                          </a:solidFill>
                        </a:rPr>
                        <a:t> : { 𝜋</a:t>
                      </a:r>
                      <a:r>
                        <a:rPr lang="en-US" baseline="-25000" dirty="0">
                          <a:solidFill>
                            <a:schemeClr val="tx1"/>
                          </a:solidFill>
                        </a:rPr>
                        <a:t>1</a:t>
                      </a:r>
                      <a:r>
                        <a:rPr lang="en-US" dirty="0">
                          <a:solidFill>
                            <a:schemeClr val="tx1"/>
                          </a:solidFill>
                        </a:rPr>
                        <a:t> } , </a:t>
                      </a:r>
                      <a:r>
                        <a:rPr lang="en-US" dirty="0" err="1">
                          <a:solidFill>
                            <a:schemeClr val="tx1"/>
                          </a:solidFill>
                        </a:rPr>
                        <a:t>o.v</a:t>
                      </a:r>
                      <a:r>
                        <a:rPr lang="en-US" dirty="0">
                          <a:solidFill>
                            <a:schemeClr val="tx1"/>
                          </a:solidFill>
                        </a:rPr>
                        <a:t> :{𝜋</a:t>
                      </a:r>
                      <a:r>
                        <a:rPr lang="en-US" baseline="-25000" dirty="0">
                          <a:solidFill>
                            <a:schemeClr val="tx1"/>
                          </a:solidFill>
                        </a:rPr>
                        <a:t>2 , </a:t>
                      </a:r>
                      <a:r>
                        <a:rPr lang="en-US" dirty="0">
                          <a:solidFill>
                            <a:schemeClr val="tx1"/>
                          </a:solidFill>
                        </a:rPr>
                        <a:t>𝜋</a:t>
                      </a:r>
                      <a:r>
                        <a:rPr lang="en-US" baseline="-25000" dirty="0">
                          <a:solidFill>
                            <a:schemeClr val="tx1"/>
                          </a:solidFill>
                        </a:rPr>
                        <a:t>3</a:t>
                      </a:r>
                      <a:r>
                        <a:rPr lang="en-US" dirty="0">
                          <a:solidFill>
                            <a:schemeClr val="tx1"/>
                          </a:solidFill>
                        </a:rPr>
                        <a:t>}</a:t>
                      </a:r>
                    </a:p>
                  </a:txBody>
                  <a:tcPr>
                    <a:solidFill>
                      <a:schemeClr val="tx2">
                        <a:lumMod val="40000"/>
                        <a:lumOff val="60000"/>
                      </a:schemeClr>
                    </a:solidFill>
                  </a:tcPr>
                </a:tc>
                <a:extLst>
                  <a:ext uri="{0D108BD9-81ED-4DB2-BD59-A6C34878D82A}">
                    <a16:rowId xmlns:a16="http://schemas.microsoft.com/office/drawing/2014/main" val="10003"/>
                  </a:ext>
                </a:extLst>
              </a:tr>
              <a:tr h="370840">
                <a:tc>
                  <a:txBody>
                    <a:bodyPr/>
                    <a:lstStyle/>
                    <a:p>
                      <a:pPr algn="ctr"/>
                      <a:r>
                        <a:rPr lang="en-US" i="1" dirty="0"/>
                        <a:t>cs2</a:t>
                      </a:r>
                    </a:p>
                  </a:txBody>
                  <a:tcPr>
                    <a:solidFill>
                      <a:schemeClr val="accent5">
                        <a:lumMod val="40000"/>
                        <a:lumOff val="60000"/>
                      </a:schemeClr>
                    </a:solidFill>
                  </a:tcPr>
                </a:tc>
                <a:tc>
                  <a:txBody>
                    <a:bodyPr/>
                    <a:lstStyle/>
                    <a:p>
                      <a:pPr algn="ctr"/>
                      <a:r>
                        <a:rPr lang="en-US" dirty="0"/>
                        <a:t>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US" baseline="0" dirty="0"/>
                        <a:t> </a:t>
                      </a:r>
                      <a:r>
                        <a:rPr lang="en-US" baseline="0" dirty="0" err="1"/>
                        <a:t>o.u</a:t>
                      </a:r>
                      <a:r>
                        <a:rPr lang="en-US" baseline="0" dirty="0"/>
                        <a:t> , </a:t>
                      </a:r>
                      <a:r>
                        <a:rPr lang="en-US" baseline="0" dirty="0" err="1"/>
                        <a:t>o.v</a:t>
                      </a:r>
                      <a:r>
                        <a:rPr lang="en-US" baseline="0" dirty="0"/>
                        <a:t>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o.u</a:t>
                      </a:r>
                      <a:r>
                        <a:rPr lang="en-US" dirty="0">
                          <a:solidFill>
                            <a:schemeClr val="tx1"/>
                          </a:solidFill>
                        </a:rPr>
                        <a:t> : { 𝜌</a:t>
                      </a:r>
                      <a:r>
                        <a:rPr lang="en-US" baseline="-25000" dirty="0">
                          <a:solidFill>
                            <a:schemeClr val="tx1"/>
                          </a:solidFill>
                        </a:rPr>
                        <a:t>1</a:t>
                      </a:r>
                      <a:r>
                        <a:rPr lang="en-US" dirty="0">
                          <a:solidFill>
                            <a:schemeClr val="tx1"/>
                          </a:solidFill>
                        </a:rPr>
                        <a:t> } , </a:t>
                      </a:r>
                      <a:r>
                        <a:rPr lang="en-US" dirty="0" err="1">
                          <a:solidFill>
                            <a:schemeClr val="tx1"/>
                          </a:solidFill>
                        </a:rPr>
                        <a:t>o.v</a:t>
                      </a:r>
                      <a:r>
                        <a:rPr lang="en-US" dirty="0">
                          <a:solidFill>
                            <a:schemeClr val="tx1"/>
                          </a:solidFill>
                        </a:rPr>
                        <a:t> :{𝜌</a:t>
                      </a:r>
                      <a:r>
                        <a:rPr lang="en-US" baseline="-25000" dirty="0">
                          <a:solidFill>
                            <a:schemeClr val="tx1"/>
                          </a:solidFill>
                        </a:rPr>
                        <a:t>2</a:t>
                      </a:r>
                      <a:r>
                        <a:rPr lang="en-US" dirty="0">
                          <a:solidFill>
                            <a:schemeClr val="tx1"/>
                          </a:solidFill>
                        </a:rPr>
                        <a:t>}</a:t>
                      </a:r>
                    </a:p>
                  </a:txBody>
                  <a:tcPr>
                    <a:solidFill>
                      <a:schemeClr val="tx2">
                        <a:lumMod val="40000"/>
                        <a:lumOff val="60000"/>
                      </a:schemeClr>
                    </a:solidFill>
                  </a:tcPr>
                </a:tc>
                <a:extLst>
                  <a:ext uri="{0D108BD9-81ED-4DB2-BD59-A6C34878D82A}">
                    <a16:rowId xmlns:a16="http://schemas.microsoft.com/office/drawing/2014/main" val="2872703372"/>
                  </a:ext>
                </a:extLst>
              </a:tr>
            </a:tbl>
          </a:graphicData>
        </a:graphic>
      </p:graphicFrame>
      <p:sp>
        <p:nvSpPr>
          <p:cNvPr id="2" name="TextBox 1">
            <a:extLst>
              <a:ext uri="{FF2B5EF4-FFF2-40B4-BE49-F238E27FC236}">
                <a16:creationId xmlns:a16="http://schemas.microsoft.com/office/drawing/2014/main" id="{5795A141-3B1C-FD47-9B9F-9FE04997D06A}"/>
              </a:ext>
            </a:extLst>
          </p:cNvPr>
          <p:cNvSpPr txBox="1"/>
          <p:nvPr/>
        </p:nvSpPr>
        <p:spPr>
          <a:xfrm>
            <a:off x="395536" y="1573966"/>
            <a:ext cx="6827510" cy="369332"/>
          </a:xfrm>
          <a:prstGeom prst="rect">
            <a:avLst/>
          </a:prstGeom>
          <a:noFill/>
        </p:spPr>
        <p:txBody>
          <a:bodyPr wrap="none" rtlCol="0">
            <a:spAutoFit/>
          </a:bodyPr>
          <a:lstStyle/>
          <a:p>
            <a:r>
              <a:rPr lang="en-US" dirty="0"/>
              <a:t>Imagine the following coupling sequences within some method f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sz="4000" dirty="0"/>
              <a:t>Indirect coupling test coverage criteria</a:t>
            </a:r>
          </a:p>
        </p:txBody>
      </p:sp>
      <p:sp>
        <p:nvSpPr>
          <p:cNvPr id="37891" name="Content Placeholder 2"/>
          <p:cNvSpPr>
            <a:spLocks noGrp="1"/>
          </p:cNvSpPr>
          <p:nvPr>
            <p:ph idx="1"/>
          </p:nvPr>
        </p:nvSpPr>
        <p:spPr>
          <a:xfrm>
            <a:off x="251520" y="4203709"/>
            <a:ext cx="8640960" cy="2319378"/>
          </a:xfrm>
        </p:spPr>
        <p:txBody>
          <a:bodyPr/>
          <a:lstStyle/>
          <a:p>
            <a:pPr marL="0" indent="0" algn="just">
              <a:buNone/>
            </a:pPr>
            <a:r>
              <a:rPr lang="en-US" sz="2400" dirty="0">
                <a:sym typeface="Wingdings" pitchFamily="2" charset="2"/>
              </a:rPr>
              <a:t>(Def 7.54) </a:t>
            </a:r>
            <a:r>
              <a:rPr lang="en-US" sz="2400" b="1" dirty="0">
                <a:sym typeface="Wingdings" pitchFamily="2" charset="2"/>
              </a:rPr>
              <a:t>All-Poly-Classes</a:t>
            </a:r>
            <a:r>
              <a:rPr lang="en-US" sz="2400" dirty="0">
                <a:sym typeface="Wingdings" pitchFamily="2" charset="2"/>
              </a:rPr>
              <a:t> (APC): for </a:t>
            </a:r>
            <a:r>
              <a:rPr lang="en-US" sz="2400" b="1" dirty="0">
                <a:sym typeface="Wingdings" pitchFamily="2" charset="2"/>
              </a:rPr>
              <a:t>every coupling sequence</a:t>
            </a:r>
            <a:r>
              <a:rPr lang="en-US" sz="2400" dirty="0">
                <a:sym typeface="Wingdings" pitchFamily="2" charset="2"/>
              </a:rPr>
              <a:t> cs, and </a:t>
            </a:r>
            <a:r>
              <a:rPr lang="en-US" sz="2400" b="1" dirty="0">
                <a:sym typeface="Wingdings" pitchFamily="2" charset="2"/>
              </a:rPr>
              <a:t>every possible class </a:t>
            </a:r>
            <a:r>
              <a:rPr lang="en-US" sz="2400" dirty="0">
                <a:sym typeface="Wingdings" pitchFamily="2" charset="2"/>
              </a:rPr>
              <a:t>of the coupling-var at cs</a:t>
            </a:r>
            <a:r>
              <a:rPr lang="en-US" sz="2400" b="1" dirty="0">
                <a:sym typeface="Wingdings" pitchFamily="2" charset="2"/>
              </a:rPr>
              <a:t>,</a:t>
            </a:r>
            <a:r>
              <a:rPr lang="en-US" sz="2400" dirty="0"/>
              <a:t> </a:t>
            </a:r>
            <a:r>
              <a:rPr lang="en-US" sz="2400" dirty="0">
                <a:sym typeface="Wingdings" pitchFamily="2" charset="2"/>
              </a:rPr>
              <a:t>TR includes at least one coupling path of </a:t>
            </a:r>
            <a:r>
              <a:rPr lang="en-US" sz="2400" i="1" dirty="0">
                <a:sym typeface="Wingdings" pitchFamily="2" charset="2"/>
              </a:rPr>
              <a:t>t.  </a:t>
            </a:r>
            <a:r>
              <a:rPr lang="en-US" sz="2400" dirty="0">
                <a:sym typeface="Wingdings" pitchFamily="2" charset="2"/>
              </a:rPr>
              <a:t> ignore that </a:t>
            </a:r>
            <a:r>
              <a:rPr lang="en-US" sz="2400" i="1" dirty="0">
                <a:sym typeface="Wingdings" pitchFamily="2" charset="2"/>
              </a:rPr>
              <a:t>cs </a:t>
            </a:r>
            <a:r>
              <a:rPr lang="en-US" sz="2400" dirty="0">
                <a:sym typeface="Wingdings" pitchFamily="2" charset="2"/>
              </a:rPr>
              <a:t>may have multiple coupling vars.</a:t>
            </a:r>
          </a:p>
          <a:p>
            <a:pPr marL="0" indent="0" algn="just">
              <a:buNone/>
            </a:pPr>
            <a:r>
              <a:rPr lang="en-US" sz="2400" dirty="0">
                <a:sym typeface="Wingdings" pitchFamily="2" charset="2"/>
              </a:rPr>
              <a:t>In the above example, the TR would consist of 3 paths for cs1, and 1 for cs2.</a:t>
            </a:r>
            <a:endParaRPr lang="en-US" sz="2400" dirty="0"/>
          </a:p>
        </p:txBody>
      </p:sp>
      <p:sp>
        <p:nvSpPr>
          <p:cNvPr id="4" name="Slide Number Placeholder 3"/>
          <p:cNvSpPr>
            <a:spLocks noGrp="1"/>
          </p:cNvSpPr>
          <p:nvPr>
            <p:ph type="sldNum" sz="quarter" idx="12"/>
          </p:nvPr>
        </p:nvSpPr>
        <p:spPr/>
        <p:txBody>
          <a:bodyPr/>
          <a:lstStyle/>
          <a:p>
            <a:pPr>
              <a:defRPr/>
            </a:pPr>
            <a:fld id="{42169E21-8D84-4F22-B2F8-0BE426A77F25}" type="slidenum">
              <a:rPr lang="en-US" smtClean="0"/>
              <a:pPr>
                <a:defRPr/>
              </a:pPr>
              <a:t>41</a:t>
            </a:fld>
            <a:endParaRPr lang="en-US"/>
          </a:p>
        </p:txBody>
      </p:sp>
      <p:sp>
        <p:nvSpPr>
          <p:cNvPr id="5" name="Rectangle 4"/>
          <p:cNvSpPr/>
          <p:nvPr/>
        </p:nvSpPr>
        <p:spPr>
          <a:xfrm>
            <a:off x="683568" y="1797099"/>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A</a:t>
            </a:r>
          </a:p>
        </p:txBody>
      </p:sp>
      <p:sp>
        <p:nvSpPr>
          <p:cNvPr id="6" name="Rectangle 5"/>
          <p:cNvSpPr/>
          <p:nvPr/>
        </p:nvSpPr>
        <p:spPr>
          <a:xfrm>
            <a:off x="683568" y="2511474"/>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B1</a:t>
            </a:r>
          </a:p>
        </p:txBody>
      </p:sp>
      <p:sp>
        <p:nvSpPr>
          <p:cNvPr id="7" name="Rectangle 6"/>
          <p:cNvSpPr/>
          <p:nvPr/>
        </p:nvSpPr>
        <p:spPr>
          <a:xfrm>
            <a:off x="683568" y="3225849"/>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B2</a:t>
            </a:r>
          </a:p>
        </p:txBody>
      </p:sp>
      <p:sp>
        <p:nvSpPr>
          <p:cNvPr id="8" name="Isosceles Triangle 7"/>
          <p:cNvSpPr/>
          <p:nvPr/>
        </p:nvSpPr>
        <p:spPr>
          <a:xfrm>
            <a:off x="969318" y="2225724"/>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9" name="Straight Connector 8"/>
          <p:cNvCxnSpPr>
            <a:stCxn id="6" idx="0"/>
            <a:endCxn id="8" idx="3"/>
          </p:cNvCxnSpPr>
          <p:nvPr/>
        </p:nvCxnSpPr>
        <p:spPr>
          <a:xfrm rot="5400000" flipH="1" flipV="1">
            <a:off x="1005036" y="2439243"/>
            <a:ext cx="14287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Isosceles Triangle 9"/>
          <p:cNvSpPr/>
          <p:nvPr/>
        </p:nvSpPr>
        <p:spPr>
          <a:xfrm>
            <a:off x="969318" y="2940099"/>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11" name="Straight Connector 10"/>
          <p:cNvCxnSpPr>
            <a:stCxn id="7" idx="0"/>
            <a:endCxn id="10" idx="3"/>
          </p:cNvCxnSpPr>
          <p:nvPr/>
        </p:nvCxnSpPr>
        <p:spPr>
          <a:xfrm rot="5400000" flipH="1" flipV="1">
            <a:off x="1005036" y="3153618"/>
            <a:ext cx="14287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B333BAAE-0CE2-4146-9593-7657208293FE}"/>
              </a:ext>
            </a:extLst>
          </p:cNvPr>
          <p:cNvGraphicFramePr>
            <a:graphicFrameLocks noGrp="1"/>
          </p:cNvGraphicFramePr>
          <p:nvPr>
            <p:extLst>
              <p:ext uri="{D42A27DB-BD31-4B8C-83A1-F6EECF244321}">
                <p14:modId xmlns:p14="http://schemas.microsoft.com/office/powerpoint/2010/main" val="1154847103"/>
              </p:ext>
            </p:extLst>
          </p:nvPr>
        </p:nvGraphicFramePr>
        <p:xfrm>
          <a:off x="2059037" y="1700808"/>
          <a:ext cx="6627763" cy="2123440"/>
        </p:xfrm>
        <a:graphic>
          <a:graphicData uri="http://schemas.openxmlformats.org/drawingml/2006/table">
            <a:tbl>
              <a:tblPr firstRow="1" bandRow="1">
                <a:tableStyleId>{5C22544A-7EE6-4342-B048-85BDC9FD1C3A}</a:tableStyleId>
              </a:tblPr>
              <a:tblGrid>
                <a:gridCol w="1338050">
                  <a:extLst>
                    <a:ext uri="{9D8B030D-6E8A-4147-A177-3AD203B41FA5}">
                      <a16:colId xmlns:a16="http://schemas.microsoft.com/office/drawing/2014/main" val="20000"/>
                    </a:ext>
                  </a:extLst>
                </a:gridCol>
                <a:gridCol w="1252111">
                  <a:extLst>
                    <a:ext uri="{9D8B030D-6E8A-4147-A177-3AD203B41FA5}">
                      <a16:colId xmlns:a16="http://schemas.microsoft.com/office/drawing/2014/main" val="20001"/>
                    </a:ext>
                  </a:extLst>
                </a:gridCol>
                <a:gridCol w="1578986">
                  <a:extLst>
                    <a:ext uri="{9D8B030D-6E8A-4147-A177-3AD203B41FA5}">
                      <a16:colId xmlns:a16="http://schemas.microsoft.com/office/drawing/2014/main" val="20002"/>
                    </a:ext>
                  </a:extLst>
                </a:gridCol>
                <a:gridCol w="2458616">
                  <a:extLst>
                    <a:ext uri="{9D8B030D-6E8A-4147-A177-3AD203B41FA5}">
                      <a16:colId xmlns:a16="http://schemas.microsoft.com/office/drawing/2014/main" val="20003"/>
                    </a:ext>
                  </a:extLst>
                </a:gridCol>
              </a:tblGrid>
              <a:tr h="370840">
                <a:tc>
                  <a:txBody>
                    <a:bodyPr/>
                    <a:lstStyle/>
                    <a:p>
                      <a:pPr algn="ctr"/>
                      <a:r>
                        <a:rPr lang="en-US" dirty="0"/>
                        <a:t>coupling </a:t>
                      </a:r>
                      <a:r>
                        <a:rPr lang="en-US" baseline="0" dirty="0"/>
                        <a:t>seq. in f</a:t>
                      </a:r>
                      <a:endParaRPr lang="en-US" dirty="0"/>
                    </a:p>
                  </a:txBody>
                  <a:tcPr/>
                </a:tc>
                <a:tc>
                  <a:txBody>
                    <a:bodyPr/>
                    <a:lstStyle/>
                    <a:p>
                      <a:pPr algn="ctr"/>
                      <a:r>
                        <a:rPr lang="en-US" dirty="0"/>
                        <a:t>type(o)</a:t>
                      </a:r>
                    </a:p>
                  </a:txBody>
                  <a:tcPr/>
                </a:tc>
                <a:tc>
                  <a:txBody>
                    <a:bodyPr/>
                    <a:lstStyle/>
                    <a:p>
                      <a:pPr algn="ctr"/>
                      <a:r>
                        <a:rPr lang="en-US" dirty="0"/>
                        <a:t>coupling</a:t>
                      </a:r>
                      <a:r>
                        <a:rPr lang="en-US" baseline="0" dirty="0"/>
                        <a:t> </a:t>
                      </a:r>
                      <a:r>
                        <a:rPr lang="en-US" baseline="0" dirty="0" err="1"/>
                        <a:t>vars</a:t>
                      </a:r>
                      <a:endParaRPr lang="en-US" dirty="0"/>
                    </a:p>
                  </a:txBody>
                  <a:tcPr/>
                </a:tc>
                <a:tc>
                  <a:txBody>
                    <a:bodyPr/>
                    <a:lstStyle/>
                    <a:p>
                      <a:pPr algn="ctr"/>
                      <a:r>
                        <a:rPr lang="en-US" dirty="0">
                          <a:solidFill>
                            <a:schemeClr val="tx1"/>
                          </a:solidFill>
                        </a:rPr>
                        <a:t>coupling paths</a:t>
                      </a:r>
                    </a:p>
                  </a:txBody>
                  <a:tcPr>
                    <a:solidFill>
                      <a:schemeClr val="tx2">
                        <a:lumMod val="40000"/>
                        <a:lumOff val="60000"/>
                      </a:schemeClr>
                    </a:solidFill>
                  </a:tcPr>
                </a:tc>
                <a:extLst>
                  <a:ext uri="{0D108BD9-81ED-4DB2-BD59-A6C34878D82A}">
                    <a16:rowId xmlns:a16="http://schemas.microsoft.com/office/drawing/2014/main" val="10000"/>
                  </a:ext>
                </a:extLst>
              </a:tr>
              <a:tr h="370840">
                <a:tc rowSpan="3">
                  <a:txBody>
                    <a:bodyPr/>
                    <a:lstStyle/>
                    <a:p>
                      <a:pPr algn="ctr"/>
                      <a:endParaRPr lang="en-US" dirty="0"/>
                    </a:p>
                    <a:p>
                      <a:pPr algn="ctr"/>
                      <a:r>
                        <a:rPr lang="en-US" dirty="0"/>
                        <a:t>cs1</a:t>
                      </a:r>
                    </a:p>
                  </a:txBody>
                  <a:tcPr>
                    <a:solidFill>
                      <a:schemeClr val="accent5">
                        <a:lumMod val="20000"/>
                        <a:lumOff val="80000"/>
                      </a:schemeClr>
                    </a:solidFill>
                  </a:tcPr>
                </a:tc>
                <a:tc>
                  <a:txBody>
                    <a:bodyPr/>
                    <a:lstStyle/>
                    <a:p>
                      <a:pPr algn="ctr"/>
                      <a:r>
                        <a:rPr lang="en-US" dirty="0"/>
                        <a:t>A</a:t>
                      </a:r>
                    </a:p>
                  </a:txBody>
                  <a:tcPr/>
                </a:tc>
                <a:tc>
                  <a:txBody>
                    <a:bodyPr/>
                    <a:lstStyle/>
                    <a:p>
                      <a:pPr algn="ctr"/>
                      <a:r>
                        <a:rPr lang="en-US" dirty="0"/>
                        <a:t>{ </a:t>
                      </a:r>
                      <a:r>
                        <a:rPr lang="en-US" dirty="0" err="1"/>
                        <a:t>o.v</a:t>
                      </a:r>
                      <a:r>
                        <a:rPr lang="en-US" baseline="0" dirty="0"/>
                        <a:t> }</a:t>
                      </a:r>
                      <a:endParaRPr lang="en-US" dirty="0"/>
                    </a:p>
                  </a:txBody>
                  <a:tcPr/>
                </a:tc>
                <a:tc>
                  <a:txBody>
                    <a:bodyPr/>
                    <a:lstStyle/>
                    <a:p>
                      <a:pPr algn="ctr"/>
                      <a:r>
                        <a:rPr lang="en-US" dirty="0">
                          <a:solidFill>
                            <a:schemeClr val="tx1"/>
                          </a:solidFill>
                        </a:rPr>
                        <a:t> </a:t>
                      </a:r>
                      <a:r>
                        <a:rPr lang="en-US" dirty="0" err="1">
                          <a:solidFill>
                            <a:schemeClr val="tx1"/>
                          </a:solidFill>
                        </a:rPr>
                        <a:t>o.v</a:t>
                      </a:r>
                      <a:r>
                        <a:rPr lang="en-US" dirty="0">
                          <a:solidFill>
                            <a:schemeClr val="tx1"/>
                          </a:solidFill>
                        </a:rPr>
                        <a:t> :  { 𝜎</a:t>
                      </a:r>
                      <a:r>
                        <a:rPr lang="en-US" baseline="-25000" dirty="0">
                          <a:solidFill>
                            <a:schemeClr val="tx1"/>
                          </a:solidFill>
                        </a:rPr>
                        <a:t>1</a:t>
                      </a:r>
                      <a:r>
                        <a:rPr lang="en-US" dirty="0">
                          <a:solidFill>
                            <a:schemeClr val="tx1"/>
                          </a:solidFill>
                        </a:rPr>
                        <a:t> }</a:t>
                      </a:r>
                    </a:p>
                  </a:txBody>
                  <a:tcPr>
                    <a:solidFill>
                      <a:schemeClr val="tx2">
                        <a:lumMod val="40000"/>
                        <a:lumOff val="60000"/>
                      </a:schemeClr>
                    </a:solidFill>
                  </a:tcPr>
                </a:tc>
                <a:extLst>
                  <a:ext uri="{0D108BD9-81ED-4DB2-BD59-A6C34878D82A}">
                    <a16:rowId xmlns:a16="http://schemas.microsoft.com/office/drawing/2014/main" val="10001"/>
                  </a:ext>
                </a:extLst>
              </a:tr>
              <a:tr h="370840">
                <a:tc vMerge="1">
                  <a:txBody>
                    <a:bodyPr/>
                    <a:lstStyle/>
                    <a:p>
                      <a:pPr algn="ctr"/>
                      <a:endParaRPr lang="en-US" dirty="0"/>
                    </a:p>
                  </a:txBody>
                  <a:tcPr/>
                </a:tc>
                <a:tc>
                  <a:txBody>
                    <a:bodyPr/>
                    <a:lstStyle/>
                    <a:p>
                      <a:pPr algn="ctr"/>
                      <a:r>
                        <a:rPr lang="en-US" dirty="0"/>
                        <a:t> B1</a:t>
                      </a:r>
                    </a:p>
                  </a:txBody>
                  <a:tcPr/>
                </a:tc>
                <a:tc>
                  <a:txBody>
                    <a:bodyPr/>
                    <a:lstStyle/>
                    <a:p>
                      <a:pPr algn="ctr"/>
                      <a:r>
                        <a:rPr lang="en-US" dirty="0"/>
                        <a:t>{ </a:t>
                      </a:r>
                      <a:r>
                        <a:rPr lang="en-US" dirty="0" err="1"/>
                        <a:t>o.u</a:t>
                      </a:r>
                      <a:r>
                        <a:rPr lang="en-US" baseline="0" dirty="0"/>
                        <a:t> }</a:t>
                      </a:r>
                      <a:endParaRPr lang="en-US" dirty="0"/>
                    </a:p>
                  </a:txBody>
                  <a:tcPr/>
                </a:tc>
                <a:tc>
                  <a:txBody>
                    <a:bodyPr/>
                    <a:lstStyle/>
                    <a:p>
                      <a:pPr algn="ctr"/>
                      <a:r>
                        <a:rPr lang="en-US" dirty="0" err="1">
                          <a:solidFill>
                            <a:schemeClr val="tx1"/>
                          </a:solidFill>
                        </a:rPr>
                        <a:t>o.u</a:t>
                      </a:r>
                      <a:r>
                        <a:rPr lang="en-US" dirty="0">
                          <a:solidFill>
                            <a:schemeClr val="tx1"/>
                          </a:solidFill>
                        </a:rPr>
                        <a:t> : {𝜏</a:t>
                      </a:r>
                      <a:r>
                        <a:rPr lang="en-US" baseline="-25000" dirty="0">
                          <a:solidFill>
                            <a:schemeClr val="tx1"/>
                          </a:solidFill>
                        </a:rPr>
                        <a:t>1</a:t>
                      </a:r>
                      <a:r>
                        <a:rPr lang="en-US" dirty="0">
                          <a:solidFill>
                            <a:schemeClr val="tx1"/>
                          </a:solidFill>
                        </a:rPr>
                        <a:t>,</a:t>
                      </a:r>
                      <a:r>
                        <a:rPr lang="en-US" baseline="0" dirty="0">
                          <a:solidFill>
                            <a:schemeClr val="tx1"/>
                          </a:solidFill>
                        </a:rPr>
                        <a:t> </a:t>
                      </a:r>
                      <a:r>
                        <a:rPr lang="en-US" dirty="0">
                          <a:solidFill>
                            <a:schemeClr val="tx1"/>
                          </a:solidFill>
                        </a:rPr>
                        <a:t>𝜏</a:t>
                      </a:r>
                      <a:r>
                        <a:rPr lang="en-US" baseline="-25000" dirty="0">
                          <a:solidFill>
                            <a:schemeClr val="tx1"/>
                          </a:solidFill>
                        </a:rPr>
                        <a:t>2</a:t>
                      </a:r>
                      <a:r>
                        <a:rPr lang="en-US" baseline="0" dirty="0">
                          <a:solidFill>
                            <a:schemeClr val="tx1"/>
                          </a:solidFill>
                        </a:rPr>
                        <a:t> }</a:t>
                      </a:r>
                      <a:endParaRPr lang="en-US" dirty="0">
                        <a:solidFill>
                          <a:schemeClr val="tx1"/>
                        </a:solidFill>
                      </a:endParaRPr>
                    </a:p>
                  </a:txBody>
                  <a:tcPr>
                    <a:solidFill>
                      <a:schemeClr val="tx2">
                        <a:lumMod val="40000"/>
                        <a:lumOff val="60000"/>
                      </a:schemeClr>
                    </a:solidFill>
                  </a:tcPr>
                </a:tc>
                <a:extLst>
                  <a:ext uri="{0D108BD9-81ED-4DB2-BD59-A6C34878D82A}">
                    <a16:rowId xmlns:a16="http://schemas.microsoft.com/office/drawing/2014/main" val="10002"/>
                  </a:ext>
                </a:extLst>
              </a:tr>
              <a:tr h="370840">
                <a:tc vMerge="1">
                  <a:txBody>
                    <a:bodyPr/>
                    <a:lstStyle/>
                    <a:p>
                      <a:pPr algn="ctr"/>
                      <a:endParaRPr lang="en-US" dirty="0"/>
                    </a:p>
                  </a:txBody>
                  <a:tcPr/>
                </a:tc>
                <a:tc>
                  <a:txBody>
                    <a:bodyPr/>
                    <a:lstStyle/>
                    <a:p>
                      <a:pPr algn="ctr"/>
                      <a:r>
                        <a:rPr lang="en-US" dirty="0"/>
                        <a:t>B2</a:t>
                      </a:r>
                    </a:p>
                  </a:txBody>
                  <a:tcPr/>
                </a:tc>
                <a:tc>
                  <a:txBody>
                    <a:bodyPr/>
                    <a:lstStyle/>
                    <a:p>
                      <a:pPr algn="ctr"/>
                      <a:r>
                        <a:rPr lang="en-US" dirty="0"/>
                        <a:t>{</a:t>
                      </a:r>
                      <a:r>
                        <a:rPr lang="en-US" baseline="0" dirty="0"/>
                        <a:t> </a:t>
                      </a:r>
                      <a:r>
                        <a:rPr lang="en-US" baseline="0" dirty="0" err="1"/>
                        <a:t>o.u</a:t>
                      </a:r>
                      <a:r>
                        <a:rPr lang="en-US" baseline="0" dirty="0"/>
                        <a:t> , </a:t>
                      </a:r>
                      <a:r>
                        <a:rPr lang="en-US" baseline="0" dirty="0" err="1"/>
                        <a:t>o.v</a:t>
                      </a:r>
                      <a:r>
                        <a:rPr lang="en-US" baseline="0" dirty="0"/>
                        <a:t> }</a:t>
                      </a:r>
                      <a:endParaRPr lang="en-US" dirty="0"/>
                    </a:p>
                  </a:txBody>
                  <a:tcPr/>
                </a:tc>
                <a:tc>
                  <a:txBody>
                    <a:bodyPr/>
                    <a:lstStyle/>
                    <a:p>
                      <a:pPr algn="ctr"/>
                      <a:r>
                        <a:rPr lang="en-US" dirty="0" err="1">
                          <a:solidFill>
                            <a:schemeClr val="tx1"/>
                          </a:solidFill>
                        </a:rPr>
                        <a:t>o.u</a:t>
                      </a:r>
                      <a:r>
                        <a:rPr lang="en-US" dirty="0">
                          <a:solidFill>
                            <a:schemeClr val="tx1"/>
                          </a:solidFill>
                        </a:rPr>
                        <a:t> : { 𝜋</a:t>
                      </a:r>
                      <a:r>
                        <a:rPr lang="en-US" baseline="-25000" dirty="0">
                          <a:solidFill>
                            <a:schemeClr val="tx1"/>
                          </a:solidFill>
                        </a:rPr>
                        <a:t>1</a:t>
                      </a:r>
                      <a:r>
                        <a:rPr lang="en-US" dirty="0">
                          <a:solidFill>
                            <a:schemeClr val="tx1"/>
                          </a:solidFill>
                        </a:rPr>
                        <a:t> } , </a:t>
                      </a:r>
                      <a:r>
                        <a:rPr lang="en-US" dirty="0" err="1">
                          <a:solidFill>
                            <a:schemeClr val="tx1"/>
                          </a:solidFill>
                        </a:rPr>
                        <a:t>o.v</a:t>
                      </a:r>
                      <a:r>
                        <a:rPr lang="en-US" dirty="0">
                          <a:solidFill>
                            <a:schemeClr val="tx1"/>
                          </a:solidFill>
                        </a:rPr>
                        <a:t> :{𝜋</a:t>
                      </a:r>
                      <a:r>
                        <a:rPr lang="en-US" baseline="-25000" dirty="0">
                          <a:solidFill>
                            <a:schemeClr val="tx1"/>
                          </a:solidFill>
                        </a:rPr>
                        <a:t>2, </a:t>
                      </a:r>
                      <a:r>
                        <a:rPr lang="en-US" dirty="0">
                          <a:solidFill>
                            <a:schemeClr val="tx1"/>
                          </a:solidFill>
                        </a:rPr>
                        <a:t>𝜋</a:t>
                      </a:r>
                      <a:r>
                        <a:rPr lang="en-US" baseline="-25000" dirty="0">
                          <a:solidFill>
                            <a:schemeClr val="tx1"/>
                          </a:solidFill>
                        </a:rPr>
                        <a:t>3</a:t>
                      </a:r>
                      <a:r>
                        <a:rPr lang="en-US" baseline="0" dirty="0">
                          <a:solidFill>
                            <a:schemeClr val="tx1"/>
                          </a:solidFill>
                        </a:rPr>
                        <a:t> }</a:t>
                      </a:r>
                    </a:p>
                  </a:txBody>
                  <a:tcPr>
                    <a:solidFill>
                      <a:schemeClr val="tx2">
                        <a:lumMod val="40000"/>
                        <a:lumOff val="60000"/>
                      </a:schemeClr>
                    </a:solidFill>
                  </a:tcPr>
                </a:tc>
                <a:extLst>
                  <a:ext uri="{0D108BD9-81ED-4DB2-BD59-A6C34878D82A}">
                    <a16:rowId xmlns:a16="http://schemas.microsoft.com/office/drawing/2014/main" val="10003"/>
                  </a:ext>
                </a:extLst>
              </a:tr>
              <a:tr h="370840">
                <a:tc>
                  <a:txBody>
                    <a:bodyPr/>
                    <a:lstStyle/>
                    <a:p>
                      <a:pPr algn="ctr"/>
                      <a:r>
                        <a:rPr lang="en-US" dirty="0"/>
                        <a:t>cs2</a:t>
                      </a:r>
                    </a:p>
                  </a:txBody>
                  <a:tcPr>
                    <a:solidFill>
                      <a:schemeClr val="accent5">
                        <a:lumMod val="40000"/>
                        <a:lumOff val="60000"/>
                      </a:schemeClr>
                    </a:solidFill>
                  </a:tcPr>
                </a:tc>
                <a:tc>
                  <a:txBody>
                    <a:bodyPr/>
                    <a:lstStyle/>
                    <a:p>
                      <a:pPr algn="ctr"/>
                      <a:r>
                        <a:rPr lang="en-US" dirty="0"/>
                        <a:t>B2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US" baseline="0" dirty="0"/>
                        <a:t> </a:t>
                      </a:r>
                      <a:r>
                        <a:rPr lang="en-US" baseline="0" dirty="0" err="1"/>
                        <a:t>o.u</a:t>
                      </a:r>
                      <a:r>
                        <a:rPr lang="en-US" baseline="0" dirty="0"/>
                        <a:t> , </a:t>
                      </a:r>
                      <a:r>
                        <a:rPr lang="en-US" baseline="0" dirty="0" err="1"/>
                        <a:t>o.v</a:t>
                      </a:r>
                      <a:r>
                        <a:rPr lang="en-US" baseline="0" dirty="0"/>
                        <a:t>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o.u</a:t>
                      </a:r>
                      <a:r>
                        <a:rPr lang="en-US" dirty="0">
                          <a:solidFill>
                            <a:schemeClr val="tx1"/>
                          </a:solidFill>
                        </a:rPr>
                        <a:t> : { 𝜌</a:t>
                      </a:r>
                      <a:r>
                        <a:rPr lang="en-US" baseline="-25000" dirty="0">
                          <a:solidFill>
                            <a:schemeClr val="tx1"/>
                          </a:solidFill>
                        </a:rPr>
                        <a:t>1</a:t>
                      </a:r>
                      <a:r>
                        <a:rPr lang="en-US" dirty="0">
                          <a:solidFill>
                            <a:schemeClr val="tx1"/>
                          </a:solidFill>
                        </a:rPr>
                        <a:t> } , </a:t>
                      </a:r>
                      <a:r>
                        <a:rPr lang="en-US" dirty="0" err="1">
                          <a:solidFill>
                            <a:schemeClr val="tx1"/>
                          </a:solidFill>
                        </a:rPr>
                        <a:t>o.v</a:t>
                      </a:r>
                      <a:r>
                        <a:rPr lang="en-US" dirty="0">
                          <a:solidFill>
                            <a:schemeClr val="tx1"/>
                          </a:solidFill>
                        </a:rPr>
                        <a:t> :{𝜌</a:t>
                      </a:r>
                      <a:r>
                        <a:rPr lang="en-US" baseline="-25000" dirty="0">
                          <a:solidFill>
                            <a:schemeClr val="tx1"/>
                          </a:solidFill>
                        </a:rPr>
                        <a:t>2</a:t>
                      </a:r>
                      <a:r>
                        <a:rPr lang="en-US" dirty="0">
                          <a:solidFill>
                            <a:schemeClr val="tx1"/>
                          </a:solidFill>
                        </a:rPr>
                        <a:t>}</a:t>
                      </a:r>
                    </a:p>
                  </a:txBody>
                  <a:tcPr>
                    <a:solidFill>
                      <a:schemeClr val="tx2">
                        <a:lumMod val="40000"/>
                        <a:lumOff val="60000"/>
                      </a:schemeClr>
                    </a:solidFill>
                  </a:tcPr>
                </a:tc>
                <a:extLst>
                  <a:ext uri="{0D108BD9-81ED-4DB2-BD59-A6C34878D82A}">
                    <a16:rowId xmlns:a16="http://schemas.microsoft.com/office/drawing/2014/main" val="2872703372"/>
                  </a:ext>
                </a:extLst>
              </a:tr>
            </a:tbl>
          </a:graphicData>
        </a:graphic>
      </p:graphicFrame>
    </p:spTree>
    <p:extLst>
      <p:ext uri="{BB962C8B-B14F-4D97-AF65-F5344CB8AC3E}">
        <p14:creationId xmlns:p14="http://schemas.microsoft.com/office/powerpoint/2010/main" val="23939021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sz="4000" dirty="0"/>
              <a:t>Indirect coupling test coverage criteria</a:t>
            </a:r>
          </a:p>
        </p:txBody>
      </p:sp>
      <p:sp>
        <p:nvSpPr>
          <p:cNvPr id="38915" name="Content Placeholder 2"/>
          <p:cNvSpPr>
            <a:spLocks noGrp="1"/>
          </p:cNvSpPr>
          <p:nvPr>
            <p:ph idx="1"/>
          </p:nvPr>
        </p:nvSpPr>
        <p:spPr>
          <a:xfrm>
            <a:off x="457200" y="3963402"/>
            <a:ext cx="8229600" cy="2751723"/>
          </a:xfrm>
        </p:spPr>
        <p:txBody>
          <a:bodyPr/>
          <a:lstStyle/>
          <a:p>
            <a:r>
              <a:rPr lang="en-US" sz="2400" dirty="0">
                <a:sym typeface="Wingdings" pitchFamily="2" charset="2"/>
              </a:rPr>
              <a:t>(Def 7.55) </a:t>
            </a:r>
            <a:r>
              <a:rPr lang="en-US" sz="2400" b="1" dirty="0">
                <a:sym typeface="Wingdings" pitchFamily="2" charset="2"/>
              </a:rPr>
              <a:t>All-Coupling-</a:t>
            </a:r>
            <a:r>
              <a:rPr lang="en-US" sz="2400" b="1" dirty="0" err="1">
                <a:sym typeface="Wingdings" pitchFamily="2" charset="2"/>
              </a:rPr>
              <a:t>Defs</a:t>
            </a:r>
            <a:r>
              <a:rPr lang="en-US" sz="2400" b="1" dirty="0">
                <a:sym typeface="Wingdings" pitchFamily="2" charset="2"/>
              </a:rPr>
              <a:t>-Uses</a:t>
            </a:r>
            <a:r>
              <a:rPr lang="en-US" sz="2400" dirty="0">
                <a:sym typeface="Wingdings" pitchFamily="2" charset="2"/>
              </a:rPr>
              <a:t> (ACDU): for </a:t>
            </a:r>
            <a:r>
              <a:rPr lang="en-US" sz="2400" b="1" dirty="0">
                <a:sym typeface="Wingdings" pitchFamily="2" charset="2"/>
              </a:rPr>
              <a:t>every coupling sequence</a:t>
            </a:r>
            <a:r>
              <a:rPr lang="en-US" sz="2400" dirty="0">
                <a:sym typeface="Wingdings" pitchFamily="2" charset="2"/>
              </a:rPr>
              <a:t> cs and </a:t>
            </a:r>
            <a:r>
              <a:rPr lang="en-US" sz="2400" b="1" dirty="0">
                <a:sym typeface="Wingdings" pitchFamily="2" charset="2"/>
              </a:rPr>
              <a:t>every coupling var </a:t>
            </a:r>
            <a:r>
              <a:rPr lang="en-US" sz="2400" b="1" i="1" dirty="0">
                <a:sym typeface="Wingdings" pitchFamily="2" charset="2"/>
              </a:rPr>
              <a:t>v</a:t>
            </a:r>
            <a:r>
              <a:rPr lang="en-US" sz="2400" dirty="0">
                <a:sym typeface="Wingdings" pitchFamily="2" charset="2"/>
              </a:rPr>
              <a:t> of </a:t>
            </a:r>
            <a:r>
              <a:rPr lang="en-US" sz="2400" i="1" dirty="0">
                <a:sym typeface="Wingdings" pitchFamily="2" charset="2"/>
              </a:rPr>
              <a:t>cs</a:t>
            </a:r>
            <a:r>
              <a:rPr lang="en-US" sz="2400" dirty="0">
                <a:sym typeface="Wingdings" pitchFamily="2" charset="2"/>
              </a:rPr>
              <a:t>, TR includes at least one of </a:t>
            </a:r>
            <a:r>
              <a:rPr lang="en-US" sz="2400" i="1" dirty="0">
                <a:sym typeface="Wingdings" pitchFamily="2" charset="2"/>
              </a:rPr>
              <a:t>v’s</a:t>
            </a:r>
            <a:r>
              <a:rPr lang="en-US" sz="2400" dirty="0">
                <a:sym typeface="Wingdings" pitchFamily="2" charset="2"/>
              </a:rPr>
              <a:t> coupling path.</a:t>
            </a:r>
          </a:p>
          <a:p>
            <a:r>
              <a:rPr lang="en-US" sz="2400" dirty="0">
                <a:sym typeface="Wingdings" pitchFamily="2" charset="2"/>
              </a:rPr>
              <a:t>(Def 7.56) </a:t>
            </a:r>
            <a:r>
              <a:rPr lang="en-US" sz="2400" b="1" dirty="0">
                <a:sym typeface="Wingdings" pitchFamily="2" charset="2"/>
              </a:rPr>
              <a:t>All-Poly-Coupling-</a:t>
            </a:r>
            <a:r>
              <a:rPr lang="en-US" sz="2400" b="1" dirty="0" err="1">
                <a:sym typeface="Wingdings" pitchFamily="2" charset="2"/>
              </a:rPr>
              <a:t>Defs</a:t>
            </a:r>
            <a:r>
              <a:rPr lang="en-US" sz="2400" b="1" dirty="0">
                <a:sym typeface="Wingdings" pitchFamily="2" charset="2"/>
              </a:rPr>
              <a:t>-Uses </a:t>
            </a:r>
            <a:r>
              <a:rPr lang="en-US" sz="2400" dirty="0">
                <a:sym typeface="Wingdings" pitchFamily="2" charset="2"/>
              </a:rPr>
              <a:t>(APCDU): for </a:t>
            </a:r>
            <a:r>
              <a:rPr lang="en-US" sz="2400" b="1" dirty="0">
                <a:sym typeface="Wingdings" pitchFamily="2" charset="2"/>
              </a:rPr>
              <a:t>every coupling sequence</a:t>
            </a:r>
            <a:r>
              <a:rPr lang="en-US" sz="2400" dirty="0">
                <a:sym typeface="Wingdings" pitchFamily="2" charset="2"/>
              </a:rPr>
              <a:t> cs and </a:t>
            </a:r>
            <a:r>
              <a:rPr lang="en-US" sz="2400" b="1" dirty="0">
                <a:sym typeface="Wingdings" pitchFamily="2" charset="2"/>
              </a:rPr>
              <a:t>every coupling var </a:t>
            </a:r>
            <a:r>
              <a:rPr lang="en-US" sz="2400" i="1" dirty="0">
                <a:sym typeface="Wingdings" pitchFamily="2" charset="2"/>
              </a:rPr>
              <a:t>v</a:t>
            </a:r>
            <a:r>
              <a:rPr lang="en-US" sz="2400" dirty="0">
                <a:sym typeface="Wingdings" pitchFamily="2" charset="2"/>
              </a:rPr>
              <a:t> of </a:t>
            </a:r>
            <a:r>
              <a:rPr lang="en-US" sz="2400" b="1" dirty="0">
                <a:sym typeface="Wingdings" pitchFamily="2" charset="2"/>
              </a:rPr>
              <a:t>every binding triple</a:t>
            </a:r>
            <a:r>
              <a:rPr lang="en-US" sz="2400" dirty="0">
                <a:sym typeface="Wingdings" pitchFamily="2" charset="2"/>
              </a:rPr>
              <a:t> of </a:t>
            </a:r>
            <a:r>
              <a:rPr lang="en-US" sz="2400" i="1" dirty="0">
                <a:sym typeface="Wingdings" pitchFamily="2" charset="2"/>
              </a:rPr>
              <a:t>cs, </a:t>
            </a:r>
            <a:r>
              <a:rPr lang="en-US" sz="2400" dirty="0">
                <a:sym typeface="Wingdings" pitchFamily="2" charset="2"/>
              </a:rPr>
              <a:t>TR includes at least one of </a:t>
            </a:r>
            <a:r>
              <a:rPr lang="en-US" sz="2400" i="1" dirty="0">
                <a:sym typeface="Wingdings" pitchFamily="2" charset="2"/>
              </a:rPr>
              <a:t>v’s</a:t>
            </a:r>
            <a:r>
              <a:rPr lang="en-US" sz="2400" dirty="0">
                <a:sym typeface="Wingdings" pitchFamily="2" charset="2"/>
              </a:rPr>
              <a:t> coupling path.</a:t>
            </a:r>
            <a:endParaRPr lang="en-US" sz="2400" dirty="0"/>
          </a:p>
        </p:txBody>
      </p:sp>
      <p:sp>
        <p:nvSpPr>
          <p:cNvPr id="4" name="Slide Number Placeholder 3"/>
          <p:cNvSpPr>
            <a:spLocks noGrp="1"/>
          </p:cNvSpPr>
          <p:nvPr>
            <p:ph type="sldNum" sz="quarter" idx="12"/>
          </p:nvPr>
        </p:nvSpPr>
        <p:spPr/>
        <p:txBody>
          <a:bodyPr/>
          <a:lstStyle/>
          <a:p>
            <a:pPr>
              <a:defRPr/>
            </a:pPr>
            <a:fld id="{B011B990-D7A5-42C8-82F6-BE26CEC71704}" type="slidenum">
              <a:rPr lang="en-US" smtClean="0"/>
              <a:pPr>
                <a:defRPr/>
              </a:pPr>
              <a:t>42</a:t>
            </a:fld>
            <a:endParaRPr lang="en-US"/>
          </a:p>
        </p:txBody>
      </p:sp>
      <p:sp>
        <p:nvSpPr>
          <p:cNvPr id="13" name="Rectangle 12"/>
          <p:cNvSpPr/>
          <p:nvPr/>
        </p:nvSpPr>
        <p:spPr>
          <a:xfrm>
            <a:off x="827584" y="1714500"/>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A</a:t>
            </a:r>
          </a:p>
        </p:txBody>
      </p:sp>
      <p:sp>
        <p:nvSpPr>
          <p:cNvPr id="14" name="Rectangle 13"/>
          <p:cNvSpPr/>
          <p:nvPr/>
        </p:nvSpPr>
        <p:spPr>
          <a:xfrm>
            <a:off x="827584" y="2428875"/>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B1</a:t>
            </a:r>
          </a:p>
        </p:txBody>
      </p:sp>
      <p:sp>
        <p:nvSpPr>
          <p:cNvPr id="15" name="Rectangle 14"/>
          <p:cNvSpPr/>
          <p:nvPr/>
        </p:nvSpPr>
        <p:spPr>
          <a:xfrm>
            <a:off x="827584" y="3143250"/>
            <a:ext cx="785812" cy="428625"/>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2400" b="1" dirty="0"/>
              <a:t>B2</a:t>
            </a:r>
          </a:p>
        </p:txBody>
      </p:sp>
      <p:sp>
        <p:nvSpPr>
          <p:cNvPr id="16" name="Isosceles Triangle 15"/>
          <p:cNvSpPr/>
          <p:nvPr/>
        </p:nvSpPr>
        <p:spPr>
          <a:xfrm>
            <a:off x="1113334" y="2143125"/>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17" name="Straight Connector 16"/>
          <p:cNvCxnSpPr>
            <a:stCxn id="14" idx="0"/>
            <a:endCxn id="16" idx="3"/>
          </p:cNvCxnSpPr>
          <p:nvPr/>
        </p:nvCxnSpPr>
        <p:spPr>
          <a:xfrm rot="5400000" flipH="1" flipV="1">
            <a:off x="1149052" y="2356644"/>
            <a:ext cx="14287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Isosceles Triangle 17"/>
          <p:cNvSpPr/>
          <p:nvPr/>
        </p:nvSpPr>
        <p:spPr>
          <a:xfrm>
            <a:off x="1113334" y="2857500"/>
            <a:ext cx="214312" cy="142875"/>
          </a:xfrm>
          <a:prstGeom prst="triangl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US"/>
          </a:p>
        </p:txBody>
      </p:sp>
      <p:cxnSp>
        <p:nvCxnSpPr>
          <p:cNvPr id="19" name="Straight Connector 18"/>
          <p:cNvCxnSpPr>
            <a:stCxn id="15" idx="0"/>
            <a:endCxn id="18" idx="3"/>
          </p:cNvCxnSpPr>
          <p:nvPr/>
        </p:nvCxnSpPr>
        <p:spPr>
          <a:xfrm rot="5400000" flipH="1" flipV="1">
            <a:off x="1149052" y="3071019"/>
            <a:ext cx="14287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0" name="Table 19">
            <a:extLst>
              <a:ext uri="{FF2B5EF4-FFF2-40B4-BE49-F238E27FC236}">
                <a16:creationId xmlns:a16="http://schemas.microsoft.com/office/drawing/2014/main" id="{231B9A9D-A06F-0D46-BC2D-B3FE6EF9C582}"/>
              </a:ext>
            </a:extLst>
          </p:cNvPr>
          <p:cNvGraphicFramePr>
            <a:graphicFrameLocks noGrp="1"/>
          </p:cNvGraphicFramePr>
          <p:nvPr>
            <p:extLst>
              <p:ext uri="{D42A27DB-BD31-4B8C-83A1-F6EECF244321}">
                <p14:modId xmlns:p14="http://schemas.microsoft.com/office/powerpoint/2010/main" val="207919563"/>
              </p:ext>
            </p:extLst>
          </p:nvPr>
        </p:nvGraphicFramePr>
        <p:xfrm>
          <a:off x="2059037" y="1628800"/>
          <a:ext cx="6329387" cy="2123440"/>
        </p:xfrm>
        <a:graphic>
          <a:graphicData uri="http://schemas.openxmlformats.org/drawingml/2006/table">
            <a:tbl>
              <a:tblPr firstRow="1" bandRow="1">
                <a:tableStyleId>{5C22544A-7EE6-4342-B048-85BDC9FD1C3A}</a:tableStyleId>
              </a:tblPr>
              <a:tblGrid>
                <a:gridCol w="1277812">
                  <a:extLst>
                    <a:ext uri="{9D8B030D-6E8A-4147-A177-3AD203B41FA5}">
                      <a16:colId xmlns:a16="http://schemas.microsoft.com/office/drawing/2014/main" val="20000"/>
                    </a:ext>
                  </a:extLst>
                </a:gridCol>
                <a:gridCol w="1195742">
                  <a:extLst>
                    <a:ext uri="{9D8B030D-6E8A-4147-A177-3AD203B41FA5}">
                      <a16:colId xmlns:a16="http://schemas.microsoft.com/office/drawing/2014/main" val="20001"/>
                    </a:ext>
                  </a:extLst>
                </a:gridCol>
                <a:gridCol w="1407561">
                  <a:extLst>
                    <a:ext uri="{9D8B030D-6E8A-4147-A177-3AD203B41FA5}">
                      <a16:colId xmlns:a16="http://schemas.microsoft.com/office/drawing/2014/main" val="20002"/>
                    </a:ext>
                  </a:extLst>
                </a:gridCol>
                <a:gridCol w="2448272">
                  <a:extLst>
                    <a:ext uri="{9D8B030D-6E8A-4147-A177-3AD203B41FA5}">
                      <a16:colId xmlns:a16="http://schemas.microsoft.com/office/drawing/2014/main" val="20003"/>
                    </a:ext>
                  </a:extLst>
                </a:gridCol>
              </a:tblGrid>
              <a:tr h="370840">
                <a:tc>
                  <a:txBody>
                    <a:bodyPr/>
                    <a:lstStyle/>
                    <a:p>
                      <a:pPr algn="ctr"/>
                      <a:r>
                        <a:rPr lang="en-US" dirty="0"/>
                        <a:t>coupling </a:t>
                      </a:r>
                      <a:r>
                        <a:rPr lang="en-US" baseline="0" dirty="0"/>
                        <a:t>seq. in f</a:t>
                      </a:r>
                      <a:endParaRPr lang="en-US" dirty="0"/>
                    </a:p>
                  </a:txBody>
                  <a:tcPr/>
                </a:tc>
                <a:tc>
                  <a:txBody>
                    <a:bodyPr/>
                    <a:lstStyle/>
                    <a:p>
                      <a:pPr algn="ctr"/>
                      <a:r>
                        <a:rPr lang="en-US" dirty="0"/>
                        <a:t>type(o)</a:t>
                      </a:r>
                    </a:p>
                  </a:txBody>
                  <a:tcPr/>
                </a:tc>
                <a:tc>
                  <a:txBody>
                    <a:bodyPr/>
                    <a:lstStyle/>
                    <a:p>
                      <a:pPr algn="ctr"/>
                      <a:r>
                        <a:rPr lang="en-US" dirty="0"/>
                        <a:t>coupling</a:t>
                      </a:r>
                      <a:r>
                        <a:rPr lang="en-US" baseline="0" dirty="0"/>
                        <a:t> </a:t>
                      </a:r>
                      <a:r>
                        <a:rPr lang="en-US" baseline="0" dirty="0" err="1"/>
                        <a:t>vars</a:t>
                      </a:r>
                      <a:endParaRPr lang="en-US" dirty="0"/>
                    </a:p>
                  </a:txBody>
                  <a:tcPr/>
                </a:tc>
                <a:tc>
                  <a:txBody>
                    <a:bodyPr/>
                    <a:lstStyle/>
                    <a:p>
                      <a:pPr algn="ctr"/>
                      <a:r>
                        <a:rPr lang="en-US" dirty="0">
                          <a:solidFill>
                            <a:schemeClr val="tx1"/>
                          </a:solidFill>
                        </a:rPr>
                        <a:t>coupling paths</a:t>
                      </a:r>
                    </a:p>
                  </a:txBody>
                  <a:tcPr>
                    <a:solidFill>
                      <a:schemeClr val="tx2">
                        <a:lumMod val="40000"/>
                        <a:lumOff val="60000"/>
                      </a:schemeClr>
                    </a:solidFill>
                  </a:tcPr>
                </a:tc>
                <a:extLst>
                  <a:ext uri="{0D108BD9-81ED-4DB2-BD59-A6C34878D82A}">
                    <a16:rowId xmlns:a16="http://schemas.microsoft.com/office/drawing/2014/main" val="10000"/>
                  </a:ext>
                </a:extLst>
              </a:tr>
              <a:tr h="370840">
                <a:tc rowSpan="3">
                  <a:txBody>
                    <a:bodyPr/>
                    <a:lstStyle/>
                    <a:p>
                      <a:pPr algn="ctr"/>
                      <a:endParaRPr lang="en-US" dirty="0"/>
                    </a:p>
                    <a:p>
                      <a:pPr algn="ctr"/>
                      <a:r>
                        <a:rPr lang="en-US" dirty="0"/>
                        <a:t>cs1</a:t>
                      </a:r>
                    </a:p>
                  </a:txBody>
                  <a:tcPr>
                    <a:solidFill>
                      <a:schemeClr val="accent5">
                        <a:lumMod val="20000"/>
                        <a:lumOff val="80000"/>
                      </a:schemeClr>
                    </a:solidFill>
                  </a:tcPr>
                </a:tc>
                <a:tc>
                  <a:txBody>
                    <a:bodyPr/>
                    <a:lstStyle/>
                    <a:p>
                      <a:pPr algn="ctr"/>
                      <a:r>
                        <a:rPr lang="en-US" dirty="0"/>
                        <a:t>A</a:t>
                      </a:r>
                    </a:p>
                  </a:txBody>
                  <a:tcPr/>
                </a:tc>
                <a:tc>
                  <a:txBody>
                    <a:bodyPr/>
                    <a:lstStyle/>
                    <a:p>
                      <a:pPr algn="ctr"/>
                      <a:r>
                        <a:rPr lang="en-US" dirty="0"/>
                        <a:t>{ </a:t>
                      </a:r>
                      <a:r>
                        <a:rPr lang="en-US" dirty="0" err="1"/>
                        <a:t>o.v</a:t>
                      </a:r>
                      <a:r>
                        <a:rPr lang="en-US" baseline="0" dirty="0"/>
                        <a:t> }</a:t>
                      </a:r>
                      <a:endParaRPr lang="en-US" dirty="0"/>
                    </a:p>
                  </a:txBody>
                  <a:tcPr/>
                </a:tc>
                <a:tc>
                  <a:txBody>
                    <a:bodyPr/>
                    <a:lstStyle/>
                    <a:p>
                      <a:pPr algn="ctr"/>
                      <a:r>
                        <a:rPr lang="en-US" dirty="0">
                          <a:solidFill>
                            <a:schemeClr val="tx1"/>
                          </a:solidFill>
                        </a:rPr>
                        <a:t> </a:t>
                      </a:r>
                      <a:r>
                        <a:rPr lang="en-US" dirty="0" err="1">
                          <a:solidFill>
                            <a:schemeClr val="tx1"/>
                          </a:solidFill>
                        </a:rPr>
                        <a:t>o.v</a:t>
                      </a:r>
                      <a:r>
                        <a:rPr lang="en-US" dirty="0">
                          <a:solidFill>
                            <a:schemeClr val="tx1"/>
                          </a:solidFill>
                        </a:rPr>
                        <a:t> :  { 𝜎</a:t>
                      </a:r>
                      <a:r>
                        <a:rPr lang="en-US" baseline="-25000" dirty="0">
                          <a:solidFill>
                            <a:schemeClr val="tx1"/>
                          </a:solidFill>
                        </a:rPr>
                        <a:t>1</a:t>
                      </a:r>
                      <a:r>
                        <a:rPr lang="en-US" dirty="0">
                          <a:solidFill>
                            <a:schemeClr val="tx1"/>
                          </a:solidFill>
                        </a:rPr>
                        <a:t> }</a:t>
                      </a:r>
                    </a:p>
                  </a:txBody>
                  <a:tcPr>
                    <a:solidFill>
                      <a:schemeClr val="tx2">
                        <a:lumMod val="40000"/>
                        <a:lumOff val="60000"/>
                      </a:schemeClr>
                    </a:solidFill>
                  </a:tcPr>
                </a:tc>
                <a:extLst>
                  <a:ext uri="{0D108BD9-81ED-4DB2-BD59-A6C34878D82A}">
                    <a16:rowId xmlns:a16="http://schemas.microsoft.com/office/drawing/2014/main" val="10001"/>
                  </a:ext>
                </a:extLst>
              </a:tr>
              <a:tr h="370840">
                <a:tc vMerge="1">
                  <a:txBody>
                    <a:bodyPr/>
                    <a:lstStyle/>
                    <a:p>
                      <a:pPr algn="ctr"/>
                      <a:endParaRPr lang="en-US" dirty="0"/>
                    </a:p>
                  </a:txBody>
                  <a:tcPr/>
                </a:tc>
                <a:tc>
                  <a:txBody>
                    <a:bodyPr/>
                    <a:lstStyle/>
                    <a:p>
                      <a:pPr algn="ctr"/>
                      <a:r>
                        <a:rPr lang="en-US" dirty="0"/>
                        <a:t> B1</a:t>
                      </a:r>
                    </a:p>
                  </a:txBody>
                  <a:tcPr/>
                </a:tc>
                <a:tc>
                  <a:txBody>
                    <a:bodyPr/>
                    <a:lstStyle/>
                    <a:p>
                      <a:pPr algn="ctr"/>
                      <a:r>
                        <a:rPr lang="en-US" dirty="0"/>
                        <a:t>{ </a:t>
                      </a:r>
                      <a:r>
                        <a:rPr lang="en-US" dirty="0" err="1"/>
                        <a:t>o.u</a:t>
                      </a:r>
                      <a:r>
                        <a:rPr lang="en-US" baseline="0" dirty="0"/>
                        <a:t> }</a:t>
                      </a:r>
                      <a:endParaRPr lang="en-US" dirty="0"/>
                    </a:p>
                  </a:txBody>
                  <a:tcPr/>
                </a:tc>
                <a:tc>
                  <a:txBody>
                    <a:bodyPr/>
                    <a:lstStyle/>
                    <a:p>
                      <a:pPr algn="ctr"/>
                      <a:r>
                        <a:rPr lang="en-US" dirty="0" err="1">
                          <a:solidFill>
                            <a:schemeClr val="tx1"/>
                          </a:solidFill>
                        </a:rPr>
                        <a:t>o.u</a:t>
                      </a:r>
                      <a:r>
                        <a:rPr lang="en-US" dirty="0">
                          <a:solidFill>
                            <a:schemeClr val="tx1"/>
                          </a:solidFill>
                        </a:rPr>
                        <a:t> : {𝜏</a:t>
                      </a:r>
                      <a:r>
                        <a:rPr lang="en-US" baseline="-25000" dirty="0">
                          <a:solidFill>
                            <a:schemeClr val="tx1"/>
                          </a:solidFill>
                        </a:rPr>
                        <a:t>1</a:t>
                      </a:r>
                      <a:r>
                        <a:rPr lang="en-US" dirty="0">
                          <a:solidFill>
                            <a:schemeClr val="tx1"/>
                          </a:solidFill>
                        </a:rPr>
                        <a:t>,</a:t>
                      </a:r>
                      <a:r>
                        <a:rPr lang="en-US" baseline="0" dirty="0">
                          <a:solidFill>
                            <a:schemeClr val="tx1"/>
                          </a:solidFill>
                        </a:rPr>
                        <a:t> </a:t>
                      </a:r>
                      <a:r>
                        <a:rPr lang="en-US" dirty="0">
                          <a:solidFill>
                            <a:schemeClr val="tx1"/>
                          </a:solidFill>
                        </a:rPr>
                        <a:t>𝜏</a:t>
                      </a:r>
                      <a:r>
                        <a:rPr lang="en-US" baseline="-25000" dirty="0">
                          <a:solidFill>
                            <a:schemeClr val="tx1"/>
                          </a:solidFill>
                        </a:rPr>
                        <a:t>2</a:t>
                      </a:r>
                      <a:r>
                        <a:rPr lang="en-US" baseline="0" dirty="0">
                          <a:solidFill>
                            <a:schemeClr val="tx1"/>
                          </a:solidFill>
                        </a:rPr>
                        <a:t> }</a:t>
                      </a:r>
                      <a:endParaRPr lang="en-US" dirty="0">
                        <a:solidFill>
                          <a:schemeClr val="tx1"/>
                        </a:solidFill>
                      </a:endParaRPr>
                    </a:p>
                  </a:txBody>
                  <a:tcPr>
                    <a:solidFill>
                      <a:schemeClr val="tx2">
                        <a:lumMod val="40000"/>
                        <a:lumOff val="60000"/>
                      </a:schemeClr>
                    </a:solidFill>
                  </a:tcPr>
                </a:tc>
                <a:extLst>
                  <a:ext uri="{0D108BD9-81ED-4DB2-BD59-A6C34878D82A}">
                    <a16:rowId xmlns:a16="http://schemas.microsoft.com/office/drawing/2014/main" val="10002"/>
                  </a:ext>
                </a:extLst>
              </a:tr>
              <a:tr h="370840">
                <a:tc vMerge="1">
                  <a:txBody>
                    <a:bodyPr/>
                    <a:lstStyle/>
                    <a:p>
                      <a:pPr algn="ctr"/>
                      <a:endParaRPr lang="en-US" dirty="0"/>
                    </a:p>
                  </a:txBody>
                  <a:tcPr/>
                </a:tc>
                <a:tc>
                  <a:txBody>
                    <a:bodyPr/>
                    <a:lstStyle/>
                    <a:p>
                      <a:pPr algn="ctr"/>
                      <a:r>
                        <a:rPr lang="en-US" dirty="0"/>
                        <a:t>B2</a:t>
                      </a:r>
                    </a:p>
                  </a:txBody>
                  <a:tcPr/>
                </a:tc>
                <a:tc>
                  <a:txBody>
                    <a:bodyPr/>
                    <a:lstStyle/>
                    <a:p>
                      <a:pPr algn="ctr"/>
                      <a:r>
                        <a:rPr lang="en-US" dirty="0"/>
                        <a:t>{</a:t>
                      </a:r>
                      <a:r>
                        <a:rPr lang="en-US" baseline="0" dirty="0"/>
                        <a:t> </a:t>
                      </a:r>
                      <a:r>
                        <a:rPr lang="en-US" baseline="0" dirty="0" err="1"/>
                        <a:t>o.u</a:t>
                      </a:r>
                      <a:r>
                        <a:rPr lang="en-US" baseline="0" dirty="0"/>
                        <a:t> , </a:t>
                      </a:r>
                      <a:r>
                        <a:rPr lang="en-US" baseline="0" dirty="0" err="1"/>
                        <a:t>o.v</a:t>
                      </a:r>
                      <a:r>
                        <a:rPr lang="en-US" baseline="0" dirty="0"/>
                        <a:t> }</a:t>
                      </a:r>
                      <a:endParaRPr lang="en-US" dirty="0"/>
                    </a:p>
                  </a:txBody>
                  <a:tcPr/>
                </a:tc>
                <a:tc>
                  <a:txBody>
                    <a:bodyPr/>
                    <a:lstStyle/>
                    <a:p>
                      <a:pPr algn="ctr"/>
                      <a:r>
                        <a:rPr lang="en-US" dirty="0" err="1">
                          <a:solidFill>
                            <a:schemeClr val="tx1"/>
                          </a:solidFill>
                        </a:rPr>
                        <a:t>o.u</a:t>
                      </a:r>
                      <a:r>
                        <a:rPr lang="en-US" dirty="0">
                          <a:solidFill>
                            <a:schemeClr val="tx1"/>
                          </a:solidFill>
                        </a:rPr>
                        <a:t> : { 𝜋</a:t>
                      </a:r>
                      <a:r>
                        <a:rPr lang="en-US" baseline="-25000" dirty="0">
                          <a:solidFill>
                            <a:schemeClr val="tx1"/>
                          </a:solidFill>
                        </a:rPr>
                        <a:t>1</a:t>
                      </a:r>
                      <a:r>
                        <a:rPr lang="en-US" dirty="0">
                          <a:solidFill>
                            <a:schemeClr val="tx1"/>
                          </a:solidFill>
                        </a:rPr>
                        <a:t> } , </a:t>
                      </a:r>
                      <a:r>
                        <a:rPr lang="en-US" dirty="0" err="1">
                          <a:solidFill>
                            <a:schemeClr val="tx1"/>
                          </a:solidFill>
                        </a:rPr>
                        <a:t>o.v</a:t>
                      </a:r>
                      <a:r>
                        <a:rPr lang="en-US" dirty="0">
                          <a:solidFill>
                            <a:schemeClr val="tx1"/>
                          </a:solidFill>
                        </a:rPr>
                        <a:t> :{𝜋</a:t>
                      </a:r>
                      <a:r>
                        <a:rPr lang="en-US" baseline="-25000" dirty="0">
                          <a:solidFill>
                            <a:schemeClr val="tx1"/>
                          </a:solidFill>
                        </a:rPr>
                        <a:t>2 , </a:t>
                      </a:r>
                      <a:r>
                        <a:rPr lang="en-US" dirty="0">
                          <a:solidFill>
                            <a:schemeClr val="tx1"/>
                          </a:solidFill>
                        </a:rPr>
                        <a:t>𝜋</a:t>
                      </a:r>
                      <a:r>
                        <a:rPr lang="en-US" baseline="-25000" dirty="0">
                          <a:solidFill>
                            <a:schemeClr val="tx1"/>
                          </a:solidFill>
                        </a:rPr>
                        <a:t>3</a:t>
                      </a:r>
                      <a:r>
                        <a:rPr lang="en-US" dirty="0">
                          <a:solidFill>
                            <a:schemeClr val="tx1"/>
                          </a:solidFill>
                        </a:rPr>
                        <a:t>}</a:t>
                      </a:r>
                    </a:p>
                  </a:txBody>
                  <a:tcPr>
                    <a:solidFill>
                      <a:schemeClr val="tx2">
                        <a:lumMod val="40000"/>
                        <a:lumOff val="60000"/>
                      </a:schemeClr>
                    </a:solidFill>
                  </a:tcPr>
                </a:tc>
                <a:extLst>
                  <a:ext uri="{0D108BD9-81ED-4DB2-BD59-A6C34878D82A}">
                    <a16:rowId xmlns:a16="http://schemas.microsoft.com/office/drawing/2014/main" val="10003"/>
                  </a:ext>
                </a:extLst>
              </a:tr>
              <a:tr h="370840">
                <a:tc>
                  <a:txBody>
                    <a:bodyPr/>
                    <a:lstStyle/>
                    <a:p>
                      <a:pPr algn="ctr"/>
                      <a:r>
                        <a:rPr lang="en-US" dirty="0"/>
                        <a:t>cs2</a:t>
                      </a:r>
                    </a:p>
                  </a:txBody>
                  <a:tcPr>
                    <a:solidFill>
                      <a:schemeClr val="accent5">
                        <a:lumMod val="40000"/>
                        <a:lumOff val="60000"/>
                      </a:schemeClr>
                    </a:solidFill>
                  </a:tcPr>
                </a:tc>
                <a:tc>
                  <a:txBody>
                    <a:bodyPr/>
                    <a:lstStyle/>
                    <a:p>
                      <a:pPr algn="ctr"/>
                      <a:r>
                        <a:rPr lang="en-US" dirty="0"/>
                        <a:t>B2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US" baseline="0" dirty="0"/>
                        <a:t> </a:t>
                      </a:r>
                      <a:r>
                        <a:rPr lang="en-US" baseline="0" dirty="0" err="1"/>
                        <a:t>o.u</a:t>
                      </a:r>
                      <a:r>
                        <a:rPr lang="en-US" baseline="0" dirty="0"/>
                        <a:t> , </a:t>
                      </a:r>
                      <a:r>
                        <a:rPr lang="en-US" baseline="0" dirty="0" err="1"/>
                        <a:t>o.v</a:t>
                      </a:r>
                      <a:r>
                        <a:rPr lang="en-US" baseline="0" dirty="0"/>
                        <a:t>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o.u</a:t>
                      </a:r>
                      <a:r>
                        <a:rPr lang="en-US" dirty="0">
                          <a:solidFill>
                            <a:schemeClr val="tx1"/>
                          </a:solidFill>
                        </a:rPr>
                        <a:t> : { 𝜌</a:t>
                      </a:r>
                      <a:r>
                        <a:rPr lang="en-US" baseline="-25000" dirty="0">
                          <a:solidFill>
                            <a:schemeClr val="tx1"/>
                          </a:solidFill>
                        </a:rPr>
                        <a:t>1</a:t>
                      </a:r>
                      <a:r>
                        <a:rPr lang="en-US" dirty="0">
                          <a:solidFill>
                            <a:schemeClr val="tx1"/>
                          </a:solidFill>
                        </a:rPr>
                        <a:t> } , </a:t>
                      </a:r>
                      <a:r>
                        <a:rPr lang="en-US" dirty="0" err="1">
                          <a:solidFill>
                            <a:schemeClr val="tx1"/>
                          </a:solidFill>
                        </a:rPr>
                        <a:t>o.v</a:t>
                      </a:r>
                      <a:r>
                        <a:rPr lang="en-US" dirty="0">
                          <a:solidFill>
                            <a:schemeClr val="tx1"/>
                          </a:solidFill>
                        </a:rPr>
                        <a:t> :{𝜌</a:t>
                      </a:r>
                      <a:r>
                        <a:rPr lang="en-US" baseline="-25000" dirty="0">
                          <a:solidFill>
                            <a:schemeClr val="tx1"/>
                          </a:solidFill>
                        </a:rPr>
                        <a:t>2</a:t>
                      </a:r>
                      <a:r>
                        <a:rPr lang="en-US" dirty="0">
                          <a:solidFill>
                            <a:schemeClr val="tx1"/>
                          </a:solidFill>
                        </a:rPr>
                        <a:t>}</a:t>
                      </a:r>
                    </a:p>
                  </a:txBody>
                  <a:tcPr>
                    <a:solidFill>
                      <a:schemeClr val="tx2">
                        <a:lumMod val="40000"/>
                        <a:lumOff val="60000"/>
                      </a:schemeClr>
                    </a:solidFill>
                  </a:tcPr>
                </a:tc>
                <a:extLst>
                  <a:ext uri="{0D108BD9-81ED-4DB2-BD59-A6C34878D82A}">
                    <a16:rowId xmlns:a16="http://schemas.microsoft.com/office/drawing/2014/main" val="2872703372"/>
                  </a:ext>
                </a:extLst>
              </a:tr>
            </a:tbl>
          </a:graphicData>
        </a:graphic>
      </p:graphicFrame>
    </p:spTree>
  </p:cSld>
  <p:clrMapOvr>
    <a:masterClrMapping/>
  </p:clrMapOvr>
</p:sld>
</file>

<file path=ppt/theme/theme1.xml><?xml version="1.0" encoding="utf-8"?>
<a:theme xmlns:a="http://schemas.openxmlformats.org/drawingml/2006/main" name="organization">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organization</Template>
  <TotalTime>22048</TotalTime>
  <Words>5833</Words>
  <Application>Microsoft Macintosh PowerPoint</Application>
  <PresentationFormat>On-screen Show (4:3)</PresentationFormat>
  <Paragraphs>690</Paragraphs>
  <Slides>42</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organization</vt:lpstr>
      <vt:lpstr>Data-flow Based Testing (A&amp;O Ch. 2.2.2, 2.4.2, 7.1) (2nd Ed. Ch 7.2.3, 7.4.2. Unfortunately, there is no equivalent of 7.1 in the 2nd Ed.)</vt:lpstr>
      <vt:lpstr>Plan</vt:lpstr>
      <vt:lpstr>Basic idea</vt:lpstr>
      <vt:lpstr>Data-flow based approach (sec. 2.2.2/ 2nd Ed: 7.2.3)</vt:lpstr>
      <vt:lpstr>Terminologies</vt:lpstr>
      <vt:lpstr>Block’s granularity</vt:lpstr>
      <vt:lpstr>Data-flow based coverage (Rapps-Weyuker 1985, Frankl-Weyuker 1988)</vt:lpstr>
      <vt:lpstr>Data-flow based coverage</vt:lpstr>
      <vt:lpstr>Example AUC vs PPC</vt:lpstr>
      <vt:lpstr>Overview of subsumption relations</vt:lpstr>
      <vt:lpstr>Summary</vt:lpstr>
      <vt:lpstr>Integration Test</vt:lpstr>
      <vt:lpstr>Integration Test, example</vt:lpstr>
      <vt:lpstr>Data flow approach to Integration Test (2.4.2/2nd Ed. 7.4.2)</vt:lpstr>
      <vt:lpstr>Terminology</vt:lpstr>
      <vt:lpstr>Coupling du-path (Jin-Offutt, 1998)</vt:lpstr>
      <vt:lpstr>Note on the first use at the callee</vt:lpstr>
      <vt:lpstr>Integration Test-Requirement</vt:lpstr>
      <vt:lpstr>The next slides are based on A&amp;O Ch 7.1. Unfortunately, this chapter does not appear in the 2nd Ed.</vt:lpstr>
      <vt:lpstr>OO is powerful, but also comes new sources of concerns</vt:lpstr>
      <vt:lpstr>Inheritance-related error prone programming patterns</vt:lpstr>
      <vt:lpstr>Inconsistent Type Use (ITU) anomaly</vt:lpstr>
      <vt:lpstr>State Definition Anomaly (SDA)</vt:lpstr>
      <vt:lpstr>State definition inconsistency due to state variable hiding (SDIH)</vt:lpstr>
      <vt:lpstr>State Visibility Anomaly (SVA)</vt:lpstr>
      <vt:lpstr>Anomalous Construction Behavior 1 (ACB1)</vt:lpstr>
      <vt:lpstr>Check the remaining anomalies yourself</vt:lpstr>
      <vt:lpstr>Error prone situations due to inheritance</vt:lpstr>
      <vt:lpstr>The call graph of d() in A,B,C, exemplifying Yoyo behavior</vt:lpstr>
      <vt:lpstr>Testing OO programs </vt:lpstr>
      <vt:lpstr>Testing Direct Coupling</vt:lpstr>
      <vt:lpstr>Indirect coupling</vt:lpstr>
      <vt:lpstr>Testing Direct and Indirect Coupling</vt:lpstr>
      <vt:lpstr>Terminology</vt:lpstr>
      <vt:lpstr>Terminology</vt:lpstr>
      <vt:lpstr>Coupling Sequence, example</vt:lpstr>
      <vt:lpstr>Coupling Sequence, example</vt:lpstr>
      <vt:lpstr>Simplifying the exposition a bit...</vt:lpstr>
      <vt:lpstr>Binding triple</vt:lpstr>
      <vt:lpstr>Indirect coupling test coverage criteria</vt:lpstr>
      <vt:lpstr>Indirect coupling test coverage criteria</vt:lpstr>
      <vt:lpstr>Indirect coupling test coverage criteria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 of Software Testing</dc:title>
  <dc:creator>underdark</dc:creator>
  <cp:lastModifiedBy>Prasetya, S.W.B. (Wishnu)</cp:lastModifiedBy>
  <cp:revision>583</cp:revision>
  <cp:lastPrinted>2018-05-06T20:32:47Z</cp:lastPrinted>
  <dcterms:created xsi:type="dcterms:W3CDTF">2012-03-04T10:04:20Z</dcterms:created>
  <dcterms:modified xsi:type="dcterms:W3CDTF">2026-05-08T09:23:30Z</dcterms:modified>
</cp:coreProperties>
</file>