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tiff" ContentType="image/tiff"/>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notesMasters/notesMaster1.xml" ContentType="application/vnd.openxmlformats-officedocument.presentationml.notesMaster+xml"/>
  <Override PartName="/ppt/commentAuthors.xml" ContentType="application/vnd.openxmlformats-officedocument.presentationml.commentAuthors+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comments/comment1.xml" ContentType="application/vnd.openxmlformats-officedocument.presentationml.comments+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saveSubsetFonts="1">
  <p:sldMasterIdLst>
    <p:sldMasterId id="2147483708" r:id="rId1"/>
  </p:sldMasterIdLst>
  <p:notesMasterIdLst>
    <p:notesMasterId r:id="rId44"/>
  </p:notesMasterIdLst>
  <p:sldIdLst>
    <p:sldId id="256" r:id="rId2"/>
    <p:sldId id="281" r:id="rId3"/>
    <p:sldId id="291" r:id="rId4"/>
    <p:sldId id="298" r:id="rId5"/>
    <p:sldId id="259" r:id="rId6"/>
    <p:sldId id="290" r:id="rId7"/>
    <p:sldId id="261" r:id="rId8"/>
    <p:sldId id="262" r:id="rId9"/>
    <p:sldId id="308" r:id="rId10"/>
    <p:sldId id="260" r:id="rId11"/>
    <p:sldId id="257" r:id="rId12"/>
    <p:sldId id="276" r:id="rId13"/>
    <p:sldId id="296" r:id="rId14"/>
    <p:sldId id="277" r:id="rId15"/>
    <p:sldId id="299" r:id="rId16"/>
    <p:sldId id="279" r:id="rId17"/>
    <p:sldId id="295" r:id="rId18"/>
    <p:sldId id="280" r:id="rId19"/>
    <p:sldId id="306" r:id="rId20"/>
    <p:sldId id="263" r:id="rId21"/>
    <p:sldId id="268" r:id="rId22"/>
    <p:sldId id="270" r:id="rId23"/>
    <p:sldId id="271" r:id="rId24"/>
    <p:sldId id="272" r:id="rId25"/>
    <p:sldId id="274" r:id="rId26"/>
    <p:sldId id="273" r:id="rId27"/>
    <p:sldId id="275" r:id="rId28"/>
    <p:sldId id="300" r:id="rId29"/>
    <p:sldId id="266" r:id="rId30"/>
    <p:sldId id="303" r:id="rId31"/>
    <p:sldId id="293" r:id="rId32"/>
    <p:sldId id="297" r:id="rId33"/>
    <p:sldId id="309" r:id="rId34"/>
    <p:sldId id="284" r:id="rId35"/>
    <p:sldId id="285" r:id="rId36"/>
    <p:sldId id="307" r:id="rId37"/>
    <p:sldId id="310" r:id="rId38"/>
    <p:sldId id="286" r:id="rId39"/>
    <p:sldId id="287" r:id="rId40"/>
    <p:sldId id="288" r:id="rId41"/>
    <p:sldId id="302" r:id="rId42"/>
    <p:sldId id="289" r:id="rId43"/>
  </p:sldIdLst>
  <p:sldSz cx="9144000" cy="6858000" type="screen4x3"/>
  <p:notesSz cx="6858000" cy="9144000"/>
  <p:defaultTextStyle>
    <a:defPPr>
      <a:defRPr lang="nl-NL"/>
    </a:defPPr>
    <a:lvl1pPr algn="l" rtl="0" fontAlgn="base">
      <a:spcBef>
        <a:spcPct val="0"/>
      </a:spcBef>
      <a:spcAft>
        <a:spcPct val="0"/>
      </a:spcAft>
      <a:defRPr kern="1200">
        <a:solidFill>
          <a:schemeClr val="tx1"/>
        </a:solidFill>
        <a:latin typeface="Arial" charset="0"/>
        <a:ea typeface="+mn-ea"/>
        <a:cs typeface="Arial" charset="0"/>
      </a:defRPr>
    </a:lvl1pPr>
    <a:lvl2pPr marL="457200" algn="l" rtl="0" fontAlgn="base">
      <a:spcBef>
        <a:spcPct val="0"/>
      </a:spcBef>
      <a:spcAft>
        <a:spcPct val="0"/>
      </a:spcAft>
      <a:defRPr kern="1200">
        <a:solidFill>
          <a:schemeClr val="tx1"/>
        </a:solidFill>
        <a:latin typeface="Arial" charset="0"/>
        <a:ea typeface="+mn-ea"/>
        <a:cs typeface="Arial" charset="0"/>
      </a:defRPr>
    </a:lvl2pPr>
    <a:lvl3pPr marL="914400" algn="l" rtl="0" fontAlgn="base">
      <a:spcBef>
        <a:spcPct val="0"/>
      </a:spcBef>
      <a:spcAft>
        <a:spcPct val="0"/>
      </a:spcAft>
      <a:defRPr kern="1200">
        <a:solidFill>
          <a:schemeClr val="tx1"/>
        </a:solidFill>
        <a:latin typeface="Arial" charset="0"/>
        <a:ea typeface="+mn-ea"/>
        <a:cs typeface="Arial" charset="0"/>
      </a:defRPr>
    </a:lvl3pPr>
    <a:lvl4pPr marL="1371600" algn="l" rtl="0" fontAlgn="base">
      <a:spcBef>
        <a:spcPct val="0"/>
      </a:spcBef>
      <a:spcAft>
        <a:spcPct val="0"/>
      </a:spcAft>
      <a:defRPr kern="1200">
        <a:solidFill>
          <a:schemeClr val="tx1"/>
        </a:solidFill>
        <a:latin typeface="Arial" charset="0"/>
        <a:ea typeface="+mn-ea"/>
        <a:cs typeface="Arial" charset="0"/>
      </a:defRPr>
    </a:lvl4pPr>
    <a:lvl5pPr marL="1828800" algn="l" rtl="0" fontAlgn="base">
      <a:spcBef>
        <a:spcPct val="0"/>
      </a:spcBef>
      <a:spcAft>
        <a:spcPct val="0"/>
      </a:spcAft>
      <a:defRPr kern="1200">
        <a:solidFill>
          <a:schemeClr val="tx1"/>
        </a:solidFill>
        <a:latin typeface="Arial" charset="0"/>
        <a:ea typeface="+mn-ea"/>
        <a:cs typeface="Arial" charset="0"/>
      </a:defRPr>
    </a:lvl5pPr>
    <a:lvl6pPr marL="2286000" algn="l" defTabSz="914400" rtl="0" eaLnBrk="1" latinLnBrk="0" hangingPunct="1">
      <a:defRPr kern="1200">
        <a:solidFill>
          <a:schemeClr val="tx1"/>
        </a:solidFill>
        <a:latin typeface="Arial" charset="0"/>
        <a:ea typeface="+mn-ea"/>
        <a:cs typeface="Arial" charset="0"/>
      </a:defRPr>
    </a:lvl6pPr>
    <a:lvl7pPr marL="2743200" algn="l" defTabSz="914400" rtl="0" eaLnBrk="1" latinLnBrk="0" hangingPunct="1">
      <a:defRPr kern="1200">
        <a:solidFill>
          <a:schemeClr val="tx1"/>
        </a:solidFill>
        <a:latin typeface="Arial" charset="0"/>
        <a:ea typeface="+mn-ea"/>
        <a:cs typeface="Arial" charset="0"/>
      </a:defRPr>
    </a:lvl7pPr>
    <a:lvl8pPr marL="3200400" algn="l" defTabSz="914400" rtl="0" eaLnBrk="1" latinLnBrk="0" hangingPunct="1">
      <a:defRPr kern="1200">
        <a:solidFill>
          <a:schemeClr val="tx1"/>
        </a:solidFill>
        <a:latin typeface="Arial" charset="0"/>
        <a:ea typeface="+mn-ea"/>
        <a:cs typeface="Arial" charset="0"/>
      </a:defRPr>
    </a:lvl8pPr>
    <a:lvl9pPr marL="3657600" algn="l" defTabSz="914400" rtl="0" eaLnBrk="1" latinLnBrk="0" hangingPunct="1">
      <a:defRPr kern="1200">
        <a:solidFill>
          <a:schemeClr val="tx1"/>
        </a:solidFill>
        <a:latin typeface="Arial" charset="0"/>
        <a:ea typeface="+mn-ea"/>
        <a:cs typeface="Arial" charset="0"/>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commentAuthors.xml><?xml version="1.0" encoding="utf-8"?>
<p:cmAuthorLst xmlns:a="http://schemas.openxmlformats.org/drawingml/2006/main" xmlns:r="http://schemas.openxmlformats.org/officeDocument/2006/relationships" xmlns:p="http://schemas.openxmlformats.org/presentationml/2006/main">
  <p:cmAuthor id="0" name="underdark" initials="u" lastIdx="1" clrIdx="0"/>
</p:cmAuthorLst>
</file>

<file path=ppt/presProps.xml><?xml version="1.0" encoding="utf-8"?>
<p:presentationPr xmlns:a="http://schemas.openxmlformats.org/drawingml/2006/main" xmlns:r="http://schemas.openxmlformats.org/officeDocument/2006/relationships" xmlns:p="http://schemas.openxmlformats.org/presentationml/2006/main">
  <p:clrMru>
    <a:srgbClr val="92D050"/>
    <a:srgbClr val="F9F967"/>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93296810-A885-4BE3-A3E7-6D5BEEA58F35}" styleName="Medium Style 2 - Accent 6">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6">
              <a:tint val="20000"/>
            </a:schemeClr>
          </a:solidFill>
        </a:fill>
      </a:tcStyle>
    </a:wholeTbl>
    <a:band1H>
      <a:tcStyle>
        <a:tcBdr/>
        <a:fill>
          <a:solidFill>
            <a:schemeClr val="accent6">
              <a:tint val="40000"/>
            </a:schemeClr>
          </a:solidFill>
        </a:fill>
      </a:tcStyle>
    </a:band1H>
    <a:band2H>
      <a:tcStyle>
        <a:tcBdr/>
      </a:tcStyle>
    </a:band2H>
    <a:band1V>
      <a:tcStyle>
        <a:tcBdr/>
        <a:fill>
          <a:solidFill>
            <a:schemeClr val="accent6">
              <a:tint val="40000"/>
            </a:schemeClr>
          </a:solidFill>
        </a:fill>
      </a:tcStyle>
    </a:band1V>
    <a:band2V>
      <a:tcStyle>
        <a:tcBdr/>
      </a:tcStyle>
    </a:band2V>
    <a:lastCol>
      <a:tcTxStyle b="on">
        <a:fontRef idx="minor">
          <a:prstClr val="black"/>
        </a:fontRef>
        <a:schemeClr val="lt1"/>
      </a:tcTxStyle>
      <a:tcStyle>
        <a:tcBdr/>
        <a:fill>
          <a:solidFill>
            <a:schemeClr val="accent6"/>
          </a:solidFill>
        </a:fill>
      </a:tcStyle>
    </a:lastCol>
    <a:firstCol>
      <a:tcTxStyle b="on">
        <a:fontRef idx="minor">
          <a:prstClr val="black"/>
        </a:fontRef>
        <a:schemeClr val="lt1"/>
      </a:tcTxStyle>
      <a:tcStyle>
        <a:tcBdr/>
        <a:fill>
          <a:solidFill>
            <a:schemeClr val="accent6"/>
          </a:solidFill>
        </a:fill>
      </a:tcStyle>
    </a:firstCol>
    <a:lastRow>
      <a:tcTxStyle b="on">
        <a:fontRef idx="minor">
          <a:prstClr val="black"/>
        </a:fontRef>
        <a:schemeClr val="lt1"/>
      </a:tcTxStyle>
      <a:tcStyle>
        <a:tcBdr>
          <a:top>
            <a:ln w="38100" cmpd="sng">
              <a:solidFill>
                <a:schemeClr val="lt1"/>
              </a:solidFill>
            </a:ln>
          </a:top>
        </a:tcBdr>
        <a:fill>
          <a:solidFill>
            <a:schemeClr val="accent6"/>
          </a:solidFill>
        </a:fill>
      </a:tcStyle>
    </a:lastRow>
    <a:firstRow>
      <a:tcTxStyle b="on">
        <a:fontRef idx="minor">
          <a:prstClr val="black"/>
        </a:fontRef>
        <a:schemeClr val="lt1"/>
      </a:tcTxStyle>
      <a:tcStyle>
        <a:tcBdr>
          <a:bottom>
            <a:ln w="38100" cmpd="sng">
              <a:solidFill>
                <a:schemeClr val="lt1"/>
              </a:solidFill>
            </a:ln>
          </a:bottom>
        </a:tcBdr>
        <a:fill>
          <a:solidFill>
            <a:schemeClr val="accent6"/>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9706"/>
    <p:restoredTop sz="91695" autoAdjust="0"/>
  </p:normalViewPr>
  <p:slideViewPr>
    <p:cSldViewPr>
      <p:cViewPr varScale="1">
        <p:scale>
          <a:sx n="143" d="100"/>
          <a:sy n="143" d="100"/>
        </p:scale>
        <p:origin x="3176" y="208"/>
      </p:cViewPr>
      <p:guideLst>
        <p:guide orient="horz" pos="2160"/>
        <p:guide pos="2880"/>
      </p:guideLst>
    </p:cSldViewPr>
  </p:slideViewPr>
  <p:notesTextViewPr>
    <p:cViewPr>
      <p:scale>
        <a:sx n="100" d="100"/>
        <a:sy n="100" d="100"/>
      </p:scale>
      <p:origin x="0" y="0"/>
    </p:cViewPr>
  </p:notesTextViewPr>
  <p:sorterViewPr>
    <p:cViewPr>
      <p:scale>
        <a:sx n="66" d="100"/>
        <a:sy n="66" d="100"/>
      </p:scale>
      <p:origin x="0" y="0"/>
    </p:cViewPr>
  </p:sorterViewPr>
  <p:gridSpacing cx="72008" cy="72008"/>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slide" Target="slides/slide38.xml"/><Relationship Id="rId21" Type="http://schemas.openxmlformats.org/officeDocument/2006/relationships/slide" Target="slides/slide20.xml"/><Relationship Id="rId34" Type="http://schemas.openxmlformats.org/officeDocument/2006/relationships/slide" Target="slides/slide33.xml"/><Relationship Id="rId42" Type="http://schemas.openxmlformats.org/officeDocument/2006/relationships/slide" Target="slides/slide41.xml"/><Relationship Id="rId47" Type="http://schemas.openxmlformats.org/officeDocument/2006/relationships/viewProps" Target="viewProps.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9" Type="http://schemas.openxmlformats.org/officeDocument/2006/relationships/slide" Target="slides/slide28.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commentAuthors" Target="commentAuthor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tableStyles" Target="tableStyles.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4" Type="http://schemas.openxmlformats.org/officeDocument/2006/relationships/notesMaster" Target="notesMasters/notesMaster1.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theme" Target="theme/theme1.xml"/><Relationship Id="rId8" Type="http://schemas.openxmlformats.org/officeDocument/2006/relationships/slide" Target="slides/slide7.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presProps" Target="presProps.xml"/><Relationship Id="rId20" Type="http://schemas.openxmlformats.org/officeDocument/2006/relationships/slide" Target="slides/slide19.xml"/><Relationship Id="rId41" Type="http://schemas.openxmlformats.org/officeDocument/2006/relationships/slide" Target="slides/slide40.xml"/><Relationship Id="rId1" Type="http://schemas.openxmlformats.org/officeDocument/2006/relationships/slideMaster" Target="slideMasters/slideMaster1.xml"/><Relationship Id="rId6" Type="http://schemas.openxmlformats.org/officeDocument/2006/relationships/slide" Target="slides/slide5.xml"/></Relationships>
</file>

<file path=ppt/comments/comment1.xml><?xml version="1.0" encoding="utf-8"?>
<p:cmLst xmlns:a="http://schemas.openxmlformats.org/drawingml/2006/main" xmlns:r="http://schemas.openxmlformats.org/officeDocument/2006/relationships" xmlns:p="http://schemas.openxmlformats.org/presentationml/2006/main">
  <p:cm authorId="0" dt="2012-03-21T11:25:55.337" idx="1">
    <p:pos x="1331" y="3357"/>
    <p:text>So... can we indentify this kind of anomaly??</p:text>
  </p:cm>
</p:cmLst>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atin typeface="Arial" pitchFamily="34" charset="0"/>
                <a:cs typeface="Arial" pitchFamily="34" charset="0"/>
              </a:defRPr>
            </a:lvl1pPr>
          </a:lstStyle>
          <a:p>
            <a:pPr>
              <a:defRPr/>
            </a:pPr>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atin typeface="Arial" pitchFamily="34" charset="0"/>
                <a:cs typeface="Arial" pitchFamily="34" charset="0"/>
              </a:defRPr>
            </a:lvl1pPr>
          </a:lstStyle>
          <a:p>
            <a:pPr>
              <a:defRPr/>
            </a:pPr>
            <a:fld id="{C8D0D29E-0F72-4B03-9D12-6D36B7ED2220}" type="datetimeFigureOut">
              <a:rPr lang="nl-NL"/>
              <a:pPr>
                <a:defRPr/>
              </a:pPr>
              <a:t>16-04-2026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pPr lvl="0"/>
            <a:endParaRPr lang="en-US" noProof="0"/>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normAutofit/>
          </a:bodyPr>
          <a:lstStyle/>
          <a:p>
            <a:pPr lvl="0"/>
            <a:r>
              <a:rPr lang="en-US" noProof="0"/>
              <a:t>Click to edit Master text styles</a:t>
            </a:r>
          </a:p>
          <a:p>
            <a:pPr lvl="1"/>
            <a:r>
              <a:rPr lang="en-US" noProof="0"/>
              <a:t>Second level</a:t>
            </a:r>
          </a:p>
          <a:p>
            <a:pPr lvl="2"/>
            <a:r>
              <a:rPr lang="en-US" noProof="0"/>
              <a:t>Third level</a:t>
            </a:r>
          </a:p>
          <a:p>
            <a:pPr lvl="3"/>
            <a:r>
              <a:rPr lang="en-US" noProof="0"/>
              <a:t>Fourth level</a:t>
            </a:r>
          </a:p>
          <a:p>
            <a:pPr lvl="4"/>
            <a:r>
              <a:rPr lang="en-US" noProof="0"/>
              <a:t>Fifth level</a:t>
            </a:r>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atin typeface="Arial" pitchFamily="34" charset="0"/>
                <a:cs typeface="Arial" pitchFamily="34" charset="0"/>
              </a:defRPr>
            </a:lvl1pPr>
          </a:lstStyle>
          <a:p>
            <a:pPr>
              <a:defRPr/>
            </a:pPr>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atin typeface="Arial" pitchFamily="34" charset="0"/>
                <a:cs typeface="Arial" pitchFamily="34" charset="0"/>
              </a:defRPr>
            </a:lvl1pPr>
          </a:lstStyle>
          <a:p>
            <a:pPr>
              <a:defRPr/>
            </a:pPr>
            <a:fld id="{AD7DC67C-8C92-4F85-AFD0-B67EC14B6C20}" type="slidenum">
              <a:rPr lang="en-US"/>
              <a:pPr>
                <a:defRPr/>
              </a:pPr>
              <a:t>‹#›</a:t>
            </a:fld>
            <a:endParaRPr lang="en-US"/>
          </a:p>
        </p:txBody>
      </p:sp>
    </p:spTree>
    <p:extLst>
      <p:ext uri="{BB962C8B-B14F-4D97-AF65-F5344CB8AC3E}">
        <p14:creationId xmlns:p14="http://schemas.microsoft.com/office/powerpoint/2010/main" val="1171866653"/>
      </p:ext>
    </p:extLst>
  </p:cSld>
  <p:clrMap bg1="lt1" tx1="dk1" bg2="lt2" tx2="dk2" accent1="accent1" accent2="accent2" accent3="accent3" accent4="accent4" accent5="accent5" accent6="accent6" hlink="hlink" folHlink="folHlink"/>
  <p:notesStyle>
    <a:lvl1pPr algn="l" rtl="0" eaLnBrk="0" fontAlgn="base" hangingPunct="0">
      <a:spcBef>
        <a:spcPct val="30000"/>
      </a:spcBef>
      <a:spcAft>
        <a:spcPct val="0"/>
      </a:spcAft>
      <a:defRPr sz="1200" kern="1200">
        <a:solidFill>
          <a:schemeClr val="tx1"/>
        </a:solidFill>
        <a:latin typeface="+mn-lt"/>
        <a:ea typeface="+mn-ea"/>
        <a:cs typeface="+mn-cs"/>
      </a:defRPr>
    </a:lvl1pPr>
    <a:lvl2pPr marL="457200" algn="l" rtl="0" eaLnBrk="0" fontAlgn="base" hangingPunct="0">
      <a:spcBef>
        <a:spcPct val="30000"/>
      </a:spcBef>
      <a:spcAft>
        <a:spcPct val="0"/>
      </a:spcAft>
      <a:defRPr sz="1200" kern="1200">
        <a:solidFill>
          <a:schemeClr val="tx1"/>
        </a:solidFill>
        <a:latin typeface="+mn-lt"/>
        <a:ea typeface="+mn-ea"/>
        <a:cs typeface="+mn-cs"/>
      </a:defRPr>
    </a:lvl2pPr>
    <a:lvl3pPr marL="914400" algn="l" rtl="0" eaLnBrk="0" fontAlgn="base" hangingPunct="0">
      <a:spcBef>
        <a:spcPct val="30000"/>
      </a:spcBef>
      <a:spcAft>
        <a:spcPct val="0"/>
      </a:spcAft>
      <a:defRPr sz="1200" kern="1200">
        <a:solidFill>
          <a:schemeClr val="tx1"/>
        </a:solidFill>
        <a:latin typeface="+mn-lt"/>
        <a:ea typeface="+mn-ea"/>
        <a:cs typeface="+mn-cs"/>
      </a:defRPr>
    </a:lvl3pPr>
    <a:lvl4pPr marL="1371600" algn="l" rtl="0" eaLnBrk="0" fontAlgn="base" hangingPunct="0">
      <a:spcBef>
        <a:spcPct val="30000"/>
      </a:spcBef>
      <a:spcAft>
        <a:spcPct val="0"/>
      </a:spcAft>
      <a:defRPr sz="1200" kern="1200">
        <a:solidFill>
          <a:schemeClr val="tx1"/>
        </a:solidFill>
        <a:latin typeface="+mn-lt"/>
        <a:ea typeface="+mn-ea"/>
        <a:cs typeface="+mn-cs"/>
      </a:defRPr>
    </a:lvl4pPr>
    <a:lvl5pPr marL="1828800" algn="l" rtl="0" eaLnBrk="0" fontAlgn="base" hangingPunct="0">
      <a:spcBef>
        <a:spcPct val="30000"/>
      </a:spcBef>
      <a:spcAft>
        <a:spcPct val="0"/>
      </a:spcAft>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0962" name="Slide Image Placeholder 1"/>
          <p:cNvSpPr>
            <a:spLocks noGrp="1" noRot="1" noChangeAspect="1" noTextEdit="1"/>
          </p:cNvSpPr>
          <p:nvPr>
            <p:ph type="sldImg"/>
          </p:nvPr>
        </p:nvSpPr>
        <p:spPr bwMode="auto">
          <a:noFill/>
          <a:ln>
            <a:solidFill>
              <a:srgbClr val="000000"/>
            </a:solidFill>
            <a:miter lim="800000"/>
            <a:headEnd/>
            <a:tailEnd/>
          </a:ln>
        </p:spPr>
      </p:sp>
      <p:sp>
        <p:nvSpPr>
          <p:cNvPr id="40963" name="Notes Placeholder 2"/>
          <p:cNvSpPr>
            <a:spLocks noGrp="1"/>
          </p:cNvSpPr>
          <p:nvPr>
            <p:ph type="body" idx="1"/>
          </p:nvPr>
        </p:nvSpPr>
        <p:spPr bwMode="auto">
          <a:noFill/>
        </p:spPr>
        <p:txBody>
          <a:bodyPr wrap="square" numCol="1" anchor="t" anchorCtr="0" compatLnSpc="1">
            <a:prstTxWarp prst="textNoShape">
              <a:avLst/>
            </a:prstTxWarp>
          </a:bodyPr>
          <a:lstStyle/>
          <a:p>
            <a:endParaRPr lang="en-US"/>
          </a:p>
        </p:txBody>
      </p:sp>
      <p:sp>
        <p:nvSpPr>
          <p:cNvPr id="40964" name="Slide Number Placeholder 3"/>
          <p:cNvSpPr>
            <a:spLocks noGrp="1"/>
          </p:cNvSpPr>
          <p:nvPr>
            <p:ph type="sldNum" sz="quarter" idx="5"/>
          </p:nvPr>
        </p:nvSpPr>
        <p:spPr bwMode="auto">
          <a:noFill/>
          <a:ln>
            <a:miter lim="800000"/>
            <a:headEnd/>
            <a:tailEnd/>
          </a:ln>
        </p:spPr>
        <p:txBody>
          <a:bodyPr wrap="square" numCol="1" anchorCtr="0" compatLnSpc="1">
            <a:prstTxWarp prst="textNoShape">
              <a:avLst/>
            </a:prstTxWarp>
          </a:bodyPr>
          <a:lstStyle/>
          <a:p>
            <a:fld id="{E0D01952-DB01-4024-A3F6-876877A0DEB4}" type="slidenum">
              <a:rPr lang="en-US" smtClean="0">
                <a:latin typeface="Arial" charset="0"/>
                <a:cs typeface="Arial" charset="0"/>
              </a:rPr>
              <a:pPr/>
              <a:t>1</a:t>
            </a:fld>
            <a:endParaRPr lang="en-US">
              <a:latin typeface="Arial" charset="0"/>
              <a:cs typeface="Arial" charset="0"/>
            </a:endParaRPr>
          </a:p>
        </p:txBody>
      </p:sp>
    </p:spTree>
    <p:extLst>
      <p:ext uri="{BB962C8B-B14F-4D97-AF65-F5344CB8AC3E}">
        <p14:creationId xmlns:p14="http://schemas.microsoft.com/office/powerpoint/2010/main" val="990310334"/>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indent="0" algn="l" defTabSz="914400" rtl="0" eaLnBrk="0" fontAlgn="base" latinLnBrk="0" hangingPunct="0">
              <a:lnSpc>
                <a:spcPct val="100000"/>
              </a:lnSpc>
              <a:spcBef>
                <a:spcPct val="30000"/>
              </a:spcBef>
              <a:spcAft>
                <a:spcPct val="0"/>
              </a:spcAft>
              <a:buClrTx/>
              <a:buSzTx/>
              <a:buFontTx/>
              <a:buNone/>
              <a:tabLst/>
              <a:defRPr/>
            </a:pPr>
            <a:r>
              <a:rPr lang="en-US" sz="1200" dirty="0"/>
              <a:t>E.g. we may then decide to only test one of them.</a:t>
            </a:r>
          </a:p>
          <a:p>
            <a:endParaRPr lang="en-US" dirty="0"/>
          </a:p>
        </p:txBody>
      </p:sp>
      <p:sp>
        <p:nvSpPr>
          <p:cNvPr id="4" name="Slide Number Placeholder 3"/>
          <p:cNvSpPr>
            <a:spLocks noGrp="1"/>
          </p:cNvSpPr>
          <p:nvPr>
            <p:ph type="sldNum" sz="quarter" idx="10"/>
          </p:nvPr>
        </p:nvSpPr>
        <p:spPr/>
        <p:txBody>
          <a:bodyPr/>
          <a:lstStyle/>
          <a:p>
            <a:pPr>
              <a:defRPr/>
            </a:pPr>
            <a:fld id="{AD7DC67C-8C92-4F85-AFD0-B67EC14B6C20}" type="slidenum">
              <a:rPr lang="en-US" smtClean="0"/>
              <a:pPr>
                <a:defRPr/>
              </a:pPr>
              <a:t>3</a:t>
            </a:fld>
            <a:endParaRPr lang="en-US"/>
          </a:p>
        </p:txBody>
      </p:sp>
    </p:spTree>
    <p:extLst>
      <p:ext uri="{BB962C8B-B14F-4D97-AF65-F5344CB8AC3E}">
        <p14:creationId xmlns:p14="http://schemas.microsoft.com/office/powerpoint/2010/main" val="1612263462"/>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1986" name="Slide Image Placeholder 1"/>
          <p:cNvSpPr>
            <a:spLocks noGrp="1" noRot="1" noChangeAspect="1" noTextEdit="1"/>
          </p:cNvSpPr>
          <p:nvPr>
            <p:ph type="sldImg"/>
          </p:nvPr>
        </p:nvSpPr>
        <p:spPr bwMode="auto">
          <a:noFill/>
          <a:ln>
            <a:solidFill>
              <a:srgbClr val="000000"/>
            </a:solidFill>
            <a:miter lim="800000"/>
            <a:headEnd/>
            <a:tailEnd/>
          </a:ln>
        </p:spPr>
      </p:sp>
      <p:sp>
        <p:nvSpPr>
          <p:cNvPr id="41987" name="Notes Placeholder 2"/>
          <p:cNvSpPr>
            <a:spLocks noGrp="1"/>
          </p:cNvSpPr>
          <p:nvPr>
            <p:ph type="body" idx="1"/>
          </p:nvPr>
        </p:nvSpPr>
        <p:spPr bwMode="auto">
          <a:noFill/>
        </p:spPr>
        <p:txBody>
          <a:bodyPr wrap="square" numCol="1" anchor="t" anchorCtr="0" compatLnSpc="1">
            <a:prstTxWarp prst="textNoShape">
              <a:avLst/>
            </a:prstTxWarp>
          </a:bodyPr>
          <a:lstStyle/>
          <a:p>
            <a:r>
              <a:rPr lang="en-US"/>
              <a:t>If p is def-clear wrt v, then it does not re-define v in between; implying that v is only defined at the start of p (if it is defined there at all). Thus, this value of v is guaranteed to reach p’s final node.</a:t>
            </a:r>
          </a:p>
          <a:p>
            <a:endParaRPr lang="en-US"/>
          </a:p>
          <a:p>
            <a:r>
              <a:rPr lang="en-US"/>
              <a:t>Not du-path wrt to x:  1345 (the path is not clear wrt x)</a:t>
            </a:r>
          </a:p>
        </p:txBody>
      </p:sp>
      <p:sp>
        <p:nvSpPr>
          <p:cNvPr id="41988" name="Slide Number Placeholder 3"/>
          <p:cNvSpPr>
            <a:spLocks noGrp="1"/>
          </p:cNvSpPr>
          <p:nvPr>
            <p:ph type="sldNum" sz="quarter" idx="5"/>
          </p:nvPr>
        </p:nvSpPr>
        <p:spPr bwMode="auto">
          <a:noFill/>
          <a:ln>
            <a:miter lim="800000"/>
            <a:headEnd/>
            <a:tailEnd/>
          </a:ln>
        </p:spPr>
        <p:txBody>
          <a:bodyPr wrap="square" numCol="1" anchorCtr="0" compatLnSpc="1">
            <a:prstTxWarp prst="textNoShape">
              <a:avLst/>
            </a:prstTxWarp>
          </a:bodyPr>
          <a:lstStyle/>
          <a:p>
            <a:fld id="{88577F83-B936-4395-B7D1-72B81518DB12}" type="slidenum">
              <a:rPr lang="en-US" smtClean="0">
                <a:latin typeface="Arial" charset="0"/>
                <a:cs typeface="Arial" charset="0"/>
              </a:rPr>
              <a:pPr/>
              <a:t>5</a:t>
            </a:fld>
            <a:endParaRPr lang="en-US">
              <a:latin typeface="Arial" charset="0"/>
              <a:cs typeface="Arial" charset="0"/>
            </a:endParaRPr>
          </a:p>
        </p:txBody>
      </p:sp>
    </p:spTree>
    <p:extLst>
      <p:ext uri="{BB962C8B-B14F-4D97-AF65-F5344CB8AC3E}">
        <p14:creationId xmlns:p14="http://schemas.microsoft.com/office/powerpoint/2010/main" val="1147519288"/>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3010" name="Slide Image Placeholder 1"/>
          <p:cNvSpPr>
            <a:spLocks noGrp="1" noRot="1" noChangeAspect="1" noTextEdit="1"/>
          </p:cNvSpPr>
          <p:nvPr>
            <p:ph type="sldImg"/>
          </p:nvPr>
        </p:nvSpPr>
        <p:spPr bwMode="auto">
          <a:noFill/>
          <a:ln>
            <a:solidFill>
              <a:srgbClr val="000000"/>
            </a:solidFill>
            <a:miter lim="800000"/>
            <a:headEnd/>
            <a:tailEnd/>
          </a:ln>
        </p:spPr>
      </p:sp>
      <p:sp>
        <p:nvSpPr>
          <p:cNvPr id="43011" name="Notes Placeholder 2"/>
          <p:cNvSpPr>
            <a:spLocks noGrp="1"/>
          </p:cNvSpPr>
          <p:nvPr>
            <p:ph type="body" idx="1"/>
          </p:nvPr>
        </p:nvSpPr>
        <p:spPr bwMode="auto">
          <a:noFill/>
        </p:spPr>
        <p:txBody>
          <a:bodyPr wrap="square" numCol="1" anchor="t" anchorCtr="0" compatLnSpc="1">
            <a:prstTxWarp prst="textNoShape">
              <a:avLst/>
            </a:prstTxWarp>
          </a:bodyPr>
          <a:lstStyle/>
          <a:p>
            <a:r>
              <a:rPr lang="en-US"/>
              <a:t>The intuition of ADC is to cover for each variable, all the places where the variable is assigned a value. However, we only care about it when the new value assigned is actually used somewhere. This comes from the fact that the definition requires the existence of a du-path from the node.</a:t>
            </a:r>
          </a:p>
        </p:txBody>
      </p:sp>
      <p:sp>
        <p:nvSpPr>
          <p:cNvPr id="43012" name="Slide Number Placeholder 3"/>
          <p:cNvSpPr>
            <a:spLocks noGrp="1"/>
          </p:cNvSpPr>
          <p:nvPr>
            <p:ph type="sldNum" sz="quarter" idx="5"/>
          </p:nvPr>
        </p:nvSpPr>
        <p:spPr bwMode="auto">
          <a:noFill/>
          <a:ln>
            <a:miter lim="800000"/>
            <a:headEnd/>
            <a:tailEnd/>
          </a:ln>
        </p:spPr>
        <p:txBody>
          <a:bodyPr wrap="square" numCol="1" anchorCtr="0" compatLnSpc="1">
            <a:prstTxWarp prst="textNoShape">
              <a:avLst/>
            </a:prstTxWarp>
          </a:bodyPr>
          <a:lstStyle/>
          <a:p>
            <a:fld id="{2D800003-206B-4247-AF3B-D7D384CD11F9}" type="slidenum">
              <a:rPr lang="en-US" smtClean="0">
                <a:latin typeface="Arial" charset="0"/>
                <a:cs typeface="Arial" charset="0"/>
              </a:rPr>
              <a:pPr/>
              <a:t>7</a:t>
            </a:fld>
            <a:endParaRPr lang="en-US">
              <a:latin typeface="Arial" charset="0"/>
              <a:cs typeface="Arial" charset="0"/>
            </a:endParaRPr>
          </a:p>
        </p:txBody>
      </p:sp>
    </p:spTree>
    <p:extLst>
      <p:ext uri="{BB962C8B-B14F-4D97-AF65-F5344CB8AC3E}">
        <p14:creationId xmlns:p14="http://schemas.microsoft.com/office/powerpoint/2010/main" val="1953523356"/>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4034" name="Slide Image Placeholder 1"/>
          <p:cNvSpPr>
            <a:spLocks noGrp="1" noRot="1" noChangeAspect="1" noTextEdit="1"/>
          </p:cNvSpPr>
          <p:nvPr>
            <p:ph type="sldImg"/>
          </p:nvPr>
        </p:nvSpPr>
        <p:spPr bwMode="auto">
          <a:noFill/>
          <a:ln>
            <a:solidFill>
              <a:srgbClr val="000000"/>
            </a:solidFill>
            <a:miter lim="800000"/>
            <a:headEnd/>
            <a:tailEnd/>
          </a:ln>
        </p:spPr>
      </p:sp>
      <p:sp>
        <p:nvSpPr>
          <p:cNvPr id="44035" name="Notes Placeholder 2"/>
          <p:cNvSpPr>
            <a:spLocks noGrp="1"/>
          </p:cNvSpPr>
          <p:nvPr>
            <p:ph type="body" idx="1"/>
          </p:nvPr>
        </p:nvSpPr>
        <p:spPr bwMode="auto">
          <a:noFill/>
        </p:spPr>
        <p:txBody>
          <a:bodyPr wrap="square" numCol="1" anchor="t" anchorCtr="0" compatLnSpc="1">
            <a:prstTxWarp prst="textNoShape">
              <a:avLst/>
            </a:prstTxWarp>
          </a:bodyPr>
          <a:lstStyle/>
          <a:p>
            <a:r>
              <a:rPr lang="en-US" dirty="0"/>
              <a:t>Recall that in ADC we want to cover, for each variable, all the places where the variable is assigned a value. However, we only care about it when the new value assigned is actually used somewhere. However, for each node </a:t>
            </a:r>
            <a:r>
              <a:rPr lang="en-US" dirty="0" err="1"/>
              <a:t>i</a:t>
            </a:r>
            <a:r>
              <a:rPr lang="en-US" dirty="0"/>
              <a:t> where v is defined, there may be multiple nodes where </a:t>
            </a:r>
            <a:r>
              <a:rPr lang="en-US" dirty="0" err="1"/>
              <a:t>i</a:t>
            </a:r>
            <a:r>
              <a:rPr lang="en-US" dirty="0"/>
              <a:t> is subsequently used. ADC doesn’t distinguish those. In AUC we do. In AUC, for each pair of </a:t>
            </a:r>
            <a:r>
              <a:rPr lang="en-US" dirty="0" err="1"/>
              <a:t>def</a:t>
            </a:r>
            <a:r>
              <a:rPr lang="en-US" dirty="0"/>
              <a:t>/use we require at least one path is tested. There may however be multiple paths between the same </a:t>
            </a:r>
            <a:r>
              <a:rPr lang="en-US" dirty="0" err="1"/>
              <a:t>def</a:t>
            </a:r>
            <a:r>
              <a:rPr lang="en-US" dirty="0"/>
              <a:t>/use pair. In ADUPC we require to cover them all.</a:t>
            </a:r>
          </a:p>
        </p:txBody>
      </p:sp>
      <p:sp>
        <p:nvSpPr>
          <p:cNvPr id="44036" name="Slide Number Placeholder 3"/>
          <p:cNvSpPr>
            <a:spLocks noGrp="1"/>
          </p:cNvSpPr>
          <p:nvPr>
            <p:ph type="sldNum" sz="quarter" idx="5"/>
          </p:nvPr>
        </p:nvSpPr>
        <p:spPr bwMode="auto">
          <a:noFill/>
          <a:ln>
            <a:miter lim="800000"/>
            <a:headEnd/>
            <a:tailEnd/>
          </a:ln>
        </p:spPr>
        <p:txBody>
          <a:bodyPr wrap="square" numCol="1" anchorCtr="0" compatLnSpc="1">
            <a:prstTxWarp prst="textNoShape">
              <a:avLst/>
            </a:prstTxWarp>
          </a:bodyPr>
          <a:lstStyle/>
          <a:p>
            <a:fld id="{040C2CAF-E3B1-4627-9E06-1FF5B1B475B9}" type="slidenum">
              <a:rPr lang="en-US" smtClean="0">
                <a:latin typeface="Arial" charset="0"/>
                <a:cs typeface="Arial" charset="0"/>
              </a:rPr>
              <a:pPr/>
              <a:t>8</a:t>
            </a:fld>
            <a:endParaRPr lang="en-US">
              <a:latin typeface="Arial" charset="0"/>
              <a:cs typeface="Arial" charset="0"/>
            </a:endParaRPr>
          </a:p>
        </p:txBody>
      </p:sp>
    </p:spTree>
    <p:extLst>
      <p:ext uri="{BB962C8B-B14F-4D97-AF65-F5344CB8AC3E}">
        <p14:creationId xmlns:p14="http://schemas.microsoft.com/office/powerpoint/2010/main" val="2137048956"/>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5058" name="Slide Image Placeholder 1"/>
          <p:cNvSpPr>
            <a:spLocks noGrp="1" noRot="1" noChangeAspect="1" noTextEdit="1"/>
          </p:cNvSpPr>
          <p:nvPr>
            <p:ph type="sldImg"/>
          </p:nvPr>
        </p:nvSpPr>
        <p:spPr bwMode="auto">
          <a:noFill/>
          <a:ln>
            <a:solidFill>
              <a:srgbClr val="000000"/>
            </a:solidFill>
            <a:miter lim="800000"/>
            <a:headEnd/>
            <a:tailEnd/>
          </a:ln>
        </p:spPr>
      </p:sp>
      <p:sp>
        <p:nvSpPr>
          <p:cNvPr id="45059" name="Notes Placeholder 2"/>
          <p:cNvSpPr>
            <a:spLocks noGrp="1"/>
          </p:cNvSpPr>
          <p:nvPr>
            <p:ph type="body" idx="1"/>
          </p:nvPr>
        </p:nvSpPr>
        <p:spPr bwMode="auto">
          <a:noFill/>
        </p:spPr>
        <p:txBody>
          <a:bodyPr wrap="square" numCol="1" anchor="t" anchorCtr="0" compatLnSpc="1">
            <a:prstTxWarp prst="textNoShape">
              <a:avLst/>
            </a:prstTxWarp>
          </a:bodyPr>
          <a:lstStyle/>
          <a:p>
            <a:r>
              <a:rPr lang="en-US" dirty="0"/>
              <a:t>(Def 1.24) C1 subsumes C2 if every test-set that satisfies C1 also satisfies C2 (so, C1 is stronger)</a:t>
            </a:r>
          </a:p>
          <a:p>
            <a:endParaRPr lang="en-US" dirty="0"/>
          </a:p>
          <a:p>
            <a:pPr marL="0" marR="0" lvl="1" indent="0" algn="l" defTabSz="914400" rtl="0" eaLnBrk="0" fontAlgn="base" latinLnBrk="0" hangingPunct="0">
              <a:lnSpc>
                <a:spcPct val="100000"/>
              </a:lnSpc>
              <a:spcBef>
                <a:spcPct val="30000"/>
              </a:spcBef>
              <a:spcAft>
                <a:spcPct val="0"/>
              </a:spcAft>
              <a:buClrTx/>
              <a:buSzTx/>
              <a:buFontTx/>
              <a:buNone/>
              <a:tabLst/>
              <a:defRPr/>
            </a:pPr>
            <a:r>
              <a:rPr lang="en-US" dirty="0"/>
              <a:t>The assumption</a:t>
            </a:r>
            <a:r>
              <a:rPr lang="en-US" baseline="0" dirty="0"/>
              <a:t> “</a:t>
            </a:r>
            <a:r>
              <a:rPr lang="en-US" sz="2000" dirty="0"/>
              <a:t>arrows are </a:t>
            </a:r>
            <a:r>
              <a:rPr lang="en-US" sz="2000" dirty="0" err="1"/>
              <a:t>labelled</a:t>
            </a:r>
            <a:r>
              <a:rPr lang="en-US" sz="2000" dirty="0"/>
              <a:t>; arrows that leave the node </a:t>
            </a:r>
            <a:r>
              <a:rPr lang="en-US" sz="2000" dirty="0" err="1"/>
              <a:t>i</a:t>
            </a:r>
            <a:r>
              <a:rPr lang="en-US" sz="2000" i="1" dirty="0"/>
              <a:t> </a:t>
            </a:r>
            <a:r>
              <a:rPr lang="en-US" sz="2000" dirty="0"/>
              <a:t>must use at least one </a:t>
            </a:r>
            <a:r>
              <a:rPr lang="en-US" sz="2000" dirty="0" err="1"/>
              <a:t>var</a:t>
            </a:r>
            <a:r>
              <a:rPr lang="en-US" sz="2000" dirty="0"/>
              <a:t>, and they all must use the same set of </a:t>
            </a:r>
            <a:r>
              <a:rPr lang="en-US" sz="2000" dirty="0" err="1"/>
              <a:t>vars</a:t>
            </a:r>
            <a:r>
              <a:rPr lang="en-US" sz="2000" dirty="0"/>
              <a:t>”</a:t>
            </a:r>
            <a:r>
              <a:rPr lang="en-US" sz="2000" baseline="0" dirty="0"/>
              <a:t> basically wants to say, that all branches of e.g. if(g) then S1 else S2 will use all the variables used in g.</a:t>
            </a:r>
            <a:endParaRPr lang="en-US" sz="2000" dirty="0"/>
          </a:p>
        </p:txBody>
      </p:sp>
      <p:sp>
        <p:nvSpPr>
          <p:cNvPr id="45060" name="Slide Number Placeholder 3"/>
          <p:cNvSpPr>
            <a:spLocks noGrp="1"/>
          </p:cNvSpPr>
          <p:nvPr>
            <p:ph type="sldNum" sz="quarter" idx="5"/>
          </p:nvPr>
        </p:nvSpPr>
        <p:spPr bwMode="auto">
          <a:noFill/>
          <a:ln>
            <a:miter lim="800000"/>
            <a:headEnd/>
            <a:tailEnd/>
          </a:ln>
        </p:spPr>
        <p:txBody>
          <a:bodyPr wrap="square" numCol="1" anchorCtr="0" compatLnSpc="1">
            <a:prstTxWarp prst="textNoShape">
              <a:avLst/>
            </a:prstTxWarp>
          </a:bodyPr>
          <a:lstStyle/>
          <a:p>
            <a:fld id="{C83B8FD5-830E-404D-9DA7-42EAA9D47811}" type="slidenum">
              <a:rPr lang="en-US" smtClean="0">
                <a:latin typeface="Arial" charset="0"/>
                <a:cs typeface="Arial" charset="0"/>
              </a:rPr>
              <a:pPr/>
              <a:t>10</a:t>
            </a:fld>
            <a:endParaRPr lang="en-US">
              <a:latin typeface="Arial" charset="0"/>
              <a:cs typeface="Arial" charset="0"/>
            </a:endParaRPr>
          </a:p>
        </p:txBody>
      </p:sp>
    </p:spTree>
    <p:extLst>
      <p:ext uri="{BB962C8B-B14F-4D97-AF65-F5344CB8AC3E}">
        <p14:creationId xmlns:p14="http://schemas.microsoft.com/office/powerpoint/2010/main" val="717807417"/>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pPr>
              <a:defRPr/>
            </a:pPr>
            <a:fld id="{AD7DC67C-8C92-4F85-AFD0-B67EC14B6C20}" type="slidenum">
              <a:rPr lang="en-US" smtClean="0"/>
              <a:pPr>
                <a:defRPr/>
              </a:pPr>
              <a:t>14</a:t>
            </a:fld>
            <a:endParaRPr lang="en-US"/>
          </a:p>
        </p:txBody>
      </p:sp>
    </p:spTree>
    <p:extLst>
      <p:ext uri="{BB962C8B-B14F-4D97-AF65-F5344CB8AC3E}">
        <p14:creationId xmlns:p14="http://schemas.microsoft.com/office/powerpoint/2010/main" val="1293763187"/>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pPr>
              <a:defRPr/>
            </a:pPr>
            <a:fld id="{AD7DC67C-8C92-4F85-AFD0-B67EC14B6C20}" type="slidenum">
              <a:rPr lang="en-US" smtClean="0"/>
              <a:pPr>
                <a:defRPr/>
              </a:pPr>
              <a:t>15</a:t>
            </a:fld>
            <a:endParaRPr lang="en-US"/>
          </a:p>
        </p:txBody>
      </p:sp>
    </p:spTree>
    <p:extLst>
      <p:ext uri="{BB962C8B-B14F-4D97-AF65-F5344CB8AC3E}">
        <p14:creationId xmlns:p14="http://schemas.microsoft.com/office/powerpoint/2010/main" val="2570533878"/>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6082" name="Slide Image Placeholder 1"/>
          <p:cNvSpPr>
            <a:spLocks noGrp="1" noRot="1" noChangeAspect="1" noTextEdit="1"/>
          </p:cNvSpPr>
          <p:nvPr>
            <p:ph type="sldImg"/>
          </p:nvPr>
        </p:nvSpPr>
        <p:spPr bwMode="auto">
          <a:noFill/>
          <a:ln>
            <a:solidFill>
              <a:srgbClr val="000000"/>
            </a:solidFill>
            <a:miter lim="800000"/>
            <a:headEnd/>
            <a:tailEnd/>
          </a:ln>
        </p:spPr>
      </p:sp>
      <p:sp>
        <p:nvSpPr>
          <p:cNvPr id="46083" name="Notes Placeholder 2"/>
          <p:cNvSpPr>
            <a:spLocks noGrp="1"/>
          </p:cNvSpPr>
          <p:nvPr>
            <p:ph type="body" idx="1"/>
          </p:nvPr>
        </p:nvSpPr>
        <p:spPr bwMode="auto">
          <a:noFill/>
        </p:spPr>
        <p:txBody>
          <a:bodyPr wrap="square" numCol="1" anchor="t" anchorCtr="0" compatLnSpc="1">
            <a:prstTxWarp prst="textNoShape">
              <a:avLst/>
            </a:prstTxWarp>
          </a:bodyPr>
          <a:lstStyle/>
          <a:p>
            <a:r>
              <a:rPr lang="en-US" dirty="0"/>
              <a:t>f1,f3 are last-</a:t>
            </a:r>
            <a:r>
              <a:rPr lang="en-US" dirty="0" err="1"/>
              <a:t>defs</a:t>
            </a:r>
            <a:r>
              <a:rPr lang="en-US" dirty="0"/>
              <a:t> of f’s a and b.</a:t>
            </a:r>
          </a:p>
          <a:p>
            <a:r>
              <a:rPr lang="en-US" dirty="0"/>
              <a:t>g4,g5 are last-</a:t>
            </a:r>
            <a:r>
              <a:rPr lang="en-US" dirty="0" err="1"/>
              <a:t>defs</a:t>
            </a:r>
            <a:r>
              <a:rPr lang="en-US" dirty="0"/>
              <a:t> of g’s return.</a:t>
            </a:r>
          </a:p>
          <a:p>
            <a:endParaRPr lang="en-US" dirty="0"/>
          </a:p>
          <a:p>
            <a:r>
              <a:rPr lang="en-US" dirty="0"/>
              <a:t>(</a:t>
            </a:r>
            <a:r>
              <a:rPr lang="en-US" dirty="0" err="1"/>
              <a:t>Def</a:t>
            </a:r>
            <a:r>
              <a:rPr lang="en-US" dirty="0"/>
              <a:t> 2.41) </a:t>
            </a:r>
            <a:r>
              <a:rPr lang="en-US" i="1" dirty="0"/>
              <a:t>First-use of v </a:t>
            </a:r>
            <a:r>
              <a:rPr lang="en-US" dirty="0"/>
              <a:t>: set of nodes using v, to which there is a </a:t>
            </a:r>
            <a:r>
              <a:rPr lang="en-US" dirty="0" err="1"/>
              <a:t>def</a:t>
            </a:r>
            <a:r>
              <a:rPr lang="en-US" dirty="0"/>
              <a:t>-clear and use-clear path (</a:t>
            </a:r>
            <a:r>
              <a:rPr lang="en-US" dirty="0" err="1"/>
              <a:t>wrt</a:t>
            </a:r>
            <a:r>
              <a:rPr lang="en-US" dirty="0"/>
              <a:t> </a:t>
            </a:r>
            <a:r>
              <a:rPr lang="en-US" i="1" dirty="0"/>
              <a:t>v</a:t>
            </a:r>
            <a:r>
              <a:rPr lang="en-US" dirty="0"/>
              <a:t>) coming from the other unit, and through the call point. E.g.: g1, g2, f4</a:t>
            </a:r>
          </a:p>
          <a:p>
            <a:endParaRPr lang="en-US" dirty="0"/>
          </a:p>
          <a:p>
            <a:endParaRPr lang="en-US" dirty="0"/>
          </a:p>
          <a:p>
            <a:r>
              <a:rPr lang="en-US" dirty="0"/>
              <a:t>g2 is first use of f’s a</a:t>
            </a:r>
          </a:p>
          <a:p>
            <a:r>
              <a:rPr lang="en-US" dirty="0"/>
              <a:t>g3 is first use of f’s b</a:t>
            </a:r>
          </a:p>
          <a:p>
            <a:r>
              <a:rPr lang="en-US" dirty="0"/>
              <a:t>f4 is first use of g’s return</a:t>
            </a:r>
          </a:p>
        </p:txBody>
      </p:sp>
      <p:sp>
        <p:nvSpPr>
          <p:cNvPr id="46084" name="Slide Number Placeholder 3"/>
          <p:cNvSpPr>
            <a:spLocks noGrp="1"/>
          </p:cNvSpPr>
          <p:nvPr>
            <p:ph type="sldNum" sz="quarter" idx="5"/>
          </p:nvPr>
        </p:nvSpPr>
        <p:spPr bwMode="auto">
          <a:noFill/>
          <a:ln>
            <a:miter lim="800000"/>
            <a:headEnd/>
            <a:tailEnd/>
          </a:ln>
        </p:spPr>
        <p:txBody>
          <a:bodyPr wrap="square" numCol="1" anchorCtr="0" compatLnSpc="1">
            <a:prstTxWarp prst="textNoShape">
              <a:avLst/>
            </a:prstTxWarp>
          </a:bodyPr>
          <a:lstStyle/>
          <a:p>
            <a:fld id="{C68794C2-5315-4ACE-AD90-102209284598}" type="slidenum">
              <a:rPr lang="en-US" smtClean="0">
                <a:latin typeface="Arial" charset="0"/>
                <a:cs typeface="Arial" charset="0"/>
              </a:rPr>
              <a:pPr/>
              <a:t>16</a:t>
            </a:fld>
            <a:endParaRPr lang="en-US">
              <a:latin typeface="Arial" charset="0"/>
              <a:cs typeface="Arial" charset="0"/>
            </a:endParaRPr>
          </a:p>
        </p:txBody>
      </p:sp>
    </p:spTree>
    <p:extLst>
      <p:ext uri="{BB962C8B-B14F-4D97-AF65-F5344CB8AC3E}">
        <p14:creationId xmlns:p14="http://schemas.microsoft.com/office/powerpoint/2010/main" val="1773612320"/>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pPr>
              <a:defRPr/>
            </a:pPr>
            <a:fld id="{AD7DC67C-8C92-4F85-AFD0-B67EC14B6C20}" type="slidenum">
              <a:rPr lang="en-US" smtClean="0"/>
              <a:pPr>
                <a:defRPr/>
              </a:pPr>
              <a:t>17</a:t>
            </a:fld>
            <a:endParaRPr lang="en-US"/>
          </a:p>
        </p:txBody>
      </p:sp>
    </p:spTree>
    <p:extLst>
      <p:ext uri="{BB962C8B-B14F-4D97-AF65-F5344CB8AC3E}">
        <p14:creationId xmlns:p14="http://schemas.microsoft.com/office/powerpoint/2010/main" val="119310980"/>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7106" name="Slide Image Placeholder 1"/>
          <p:cNvSpPr>
            <a:spLocks noGrp="1" noRot="1" noChangeAspect="1" noTextEdit="1"/>
          </p:cNvSpPr>
          <p:nvPr>
            <p:ph type="sldImg"/>
          </p:nvPr>
        </p:nvSpPr>
        <p:spPr bwMode="auto">
          <a:noFill/>
          <a:ln>
            <a:solidFill>
              <a:srgbClr val="000000"/>
            </a:solidFill>
            <a:miter lim="800000"/>
            <a:headEnd/>
            <a:tailEnd/>
          </a:ln>
        </p:spPr>
      </p:sp>
      <p:sp>
        <p:nvSpPr>
          <p:cNvPr id="47107" name="Notes Placeholder 2"/>
          <p:cNvSpPr>
            <a:spLocks noGrp="1"/>
          </p:cNvSpPr>
          <p:nvPr>
            <p:ph type="body" idx="1"/>
          </p:nvPr>
        </p:nvSpPr>
        <p:spPr bwMode="auto">
          <a:noFill/>
        </p:spPr>
        <p:txBody>
          <a:bodyPr wrap="square" numCol="1" anchor="t" anchorCtr="0" compatLnSpc="1">
            <a:prstTxWarp prst="textNoShape">
              <a:avLst/>
            </a:prstTxWarp>
          </a:bodyPr>
          <a:lstStyle/>
          <a:p>
            <a:r>
              <a:rPr lang="en-US"/>
              <a:t>f1 and f2 are last-defs of a at the f-side</a:t>
            </a:r>
          </a:p>
          <a:p>
            <a:r>
              <a:rPr lang="en-US"/>
              <a:t>f1 is the last-def of b at the f-side</a:t>
            </a:r>
          </a:p>
          <a:p>
            <a:r>
              <a:rPr lang="en-US"/>
              <a:t>g4,g5 are last-defs of g’s return.</a:t>
            </a:r>
          </a:p>
          <a:p>
            <a:endParaRPr lang="en-US"/>
          </a:p>
          <a:p>
            <a:r>
              <a:rPr lang="en-US"/>
              <a:t>g2 is first use of a at the g-side</a:t>
            </a:r>
          </a:p>
          <a:p>
            <a:r>
              <a:rPr lang="en-US"/>
              <a:t>g2 is first use of f’s b at the g-side</a:t>
            </a:r>
          </a:p>
          <a:p>
            <a:r>
              <a:rPr lang="en-US"/>
              <a:t>f4 is first use of g’s return at the f-side</a:t>
            </a:r>
          </a:p>
          <a:p>
            <a:endParaRPr lang="en-US"/>
          </a:p>
        </p:txBody>
      </p:sp>
      <p:sp>
        <p:nvSpPr>
          <p:cNvPr id="47108" name="Slide Number Placeholder 3"/>
          <p:cNvSpPr>
            <a:spLocks noGrp="1"/>
          </p:cNvSpPr>
          <p:nvPr>
            <p:ph type="sldNum" sz="quarter" idx="5"/>
          </p:nvPr>
        </p:nvSpPr>
        <p:spPr bwMode="auto">
          <a:noFill/>
          <a:ln>
            <a:miter lim="800000"/>
            <a:headEnd/>
            <a:tailEnd/>
          </a:ln>
        </p:spPr>
        <p:txBody>
          <a:bodyPr wrap="square" numCol="1" anchorCtr="0" compatLnSpc="1">
            <a:prstTxWarp prst="textNoShape">
              <a:avLst/>
            </a:prstTxWarp>
          </a:bodyPr>
          <a:lstStyle/>
          <a:p>
            <a:fld id="{E7A35C42-481E-4B4E-B0AD-A7723FEDC834}" type="slidenum">
              <a:rPr lang="en-US" smtClean="0">
                <a:latin typeface="Arial" charset="0"/>
                <a:cs typeface="Arial" charset="0"/>
              </a:rPr>
              <a:pPr/>
              <a:t>18</a:t>
            </a:fld>
            <a:endParaRPr lang="en-US">
              <a:latin typeface="Arial" charset="0"/>
              <a:cs typeface="Arial" charset="0"/>
            </a:endParaRPr>
          </a:p>
        </p:txBody>
      </p:sp>
    </p:spTree>
    <p:extLst>
      <p:ext uri="{BB962C8B-B14F-4D97-AF65-F5344CB8AC3E}">
        <p14:creationId xmlns:p14="http://schemas.microsoft.com/office/powerpoint/2010/main" val="2029241880"/>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8130" name="Slide Image Placeholder 1"/>
          <p:cNvSpPr>
            <a:spLocks noGrp="1" noRot="1" noChangeAspect="1" noTextEdit="1"/>
          </p:cNvSpPr>
          <p:nvPr>
            <p:ph type="sldImg"/>
          </p:nvPr>
        </p:nvSpPr>
        <p:spPr bwMode="auto">
          <a:noFill/>
          <a:ln>
            <a:solidFill>
              <a:srgbClr val="000000"/>
            </a:solidFill>
            <a:miter lim="800000"/>
            <a:headEnd/>
            <a:tailEnd/>
          </a:ln>
        </p:spPr>
      </p:sp>
      <p:sp>
        <p:nvSpPr>
          <p:cNvPr id="48131" name="Notes Placeholder 2"/>
          <p:cNvSpPr>
            <a:spLocks noGrp="1"/>
          </p:cNvSpPr>
          <p:nvPr>
            <p:ph type="body" idx="1"/>
          </p:nvPr>
        </p:nvSpPr>
        <p:spPr bwMode="auto">
          <a:noFill/>
        </p:spPr>
        <p:txBody>
          <a:bodyPr wrap="square" numCol="1" anchor="t" anchorCtr="0" compatLnSpc="1">
            <a:prstTxWarp prst="textNoShape">
              <a:avLst/>
            </a:prstTxWarp>
          </a:bodyPr>
          <a:lstStyle/>
          <a:p>
            <a:endParaRPr lang="en-US" dirty="0"/>
          </a:p>
        </p:txBody>
      </p:sp>
      <p:sp>
        <p:nvSpPr>
          <p:cNvPr id="48132" name="Slide Number Placeholder 3"/>
          <p:cNvSpPr>
            <a:spLocks noGrp="1"/>
          </p:cNvSpPr>
          <p:nvPr>
            <p:ph type="sldNum" sz="quarter" idx="5"/>
          </p:nvPr>
        </p:nvSpPr>
        <p:spPr bwMode="auto">
          <a:noFill/>
          <a:ln>
            <a:miter lim="800000"/>
            <a:headEnd/>
            <a:tailEnd/>
          </a:ln>
        </p:spPr>
        <p:txBody>
          <a:bodyPr wrap="square" numCol="1" anchorCtr="0" compatLnSpc="1">
            <a:prstTxWarp prst="textNoShape">
              <a:avLst/>
            </a:prstTxWarp>
          </a:bodyPr>
          <a:lstStyle/>
          <a:p>
            <a:fld id="{55EFCC61-B35A-4C68-AD6D-09938C81CFF1}" type="slidenum">
              <a:rPr lang="en-US" smtClean="0">
                <a:latin typeface="Arial" charset="0"/>
                <a:cs typeface="Arial" charset="0"/>
              </a:rPr>
              <a:pPr/>
              <a:t>20</a:t>
            </a:fld>
            <a:endParaRPr lang="en-US">
              <a:latin typeface="Arial" charset="0"/>
              <a:cs typeface="Arial" charset="0"/>
            </a:endParaRPr>
          </a:p>
        </p:txBody>
      </p:sp>
    </p:spTree>
    <p:extLst>
      <p:ext uri="{BB962C8B-B14F-4D97-AF65-F5344CB8AC3E}">
        <p14:creationId xmlns:p14="http://schemas.microsoft.com/office/powerpoint/2010/main" val="1280479153"/>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pPr>
              <a:defRPr/>
            </a:pPr>
            <a:fld id="{AD7DC67C-8C92-4F85-AFD0-B67EC14B6C20}" type="slidenum">
              <a:rPr lang="en-US" smtClean="0"/>
              <a:pPr>
                <a:defRPr/>
              </a:pPr>
              <a:t>22</a:t>
            </a:fld>
            <a:endParaRPr lang="en-US"/>
          </a:p>
        </p:txBody>
      </p:sp>
    </p:spTree>
    <p:extLst>
      <p:ext uri="{BB962C8B-B14F-4D97-AF65-F5344CB8AC3E}">
        <p14:creationId xmlns:p14="http://schemas.microsoft.com/office/powerpoint/2010/main" val="891418385"/>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9154" name="Slide Image Placeholder 1"/>
          <p:cNvSpPr>
            <a:spLocks noGrp="1" noRot="1" noChangeAspect="1" noTextEdit="1"/>
          </p:cNvSpPr>
          <p:nvPr>
            <p:ph type="sldImg"/>
          </p:nvPr>
        </p:nvSpPr>
        <p:spPr bwMode="auto">
          <a:noFill/>
          <a:ln>
            <a:solidFill>
              <a:srgbClr val="000000"/>
            </a:solidFill>
            <a:miter lim="800000"/>
            <a:headEnd/>
            <a:tailEnd/>
          </a:ln>
        </p:spPr>
      </p:sp>
      <p:sp>
        <p:nvSpPr>
          <p:cNvPr id="49155" name="Notes Placeholder 2"/>
          <p:cNvSpPr>
            <a:spLocks noGrp="1"/>
          </p:cNvSpPr>
          <p:nvPr>
            <p:ph type="body" idx="1"/>
          </p:nvPr>
        </p:nvSpPr>
        <p:spPr bwMode="auto">
          <a:noFill/>
        </p:spPr>
        <p:txBody>
          <a:bodyPr wrap="square" numCol="1" anchor="t" anchorCtr="0" compatLnSpc="1">
            <a:prstTxWarp prst="textNoShape">
              <a:avLst/>
            </a:prstTxWarp>
          </a:bodyPr>
          <a:lstStyle/>
          <a:p>
            <a:r>
              <a:rPr lang="en-US"/>
              <a:t>Or perhaps, the conclusion s that shadowing instance vars is just not a good programming practice.</a:t>
            </a:r>
          </a:p>
        </p:txBody>
      </p:sp>
      <p:sp>
        <p:nvSpPr>
          <p:cNvPr id="49156" name="Slide Number Placeholder 3"/>
          <p:cNvSpPr>
            <a:spLocks noGrp="1"/>
          </p:cNvSpPr>
          <p:nvPr>
            <p:ph type="sldNum" sz="quarter" idx="5"/>
          </p:nvPr>
        </p:nvSpPr>
        <p:spPr bwMode="auto">
          <a:noFill/>
          <a:ln>
            <a:miter lim="800000"/>
            <a:headEnd/>
            <a:tailEnd/>
          </a:ln>
        </p:spPr>
        <p:txBody>
          <a:bodyPr wrap="square" numCol="1" anchorCtr="0" compatLnSpc="1">
            <a:prstTxWarp prst="textNoShape">
              <a:avLst/>
            </a:prstTxWarp>
          </a:bodyPr>
          <a:lstStyle/>
          <a:p>
            <a:fld id="{6D2DB971-6BF3-43DB-8071-E157C55B640C}" type="slidenum">
              <a:rPr lang="en-US" smtClean="0">
                <a:latin typeface="Arial" charset="0"/>
                <a:cs typeface="Arial" charset="0"/>
              </a:rPr>
              <a:pPr/>
              <a:t>24</a:t>
            </a:fld>
            <a:endParaRPr lang="en-US">
              <a:latin typeface="Arial" charset="0"/>
              <a:cs typeface="Arial" charset="0"/>
            </a:endParaRPr>
          </a:p>
        </p:txBody>
      </p:sp>
    </p:spTree>
    <p:extLst>
      <p:ext uri="{BB962C8B-B14F-4D97-AF65-F5344CB8AC3E}">
        <p14:creationId xmlns:p14="http://schemas.microsoft.com/office/powerpoint/2010/main" val="1079497884"/>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normAutofit/>
          </a:bodyPr>
          <a:lstStyle/>
          <a:p>
            <a:endParaRPr lang="en-US" dirty="0"/>
          </a:p>
        </p:txBody>
      </p:sp>
      <p:sp>
        <p:nvSpPr>
          <p:cNvPr id="4" name="Slide Number Placeholder 3"/>
          <p:cNvSpPr>
            <a:spLocks noGrp="1"/>
          </p:cNvSpPr>
          <p:nvPr>
            <p:ph type="sldNum" sz="quarter" idx="10"/>
          </p:nvPr>
        </p:nvSpPr>
        <p:spPr/>
        <p:txBody>
          <a:bodyPr/>
          <a:lstStyle/>
          <a:p>
            <a:pPr>
              <a:defRPr/>
            </a:pPr>
            <a:fld id="{AD7DC67C-8C92-4F85-AFD0-B67EC14B6C20}" type="slidenum">
              <a:rPr lang="en-US" smtClean="0"/>
              <a:pPr>
                <a:defRPr/>
              </a:pPr>
              <a:t>25</a:t>
            </a:fld>
            <a:endParaRPr lang="en-US"/>
          </a:p>
        </p:txBody>
      </p:sp>
    </p:spTree>
    <p:extLst>
      <p:ext uri="{BB962C8B-B14F-4D97-AF65-F5344CB8AC3E}">
        <p14:creationId xmlns:p14="http://schemas.microsoft.com/office/powerpoint/2010/main" val="1179086532"/>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a:t>
            </a:r>
            <a:r>
              <a:rPr lang="en-US" baseline="0" dirty="0"/>
              <a:t> use base() instead of super()</a:t>
            </a:r>
            <a:br>
              <a:rPr lang="en-US" baseline="0" dirty="0"/>
            </a:br>
            <a:r>
              <a:rPr lang="en-US" baseline="0" dirty="0"/>
              <a:t>and </a:t>
            </a:r>
            <a:r>
              <a:rPr lang="en-US" baseline="0" dirty="0" err="1"/>
              <a:t>base.m</a:t>
            </a:r>
            <a:r>
              <a:rPr lang="en-US" baseline="0" dirty="0"/>
              <a:t>(x) instead of </a:t>
            </a:r>
            <a:r>
              <a:rPr lang="en-US" baseline="0" dirty="0" err="1"/>
              <a:t>super.m</a:t>
            </a:r>
            <a:r>
              <a:rPr lang="en-US" baseline="0" dirty="0"/>
              <a:t>(x)</a:t>
            </a:r>
            <a:endParaRPr lang="en-US" dirty="0"/>
          </a:p>
        </p:txBody>
      </p:sp>
      <p:sp>
        <p:nvSpPr>
          <p:cNvPr id="4" name="Slide Number Placeholder 3"/>
          <p:cNvSpPr>
            <a:spLocks noGrp="1"/>
          </p:cNvSpPr>
          <p:nvPr>
            <p:ph type="sldNum" sz="quarter" idx="10"/>
          </p:nvPr>
        </p:nvSpPr>
        <p:spPr/>
        <p:txBody>
          <a:bodyPr/>
          <a:lstStyle/>
          <a:p>
            <a:pPr>
              <a:defRPr/>
            </a:pPr>
            <a:fld id="{AD7DC67C-8C92-4F85-AFD0-B67EC14B6C20}" type="slidenum">
              <a:rPr lang="en-US" smtClean="0"/>
              <a:pPr>
                <a:defRPr/>
              </a:pPr>
              <a:t>26</a:t>
            </a:fld>
            <a:endParaRPr lang="en-US"/>
          </a:p>
        </p:txBody>
      </p:sp>
    </p:spTree>
    <p:extLst>
      <p:ext uri="{BB962C8B-B14F-4D97-AF65-F5344CB8AC3E}">
        <p14:creationId xmlns:p14="http://schemas.microsoft.com/office/powerpoint/2010/main" val="60745762"/>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0178" name="Slide Image Placeholder 1"/>
          <p:cNvSpPr>
            <a:spLocks noGrp="1" noRot="1" noChangeAspect="1" noTextEdit="1"/>
          </p:cNvSpPr>
          <p:nvPr>
            <p:ph type="sldImg"/>
          </p:nvPr>
        </p:nvSpPr>
        <p:spPr bwMode="auto">
          <a:noFill/>
          <a:ln>
            <a:solidFill>
              <a:srgbClr val="000000"/>
            </a:solidFill>
            <a:miter lim="800000"/>
            <a:headEnd/>
            <a:tailEnd/>
          </a:ln>
        </p:spPr>
      </p:sp>
      <p:sp>
        <p:nvSpPr>
          <p:cNvPr id="50179" name="Notes Placeholder 2"/>
          <p:cNvSpPr>
            <a:spLocks noGrp="1"/>
          </p:cNvSpPr>
          <p:nvPr>
            <p:ph type="body" idx="1"/>
          </p:nvPr>
        </p:nvSpPr>
        <p:spPr bwMode="auto">
          <a:noFill/>
        </p:spPr>
        <p:txBody>
          <a:bodyPr wrap="square" numCol="1" anchor="t" anchorCtr="0" compatLnSpc="1">
            <a:prstTxWarp prst="textNoShape">
              <a:avLst/>
            </a:prstTxWarp>
          </a:bodyPr>
          <a:lstStyle/>
          <a:p>
            <a:r>
              <a:rPr lang="en-US" dirty="0"/>
              <a:t>In C#: assume</a:t>
            </a:r>
            <a:r>
              <a:rPr lang="en-US" baseline="0" dirty="0"/>
              <a:t> </a:t>
            </a:r>
            <a:r>
              <a:rPr lang="en-US" baseline="0" dirty="0" err="1"/>
              <a:t>i</a:t>
            </a:r>
            <a:r>
              <a:rPr lang="en-US" baseline="0" dirty="0"/>
              <a:t>() to be a virtual method.</a:t>
            </a:r>
          </a:p>
          <a:p>
            <a:endParaRPr lang="en-US" baseline="0" dirty="0"/>
          </a:p>
          <a:p>
            <a:r>
              <a:rPr lang="en-US" baseline="0" dirty="0"/>
              <a:t>Yoyo behavior occurs when methods of a class C interact with methods of its super classes. E.g. because C </a:t>
            </a:r>
            <a:r>
              <a:rPr lang="en-US" baseline="0" dirty="0" err="1"/>
              <a:t>overides</a:t>
            </a:r>
            <a:r>
              <a:rPr lang="en-US" baseline="0" dirty="0"/>
              <a:t> some methods.</a:t>
            </a:r>
            <a:br>
              <a:rPr lang="en-US" baseline="0" dirty="0"/>
            </a:br>
            <a:r>
              <a:rPr lang="en-US" baseline="0" dirty="0"/>
              <a:t>Yoyo behavior is often tricky and may not be tested enough in usual unit testing.</a:t>
            </a:r>
            <a:endParaRPr lang="en-US" dirty="0"/>
          </a:p>
        </p:txBody>
      </p:sp>
      <p:sp>
        <p:nvSpPr>
          <p:cNvPr id="50180" name="Slide Number Placeholder 3"/>
          <p:cNvSpPr>
            <a:spLocks noGrp="1"/>
          </p:cNvSpPr>
          <p:nvPr>
            <p:ph type="sldNum" sz="quarter" idx="5"/>
          </p:nvPr>
        </p:nvSpPr>
        <p:spPr bwMode="auto">
          <a:noFill/>
          <a:ln>
            <a:miter lim="800000"/>
            <a:headEnd/>
            <a:tailEnd/>
          </a:ln>
        </p:spPr>
        <p:txBody>
          <a:bodyPr wrap="square" numCol="1" anchorCtr="0" compatLnSpc="1">
            <a:prstTxWarp prst="textNoShape">
              <a:avLst/>
            </a:prstTxWarp>
          </a:bodyPr>
          <a:lstStyle/>
          <a:p>
            <a:fld id="{8E928582-93B0-4287-BD77-DA0588AC9DF1}" type="slidenum">
              <a:rPr lang="en-US" smtClean="0">
                <a:latin typeface="Arial" charset="0"/>
                <a:cs typeface="Arial" charset="0"/>
              </a:rPr>
              <a:pPr/>
              <a:t>29</a:t>
            </a:fld>
            <a:endParaRPr lang="en-US">
              <a:latin typeface="Arial" charset="0"/>
              <a:cs typeface="Arial" charset="0"/>
            </a:endParaRPr>
          </a:p>
        </p:txBody>
      </p:sp>
    </p:spTree>
    <p:extLst>
      <p:ext uri="{BB962C8B-B14F-4D97-AF65-F5344CB8AC3E}">
        <p14:creationId xmlns:p14="http://schemas.microsoft.com/office/powerpoint/2010/main" val="2075732455"/>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3250" name="Slide Image Placeholder 1"/>
          <p:cNvSpPr>
            <a:spLocks noGrp="1" noRot="1" noChangeAspect="1" noTextEdit="1"/>
          </p:cNvSpPr>
          <p:nvPr>
            <p:ph type="sldImg"/>
          </p:nvPr>
        </p:nvSpPr>
        <p:spPr bwMode="auto">
          <a:noFill/>
          <a:ln>
            <a:solidFill>
              <a:srgbClr val="000000"/>
            </a:solidFill>
            <a:miter lim="800000"/>
            <a:headEnd/>
            <a:tailEnd/>
          </a:ln>
        </p:spPr>
      </p:sp>
      <p:sp>
        <p:nvSpPr>
          <p:cNvPr id="53251" name="Notes Placeholder 2"/>
          <p:cNvSpPr>
            <a:spLocks noGrp="1"/>
          </p:cNvSpPr>
          <p:nvPr>
            <p:ph type="body" idx="1"/>
          </p:nvPr>
        </p:nvSpPr>
        <p:spPr bwMode="auto">
          <a:noFill/>
        </p:spPr>
        <p:txBody>
          <a:bodyPr wrap="square" numCol="1" anchor="t" anchorCtr="0" compatLnSpc="1">
            <a:prstTxWarp prst="textNoShape">
              <a:avLst/>
            </a:prstTxWarp>
          </a:bodyPr>
          <a:lstStyle/>
          <a:p>
            <a:endParaRPr lang="en-US"/>
          </a:p>
        </p:txBody>
      </p:sp>
      <p:sp>
        <p:nvSpPr>
          <p:cNvPr id="53252" name="Slide Number Placeholder 3"/>
          <p:cNvSpPr>
            <a:spLocks noGrp="1"/>
          </p:cNvSpPr>
          <p:nvPr>
            <p:ph type="sldNum" sz="quarter" idx="5"/>
          </p:nvPr>
        </p:nvSpPr>
        <p:spPr bwMode="auto">
          <a:noFill/>
          <a:ln>
            <a:miter lim="800000"/>
            <a:headEnd/>
            <a:tailEnd/>
          </a:ln>
        </p:spPr>
        <p:txBody>
          <a:bodyPr wrap="square" numCol="1" anchorCtr="0" compatLnSpc="1">
            <a:prstTxWarp prst="textNoShape">
              <a:avLst/>
            </a:prstTxWarp>
          </a:bodyPr>
          <a:lstStyle/>
          <a:p>
            <a:fld id="{82E88D2D-DE6F-416F-86F2-ADB1F0E1FE68}" type="slidenum">
              <a:rPr lang="en-US" smtClean="0">
                <a:latin typeface="Arial" charset="0"/>
                <a:cs typeface="Arial" charset="0"/>
              </a:rPr>
              <a:pPr/>
              <a:t>31</a:t>
            </a:fld>
            <a:endParaRPr lang="en-US">
              <a:latin typeface="Arial" charset="0"/>
              <a:cs typeface="Arial" charset="0"/>
            </a:endParaRPr>
          </a:p>
        </p:txBody>
      </p:sp>
    </p:spTree>
    <p:extLst>
      <p:ext uri="{BB962C8B-B14F-4D97-AF65-F5344CB8AC3E}">
        <p14:creationId xmlns:p14="http://schemas.microsoft.com/office/powerpoint/2010/main" val="968434185"/>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4274" name="Slide Image Placeholder 1"/>
          <p:cNvSpPr>
            <a:spLocks noGrp="1" noRot="1" noChangeAspect="1" noTextEdit="1"/>
          </p:cNvSpPr>
          <p:nvPr>
            <p:ph type="sldImg"/>
          </p:nvPr>
        </p:nvSpPr>
        <p:spPr bwMode="auto">
          <a:noFill/>
          <a:ln>
            <a:solidFill>
              <a:srgbClr val="000000"/>
            </a:solidFill>
            <a:miter lim="800000"/>
            <a:headEnd/>
            <a:tailEnd/>
          </a:ln>
        </p:spPr>
      </p:sp>
      <p:sp>
        <p:nvSpPr>
          <p:cNvPr id="54275" name="Notes Placeholder 2"/>
          <p:cNvSpPr>
            <a:spLocks noGrp="1"/>
          </p:cNvSpPr>
          <p:nvPr>
            <p:ph type="body" idx="1"/>
          </p:nvPr>
        </p:nvSpPr>
        <p:spPr bwMode="auto">
          <a:noFill/>
        </p:spPr>
        <p:txBody>
          <a:bodyPr wrap="square" numCol="1" anchor="t" anchorCtr="0" compatLnSpc="1">
            <a:prstTxWarp prst="textNoShape">
              <a:avLst/>
            </a:prstTxWarp>
          </a:bodyPr>
          <a:lstStyle/>
          <a:p>
            <a:endParaRPr lang="en-US" dirty="0"/>
          </a:p>
        </p:txBody>
      </p:sp>
      <p:sp>
        <p:nvSpPr>
          <p:cNvPr id="54276" name="Slide Number Placeholder 3"/>
          <p:cNvSpPr>
            <a:spLocks noGrp="1"/>
          </p:cNvSpPr>
          <p:nvPr>
            <p:ph type="sldNum" sz="quarter" idx="5"/>
          </p:nvPr>
        </p:nvSpPr>
        <p:spPr bwMode="auto">
          <a:noFill/>
          <a:ln>
            <a:miter lim="800000"/>
            <a:headEnd/>
            <a:tailEnd/>
          </a:ln>
        </p:spPr>
        <p:txBody>
          <a:bodyPr wrap="square" numCol="1" anchorCtr="0" compatLnSpc="1">
            <a:prstTxWarp prst="textNoShape">
              <a:avLst/>
            </a:prstTxWarp>
          </a:bodyPr>
          <a:lstStyle/>
          <a:p>
            <a:fld id="{91B5610C-1548-44B1-AF8B-58A43EF5EACA}" type="slidenum">
              <a:rPr lang="en-US" smtClean="0">
                <a:latin typeface="Arial" charset="0"/>
                <a:cs typeface="Arial" charset="0"/>
              </a:rPr>
              <a:pPr/>
              <a:t>32</a:t>
            </a:fld>
            <a:endParaRPr lang="en-US">
              <a:latin typeface="Arial" charset="0"/>
              <a:cs typeface="Arial" charset="0"/>
            </a:endParaRPr>
          </a:p>
        </p:txBody>
      </p:sp>
    </p:spTree>
    <p:extLst>
      <p:ext uri="{BB962C8B-B14F-4D97-AF65-F5344CB8AC3E}">
        <p14:creationId xmlns:p14="http://schemas.microsoft.com/office/powerpoint/2010/main" val="1901307387"/>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5298" name="Slide Image Placeholder 1"/>
          <p:cNvSpPr>
            <a:spLocks noGrp="1" noRot="1" noChangeAspect="1" noTextEdit="1"/>
          </p:cNvSpPr>
          <p:nvPr>
            <p:ph type="sldImg"/>
          </p:nvPr>
        </p:nvSpPr>
        <p:spPr bwMode="auto">
          <a:noFill/>
          <a:ln>
            <a:solidFill>
              <a:srgbClr val="000000"/>
            </a:solidFill>
            <a:miter lim="800000"/>
            <a:headEnd/>
            <a:tailEnd/>
          </a:ln>
        </p:spPr>
      </p:sp>
      <p:sp>
        <p:nvSpPr>
          <p:cNvPr id="55299" name="Notes Placeholder 2"/>
          <p:cNvSpPr>
            <a:spLocks noGrp="1"/>
          </p:cNvSpPr>
          <p:nvPr>
            <p:ph type="body" idx="1"/>
          </p:nvPr>
        </p:nvSpPr>
        <p:spPr bwMode="auto">
          <a:noFill/>
        </p:spPr>
        <p:txBody>
          <a:bodyPr wrap="square" numCol="1" anchor="t" anchorCtr="0" compatLnSpc="1">
            <a:prstTxWarp prst="textNoShape">
              <a:avLst/>
            </a:prstTxWarp>
          </a:bodyPr>
          <a:lstStyle/>
          <a:p>
            <a:endParaRPr lang="en-US"/>
          </a:p>
        </p:txBody>
      </p:sp>
      <p:sp>
        <p:nvSpPr>
          <p:cNvPr id="55300" name="Slide Number Placeholder 3"/>
          <p:cNvSpPr>
            <a:spLocks noGrp="1"/>
          </p:cNvSpPr>
          <p:nvPr>
            <p:ph type="sldNum" sz="quarter" idx="5"/>
          </p:nvPr>
        </p:nvSpPr>
        <p:spPr bwMode="auto">
          <a:noFill/>
          <a:ln>
            <a:miter lim="800000"/>
            <a:headEnd/>
            <a:tailEnd/>
          </a:ln>
        </p:spPr>
        <p:txBody>
          <a:bodyPr wrap="square" numCol="1" anchorCtr="0" compatLnSpc="1">
            <a:prstTxWarp prst="textNoShape">
              <a:avLst/>
            </a:prstTxWarp>
          </a:bodyPr>
          <a:lstStyle/>
          <a:p>
            <a:fld id="{6532FD59-A385-497C-A55C-B93D24C9E9F8}" type="slidenum">
              <a:rPr lang="en-US" smtClean="0">
                <a:latin typeface="Arial" charset="0"/>
                <a:cs typeface="Arial" charset="0"/>
              </a:rPr>
              <a:pPr/>
              <a:t>34</a:t>
            </a:fld>
            <a:endParaRPr lang="en-US">
              <a:latin typeface="Arial" charset="0"/>
              <a:cs typeface="Arial" charset="0"/>
            </a:endParaRPr>
          </a:p>
        </p:txBody>
      </p:sp>
    </p:spTree>
    <p:extLst>
      <p:ext uri="{BB962C8B-B14F-4D97-AF65-F5344CB8AC3E}">
        <p14:creationId xmlns:p14="http://schemas.microsoft.com/office/powerpoint/2010/main" val="1411175635"/>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NL" dirty="0"/>
          </a:p>
        </p:txBody>
      </p:sp>
      <p:sp>
        <p:nvSpPr>
          <p:cNvPr id="4" name="Slide Number Placeholder 3"/>
          <p:cNvSpPr>
            <a:spLocks noGrp="1"/>
          </p:cNvSpPr>
          <p:nvPr>
            <p:ph type="sldNum" sz="quarter" idx="5"/>
          </p:nvPr>
        </p:nvSpPr>
        <p:spPr/>
        <p:txBody>
          <a:bodyPr/>
          <a:lstStyle/>
          <a:p>
            <a:pPr>
              <a:defRPr/>
            </a:pPr>
            <a:fld id="{AD7DC67C-8C92-4F85-AFD0-B67EC14B6C20}" type="slidenum">
              <a:rPr lang="en-US" smtClean="0"/>
              <a:pPr>
                <a:defRPr/>
              </a:pPr>
              <a:t>36</a:t>
            </a:fld>
            <a:endParaRPr lang="en-US"/>
          </a:p>
        </p:txBody>
      </p:sp>
    </p:spTree>
    <p:extLst>
      <p:ext uri="{BB962C8B-B14F-4D97-AF65-F5344CB8AC3E}">
        <p14:creationId xmlns:p14="http://schemas.microsoft.com/office/powerpoint/2010/main" val="2867681709"/>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NL" dirty="0"/>
          </a:p>
        </p:txBody>
      </p:sp>
      <p:sp>
        <p:nvSpPr>
          <p:cNvPr id="4" name="Slide Number Placeholder 3"/>
          <p:cNvSpPr>
            <a:spLocks noGrp="1"/>
          </p:cNvSpPr>
          <p:nvPr>
            <p:ph type="sldNum" sz="quarter" idx="5"/>
          </p:nvPr>
        </p:nvSpPr>
        <p:spPr/>
        <p:txBody>
          <a:bodyPr/>
          <a:lstStyle/>
          <a:p>
            <a:pPr>
              <a:defRPr/>
            </a:pPr>
            <a:fld id="{AD7DC67C-8C92-4F85-AFD0-B67EC14B6C20}" type="slidenum">
              <a:rPr lang="en-US" smtClean="0"/>
              <a:pPr>
                <a:defRPr/>
              </a:pPr>
              <a:t>37</a:t>
            </a:fld>
            <a:endParaRPr lang="en-US"/>
          </a:p>
        </p:txBody>
      </p:sp>
    </p:spTree>
    <p:extLst>
      <p:ext uri="{BB962C8B-B14F-4D97-AF65-F5344CB8AC3E}">
        <p14:creationId xmlns:p14="http://schemas.microsoft.com/office/powerpoint/2010/main" val="2993811254"/>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6322" name="Slide Image Placeholder 1"/>
          <p:cNvSpPr>
            <a:spLocks noGrp="1" noRot="1" noChangeAspect="1" noTextEdit="1"/>
          </p:cNvSpPr>
          <p:nvPr>
            <p:ph type="sldImg"/>
          </p:nvPr>
        </p:nvSpPr>
        <p:spPr bwMode="auto">
          <a:noFill/>
          <a:ln>
            <a:solidFill>
              <a:srgbClr val="000000"/>
            </a:solidFill>
            <a:miter lim="800000"/>
            <a:headEnd/>
            <a:tailEnd/>
          </a:ln>
        </p:spPr>
      </p:sp>
      <p:sp>
        <p:nvSpPr>
          <p:cNvPr id="56323" name="Notes Placeholder 2"/>
          <p:cNvSpPr>
            <a:spLocks noGrp="1"/>
          </p:cNvSpPr>
          <p:nvPr>
            <p:ph type="body" idx="1"/>
          </p:nvPr>
        </p:nvSpPr>
        <p:spPr bwMode="auto">
          <a:noFill/>
        </p:spPr>
        <p:txBody>
          <a:bodyPr wrap="square" numCol="1" anchor="t" anchorCtr="0" compatLnSpc="1">
            <a:prstTxWarp prst="textNoShape">
              <a:avLst/>
            </a:prstTxWarp>
          </a:bodyPr>
          <a:lstStyle/>
          <a:p>
            <a:r>
              <a:rPr lang="en-US"/>
              <a:t>To note on the above diagram:</a:t>
            </a:r>
          </a:p>
          <a:p>
            <a:endParaRPr lang="en-US"/>
          </a:p>
          <a:p>
            <a:r>
              <a:rPr lang="en-US"/>
              <a:t>Different types of the context o gives different coupling variables as well as coupling paths.</a:t>
            </a:r>
          </a:p>
        </p:txBody>
      </p:sp>
      <p:sp>
        <p:nvSpPr>
          <p:cNvPr id="56324" name="Slide Number Placeholder 3"/>
          <p:cNvSpPr>
            <a:spLocks noGrp="1"/>
          </p:cNvSpPr>
          <p:nvPr>
            <p:ph type="sldNum" sz="quarter" idx="5"/>
          </p:nvPr>
        </p:nvSpPr>
        <p:spPr bwMode="auto">
          <a:noFill/>
          <a:ln>
            <a:miter lim="800000"/>
            <a:headEnd/>
            <a:tailEnd/>
          </a:ln>
        </p:spPr>
        <p:txBody>
          <a:bodyPr wrap="square" numCol="1" anchorCtr="0" compatLnSpc="1">
            <a:prstTxWarp prst="textNoShape">
              <a:avLst/>
            </a:prstTxWarp>
          </a:bodyPr>
          <a:lstStyle/>
          <a:p>
            <a:fld id="{71BEDDAE-976C-44E9-A978-A472C5BB9871}" type="slidenum">
              <a:rPr lang="en-US" smtClean="0">
                <a:latin typeface="Arial" charset="0"/>
                <a:cs typeface="Arial" charset="0"/>
              </a:rPr>
              <a:pPr/>
              <a:t>38</a:t>
            </a:fld>
            <a:endParaRPr lang="en-US">
              <a:latin typeface="Arial" charset="0"/>
              <a:cs typeface="Arial" charset="0"/>
            </a:endParaRPr>
          </a:p>
        </p:txBody>
      </p:sp>
    </p:spTree>
    <p:extLst>
      <p:ext uri="{BB962C8B-B14F-4D97-AF65-F5344CB8AC3E}">
        <p14:creationId xmlns:p14="http://schemas.microsoft.com/office/powerpoint/2010/main" val="819499977"/>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00174"/>
            <a:ext cx="7772400" cy="2357454"/>
          </a:xfrm>
          <a:noFill/>
          <a:ln w="12700">
            <a:solidFill>
              <a:schemeClr val="accent1"/>
            </a:solidFill>
          </a:ln>
        </p:spPr>
        <p:txBody>
          <a:bodyPr/>
          <a:lstStyle/>
          <a:p>
            <a:r>
              <a:rPr lang="en-US"/>
              <a:t>Click to edit Master title style</a:t>
            </a:r>
          </a:p>
        </p:txBody>
      </p:sp>
      <p:sp>
        <p:nvSpPr>
          <p:cNvPr id="3" name="Subtitle 2"/>
          <p:cNvSpPr>
            <a:spLocks noGrp="1"/>
          </p:cNvSpPr>
          <p:nvPr>
            <p:ph type="subTitle" idx="1"/>
          </p:nvPr>
        </p:nvSpPr>
        <p:spPr>
          <a:xfrm>
            <a:off x="1371600" y="4071942"/>
            <a:ext cx="6400800" cy="1785950"/>
          </a:xfrm>
        </p:spPr>
        <p:txBody>
          <a:bodyPr/>
          <a:lstStyle>
            <a:lvl1pPr marL="0" indent="0" algn="ctr">
              <a:buNone/>
              <a:defRPr i="1">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endParaRPr lang="en-US" dirty="0"/>
          </a:p>
        </p:txBody>
      </p:sp>
      <p:sp>
        <p:nvSpPr>
          <p:cNvPr id="4" name="Date Placeholder 3"/>
          <p:cNvSpPr>
            <a:spLocks noGrp="1"/>
          </p:cNvSpPr>
          <p:nvPr>
            <p:ph type="dt" sz="half" idx="10"/>
          </p:nvPr>
        </p:nvSpPr>
        <p:spPr/>
        <p:txBody>
          <a:bodyPr/>
          <a:lstStyle>
            <a:lvl1pPr>
              <a:defRPr/>
            </a:lvl1pPr>
          </a:lstStyle>
          <a:p>
            <a:pPr>
              <a:defRPr/>
            </a:pPr>
            <a:fld id="{F5B0760D-9EDB-6145-9174-4A7B59914D4C}" type="datetime1">
              <a:rPr lang="en-US" smtClean="0"/>
              <a:t>4/16/26</a:t>
            </a:fld>
            <a:endParaRPr lang="en-US"/>
          </a:p>
        </p:txBody>
      </p:sp>
      <p:sp>
        <p:nvSpPr>
          <p:cNvPr id="5" name="Footer Placeholder 4"/>
          <p:cNvSpPr>
            <a:spLocks noGrp="1"/>
          </p:cNvSpPr>
          <p:nvPr>
            <p:ph type="ftr" sz="quarter" idx="11"/>
          </p:nvPr>
        </p:nvSpPr>
        <p:spPr/>
        <p:txBody>
          <a:bodyPr/>
          <a:lstStyle>
            <a:lvl1pPr>
              <a:defRPr/>
            </a:lvl1pPr>
          </a:lstStyle>
          <a:p>
            <a:pPr>
              <a:defRPr/>
            </a:pPr>
            <a:endParaRPr lang="en-US"/>
          </a:p>
        </p:txBody>
      </p:sp>
      <p:sp>
        <p:nvSpPr>
          <p:cNvPr id="6" name="Slide Number Placeholder 5"/>
          <p:cNvSpPr>
            <a:spLocks noGrp="1"/>
          </p:cNvSpPr>
          <p:nvPr>
            <p:ph type="sldNum" sz="quarter" idx="12"/>
          </p:nvPr>
        </p:nvSpPr>
        <p:spPr/>
        <p:txBody>
          <a:bodyPr/>
          <a:lstStyle>
            <a:lvl1pPr>
              <a:defRPr/>
            </a:lvl1pPr>
          </a:lstStyle>
          <a:p>
            <a:pPr>
              <a:defRPr/>
            </a:pPr>
            <a:fld id="{A5575428-F700-4368-9997-67485B66634F}" type="slidenum">
              <a:rPr lang="en-US"/>
              <a:pPr>
                <a:defRPr/>
              </a:pPr>
              <a:t>‹#›</a:t>
            </a:fld>
            <a:endParaRPr lang="en-US"/>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a:ln w="12700">
            <a:solidFill>
              <a:schemeClr val="accent1"/>
            </a:solidFill>
          </a:ln>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lvl1pPr>
              <a:defRPr/>
            </a:lvl1pPr>
          </a:lstStyle>
          <a:p>
            <a:pPr>
              <a:defRPr/>
            </a:pPr>
            <a:fld id="{BA16B4DC-B182-D642-9018-6194AC7CB889}" type="datetime1">
              <a:rPr lang="en-US" smtClean="0"/>
              <a:t>4/16/26</a:t>
            </a:fld>
            <a:endParaRPr lang="en-US"/>
          </a:p>
        </p:txBody>
      </p:sp>
      <p:sp>
        <p:nvSpPr>
          <p:cNvPr id="5" name="Footer Placeholder 4"/>
          <p:cNvSpPr>
            <a:spLocks noGrp="1"/>
          </p:cNvSpPr>
          <p:nvPr>
            <p:ph type="ftr" sz="quarter" idx="11"/>
          </p:nvPr>
        </p:nvSpPr>
        <p:spPr/>
        <p:txBody>
          <a:bodyPr/>
          <a:lstStyle>
            <a:lvl1pPr>
              <a:defRPr/>
            </a:lvl1pPr>
          </a:lstStyle>
          <a:p>
            <a:pPr>
              <a:defRPr/>
            </a:pPr>
            <a:endParaRPr lang="en-US"/>
          </a:p>
        </p:txBody>
      </p:sp>
      <p:sp>
        <p:nvSpPr>
          <p:cNvPr id="6" name="Slide Number Placeholder 5"/>
          <p:cNvSpPr>
            <a:spLocks noGrp="1"/>
          </p:cNvSpPr>
          <p:nvPr>
            <p:ph type="sldNum" sz="quarter" idx="12"/>
          </p:nvPr>
        </p:nvSpPr>
        <p:spPr/>
        <p:txBody>
          <a:bodyPr/>
          <a:lstStyle>
            <a:lvl1pPr>
              <a:defRPr/>
            </a:lvl1pPr>
          </a:lstStyle>
          <a:p>
            <a:pPr>
              <a:defRPr/>
            </a:pPr>
            <a:fld id="{F51486F7-ACCF-4DB7-BBF3-9BC4B709FB28}" type="slidenum">
              <a:rPr lang="en-US"/>
              <a:pPr>
                <a:defRPr/>
              </a:pPr>
              <a:t>‹#›</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lvl1pPr>
              <a:defRPr/>
            </a:lvl1pPr>
          </a:lstStyle>
          <a:p>
            <a:pPr>
              <a:defRPr/>
            </a:pPr>
            <a:fld id="{94096261-A2DB-0C4C-B809-F5FBB409C63D}" type="datetime1">
              <a:rPr lang="en-US" smtClean="0"/>
              <a:t>4/16/26</a:t>
            </a:fld>
            <a:endParaRPr lang="en-US"/>
          </a:p>
        </p:txBody>
      </p:sp>
      <p:sp>
        <p:nvSpPr>
          <p:cNvPr id="5" name="Footer Placeholder 4"/>
          <p:cNvSpPr>
            <a:spLocks noGrp="1"/>
          </p:cNvSpPr>
          <p:nvPr>
            <p:ph type="ftr" sz="quarter" idx="11"/>
          </p:nvPr>
        </p:nvSpPr>
        <p:spPr/>
        <p:txBody>
          <a:bodyPr/>
          <a:lstStyle>
            <a:lvl1pPr>
              <a:defRPr/>
            </a:lvl1pPr>
          </a:lstStyle>
          <a:p>
            <a:pPr>
              <a:defRPr/>
            </a:pPr>
            <a:endParaRPr lang="en-US"/>
          </a:p>
        </p:txBody>
      </p:sp>
      <p:sp>
        <p:nvSpPr>
          <p:cNvPr id="6" name="Slide Number Placeholder 5"/>
          <p:cNvSpPr>
            <a:spLocks noGrp="1"/>
          </p:cNvSpPr>
          <p:nvPr>
            <p:ph type="sldNum" sz="quarter" idx="12"/>
          </p:nvPr>
        </p:nvSpPr>
        <p:spPr/>
        <p:txBody>
          <a:bodyPr/>
          <a:lstStyle>
            <a:lvl1pPr>
              <a:defRPr/>
            </a:lvl1pPr>
          </a:lstStyle>
          <a:p>
            <a:pPr>
              <a:defRPr/>
            </a:pPr>
            <a:fld id="{C821910E-ABFC-4F94-84F5-0BB00FBDD58D}" type="slidenum">
              <a:rPr lang="en-US"/>
              <a:pPr>
                <a:defRPr/>
              </a:pPr>
              <a:t>‹#›</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3"/>
          <p:cNvSpPr>
            <a:spLocks noGrp="1"/>
          </p:cNvSpPr>
          <p:nvPr>
            <p:ph type="dt" sz="half" idx="10"/>
          </p:nvPr>
        </p:nvSpPr>
        <p:spPr/>
        <p:txBody>
          <a:bodyPr/>
          <a:lstStyle>
            <a:lvl1pPr>
              <a:defRPr/>
            </a:lvl1pPr>
          </a:lstStyle>
          <a:p>
            <a:pPr>
              <a:defRPr/>
            </a:pPr>
            <a:fld id="{69376123-B273-594B-85F0-BBCA522E28D4}" type="datetime1">
              <a:rPr lang="en-US" smtClean="0"/>
              <a:t>4/16/26</a:t>
            </a:fld>
            <a:endParaRPr lang="en-US"/>
          </a:p>
        </p:txBody>
      </p:sp>
      <p:sp>
        <p:nvSpPr>
          <p:cNvPr id="6" name="Footer Placeholder 4"/>
          <p:cNvSpPr>
            <a:spLocks noGrp="1"/>
          </p:cNvSpPr>
          <p:nvPr>
            <p:ph type="ftr" sz="quarter" idx="11"/>
          </p:nvPr>
        </p:nvSpPr>
        <p:spPr/>
        <p:txBody>
          <a:bodyPr/>
          <a:lstStyle>
            <a:lvl1pPr>
              <a:defRPr/>
            </a:lvl1pPr>
          </a:lstStyle>
          <a:p>
            <a:pPr>
              <a:defRPr/>
            </a:pPr>
            <a:endParaRPr lang="en-US"/>
          </a:p>
        </p:txBody>
      </p:sp>
      <p:sp>
        <p:nvSpPr>
          <p:cNvPr id="7" name="Slide Number Placeholder 5"/>
          <p:cNvSpPr>
            <a:spLocks noGrp="1"/>
          </p:cNvSpPr>
          <p:nvPr>
            <p:ph type="sldNum" sz="quarter" idx="12"/>
          </p:nvPr>
        </p:nvSpPr>
        <p:spPr/>
        <p:txBody>
          <a:bodyPr/>
          <a:lstStyle>
            <a:lvl1pPr>
              <a:defRPr/>
            </a:lvl1pPr>
          </a:lstStyle>
          <a:p>
            <a:pPr>
              <a:defRPr/>
            </a:pPr>
            <a:fld id="{73D55668-F4C8-47C6-83C9-6FB16351360B}" type="slidenum">
              <a:rPr lang="en-US"/>
              <a:pPr>
                <a:defRPr/>
              </a:pPr>
              <a:t>‹#›</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3"/>
          <p:cNvSpPr>
            <a:spLocks noGrp="1"/>
          </p:cNvSpPr>
          <p:nvPr>
            <p:ph type="dt" sz="half" idx="10"/>
          </p:nvPr>
        </p:nvSpPr>
        <p:spPr/>
        <p:txBody>
          <a:bodyPr/>
          <a:lstStyle>
            <a:lvl1pPr>
              <a:defRPr/>
            </a:lvl1pPr>
          </a:lstStyle>
          <a:p>
            <a:pPr>
              <a:defRPr/>
            </a:pPr>
            <a:fld id="{CA2F775D-3727-A64A-AE8B-24B95511B6AF}" type="datetime1">
              <a:rPr lang="en-US" smtClean="0"/>
              <a:t>4/16/26</a:t>
            </a:fld>
            <a:endParaRPr lang="en-US"/>
          </a:p>
        </p:txBody>
      </p:sp>
      <p:sp>
        <p:nvSpPr>
          <p:cNvPr id="8" name="Footer Placeholder 4"/>
          <p:cNvSpPr>
            <a:spLocks noGrp="1"/>
          </p:cNvSpPr>
          <p:nvPr>
            <p:ph type="ftr" sz="quarter" idx="11"/>
          </p:nvPr>
        </p:nvSpPr>
        <p:spPr/>
        <p:txBody>
          <a:bodyPr/>
          <a:lstStyle>
            <a:lvl1pPr>
              <a:defRPr/>
            </a:lvl1pPr>
          </a:lstStyle>
          <a:p>
            <a:pPr>
              <a:defRPr/>
            </a:pPr>
            <a:endParaRPr lang="en-US"/>
          </a:p>
        </p:txBody>
      </p:sp>
      <p:sp>
        <p:nvSpPr>
          <p:cNvPr id="9" name="Slide Number Placeholder 5"/>
          <p:cNvSpPr>
            <a:spLocks noGrp="1"/>
          </p:cNvSpPr>
          <p:nvPr>
            <p:ph type="sldNum" sz="quarter" idx="12"/>
          </p:nvPr>
        </p:nvSpPr>
        <p:spPr/>
        <p:txBody>
          <a:bodyPr/>
          <a:lstStyle>
            <a:lvl1pPr>
              <a:defRPr/>
            </a:lvl1pPr>
          </a:lstStyle>
          <a:p>
            <a:pPr>
              <a:defRPr/>
            </a:pPr>
            <a:fld id="{0A9FCE30-9A73-4F2D-96C0-F77F631ABD02}" type="slidenum">
              <a:rPr lang="en-US"/>
              <a:pPr>
                <a:defRPr/>
              </a:pPr>
              <a:t>‹#›</a:t>
            </a:fld>
            <a:endParaRPr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a:ln>
            <a:solidFill>
              <a:schemeClr val="accent1"/>
            </a:solidFill>
          </a:ln>
        </p:spPr>
        <p:txBody>
          <a:bodyPr/>
          <a:lstStyle/>
          <a:p>
            <a:r>
              <a:rPr lang="en-US"/>
              <a:t>Click to edit Master title style</a:t>
            </a:r>
          </a:p>
        </p:txBody>
      </p:sp>
      <p:sp>
        <p:nvSpPr>
          <p:cNvPr id="3" name="Date Placeholder 3"/>
          <p:cNvSpPr>
            <a:spLocks noGrp="1"/>
          </p:cNvSpPr>
          <p:nvPr>
            <p:ph type="dt" sz="half" idx="10"/>
          </p:nvPr>
        </p:nvSpPr>
        <p:spPr/>
        <p:txBody>
          <a:bodyPr/>
          <a:lstStyle>
            <a:lvl1pPr>
              <a:defRPr/>
            </a:lvl1pPr>
          </a:lstStyle>
          <a:p>
            <a:pPr>
              <a:defRPr/>
            </a:pPr>
            <a:fld id="{7D54CECE-4A9C-684E-92D7-DFAB63EFD86C}" type="datetime1">
              <a:rPr lang="en-US" smtClean="0"/>
              <a:t>4/16/26</a:t>
            </a:fld>
            <a:endParaRPr lang="en-US"/>
          </a:p>
        </p:txBody>
      </p:sp>
      <p:sp>
        <p:nvSpPr>
          <p:cNvPr id="4" name="Footer Placeholder 4"/>
          <p:cNvSpPr>
            <a:spLocks noGrp="1"/>
          </p:cNvSpPr>
          <p:nvPr>
            <p:ph type="ftr" sz="quarter" idx="11"/>
          </p:nvPr>
        </p:nvSpPr>
        <p:spPr/>
        <p:txBody>
          <a:bodyPr/>
          <a:lstStyle>
            <a:lvl1pPr>
              <a:defRPr/>
            </a:lvl1pPr>
          </a:lstStyle>
          <a:p>
            <a:pPr>
              <a:defRPr/>
            </a:pPr>
            <a:endParaRPr lang="en-US"/>
          </a:p>
        </p:txBody>
      </p:sp>
      <p:sp>
        <p:nvSpPr>
          <p:cNvPr id="5" name="Slide Number Placeholder 5"/>
          <p:cNvSpPr>
            <a:spLocks noGrp="1"/>
          </p:cNvSpPr>
          <p:nvPr>
            <p:ph type="sldNum" sz="quarter" idx="12"/>
          </p:nvPr>
        </p:nvSpPr>
        <p:spPr/>
        <p:txBody>
          <a:bodyPr/>
          <a:lstStyle>
            <a:lvl1pPr>
              <a:defRPr/>
            </a:lvl1pPr>
          </a:lstStyle>
          <a:p>
            <a:pPr>
              <a:defRPr/>
            </a:pPr>
            <a:fld id="{E2F37286-FE51-4C52-8532-323FC50E77F0}" type="slidenum">
              <a:rPr lang="en-US"/>
              <a:pPr>
                <a:defRPr/>
              </a:pPr>
              <a:t>‹#›</a:t>
            </a:fld>
            <a:endParaRPr 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3"/>
          <p:cNvSpPr>
            <a:spLocks noGrp="1"/>
          </p:cNvSpPr>
          <p:nvPr>
            <p:ph type="dt" sz="half" idx="10"/>
          </p:nvPr>
        </p:nvSpPr>
        <p:spPr/>
        <p:txBody>
          <a:bodyPr/>
          <a:lstStyle>
            <a:lvl1pPr>
              <a:defRPr/>
            </a:lvl1pPr>
          </a:lstStyle>
          <a:p>
            <a:pPr>
              <a:defRPr/>
            </a:pPr>
            <a:fld id="{1F12509A-99FD-054D-A42A-EA835D7195E6}" type="datetime1">
              <a:rPr lang="en-US" smtClean="0"/>
              <a:t>4/16/26</a:t>
            </a:fld>
            <a:endParaRPr lang="en-US"/>
          </a:p>
        </p:txBody>
      </p:sp>
      <p:sp>
        <p:nvSpPr>
          <p:cNvPr id="3" name="Footer Placeholder 4"/>
          <p:cNvSpPr>
            <a:spLocks noGrp="1"/>
          </p:cNvSpPr>
          <p:nvPr>
            <p:ph type="ftr" sz="quarter" idx="11"/>
          </p:nvPr>
        </p:nvSpPr>
        <p:spPr/>
        <p:txBody>
          <a:bodyPr/>
          <a:lstStyle>
            <a:lvl1pPr>
              <a:defRPr/>
            </a:lvl1pPr>
          </a:lstStyle>
          <a:p>
            <a:pPr>
              <a:defRPr/>
            </a:pPr>
            <a:endParaRPr lang="en-US"/>
          </a:p>
        </p:txBody>
      </p:sp>
      <p:sp>
        <p:nvSpPr>
          <p:cNvPr id="4" name="Slide Number Placeholder 5"/>
          <p:cNvSpPr>
            <a:spLocks noGrp="1"/>
          </p:cNvSpPr>
          <p:nvPr>
            <p:ph type="sldNum" sz="quarter" idx="12"/>
          </p:nvPr>
        </p:nvSpPr>
        <p:spPr/>
        <p:txBody>
          <a:bodyPr/>
          <a:lstStyle>
            <a:lvl1pPr>
              <a:defRPr/>
            </a:lvl1pPr>
          </a:lstStyle>
          <a:p>
            <a:pPr>
              <a:defRPr/>
            </a:pPr>
            <a:fld id="{74F4083F-58C9-435E-9094-DCED2ED1E8B8}" type="slidenum">
              <a:rPr lang="en-US"/>
              <a:pPr>
                <a:defRPr/>
              </a:pPr>
              <a:t>‹#›</a:t>
            </a:fld>
            <a:endParaRPr lang="en-US"/>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3"/>
          <p:cNvSpPr>
            <a:spLocks noGrp="1"/>
          </p:cNvSpPr>
          <p:nvPr>
            <p:ph type="dt" sz="half" idx="10"/>
          </p:nvPr>
        </p:nvSpPr>
        <p:spPr/>
        <p:txBody>
          <a:bodyPr/>
          <a:lstStyle>
            <a:lvl1pPr>
              <a:defRPr/>
            </a:lvl1pPr>
          </a:lstStyle>
          <a:p>
            <a:pPr>
              <a:defRPr/>
            </a:pPr>
            <a:fld id="{5A27411D-2ACD-2448-A932-9B916463A789}" type="datetime1">
              <a:rPr lang="en-US" smtClean="0"/>
              <a:t>4/16/26</a:t>
            </a:fld>
            <a:endParaRPr lang="en-US"/>
          </a:p>
        </p:txBody>
      </p:sp>
      <p:sp>
        <p:nvSpPr>
          <p:cNvPr id="6" name="Footer Placeholder 4"/>
          <p:cNvSpPr>
            <a:spLocks noGrp="1"/>
          </p:cNvSpPr>
          <p:nvPr>
            <p:ph type="ftr" sz="quarter" idx="11"/>
          </p:nvPr>
        </p:nvSpPr>
        <p:spPr/>
        <p:txBody>
          <a:bodyPr/>
          <a:lstStyle>
            <a:lvl1pPr>
              <a:defRPr/>
            </a:lvl1pPr>
          </a:lstStyle>
          <a:p>
            <a:pPr>
              <a:defRPr/>
            </a:pPr>
            <a:endParaRPr lang="en-US"/>
          </a:p>
        </p:txBody>
      </p:sp>
      <p:sp>
        <p:nvSpPr>
          <p:cNvPr id="7" name="Slide Number Placeholder 5"/>
          <p:cNvSpPr>
            <a:spLocks noGrp="1"/>
          </p:cNvSpPr>
          <p:nvPr>
            <p:ph type="sldNum" sz="quarter" idx="12"/>
          </p:nvPr>
        </p:nvSpPr>
        <p:spPr/>
        <p:txBody>
          <a:bodyPr/>
          <a:lstStyle>
            <a:lvl1pPr>
              <a:defRPr/>
            </a:lvl1pPr>
          </a:lstStyle>
          <a:p>
            <a:pPr>
              <a:defRPr/>
            </a:pPr>
            <a:fld id="{911201C9-1A3B-4285-BA73-DDDB3B419300}" type="slidenum">
              <a:rPr lang="en-US"/>
              <a:pPr>
                <a:defRPr/>
              </a:pPr>
              <a:t>‹#›</a:t>
            </a:fld>
            <a:endParaRPr lang="en-US"/>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1792288" y="612775"/>
            <a:ext cx="5486400" cy="4114800"/>
          </a:xfrm>
        </p:spPr>
        <p:txBody>
          <a:bodyPr rtlCol="0">
            <a:normAutofit/>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pPr lvl="0"/>
            <a:r>
              <a:rPr lang="en-US" noProof="0"/>
              <a:t>Click icon to add picture</a:t>
            </a:r>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3"/>
          <p:cNvSpPr>
            <a:spLocks noGrp="1"/>
          </p:cNvSpPr>
          <p:nvPr>
            <p:ph type="dt" sz="half" idx="10"/>
          </p:nvPr>
        </p:nvSpPr>
        <p:spPr/>
        <p:txBody>
          <a:bodyPr/>
          <a:lstStyle>
            <a:lvl1pPr>
              <a:defRPr/>
            </a:lvl1pPr>
          </a:lstStyle>
          <a:p>
            <a:pPr>
              <a:defRPr/>
            </a:pPr>
            <a:fld id="{B212A945-33C5-C448-BB28-3E322ADE8546}" type="datetime1">
              <a:rPr lang="en-US" smtClean="0"/>
              <a:t>4/16/26</a:t>
            </a:fld>
            <a:endParaRPr lang="en-US"/>
          </a:p>
        </p:txBody>
      </p:sp>
      <p:sp>
        <p:nvSpPr>
          <p:cNvPr id="6" name="Footer Placeholder 4"/>
          <p:cNvSpPr>
            <a:spLocks noGrp="1"/>
          </p:cNvSpPr>
          <p:nvPr>
            <p:ph type="ftr" sz="quarter" idx="11"/>
          </p:nvPr>
        </p:nvSpPr>
        <p:spPr/>
        <p:txBody>
          <a:bodyPr/>
          <a:lstStyle>
            <a:lvl1pPr>
              <a:defRPr/>
            </a:lvl1pPr>
          </a:lstStyle>
          <a:p>
            <a:pPr>
              <a:defRPr/>
            </a:pPr>
            <a:endParaRPr lang="en-US"/>
          </a:p>
        </p:txBody>
      </p:sp>
      <p:sp>
        <p:nvSpPr>
          <p:cNvPr id="7" name="Slide Number Placeholder 5"/>
          <p:cNvSpPr>
            <a:spLocks noGrp="1"/>
          </p:cNvSpPr>
          <p:nvPr>
            <p:ph type="sldNum" sz="quarter" idx="12"/>
          </p:nvPr>
        </p:nvSpPr>
        <p:spPr/>
        <p:txBody>
          <a:bodyPr/>
          <a:lstStyle>
            <a:lvl1pPr>
              <a:defRPr/>
            </a:lvl1pPr>
          </a:lstStyle>
          <a:p>
            <a:pPr>
              <a:defRPr/>
            </a:pPr>
            <a:fld id="{ED6D638E-4DE2-445D-BDFA-503B494D6637}" type="slidenum">
              <a:rPr lang="en-US"/>
              <a:pPr>
                <a:defRPr/>
              </a:pPr>
              <a:t>‹#›</a:t>
            </a:fld>
            <a:endParaRPr lang="en-US"/>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lvl1pPr>
              <a:defRPr/>
            </a:lvl1pPr>
          </a:lstStyle>
          <a:p>
            <a:pPr>
              <a:defRPr/>
            </a:pPr>
            <a:fld id="{C543D0A6-6A85-FF46-A0CB-492B7BD0E6DB}" type="datetime1">
              <a:rPr lang="en-US" smtClean="0"/>
              <a:t>4/16/26</a:t>
            </a:fld>
            <a:endParaRPr lang="en-US"/>
          </a:p>
        </p:txBody>
      </p:sp>
      <p:sp>
        <p:nvSpPr>
          <p:cNvPr id="5" name="Footer Placeholder 4"/>
          <p:cNvSpPr>
            <a:spLocks noGrp="1"/>
          </p:cNvSpPr>
          <p:nvPr>
            <p:ph type="ftr" sz="quarter" idx="11"/>
          </p:nvPr>
        </p:nvSpPr>
        <p:spPr/>
        <p:txBody>
          <a:bodyPr/>
          <a:lstStyle>
            <a:lvl1pPr>
              <a:defRPr/>
            </a:lvl1pPr>
          </a:lstStyle>
          <a:p>
            <a:pPr>
              <a:defRPr/>
            </a:pPr>
            <a:endParaRPr lang="en-US"/>
          </a:p>
        </p:txBody>
      </p:sp>
      <p:sp>
        <p:nvSpPr>
          <p:cNvPr id="6" name="Slide Number Placeholder 5"/>
          <p:cNvSpPr>
            <a:spLocks noGrp="1"/>
          </p:cNvSpPr>
          <p:nvPr>
            <p:ph type="sldNum" sz="quarter" idx="12"/>
          </p:nvPr>
        </p:nvSpPr>
        <p:spPr/>
        <p:txBody>
          <a:bodyPr/>
          <a:lstStyle>
            <a:lvl1pPr>
              <a:defRPr/>
            </a:lvl1pPr>
          </a:lstStyle>
          <a:p>
            <a:pPr>
              <a:defRPr/>
            </a:pPr>
            <a:fld id="{628407FA-4828-4F9F-80B1-204E35425465}" type="slidenum">
              <a:rPr lang="en-US"/>
              <a:pPr>
                <a:defRPr/>
              </a:pPr>
              <a:t>‹#›</a:t>
            </a:fld>
            <a:endParaRPr lang="en-US"/>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lvl1pPr>
              <a:defRPr/>
            </a:lvl1pPr>
          </a:lstStyle>
          <a:p>
            <a:pPr>
              <a:defRPr/>
            </a:pPr>
            <a:fld id="{95273C3B-651F-464F-9AD6-6643E96110BF}" type="datetime1">
              <a:rPr lang="en-US" smtClean="0"/>
              <a:t>4/16/26</a:t>
            </a:fld>
            <a:endParaRPr lang="en-US"/>
          </a:p>
        </p:txBody>
      </p:sp>
      <p:sp>
        <p:nvSpPr>
          <p:cNvPr id="5" name="Footer Placeholder 4"/>
          <p:cNvSpPr>
            <a:spLocks noGrp="1"/>
          </p:cNvSpPr>
          <p:nvPr>
            <p:ph type="ftr" sz="quarter" idx="11"/>
          </p:nvPr>
        </p:nvSpPr>
        <p:spPr/>
        <p:txBody>
          <a:bodyPr/>
          <a:lstStyle>
            <a:lvl1pPr>
              <a:defRPr/>
            </a:lvl1pPr>
          </a:lstStyle>
          <a:p>
            <a:pPr>
              <a:defRPr/>
            </a:pPr>
            <a:endParaRPr lang="en-US"/>
          </a:p>
        </p:txBody>
      </p:sp>
      <p:sp>
        <p:nvSpPr>
          <p:cNvPr id="6" name="Slide Number Placeholder 5"/>
          <p:cNvSpPr>
            <a:spLocks noGrp="1"/>
          </p:cNvSpPr>
          <p:nvPr>
            <p:ph type="sldNum" sz="quarter" idx="12"/>
          </p:nvPr>
        </p:nvSpPr>
        <p:spPr/>
        <p:txBody>
          <a:bodyPr/>
          <a:lstStyle>
            <a:lvl1pPr>
              <a:defRPr/>
            </a:lvl1pPr>
          </a:lstStyle>
          <a:p>
            <a:pPr>
              <a:defRPr/>
            </a:pPr>
            <a:fld id="{A9EB1243-F46B-4CF5-95D5-C2074CEA8541}" type="slidenum">
              <a:rPr lang="en-US"/>
              <a:pPr>
                <a:defRPr/>
              </a:pPr>
              <a:t>‹#›</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1026" name="Title Placeholder 1"/>
          <p:cNvSpPr>
            <a:spLocks noGrp="1"/>
          </p:cNvSpPr>
          <p:nvPr>
            <p:ph type="title"/>
          </p:nvPr>
        </p:nvSpPr>
        <p:spPr bwMode="auto">
          <a:xfrm>
            <a:off x="457200" y="274638"/>
            <a:ext cx="8229600" cy="1143000"/>
          </a:xfrm>
          <a:prstGeom prst="rect">
            <a:avLst/>
          </a:prstGeom>
          <a:noFill/>
          <a:ln w="9525">
            <a:noFill/>
            <a:miter lim="800000"/>
            <a:headEnd/>
            <a:tailEnd/>
          </a:ln>
        </p:spPr>
        <p:txBody>
          <a:bodyPr vert="horz" wrap="square" lIns="91440" tIns="45720" rIns="91440" bIns="45720" numCol="1" anchor="ctr" anchorCtr="0" compatLnSpc="1">
            <a:prstTxWarp prst="textNoShape">
              <a:avLst/>
            </a:prstTxWarp>
          </a:bodyPr>
          <a:lstStyle/>
          <a:p>
            <a:pPr lvl="0"/>
            <a:r>
              <a:rPr lang="en-US"/>
              <a:t>Click to edit Master title style</a:t>
            </a:r>
          </a:p>
        </p:txBody>
      </p:sp>
      <p:sp>
        <p:nvSpPr>
          <p:cNvPr id="1027" name="Text Placeholder 2"/>
          <p:cNvSpPr>
            <a:spLocks noGrp="1"/>
          </p:cNvSpPr>
          <p:nvPr>
            <p:ph type="body" idx="1"/>
          </p:nvPr>
        </p:nvSpPr>
        <p:spPr bwMode="auto">
          <a:xfrm>
            <a:off x="457200" y="1600200"/>
            <a:ext cx="8229600" cy="4525963"/>
          </a:xfrm>
          <a:prstGeom prst="rect">
            <a:avLst/>
          </a:prstGeom>
          <a:noFill/>
          <a:ln w="9525">
            <a:noFill/>
            <a:miter lim="800000"/>
            <a:headEnd/>
            <a:tailEnd/>
          </a:ln>
        </p:spPr>
        <p:txBody>
          <a:bodyPr vert="horz" wrap="square" lIns="91440" tIns="45720" rIns="91440" bIns="45720" numCol="1" anchor="t" anchorCtr="0" compatLnSpc="1">
            <a:prstTxWarp prst="textNoShape">
              <a:avLst/>
            </a:prstTxWarp>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fontAlgn="auto">
              <a:spcBef>
                <a:spcPts val="0"/>
              </a:spcBef>
              <a:spcAft>
                <a:spcPts val="0"/>
              </a:spcAft>
              <a:defRPr sz="1200">
                <a:solidFill>
                  <a:schemeClr val="tx1">
                    <a:tint val="75000"/>
                  </a:schemeClr>
                </a:solidFill>
                <a:latin typeface="+mn-lt"/>
                <a:cs typeface="+mn-cs"/>
              </a:defRPr>
            </a:lvl1pPr>
          </a:lstStyle>
          <a:p>
            <a:pPr>
              <a:defRPr/>
            </a:pPr>
            <a:fld id="{DE937E03-C8C1-B04F-91DB-6A2334EE4B71}" type="datetime1">
              <a:rPr lang="en-US" smtClean="0"/>
              <a:t>4/16/26</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fontAlgn="auto">
              <a:spcBef>
                <a:spcPts val="0"/>
              </a:spcBef>
              <a:spcAft>
                <a:spcPts val="0"/>
              </a:spcAft>
              <a:defRPr sz="1200">
                <a:solidFill>
                  <a:schemeClr val="tx1">
                    <a:tint val="75000"/>
                  </a:schemeClr>
                </a:solidFill>
                <a:latin typeface="+mn-lt"/>
                <a:cs typeface="+mn-cs"/>
              </a:defRPr>
            </a:lvl1pPr>
          </a:lstStyle>
          <a:p>
            <a:pPr>
              <a:defRPr/>
            </a:pPr>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fontAlgn="auto">
              <a:spcBef>
                <a:spcPts val="0"/>
              </a:spcBef>
              <a:spcAft>
                <a:spcPts val="0"/>
              </a:spcAft>
              <a:defRPr sz="1200">
                <a:solidFill>
                  <a:schemeClr val="tx1">
                    <a:tint val="75000"/>
                  </a:schemeClr>
                </a:solidFill>
                <a:latin typeface="+mn-lt"/>
                <a:cs typeface="+mn-cs"/>
              </a:defRPr>
            </a:lvl1pPr>
          </a:lstStyle>
          <a:p>
            <a:pPr>
              <a:defRPr/>
            </a:pPr>
            <a:fld id="{FF6B98D9-B404-46A3-9411-4FFC3C1F0207}" type="slidenum">
              <a:rPr lang="en-US"/>
              <a:pPr>
                <a:defRPr/>
              </a:pPr>
              <a:t>‹#›</a:t>
            </a:fld>
            <a:endParaRPr lang="en-US"/>
          </a:p>
        </p:txBody>
      </p:sp>
    </p:spTree>
  </p:cSld>
  <p:clrMap bg1="lt1" tx1="dk1" bg2="lt2" tx2="dk2" accent1="accent1" accent2="accent2" accent3="accent3" accent4="accent4" accent5="accent5" accent6="accent6" hlink="hlink" folHlink="folHlink"/>
  <p:sldLayoutIdLst>
    <p:sldLayoutId id="2147483709" r:id="rId1"/>
    <p:sldLayoutId id="2147483710" r:id="rId2"/>
    <p:sldLayoutId id="2147483711" r:id="rId3"/>
    <p:sldLayoutId id="2147483712" r:id="rId4"/>
    <p:sldLayoutId id="2147483713" r:id="rId5"/>
    <p:sldLayoutId id="2147483714" r:id="rId6"/>
    <p:sldLayoutId id="2147483715" r:id="rId7"/>
    <p:sldLayoutId id="2147483716" r:id="rId8"/>
    <p:sldLayoutId id="2147483717" r:id="rId9"/>
    <p:sldLayoutId id="2147483718" r:id="rId10"/>
    <p:sldLayoutId id="2147483719" r:id="rId11"/>
  </p:sldLayoutIdLst>
  <p:hf hdr="0" ftr="0" dt="0"/>
  <p:txStyles>
    <p:titleStyle>
      <a:lvl1pPr algn="ctr" rtl="0" eaLnBrk="0" fontAlgn="base" hangingPunct="0">
        <a:spcBef>
          <a:spcPct val="0"/>
        </a:spcBef>
        <a:spcAft>
          <a:spcPct val="0"/>
        </a:spcAft>
        <a:defRPr sz="4400" kern="1200">
          <a:solidFill>
            <a:schemeClr val="tx1"/>
          </a:solidFill>
          <a:latin typeface="+mj-lt"/>
          <a:ea typeface="+mj-ea"/>
          <a:cs typeface="+mj-cs"/>
        </a:defRPr>
      </a:lvl1pPr>
      <a:lvl2pPr algn="ctr" rtl="0" eaLnBrk="0" fontAlgn="base" hangingPunct="0">
        <a:spcBef>
          <a:spcPct val="0"/>
        </a:spcBef>
        <a:spcAft>
          <a:spcPct val="0"/>
        </a:spcAft>
        <a:defRPr sz="4400">
          <a:solidFill>
            <a:schemeClr val="tx1"/>
          </a:solidFill>
          <a:latin typeface="Calibri" pitchFamily="34" charset="0"/>
        </a:defRPr>
      </a:lvl2pPr>
      <a:lvl3pPr algn="ctr" rtl="0" eaLnBrk="0" fontAlgn="base" hangingPunct="0">
        <a:spcBef>
          <a:spcPct val="0"/>
        </a:spcBef>
        <a:spcAft>
          <a:spcPct val="0"/>
        </a:spcAft>
        <a:defRPr sz="4400">
          <a:solidFill>
            <a:schemeClr val="tx1"/>
          </a:solidFill>
          <a:latin typeface="Calibri" pitchFamily="34" charset="0"/>
        </a:defRPr>
      </a:lvl3pPr>
      <a:lvl4pPr algn="ctr" rtl="0" eaLnBrk="0" fontAlgn="base" hangingPunct="0">
        <a:spcBef>
          <a:spcPct val="0"/>
        </a:spcBef>
        <a:spcAft>
          <a:spcPct val="0"/>
        </a:spcAft>
        <a:defRPr sz="4400">
          <a:solidFill>
            <a:schemeClr val="tx1"/>
          </a:solidFill>
          <a:latin typeface="Calibri" pitchFamily="34" charset="0"/>
        </a:defRPr>
      </a:lvl4pPr>
      <a:lvl5pPr algn="ctr" rtl="0" eaLnBrk="0" fontAlgn="base" hangingPunct="0">
        <a:spcBef>
          <a:spcPct val="0"/>
        </a:spcBef>
        <a:spcAft>
          <a:spcPct val="0"/>
        </a:spcAft>
        <a:defRPr sz="4400">
          <a:solidFill>
            <a:schemeClr val="tx1"/>
          </a:solidFill>
          <a:latin typeface="Calibri" pitchFamily="34" charset="0"/>
        </a:defRPr>
      </a:lvl5pPr>
      <a:lvl6pPr marL="457200" algn="ctr" rtl="0" eaLnBrk="1" fontAlgn="base" hangingPunct="1">
        <a:spcBef>
          <a:spcPct val="0"/>
        </a:spcBef>
        <a:spcAft>
          <a:spcPct val="0"/>
        </a:spcAft>
        <a:defRPr sz="4400">
          <a:solidFill>
            <a:schemeClr val="tx1"/>
          </a:solidFill>
          <a:latin typeface="Calibri" pitchFamily="34" charset="0"/>
        </a:defRPr>
      </a:lvl6pPr>
      <a:lvl7pPr marL="914400" algn="ctr" rtl="0" eaLnBrk="1" fontAlgn="base" hangingPunct="1">
        <a:spcBef>
          <a:spcPct val="0"/>
        </a:spcBef>
        <a:spcAft>
          <a:spcPct val="0"/>
        </a:spcAft>
        <a:defRPr sz="4400">
          <a:solidFill>
            <a:schemeClr val="tx1"/>
          </a:solidFill>
          <a:latin typeface="Calibri" pitchFamily="34" charset="0"/>
        </a:defRPr>
      </a:lvl7pPr>
      <a:lvl8pPr marL="1371600" algn="ctr" rtl="0" eaLnBrk="1" fontAlgn="base" hangingPunct="1">
        <a:spcBef>
          <a:spcPct val="0"/>
        </a:spcBef>
        <a:spcAft>
          <a:spcPct val="0"/>
        </a:spcAft>
        <a:defRPr sz="4400">
          <a:solidFill>
            <a:schemeClr val="tx1"/>
          </a:solidFill>
          <a:latin typeface="Calibri" pitchFamily="34" charset="0"/>
        </a:defRPr>
      </a:lvl8pPr>
      <a:lvl9pPr marL="1828800" algn="ctr" rtl="0" eaLnBrk="1" fontAlgn="base" hangingPunct="1">
        <a:spcBef>
          <a:spcPct val="0"/>
        </a:spcBef>
        <a:spcAft>
          <a:spcPct val="0"/>
        </a:spcAft>
        <a:defRPr sz="4400">
          <a:solidFill>
            <a:schemeClr val="tx1"/>
          </a:solidFill>
          <a:latin typeface="Calibri" pitchFamily="34" charset="0"/>
        </a:defRPr>
      </a:lvl9pPr>
    </p:titleStyle>
    <p:bodyStyle>
      <a:lvl1pPr marL="342900" indent="-342900" algn="l" rtl="0" eaLnBrk="0" fontAlgn="base" hangingPunct="0">
        <a:spcBef>
          <a:spcPct val="20000"/>
        </a:spcBef>
        <a:spcAft>
          <a:spcPct val="0"/>
        </a:spcAft>
        <a:buFont typeface="Arial" charset="0"/>
        <a:buChar char="•"/>
        <a:defRPr sz="3200" kern="1200">
          <a:solidFill>
            <a:schemeClr val="tx1"/>
          </a:solidFill>
          <a:latin typeface="+mn-lt"/>
          <a:ea typeface="+mn-ea"/>
          <a:cs typeface="+mn-cs"/>
        </a:defRPr>
      </a:lvl1pPr>
      <a:lvl2pPr marL="742950" indent="-285750" algn="l" rtl="0" eaLnBrk="0" fontAlgn="base" hangingPunct="0">
        <a:spcBef>
          <a:spcPct val="20000"/>
        </a:spcBef>
        <a:spcAft>
          <a:spcPct val="0"/>
        </a:spcAft>
        <a:buFont typeface="Arial" charset="0"/>
        <a:buChar char="–"/>
        <a:defRPr sz="2800" kern="1200">
          <a:solidFill>
            <a:schemeClr val="tx1"/>
          </a:solidFill>
          <a:latin typeface="+mn-lt"/>
          <a:ea typeface="+mn-ea"/>
          <a:cs typeface="+mn-cs"/>
        </a:defRPr>
      </a:lvl2pPr>
      <a:lvl3pPr marL="1143000" indent="-228600" algn="l" rtl="0" eaLnBrk="0" fontAlgn="base" hangingPunct="0">
        <a:spcBef>
          <a:spcPct val="20000"/>
        </a:spcBef>
        <a:spcAft>
          <a:spcPct val="0"/>
        </a:spcAft>
        <a:buFont typeface="Arial" charset="0"/>
        <a:buChar char="•"/>
        <a:defRPr sz="2400" kern="1200">
          <a:solidFill>
            <a:schemeClr val="tx1"/>
          </a:solidFill>
          <a:latin typeface="+mn-lt"/>
          <a:ea typeface="+mn-ea"/>
          <a:cs typeface="+mn-cs"/>
        </a:defRPr>
      </a:lvl3pPr>
      <a:lvl4pPr marL="1600200" indent="-228600" algn="l" rtl="0" eaLnBrk="0" fontAlgn="base" hangingPunct="0">
        <a:spcBef>
          <a:spcPct val="20000"/>
        </a:spcBef>
        <a:spcAft>
          <a:spcPct val="0"/>
        </a:spcAft>
        <a:buFont typeface="Arial" charset="0"/>
        <a:buChar char="–"/>
        <a:defRPr sz="2000" kern="1200">
          <a:solidFill>
            <a:schemeClr val="tx1"/>
          </a:solidFill>
          <a:latin typeface="+mn-lt"/>
          <a:ea typeface="+mn-ea"/>
          <a:cs typeface="+mn-cs"/>
        </a:defRPr>
      </a:lvl4pPr>
      <a:lvl5pPr marL="2057400" indent="-228600" algn="l" rtl="0" eaLnBrk="0" fontAlgn="base" hangingPunct="0">
        <a:spcBef>
          <a:spcPct val="20000"/>
        </a:spcBef>
        <a:spcAft>
          <a:spcPct val="0"/>
        </a:spcAft>
        <a:buFont typeface="Arial"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nl-NL"/>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0.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6.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6.xml"/></Relationships>
</file>

<file path=ppt/slides/_rels/slide26.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3" Type="http://schemas.openxmlformats.org/officeDocument/2006/relationships/comments" Target="../comments/comment1.xml"/><Relationship Id="rId2" Type="http://schemas.openxmlformats.org/officeDocument/2006/relationships/notesSlide" Target="../notesSlides/notesSlide17.xml"/><Relationship Id="rId1" Type="http://schemas.openxmlformats.org/officeDocument/2006/relationships/slideLayout" Target="../slideLayouts/slideLayout6.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1.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2.xml"/></Relationships>
</file>

<file path=ppt/slides/_rels/slide32.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4.xml.rels><?xml version="1.0" encoding="UTF-8" standalone="yes"?>
<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2.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6.xml.rels><?xml version="1.0" encoding="UTF-8" standalone="yes"?>
<Relationships xmlns="http://schemas.openxmlformats.org/package/2006/relationships"><Relationship Id="rId2" Type="http://schemas.openxmlformats.org/officeDocument/2006/relationships/notesSlide" Target="../notesSlides/notesSlide21.xml"/><Relationship Id="rId1" Type="http://schemas.openxmlformats.org/officeDocument/2006/relationships/slideLayout" Target="../slideLayouts/slideLayout2.xml"/></Relationships>
</file>

<file path=ppt/slides/_rels/slide37.xml.rels><?xml version="1.0" encoding="UTF-8" standalone="yes"?>
<Relationships xmlns="http://schemas.openxmlformats.org/package/2006/relationships"><Relationship Id="rId2" Type="http://schemas.openxmlformats.org/officeDocument/2006/relationships/notesSlide" Target="../notesSlides/notesSlide22.xml"/><Relationship Id="rId1" Type="http://schemas.openxmlformats.org/officeDocument/2006/relationships/slideLayout" Target="../slideLayouts/slideLayout2.xml"/></Relationships>
</file>

<file path=ppt/slides/_rels/slide38.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23.xml"/><Relationship Id="rId1" Type="http://schemas.openxmlformats.org/officeDocument/2006/relationships/slideLayout" Target="../slideLayouts/slideLayout6.xml"/><Relationship Id="rId4" Type="http://schemas.openxmlformats.org/officeDocument/2006/relationships/image" Target="../media/image2.tiff"/></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050" name="Title 1"/>
          <p:cNvSpPr>
            <a:spLocks noGrp="1"/>
          </p:cNvSpPr>
          <p:nvPr>
            <p:ph type="ctrTitle"/>
          </p:nvPr>
        </p:nvSpPr>
        <p:spPr>
          <a:xfrm>
            <a:off x="685800" y="1500188"/>
            <a:ext cx="7772400" cy="2357437"/>
          </a:xfrm>
        </p:spPr>
        <p:txBody>
          <a:bodyPr/>
          <a:lstStyle/>
          <a:p>
            <a:pPr eaLnBrk="1" hangingPunct="1"/>
            <a:r>
              <a:rPr lang="en-US" dirty="0"/>
              <a:t>Data-flow Based Testing</a:t>
            </a:r>
            <a:br>
              <a:rPr lang="en-US" dirty="0"/>
            </a:br>
            <a:r>
              <a:rPr lang="en-US" sz="3200" dirty="0"/>
              <a:t>(A&amp;O Ch. 2.2.2, 2.4.2, 7.1)</a:t>
            </a:r>
            <a:br>
              <a:rPr lang="en-US" sz="3200" dirty="0"/>
            </a:br>
            <a:r>
              <a:rPr lang="en-US" sz="2000" dirty="0"/>
              <a:t>(2</a:t>
            </a:r>
            <a:r>
              <a:rPr lang="en-US" sz="2000" baseline="30000" dirty="0"/>
              <a:t>nd</a:t>
            </a:r>
            <a:r>
              <a:rPr lang="en-US" sz="2000" dirty="0"/>
              <a:t> Ed. Ch 7.2.3, 7.4.2. Unfortunately, there is no equivalent of 7.1 in the 2</a:t>
            </a:r>
            <a:r>
              <a:rPr lang="en-US" sz="2000" baseline="30000" dirty="0"/>
              <a:t>nd</a:t>
            </a:r>
            <a:r>
              <a:rPr lang="en-US" sz="2000" dirty="0"/>
              <a:t> Ed.)</a:t>
            </a:r>
            <a:endParaRPr lang="en-US" dirty="0"/>
          </a:p>
        </p:txBody>
      </p:sp>
      <p:sp>
        <p:nvSpPr>
          <p:cNvPr id="3" name="Subtitle 2"/>
          <p:cNvSpPr>
            <a:spLocks noGrp="1"/>
          </p:cNvSpPr>
          <p:nvPr>
            <p:ph type="subTitle" idx="1"/>
          </p:nvPr>
        </p:nvSpPr>
        <p:spPr>
          <a:xfrm>
            <a:off x="1371600" y="4071938"/>
            <a:ext cx="6400800" cy="1785937"/>
          </a:xfrm>
        </p:spPr>
        <p:txBody>
          <a:bodyPr rtlCol="0">
            <a:normAutofit fontScale="92500"/>
          </a:bodyPr>
          <a:lstStyle/>
          <a:p>
            <a:pPr eaLnBrk="1" fontAlgn="auto" hangingPunct="1">
              <a:spcAft>
                <a:spcPts val="0"/>
              </a:spcAft>
              <a:buFont typeface="Arial" pitchFamily="34" charset="0"/>
              <a:buNone/>
              <a:defRPr/>
            </a:pPr>
            <a:r>
              <a:rPr lang="en-US" dirty="0"/>
              <a:t>Course Software Testing &amp; Verification</a:t>
            </a:r>
          </a:p>
          <a:p>
            <a:pPr eaLnBrk="1" fontAlgn="auto" hangingPunct="1">
              <a:spcAft>
                <a:spcPts val="0"/>
              </a:spcAft>
              <a:buFont typeface="Arial" pitchFamily="34" charset="0"/>
              <a:buNone/>
              <a:defRPr/>
            </a:pPr>
            <a:r>
              <a:rPr lang="en-US" dirty="0"/>
              <a:t>2025/26</a:t>
            </a:r>
          </a:p>
          <a:p>
            <a:pPr eaLnBrk="1" fontAlgn="auto" hangingPunct="1">
              <a:spcAft>
                <a:spcPts val="0"/>
              </a:spcAft>
              <a:defRPr/>
            </a:pPr>
            <a:r>
              <a:rPr lang="en-US" dirty="0"/>
              <a:t>Wishnu Prasetya &amp; Paige North</a:t>
            </a:r>
          </a:p>
          <a:p>
            <a:pPr eaLnBrk="1" fontAlgn="auto" hangingPunct="1">
              <a:spcAft>
                <a:spcPts val="0"/>
              </a:spcAft>
              <a:buFont typeface="Arial" pitchFamily="34" charset="0"/>
              <a:buNone/>
              <a:defRPr/>
            </a:pPr>
            <a:endParaRPr lang="en-US"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074" name="Title 1"/>
          <p:cNvSpPr>
            <a:spLocks noGrp="1"/>
          </p:cNvSpPr>
          <p:nvPr>
            <p:ph type="title"/>
          </p:nvPr>
        </p:nvSpPr>
        <p:spPr/>
        <p:txBody>
          <a:bodyPr/>
          <a:lstStyle/>
          <a:p>
            <a:r>
              <a:rPr lang="en-US"/>
              <a:t>Plan</a:t>
            </a:r>
          </a:p>
        </p:txBody>
      </p:sp>
      <p:sp>
        <p:nvSpPr>
          <p:cNvPr id="3075" name="Content Placeholder 2"/>
          <p:cNvSpPr>
            <a:spLocks noGrp="1"/>
          </p:cNvSpPr>
          <p:nvPr>
            <p:ph idx="1"/>
          </p:nvPr>
        </p:nvSpPr>
        <p:spPr/>
        <p:txBody>
          <a:bodyPr/>
          <a:lstStyle/>
          <a:p>
            <a:r>
              <a:rPr lang="en-US" dirty="0"/>
              <a:t>Data flow driven testing</a:t>
            </a:r>
          </a:p>
          <a:p>
            <a:r>
              <a:rPr lang="en-US" dirty="0"/>
              <a:t>Integration testing</a:t>
            </a:r>
          </a:p>
          <a:p>
            <a:r>
              <a:rPr lang="en-US" dirty="0"/>
              <a:t>Testing inter-class interactions in an OO setup</a:t>
            </a:r>
          </a:p>
        </p:txBody>
      </p:sp>
      <p:sp>
        <p:nvSpPr>
          <p:cNvPr id="4" name="Slide Number Placeholder 3"/>
          <p:cNvSpPr>
            <a:spLocks noGrp="1"/>
          </p:cNvSpPr>
          <p:nvPr>
            <p:ph type="sldNum" sz="quarter" idx="12"/>
          </p:nvPr>
        </p:nvSpPr>
        <p:spPr/>
        <p:txBody>
          <a:bodyPr/>
          <a:lstStyle/>
          <a:p>
            <a:pPr>
              <a:defRPr/>
            </a:pPr>
            <a:fld id="{B307548A-F559-45C2-9D24-F73DD35C3663}" type="slidenum">
              <a:rPr lang="en-US" smtClean="0"/>
              <a:pPr>
                <a:defRPr/>
              </a:pPr>
              <a:t>2</a:t>
            </a:fld>
            <a:endParaRPr lang="en-US"/>
          </a:p>
        </p:txBody>
      </p:sp>
      <p:sp>
        <p:nvSpPr>
          <p:cNvPr id="2" name="TextBox 1">
            <a:extLst>
              <a:ext uri="{FF2B5EF4-FFF2-40B4-BE49-F238E27FC236}">
                <a16:creationId xmlns:a16="http://schemas.microsoft.com/office/drawing/2014/main" id="{BC04F795-DD07-C944-90FD-B1E2A658DF55}"/>
              </a:ext>
            </a:extLst>
          </p:cNvPr>
          <p:cNvSpPr txBox="1"/>
          <p:nvPr/>
        </p:nvSpPr>
        <p:spPr>
          <a:xfrm>
            <a:off x="457200" y="3789040"/>
            <a:ext cx="8229600" cy="2862322"/>
          </a:xfrm>
          <a:prstGeom prst="rect">
            <a:avLst/>
          </a:prstGeom>
          <a:noFill/>
        </p:spPr>
        <p:txBody>
          <a:bodyPr wrap="square" rtlCol="0">
            <a:spAutoFit/>
          </a:bodyPr>
          <a:lstStyle/>
          <a:p>
            <a:pPr algn="just"/>
            <a:r>
              <a:rPr lang="en-US" b="1" dirty="0"/>
              <a:t>Note</a:t>
            </a:r>
            <a:r>
              <a:rPr lang="en-US" dirty="0"/>
              <a:t>: an important criticism to control-flow based testing (covered in the lecture on graph-based testing) is that it ignores how data actually flows through the control flows, and we cannot distinguish between which data flows might be more critical to test. Data-flow based testing tries to address this shortcoming. Later, it also gives us a useful instrument to handle integration level testing. </a:t>
            </a:r>
            <a:br>
              <a:rPr lang="en-US" dirty="0"/>
            </a:br>
            <a:br>
              <a:rPr lang="en-US" dirty="0"/>
            </a:br>
            <a:r>
              <a:rPr lang="en-US" dirty="0"/>
              <a:t>OO poses another kind of challenges for testing, in particular with respect to error prone patterns due to inheritance and dynamic binding. We will also discuss how to address such situations; we will build our approach based on the previously discussed integration testing approach.</a:t>
            </a: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Rounded Rectangle 6">
            <a:extLst>
              <a:ext uri="{FF2B5EF4-FFF2-40B4-BE49-F238E27FC236}">
                <a16:creationId xmlns:a16="http://schemas.microsoft.com/office/drawing/2014/main" id="{69DCE4B4-0003-794D-8FB5-581B2EF80D7A}"/>
              </a:ext>
            </a:extLst>
          </p:cNvPr>
          <p:cNvSpPr/>
          <p:nvPr/>
        </p:nvSpPr>
        <p:spPr>
          <a:xfrm>
            <a:off x="1403648" y="1564061"/>
            <a:ext cx="6120680" cy="1576907"/>
          </a:xfrm>
          <a:prstGeom prst="roundRect">
            <a:avLst/>
          </a:prstGeom>
          <a:solidFill>
            <a:srgbClr val="FFC000">
              <a:alpha val="25000"/>
            </a:srgbClr>
          </a:solidFill>
          <a:ln>
            <a:solidFill>
              <a:srgbClr val="FFC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098" name="Title 1"/>
          <p:cNvSpPr>
            <a:spLocks noGrp="1"/>
          </p:cNvSpPr>
          <p:nvPr>
            <p:ph type="title"/>
          </p:nvPr>
        </p:nvSpPr>
        <p:spPr/>
        <p:txBody>
          <a:bodyPr/>
          <a:lstStyle/>
          <a:p>
            <a:r>
              <a:rPr lang="en-US"/>
              <a:t>Basic idea</a:t>
            </a:r>
          </a:p>
        </p:txBody>
      </p:sp>
      <p:sp>
        <p:nvSpPr>
          <p:cNvPr id="4099" name="Content Placeholder 2"/>
          <p:cNvSpPr>
            <a:spLocks noGrp="1"/>
          </p:cNvSpPr>
          <p:nvPr>
            <p:ph idx="1"/>
          </p:nvPr>
        </p:nvSpPr>
        <p:spPr>
          <a:xfrm>
            <a:off x="319409" y="3284984"/>
            <a:ext cx="8501063" cy="2664297"/>
          </a:xfrm>
        </p:spPr>
        <p:txBody>
          <a:bodyPr/>
          <a:lstStyle/>
          <a:p>
            <a:r>
              <a:rPr lang="en-US" sz="2000" dirty="0"/>
              <a:t>Imagine the test set (leaving out the oracles):  { P(-1,-1) , P1(0,0) } . This two tests would give us full edge coverage.</a:t>
            </a:r>
          </a:p>
          <a:p>
            <a:r>
              <a:rPr lang="en-US" sz="2000" dirty="0"/>
              <a:t>However, this ignores data flow between each branch of the first “if” to each branch of the second “if”. Each data flow triggers different behavior, and arguably should have been tested.</a:t>
            </a:r>
          </a:p>
          <a:p>
            <a:r>
              <a:rPr lang="en-US" sz="2000" dirty="0"/>
              <a:t>On the other hand the instruction “x = 0” is not depending on the logic of the first “if”, so there is also no need to test both paths leading to it.</a:t>
            </a:r>
          </a:p>
          <a:p>
            <a:r>
              <a:rPr lang="en-US" sz="2000" dirty="0"/>
              <a:t>Arguably, dataflow is what actually determines the behavior of a program, rather than control flow. From this perspective, dataflow based testing is more complete than control flow based.</a:t>
            </a:r>
          </a:p>
        </p:txBody>
      </p:sp>
      <p:sp>
        <p:nvSpPr>
          <p:cNvPr id="4" name="Slide Number Placeholder 3"/>
          <p:cNvSpPr>
            <a:spLocks noGrp="1"/>
          </p:cNvSpPr>
          <p:nvPr>
            <p:ph type="sldNum" sz="quarter" idx="12"/>
          </p:nvPr>
        </p:nvSpPr>
        <p:spPr/>
        <p:txBody>
          <a:bodyPr/>
          <a:lstStyle/>
          <a:p>
            <a:pPr>
              <a:defRPr/>
            </a:pPr>
            <a:fld id="{371DCCC3-D8D8-44FB-97B8-62373B550CA3}" type="slidenum">
              <a:rPr lang="en-US" smtClean="0"/>
              <a:pPr>
                <a:defRPr/>
              </a:pPr>
              <a:t>3</a:t>
            </a:fld>
            <a:endParaRPr lang="en-US"/>
          </a:p>
        </p:txBody>
      </p:sp>
      <p:sp>
        <p:nvSpPr>
          <p:cNvPr id="6" name="TextBox 5"/>
          <p:cNvSpPr txBox="1"/>
          <p:nvPr/>
        </p:nvSpPr>
        <p:spPr>
          <a:xfrm>
            <a:off x="1851535" y="1803892"/>
            <a:ext cx="4890185" cy="1200329"/>
          </a:xfrm>
          <a:prstGeom prst="rect">
            <a:avLst/>
          </a:prstGeom>
          <a:noFill/>
          <a:ln>
            <a:noFill/>
          </a:ln>
        </p:spPr>
        <p:txBody>
          <a:bodyPr wrap="none">
            <a:spAutoFit/>
          </a:bodyPr>
          <a:lstStyle/>
          <a:p>
            <a:pPr>
              <a:defRPr/>
            </a:pPr>
            <a:r>
              <a:rPr lang="en-US" sz="2400" dirty="0">
                <a:latin typeface="+mn-lt"/>
              </a:rPr>
              <a:t>P(</a:t>
            </a:r>
            <a:r>
              <a:rPr lang="en-US" sz="2400" dirty="0" err="1">
                <a:latin typeface="+mn-lt"/>
              </a:rPr>
              <a:t>x,y</a:t>
            </a:r>
            <a:r>
              <a:rPr lang="en-US" sz="2400" dirty="0">
                <a:latin typeface="+mn-lt"/>
              </a:rPr>
              <a:t>)  {  </a:t>
            </a:r>
            <a:r>
              <a:rPr lang="en-US" sz="2400" b="1" dirty="0">
                <a:solidFill>
                  <a:schemeClr val="accent6">
                    <a:lumMod val="75000"/>
                  </a:schemeClr>
                </a:solidFill>
                <a:latin typeface="+mn-lt"/>
              </a:rPr>
              <a:t>if</a:t>
            </a:r>
            <a:r>
              <a:rPr lang="en-US" sz="2400" dirty="0">
                <a:latin typeface="+mn-lt"/>
              </a:rPr>
              <a:t> (y&lt;0)  y = -y       </a:t>
            </a:r>
            <a:r>
              <a:rPr lang="en-US" sz="2400" b="1" dirty="0">
                <a:solidFill>
                  <a:schemeClr val="accent6">
                    <a:lumMod val="75000"/>
                  </a:schemeClr>
                </a:solidFill>
                <a:latin typeface="+mn-lt"/>
              </a:rPr>
              <a:t>else</a:t>
            </a:r>
            <a:r>
              <a:rPr lang="en-US" sz="2400" dirty="0">
                <a:latin typeface="+mn-lt"/>
              </a:rPr>
              <a:t> y = 1 ;</a:t>
            </a:r>
            <a:br>
              <a:rPr lang="en-US" sz="2400" dirty="0">
                <a:latin typeface="+mn-lt"/>
              </a:rPr>
            </a:br>
            <a:r>
              <a:rPr lang="en-US" sz="2400" dirty="0">
                <a:latin typeface="+mn-lt"/>
              </a:rPr>
              <a:t>                </a:t>
            </a:r>
            <a:r>
              <a:rPr lang="en-US" sz="2400" b="1" dirty="0">
                <a:solidFill>
                  <a:schemeClr val="accent6">
                    <a:lumMod val="75000"/>
                  </a:schemeClr>
                </a:solidFill>
                <a:latin typeface="+mn-lt"/>
              </a:rPr>
              <a:t>if</a:t>
            </a:r>
            <a:r>
              <a:rPr lang="en-US" sz="2400" dirty="0">
                <a:latin typeface="+mn-lt"/>
              </a:rPr>
              <a:t> (x&lt;0)  x = -x + y </a:t>
            </a:r>
            <a:r>
              <a:rPr lang="en-US" sz="2400" b="1" dirty="0">
                <a:latin typeface="+mn-lt"/>
              </a:rPr>
              <a:t>else</a:t>
            </a:r>
            <a:r>
              <a:rPr lang="en-US" sz="2400" dirty="0">
                <a:latin typeface="+mn-lt"/>
              </a:rPr>
              <a:t> x = 0  ; </a:t>
            </a:r>
            <a:br>
              <a:rPr lang="en-US" sz="2400" dirty="0">
                <a:latin typeface="+mn-lt"/>
              </a:rPr>
            </a:br>
            <a:r>
              <a:rPr lang="en-US" sz="2400" dirty="0">
                <a:latin typeface="+mn-lt"/>
              </a:rPr>
              <a:t>                </a:t>
            </a:r>
            <a:r>
              <a:rPr lang="en-US" sz="2400" b="1" dirty="0">
                <a:solidFill>
                  <a:schemeClr val="accent6">
                    <a:lumMod val="75000"/>
                  </a:schemeClr>
                </a:solidFill>
                <a:latin typeface="+mn-lt"/>
              </a:rPr>
              <a:t>return</a:t>
            </a:r>
            <a:r>
              <a:rPr lang="en-US" sz="2400" dirty="0">
                <a:latin typeface="+mn-lt"/>
              </a:rPr>
              <a:t>  x }</a:t>
            </a: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8" name="Rounded Rectangle 37">
            <a:extLst>
              <a:ext uri="{FF2B5EF4-FFF2-40B4-BE49-F238E27FC236}">
                <a16:creationId xmlns:a16="http://schemas.microsoft.com/office/drawing/2014/main" id="{92DBF4E3-99CA-9844-B90E-0A4B6982B60E}"/>
              </a:ext>
            </a:extLst>
          </p:cNvPr>
          <p:cNvSpPr/>
          <p:nvPr/>
        </p:nvSpPr>
        <p:spPr>
          <a:xfrm>
            <a:off x="294383" y="1763986"/>
            <a:ext cx="3362244" cy="2097062"/>
          </a:xfrm>
          <a:prstGeom prst="roundRect">
            <a:avLst/>
          </a:prstGeom>
          <a:solidFill>
            <a:srgbClr val="FFC000">
              <a:alpha val="25000"/>
            </a:srgbClr>
          </a:solidFill>
          <a:ln>
            <a:solidFill>
              <a:srgbClr val="FFC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4" name="Rectangle 43">
            <a:extLst>
              <a:ext uri="{FF2B5EF4-FFF2-40B4-BE49-F238E27FC236}">
                <a16:creationId xmlns:a16="http://schemas.microsoft.com/office/drawing/2014/main" id="{FB9BDCDF-5D62-F548-9235-2EF8AF832636}"/>
              </a:ext>
            </a:extLst>
          </p:cNvPr>
          <p:cNvSpPr/>
          <p:nvPr/>
        </p:nvSpPr>
        <p:spPr>
          <a:xfrm>
            <a:off x="463832" y="2008535"/>
            <a:ext cx="861547" cy="490191"/>
          </a:xfrm>
          <a:prstGeom prst="rect">
            <a:avLst/>
          </a:prstGeom>
          <a:solidFill>
            <a:srgbClr val="FFFF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3" name="Rectangle 42">
            <a:extLst>
              <a:ext uri="{FF2B5EF4-FFF2-40B4-BE49-F238E27FC236}">
                <a16:creationId xmlns:a16="http://schemas.microsoft.com/office/drawing/2014/main" id="{24C5D628-7C39-384A-983F-8DABCFFF1CCE}"/>
              </a:ext>
            </a:extLst>
          </p:cNvPr>
          <p:cNvSpPr/>
          <p:nvPr/>
        </p:nvSpPr>
        <p:spPr>
          <a:xfrm>
            <a:off x="1633990" y="2834829"/>
            <a:ext cx="1674050" cy="375777"/>
          </a:xfrm>
          <a:prstGeom prst="rect">
            <a:avLst/>
          </a:prstGeom>
          <a:solidFill>
            <a:schemeClr val="bg1">
              <a:lumMod val="8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2" name="Rectangle 41">
            <a:extLst>
              <a:ext uri="{FF2B5EF4-FFF2-40B4-BE49-F238E27FC236}">
                <a16:creationId xmlns:a16="http://schemas.microsoft.com/office/drawing/2014/main" id="{4CBDEA2F-1C6F-144F-9D9C-6DADC7D75481}"/>
              </a:ext>
            </a:extLst>
          </p:cNvPr>
          <p:cNvSpPr/>
          <p:nvPr/>
        </p:nvSpPr>
        <p:spPr>
          <a:xfrm>
            <a:off x="2588071" y="2450317"/>
            <a:ext cx="720080" cy="413941"/>
          </a:xfrm>
          <a:prstGeom prst="rect">
            <a:avLst/>
          </a:prstGeom>
          <a:solidFill>
            <a:schemeClr val="accent6">
              <a:lumMod val="40000"/>
              <a:lumOff val="6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1" name="Rectangle 40">
            <a:extLst>
              <a:ext uri="{FF2B5EF4-FFF2-40B4-BE49-F238E27FC236}">
                <a16:creationId xmlns:a16="http://schemas.microsoft.com/office/drawing/2014/main" id="{E5C15457-C3A1-A14A-8061-01669E583467}"/>
              </a:ext>
            </a:extLst>
          </p:cNvPr>
          <p:cNvSpPr/>
          <p:nvPr/>
        </p:nvSpPr>
        <p:spPr>
          <a:xfrm>
            <a:off x="2561770" y="1988840"/>
            <a:ext cx="720080" cy="413941"/>
          </a:xfrm>
          <a:prstGeom prst="rect">
            <a:avLst/>
          </a:prstGeom>
          <a:solidFill>
            <a:schemeClr val="accent5">
              <a:lumMod val="40000"/>
              <a:lumOff val="6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9" name="Rectangle 38">
            <a:extLst>
              <a:ext uri="{FF2B5EF4-FFF2-40B4-BE49-F238E27FC236}">
                <a16:creationId xmlns:a16="http://schemas.microsoft.com/office/drawing/2014/main" id="{623D16B1-DABC-E64D-B798-AEDC349F8E18}"/>
              </a:ext>
            </a:extLst>
          </p:cNvPr>
          <p:cNvSpPr/>
          <p:nvPr/>
        </p:nvSpPr>
        <p:spPr>
          <a:xfrm>
            <a:off x="1763688" y="2420888"/>
            <a:ext cx="720080" cy="413941"/>
          </a:xfrm>
          <a:prstGeom prst="rect">
            <a:avLst/>
          </a:prstGeom>
          <a:solidFill>
            <a:schemeClr val="accent2">
              <a:lumMod val="40000"/>
              <a:lumOff val="6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Rectangle 1">
            <a:extLst>
              <a:ext uri="{FF2B5EF4-FFF2-40B4-BE49-F238E27FC236}">
                <a16:creationId xmlns:a16="http://schemas.microsoft.com/office/drawing/2014/main" id="{A1826EAC-8EE7-D24A-9657-C234914CE057}"/>
              </a:ext>
            </a:extLst>
          </p:cNvPr>
          <p:cNvSpPr/>
          <p:nvPr/>
        </p:nvSpPr>
        <p:spPr>
          <a:xfrm>
            <a:off x="1763688" y="1988840"/>
            <a:ext cx="720080" cy="413941"/>
          </a:xfrm>
          <a:prstGeom prst="rect">
            <a:avLst/>
          </a:prstGeom>
          <a:solidFill>
            <a:schemeClr val="accent1">
              <a:lumMod val="40000"/>
              <a:lumOff val="6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122" name="Title 1"/>
          <p:cNvSpPr>
            <a:spLocks noGrp="1"/>
          </p:cNvSpPr>
          <p:nvPr>
            <p:ph type="title"/>
          </p:nvPr>
        </p:nvSpPr>
        <p:spPr>
          <a:xfrm>
            <a:off x="457200" y="274638"/>
            <a:ext cx="8229600" cy="1143000"/>
          </a:xfrm>
        </p:spPr>
        <p:txBody>
          <a:bodyPr/>
          <a:lstStyle/>
          <a:p>
            <a:r>
              <a:rPr lang="en-US" dirty="0"/>
              <a:t>Data-flow based approach</a:t>
            </a:r>
            <a:br>
              <a:rPr lang="en-US" dirty="0"/>
            </a:br>
            <a:r>
              <a:rPr lang="en-US" sz="2800" dirty="0"/>
              <a:t>(sec. 2.2.2/ 2</a:t>
            </a:r>
            <a:r>
              <a:rPr lang="en-US" sz="2800" baseline="30000" dirty="0"/>
              <a:t>nd</a:t>
            </a:r>
            <a:r>
              <a:rPr lang="en-US" sz="2800" dirty="0"/>
              <a:t> Ed: 7.2.3)</a:t>
            </a:r>
            <a:endParaRPr lang="en-US" dirty="0"/>
          </a:p>
        </p:txBody>
      </p:sp>
      <p:sp>
        <p:nvSpPr>
          <p:cNvPr id="5123" name="Content Placeholder 2"/>
          <p:cNvSpPr>
            <a:spLocks noGrp="1"/>
          </p:cNvSpPr>
          <p:nvPr>
            <p:ph idx="1"/>
          </p:nvPr>
        </p:nvSpPr>
        <p:spPr>
          <a:xfrm>
            <a:off x="500063" y="4437063"/>
            <a:ext cx="8229600" cy="1849437"/>
          </a:xfrm>
        </p:spPr>
        <p:txBody>
          <a:bodyPr/>
          <a:lstStyle/>
          <a:p>
            <a:r>
              <a:rPr lang="en-US" sz="2400" dirty="0"/>
              <a:t>Data flow graph : CFG, where the nodes and edges are decorated with information about the variables used and defined by each node/edge.</a:t>
            </a:r>
          </a:p>
          <a:p>
            <a:r>
              <a:rPr lang="en-US" sz="2400" dirty="0"/>
              <a:t>In my examples I avoid decorating on the edges.</a:t>
            </a:r>
          </a:p>
          <a:p>
            <a:r>
              <a:rPr lang="en-US" sz="2400" dirty="0"/>
              <a:t>Some subtlety on the granularity of the nodes/edges </a:t>
            </a:r>
            <a:r>
              <a:rPr lang="en-US" sz="2400" dirty="0">
                <a:sym typeface="Wingdings" pitchFamily="2" charset="2"/>
              </a:rPr>
              <a:t> later.</a:t>
            </a:r>
            <a:endParaRPr lang="en-US" sz="2400" dirty="0"/>
          </a:p>
          <a:p>
            <a:pPr lvl="1"/>
            <a:endParaRPr lang="en-US" sz="2400" dirty="0"/>
          </a:p>
          <a:p>
            <a:pPr lvl="1"/>
            <a:endParaRPr lang="en-US" sz="2000" dirty="0"/>
          </a:p>
        </p:txBody>
      </p:sp>
      <p:sp>
        <p:nvSpPr>
          <p:cNvPr id="4" name="Slide Number Placeholder 3"/>
          <p:cNvSpPr>
            <a:spLocks noGrp="1"/>
          </p:cNvSpPr>
          <p:nvPr>
            <p:ph type="sldNum" sz="quarter" idx="12"/>
          </p:nvPr>
        </p:nvSpPr>
        <p:spPr/>
        <p:txBody>
          <a:bodyPr/>
          <a:lstStyle/>
          <a:p>
            <a:pPr>
              <a:defRPr/>
            </a:pPr>
            <a:fld id="{0B00CD6E-4A98-4132-9E0A-B27CC21EA0E5}" type="slidenum">
              <a:rPr lang="en-US" smtClean="0"/>
              <a:pPr>
                <a:defRPr/>
              </a:pPr>
              <a:t>4</a:t>
            </a:fld>
            <a:endParaRPr lang="en-US"/>
          </a:p>
        </p:txBody>
      </p:sp>
      <p:sp>
        <p:nvSpPr>
          <p:cNvPr id="37" name="TextBox 36">
            <a:extLst>
              <a:ext uri="{FF2B5EF4-FFF2-40B4-BE49-F238E27FC236}">
                <a16:creationId xmlns:a16="http://schemas.microsoft.com/office/drawing/2014/main" id="{6DD45985-01DF-9C42-A1CE-0F0671E61C7C}"/>
              </a:ext>
            </a:extLst>
          </p:cNvPr>
          <p:cNvSpPr txBox="1"/>
          <p:nvPr/>
        </p:nvSpPr>
        <p:spPr>
          <a:xfrm>
            <a:off x="457200" y="2016124"/>
            <a:ext cx="3167085" cy="1200329"/>
          </a:xfrm>
          <a:prstGeom prst="rect">
            <a:avLst/>
          </a:prstGeom>
          <a:noFill/>
          <a:ln>
            <a:noFill/>
          </a:ln>
        </p:spPr>
        <p:txBody>
          <a:bodyPr wrap="none">
            <a:spAutoFit/>
          </a:bodyPr>
          <a:lstStyle/>
          <a:p>
            <a:pPr>
              <a:defRPr/>
            </a:pPr>
            <a:r>
              <a:rPr lang="en-US" sz="2400" dirty="0">
                <a:latin typeface="+mn-lt"/>
              </a:rPr>
              <a:t>P(</a:t>
            </a:r>
            <a:r>
              <a:rPr lang="en-US" sz="2400" dirty="0" err="1">
                <a:latin typeface="+mn-lt"/>
              </a:rPr>
              <a:t>x,y</a:t>
            </a:r>
            <a:r>
              <a:rPr lang="en-US" sz="2400" dirty="0">
                <a:latin typeface="+mn-lt"/>
              </a:rPr>
              <a:t>)  {  </a:t>
            </a:r>
            <a:r>
              <a:rPr lang="en-US" sz="2400" b="1" dirty="0">
                <a:latin typeface="+mn-lt"/>
              </a:rPr>
              <a:t>if</a:t>
            </a:r>
            <a:r>
              <a:rPr lang="en-US" sz="2400" dirty="0">
                <a:latin typeface="+mn-lt"/>
              </a:rPr>
              <a:t> (y&lt;0)  y = -y  </a:t>
            </a:r>
            <a:br>
              <a:rPr lang="en-US" sz="2400" dirty="0">
                <a:latin typeface="+mn-lt"/>
              </a:rPr>
            </a:br>
            <a:r>
              <a:rPr lang="en-US" sz="2400" dirty="0">
                <a:latin typeface="+mn-lt"/>
              </a:rPr>
              <a:t>                </a:t>
            </a:r>
            <a:r>
              <a:rPr lang="en-US" sz="2400" b="1" dirty="0">
                <a:latin typeface="+mn-lt"/>
              </a:rPr>
              <a:t>i</a:t>
            </a:r>
            <a:r>
              <a:rPr lang="en-US" sz="2400" dirty="0">
                <a:latin typeface="+mn-lt"/>
              </a:rPr>
              <a:t>f (x&lt;0)  x = 0</a:t>
            </a:r>
            <a:br>
              <a:rPr lang="en-US" sz="2400" dirty="0">
                <a:latin typeface="+mn-lt"/>
              </a:rPr>
            </a:br>
            <a:r>
              <a:rPr lang="en-US" sz="2400" dirty="0">
                <a:latin typeface="+mn-lt"/>
              </a:rPr>
              <a:t>                </a:t>
            </a:r>
            <a:r>
              <a:rPr lang="en-US" sz="2400" b="1" dirty="0">
                <a:latin typeface="+mn-lt"/>
              </a:rPr>
              <a:t>return</a:t>
            </a:r>
            <a:r>
              <a:rPr lang="en-US" sz="2400" dirty="0">
                <a:latin typeface="+mn-lt"/>
              </a:rPr>
              <a:t> </a:t>
            </a:r>
            <a:r>
              <a:rPr lang="en-US" sz="2400" dirty="0" err="1">
                <a:latin typeface="+mn-lt"/>
              </a:rPr>
              <a:t>x+y</a:t>
            </a:r>
            <a:r>
              <a:rPr lang="en-US" sz="2400" dirty="0">
                <a:latin typeface="+mn-lt"/>
              </a:rPr>
              <a:t>     }</a:t>
            </a:r>
          </a:p>
        </p:txBody>
      </p:sp>
      <p:grpSp>
        <p:nvGrpSpPr>
          <p:cNvPr id="3" name="Group 2">
            <a:extLst>
              <a:ext uri="{FF2B5EF4-FFF2-40B4-BE49-F238E27FC236}">
                <a16:creationId xmlns:a16="http://schemas.microsoft.com/office/drawing/2014/main" id="{8186115A-1677-594D-B999-4C233B204E43}"/>
              </a:ext>
            </a:extLst>
          </p:cNvPr>
          <p:cNvGrpSpPr/>
          <p:nvPr/>
        </p:nvGrpSpPr>
        <p:grpSpPr>
          <a:xfrm>
            <a:off x="3764049" y="1751807"/>
            <a:ext cx="5453900" cy="2302926"/>
            <a:chOff x="3764049" y="1751807"/>
            <a:chExt cx="5453900" cy="2302926"/>
          </a:xfrm>
        </p:grpSpPr>
        <p:sp>
          <p:nvSpPr>
            <p:cNvPr id="20" name="Rectangle 19">
              <a:extLst>
                <a:ext uri="{FF2B5EF4-FFF2-40B4-BE49-F238E27FC236}">
                  <a16:creationId xmlns:a16="http://schemas.microsoft.com/office/drawing/2014/main" id="{DCAD737E-97E2-2748-82CC-D7337FC7BB9C}"/>
                </a:ext>
              </a:extLst>
            </p:cNvPr>
            <p:cNvSpPr/>
            <p:nvPr/>
          </p:nvSpPr>
          <p:spPr bwMode="auto">
            <a:xfrm>
              <a:off x="4372377" y="2992438"/>
              <a:ext cx="360362" cy="360362"/>
            </a:xfrm>
            <a:prstGeom prst="rect">
              <a:avLst/>
            </a:prstGeom>
            <a:solidFill>
              <a:srgbClr val="FFFF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r>
                <a:rPr lang="en-US" sz="1200" b="1" dirty="0">
                  <a:solidFill>
                    <a:schemeClr val="tx1"/>
                  </a:solidFill>
                </a:rPr>
                <a:t>n0</a:t>
              </a:r>
            </a:p>
          </p:txBody>
        </p:sp>
        <p:sp>
          <p:nvSpPr>
            <p:cNvPr id="23" name="Rectangle 22">
              <a:extLst>
                <a:ext uri="{FF2B5EF4-FFF2-40B4-BE49-F238E27FC236}">
                  <a16:creationId xmlns:a16="http://schemas.microsoft.com/office/drawing/2014/main" id="{8243BDB3-DCA6-F245-AEF7-F590B70E1530}"/>
                </a:ext>
              </a:extLst>
            </p:cNvPr>
            <p:cNvSpPr/>
            <p:nvPr/>
          </p:nvSpPr>
          <p:spPr bwMode="auto">
            <a:xfrm>
              <a:off x="5860252" y="2440592"/>
              <a:ext cx="360362" cy="360362"/>
            </a:xfrm>
            <a:prstGeom prst="rect">
              <a:avLst/>
            </a:prstGeom>
            <a:solidFill>
              <a:schemeClr val="accent5">
                <a:lumMod val="40000"/>
                <a:lumOff val="60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r>
                <a:rPr lang="en-US" sz="1200" b="1" dirty="0">
                  <a:solidFill>
                    <a:schemeClr val="tx1"/>
                  </a:solidFill>
                </a:rPr>
                <a:t>n2</a:t>
              </a:r>
            </a:p>
          </p:txBody>
        </p:sp>
        <p:sp>
          <p:nvSpPr>
            <p:cNvPr id="24" name="Rectangle 23">
              <a:extLst>
                <a:ext uri="{FF2B5EF4-FFF2-40B4-BE49-F238E27FC236}">
                  <a16:creationId xmlns:a16="http://schemas.microsoft.com/office/drawing/2014/main" id="{CB3B6DE5-8556-6D45-A6A5-AC32BBAC857E}"/>
                </a:ext>
              </a:extLst>
            </p:cNvPr>
            <p:cNvSpPr/>
            <p:nvPr/>
          </p:nvSpPr>
          <p:spPr bwMode="auto">
            <a:xfrm>
              <a:off x="6495250" y="2995613"/>
              <a:ext cx="360362" cy="360362"/>
            </a:xfrm>
            <a:prstGeom prst="rect">
              <a:avLst/>
            </a:prstGeom>
            <a:solidFill>
              <a:schemeClr val="accent2">
                <a:lumMod val="40000"/>
                <a:lumOff val="60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r>
                <a:rPr lang="en-US" sz="1200" b="1" dirty="0">
                  <a:solidFill>
                    <a:schemeClr val="tx1"/>
                  </a:solidFill>
                </a:rPr>
                <a:t>n3</a:t>
              </a:r>
            </a:p>
          </p:txBody>
        </p:sp>
        <p:sp>
          <p:nvSpPr>
            <p:cNvPr id="25" name="TextBox 24">
              <a:extLst>
                <a:ext uri="{FF2B5EF4-FFF2-40B4-BE49-F238E27FC236}">
                  <a16:creationId xmlns:a16="http://schemas.microsoft.com/office/drawing/2014/main" id="{E36CE0EB-F1A6-554F-ADC5-90E7FE4028DF}"/>
                </a:ext>
              </a:extLst>
            </p:cNvPr>
            <p:cNvSpPr txBox="1"/>
            <p:nvPr/>
          </p:nvSpPr>
          <p:spPr bwMode="auto">
            <a:xfrm>
              <a:off x="3764049" y="2323511"/>
              <a:ext cx="1275862" cy="646331"/>
            </a:xfrm>
            <a:prstGeom prst="rect">
              <a:avLst/>
            </a:prstGeom>
            <a:noFill/>
          </p:spPr>
          <p:txBody>
            <a:bodyPr wrap="none">
              <a:spAutoFit/>
            </a:bodyPr>
            <a:lstStyle/>
            <a:p>
              <a:pPr algn="ctr">
                <a:defRPr/>
              </a:pPr>
              <a:r>
                <a:rPr lang="en-US" dirty="0"/>
                <a:t>use  =</a:t>
              </a:r>
              <a:r>
                <a:rPr lang="en-US" dirty="0">
                  <a:sym typeface="Symbol"/>
                </a:rPr>
                <a:t> </a:t>
              </a:r>
              <a:endParaRPr lang="en-US" dirty="0"/>
            </a:p>
            <a:p>
              <a:pPr algn="ctr">
                <a:defRPr/>
              </a:pPr>
              <a:r>
                <a:rPr lang="en-US" dirty="0">
                  <a:latin typeface="+mn-lt"/>
                </a:rPr>
                <a:t>def  = { </a:t>
              </a:r>
              <a:r>
                <a:rPr lang="en-US" dirty="0" err="1">
                  <a:latin typeface="+mn-lt"/>
                </a:rPr>
                <a:t>x,y</a:t>
              </a:r>
              <a:r>
                <a:rPr lang="en-US" dirty="0">
                  <a:latin typeface="+mn-lt"/>
                </a:rPr>
                <a:t> }</a:t>
              </a:r>
            </a:p>
          </p:txBody>
        </p:sp>
        <p:sp>
          <p:nvSpPr>
            <p:cNvPr id="26" name="TextBox 25">
              <a:extLst>
                <a:ext uri="{FF2B5EF4-FFF2-40B4-BE49-F238E27FC236}">
                  <a16:creationId xmlns:a16="http://schemas.microsoft.com/office/drawing/2014/main" id="{F6DE789A-9353-1D4C-B947-F395546BB126}"/>
                </a:ext>
              </a:extLst>
            </p:cNvPr>
            <p:cNvSpPr txBox="1"/>
            <p:nvPr/>
          </p:nvSpPr>
          <p:spPr bwMode="auto">
            <a:xfrm>
              <a:off x="5495920" y="1751807"/>
              <a:ext cx="1089025" cy="646113"/>
            </a:xfrm>
            <a:prstGeom prst="rect">
              <a:avLst/>
            </a:prstGeom>
            <a:solidFill>
              <a:schemeClr val="bg1"/>
            </a:solidFill>
          </p:spPr>
          <p:txBody>
            <a:bodyPr wrap="none">
              <a:spAutoFit/>
            </a:bodyPr>
            <a:lstStyle/>
            <a:p>
              <a:pPr>
                <a:defRPr/>
              </a:pPr>
              <a:r>
                <a:rPr lang="en-US" dirty="0"/>
                <a:t>use = {y}</a:t>
              </a:r>
            </a:p>
            <a:p>
              <a:pPr>
                <a:defRPr/>
              </a:pPr>
              <a:r>
                <a:rPr lang="en-US" dirty="0">
                  <a:latin typeface="+mn-lt"/>
                </a:rPr>
                <a:t>def  = {y}</a:t>
              </a:r>
            </a:p>
          </p:txBody>
        </p:sp>
        <p:sp>
          <p:nvSpPr>
            <p:cNvPr id="28" name="Rectangle 27">
              <a:extLst>
                <a:ext uri="{FF2B5EF4-FFF2-40B4-BE49-F238E27FC236}">
                  <a16:creationId xmlns:a16="http://schemas.microsoft.com/office/drawing/2014/main" id="{685E44F4-1D62-0041-9A19-4B4E2BA370C0}"/>
                </a:ext>
              </a:extLst>
            </p:cNvPr>
            <p:cNvSpPr/>
            <p:nvPr/>
          </p:nvSpPr>
          <p:spPr bwMode="auto">
            <a:xfrm>
              <a:off x="7166427" y="2440592"/>
              <a:ext cx="360362" cy="360362"/>
            </a:xfrm>
            <a:prstGeom prst="rect">
              <a:avLst/>
            </a:prstGeom>
            <a:solidFill>
              <a:schemeClr val="accent6">
                <a:lumMod val="40000"/>
                <a:lumOff val="60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r>
                <a:rPr lang="en-US" sz="1200" b="1" dirty="0">
                  <a:solidFill>
                    <a:schemeClr val="tx1"/>
                  </a:solidFill>
                </a:rPr>
                <a:t>n4</a:t>
              </a:r>
            </a:p>
          </p:txBody>
        </p:sp>
        <p:sp>
          <p:nvSpPr>
            <p:cNvPr id="29" name="Rectangle 28">
              <a:extLst>
                <a:ext uri="{FF2B5EF4-FFF2-40B4-BE49-F238E27FC236}">
                  <a16:creationId xmlns:a16="http://schemas.microsoft.com/office/drawing/2014/main" id="{B414174A-91D1-7D41-A918-39A4E428BA3B}"/>
                </a:ext>
              </a:extLst>
            </p:cNvPr>
            <p:cNvSpPr/>
            <p:nvPr/>
          </p:nvSpPr>
          <p:spPr bwMode="auto">
            <a:xfrm>
              <a:off x="7846214" y="2995613"/>
              <a:ext cx="360363" cy="360362"/>
            </a:xfrm>
            <a:prstGeom prst="rect">
              <a:avLst/>
            </a:prstGeom>
            <a:solidFill>
              <a:schemeClr val="bg1">
                <a:lumMod val="85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r>
                <a:rPr lang="en-US" sz="1200" b="1" dirty="0">
                  <a:solidFill>
                    <a:schemeClr val="tx1"/>
                  </a:solidFill>
                </a:rPr>
                <a:t>n5</a:t>
              </a:r>
            </a:p>
          </p:txBody>
        </p:sp>
        <p:sp>
          <p:nvSpPr>
            <p:cNvPr id="33" name="TextBox 32">
              <a:extLst>
                <a:ext uri="{FF2B5EF4-FFF2-40B4-BE49-F238E27FC236}">
                  <a16:creationId xmlns:a16="http://schemas.microsoft.com/office/drawing/2014/main" id="{714D0446-FCE0-6A45-83F0-FD9B813026E7}"/>
                </a:ext>
              </a:extLst>
            </p:cNvPr>
            <p:cNvSpPr txBox="1"/>
            <p:nvPr/>
          </p:nvSpPr>
          <p:spPr bwMode="auto">
            <a:xfrm>
              <a:off x="4892406" y="3402127"/>
              <a:ext cx="1088760" cy="646331"/>
            </a:xfrm>
            <a:prstGeom prst="rect">
              <a:avLst/>
            </a:prstGeom>
            <a:noFill/>
          </p:spPr>
          <p:txBody>
            <a:bodyPr wrap="none">
              <a:spAutoFit/>
            </a:bodyPr>
            <a:lstStyle/>
            <a:p>
              <a:pPr algn="ctr">
                <a:defRPr/>
              </a:pPr>
              <a:r>
                <a:rPr lang="en-US" dirty="0"/>
                <a:t>use = {y}</a:t>
              </a:r>
            </a:p>
            <a:p>
              <a:pPr algn="ctr">
                <a:defRPr/>
              </a:pPr>
              <a:r>
                <a:rPr lang="en-US" dirty="0">
                  <a:latin typeface="+mn-lt"/>
                </a:rPr>
                <a:t>def  = </a:t>
              </a:r>
              <a:r>
                <a:rPr lang="en-US" dirty="0">
                  <a:latin typeface="+mn-lt"/>
                  <a:sym typeface="Symbol"/>
                </a:rPr>
                <a:t></a:t>
              </a:r>
              <a:endParaRPr lang="en-US" dirty="0">
                <a:latin typeface="+mn-lt"/>
              </a:endParaRPr>
            </a:p>
          </p:txBody>
        </p:sp>
        <p:sp>
          <p:nvSpPr>
            <p:cNvPr id="34" name="TextBox 33">
              <a:extLst>
                <a:ext uri="{FF2B5EF4-FFF2-40B4-BE49-F238E27FC236}">
                  <a16:creationId xmlns:a16="http://schemas.microsoft.com/office/drawing/2014/main" id="{C8E90AB2-74C5-AA48-8F2B-4778F5572F8F}"/>
                </a:ext>
              </a:extLst>
            </p:cNvPr>
            <p:cNvSpPr txBox="1"/>
            <p:nvPr/>
          </p:nvSpPr>
          <p:spPr bwMode="auto">
            <a:xfrm>
              <a:off x="7776592" y="3349969"/>
              <a:ext cx="1441357" cy="646331"/>
            </a:xfrm>
            <a:prstGeom prst="rect">
              <a:avLst/>
            </a:prstGeom>
            <a:noFill/>
          </p:spPr>
          <p:txBody>
            <a:bodyPr wrap="none">
              <a:spAutoFit/>
            </a:bodyPr>
            <a:lstStyle/>
            <a:p>
              <a:pPr>
                <a:defRPr/>
              </a:pPr>
              <a:r>
                <a:rPr lang="en-US" dirty="0"/>
                <a:t>use  = {</a:t>
              </a:r>
              <a:r>
                <a:rPr lang="en-US" dirty="0" err="1"/>
                <a:t>x,y</a:t>
              </a:r>
              <a:r>
                <a:rPr lang="en-US" dirty="0"/>
                <a:t>}</a:t>
              </a:r>
            </a:p>
            <a:p>
              <a:pPr>
                <a:defRPr/>
              </a:pPr>
              <a:r>
                <a:rPr lang="en-US" dirty="0">
                  <a:latin typeface="+mn-lt"/>
                </a:rPr>
                <a:t>def  = </a:t>
              </a:r>
              <a:r>
                <a:rPr lang="en-US" dirty="0">
                  <a:latin typeface="+mn-lt"/>
                  <a:sym typeface="Symbol"/>
                </a:rPr>
                <a:t>{</a:t>
              </a:r>
              <a:r>
                <a:rPr lang="en-US" dirty="0" err="1">
                  <a:latin typeface="+mn-lt"/>
                  <a:sym typeface="Symbol"/>
                </a:rPr>
                <a:t>retval</a:t>
              </a:r>
              <a:r>
                <a:rPr lang="en-US" dirty="0">
                  <a:latin typeface="+mn-lt"/>
                  <a:sym typeface="Symbol"/>
                </a:rPr>
                <a:t>}</a:t>
              </a:r>
              <a:endParaRPr lang="en-US" dirty="0">
                <a:latin typeface="+mn-lt"/>
              </a:endParaRPr>
            </a:p>
          </p:txBody>
        </p:sp>
        <p:sp>
          <p:nvSpPr>
            <p:cNvPr id="35" name="TextBox 34">
              <a:extLst>
                <a:ext uri="{FF2B5EF4-FFF2-40B4-BE49-F238E27FC236}">
                  <a16:creationId xmlns:a16="http://schemas.microsoft.com/office/drawing/2014/main" id="{64BE9930-41F0-DA47-B332-02683FCAE9FF}"/>
                </a:ext>
              </a:extLst>
            </p:cNvPr>
            <p:cNvSpPr txBox="1"/>
            <p:nvPr/>
          </p:nvSpPr>
          <p:spPr bwMode="auto">
            <a:xfrm>
              <a:off x="6883299" y="1786994"/>
              <a:ext cx="1010213" cy="646331"/>
            </a:xfrm>
            <a:prstGeom prst="rect">
              <a:avLst/>
            </a:prstGeom>
            <a:solidFill>
              <a:schemeClr val="bg1"/>
            </a:solidFill>
          </p:spPr>
          <p:txBody>
            <a:bodyPr wrap="none">
              <a:spAutoFit/>
            </a:bodyPr>
            <a:lstStyle/>
            <a:p>
              <a:pPr algn="ctr">
                <a:defRPr/>
              </a:pPr>
              <a:r>
                <a:rPr lang="en-US" dirty="0"/>
                <a:t>use = </a:t>
              </a:r>
              <a:r>
                <a:rPr lang="en-US" dirty="0">
                  <a:sym typeface="Symbol"/>
                </a:rPr>
                <a:t></a:t>
              </a:r>
              <a:endParaRPr lang="en-US" dirty="0"/>
            </a:p>
            <a:p>
              <a:pPr algn="ctr">
                <a:defRPr/>
              </a:pPr>
              <a:r>
                <a:rPr lang="en-US" dirty="0">
                  <a:latin typeface="+mn-lt"/>
                </a:rPr>
                <a:t>def  ={x}</a:t>
              </a:r>
            </a:p>
          </p:txBody>
        </p:sp>
        <p:cxnSp>
          <p:nvCxnSpPr>
            <p:cNvPr id="36" name="Straight Arrow Connector 35">
              <a:extLst>
                <a:ext uri="{FF2B5EF4-FFF2-40B4-BE49-F238E27FC236}">
                  <a16:creationId xmlns:a16="http://schemas.microsoft.com/office/drawing/2014/main" id="{935647EB-4AEE-5148-8364-E6B6DAD6EC3A}"/>
                </a:ext>
              </a:extLst>
            </p:cNvPr>
            <p:cNvCxnSpPr>
              <a:cxnSpLocks/>
            </p:cNvCxnSpPr>
            <p:nvPr/>
          </p:nvCxnSpPr>
          <p:spPr>
            <a:xfrm>
              <a:off x="4156234" y="3176588"/>
              <a:ext cx="186368" cy="0"/>
            </a:xfrm>
            <a:prstGeom prst="straightConnector1">
              <a:avLst/>
            </a:prstGeom>
            <a:ln>
              <a:solidFill>
                <a:schemeClr val="tx1"/>
              </a:solidFill>
              <a:tailEnd type="arrow"/>
            </a:ln>
          </p:spPr>
          <p:style>
            <a:lnRef idx="1">
              <a:schemeClr val="accent1"/>
            </a:lnRef>
            <a:fillRef idx="0">
              <a:schemeClr val="accent1"/>
            </a:fillRef>
            <a:effectRef idx="0">
              <a:schemeClr val="accent1"/>
            </a:effectRef>
            <a:fontRef idx="minor">
              <a:schemeClr val="tx1"/>
            </a:fontRef>
          </p:style>
        </p:cxnSp>
        <p:sp>
          <p:nvSpPr>
            <p:cNvPr id="45" name="Rectangle 44">
              <a:extLst>
                <a:ext uri="{FF2B5EF4-FFF2-40B4-BE49-F238E27FC236}">
                  <a16:creationId xmlns:a16="http://schemas.microsoft.com/office/drawing/2014/main" id="{83CCAC83-3E8F-3841-A884-821D9BF73D0E}"/>
                </a:ext>
              </a:extLst>
            </p:cNvPr>
            <p:cNvSpPr/>
            <p:nvPr/>
          </p:nvSpPr>
          <p:spPr bwMode="auto">
            <a:xfrm>
              <a:off x="5256606" y="2995613"/>
              <a:ext cx="360362" cy="360362"/>
            </a:xfrm>
            <a:prstGeom prst="rect">
              <a:avLst/>
            </a:prstGeom>
            <a:solidFill>
              <a:schemeClr val="accent1">
                <a:lumMod val="40000"/>
                <a:lumOff val="60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r>
                <a:rPr lang="en-US" sz="1200" b="1" dirty="0">
                  <a:solidFill>
                    <a:schemeClr val="tx1"/>
                  </a:solidFill>
                </a:rPr>
                <a:t>n1</a:t>
              </a:r>
            </a:p>
          </p:txBody>
        </p:sp>
        <p:cxnSp>
          <p:nvCxnSpPr>
            <p:cNvPr id="40" name="Elbow Connector 39">
              <a:extLst>
                <a:ext uri="{FF2B5EF4-FFF2-40B4-BE49-F238E27FC236}">
                  <a16:creationId xmlns:a16="http://schemas.microsoft.com/office/drawing/2014/main" id="{D810C156-F9D4-694D-9205-DC36E7DA823E}"/>
                </a:ext>
              </a:extLst>
            </p:cNvPr>
            <p:cNvCxnSpPr>
              <a:stCxn id="45" idx="0"/>
              <a:endCxn id="23" idx="1"/>
            </p:cNvCxnSpPr>
            <p:nvPr/>
          </p:nvCxnSpPr>
          <p:spPr>
            <a:xfrm rot="5400000" flipH="1" flipV="1">
              <a:off x="5461099" y="2596461"/>
              <a:ext cx="374840" cy="423465"/>
            </a:xfrm>
            <a:prstGeom prst="bentConnector2">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51" name="Elbow Connector 50">
              <a:extLst>
                <a:ext uri="{FF2B5EF4-FFF2-40B4-BE49-F238E27FC236}">
                  <a16:creationId xmlns:a16="http://schemas.microsoft.com/office/drawing/2014/main" id="{FD3682E0-959B-D64E-8E99-49AE26012128}"/>
                </a:ext>
              </a:extLst>
            </p:cNvPr>
            <p:cNvCxnSpPr>
              <a:cxnSpLocks/>
              <a:stCxn id="23" idx="3"/>
              <a:endCxn id="24" idx="0"/>
            </p:cNvCxnSpPr>
            <p:nvPr/>
          </p:nvCxnSpPr>
          <p:spPr>
            <a:xfrm>
              <a:off x="6220614" y="2620773"/>
              <a:ext cx="454817" cy="374840"/>
            </a:xfrm>
            <a:prstGeom prst="bentConnector2">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55" name="Straight Arrow Connector 54">
              <a:extLst>
                <a:ext uri="{FF2B5EF4-FFF2-40B4-BE49-F238E27FC236}">
                  <a16:creationId xmlns:a16="http://schemas.microsoft.com/office/drawing/2014/main" id="{07057291-452C-F345-B2A4-6ABD584B3B3F}"/>
                </a:ext>
              </a:extLst>
            </p:cNvPr>
            <p:cNvCxnSpPr>
              <a:stCxn id="45" idx="3"/>
              <a:endCxn id="24" idx="1"/>
            </p:cNvCxnSpPr>
            <p:nvPr/>
          </p:nvCxnSpPr>
          <p:spPr>
            <a:xfrm>
              <a:off x="5616968" y="3175794"/>
              <a:ext cx="878282"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61" name="Straight Arrow Connector 60">
              <a:extLst>
                <a:ext uri="{FF2B5EF4-FFF2-40B4-BE49-F238E27FC236}">
                  <a16:creationId xmlns:a16="http://schemas.microsoft.com/office/drawing/2014/main" id="{7485DBE9-F951-9F47-B2CF-217F8458332C}"/>
                </a:ext>
              </a:extLst>
            </p:cNvPr>
            <p:cNvCxnSpPr>
              <a:cxnSpLocks/>
              <a:stCxn id="20" idx="3"/>
              <a:endCxn id="45" idx="1"/>
            </p:cNvCxnSpPr>
            <p:nvPr/>
          </p:nvCxnSpPr>
          <p:spPr>
            <a:xfrm>
              <a:off x="4732739" y="3172619"/>
              <a:ext cx="523867" cy="3175"/>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64" name="Elbow Connector 63">
              <a:extLst>
                <a:ext uri="{FF2B5EF4-FFF2-40B4-BE49-F238E27FC236}">
                  <a16:creationId xmlns:a16="http://schemas.microsoft.com/office/drawing/2014/main" id="{E0EECC63-73B5-7C40-8157-A8D7043893CF}"/>
                </a:ext>
              </a:extLst>
            </p:cNvPr>
            <p:cNvCxnSpPr>
              <a:cxnSpLocks/>
              <a:stCxn id="74" idx="0"/>
              <a:endCxn id="28" idx="1"/>
            </p:cNvCxnSpPr>
            <p:nvPr/>
          </p:nvCxnSpPr>
          <p:spPr>
            <a:xfrm rot="5400000" flipH="1" flipV="1">
              <a:off x="6794359" y="2624885"/>
              <a:ext cx="376179" cy="367957"/>
            </a:xfrm>
            <a:prstGeom prst="bentConnector2">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70" name="Straight Arrow Connector 69">
              <a:extLst>
                <a:ext uri="{FF2B5EF4-FFF2-40B4-BE49-F238E27FC236}">
                  <a16:creationId xmlns:a16="http://schemas.microsoft.com/office/drawing/2014/main" id="{D8996D62-90E7-A54B-AD88-05684703CBDA}"/>
                </a:ext>
              </a:extLst>
            </p:cNvPr>
            <p:cNvCxnSpPr>
              <a:cxnSpLocks/>
              <a:stCxn id="24" idx="3"/>
              <a:endCxn id="29" idx="1"/>
            </p:cNvCxnSpPr>
            <p:nvPr/>
          </p:nvCxnSpPr>
          <p:spPr>
            <a:xfrm>
              <a:off x="6855612" y="3175794"/>
              <a:ext cx="990602"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73" name="Elbow Connector 72">
              <a:extLst>
                <a:ext uri="{FF2B5EF4-FFF2-40B4-BE49-F238E27FC236}">
                  <a16:creationId xmlns:a16="http://schemas.microsoft.com/office/drawing/2014/main" id="{CB59A7CB-832A-BB4B-A20A-4D2181EC6C6B}"/>
                </a:ext>
              </a:extLst>
            </p:cNvPr>
            <p:cNvCxnSpPr>
              <a:cxnSpLocks/>
              <a:stCxn id="28" idx="3"/>
              <a:endCxn id="29" idx="0"/>
            </p:cNvCxnSpPr>
            <p:nvPr/>
          </p:nvCxnSpPr>
          <p:spPr>
            <a:xfrm>
              <a:off x="7526789" y="2620773"/>
              <a:ext cx="499607" cy="374840"/>
            </a:xfrm>
            <a:prstGeom prst="bentConnector2">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74" name="Rectangle 73">
              <a:extLst>
                <a:ext uri="{FF2B5EF4-FFF2-40B4-BE49-F238E27FC236}">
                  <a16:creationId xmlns:a16="http://schemas.microsoft.com/office/drawing/2014/main" id="{1A9ED44A-71D5-3E4A-8F51-94F97854F5E7}"/>
                </a:ext>
              </a:extLst>
            </p:cNvPr>
            <p:cNvSpPr/>
            <p:nvPr/>
          </p:nvSpPr>
          <p:spPr>
            <a:xfrm>
              <a:off x="6720683" y="2996952"/>
              <a:ext cx="155573" cy="103982"/>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3" name="TextBox 92">
              <a:extLst>
                <a:ext uri="{FF2B5EF4-FFF2-40B4-BE49-F238E27FC236}">
                  <a16:creationId xmlns:a16="http://schemas.microsoft.com/office/drawing/2014/main" id="{CF728332-AB13-FA4E-A47C-2FEF476DC3FA}"/>
                </a:ext>
              </a:extLst>
            </p:cNvPr>
            <p:cNvSpPr txBox="1"/>
            <p:nvPr/>
          </p:nvSpPr>
          <p:spPr bwMode="auto">
            <a:xfrm>
              <a:off x="6206289" y="3408402"/>
              <a:ext cx="1088761" cy="646331"/>
            </a:xfrm>
            <a:prstGeom prst="rect">
              <a:avLst/>
            </a:prstGeom>
            <a:noFill/>
          </p:spPr>
          <p:txBody>
            <a:bodyPr wrap="none">
              <a:spAutoFit/>
            </a:bodyPr>
            <a:lstStyle/>
            <a:p>
              <a:pPr algn="ctr">
                <a:defRPr/>
              </a:pPr>
              <a:r>
                <a:rPr lang="en-US" dirty="0"/>
                <a:t>use = {x}</a:t>
              </a:r>
            </a:p>
            <a:p>
              <a:pPr algn="ctr">
                <a:defRPr/>
              </a:pPr>
              <a:r>
                <a:rPr lang="en-US" dirty="0">
                  <a:latin typeface="+mn-lt"/>
                </a:rPr>
                <a:t>def  = </a:t>
              </a:r>
              <a:r>
                <a:rPr lang="en-US" dirty="0">
                  <a:latin typeface="+mn-lt"/>
                  <a:sym typeface="Symbol"/>
                </a:rPr>
                <a:t></a:t>
              </a:r>
              <a:endParaRPr lang="en-US" dirty="0">
                <a:latin typeface="+mn-lt"/>
              </a:endParaRPr>
            </a:p>
          </p:txBody>
        </p:sp>
      </p:grpSp>
    </p:spTree>
    <p:extLst>
      <p:ext uri="{BB962C8B-B14F-4D97-AF65-F5344CB8AC3E}">
        <p14:creationId xmlns:p14="http://schemas.microsoft.com/office/powerpoint/2010/main" val="199027231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44"/>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43"/>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42"/>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41"/>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39"/>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2"/>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nodeType="clickEffect">
                                  <p:stCondLst>
                                    <p:cond delay="0"/>
                                  </p:stCondLst>
                                  <p:childTnLst>
                                    <p:set>
                                      <p:cBhvr>
                                        <p:cTn id="20" dur="1" fill="hold">
                                          <p:stCondLst>
                                            <p:cond delay="0"/>
                                          </p:stCondLst>
                                        </p:cTn>
                                        <p:tgtEl>
                                          <p:spTgt spid="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4" grpId="0" animBg="1"/>
      <p:bldP spid="43" grpId="0" animBg="1"/>
      <p:bldP spid="42" grpId="0" animBg="1"/>
      <p:bldP spid="41" grpId="0" animBg="1"/>
      <p:bldP spid="39" grpId="0" animBg="1"/>
      <p:bldP spid="2" grpId="0" animBg="1"/>
    </p:bldLst>
  </p:timing>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2" name="Rounded Rectangle 31">
            <a:extLst>
              <a:ext uri="{FF2B5EF4-FFF2-40B4-BE49-F238E27FC236}">
                <a16:creationId xmlns:a16="http://schemas.microsoft.com/office/drawing/2014/main" id="{95C18D2C-793E-1A4B-8398-F8FF19974917}"/>
              </a:ext>
            </a:extLst>
          </p:cNvPr>
          <p:cNvSpPr/>
          <p:nvPr/>
        </p:nvSpPr>
        <p:spPr>
          <a:xfrm>
            <a:off x="450550" y="5556940"/>
            <a:ext cx="8176458" cy="1015310"/>
          </a:xfrm>
          <a:prstGeom prst="roundRect">
            <a:avLst/>
          </a:prstGeom>
          <a:solidFill>
            <a:schemeClr val="accent6">
              <a:lumMod val="40000"/>
              <a:lumOff val="60000"/>
              <a:alpha val="25000"/>
            </a:schemeClr>
          </a:solidFill>
          <a:ln>
            <a:solidFill>
              <a:schemeClr val="accent6">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9" name="Rounded Rectangle 28">
            <a:extLst>
              <a:ext uri="{FF2B5EF4-FFF2-40B4-BE49-F238E27FC236}">
                <a16:creationId xmlns:a16="http://schemas.microsoft.com/office/drawing/2014/main" id="{73EC01A9-5394-D642-BDDA-807DE2C27963}"/>
              </a:ext>
            </a:extLst>
          </p:cNvPr>
          <p:cNvSpPr/>
          <p:nvPr/>
        </p:nvSpPr>
        <p:spPr>
          <a:xfrm>
            <a:off x="457199" y="1548352"/>
            <a:ext cx="5393856" cy="2320385"/>
          </a:xfrm>
          <a:prstGeom prst="roundRect">
            <a:avLst>
              <a:gd name="adj" fmla="val 14083"/>
            </a:avLst>
          </a:prstGeom>
          <a:solidFill>
            <a:srgbClr val="FFC000">
              <a:alpha val="25000"/>
            </a:srgbClr>
          </a:solidFill>
          <a:ln>
            <a:solidFill>
              <a:srgbClr val="FFC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146" name="Title 1"/>
          <p:cNvSpPr>
            <a:spLocks noGrp="1"/>
          </p:cNvSpPr>
          <p:nvPr>
            <p:ph type="title"/>
          </p:nvPr>
        </p:nvSpPr>
        <p:spPr/>
        <p:txBody>
          <a:bodyPr/>
          <a:lstStyle/>
          <a:p>
            <a:r>
              <a:rPr lang="en-US"/>
              <a:t>Terminologies</a:t>
            </a:r>
          </a:p>
        </p:txBody>
      </p:sp>
      <p:sp>
        <p:nvSpPr>
          <p:cNvPr id="6147" name="Content Placeholder 2"/>
          <p:cNvSpPr>
            <a:spLocks noGrp="1"/>
          </p:cNvSpPr>
          <p:nvPr>
            <p:ph idx="1"/>
          </p:nvPr>
        </p:nvSpPr>
        <p:spPr>
          <a:xfrm>
            <a:off x="457200" y="4017963"/>
            <a:ext cx="8229600" cy="2554287"/>
          </a:xfrm>
        </p:spPr>
        <p:txBody>
          <a:bodyPr/>
          <a:lstStyle/>
          <a:p>
            <a:r>
              <a:rPr lang="en-US" sz="2400" dirty="0" err="1"/>
              <a:t>Def</a:t>
            </a:r>
            <a:r>
              <a:rPr lang="en-US" sz="2400" dirty="0"/>
              <a:t>/use graph: see above. In general, </a:t>
            </a:r>
            <a:r>
              <a:rPr lang="en-US" sz="2400" dirty="0" err="1"/>
              <a:t>def</a:t>
            </a:r>
            <a:r>
              <a:rPr lang="en-US" sz="2400" dirty="0"/>
              <a:t>/use labels are allowed on the edges as well.</a:t>
            </a:r>
          </a:p>
          <a:p>
            <a:r>
              <a:rPr lang="en-US" sz="2400" dirty="0"/>
              <a:t>A path </a:t>
            </a:r>
            <a:r>
              <a:rPr lang="en-US" sz="2400" i="1" dirty="0"/>
              <a:t>p </a:t>
            </a:r>
            <a:r>
              <a:rPr lang="en-US" sz="2400" dirty="0"/>
              <a:t> =  [</a:t>
            </a:r>
            <a:r>
              <a:rPr lang="en-US" sz="2400" dirty="0" err="1"/>
              <a:t>i</a:t>
            </a:r>
            <a:r>
              <a:rPr lang="en-US" sz="2400" dirty="0"/>
              <a:t>,...,k] is </a:t>
            </a:r>
            <a:r>
              <a:rPr lang="en-US" sz="2400" i="1" u="sng" dirty="0" err="1"/>
              <a:t>def</a:t>
            </a:r>
            <a:r>
              <a:rPr lang="en-US" sz="2400" i="1" u="sng" dirty="0"/>
              <a:t>-clear</a:t>
            </a:r>
            <a:r>
              <a:rPr lang="en-US" sz="2400" dirty="0"/>
              <a:t> </a:t>
            </a:r>
            <a:r>
              <a:rPr lang="en-US" sz="2400" dirty="0" err="1"/>
              <a:t>wrt</a:t>
            </a:r>
            <a:r>
              <a:rPr lang="en-US" sz="2400" dirty="0"/>
              <a:t> </a:t>
            </a:r>
            <a:r>
              <a:rPr lang="en-US" sz="2400" i="1" dirty="0"/>
              <a:t>v</a:t>
            </a:r>
            <a:r>
              <a:rPr lang="en-US" sz="2400" dirty="0"/>
              <a:t> </a:t>
            </a:r>
            <a:r>
              <a:rPr lang="en-US" sz="2400" dirty="0" err="1"/>
              <a:t>iff</a:t>
            </a:r>
            <a:r>
              <a:rPr lang="en-US" sz="2400" dirty="0"/>
              <a:t> v </a:t>
            </a:r>
            <a:r>
              <a:rPr lang="en-US" sz="2400" dirty="0">
                <a:sym typeface="Symbol" pitchFamily="18" charset="2"/>
              </a:rPr>
              <a:t> </a:t>
            </a:r>
            <a:r>
              <a:rPr lang="en-US" sz="2400" i="1" dirty="0" err="1">
                <a:sym typeface="Symbol" pitchFamily="18" charset="2"/>
              </a:rPr>
              <a:t>def</a:t>
            </a:r>
            <a:r>
              <a:rPr lang="en-US" sz="2400" dirty="0">
                <a:sym typeface="Symbol" pitchFamily="18" charset="2"/>
              </a:rPr>
              <a:t>(j) and </a:t>
            </a:r>
            <a:r>
              <a:rPr lang="en-US" sz="2400" i="1" dirty="0">
                <a:sym typeface="Symbol" pitchFamily="18" charset="2"/>
              </a:rPr>
              <a:t>v </a:t>
            </a:r>
            <a:r>
              <a:rPr lang="en-US" sz="2400" dirty="0">
                <a:sym typeface="Symbol" pitchFamily="18" charset="2"/>
              </a:rPr>
              <a:t></a:t>
            </a:r>
            <a:r>
              <a:rPr lang="en-US" sz="2400" i="1" dirty="0">
                <a:sym typeface="Symbol" pitchFamily="18" charset="2"/>
              </a:rPr>
              <a:t> </a:t>
            </a:r>
            <a:r>
              <a:rPr lang="en-US" sz="2400" i="1" dirty="0" err="1">
                <a:sym typeface="Symbol" pitchFamily="18" charset="2"/>
              </a:rPr>
              <a:t>def</a:t>
            </a:r>
            <a:r>
              <a:rPr lang="en-US" sz="2400" dirty="0">
                <a:sym typeface="Symbol" pitchFamily="18" charset="2"/>
              </a:rPr>
              <a:t>(</a:t>
            </a:r>
            <a:r>
              <a:rPr lang="en-US" sz="2400" i="1" dirty="0">
                <a:sym typeface="Symbol" pitchFamily="18" charset="2"/>
              </a:rPr>
              <a:t>e</a:t>
            </a:r>
            <a:r>
              <a:rPr lang="en-US" sz="2400" dirty="0">
                <a:sym typeface="Symbol" pitchFamily="18" charset="2"/>
              </a:rPr>
              <a:t>)</a:t>
            </a:r>
            <a:r>
              <a:rPr lang="en-US" sz="2400" i="1" dirty="0">
                <a:sym typeface="Symbol" pitchFamily="18" charset="2"/>
              </a:rPr>
              <a:t> </a:t>
            </a:r>
            <a:r>
              <a:rPr lang="en-US" sz="2400" dirty="0">
                <a:sym typeface="Symbol" pitchFamily="18" charset="2"/>
              </a:rPr>
              <a:t>for all nodes </a:t>
            </a:r>
            <a:r>
              <a:rPr lang="en-US" sz="2400" i="1" dirty="0">
                <a:sym typeface="Symbol" pitchFamily="18" charset="2"/>
              </a:rPr>
              <a:t>j</a:t>
            </a:r>
            <a:r>
              <a:rPr lang="en-US" sz="2400" dirty="0">
                <a:sym typeface="Symbol" pitchFamily="18" charset="2"/>
              </a:rPr>
              <a:t>  and edges </a:t>
            </a:r>
            <a:r>
              <a:rPr lang="en-US" sz="2400" i="1" dirty="0">
                <a:sym typeface="Symbol" pitchFamily="18" charset="2"/>
              </a:rPr>
              <a:t>e </a:t>
            </a:r>
            <a:r>
              <a:rPr lang="en-US" sz="2400" dirty="0">
                <a:sym typeface="Symbol" pitchFamily="18" charset="2"/>
              </a:rPr>
              <a:t>in </a:t>
            </a:r>
            <a:r>
              <a:rPr lang="en-US" sz="2400" i="1" dirty="0">
                <a:sym typeface="Symbol" pitchFamily="18" charset="2"/>
              </a:rPr>
              <a:t>p</a:t>
            </a:r>
            <a:r>
              <a:rPr lang="en-US" sz="2400" dirty="0">
                <a:sym typeface="Symbol" pitchFamily="18" charset="2"/>
              </a:rPr>
              <a:t> </a:t>
            </a:r>
            <a:r>
              <a:rPr lang="en-US" sz="2400" b="1" i="1" dirty="0">
                <a:sym typeface="Symbol" pitchFamily="18" charset="2"/>
              </a:rPr>
              <a:t>between</a:t>
            </a:r>
            <a:r>
              <a:rPr lang="en-US" sz="2400" dirty="0">
                <a:sym typeface="Symbol" pitchFamily="18" charset="2"/>
              </a:rPr>
              <a:t> </a:t>
            </a:r>
            <a:r>
              <a:rPr lang="en-US" sz="2400" i="1" dirty="0" err="1">
                <a:sym typeface="Symbol" pitchFamily="18" charset="2"/>
              </a:rPr>
              <a:t>i</a:t>
            </a:r>
            <a:r>
              <a:rPr lang="en-US" sz="2400" i="1" dirty="0">
                <a:sym typeface="Symbol" pitchFamily="18" charset="2"/>
              </a:rPr>
              <a:t> </a:t>
            </a:r>
            <a:r>
              <a:rPr lang="en-US" sz="2400" dirty="0">
                <a:sym typeface="Symbol" pitchFamily="18" charset="2"/>
              </a:rPr>
              <a:t>and</a:t>
            </a:r>
            <a:r>
              <a:rPr lang="en-US" sz="2400" i="1" dirty="0">
                <a:sym typeface="Symbol" pitchFamily="18" charset="2"/>
              </a:rPr>
              <a:t>  k.</a:t>
            </a:r>
          </a:p>
          <a:p>
            <a:r>
              <a:rPr lang="en-US" sz="2400" dirty="0">
                <a:sym typeface="Symbol" pitchFamily="18" charset="2"/>
              </a:rPr>
              <a:t>A </a:t>
            </a:r>
            <a:r>
              <a:rPr lang="en-US" sz="2400" i="1" u="sng" dirty="0">
                <a:sym typeface="Symbol" pitchFamily="18" charset="2"/>
              </a:rPr>
              <a:t>du-path</a:t>
            </a:r>
            <a:r>
              <a:rPr lang="en-US" sz="2400" dirty="0">
                <a:sym typeface="Symbol" pitchFamily="18" charset="2"/>
              </a:rPr>
              <a:t> </a:t>
            </a:r>
            <a:r>
              <a:rPr lang="en-US" sz="2400" dirty="0" err="1">
                <a:sym typeface="Symbol" pitchFamily="18" charset="2"/>
              </a:rPr>
              <a:t>wrt</a:t>
            </a:r>
            <a:r>
              <a:rPr lang="en-US" sz="2400" dirty="0">
                <a:sym typeface="Symbol" pitchFamily="18" charset="2"/>
              </a:rPr>
              <a:t> </a:t>
            </a:r>
            <a:r>
              <a:rPr lang="en-US" sz="2400" i="1" dirty="0">
                <a:sym typeface="Symbol" pitchFamily="18" charset="2"/>
              </a:rPr>
              <a:t>v</a:t>
            </a:r>
            <a:r>
              <a:rPr lang="en-US" sz="2400" dirty="0">
                <a:sym typeface="Symbol" pitchFamily="18" charset="2"/>
              </a:rPr>
              <a:t> = a </a:t>
            </a:r>
            <a:r>
              <a:rPr lang="en-US" sz="2400" b="1" dirty="0">
                <a:sym typeface="Symbol" pitchFamily="18" charset="2"/>
              </a:rPr>
              <a:t>simple </a:t>
            </a:r>
            <a:r>
              <a:rPr lang="en-US" sz="2400" dirty="0">
                <a:sym typeface="Symbol" pitchFamily="18" charset="2"/>
              </a:rPr>
              <a:t>and</a:t>
            </a:r>
            <a:r>
              <a:rPr lang="en-US" sz="2400" b="1" dirty="0">
                <a:sym typeface="Symbol" pitchFamily="18" charset="2"/>
              </a:rPr>
              <a:t> def-clear </a:t>
            </a:r>
            <a:r>
              <a:rPr lang="en-US" sz="2400" dirty="0">
                <a:sym typeface="Symbol" pitchFamily="18" charset="2"/>
              </a:rPr>
              <a:t>path from </a:t>
            </a:r>
            <a:r>
              <a:rPr lang="en-US" sz="2400" dirty="0" err="1">
                <a:sym typeface="Symbol" pitchFamily="18" charset="2"/>
              </a:rPr>
              <a:t>i</a:t>
            </a:r>
            <a:r>
              <a:rPr lang="en-US" sz="2400" dirty="0">
                <a:sym typeface="Symbol" pitchFamily="18" charset="2"/>
              </a:rPr>
              <a:t> to k with </a:t>
            </a:r>
            <a:r>
              <a:rPr lang="en-US" sz="2400" i="1" dirty="0" err="1">
                <a:sym typeface="Symbol" pitchFamily="18" charset="2"/>
              </a:rPr>
              <a:t>v</a:t>
            </a:r>
            <a:r>
              <a:rPr lang="en-US" sz="2400" dirty="0" err="1">
                <a:sym typeface="Symbol" pitchFamily="18" charset="2"/>
              </a:rPr>
              <a:t></a:t>
            </a:r>
            <a:r>
              <a:rPr lang="en-US" sz="2400" i="1" dirty="0" err="1">
                <a:sym typeface="Symbol" pitchFamily="18" charset="2"/>
              </a:rPr>
              <a:t>def</a:t>
            </a:r>
            <a:r>
              <a:rPr lang="en-US" sz="2400" dirty="0">
                <a:sym typeface="Symbol" pitchFamily="18" charset="2"/>
              </a:rPr>
              <a:t>(</a:t>
            </a:r>
            <a:r>
              <a:rPr lang="en-US" sz="2400" i="1" dirty="0" err="1">
                <a:sym typeface="Symbol" pitchFamily="18" charset="2"/>
              </a:rPr>
              <a:t>i</a:t>
            </a:r>
            <a:r>
              <a:rPr lang="en-US" sz="2400" dirty="0">
                <a:sym typeface="Symbol" pitchFamily="18" charset="2"/>
              </a:rPr>
              <a:t>) and </a:t>
            </a:r>
            <a:r>
              <a:rPr lang="en-US" sz="2400" i="1" dirty="0" err="1">
                <a:sym typeface="Symbol" pitchFamily="18" charset="2"/>
              </a:rPr>
              <a:t>v</a:t>
            </a:r>
            <a:r>
              <a:rPr lang="en-US" sz="2400" dirty="0" err="1">
                <a:sym typeface="Symbol" pitchFamily="18" charset="2"/>
              </a:rPr>
              <a:t></a:t>
            </a:r>
            <a:r>
              <a:rPr lang="en-US" sz="2400" i="1" dirty="0" err="1">
                <a:sym typeface="Symbol" pitchFamily="18" charset="2"/>
              </a:rPr>
              <a:t>use</a:t>
            </a:r>
            <a:r>
              <a:rPr lang="en-US" sz="2400" dirty="0">
                <a:sym typeface="Symbol" pitchFamily="18" charset="2"/>
              </a:rPr>
              <a:t>(</a:t>
            </a:r>
            <a:r>
              <a:rPr lang="en-US" sz="2400" i="1" dirty="0">
                <a:sym typeface="Symbol" pitchFamily="18" charset="2"/>
              </a:rPr>
              <a:t>k</a:t>
            </a:r>
            <a:r>
              <a:rPr lang="en-US" sz="2400" dirty="0">
                <a:sym typeface="Symbol" pitchFamily="18" charset="2"/>
              </a:rPr>
              <a:t>).</a:t>
            </a:r>
            <a:endParaRPr lang="en-US" sz="2400" dirty="0"/>
          </a:p>
          <a:p>
            <a:endParaRPr lang="en-US" sz="2400" dirty="0"/>
          </a:p>
        </p:txBody>
      </p:sp>
      <p:sp>
        <p:nvSpPr>
          <p:cNvPr id="4" name="Slide Number Placeholder 3"/>
          <p:cNvSpPr>
            <a:spLocks noGrp="1"/>
          </p:cNvSpPr>
          <p:nvPr>
            <p:ph type="sldNum" sz="quarter" idx="12"/>
          </p:nvPr>
        </p:nvSpPr>
        <p:spPr/>
        <p:txBody>
          <a:bodyPr/>
          <a:lstStyle/>
          <a:p>
            <a:pPr>
              <a:defRPr/>
            </a:pPr>
            <a:fld id="{11FD2F08-B982-4E73-9302-7B5E6F4605FB}" type="slidenum">
              <a:rPr lang="en-US" smtClean="0"/>
              <a:pPr>
                <a:defRPr/>
              </a:pPr>
              <a:t>5</a:t>
            </a:fld>
            <a:endParaRPr lang="en-US"/>
          </a:p>
        </p:txBody>
      </p:sp>
      <p:sp>
        <p:nvSpPr>
          <p:cNvPr id="23" name="TextBox 22"/>
          <p:cNvSpPr txBox="1"/>
          <p:nvPr/>
        </p:nvSpPr>
        <p:spPr>
          <a:xfrm>
            <a:off x="6070987" y="1587593"/>
            <a:ext cx="2556021" cy="2246769"/>
          </a:xfrm>
          <a:prstGeom prst="rect">
            <a:avLst/>
          </a:prstGeom>
          <a:noFill/>
          <a:ln>
            <a:noFill/>
          </a:ln>
        </p:spPr>
        <p:txBody>
          <a:bodyPr wrap="none">
            <a:spAutoFit/>
          </a:bodyPr>
          <a:lstStyle/>
          <a:p>
            <a:pPr>
              <a:defRPr/>
            </a:pPr>
            <a:r>
              <a:rPr lang="en-US" sz="2000" dirty="0">
                <a:latin typeface="+mn-lt"/>
              </a:rPr>
              <a:t>du-paths </a:t>
            </a:r>
            <a:r>
              <a:rPr lang="en-US" sz="2000" dirty="0" err="1">
                <a:latin typeface="+mn-lt"/>
              </a:rPr>
              <a:t>wrt</a:t>
            </a:r>
            <a:r>
              <a:rPr lang="en-US" sz="2000" dirty="0">
                <a:latin typeface="+mn-lt"/>
              </a:rPr>
              <a:t> x:</a:t>
            </a:r>
          </a:p>
          <a:p>
            <a:pPr>
              <a:defRPr/>
            </a:pPr>
            <a:r>
              <a:rPr lang="en-US" sz="2000" dirty="0">
                <a:latin typeface="+mn-lt"/>
              </a:rPr>
              <a:t>   013, 0123</a:t>
            </a:r>
          </a:p>
          <a:p>
            <a:pPr>
              <a:defRPr/>
            </a:pPr>
            <a:r>
              <a:rPr lang="en-US" sz="2000" dirty="0">
                <a:latin typeface="+mn-lt"/>
              </a:rPr>
              <a:t>   0134, 01234, </a:t>
            </a:r>
          </a:p>
          <a:p>
            <a:pPr>
              <a:defRPr/>
            </a:pPr>
            <a:r>
              <a:rPr lang="en-US" sz="2000" dirty="0">
                <a:latin typeface="+mn-lt"/>
              </a:rPr>
              <a:t>   0135, 01235</a:t>
            </a:r>
            <a:br>
              <a:rPr lang="en-US" sz="2000" dirty="0">
                <a:latin typeface="+mn-lt"/>
              </a:rPr>
            </a:br>
            <a:r>
              <a:rPr lang="en-US" sz="2000" dirty="0">
                <a:latin typeface="+mn-lt"/>
              </a:rPr>
              <a:t>   45</a:t>
            </a:r>
          </a:p>
          <a:p>
            <a:pPr>
              <a:defRPr/>
            </a:pPr>
            <a:r>
              <a:rPr lang="en-US" sz="2000" dirty="0">
                <a:solidFill>
                  <a:srgbClr val="FF0000"/>
                </a:solidFill>
                <a:latin typeface="+mn-lt"/>
              </a:rPr>
              <a:t>Not</a:t>
            </a:r>
            <a:r>
              <a:rPr lang="en-US" sz="2000" dirty="0">
                <a:latin typeface="+mn-lt"/>
              </a:rPr>
              <a:t> du-path </a:t>
            </a:r>
            <a:r>
              <a:rPr lang="en-US" sz="2000" dirty="0" err="1">
                <a:latin typeface="+mn-lt"/>
              </a:rPr>
              <a:t>wrt</a:t>
            </a:r>
            <a:r>
              <a:rPr lang="en-US" sz="2000" dirty="0">
                <a:latin typeface="+mn-lt"/>
              </a:rPr>
              <a:t> x:</a:t>
            </a:r>
          </a:p>
          <a:p>
            <a:pPr>
              <a:defRPr/>
            </a:pPr>
            <a:r>
              <a:rPr lang="en-US" sz="2000" dirty="0">
                <a:latin typeface="+mn-lt"/>
              </a:rPr>
              <a:t>   </a:t>
            </a:r>
            <a:r>
              <a:rPr lang="en-US" sz="2000" dirty="0">
                <a:solidFill>
                  <a:srgbClr val="FF0000"/>
                </a:solidFill>
                <a:latin typeface="+mn-lt"/>
              </a:rPr>
              <a:t>01345</a:t>
            </a:r>
            <a:r>
              <a:rPr lang="en-US" sz="2000" dirty="0">
                <a:latin typeface="+mn-lt"/>
              </a:rPr>
              <a:t> (not def-clear)</a:t>
            </a:r>
          </a:p>
        </p:txBody>
      </p:sp>
      <p:sp>
        <p:nvSpPr>
          <p:cNvPr id="25" name="Rectangle 24">
            <a:extLst>
              <a:ext uri="{FF2B5EF4-FFF2-40B4-BE49-F238E27FC236}">
                <a16:creationId xmlns:a16="http://schemas.microsoft.com/office/drawing/2014/main" id="{FA899E9C-2A44-DF47-81BA-7457CA8ED88E}"/>
              </a:ext>
            </a:extLst>
          </p:cNvPr>
          <p:cNvSpPr/>
          <p:nvPr/>
        </p:nvSpPr>
        <p:spPr bwMode="auto">
          <a:xfrm>
            <a:off x="1114928" y="2773259"/>
            <a:ext cx="360362" cy="360362"/>
          </a:xfrm>
          <a:prstGeom prst="rect">
            <a:avLst/>
          </a:prstGeom>
          <a:solidFill>
            <a:srgbClr val="FFFF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r>
              <a:rPr lang="en-US" sz="1200" b="1" dirty="0">
                <a:solidFill>
                  <a:schemeClr val="tx1"/>
                </a:solidFill>
              </a:rPr>
              <a:t>n0</a:t>
            </a:r>
          </a:p>
        </p:txBody>
      </p:sp>
      <p:sp>
        <p:nvSpPr>
          <p:cNvPr id="26" name="Rectangle 25">
            <a:extLst>
              <a:ext uri="{FF2B5EF4-FFF2-40B4-BE49-F238E27FC236}">
                <a16:creationId xmlns:a16="http://schemas.microsoft.com/office/drawing/2014/main" id="{3178CAE1-6245-744F-84BA-301FAD1CE52D}"/>
              </a:ext>
            </a:extLst>
          </p:cNvPr>
          <p:cNvSpPr/>
          <p:nvPr/>
        </p:nvSpPr>
        <p:spPr bwMode="auto">
          <a:xfrm>
            <a:off x="2602803" y="2221413"/>
            <a:ext cx="360362" cy="360362"/>
          </a:xfrm>
          <a:prstGeom prst="rect">
            <a:avLst/>
          </a:prstGeom>
          <a:solidFill>
            <a:srgbClr val="FFFF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r>
              <a:rPr lang="en-US" sz="1200" b="1" dirty="0">
                <a:solidFill>
                  <a:schemeClr val="tx1"/>
                </a:solidFill>
              </a:rPr>
              <a:t>n2</a:t>
            </a:r>
          </a:p>
        </p:txBody>
      </p:sp>
      <p:sp>
        <p:nvSpPr>
          <p:cNvPr id="27" name="Rectangle 26">
            <a:extLst>
              <a:ext uri="{FF2B5EF4-FFF2-40B4-BE49-F238E27FC236}">
                <a16:creationId xmlns:a16="http://schemas.microsoft.com/office/drawing/2014/main" id="{9BC787C9-6492-D84A-BCA7-EB540CE003C2}"/>
              </a:ext>
            </a:extLst>
          </p:cNvPr>
          <p:cNvSpPr/>
          <p:nvPr/>
        </p:nvSpPr>
        <p:spPr bwMode="auto">
          <a:xfrm>
            <a:off x="3237801" y="2776434"/>
            <a:ext cx="360362" cy="360362"/>
          </a:xfrm>
          <a:prstGeom prst="rect">
            <a:avLst/>
          </a:prstGeom>
          <a:solidFill>
            <a:srgbClr val="FFFF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r>
              <a:rPr lang="en-US" sz="1200" b="1" dirty="0">
                <a:solidFill>
                  <a:schemeClr val="tx1"/>
                </a:solidFill>
              </a:rPr>
              <a:t>n3</a:t>
            </a:r>
          </a:p>
        </p:txBody>
      </p:sp>
      <p:sp>
        <p:nvSpPr>
          <p:cNvPr id="28" name="TextBox 27">
            <a:extLst>
              <a:ext uri="{FF2B5EF4-FFF2-40B4-BE49-F238E27FC236}">
                <a16:creationId xmlns:a16="http://schemas.microsoft.com/office/drawing/2014/main" id="{2D476EF6-F103-E143-BC48-B1D728CB331B}"/>
              </a:ext>
            </a:extLst>
          </p:cNvPr>
          <p:cNvSpPr txBox="1"/>
          <p:nvPr/>
        </p:nvSpPr>
        <p:spPr bwMode="auto">
          <a:xfrm>
            <a:off x="506600" y="2104332"/>
            <a:ext cx="1275862" cy="646331"/>
          </a:xfrm>
          <a:prstGeom prst="rect">
            <a:avLst/>
          </a:prstGeom>
          <a:noFill/>
        </p:spPr>
        <p:txBody>
          <a:bodyPr wrap="none">
            <a:spAutoFit/>
          </a:bodyPr>
          <a:lstStyle/>
          <a:p>
            <a:pPr algn="ctr">
              <a:defRPr/>
            </a:pPr>
            <a:r>
              <a:rPr lang="en-US" dirty="0"/>
              <a:t>use  = </a:t>
            </a:r>
            <a:r>
              <a:rPr lang="en-US" dirty="0">
                <a:sym typeface="Symbol"/>
              </a:rPr>
              <a:t></a:t>
            </a:r>
            <a:endParaRPr lang="en-US" dirty="0"/>
          </a:p>
          <a:p>
            <a:pPr algn="ctr">
              <a:defRPr/>
            </a:pPr>
            <a:r>
              <a:rPr lang="en-US" dirty="0">
                <a:latin typeface="+mn-lt"/>
              </a:rPr>
              <a:t>def  = { </a:t>
            </a:r>
            <a:r>
              <a:rPr lang="en-US" dirty="0" err="1">
                <a:latin typeface="+mn-lt"/>
              </a:rPr>
              <a:t>x,y</a:t>
            </a:r>
            <a:r>
              <a:rPr lang="en-US" dirty="0">
                <a:latin typeface="+mn-lt"/>
              </a:rPr>
              <a:t> }</a:t>
            </a:r>
          </a:p>
        </p:txBody>
      </p:sp>
      <p:sp>
        <p:nvSpPr>
          <p:cNvPr id="30" name="TextBox 29">
            <a:extLst>
              <a:ext uri="{FF2B5EF4-FFF2-40B4-BE49-F238E27FC236}">
                <a16:creationId xmlns:a16="http://schemas.microsoft.com/office/drawing/2014/main" id="{452654FC-A6A1-5741-8784-989A471E34D1}"/>
              </a:ext>
            </a:extLst>
          </p:cNvPr>
          <p:cNvSpPr txBox="1"/>
          <p:nvPr/>
        </p:nvSpPr>
        <p:spPr bwMode="auto">
          <a:xfrm>
            <a:off x="2238471" y="1532628"/>
            <a:ext cx="1089025" cy="646113"/>
          </a:xfrm>
          <a:prstGeom prst="rect">
            <a:avLst/>
          </a:prstGeom>
          <a:noFill/>
        </p:spPr>
        <p:txBody>
          <a:bodyPr wrap="none">
            <a:spAutoFit/>
          </a:bodyPr>
          <a:lstStyle/>
          <a:p>
            <a:pPr>
              <a:defRPr/>
            </a:pPr>
            <a:r>
              <a:rPr lang="en-US" dirty="0"/>
              <a:t>use = {y}</a:t>
            </a:r>
          </a:p>
          <a:p>
            <a:pPr>
              <a:defRPr/>
            </a:pPr>
            <a:r>
              <a:rPr lang="en-US" dirty="0">
                <a:latin typeface="+mn-lt"/>
              </a:rPr>
              <a:t>def  = {y}</a:t>
            </a:r>
          </a:p>
        </p:txBody>
      </p:sp>
      <p:sp>
        <p:nvSpPr>
          <p:cNvPr id="31" name="Rectangle 30">
            <a:extLst>
              <a:ext uri="{FF2B5EF4-FFF2-40B4-BE49-F238E27FC236}">
                <a16:creationId xmlns:a16="http://schemas.microsoft.com/office/drawing/2014/main" id="{E3902725-67E0-0246-8019-57FC6788BCE6}"/>
              </a:ext>
            </a:extLst>
          </p:cNvPr>
          <p:cNvSpPr/>
          <p:nvPr/>
        </p:nvSpPr>
        <p:spPr bwMode="auto">
          <a:xfrm>
            <a:off x="3908978" y="2221413"/>
            <a:ext cx="360362" cy="360362"/>
          </a:xfrm>
          <a:prstGeom prst="rect">
            <a:avLst/>
          </a:prstGeom>
          <a:solidFill>
            <a:srgbClr val="FFFF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r>
              <a:rPr lang="en-US" sz="1200" b="1" dirty="0">
                <a:solidFill>
                  <a:schemeClr val="tx1"/>
                </a:solidFill>
              </a:rPr>
              <a:t>n4</a:t>
            </a:r>
          </a:p>
        </p:txBody>
      </p:sp>
      <p:sp>
        <p:nvSpPr>
          <p:cNvPr id="33" name="Rectangle 32">
            <a:extLst>
              <a:ext uri="{FF2B5EF4-FFF2-40B4-BE49-F238E27FC236}">
                <a16:creationId xmlns:a16="http://schemas.microsoft.com/office/drawing/2014/main" id="{28863301-B311-9C45-B593-6369D672D21A}"/>
              </a:ext>
            </a:extLst>
          </p:cNvPr>
          <p:cNvSpPr/>
          <p:nvPr/>
        </p:nvSpPr>
        <p:spPr bwMode="auto">
          <a:xfrm>
            <a:off x="4588765" y="2776434"/>
            <a:ext cx="360363" cy="360362"/>
          </a:xfrm>
          <a:prstGeom prst="rect">
            <a:avLst/>
          </a:prstGeom>
          <a:solidFill>
            <a:srgbClr val="FFFF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r>
              <a:rPr lang="en-US" sz="1200" b="1" dirty="0">
                <a:solidFill>
                  <a:schemeClr val="tx1"/>
                </a:solidFill>
              </a:rPr>
              <a:t>n5</a:t>
            </a:r>
          </a:p>
        </p:txBody>
      </p:sp>
      <p:sp>
        <p:nvSpPr>
          <p:cNvPr id="34" name="TextBox 33">
            <a:extLst>
              <a:ext uri="{FF2B5EF4-FFF2-40B4-BE49-F238E27FC236}">
                <a16:creationId xmlns:a16="http://schemas.microsoft.com/office/drawing/2014/main" id="{2F78FFF3-80D7-2941-8D63-0953DBD3AB80}"/>
              </a:ext>
            </a:extLst>
          </p:cNvPr>
          <p:cNvSpPr txBox="1"/>
          <p:nvPr/>
        </p:nvSpPr>
        <p:spPr bwMode="auto">
          <a:xfrm>
            <a:off x="1634957" y="3182948"/>
            <a:ext cx="1088760" cy="646331"/>
          </a:xfrm>
          <a:prstGeom prst="rect">
            <a:avLst/>
          </a:prstGeom>
          <a:noFill/>
        </p:spPr>
        <p:txBody>
          <a:bodyPr wrap="none">
            <a:spAutoFit/>
          </a:bodyPr>
          <a:lstStyle/>
          <a:p>
            <a:pPr algn="ctr">
              <a:defRPr/>
            </a:pPr>
            <a:r>
              <a:rPr lang="en-US" dirty="0"/>
              <a:t>use = {y}</a:t>
            </a:r>
          </a:p>
          <a:p>
            <a:pPr algn="ctr">
              <a:defRPr/>
            </a:pPr>
            <a:r>
              <a:rPr lang="en-US" dirty="0">
                <a:latin typeface="+mn-lt"/>
              </a:rPr>
              <a:t>def  = </a:t>
            </a:r>
            <a:r>
              <a:rPr lang="en-US" dirty="0">
                <a:latin typeface="+mn-lt"/>
                <a:sym typeface="Symbol"/>
              </a:rPr>
              <a:t></a:t>
            </a:r>
            <a:endParaRPr lang="en-US" dirty="0">
              <a:latin typeface="+mn-lt"/>
            </a:endParaRPr>
          </a:p>
        </p:txBody>
      </p:sp>
      <p:sp>
        <p:nvSpPr>
          <p:cNvPr id="36" name="TextBox 35">
            <a:extLst>
              <a:ext uri="{FF2B5EF4-FFF2-40B4-BE49-F238E27FC236}">
                <a16:creationId xmlns:a16="http://schemas.microsoft.com/office/drawing/2014/main" id="{968A2BD2-0BF3-AC4B-B2D3-57702C18BAD4}"/>
              </a:ext>
            </a:extLst>
          </p:cNvPr>
          <p:cNvSpPr txBox="1"/>
          <p:nvPr/>
        </p:nvSpPr>
        <p:spPr bwMode="auto">
          <a:xfrm>
            <a:off x="4519143" y="3130790"/>
            <a:ext cx="1441357" cy="646331"/>
          </a:xfrm>
          <a:prstGeom prst="rect">
            <a:avLst/>
          </a:prstGeom>
          <a:noFill/>
        </p:spPr>
        <p:txBody>
          <a:bodyPr wrap="none">
            <a:spAutoFit/>
          </a:bodyPr>
          <a:lstStyle/>
          <a:p>
            <a:pPr>
              <a:defRPr/>
            </a:pPr>
            <a:r>
              <a:rPr lang="en-US" dirty="0"/>
              <a:t>use  = {</a:t>
            </a:r>
            <a:r>
              <a:rPr lang="en-US" dirty="0" err="1"/>
              <a:t>x,y</a:t>
            </a:r>
            <a:r>
              <a:rPr lang="en-US" dirty="0"/>
              <a:t>}</a:t>
            </a:r>
          </a:p>
          <a:p>
            <a:pPr>
              <a:defRPr/>
            </a:pPr>
            <a:r>
              <a:rPr lang="en-US" dirty="0">
                <a:latin typeface="+mn-lt"/>
              </a:rPr>
              <a:t>def  = </a:t>
            </a:r>
            <a:r>
              <a:rPr lang="en-US" dirty="0">
                <a:latin typeface="+mn-lt"/>
                <a:sym typeface="Symbol"/>
              </a:rPr>
              <a:t>{</a:t>
            </a:r>
            <a:r>
              <a:rPr lang="en-US" dirty="0" err="1">
                <a:latin typeface="+mn-lt"/>
                <a:sym typeface="Symbol"/>
              </a:rPr>
              <a:t>retval</a:t>
            </a:r>
            <a:r>
              <a:rPr lang="en-US" dirty="0">
                <a:latin typeface="+mn-lt"/>
                <a:sym typeface="Symbol"/>
              </a:rPr>
              <a:t>}</a:t>
            </a:r>
            <a:endParaRPr lang="en-US" dirty="0">
              <a:latin typeface="+mn-lt"/>
            </a:endParaRPr>
          </a:p>
        </p:txBody>
      </p:sp>
      <p:sp>
        <p:nvSpPr>
          <p:cNvPr id="37" name="TextBox 36">
            <a:extLst>
              <a:ext uri="{FF2B5EF4-FFF2-40B4-BE49-F238E27FC236}">
                <a16:creationId xmlns:a16="http://schemas.microsoft.com/office/drawing/2014/main" id="{5674081C-C330-3B4D-83CE-F0714B396716}"/>
              </a:ext>
            </a:extLst>
          </p:cNvPr>
          <p:cNvSpPr txBox="1"/>
          <p:nvPr/>
        </p:nvSpPr>
        <p:spPr bwMode="auto">
          <a:xfrm>
            <a:off x="3586577" y="1567815"/>
            <a:ext cx="1088760" cy="646331"/>
          </a:xfrm>
          <a:prstGeom prst="rect">
            <a:avLst/>
          </a:prstGeom>
          <a:noFill/>
        </p:spPr>
        <p:txBody>
          <a:bodyPr wrap="none">
            <a:spAutoFit/>
          </a:bodyPr>
          <a:lstStyle/>
          <a:p>
            <a:pPr algn="ctr">
              <a:defRPr/>
            </a:pPr>
            <a:r>
              <a:rPr lang="en-US" dirty="0"/>
              <a:t>use = {x}</a:t>
            </a:r>
          </a:p>
          <a:p>
            <a:pPr algn="ctr">
              <a:defRPr/>
            </a:pPr>
            <a:r>
              <a:rPr lang="en-US" dirty="0">
                <a:latin typeface="+mn-lt"/>
              </a:rPr>
              <a:t>def  ={x}</a:t>
            </a:r>
          </a:p>
        </p:txBody>
      </p:sp>
      <p:cxnSp>
        <p:nvCxnSpPr>
          <p:cNvPr id="40" name="Straight Arrow Connector 39">
            <a:extLst>
              <a:ext uri="{FF2B5EF4-FFF2-40B4-BE49-F238E27FC236}">
                <a16:creationId xmlns:a16="http://schemas.microsoft.com/office/drawing/2014/main" id="{9DFFCBF8-C8CF-264D-A38D-40A47AE5D334}"/>
              </a:ext>
            </a:extLst>
          </p:cNvPr>
          <p:cNvCxnSpPr>
            <a:cxnSpLocks/>
          </p:cNvCxnSpPr>
          <p:nvPr/>
        </p:nvCxnSpPr>
        <p:spPr>
          <a:xfrm>
            <a:off x="898785" y="2957409"/>
            <a:ext cx="186368" cy="0"/>
          </a:xfrm>
          <a:prstGeom prst="straightConnector1">
            <a:avLst/>
          </a:prstGeom>
          <a:ln>
            <a:solidFill>
              <a:schemeClr val="tx1"/>
            </a:solidFill>
            <a:tailEnd type="arrow"/>
          </a:ln>
        </p:spPr>
        <p:style>
          <a:lnRef idx="1">
            <a:schemeClr val="accent1"/>
          </a:lnRef>
          <a:fillRef idx="0">
            <a:schemeClr val="accent1"/>
          </a:fillRef>
          <a:effectRef idx="0">
            <a:schemeClr val="accent1"/>
          </a:effectRef>
          <a:fontRef idx="minor">
            <a:schemeClr val="tx1"/>
          </a:fontRef>
        </p:style>
      </p:cxnSp>
      <p:sp>
        <p:nvSpPr>
          <p:cNvPr id="41" name="Rectangle 40">
            <a:extLst>
              <a:ext uri="{FF2B5EF4-FFF2-40B4-BE49-F238E27FC236}">
                <a16:creationId xmlns:a16="http://schemas.microsoft.com/office/drawing/2014/main" id="{F2269E6A-C14E-7448-9ABE-F32609E3D05A}"/>
              </a:ext>
            </a:extLst>
          </p:cNvPr>
          <p:cNvSpPr/>
          <p:nvPr/>
        </p:nvSpPr>
        <p:spPr bwMode="auto">
          <a:xfrm>
            <a:off x="1999157" y="2776434"/>
            <a:ext cx="360362" cy="360362"/>
          </a:xfrm>
          <a:prstGeom prst="rect">
            <a:avLst/>
          </a:prstGeom>
          <a:solidFill>
            <a:srgbClr val="FFFF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r>
              <a:rPr lang="en-US" sz="1200" b="1" dirty="0">
                <a:solidFill>
                  <a:schemeClr val="tx1"/>
                </a:solidFill>
              </a:rPr>
              <a:t>n1</a:t>
            </a:r>
          </a:p>
        </p:txBody>
      </p:sp>
      <p:cxnSp>
        <p:nvCxnSpPr>
          <p:cNvPr id="42" name="Elbow Connector 41">
            <a:extLst>
              <a:ext uri="{FF2B5EF4-FFF2-40B4-BE49-F238E27FC236}">
                <a16:creationId xmlns:a16="http://schemas.microsoft.com/office/drawing/2014/main" id="{29A5DCFD-8C3E-414C-AE25-D7D68B520764}"/>
              </a:ext>
            </a:extLst>
          </p:cNvPr>
          <p:cNvCxnSpPr>
            <a:stCxn id="41" idx="0"/>
            <a:endCxn id="26" idx="1"/>
          </p:cNvCxnSpPr>
          <p:nvPr/>
        </p:nvCxnSpPr>
        <p:spPr>
          <a:xfrm rot="5400000" flipH="1" flipV="1">
            <a:off x="2203650" y="2377282"/>
            <a:ext cx="374840" cy="423465"/>
          </a:xfrm>
          <a:prstGeom prst="bentConnector2">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43" name="Elbow Connector 42">
            <a:extLst>
              <a:ext uri="{FF2B5EF4-FFF2-40B4-BE49-F238E27FC236}">
                <a16:creationId xmlns:a16="http://schemas.microsoft.com/office/drawing/2014/main" id="{BB2F3075-0ADB-9046-BCEC-7540FCEC822D}"/>
              </a:ext>
            </a:extLst>
          </p:cNvPr>
          <p:cNvCxnSpPr>
            <a:cxnSpLocks/>
            <a:stCxn id="26" idx="3"/>
            <a:endCxn id="27" idx="0"/>
          </p:cNvCxnSpPr>
          <p:nvPr/>
        </p:nvCxnSpPr>
        <p:spPr>
          <a:xfrm>
            <a:off x="2963165" y="2401594"/>
            <a:ext cx="454817" cy="374840"/>
          </a:xfrm>
          <a:prstGeom prst="bentConnector2">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44" name="Straight Arrow Connector 43">
            <a:extLst>
              <a:ext uri="{FF2B5EF4-FFF2-40B4-BE49-F238E27FC236}">
                <a16:creationId xmlns:a16="http://schemas.microsoft.com/office/drawing/2014/main" id="{59FEA1CC-A43F-7D48-9C2F-6F77AFA0B81B}"/>
              </a:ext>
            </a:extLst>
          </p:cNvPr>
          <p:cNvCxnSpPr>
            <a:stCxn id="41" idx="3"/>
            <a:endCxn id="27" idx="1"/>
          </p:cNvCxnSpPr>
          <p:nvPr/>
        </p:nvCxnSpPr>
        <p:spPr>
          <a:xfrm>
            <a:off x="2359519" y="2956615"/>
            <a:ext cx="878282"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45" name="Straight Arrow Connector 44">
            <a:extLst>
              <a:ext uri="{FF2B5EF4-FFF2-40B4-BE49-F238E27FC236}">
                <a16:creationId xmlns:a16="http://schemas.microsoft.com/office/drawing/2014/main" id="{B957F3C5-3D35-614E-B29D-215CEB99F49D}"/>
              </a:ext>
            </a:extLst>
          </p:cNvPr>
          <p:cNvCxnSpPr>
            <a:cxnSpLocks/>
            <a:stCxn id="25" idx="3"/>
            <a:endCxn id="41" idx="1"/>
          </p:cNvCxnSpPr>
          <p:nvPr/>
        </p:nvCxnSpPr>
        <p:spPr>
          <a:xfrm>
            <a:off x="1475290" y="2953440"/>
            <a:ext cx="523867" cy="3175"/>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46" name="Elbow Connector 45">
            <a:extLst>
              <a:ext uri="{FF2B5EF4-FFF2-40B4-BE49-F238E27FC236}">
                <a16:creationId xmlns:a16="http://schemas.microsoft.com/office/drawing/2014/main" id="{975853B5-EB3D-EB49-B7F8-FADF9BEE730D}"/>
              </a:ext>
            </a:extLst>
          </p:cNvPr>
          <p:cNvCxnSpPr>
            <a:cxnSpLocks/>
            <a:stCxn id="49" idx="0"/>
            <a:endCxn id="31" idx="1"/>
          </p:cNvCxnSpPr>
          <p:nvPr/>
        </p:nvCxnSpPr>
        <p:spPr>
          <a:xfrm rot="5400000" flipH="1" flipV="1">
            <a:off x="3536910" y="2405706"/>
            <a:ext cx="376179" cy="367957"/>
          </a:xfrm>
          <a:prstGeom prst="bentConnector2">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47" name="Straight Arrow Connector 46">
            <a:extLst>
              <a:ext uri="{FF2B5EF4-FFF2-40B4-BE49-F238E27FC236}">
                <a16:creationId xmlns:a16="http://schemas.microsoft.com/office/drawing/2014/main" id="{32CD615E-46A5-EC48-A6D1-4E08BC6D5102}"/>
              </a:ext>
            </a:extLst>
          </p:cNvPr>
          <p:cNvCxnSpPr>
            <a:cxnSpLocks/>
            <a:stCxn id="27" idx="3"/>
            <a:endCxn id="33" idx="1"/>
          </p:cNvCxnSpPr>
          <p:nvPr/>
        </p:nvCxnSpPr>
        <p:spPr>
          <a:xfrm>
            <a:off x="3598163" y="2956615"/>
            <a:ext cx="990602"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48" name="Elbow Connector 47">
            <a:extLst>
              <a:ext uri="{FF2B5EF4-FFF2-40B4-BE49-F238E27FC236}">
                <a16:creationId xmlns:a16="http://schemas.microsoft.com/office/drawing/2014/main" id="{D4E45733-F4D9-7E4E-8EE8-7B9305C25A20}"/>
              </a:ext>
            </a:extLst>
          </p:cNvPr>
          <p:cNvCxnSpPr>
            <a:cxnSpLocks/>
            <a:stCxn id="31" idx="3"/>
            <a:endCxn id="33" idx="0"/>
          </p:cNvCxnSpPr>
          <p:nvPr/>
        </p:nvCxnSpPr>
        <p:spPr>
          <a:xfrm>
            <a:off x="4269340" y="2401594"/>
            <a:ext cx="499607" cy="374840"/>
          </a:xfrm>
          <a:prstGeom prst="bentConnector2">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49" name="Rectangle 48">
            <a:extLst>
              <a:ext uri="{FF2B5EF4-FFF2-40B4-BE49-F238E27FC236}">
                <a16:creationId xmlns:a16="http://schemas.microsoft.com/office/drawing/2014/main" id="{311E437A-4225-3547-AF67-309317D56581}"/>
              </a:ext>
            </a:extLst>
          </p:cNvPr>
          <p:cNvSpPr/>
          <p:nvPr/>
        </p:nvSpPr>
        <p:spPr>
          <a:xfrm>
            <a:off x="3463234" y="2777773"/>
            <a:ext cx="155573" cy="103982"/>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0" name="TextBox 49">
            <a:extLst>
              <a:ext uri="{FF2B5EF4-FFF2-40B4-BE49-F238E27FC236}">
                <a16:creationId xmlns:a16="http://schemas.microsoft.com/office/drawing/2014/main" id="{52BD0DDB-D7E7-7C4B-B37B-CA6D413EA4B8}"/>
              </a:ext>
            </a:extLst>
          </p:cNvPr>
          <p:cNvSpPr txBox="1"/>
          <p:nvPr/>
        </p:nvSpPr>
        <p:spPr bwMode="auto">
          <a:xfrm>
            <a:off x="2948840" y="3189223"/>
            <a:ext cx="1088761" cy="646331"/>
          </a:xfrm>
          <a:prstGeom prst="rect">
            <a:avLst/>
          </a:prstGeom>
          <a:noFill/>
        </p:spPr>
        <p:txBody>
          <a:bodyPr wrap="none">
            <a:spAutoFit/>
          </a:bodyPr>
          <a:lstStyle/>
          <a:p>
            <a:pPr algn="ctr">
              <a:defRPr/>
            </a:pPr>
            <a:r>
              <a:rPr lang="en-US" dirty="0"/>
              <a:t>use = {x}</a:t>
            </a:r>
          </a:p>
          <a:p>
            <a:pPr algn="ctr">
              <a:defRPr/>
            </a:pPr>
            <a:r>
              <a:rPr lang="en-US" dirty="0">
                <a:latin typeface="+mn-lt"/>
              </a:rPr>
              <a:t>def  = </a:t>
            </a:r>
            <a:r>
              <a:rPr lang="en-US" dirty="0">
                <a:latin typeface="+mn-lt"/>
                <a:sym typeface="Symbol"/>
              </a:rPr>
              <a:t></a:t>
            </a:r>
            <a:endParaRPr lang="en-US" dirty="0">
              <a:latin typeface="+mn-lt"/>
            </a:endParaRP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3" grpId="0" animBg="1"/>
    </p:bldLst>
  </p:timing>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 name="Rectangle 18"/>
          <p:cNvSpPr/>
          <p:nvPr/>
        </p:nvSpPr>
        <p:spPr>
          <a:xfrm>
            <a:off x="5940152" y="2132856"/>
            <a:ext cx="1128026" cy="360189"/>
          </a:xfrm>
          <a:prstGeom prst="rect">
            <a:avLst/>
          </a:prstGeom>
          <a:solidFill>
            <a:srgbClr val="FFC0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Rectangle 1"/>
          <p:cNvSpPr/>
          <p:nvPr/>
        </p:nvSpPr>
        <p:spPr>
          <a:xfrm>
            <a:off x="5940152" y="1700808"/>
            <a:ext cx="1128026" cy="360189"/>
          </a:xfrm>
          <a:prstGeom prst="rect">
            <a:avLst/>
          </a:prstGeom>
          <a:solidFill>
            <a:srgbClr val="FFFF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170" name="Title 1"/>
          <p:cNvSpPr>
            <a:spLocks noGrp="1"/>
          </p:cNvSpPr>
          <p:nvPr>
            <p:ph type="title"/>
          </p:nvPr>
        </p:nvSpPr>
        <p:spPr/>
        <p:txBody>
          <a:bodyPr/>
          <a:lstStyle/>
          <a:p>
            <a:r>
              <a:rPr lang="en-US"/>
              <a:t>Block’s granularity</a:t>
            </a:r>
          </a:p>
        </p:txBody>
      </p:sp>
      <p:sp>
        <p:nvSpPr>
          <p:cNvPr id="7171" name="Content Placeholder 2"/>
          <p:cNvSpPr>
            <a:spLocks noGrp="1"/>
          </p:cNvSpPr>
          <p:nvPr>
            <p:ph idx="1"/>
          </p:nvPr>
        </p:nvSpPr>
        <p:spPr>
          <a:xfrm>
            <a:off x="457200" y="3860800"/>
            <a:ext cx="8229600" cy="2663825"/>
          </a:xfrm>
        </p:spPr>
        <p:txBody>
          <a:bodyPr/>
          <a:lstStyle/>
          <a:p>
            <a:r>
              <a:rPr lang="en-US" sz="2200" dirty="0"/>
              <a:t>When a node both </a:t>
            </a:r>
            <a:r>
              <a:rPr lang="en-US" sz="2200" i="1" dirty="0"/>
              <a:t>defines</a:t>
            </a:r>
            <a:r>
              <a:rPr lang="en-US" sz="2200" dirty="0"/>
              <a:t> and </a:t>
            </a:r>
            <a:r>
              <a:rPr lang="en-US" sz="2200" i="1" dirty="0"/>
              <a:t>uses</a:t>
            </a:r>
            <a:r>
              <a:rPr lang="en-US" sz="2200" dirty="0"/>
              <a:t> the same variable</a:t>
            </a:r>
            <a:r>
              <a:rPr lang="en-US" sz="2200" i="1" dirty="0"/>
              <a:t> x</a:t>
            </a:r>
            <a:r>
              <a:rPr lang="en-US" sz="2200" dirty="0"/>
              <a:t>, we will assume that it uses</a:t>
            </a:r>
            <a:r>
              <a:rPr lang="en-US" sz="2200" i="1" dirty="0"/>
              <a:t> x</a:t>
            </a:r>
            <a:r>
              <a:rPr lang="en-US" sz="2200" dirty="0"/>
              <a:t> first, </a:t>
            </a:r>
            <a:r>
              <a:rPr lang="en-US" sz="2200" i="1" dirty="0"/>
              <a:t>then</a:t>
            </a:r>
            <a:r>
              <a:rPr lang="en-US" sz="2200" dirty="0"/>
              <a:t> assigns to it, as in </a:t>
            </a:r>
            <a:br>
              <a:rPr lang="en-US" sz="2200" dirty="0"/>
            </a:br>
            <a:r>
              <a:rPr lang="en-US" sz="2200" dirty="0"/>
              <a:t>      </a:t>
            </a:r>
            <a:r>
              <a:rPr lang="en-US" sz="2200" i="1" dirty="0"/>
              <a:t>x = ... x ... </a:t>
            </a:r>
          </a:p>
          <a:p>
            <a:r>
              <a:rPr lang="en-US" sz="2200" dirty="0"/>
              <a:t>If this assumption is broken (middle example) </a:t>
            </a:r>
            <a:r>
              <a:rPr lang="en-US" sz="2200" dirty="0">
                <a:sym typeface="Wingdings" pitchFamily="2" charset="2"/>
              </a:rPr>
              <a:t> </a:t>
            </a:r>
            <a:r>
              <a:rPr lang="en-US" sz="2200" b="1" dirty="0">
                <a:sym typeface="Wingdings" pitchFamily="2" charset="2"/>
              </a:rPr>
              <a:t>split</a:t>
            </a:r>
            <a:r>
              <a:rPr lang="en-US" sz="2200" dirty="0">
                <a:sym typeface="Wingdings" pitchFamily="2" charset="2"/>
              </a:rPr>
              <a:t> the node. Else this will conflict the intention of your definition of du-path.</a:t>
            </a:r>
          </a:p>
          <a:p>
            <a:r>
              <a:rPr lang="en-US" sz="2200" dirty="0"/>
              <a:t>Check 2.3.2 (2</a:t>
            </a:r>
            <a:r>
              <a:rPr lang="en-US" sz="2200" baseline="30000" dirty="0"/>
              <a:t>nd</a:t>
            </a:r>
            <a:r>
              <a:rPr lang="en-US" sz="2200" dirty="0"/>
              <a:t> Ed. 7.3.2) on how to map a source code to a def/use graph.</a:t>
            </a:r>
          </a:p>
        </p:txBody>
      </p:sp>
      <p:sp>
        <p:nvSpPr>
          <p:cNvPr id="4" name="Slide Number Placeholder 3"/>
          <p:cNvSpPr>
            <a:spLocks noGrp="1"/>
          </p:cNvSpPr>
          <p:nvPr>
            <p:ph type="sldNum" sz="quarter" idx="12"/>
          </p:nvPr>
        </p:nvSpPr>
        <p:spPr/>
        <p:txBody>
          <a:bodyPr/>
          <a:lstStyle/>
          <a:p>
            <a:pPr>
              <a:defRPr/>
            </a:pPr>
            <a:fld id="{3087DEB0-46EF-4540-825A-186FCF9EBB39}" type="slidenum">
              <a:rPr lang="en-US" smtClean="0"/>
              <a:pPr>
                <a:defRPr/>
              </a:pPr>
              <a:t>6</a:t>
            </a:fld>
            <a:endParaRPr lang="en-US"/>
          </a:p>
        </p:txBody>
      </p:sp>
      <p:sp>
        <p:nvSpPr>
          <p:cNvPr id="5" name="TextBox 4"/>
          <p:cNvSpPr txBox="1"/>
          <p:nvPr/>
        </p:nvSpPr>
        <p:spPr>
          <a:xfrm>
            <a:off x="803275" y="1844675"/>
            <a:ext cx="1120820" cy="461665"/>
          </a:xfrm>
          <a:prstGeom prst="rect">
            <a:avLst/>
          </a:prstGeom>
          <a:solidFill>
            <a:srgbClr val="FFFF00"/>
          </a:solidFill>
        </p:spPr>
        <p:txBody>
          <a:bodyPr wrap="none">
            <a:spAutoFit/>
          </a:bodyPr>
          <a:lstStyle/>
          <a:p>
            <a:pPr>
              <a:defRPr/>
            </a:pPr>
            <a:r>
              <a:rPr lang="en-US" sz="2400" dirty="0">
                <a:latin typeface="+mn-lt"/>
              </a:rPr>
              <a:t>x = x+1 </a:t>
            </a:r>
          </a:p>
        </p:txBody>
      </p:sp>
      <p:sp>
        <p:nvSpPr>
          <p:cNvPr id="6" name="TextBox 5"/>
          <p:cNvSpPr txBox="1"/>
          <p:nvPr/>
        </p:nvSpPr>
        <p:spPr>
          <a:xfrm>
            <a:off x="3379788" y="1628775"/>
            <a:ext cx="1277914" cy="830997"/>
          </a:xfrm>
          <a:prstGeom prst="rect">
            <a:avLst/>
          </a:prstGeom>
          <a:solidFill>
            <a:srgbClr val="FFFF00"/>
          </a:solidFill>
        </p:spPr>
        <p:txBody>
          <a:bodyPr wrap="none">
            <a:spAutoFit/>
          </a:bodyPr>
          <a:lstStyle/>
          <a:p>
            <a:pPr>
              <a:defRPr/>
            </a:pPr>
            <a:r>
              <a:rPr lang="en-US" sz="2400" dirty="0">
                <a:latin typeface="+mn-lt"/>
              </a:rPr>
              <a:t>x = 0</a:t>
            </a:r>
          </a:p>
          <a:p>
            <a:pPr>
              <a:defRPr/>
            </a:pPr>
            <a:r>
              <a:rPr lang="en-US" sz="2400" dirty="0">
                <a:latin typeface="+mn-lt"/>
              </a:rPr>
              <a:t>y = x+1 ; </a:t>
            </a:r>
          </a:p>
        </p:txBody>
      </p:sp>
      <p:sp>
        <p:nvSpPr>
          <p:cNvPr id="7" name="TextBox 6"/>
          <p:cNvSpPr txBox="1"/>
          <p:nvPr/>
        </p:nvSpPr>
        <p:spPr>
          <a:xfrm>
            <a:off x="5972175" y="1662113"/>
            <a:ext cx="1127232" cy="830997"/>
          </a:xfrm>
          <a:prstGeom prst="rect">
            <a:avLst/>
          </a:prstGeom>
          <a:noFill/>
        </p:spPr>
        <p:txBody>
          <a:bodyPr wrap="none">
            <a:spAutoFit/>
          </a:bodyPr>
          <a:lstStyle/>
          <a:p>
            <a:pPr>
              <a:defRPr/>
            </a:pPr>
            <a:r>
              <a:rPr lang="en-US" sz="2400" dirty="0">
                <a:latin typeface="+mn-lt"/>
              </a:rPr>
              <a:t>x = 0</a:t>
            </a:r>
          </a:p>
          <a:p>
            <a:pPr>
              <a:defRPr/>
            </a:pPr>
            <a:r>
              <a:rPr lang="en-US" sz="2400" dirty="0">
                <a:latin typeface="+mn-lt"/>
              </a:rPr>
              <a:t>y = x+1 </a:t>
            </a:r>
          </a:p>
        </p:txBody>
      </p:sp>
      <p:sp>
        <p:nvSpPr>
          <p:cNvPr id="8" name="Rectangle 7"/>
          <p:cNvSpPr/>
          <p:nvPr/>
        </p:nvSpPr>
        <p:spPr bwMode="auto">
          <a:xfrm>
            <a:off x="827088" y="2925763"/>
            <a:ext cx="360362" cy="360362"/>
          </a:xfrm>
          <a:prstGeom prst="rect">
            <a:avLst/>
          </a:prstGeom>
          <a:solidFill>
            <a:srgbClr val="FFFF00"/>
          </a:solidFill>
          <a:ln>
            <a:solidFill>
              <a:schemeClr val="accent5"/>
            </a:solid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r>
              <a:rPr lang="en-US" sz="1200" b="1" dirty="0">
                <a:solidFill>
                  <a:schemeClr val="tx1"/>
                </a:solidFill>
              </a:rPr>
              <a:t>n</a:t>
            </a:r>
          </a:p>
        </p:txBody>
      </p:sp>
      <p:sp>
        <p:nvSpPr>
          <p:cNvPr id="9" name="TextBox 8"/>
          <p:cNvSpPr txBox="1"/>
          <p:nvPr/>
        </p:nvSpPr>
        <p:spPr>
          <a:xfrm>
            <a:off x="1298575" y="2782888"/>
            <a:ext cx="1166858" cy="646331"/>
          </a:xfrm>
          <a:prstGeom prst="rect">
            <a:avLst/>
          </a:prstGeom>
          <a:noFill/>
        </p:spPr>
        <p:txBody>
          <a:bodyPr wrap="none">
            <a:spAutoFit/>
          </a:bodyPr>
          <a:lstStyle/>
          <a:p>
            <a:pPr>
              <a:defRPr/>
            </a:pPr>
            <a:r>
              <a:rPr lang="en-US" dirty="0"/>
              <a:t>use = {x}</a:t>
            </a:r>
            <a:endParaRPr lang="en-US" dirty="0">
              <a:latin typeface="+mn-lt"/>
            </a:endParaRPr>
          </a:p>
          <a:p>
            <a:pPr>
              <a:defRPr/>
            </a:pPr>
            <a:r>
              <a:rPr lang="en-US" dirty="0">
                <a:latin typeface="+mn-lt"/>
              </a:rPr>
              <a:t>def   = { x }</a:t>
            </a:r>
          </a:p>
        </p:txBody>
      </p:sp>
      <p:sp>
        <p:nvSpPr>
          <p:cNvPr id="10" name="Rectangle 9"/>
          <p:cNvSpPr/>
          <p:nvPr/>
        </p:nvSpPr>
        <p:spPr bwMode="auto">
          <a:xfrm>
            <a:off x="3348038" y="2924175"/>
            <a:ext cx="360362" cy="360363"/>
          </a:xfrm>
          <a:prstGeom prst="rect">
            <a:avLst/>
          </a:prstGeom>
          <a:solidFill>
            <a:srgbClr val="FFFF00"/>
          </a:solidFill>
          <a:ln>
            <a:solidFill>
              <a:schemeClr val="accent5"/>
            </a:solid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r>
              <a:rPr lang="en-US" sz="1200" b="1" dirty="0">
                <a:solidFill>
                  <a:schemeClr val="tx1"/>
                </a:solidFill>
              </a:rPr>
              <a:t>n</a:t>
            </a:r>
          </a:p>
        </p:txBody>
      </p:sp>
      <p:sp>
        <p:nvSpPr>
          <p:cNvPr id="11" name="TextBox 10"/>
          <p:cNvSpPr txBox="1"/>
          <p:nvPr/>
        </p:nvSpPr>
        <p:spPr>
          <a:xfrm>
            <a:off x="3819525" y="2781300"/>
            <a:ext cx="1275862" cy="646331"/>
          </a:xfrm>
          <a:prstGeom prst="rect">
            <a:avLst/>
          </a:prstGeom>
          <a:noFill/>
        </p:spPr>
        <p:txBody>
          <a:bodyPr wrap="none">
            <a:spAutoFit/>
          </a:bodyPr>
          <a:lstStyle/>
          <a:p>
            <a:pPr>
              <a:defRPr/>
            </a:pPr>
            <a:r>
              <a:rPr lang="en-US" dirty="0"/>
              <a:t>use = {x}</a:t>
            </a:r>
            <a:endParaRPr lang="en-US" dirty="0">
              <a:latin typeface="+mn-lt"/>
            </a:endParaRPr>
          </a:p>
          <a:p>
            <a:pPr>
              <a:defRPr/>
            </a:pPr>
            <a:r>
              <a:rPr lang="en-US" dirty="0">
                <a:latin typeface="+mn-lt"/>
              </a:rPr>
              <a:t>def  = { </a:t>
            </a:r>
            <a:r>
              <a:rPr lang="en-US" dirty="0" err="1">
                <a:latin typeface="+mn-lt"/>
              </a:rPr>
              <a:t>x,y</a:t>
            </a:r>
            <a:r>
              <a:rPr lang="en-US" dirty="0">
                <a:latin typeface="+mn-lt"/>
              </a:rPr>
              <a:t> }</a:t>
            </a:r>
          </a:p>
        </p:txBody>
      </p:sp>
      <p:sp>
        <p:nvSpPr>
          <p:cNvPr id="12" name="Rectangle 11"/>
          <p:cNvSpPr/>
          <p:nvPr/>
        </p:nvSpPr>
        <p:spPr bwMode="auto">
          <a:xfrm>
            <a:off x="5972175" y="2708275"/>
            <a:ext cx="360363" cy="360363"/>
          </a:xfrm>
          <a:prstGeom prst="rect">
            <a:avLst/>
          </a:prstGeom>
          <a:solidFill>
            <a:srgbClr val="FFFF00"/>
          </a:solidFill>
          <a:ln>
            <a:solidFill>
              <a:schemeClr val="accent5"/>
            </a:solid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r>
              <a:rPr lang="en-US" sz="1200" b="1" dirty="0">
                <a:solidFill>
                  <a:schemeClr val="tx1"/>
                </a:solidFill>
              </a:rPr>
              <a:t>n1</a:t>
            </a:r>
          </a:p>
        </p:txBody>
      </p:sp>
      <p:sp>
        <p:nvSpPr>
          <p:cNvPr id="13" name="TextBox 12"/>
          <p:cNvSpPr txBox="1"/>
          <p:nvPr/>
        </p:nvSpPr>
        <p:spPr>
          <a:xfrm>
            <a:off x="6443663" y="2565400"/>
            <a:ext cx="1166858" cy="646331"/>
          </a:xfrm>
          <a:prstGeom prst="rect">
            <a:avLst/>
          </a:prstGeom>
          <a:noFill/>
        </p:spPr>
        <p:txBody>
          <a:bodyPr wrap="none">
            <a:spAutoFit/>
          </a:bodyPr>
          <a:lstStyle/>
          <a:p>
            <a:pPr>
              <a:defRPr/>
            </a:pPr>
            <a:r>
              <a:rPr lang="en-US" dirty="0"/>
              <a:t>use</a:t>
            </a:r>
            <a:r>
              <a:rPr lang="en-US" baseline="-25000" dirty="0"/>
              <a:t>n1</a:t>
            </a:r>
            <a:r>
              <a:rPr lang="en-US" dirty="0"/>
              <a:t> = {}</a:t>
            </a:r>
            <a:endParaRPr lang="en-US" dirty="0">
              <a:latin typeface="+mn-lt"/>
            </a:endParaRPr>
          </a:p>
          <a:p>
            <a:pPr>
              <a:defRPr/>
            </a:pPr>
            <a:r>
              <a:rPr lang="en-US" dirty="0">
                <a:latin typeface="+mn-lt"/>
              </a:rPr>
              <a:t>def</a:t>
            </a:r>
            <a:r>
              <a:rPr lang="en-US" baseline="-25000" dirty="0">
                <a:latin typeface="+mn-lt"/>
              </a:rPr>
              <a:t>n1</a:t>
            </a:r>
            <a:r>
              <a:rPr lang="en-US" dirty="0">
                <a:latin typeface="+mn-lt"/>
              </a:rPr>
              <a:t> = { x}</a:t>
            </a:r>
          </a:p>
        </p:txBody>
      </p:sp>
      <p:sp>
        <p:nvSpPr>
          <p:cNvPr id="14" name="Rectangle 13"/>
          <p:cNvSpPr/>
          <p:nvPr/>
        </p:nvSpPr>
        <p:spPr bwMode="auto">
          <a:xfrm>
            <a:off x="5980165" y="3281844"/>
            <a:ext cx="360362" cy="360362"/>
          </a:xfrm>
          <a:prstGeom prst="rect">
            <a:avLst/>
          </a:prstGeom>
          <a:solidFill>
            <a:srgbClr val="FFC000"/>
          </a:solidFill>
          <a:ln>
            <a:solidFill>
              <a:schemeClr val="accent5"/>
            </a:solid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r>
              <a:rPr lang="en-US" sz="1200" b="1" dirty="0">
                <a:solidFill>
                  <a:schemeClr val="tx1"/>
                </a:solidFill>
              </a:rPr>
              <a:t>n2</a:t>
            </a:r>
          </a:p>
        </p:txBody>
      </p:sp>
      <p:sp>
        <p:nvSpPr>
          <p:cNvPr id="15" name="TextBox 14"/>
          <p:cNvSpPr txBox="1"/>
          <p:nvPr/>
        </p:nvSpPr>
        <p:spPr>
          <a:xfrm>
            <a:off x="6483350" y="3141663"/>
            <a:ext cx="1304716" cy="646331"/>
          </a:xfrm>
          <a:prstGeom prst="rect">
            <a:avLst/>
          </a:prstGeom>
          <a:noFill/>
        </p:spPr>
        <p:txBody>
          <a:bodyPr wrap="none">
            <a:spAutoFit/>
          </a:bodyPr>
          <a:lstStyle/>
          <a:p>
            <a:pPr>
              <a:defRPr/>
            </a:pPr>
            <a:r>
              <a:rPr lang="en-US" dirty="0"/>
              <a:t>use</a:t>
            </a:r>
            <a:r>
              <a:rPr lang="en-US" baseline="-25000" dirty="0"/>
              <a:t>n2</a:t>
            </a:r>
            <a:r>
              <a:rPr lang="en-US" dirty="0"/>
              <a:t> = {x}</a:t>
            </a:r>
            <a:endParaRPr lang="en-US" dirty="0">
              <a:latin typeface="+mn-lt"/>
            </a:endParaRPr>
          </a:p>
          <a:p>
            <a:pPr>
              <a:defRPr/>
            </a:pPr>
            <a:r>
              <a:rPr lang="en-US" dirty="0">
                <a:latin typeface="+mn-lt"/>
              </a:rPr>
              <a:t>def</a:t>
            </a:r>
            <a:r>
              <a:rPr lang="en-US" baseline="-25000" dirty="0">
                <a:latin typeface="+mn-lt"/>
              </a:rPr>
              <a:t>n2</a:t>
            </a:r>
            <a:r>
              <a:rPr lang="en-US" dirty="0">
                <a:latin typeface="+mn-lt"/>
              </a:rPr>
              <a:t> = { y}</a:t>
            </a:r>
          </a:p>
        </p:txBody>
      </p:sp>
      <p:cxnSp>
        <p:nvCxnSpPr>
          <p:cNvPr id="17" name="Straight Arrow Connector 16"/>
          <p:cNvCxnSpPr>
            <a:stCxn id="12" idx="2"/>
            <a:endCxn id="14" idx="0"/>
          </p:cNvCxnSpPr>
          <p:nvPr/>
        </p:nvCxnSpPr>
        <p:spPr>
          <a:xfrm>
            <a:off x="6152357" y="3068638"/>
            <a:ext cx="7989" cy="213206"/>
          </a:xfrm>
          <a:prstGeom prst="straightConnector1">
            <a:avLst/>
          </a:prstGeom>
          <a:ln>
            <a:tailEnd type="arrow"/>
          </a:ln>
        </p:spPr>
        <p:style>
          <a:lnRef idx="1">
            <a:schemeClr val="accent1"/>
          </a:lnRef>
          <a:fillRef idx="0">
            <a:schemeClr val="accent1"/>
          </a:fillRef>
          <a:effectRef idx="0">
            <a:schemeClr val="accent1"/>
          </a:effectRef>
          <a:fontRef idx="minor">
            <a:schemeClr val="tx1"/>
          </a:fontRef>
        </p:style>
      </p:cxnSp>
      <p:sp>
        <p:nvSpPr>
          <p:cNvPr id="18" name="Right Arrow 17"/>
          <p:cNvSpPr/>
          <p:nvPr/>
        </p:nvSpPr>
        <p:spPr>
          <a:xfrm>
            <a:off x="5364088" y="2924944"/>
            <a:ext cx="360040" cy="288032"/>
          </a:xfrm>
          <a:prstGeom prst="rightArrow">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0" name="Right Arrow 19"/>
          <p:cNvSpPr/>
          <p:nvPr/>
        </p:nvSpPr>
        <p:spPr>
          <a:xfrm>
            <a:off x="5340276" y="1936770"/>
            <a:ext cx="360040" cy="288032"/>
          </a:xfrm>
          <a:prstGeom prst="rightArrow">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1" name="Rounded Rectangle 20">
            <a:extLst>
              <a:ext uri="{FF2B5EF4-FFF2-40B4-BE49-F238E27FC236}">
                <a16:creationId xmlns:a16="http://schemas.microsoft.com/office/drawing/2014/main" id="{EEDEA5D9-A6A5-4C49-BFEE-2637CE619CD7}"/>
              </a:ext>
            </a:extLst>
          </p:cNvPr>
          <p:cNvSpPr/>
          <p:nvPr/>
        </p:nvSpPr>
        <p:spPr>
          <a:xfrm>
            <a:off x="285750" y="3926788"/>
            <a:ext cx="8534722" cy="1307199"/>
          </a:xfrm>
          <a:prstGeom prst="roundRect">
            <a:avLst/>
          </a:prstGeom>
          <a:solidFill>
            <a:schemeClr val="accent6">
              <a:lumMod val="40000"/>
              <a:lumOff val="60000"/>
              <a:alpha val="25000"/>
            </a:schemeClr>
          </a:solidFill>
          <a:ln>
            <a:solidFill>
              <a:schemeClr val="accent6">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0" name="Rounded Rectangle 19">
            <a:extLst>
              <a:ext uri="{FF2B5EF4-FFF2-40B4-BE49-F238E27FC236}">
                <a16:creationId xmlns:a16="http://schemas.microsoft.com/office/drawing/2014/main" id="{BABA5818-E2C0-D543-91D3-B8178B88BF3B}"/>
              </a:ext>
            </a:extLst>
          </p:cNvPr>
          <p:cNvSpPr/>
          <p:nvPr/>
        </p:nvSpPr>
        <p:spPr>
          <a:xfrm>
            <a:off x="2090971" y="1518178"/>
            <a:ext cx="5393856" cy="2112435"/>
          </a:xfrm>
          <a:prstGeom prst="roundRect">
            <a:avLst>
              <a:gd name="adj" fmla="val 19760"/>
            </a:avLst>
          </a:prstGeom>
          <a:solidFill>
            <a:srgbClr val="FFC000">
              <a:alpha val="25000"/>
            </a:srgbClr>
          </a:solidFill>
          <a:ln>
            <a:solidFill>
              <a:srgbClr val="FFC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194" name="Title 1"/>
          <p:cNvSpPr>
            <a:spLocks noGrp="1"/>
          </p:cNvSpPr>
          <p:nvPr>
            <p:ph type="title"/>
          </p:nvPr>
        </p:nvSpPr>
        <p:spPr/>
        <p:txBody>
          <a:bodyPr/>
          <a:lstStyle/>
          <a:p>
            <a:r>
              <a:rPr lang="en-US"/>
              <a:t>Data-flow based coverage</a:t>
            </a:r>
            <a:br>
              <a:rPr lang="en-US"/>
            </a:br>
            <a:r>
              <a:rPr lang="en-US" sz="2000" i="1"/>
              <a:t>(Rapps-Weyuker 1985, Frankl-Weyuker 1988)</a:t>
            </a:r>
          </a:p>
        </p:txBody>
      </p:sp>
      <p:sp>
        <p:nvSpPr>
          <p:cNvPr id="8195" name="Content Placeholder 2"/>
          <p:cNvSpPr>
            <a:spLocks noGrp="1"/>
          </p:cNvSpPr>
          <p:nvPr>
            <p:ph idx="1"/>
          </p:nvPr>
        </p:nvSpPr>
        <p:spPr>
          <a:xfrm>
            <a:off x="285750" y="3898900"/>
            <a:ext cx="8715375" cy="2554288"/>
          </a:xfrm>
        </p:spPr>
        <p:txBody>
          <a:bodyPr/>
          <a:lstStyle/>
          <a:p>
            <a:r>
              <a:rPr lang="en-US" sz="2400" i="1" u="sng" dirty="0"/>
              <a:t>Def-path set</a:t>
            </a:r>
            <a:r>
              <a:rPr lang="en-US" sz="2400" dirty="0"/>
              <a:t>  </a:t>
            </a:r>
            <a:r>
              <a:rPr lang="en-US" sz="2400" i="1" dirty="0"/>
              <a:t>du</a:t>
            </a:r>
            <a:r>
              <a:rPr lang="en-US" sz="2400" dirty="0"/>
              <a:t>(</a:t>
            </a:r>
            <a:r>
              <a:rPr lang="en-US" sz="2400" i="1" dirty="0" err="1"/>
              <a:t>i</a:t>
            </a:r>
            <a:r>
              <a:rPr lang="en-US" sz="2400" dirty="0" err="1"/>
              <a:t>,</a:t>
            </a:r>
            <a:r>
              <a:rPr lang="en-US" sz="2400" i="1" dirty="0" err="1"/>
              <a:t>v</a:t>
            </a:r>
            <a:r>
              <a:rPr lang="en-US" sz="2400" dirty="0"/>
              <a:t>): the set of all du-paths </a:t>
            </a:r>
            <a:r>
              <a:rPr lang="en-US" sz="2400" dirty="0" err="1"/>
              <a:t>wrt</a:t>
            </a:r>
            <a:r>
              <a:rPr lang="en-US" sz="2400" dirty="0"/>
              <a:t> </a:t>
            </a:r>
            <a:r>
              <a:rPr lang="en-US" sz="2400" i="1" dirty="0"/>
              <a:t>v</a:t>
            </a:r>
            <a:r>
              <a:rPr lang="en-US" sz="2400" dirty="0"/>
              <a:t>, that starts at </a:t>
            </a:r>
            <a:r>
              <a:rPr lang="en-US" sz="2400" i="1" dirty="0" err="1"/>
              <a:t>i</a:t>
            </a:r>
            <a:r>
              <a:rPr lang="en-US" sz="2400" dirty="0"/>
              <a:t>.</a:t>
            </a:r>
          </a:p>
          <a:p>
            <a:r>
              <a:rPr lang="en-US" sz="2400" i="1" u="sng" dirty="0"/>
              <a:t>Def-pair set</a:t>
            </a:r>
            <a:r>
              <a:rPr lang="en-US" sz="2400" i="1" dirty="0"/>
              <a:t>  du</a:t>
            </a:r>
            <a:r>
              <a:rPr lang="en-US" sz="2400" dirty="0"/>
              <a:t>(</a:t>
            </a:r>
            <a:r>
              <a:rPr lang="en-US" sz="2400" i="1" dirty="0" err="1"/>
              <a:t>i</a:t>
            </a:r>
            <a:r>
              <a:rPr lang="en-US" sz="2400" dirty="0" err="1"/>
              <a:t>,</a:t>
            </a:r>
            <a:r>
              <a:rPr lang="en-US" sz="2400" i="1" dirty="0" err="1"/>
              <a:t>j</a:t>
            </a:r>
            <a:r>
              <a:rPr lang="en-US" sz="2400" dirty="0" err="1"/>
              <a:t>,</a:t>
            </a:r>
            <a:r>
              <a:rPr lang="en-US" sz="2400" i="1" dirty="0" err="1"/>
              <a:t>v</a:t>
            </a:r>
            <a:r>
              <a:rPr lang="en-US" sz="2400" dirty="0"/>
              <a:t>): the set of all du-paths </a:t>
            </a:r>
            <a:r>
              <a:rPr lang="en-US" sz="2400" dirty="0" err="1"/>
              <a:t>wrt</a:t>
            </a:r>
            <a:r>
              <a:rPr lang="en-US" sz="2400" dirty="0"/>
              <a:t> v, that starts at </a:t>
            </a:r>
            <a:r>
              <a:rPr lang="en-US" sz="2400" i="1" dirty="0" err="1"/>
              <a:t>i</a:t>
            </a:r>
            <a:r>
              <a:rPr lang="en-US" sz="2400" dirty="0"/>
              <a:t>, and ends at </a:t>
            </a:r>
            <a:r>
              <a:rPr lang="en-US" sz="2400" i="1" dirty="0"/>
              <a:t>j</a:t>
            </a:r>
            <a:r>
              <a:rPr lang="en-US" sz="2400" dirty="0"/>
              <a:t>.</a:t>
            </a:r>
          </a:p>
          <a:p>
            <a:r>
              <a:rPr lang="en-US" sz="2400" dirty="0"/>
              <a:t>Same concept of touring.</a:t>
            </a:r>
          </a:p>
          <a:p>
            <a:r>
              <a:rPr lang="en-US" sz="2400" dirty="0"/>
              <a:t>(C 2.9/2</a:t>
            </a:r>
            <a:r>
              <a:rPr lang="en-US" sz="2400" baseline="30000" dirty="0"/>
              <a:t>nd</a:t>
            </a:r>
            <a:r>
              <a:rPr lang="en-US" sz="2400" dirty="0"/>
              <a:t> Ed. C7.15, </a:t>
            </a:r>
            <a:r>
              <a:rPr lang="en-US" sz="2400" dirty="0">
                <a:solidFill>
                  <a:srgbClr val="0070C0"/>
                </a:solidFill>
              </a:rPr>
              <a:t>All </a:t>
            </a:r>
            <a:r>
              <a:rPr lang="en-US" sz="2400" dirty="0" err="1">
                <a:solidFill>
                  <a:srgbClr val="0070C0"/>
                </a:solidFill>
              </a:rPr>
              <a:t>Defs</a:t>
            </a:r>
            <a:r>
              <a:rPr lang="en-US" sz="2400" dirty="0">
                <a:solidFill>
                  <a:srgbClr val="0070C0"/>
                </a:solidFill>
              </a:rPr>
              <a:t> </a:t>
            </a:r>
            <a:r>
              <a:rPr lang="en-US" sz="2400" dirty="0" err="1">
                <a:solidFill>
                  <a:srgbClr val="0070C0"/>
                </a:solidFill>
              </a:rPr>
              <a:t>Covrg</a:t>
            </a:r>
            <a:r>
              <a:rPr lang="en-US" sz="2400" dirty="0">
                <a:solidFill>
                  <a:srgbClr val="0070C0"/>
                </a:solidFill>
              </a:rPr>
              <a:t>, </a:t>
            </a:r>
            <a:r>
              <a:rPr lang="en-US" sz="2400" b="1" dirty="0">
                <a:solidFill>
                  <a:srgbClr val="0070C0"/>
                </a:solidFill>
              </a:rPr>
              <a:t>ADC</a:t>
            </a:r>
            <a:r>
              <a:rPr lang="en-US" sz="2400" dirty="0"/>
              <a:t>) For each def-path set S = du(</a:t>
            </a:r>
            <a:r>
              <a:rPr lang="en-US" sz="2400" dirty="0" err="1"/>
              <a:t>i,v</a:t>
            </a:r>
            <a:r>
              <a:rPr lang="en-US" sz="2400" dirty="0"/>
              <a:t>), TR includes at least one member of S.</a:t>
            </a:r>
          </a:p>
        </p:txBody>
      </p:sp>
      <p:sp>
        <p:nvSpPr>
          <p:cNvPr id="4" name="Slide Number Placeholder 3"/>
          <p:cNvSpPr>
            <a:spLocks noGrp="1"/>
          </p:cNvSpPr>
          <p:nvPr>
            <p:ph type="sldNum" sz="quarter" idx="12"/>
          </p:nvPr>
        </p:nvSpPr>
        <p:spPr/>
        <p:txBody>
          <a:bodyPr/>
          <a:lstStyle/>
          <a:p>
            <a:pPr>
              <a:defRPr/>
            </a:pPr>
            <a:fld id="{DB1F1C82-7860-4213-9B11-9A5D9CD92C12}" type="slidenum">
              <a:rPr lang="en-US" smtClean="0"/>
              <a:pPr>
                <a:defRPr/>
              </a:pPr>
              <a:t>7</a:t>
            </a:fld>
            <a:endParaRPr lang="en-US"/>
          </a:p>
        </p:txBody>
      </p:sp>
      <p:grpSp>
        <p:nvGrpSpPr>
          <p:cNvPr id="8197" name="Group 22"/>
          <p:cNvGrpSpPr>
            <a:grpSpLocks/>
          </p:cNvGrpSpPr>
          <p:nvPr/>
        </p:nvGrpSpPr>
        <p:grpSpPr bwMode="auto">
          <a:xfrm>
            <a:off x="2611827" y="1700213"/>
            <a:ext cx="4658923" cy="1722656"/>
            <a:chOff x="145814" y="1636272"/>
            <a:chExt cx="4658439" cy="1721945"/>
          </a:xfrm>
        </p:grpSpPr>
        <p:sp>
          <p:nvSpPr>
            <p:cNvPr id="52" name="Rectangle 51"/>
            <p:cNvSpPr/>
            <p:nvPr/>
          </p:nvSpPr>
          <p:spPr bwMode="auto">
            <a:xfrm>
              <a:off x="712103" y="2350352"/>
              <a:ext cx="360326" cy="361801"/>
            </a:xfrm>
            <a:prstGeom prst="rect">
              <a:avLst/>
            </a:prstGeom>
            <a:solidFill>
              <a:srgbClr val="FFFF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r>
                <a:rPr lang="en-US" sz="1200" b="1" dirty="0">
                  <a:solidFill>
                    <a:schemeClr val="tx1"/>
                  </a:solidFill>
                </a:rPr>
                <a:t>n1</a:t>
              </a:r>
            </a:p>
          </p:txBody>
        </p:sp>
        <p:cxnSp>
          <p:nvCxnSpPr>
            <p:cNvPr id="53" name="Straight Arrow Connector 52"/>
            <p:cNvCxnSpPr>
              <a:stCxn id="52" idx="3"/>
              <a:endCxn id="54" idx="1"/>
            </p:cNvCxnSpPr>
            <p:nvPr/>
          </p:nvCxnSpPr>
          <p:spPr bwMode="auto">
            <a:xfrm>
              <a:off x="1072429" y="2529665"/>
              <a:ext cx="568266" cy="3174"/>
            </a:xfrm>
            <a:prstGeom prst="straightConnector1">
              <a:avLst/>
            </a:prstGeom>
            <a:ln>
              <a:solidFill>
                <a:schemeClr val="accent5">
                  <a:lumMod val="75000"/>
                </a:schemeClr>
              </a:solidFill>
              <a:tailEnd type="arrow"/>
            </a:ln>
          </p:spPr>
          <p:style>
            <a:lnRef idx="1">
              <a:schemeClr val="accent1"/>
            </a:lnRef>
            <a:fillRef idx="0">
              <a:schemeClr val="accent1"/>
            </a:fillRef>
            <a:effectRef idx="0">
              <a:schemeClr val="accent1"/>
            </a:effectRef>
            <a:fontRef idx="minor">
              <a:schemeClr val="tx1"/>
            </a:fontRef>
          </p:style>
        </p:cxnSp>
        <p:sp>
          <p:nvSpPr>
            <p:cNvPr id="54" name="Rectangle 53"/>
            <p:cNvSpPr/>
            <p:nvPr/>
          </p:nvSpPr>
          <p:spPr bwMode="auto">
            <a:xfrm>
              <a:off x="1640695" y="2353526"/>
              <a:ext cx="360325" cy="361801"/>
            </a:xfrm>
            <a:prstGeom prst="rect">
              <a:avLst/>
            </a:prstGeom>
            <a:solidFill>
              <a:srgbClr val="FFFF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r>
                <a:rPr lang="en-US" sz="1200" b="1" dirty="0">
                  <a:solidFill>
                    <a:schemeClr val="tx1"/>
                  </a:solidFill>
                </a:rPr>
                <a:t>n2</a:t>
              </a:r>
            </a:p>
          </p:txBody>
        </p:sp>
        <p:sp>
          <p:nvSpPr>
            <p:cNvPr id="55" name="Rectangle 54"/>
            <p:cNvSpPr/>
            <p:nvPr/>
          </p:nvSpPr>
          <p:spPr bwMode="auto">
            <a:xfrm>
              <a:off x="2643891" y="2350352"/>
              <a:ext cx="360325" cy="361801"/>
            </a:xfrm>
            <a:prstGeom prst="rect">
              <a:avLst/>
            </a:prstGeom>
            <a:solidFill>
              <a:srgbClr val="FFFF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r>
                <a:rPr lang="en-US" sz="1200" b="1" dirty="0">
                  <a:solidFill>
                    <a:schemeClr val="tx1"/>
                  </a:solidFill>
                </a:rPr>
                <a:t>n3</a:t>
              </a:r>
            </a:p>
          </p:txBody>
        </p:sp>
        <p:sp>
          <p:nvSpPr>
            <p:cNvPr id="56" name="TextBox 55"/>
            <p:cNvSpPr txBox="1"/>
            <p:nvPr/>
          </p:nvSpPr>
          <p:spPr>
            <a:xfrm>
              <a:off x="145814" y="2712153"/>
              <a:ext cx="1075824" cy="646064"/>
            </a:xfrm>
            <a:prstGeom prst="rect">
              <a:avLst/>
            </a:prstGeom>
            <a:noFill/>
          </p:spPr>
          <p:txBody>
            <a:bodyPr wrap="none">
              <a:spAutoFit/>
            </a:bodyPr>
            <a:lstStyle/>
            <a:p>
              <a:pPr algn="ctr">
                <a:defRPr/>
              </a:pPr>
              <a:r>
                <a:rPr lang="en-US" dirty="0"/>
                <a:t>use = </a:t>
              </a:r>
              <a:r>
                <a:rPr lang="en-US" dirty="0">
                  <a:sym typeface="Symbol"/>
                </a:rPr>
                <a:t></a:t>
              </a:r>
              <a:endParaRPr lang="en-US" dirty="0"/>
            </a:p>
            <a:p>
              <a:pPr algn="ctr">
                <a:defRPr/>
              </a:pPr>
              <a:r>
                <a:rPr lang="en-US" dirty="0">
                  <a:latin typeface="+mn-lt"/>
                </a:rPr>
                <a:t>def  = { x}</a:t>
              </a:r>
            </a:p>
          </p:txBody>
        </p:sp>
        <p:sp>
          <p:nvSpPr>
            <p:cNvPr id="57" name="TextBox 56"/>
            <p:cNvSpPr txBox="1"/>
            <p:nvPr/>
          </p:nvSpPr>
          <p:spPr>
            <a:xfrm>
              <a:off x="1143858" y="1636272"/>
              <a:ext cx="1088912" cy="645845"/>
            </a:xfrm>
            <a:prstGeom prst="rect">
              <a:avLst/>
            </a:prstGeom>
            <a:noFill/>
          </p:spPr>
          <p:txBody>
            <a:bodyPr wrap="none">
              <a:spAutoFit/>
            </a:bodyPr>
            <a:lstStyle/>
            <a:p>
              <a:pPr>
                <a:defRPr/>
              </a:pPr>
              <a:r>
                <a:rPr lang="en-US" dirty="0"/>
                <a:t>use = {x}</a:t>
              </a:r>
            </a:p>
            <a:p>
              <a:pPr>
                <a:defRPr/>
              </a:pPr>
              <a:r>
                <a:rPr lang="en-US" dirty="0">
                  <a:latin typeface="+mn-lt"/>
                </a:rPr>
                <a:t>def ={x}</a:t>
              </a:r>
            </a:p>
          </p:txBody>
        </p:sp>
        <p:cxnSp>
          <p:nvCxnSpPr>
            <p:cNvPr id="58" name="Straight Arrow Connector 57"/>
            <p:cNvCxnSpPr>
              <a:stCxn id="54" idx="3"/>
              <a:endCxn id="55" idx="1"/>
            </p:cNvCxnSpPr>
            <p:nvPr/>
          </p:nvCxnSpPr>
          <p:spPr bwMode="auto">
            <a:xfrm flipV="1">
              <a:off x="2001019" y="2529665"/>
              <a:ext cx="642871" cy="3174"/>
            </a:xfrm>
            <a:prstGeom prst="straightConnector1">
              <a:avLst/>
            </a:prstGeom>
            <a:ln>
              <a:solidFill>
                <a:schemeClr val="accent5">
                  <a:lumMod val="75000"/>
                </a:schemeClr>
              </a:solidFill>
              <a:tailEnd type="arrow"/>
            </a:ln>
          </p:spPr>
          <p:style>
            <a:lnRef idx="1">
              <a:schemeClr val="accent1"/>
            </a:lnRef>
            <a:fillRef idx="0">
              <a:schemeClr val="accent1"/>
            </a:fillRef>
            <a:effectRef idx="0">
              <a:schemeClr val="accent1"/>
            </a:effectRef>
            <a:fontRef idx="minor">
              <a:schemeClr val="tx1"/>
            </a:fontRef>
          </p:style>
        </p:cxnSp>
        <p:sp>
          <p:nvSpPr>
            <p:cNvPr id="59" name="Rectangle 58"/>
            <p:cNvSpPr/>
            <p:nvPr/>
          </p:nvSpPr>
          <p:spPr bwMode="auto">
            <a:xfrm>
              <a:off x="3358191" y="2350352"/>
              <a:ext cx="360325" cy="361801"/>
            </a:xfrm>
            <a:prstGeom prst="rect">
              <a:avLst/>
            </a:prstGeom>
            <a:solidFill>
              <a:srgbClr val="FFFF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r>
                <a:rPr lang="en-US" sz="1200" b="1" dirty="0">
                  <a:solidFill>
                    <a:schemeClr val="tx1"/>
                  </a:solidFill>
                </a:rPr>
                <a:t>n4</a:t>
              </a:r>
            </a:p>
          </p:txBody>
        </p:sp>
        <p:cxnSp>
          <p:nvCxnSpPr>
            <p:cNvPr id="60" name="Straight Arrow Connector 59"/>
            <p:cNvCxnSpPr>
              <a:stCxn id="55" idx="3"/>
              <a:endCxn id="59" idx="1"/>
            </p:cNvCxnSpPr>
            <p:nvPr/>
          </p:nvCxnSpPr>
          <p:spPr bwMode="auto">
            <a:xfrm>
              <a:off x="3004215" y="2529665"/>
              <a:ext cx="353976" cy="1587"/>
            </a:xfrm>
            <a:prstGeom prst="straightConnector1">
              <a:avLst/>
            </a:prstGeom>
            <a:ln>
              <a:solidFill>
                <a:schemeClr val="accent5">
                  <a:lumMod val="75000"/>
                </a:schemeClr>
              </a:solidFill>
              <a:tailEnd type="arrow"/>
            </a:ln>
          </p:spPr>
          <p:style>
            <a:lnRef idx="1">
              <a:schemeClr val="accent1"/>
            </a:lnRef>
            <a:fillRef idx="0">
              <a:schemeClr val="accent1"/>
            </a:fillRef>
            <a:effectRef idx="0">
              <a:schemeClr val="accent1"/>
            </a:effectRef>
            <a:fontRef idx="minor">
              <a:schemeClr val="tx1"/>
            </a:fontRef>
          </p:style>
        </p:cxnSp>
        <p:sp>
          <p:nvSpPr>
            <p:cNvPr id="61" name="TextBox 60"/>
            <p:cNvSpPr txBox="1"/>
            <p:nvPr/>
          </p:nvSpPr>
          <p:spPr>
            <a:xfrm>
              <a:off x="2386742" y="1636272"/>
              <a:ext cx="1087324" cy="645845"/>
            </a:xfrm>
            <a:prstGeom prst="rect">
              <a:avLst/>
            </a:prstGeom>
            <a:noFill/>
          </p:spPr>
          <p:txBody>
            <a:bodyPr wrap="none">
              <a:spAutoFit/>
            </a:bodyPr>
            <a:lstStyle/>
            <a:p>
              <a:pPr algn="ctr">
                <a:defRPr/>
              </a:pPr>
              <a:r>
                <a:rPr lang="en-US" dirty="0"/>
                <a:t>use = {x}</a:t>
              </a:r>
            </a:p>
            <a:p>
              <a:pPr algn="ctr">
                <a:defRPr/>
              </a:pPr>
              <a:r>
                <a:rPr lang="en-US" dirty="0">
                  <a:latin typeface="+mn-lt"/>
                </a:rPr>
                <a:t>def =</a:t>
              </a:r>
              <a:r>
                <a:rPr lang="en-US" dirty="0">
                  <a:sym typeface="Symbol"/>
                </a:rPr>
                <a:t></a:t>
              </a:r>
              <a:endParaRPr lang="en-US" dirty="0">
                <a:latin typeface="+mn-lt"/>
              </a:endParaRPr>
            </a:p>
          </p:txBody>
        </p:sp>
        <p:sp>
          <p:nvSpPr>
            <p:cNvPr id="62" name="TextBox 61"/>
            <p:cNvSpPr txBox="1"/>
            <p:nvPr/>
          </p:nvSpPr>
          <p:spPr>
            <a:xfrm>
              <a:off x="3715341" y="2278944"/>
              <a:ext cx="1088912" cy="647433"/>
            </a:xfrm>
            <a:prstGeom prst="rect">
              <a:avLst/>
            </a:prstGeom>
            <a:noFill/>
          </p:spPr>
          <p:txBody>
            <a:bodyPr wrap="none">
              <a:spAutoFit/>
            </a:bodyPr>
            <a:lstStyle/>
            <a:p>
              <a:pPr>
                <a:defRPr/>
              </a:pPr>
              <a:r>
                <a:rPr lang="en-US" dirty="0"/>
                <a:t>use  ={x}</a:t>
              </a:r>
            </a:p>
            <a:p>
              <a:pPr>
                <a:defRPr/>
              </a:pPr>
              <a:r>
                <a:rPr lang="en-US" dirty="0">
                  <a:latin typeface="+mn-lt"/>
                </a:rPr>
                <a:t>def  = </a:t>
              </a:r>
              <a:r>
                <a:rPr lang="en-US" dirty="0">
                  <a:latin typeface="+mn-lt"/>
                  <a:sym typeface="Symbol"/>
                </a:rPr>
                <a:t></a:t>
              </a:r>
              <a:endParaRPr lang="en-US" dirty="0">
                <a:latin typeface="+mn-lt"/>
              </a:endParaRPr>
            </a:p>
          </p:txBody>
        </p:sp>
        <p:cxnSp>
          <p:nvCxnSpPr>
            <p:cNvPr id="63" name="Straight Arrow Connector 62"/>
            <p:cNvCxnSpPr/>
            <p:nvPr/>
          </p:nvCxnSpPr>
          <p:spPr>
            <a:xfrm>
              <a:off x="215268" y="2353526"/>
              <a:ext cx="496835" cy="177727"/>
            </a:xfrm>
            <a:prstGeom prst="straightConnector1">
              <a:avLst/>
            </a:prstGeom>
            <a:ln>
              <a:solidFill>
                <a:schemeClr val="accent5">
                  <a:lumMod val="75000"/>
                </a:schemeClr>
              </a:solidFill>
              <a:tailEnd type="arrow"/>
            </a:ln>
          </p:spPr>
          <p:style>
            <a:lnRef idx="1">
              <a:schemeClr val="accent1"/>
            </a:lnRef>
            <a:fillRef idx="0">
              <a:schemeClr val="accent1"/>
            </a:fillRef>
            <a:effectRef idx="0">
              <a:schemeClr val="accent1"/>
            </a:effectRef>
            <a:fontRef idx="minor">
              <a:schemeClr val="tx1"/>
            </a:fontRef>
          </p:style>
        </p:cxnSp>
        <p:cxnSp>
          <p:nvCxnSpPr>
            <p:cNvPr id="64" name="Curved Connector 63"/>
            <p:cNvCxnSpPr>
              <a:stCxn id="55" idx="0"/>
              <a:endCxn id="54" idx="0"/>
            </p:cNvCxnSpPr>
            <p:nvPr/>
          </p:nvCxnSpPr>
          <p:spPr>
            <a:xfrm rot="16200000" flipH="1" flipV="1">
              <a:off x="2320074" y="1850342"/>
              <a:ext cx="3174" cy="1003196"/>
            </a:xfrm>
            <a:prstGeom prst="curvedConnector3">
              <a:avLst>
                <a:gd name="adj1" fmla="val -7209082"/>
              </a:avLst>
            </a:prstGeom>
            <a:ln>
              <a:solidFill>
                <a:schemeClr val="accent5">
                  <a:lumMod val="75000"/>
                </a:schemeClr>
              </a:solidFill>
              <a:tailEnd type="arrow"/>
            </a:ln>
          </p:spPr>
          <p:style>
            <a:lnRef idx="1">
              <a:schemeClr val="accent1"/>
            </a:lnRef>
            <a:fillRef idx="0">
              <a:schemeClr val="accent1"/>
            </a:fillRef>
            <a:effectRef idx="0">
              <a:schemeClr val="accent1"/>
            </a:effectRef>
            <a:fontRef idx="minor">
              <a:schemeClr val="tx1"/>
            </a:fontRef>
          </p:style>
        </p:cxnSp>
        <p:cxnSp>
          <p:nvCxnSpPr>
            <p:cNvPr id="65" name="Curved Connector 64"/>
            <p:cNvCxnSpPr>
              <a:stCxn id="54" idx="2"/>
              <a:endCxn id="59" idx="2"/>
            </p:cNvCxnSpPr>
            <p:nvPr/>
          </p:nvCxnSpPr>
          <p:spPr>
            <a:xfrm rot="5400000" flipH="1" flipV="1">
              <a:off x="2677225" y="1854991"/>
              <a:ext cx="3174" cy="1717496"/>
            </a:xfrm>
            <a:prstGeom prst="curvedConnector3">
              <a:avLst>
                <a:gd name="adj1" fmla="val -7209082"/>
              </a:avLst>
            </a:prstGeom>
            <a:ln>
              <a:solidFill>
                <a:schemeClr val="accent5">
                  <a:lumMod val="75000"/>
                </a:schemeClr>
              </a:solidFill>
              <a:tailEnd type="arrow"/>
            </a:ln>
          </p:spPr>
          <p:style>
            <a:lnRef idx="1">
              <a:schemeClr val="accent1"/>
            </a:lnRef>
            <a:fillRef idx="0">
              <a:schemeClr val="accent1"/>
            </a:fillRef>
            <a:effectRef idx="0">
              <a:schemeClr val="accent1"/>
            </a:effectRef>
            <a:fontRef idx="minor">
              <a:schemeClr val="tx1"/>
            </a:fontRef>
          </p:style>
        </p:cxnSp>
      </p:gr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3" name="Rounded Rectangle 22">
            <a:extLst>
              <a:ext uri="{FF2B5EF4-FFF2-40B4-BE49-F238E27FC236}">
                <a16:creationId xmlns:a16="http://schemas.microsoft.com/office/drawing/2014/main" id="{7E3BB698-2964-8A4A-9698-7E266AED0682}"/>
              </a:ext>
            </a:extLst>
          </p:cNvPr>
          <p:cNvSpPr/>
          <p:nvPr/>
        </p:nvSpPr>
        <p:spPr>
          <a:xfrm>
            <a:off x="362119" y="1574919"/>
            <a:ext cx="4296908" cy="1982550"/>
          </a:xfrm>
          <a:prstGeom prst="roundRect">
            <a:avLst>
              <a:gd name="adj" fmla="val 19760"/>
            </a:avLst>
          </a:prstGeom>
          <a:solidFill>
            <a:srgbClr val="FFC000">
              <a:alpha val="25000"/>
            </a:srgbClr>
          </a:solidFill>
          <a:ln>
            <a:solidFill>
              <a:srgbClr val="FFC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218" name="Title 1"/>
          <p:cNvSpPr>
            <a:spLocks noGrp="1"/>
          </p:cNvSpPr>
          <p:nvPr>
            <p:ph type="title"/>
          </p:nvPr>
        </p:nvSpPr>
        <p:spPr/>
        <p:txBody>
          <a:bodyPr/>
          <a:lstStyle/>
          <a:p>
            <a:r>
              <a:rPr lang="en-US"/>
              <a:t>Data-flow based coverage</a:t>
            </a:r>
          </a:p>
        </p:txBody>
      </p:sp>
      <p:sp>
        <p:nvSpPr>
          <p:cNvPr id="9219" name="Content Placeholder 2"/>
          <p:cNvSpPr>
            <a:spLocks noGrp="1"/>
          </p:cNvSpPr>
          <p:nvPr>
            <p:ph idx="1"/>
          </p:nvPr>
        </p:nvSpPr>
        <p:spPr>
          <a:xfrm>
            <a:off x="285750" y="3839120"/>
            <a:ext cx="8429625" cy="3018880"/>
          </a:xfrm>
        </p:spPr>
        <p:txBody>
          <a:bodyPr/>
          <a:lstStyle/>
          <a:p>
            <a:r>
              <a:rPr lang="en-US" sz="2400" dirty="0"/>
              <a:t>(C 2.10/2</a:t>
            </a:r>
            <a:r>
              <a:rPr lang="en-US" sz="2400" baseline="30000" dirty="0"/>
              <a:t>nd</a:t>
            </a:r>
            <a:r>
              <a:rPr lang="en-US" sz="2400" dirty="0"/>
              <a:t> Ed. C7.16, </a:t>
            </a:r>
            <a:r>
              <a:rPr lang="en-US" sz="2400" dirty="0">
                <a:solidFill>
                  <a:srgbClr val="0070C0"/>
                </a:solidFill>
              </a:rPr>
              <a:t>All Uses </a:t>
            </a:r>
            <a:r>
              <a:rPr lang="en-US" sz="2400" dirty="0" err="1">
                <a:solidFill>
                  <a:srgbClr val="0070C0"/>
                </a:solidFill>
              </a:rPr>
              <a:t>Covrg</a:t>
            </a:r>
            <a:r>
              <a:rPr lang="en-US" sz="2400" dirty="0">
                <a:solidFill>
                  <a:srgbClr val="0070C0"/>
                </a:solidFill>
              </a:rPr>
              <a:t>, </a:t>
            </a:r>
            <a:r>
              <a:rPr lang="en-US" sz="2400" b="1" dirty="0">
                <a:solidFill>
                  <a:srgbClr val="0070C0"/>
                </a:solidFill>
              </a:rPr>
              <a:t>AUC</a:t>
            </a:r>
            <a:r>
              <a:rPr lang="en-US" sz="2400" dirty="0"/>
              <a:t>) For each def-pair set S = du(</a:t>
            </a:r>
            <a:r>
              <a:rPr lang="en-US" sz="2400" dirty="0" err="1"/>
              <a:t>i,j,v</a:t>
            </a:r>
            <a:r>
              <a:rPr lang="en-US" sz="2400" dirty="0"/>
              <a:t>), TR includes at least one member of S.</a:t>
            </a:r>
          </a:p>
          <a:p>
            <a:r>
              <a:rPr lang="en-US" sz="2400" dirty="0"/>
              <a:t>(C2.11/2</a:t>
            </a:r>
            <a:r>
              <a:rPr lang="en-US" sz="2400" baseline="30000" dirty="0"/>
              <a:t>nd</a:t>
            </a:r>
            <a:r>
              <a:rPr lang="en-US" sz="2400" dirty="0"/>
              <a:t> Ed. C7.17, </a:t>
            </a:r>
            <a:r>
              <a:rPr lang="en-US" sz="2400" dirty="0">
                <a:solidFill>
                  <a:srgbClr val="0070C0"/>
                </a:solidFill>
              </a:rPr>
              <a:t>All du-paths </a:t>
            </a:r>
            <a:r>
              <a:rPr lang="en-US" sz="2400" dirty="0" err="1">
                <a:solidFill>
                  <a:srgbClr val="0070C0"/>
                </a:solidFill>
              </a:rPr>
              <a:t>Covrg</a:t>
            </a:r>
            <a:r>
              <a:rPr lang="en-US" sz="2400" dirty="0">
                <a:solidFill>
                  <a:srgbClr val="0070C0"/>
                </a:solidFill>
              </a:rPr>
              <a:t>, </a:t>
            </a:r>
            <a:r>
              <a:rPr lang="en-US" sz="2400" b="1" dirty="0">
                <a:solidFill>
                  <a:srgbClr val="0070C0"/>
                </a:solidFill>
              </a:rPr>
              <a:t>ADUPC</a:t>
            </a:r>
            <a:r>
              <a:rPr lang="en-US" sz="2400" dirty="0"/>
              <a:t>) For each def-pair set S = du(</a:t>
            </a:r>
            <a:r>
              <a:rPr lang="en-US" sz="2400" dirty="0" err="1"/>
              <a:t>i,j,v</a:t>
            </a:r>
            <a:r>
              <a:rPr lang="en-US" sz="2400" dirty="0"/>
              <a:t>), TR includes </a:t>
            </a:r>
            <a:r>
              <a:rPr lang="en-US" sz="2400" i="1" dirty="0"/>
              <a:t>all </a:t>
            </a:r>
            <a:r>
              <a:rPr lang="en-US" sz="2400" dirty="0"/>
              <a:t>members of S.</a:t>
            </a:r>
          </a:p>
          <a:p>
            <a:r>
              <a:rPr lang="en-US" sz="2400" dirty="0"/>
              <a:t>Note: the above example only has one variable, namely x; consequently all TRs above only concern x. </a:t>
            </a:r>
          </a:p>
        </p:txBody>
      </p:sp>
      <p:sp>
        <p:nvSpPr>
          <p:cNvPr id="4" name="Slide Number Placeholder 3"/>
          <p:cNvSpPr>
            <a:spLocks noGrp="1"/>
          </p:cNvSpPr>
          <p:nvPr>
            <p:ph type="sldNum" sz="quarter" idx="12"/>
          </p:nvPr>
        </p:nvSpPr>
        <p:spPr/>
        <p:txBody>
          <a:bodyPr/>
          <a:lstStyle/>
          <a:p>
            <a:pPr>
              <a:defRPr/>
            </a:pPr>
            <a:fld id="{7D27B13B-7955-41F4-B73B-21E8B54FC921}" type="slidenum">
              <a:rPr lang="en-US" smtClean="0"/>
              <a:pPr>
                <a:defRPr/>
              </a:pPr>
              <a:t>8</a:t>
            </a:fld>
            <a:endParaRPr lang="en-US"/>
          </a:p>
        </p:txBody>
      </p:sp>
      <p:sp>
        <p:nvSpPr>
          <p:cNvPr id="7186" name="TextBox 22"/>
          <p:cNvSpPr txBox="1">
            <a:spLocks noChangeArrowheads="1"/>
          </p:cNvSpPr>
          <p:nvPr/>
        </p:nvSpPr>
        <p:spPr bwMode="auto">
          <a:xfrm>
            <a:off x="4890802" y="1789082"/>
            <a:ext cx="1087157" cy="1015663"/>
          </a:xfrm>
          <a:prstGeom prst="rect">
            <a:avLst/>
          </a:prstGeom>
          <a:solidFill>
            <a:schemeClr val="accent2">
              <a:lumMod val="40000"/>
              <a:lumOff val="60000"/>
            </a:schemeClr>
          </a:solidFill>
          <a:ln w="9525">
            <a:noFill/>
            <a:miter lim="800000"/>
            <a:headEnd/>
            <a:tailEnd/>
          </a:ln>
        </p:spPr>
        <p:txBody>
          <a:bodyPr wrap="none">
            <a:spAutoFit/>
          </a:bodyPr>
          <a:lstStyle/>
          <a:p>
            <a:pPr marL="342900" indent="-342900">
              <a:defRPr/>
            </a:pPr>
            <a:r>
              <a:rPr lang="en-US" sz="2000" b="1" dirty="0">
                <a:latin typeface="+mn-lt"/>
              </a:rPr>
              <a:t>ADC</a:t>
            </a:r>
            <a:r>
              <a:rPr lang="en-US" sz="2000" dirty="0">
                <a:latin typeface="+mn-lt"/>
              </a:rPr>
              <a:t> TR: </a:t>
            </a:r>
          </a:p>
          <a:p>
            <a:pPr marL="342900" indent="-342900">
              <a:defRPr/>
            </a:pPr>
            <a:r>
              <a:rPr lang="en-US" sz="2000" dirty="0">
                <a:latin typeface="+mn-lt"/>
              </a:rPr>
              <a:t>   12, </a:t>
            </a:r>
          </a:p>
          <a:p>
            <a:pPr marL="342900" indent="-342900">
              <a:defRPr/>
            </a:pPr>
            <a:r>
              <a:rPr lang="en-US" sz="2000" dirty="0">
                <a:latin typeface="+mn-lt"/>
              </a:rPr>
              <a:t>   234</a:t>
            </a:r>
          </a:p>
        </p:txBody>
      </p:sp>
      <p:sp>
        <p:nvSpPr>
          <p:cNvPr id="7187" name="TextBox 24"/>
          <p:cNvSpPr txBox="1">
            <a:spLocks noChangeArrowheads="1"/>
          </p:cNvSpPr>
          <p:nvPr/>
        </p:nvSpPr>
        <p:spPr bwMode="auto">
          <a:xfrm>
            <a:off x="6109115" y="1795780"/>
            <a:ext cx="1274708" cy="1200329"/>
          </a:xfrm>
          <a:prstGeom prst="rect">
            <a:avLst/>
          </a:prstGeom>
          <a:solidFill>
            <a:schemeClr val="accent5">
              <a:lumMod val="40000"/>
              <a:lumOff val="60000"/>
            </a:schemeClr>
          </a:solidFill>
          <a:ln w="9525">
            <a:noFill/>
            <a:miter lim="800000"/>
            <a:headEnd/>
            <a:tailEnd/>
          </a:ln>
        </p:spPr>
        <p:txBody>
          <a:bodyPr wrap="none">
            <a:spAutoFit/>
          </a:bodyPr>
          <a:lstStyle/>
          <a:p>
            <a:pPr>
              <a:defRPr/>
            </a:pPr>
            <a:r>
              <a:rPr lang="en-US" b="1" dirty="0"/>
              <a:t>AUC</a:t>
            </a:r>
            <a:r>
              <a:rPr lang="en-US" dirty="0"/>
              <a:t> TR: </a:t>
            </a:r>
          </a:p>
          <a:p>
            <a:pPr>
              <a:defRPr/>
            </a:pPr>
            <a:r>
              <a:rPr lang="en-US" dirty="0"/>
              <a:t>  12</a:t>
            </a:r>
          </a:p>
          <a:p>
            <a:pPr>
              <a:defRPr/>
            </a:pPr>
            <a:r>
              <a:rPr lang="en-US" b="1" dirty="0"/>
              <a:t>  23 , 232</a:t>
            </a:r>
            <a:r>
              <a:rPr lang="en-US" dirty="0"/>
              <a:t>, </a:t>
            </a:r>
          </a:p>
          <a:p>
            <a:pPr>
              <a:defRPr/>
            </a:pPr>
            <a:r>
              <a:rPr lang="en-US" dirty="0"/>
              <a:t>  234</a:t>
            </a:r>
          </a:p>
        </p:txBody>
      </p:sp>
      <p:sp>
        <p:nvSpPr>
          <p:cNvPr id="9223" name="TextBox 24"/>
          <p:cNvSpPr txBox="1">
            <a:spLocks noChangeArrowheads="1"/>
          </p:cNvSpPr>
          <p:nvPr/>
        </p:nvSpPr>
        <p:spPr bwMode="auto">
          <a:xfrm>
            <a:off x="7544081" y="1789082"/>
            <a:ext cx="1287532" cy="1200329"/>
          </a:xfrm>
          <a:prstGeom prst="rect">
            <a:avLst/>
          </a:prstGeom>
          <a:solidFill>
            <a:srgbClr val="FFFF00"/>
          </a:solidFill>
          <a:ln w="9525">
            <a:noFill/>
            <a:miter lim="800000"/>
            <a:headEnd/>
            <a:tailEnd/>
          </a:ln>
        </p:spPr>
        <p:txBody>
          <a:bodyPr wrap="none">
            <a:spAutoFit/>
          </a:bodyPr>
          <a:lstStyle/>
          <a:p>
            <a:r>
              <a:rPr lang="en-US" b="1" dirty="0"/>
              <a:t>ADUC </a:t>
            </a:r>
            <a:r>
              <a:rPr lang="en-US" dirty="0"/>
              <a:t>TR:</a:t>
            </a:r>
            <a:br>
              <a:rPr lang="en-US" dirty="0"/>
            </a:br>
            <a:r>
              <a:rPr lang="en-US" dirty="0"/>
              <a:t>  12</a:t>
            </a:r>
          </a:p>
          <a:p>
            <a:r>
              <a:rPr lang="en-US" dirty="0"/>
              <a:t>  23 , 232, </a:t>
            </a:r>
          </a:p>
          <a:p>
            <a:r>
              <a:rPr lang="en-US" dirty="0"/>
              <a:t>  234, 24</a:t>
            </a:r>
          </a:p>
        </p:txBody>
      </p:sp>
      <p:sp>
        <p:nvSpPr>
          <p:cNvPr id="25" name="Rectangle 24"/>
          <p:cNvSpPr/>
          <p:nvPr/>
        </p:nvSpPr>
        <p:spPr bwMode="auto">
          <a:xfrm>
            <a:off x="982681" y="2364422"/>
            <a:ext cx="360362" cy="360362"/>
          </a:xfrm>
          <a:prstGeom prst="rect">
            <a:avLst/>
          </a:prstGeom>
          <a:solidFill>
            <a:srgbClr val="FFFF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r>
              <a:rPr lang="en-US" sz="1200" b="1" dirty="0">
                <a:solidFill>
                  <a:schemeClr val="tx1"/>
                </a:solidFill>
              </a:rPr>
              <a:t>n1</a:t>
            </a:r>
          </a:p>
        </p:txBody>
      </p:sp>
      <p:cxnSp>
        <p:nvCxnSpPr>
          <p:cNvPr id="26" name="Straight Arrow Connector 25"/>
          <p:cNvCxnSpPr>
            <a:stCxn id="25" idx="3"/>
            <a:endCxn id="27" idx="1"/>
          </p:cNvCxnSpPr>
          <p:nvPr/>
        </p:nvCxnSpPr>
        <p:spPr bwMode="auto">
          <a:xfrm>
            <a:off x="1343043" y="2544603"/>
            <a:ext cx="318293" cy="3175"/>
          </a:xfrm>
          <a:prstGeom prst="straightConnector1">
            <a:avLst/>
          </a:prstGeom>
          <a:ln>
            <a:solidFill>
              <a:schemeClr val="accent5">
                <a:lumMod val="75000"/>
              </a:schemeClr>
            </a:solidFill>
            <a:tailEnd type="arrow"/>
          </a:ln>
        </p:spPr>
        <p:style>
          <a:lnRef idx="1">
            <a:schemeClr val="accent1"/>
          </a:lnRef>
          <a:fillRef idx="0">
            <a:schemeClr val="accent1"/>
          </a:fillRef>
          <a:effectRef idx="0">
            <a:schemeClr val="accent1"/>
          </a:effectRef>
          <a:fontRef idx="minor">
            <a:schemeClr val="tx1"/>
          </a:fontRef>
        </p:style>
      </p:cxnSp>
      <p:sp>
        <p:nvSpPr>
          <p:cNvPr id="27" name="Rectangle 26"/>
          <p:cNvSpPr/>
          <p:nvPr/>
        </p:nvSpPr>
        <p:spPr bwMode="auto">
          <a:xfrm>
            <a:off x="1661336" y="2367597"/>
            <a:ext cx="360363" cy="360362"/>
          </a:xfrm>
          <a:prstGeom prst="rect">
            <a:avLst/>
          </a:prstGeom>
          <a:solidFill>
            <a:srgbClr val="FFFF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r>
              <a:rPr lang="en-US" sz="1200" b="1" dirty="0">
                <a:solidFill>
                  <a:schemeClr val="tx1"/>
                </a:solidFill>
              </a:rPr>
              <a:t>n2</a:t>
            </a:r>
          </a:p>
        </p:txBody>
      </p:sp>
      <p:sp>
        <p:nvSpPr>
          <p:cNvPr id="28" name="Rectangle 27"/>
          <p:cNvSpPr/>
          <p:nvPr/>
        </p:nvSpPr>
        <p:spPr bwMode="auto">
          <a:xfrm>
            <a:off x="2664636" y="2364422"/>
            <a:ext cx="360363" cy="360362"/>
          </a:xfrm>
          <a:prstGeom prst="rect">
            <a:avLst/>
          </a:prstGeom>
          <a:solidFill>
            <a:srgbClr val="FFFF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r>
              <a:rPr lang="en-US" sz="1200" b="1" dirty="0">
                <a:solidFill>
                  <a:schemeClr val="tx1"/>
                </a:solidFill>
              </a:rPr>
              <a:t>n3</a:t>
            </a:r>
          </a:p>
        </p:txBody>
      </p:sp>
      <p:sp>
        <p:nvSpPr>
          <p:cNvPr id="30" name="TextBox 29"/>
          <p:cNvSpPr txBox="1"/>
          <p:nvPr/>
        </p:nvSpPr>
        <p:spPr bwMode="auto">
          <a:xfrm>
            <a:off x="548173" y="2689255"/>
            <a:ext cx="1113958" cy="646331"/>
          </a:xfrm>
          <a:prstGeom prst="rect">
            <a:avLst/>
          </a:prstGeom>
          <a:noFill/>
        </p:spPr>
        <p:txBody>
          <a:bodyPr wrap="none">
            <a:spAutoFit/>
          </a:bodyPr>
          <a:lstStyle/>
          <a:p>
            <a:pPr algn="ctr">
              <a:defRPr/>
            </a:pPr>
            <a:r>
              <a:rPr lang="en-US" dirty="0"/>
              <a:t>use = </a:t>
            </a:r>
            <a:r>
              <a:rPr lang="en-US" dirty="0">
                <a:sym typeface="Symbol"/>
              </a:rPr>
              <a:t></a:t>
            </a:r>
            <a:endParaRPr lang="en-US" dirty="0"/>
          </a:p>
          <a:p>
            <a:pPr algn="ctr">
              <a:defRPr/>
            </a:pPr>
            <a:r>
              <a:rPr lang="en-US" dirty="0">
                <a:latin typeface="+mn-lt"/>
              </a:rPr>
              <a:t>def  = { x }</a:t>
            </a:r>
          </a:p>
        </p:txBody>
      </p:sp>
      <p:sp>
        <p:nvSpPr>
          <p:cNvPr id="31" name="TextBox 30"/>
          <p:cNvSpPr txBox="1"/>
          <p:nvPr/>
        </p:nvSpPr>
        <p:spPr bwMode="auto">
          <a:xfrm>
            <a:off x="1164449" y="1650047"/>
            <a:ext cx="1089025" cy="646112"/>
          </a:xfrm>
          <a:prstGeom prst="rect">
            <a:avLst/>
          </a:prstGeom>
          <a:noFill/>
        </p:spPr>
        <p:txBody>
          <a:bodyPr wrap="none">
            <a:spAutoFit/>
          </a:bodyPr>
          <a:lstStyle/>
          <a:p>
            <a:pPr>
              <a:defRPr/>
            </a:pPr>
            <a:r>
              <a:rPr lang="en-US" dirty="0"/>
              <a:t>use = {x}</a:t>
            </a:r>
          </a:p>
          <a:p>
            <a:pPr>
              <a:defRPr/>
            </a:pPr>
            <a:r>
              <a:rPr lang="en-US" dirty="0">
                <a:latin typeface="+mn-lt"/>
              </a:rPr>
              <a:t>def ={x}</a:t>
            </a:r>
          </a:p>
        </p:txBody>
      </p:sp>
      <p:cxnSp>
        <p:nvCxnSpPr>
          <p:cNvPr id="32" name="Straight Arrow Connector 31"/>
          <p:cNvCxnSpPr>
            <a:stCxn id="27" idx="3"/>
            <a:endCxn id="28" idx="1"/>
          </p:cNvCxnSpPr>
          <p:nvPr/>
        </p:nvCxnSpPr>
        <p:spPr bwMode="auto">
          <a:xfrm flipV="1">
            <a:off x="2021699" y="2543809"/>
            <a:ext cx="642937" cy="3175"/>
          </a:xfrm>
          <a:prstGeom prst="straightConnector1">
            <a:avLst/>
          </a:prstGeom>
          <a:ln>
            <a:solidFill>
              <a:schemeClr val="accent5">
                <a:lumMod val="75000"/>
              </a:schemeClr>
            </a:solidFill>
            <a:tailEnd type="arrow"/>
          </a:ln>
        </p:spPr>
        <p:style>
          <a:lnRef idx="1">
            <a:schemeClr val="accent1"/>
          </a:lnRef>
          <a:fillRef idx="0">
            <a:schemeClr val="accent1"/>
          </a:fillRef>
          <a:effectRef idx="0">
            <a:schemeClr val="accent1"/>
          </a:effectRef>
          <a:fontRef idx="minor">
            <a:schemeClr val="tx1"/>
          </a:fontRef>
        </p:style>
      </p:cxnSp>
      <p:sp>
        <p:nvSpPr>
          <p:cNvPr id="33" name="Rectangle 32"/>
          <p:cNvSpPr/>
          <p:nvPr/>
        </p:nvSpPr>
        <p:spPr bwMode="auto">
          <a:xfrm>
            <a:off x="3215578" y="2364422"/>
            <a:ext cx="360363" cy="360362"/>
          </a:xfrm>
          <a:prstGeom prst="rect">
            <a:avLst/>
          </a:prstGeom>
          <a:solidFill>
            <a:srgbClr val="FFFF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r>
              <a:rPr lang="en-US" sz="1200" b="1" dirty="0">
                <a:solidFill>
                  <a:schemeClr val="tx1"/>
                </a:solidFill>
              </a:rPr>
              <a:t>n4</a:t>
            </a:r>
          </a:p>
        </p:txBody>
      </p:sp>
      <p:cxnSp>
        <p:nvCxnSpPr>
          <p:cNvPr id="34" name="Straight Arrow Connector 33"/>
          <p:cNvCxnSpPr>
            <a:stCxn id="28" idx="3"/>
            <a:endCxn id="33" idx="1"/>
          </p:cNvCxnSpPr>
          <p:nvPr/>
        </p:nvCxnSpPr>
        <p:spPr bwMode="auto">
          <a:xfrm>
            <a:off x="3024999" y="2544603"/>
            <a:ext cx="190579" cy="0"/>
          </a:xfrm>
          <a:prstGeom prst="straightConnector1">
            <a:avLst/>
          </a:prstGeom>
          <a:ln>
            <a:solidFill>
              <a:schemeClr val="accent5">
                <a:lumMod val="75000"/>
              </a:schemeClr>
            </a:solidFill>
            <a:tailEnd type="arrow"/>
          </a:ln>
        </p:spPr>
        <p:style>
          <a:lnRef idx="1">
            <a:schemeClr val="accent1"/>
          </a:lnRef>
          <a:fillRef idx="0">
            <a:schemeClr val="accent1"/>
          </a:fillRef>
          <a:effectRef idx="0">
            <a:schemeClr val="accent1"/>
          </a:effectRef>
          <a:fontRef idx="minor">
            <a:schemeClr val="tx1"/>
          </a:fontRef>
        </p:style>
      </p:cxnSp>
      <p:sp>
        <p:nvSpPr>
          <p:cNvPr id="35" name="TextBox 34"/>
          <p:cNvSpPr txBox="1"/>
          <p:nvPr/>
        </p:nvSpPr>
        <p:spPr bwMode="auto">
          <a:xfrm>
            <a:off x="2407461" y="1650047"/>
            <a:ext cx="1087438" cy="646112"/>
          </a:xfrm>
          <a:prstGeom prst="rect">
            <a:avLst/>
          </a:prstGeom>
          <a:noFill/>
        </p:spPr>
        <p:txBody>
          <a:bodyPr wrap="none">
            <a:spAutoFit/>
          </a:bodyPr>
          <a:lstStyle/>
          <a:p>
            <a:pPr algn="ctr">
              <a:defRPr/>
            </a:pPr>
            <a:r>
              <a:rPr lang="en-US" dirty="0"/>
              <a:t>use = {x}</a:t>
            </a:r>
          </a:p>
          <a:p>
            <a:pPr algn="ctr">
              <a:defRPr/>
            </a:pPr>
            <a:r>
              <a:rPr lang="en-US" dirty="0">
                <a:latin typeface="+mn-lt"/>
              </a:rPr>
              <a:t>def =</a:t>
            </a:r>
            <a:r>
              <a:rPr lang="en-US" dirty="0">
                <a:sym typeface="Symbol"/>
              </a:rPr>
              <a:t></a:t>
            </a:r>
            <a:endParaRPr lang="en-US" dirty="0">
              <a:latin typeface="+mn-lt"/>
            </a:endParaRPr>
          </a:p>
        </p:txBody>
      </p:sp>
      <p:sp>
        <p:nvSpPr>
          <p:cNvPr id="37" name="TextBox 36"/>
          <p:cNvSpPr txBox="1"/>
          <p:nvPr/>
        </p:nvSpPr>
        <p:spPr bwMode="auto">
          <a:xfrm>
            <a:off x="3570002" y="2232128"/>
            <a:ext cx="1089025" cy="646113"/>
          </a:xfrm>
          <a:prstGeom prst="rect">
            <a:avLst/>
          </a:prstGeom>
          <a:noFill/>
        </p:spPr>
        <p:txBody>
          <a:bodyPr wrap="none">
            <a:spAutoFit/>
          </a:bodyPr>
          <a:lstStyle/>
          <a:p>
            <a:pPr>
              <a:defRPr/>
            </a:pPr>
            <a:r>
              <a:rPr lang="en-US" dirty="0"/>
              <a:t>use  ={x}</a:t>
            </a:r>
          </a:p>
          <a:p>
            <a:pPr>
              <a:defRPr/>
            </a:pPr>
            <a:r>
              <a:rPr lang="en-US" dirty="0">
                <a:latin typeface="+mn-lt"/>
              </a:rPr>
              <a:t>def  = </a:t>
            </a:r>
            <a:r>
              <a:rPr lang="en-US" dirty="0">
                <a:latin typeface="+mn-lt"/>
                <a:sym typeface="Symbol"/>
              </a:rPr>
              <a:t></a:t>
            </a:r>
            <a:endParaRPr lang="en-US" dirty="0">
              <a:latin typeface="+mn-lt"/>
            </a:endParaRPr>
          </a:p>
        </p:txBody>
      </p:sp>
      <p:cxnSp>
        <p:nvCxnSpPr>
          <p:cNvPr id="40" name="Straight Arrow Connector 39"/>
          <p:cNvCxnSpPr>
            <a:cxnSpLocks/>
            <a:endCxn id="25" idx="1"/>
          </p:cNvCxnSpPr>
          <p:nvPr/>
        </p:nvCxnSpPr>
        <p:spPr bwMode="auto">
          <a:xfrm flipV="1">
            <a:off x="683834" y="2544603"/>
            <a:ext cx="298847" cy="10582"/>
          </a:xfrm>
          <a:prstGeom prst="straightConnector1">
            <a:avLst/>
          </a:prstGeom>
          <a:ln>
            <a:solidFill>
              <a:schemeClr val="accent5">
                <a:lumMod val="75000"/>
              </a:schemeClr>
            </a:solidFill>
            <a:tailEnd type="arrow"/>
          </a:ln>
        </p:spPr>
        <p:style>
          <a:lnRef idx="1">
            <a:schemeClr val="accent1"/>
          </a:lnRef>
          <a:fillRef idx="0">
            <a:schemeClr val="accent1"/>
          </a:fillRef>
          <a:effectRef idx="0">
            <a:schemeClr val="accent1"/>
          </a:effectRef>
          <a:fontRef idx="minor">
            <a:schemeClr val="tx1"/>
          </a:fontRef>
        </p:style>
      </p:cxnSp>
      <p:cxnSp>
        <p:nvCxnSpPr>
          <p:cNvPr id="41" name="Curved Connector 40"/>
          <p:cNvCxnSpPr>
            <a:stCxn id="28" idx="0"/>
            <a:endCxn id="27" idx="0"/>
          </p:cNvCxnSpPr>
          <p:nvPr/>
        </p:nvCxnSpPr>
        <p:spPr bwMode="auto">
          <a:xfrm rot="16200000" flipH="1" flipV="1">
            <a:off x="2340786" y="1864360"/>
            <a:ext cx="3175" cy="1003300"/>
          </a:xfrm>
          <a:prstGeom prst="curvedConnector3">
            <a:avLst>
              <a:gd name="adj1" fmla="val -7209082"/>
            </a:avLst>
          </a:prstGeom>
          <a:ln>
            <a:solidFill>
              <a:schemeClr val="accent5">
                <a:lumMod val="75000"/>
              </a:schemeClr>
            </a:solidFill>
            <a:tailEnd type="arrow"/>
          </a:ln>
        </p:spPr>
        <p:style>
          <a:lnRef idx="1">
            <a:schemeClr val="accent1"/>
          </a:lnRef>
          <a:fillRef idx="0">
            <a:schemeClr val="accent1"/>
          </a:fillRef>
          <a:effectRef idx="0">
            <a:schemeClr val="accent1"/>
          </a:effectRef>
          <a:fontRef idx="minor">
            <a:schemeClr val="tx1"/>
          </a:fontRef>
        </p:style>
      </p:cxnSp>
      <p:cxnSp>
        <p:nvCxnSpPr>
          <p:cNvPr id="42" name="Curved Connector 41"/>
          <p:cNvCxnSpPr>
            <a:stCxn id="27" idx="2"/>
            <a:endCxn id="33" idx="2"/>
          </p:cNvCxnSpPr>
          <p:nvPr/>
        </p:nvCxnSpPr>
        <p:spPr bwMode="auto">
          <a:xfrm rot="5400000" flipH="1" flipV="1">
            <a:off x="2617051" y="1949251"/>
            <a:ext cx="3175" cy="1554242"/>
          </a:xfrm>
          <a:prstGeom prst="curvedConnector3">
            <a:avLst>
              <a:gd name="adj1" fmla="val -7200000"/>
            </a:avLst>
          </a:prstGeom>
          <a:ln>
            <a:solidFill>
              <a:schemeClr val="accent5">
                <a:lumMod val="75000"/>
              </a:schemeClr>
            </a:solidFill>
            <a:tailEnd type="arrow"/>
          </a:ln>
        </p:spPr>
        <p:style>
          <a:lnRef idx="1">
            <a:schemeClr val="accent1"/>
          </a:lnRef>
          <a:fillRef idx="0">
            <a:schemeClr val="accent1"/>
          </a:fillRef>
          <a:effectRef idx="0">
            <a:schemeClr val="accent1"/>
          </a:effectRef>
          <a:fontRef idx="minor">
            <a:schemeClr val="tx1"/>
          </a:fontRef>
        </p:style>
      </p:cxn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5C1D635-041A-6512-6139-CBD68FEC12DE}"/>
              </a:ext>
            </a:extLst>
          </p:cNvPr>
          <p:cNvSpPr>
            <a:spLocks noGrp="1"/>
          </p:cNvSpPr>
          <p:nvPr>
            <p:ph type="title"/>
          </p:nvPr>
        </p:nvSpPr>
        <p:spPr>
          <a:xfrm>
            <a:off x="457200" y="274638"/>
            <a:ext cx="8229600" cy="699223"/>
          </a:xfrm>
        </p:spPr>
        <p:txBody>
          <a:bodyPr/>
          <a:lstStyle/>
          <a:p>
            <a:r>
              <a:rPr lang="en-NL" dirty="0"/>
              <a:t>Example AUC vs PPC</a:t>
            </a:r>
          </a:p>
        </p:txBody>
      </p:sp>
      <p:sp>
        <p:nvSpPr>
          <p:cNvPr id="3" name="Content Placeholder 2">
            <a:extLst>
              <a:ext uri="{FF2B5EF4-FFF2-40B4-BE49-F238E27FC236}">
                <a16:creationId xmlns:a16="http://schemas.microsoft.com/office/drawing/2014/main" id="{CE7671AD-BCE1-FCDE-0E1D-FD7A0B3E5879}"/>
              </a:ext>
            </a:extLst>
          </p:cNvPr>
          <p:cNvSpPr>
            <a:spLocks noGrp="1"/>
          </p:cNvSpPr>
          <p:nvPr>
            <p:ph idx="1"/>
          </p:nvPr>
        </p:nvSpPr>
        <p:spPr>
          <a:xfrm>
            <a:off x="203473" y="5015319"/>
            <a:ext cx="8856984" cy="1401019"/>
          </a:xfrm>
        </p:spPr>
        <p:txBody>
          <a:bodyPr/>
          <a:lstStyle/>
          <a:p>
            <a:r>
              <a:rPr lang="en-NL" sz="2000" dirty="0"/>
              <a:t>8 prime paths; we need 8 tests to cover them all</a:t>
            </a:r>
          </a:p>
          <a:p>
            <a:r>
              <a:rPr lang="en-NL" sz="2000" dirty="0"/>
              <a:t>There are at least 6 def-use-pair sets: du(0,1,x), du(1,8,x), du(2,8,x), du(0,4,y), du(4,8,y), du(5,8,y). You can cover them all (AUC) with 2 tests.</a:t>
            </a:r>
            <a:br>
              <a:rPr lang="en-NL" sz="2000" dirty="0"/>
            </a:br>
            <a:r>
              <a:rPr lang="en-NL" sz="2000" dirty="0"/>
              <a:t>Note-1: covering the above def-use pairs will also cover the remaining du-pairs. </a:t>
            </a:r>
            <a:br>
              <a:rPr lang="en-NL" sz="2000" dirty="0"/>
            </a:br>
            <a:r>
              <a:rPr lang="en-NL" sz="2000" dirty="0"/>
              <a:t>Note-2: on the down side, you may miss covering node-7.</a:t>
            </a:r>
            <a:br>
              <a:rPr lang="en-NL" sz="2000" dirty="0"/>
            </a:br>
            <a:endParaRPr lang="en-NL" sz="2000" dirty="0"/>
          </a:p>
        </p:txBody>
      </p:sp>
      <p:sp>
        <p:nvSpPr>
          <p:cNvPr id="4" name="Slide Number Placeholder 3">
            <a:extLst>
              <a:ext uri="{FF2B5EF4-FFF2-40B4-BE49-F238E27FC236}">
                <a16:creationId xmlns:a16="http://schemas.microsoft.com/office/drawing/2014/main" id="{4B1DD2EE-572E-9BE2-6508-AEE6563CE57E}"/>
              </a:ext>
            </a:extLst>
          </p:cNvPr>
          <p:cNvSpPr>
            <a:spLocks noGrp="1"/>
          </p:cNvSpPr>
          <p:nvPr>
            <p:ph type="sldNum" sz="quarter" idx="12"/>
          </p:nvPr>
        </p:nvSpPr>
        <p:spPr/>
        <p:txBody>
          <a:bodyPr/>
          <a:lstStyle/>
          <a:p>
            <a:pPr>
              <a:defRPr/>
            </a:pPr>
            <a:fld id="{F51486F7-ACCF-4DB7-BBF3-9BC4B709FB28}" type="slidenum">
              <a:rPr lang="en-US" smtClean="0"/>
              <a:pPr>
                <a:defRPr/>
              </a:pPr>
              <a:t>9</a:t>
            </a:fld>
            <a:endParaRPr lang="en-US"/>
          </a:p>
        </p:txBody>
      </p:sp>
      <p:grpSp>
        <p:nvGrpSpPr>
          <p:cNvPr id="5" name="Group 57">
            <a:extLst>
              <a:ext uri="{FF2B5EF4-FFF2-40B4-BE49-F238E27FC236}">
                <a16:creationId xmlns:a16="http://schemas.microsoft.com/office/drawing/2014/main" id="{DB677391-B220-4AF9-81C4-12BA01BC9884}"/>
              </a:ext>
            </a:extLst>
          </p:cNvPr>
          <p:cNvGrpSpPr>
            <a:grpSpLocks/>
          </p:cNvGrpSpPr>
          <p:nvPr/>
        </p:nvGrpSpPr>
        <p:grpSpPr bwMode="auto">
          <a:xfrm>
            <a:off x="2123728" y="3077615"/>
            <a:ext cx="6081713" cy="1455738"/>
            <a:chOff x="642910" y="1701798"/>
            <a:chExt cx="6081745" cy="1455727"/>
          </a:xfrm>
        </p:grpSpPr>
        <p:grpSp>
          <p:nvGrpSpPr>
            <p:cNvPr id="6" name="Group 18">
              <a:extLst>
                <a:ext uri="{FF2B5EF4-FFF2-40B4-BE49-F238E27FC236}">
                  <a16:creationId xmlns:a16="http://schemas.microsoft.com/office/drawing/2014/main" id="{BC03BBC3-7C99-B998-E208-F4AE50A48D19}"/>
                </a:ext>
              </a:extLst>
            </p:cNvPr>
            <p:cNvGrpSpPr>
              <a:grpSpLocks/>
            </p:cNvGrpSpPr>
            <p:nvPr/>
          </p:nvGrpSpPr>
          <p:grpSpPr bwMode="auto">
            <a:xfrm>
              <a:off x="1003273" y="2201850"/>
              <a:ext cx="555625" cy="469900"/>
              <a:chOff x="4288" y="1746"/>
              <a:chExt cx="350" cy="296"/>
            </a:xfrm>
          </p:grpSpPr>
          <p:sp>
            <p:nvSpPr>
              <p:cNvPr id="49" name="Oval 5">
                <a:extLst>
                  <a:ext uri="{FF2B5EF4-FFF2-40B4-BE49-F238E27FC236}">
                    <a16:creationId xmlns:a16="http://schemas.microsoft.com/office/drawing/2014/main" id="{DF76C91A-936F-A3E3-8F22-2BC345AA8739}"/>
                  </a:ext>
                </a:extLst>
              </p:cNvPr>
              <p:cNvSpPr>
                <a:spLocks noChangeArrowheads="1"/>
              </p:cNvSpPr>
              <p:nvPr/>
            </p:nvSpPr>
            <p:spPr bwMode="auto">
              <a:xfrm>
                <a:off x="4288" y="1746"/>
                <a:ext cx="350" cy="296"/>
              </a:xfrm>
              <a:prstGeom prst="ellipse">
                <a:avLst/>
              </a:prstGeom>
              <a:solidFill>
                <a:srgbClr val="0066FF"/>
              </a:solidFill>
              <a:ln w="19050">
                <a:solidFill>
                  <a:schemeClr val="tx1"/>
                </a:solidFill>
                <a:round/>
                <a:headEnd type="none" w="sm" len="sm"/>
                <a:tailEnd type="none" w="sm" len="sm"/>
              </a:ln>
            </p:spPr>
            <p:txBody>
              <a:bodyPr wrap="none" anchor="ctr"/>
              <a:lstStyle/>
              <a:p>
                <a:endParaRPr lang="nl-NL"/>
              </a:p>
            </p:txBody>
          </p:sp>
          <p:sp>
            <p:nvSpPr>
              <p:cNvPr id="50" name="Text Box 6">
                <a:extLst>
                  <a:ext uri="{FF2B5EF4-FFF2-40B4-BE49-F238E27FC236}">
                    <a16:creationId xmlns:a16="http://schemas.microsoft.com/office/drawing/2014/main" id="{A0C2E65B-DD05-88B4-6283-2175F2B221B6}"/>
                  </a:ext>
                </a:extLst>
              </p:cNvPr>
              <p:cNvSpPr txBox="1">
                <a:spLocks noChangeArrowheads="1"/>
              </p:cNvSpPr>
              <p:nvPr/>
            </p:nvSpPr>
            <p:spPr bwMode="auto">
              <a:xfrm>
                <a:off x="4365" y="1769"/>
                <a:ext cx="196" cy="250"/>
              </a:xfrm>
              <a:prstGeom prst="rect">
                <a:avLst/>
              </a:prstGeom>
              <a:noFill/>
              <a:ln w="12700">
                <a:noFill/>
                <a:miter lim="800000"/>
                <a:headEnd type="none" w="sm" len="sm"/>
                <a:tailEnd type="none" w="sm" len="sm"/>
              </a:ln>
            </p:spPr>
            <p:txBody>
              <a:bodyPr wrap="none">
                <a:spAutoFit/>
              </a:bodyPr>
              <a:lstStyle/>
              <a:p>
                <a:pPr algn="r"/>
                <a:r>
                  <a:rPr lang="en-US"/>
                  <a:t>0</a:t>
                </a:r>
              </a:p>
            </p:txBody>
          </p:sp>
        </p:grpSp>
        <p:grpSp>
          <p:nvGrpSpPr>
            <p:cNvPr id="7" name="Group 31">
              <a:extLst>
                <a:ext uri="{FF2B5EF4-FFF2-40B4-BE49-F238E27FC236}">
                  <a16:creationId xmlns:a16="http://schemas.microsoft.com/office/drawing/2014/main" id="{AC4F1BFA-60EC-0D25-44B3-41B99A6E0207}"/>
                </a:ext>
              </a:extLst>
            </p:cNvPr>
            <p:cNvGrpSpPr>
              <a:grpSpLocks/>
            </p:cNvGrpSpPr>
            <p:nvPr/>
          </p:nvGrpSpPr>
          <p:grpSpPr bwMode="auto">
            <a:xfrm>
              <a:off x="1836710" y="1714488"/>
              <a:ext cx="603250" cy="1441450"/>
              <a:chOff x="1346" y="2965"/>
              <a:chExt cx="380" cy="908"/>
            </a:xfrm>
          </p:grpSpPr>
          <p:grpSp>
            <p:nvGrpSpPr>
              <p:cNvPr id="43" name="Group 19">
                <a:extLst>
                  <a:ext uri="{FF2B5EF4-FFF2-40B4-BE49-F238E27FC236}">
                    <a16:creationId xmlns:a16="http://schemas.microsoft.com/office/drawing/2014/main" id="{30F05379-65CD-31B1-9E67-1B82B91E4B6F}"/>
                  </a:ext>
                </a:extLst>
              </p:cNvPr>
              <p:cNvGrpSpPr>
                <a:grpSpLocks/>
              </p:cNvGrpSpPr>
              <p:nvPr/>
            </p:nvGrpSpPr>
            <p:grpSpPr bwMode="auto">
              <a:xfrm>
                <a:off x="1346" y="3577"/>
                <a:ext cx="350" cy="296"/>
                <a:chOff x="4738" y="2684"/>
                <a:chExt cx="350" cy="296"/>
              </a:xfrm>
            </p:grpSpPr>
            <p:sp>
              <p:nvSpPr>
                <p:cNvPr id="47" name="Oval 7">
                  <a:extLst>
                    <a:ext uri="{FF2B5EF4-FFF2-40B4-BE49-F238E27FC236}">
                      <a16:creationId xmlns:a16="http://schemas.microsoft.com/office/drawing/2014/main" id="{55B71F1D-282E-859E-E16D-9246F73169E8}"/>
                    </a:ext>
                  </a:extLst>
                </p:cNvPr>
                <p:cNvSpPr>
                  <a:spLocks noChangeArrowheads="1"/>
                </p:cNvSpPr>
                <p:nvPr/>
              </p:nvSpPr>
              <p:spPr bwMode="auto">
                <a:xfrm>
                  <a:off x="4738" y="2684"/>
                  <a:ext cx="350" cy="296"/>
                </a:xfrm>
                <a:prstGeom prst="ellipse">
                  <a:avLst/>
                </a:prstGeom>
                <a:solidFill>
                  <a:srgbClr val="0066FF"/>
                </a:solidFill>
                <a:ln w="19050">
                  <a:solidFill>
                    <a:schemeClr val="tx1"/>
                  </a:solidFill>
                  <a:round/>
                  <a:headEnd type="none" w="sm" len="sm"/>
                  <a:tailEnd type="none" w="sm" len="sm"/>
                </a:ln>
              </p:spPr>
              <p:txBody>
                <a:bodyPr wrap="none" anchor="ctr"/>
                <a:lstStyle/>
                <a:p>
                  <a:endParaRPr lang="nl-NL"/>
                </a:p>
              </p:txBody>
            </p:sp>
            <p:sp>
              <p:nvSpPr>
                <p:cNvPr id="48" name="Text Box 8">
                  <a:extLst>
                    <a:ext uri="{FF2B5EF4-FFF2-40B4-BE49-F238E27FC236}">
                      <a16:creationId xmlns:a16="http://schemas.microsoft.com/office/drawing/2014/main" id="{AE25F372-9C3F-71D7-AA5B-D1F904269BDE}"/>
                    </a:ext>
                  </a:extLst>
                </p:cNvPr>
                <p:cNvSpPr txBox="1">
                  <a:spLocks noChangeArrowheads="1"/>
                </p:cNvSpPr>
                <p:nvPr/>
              </p:nvSpPr>
              <p:spPr bwMode="auto">
                <a:xfrm>
                  <a:off x="4815" y="2707"/>
                  <a:ext cx="196" cy="250"/>
                </a:xfrm>
                <a:prstGeom prst="rect">
                  <a:avLst/>
                </a:prstGeom>
                <a:noFill/>
                <a:ln w="12700">
                  <a:noFill/>
                  <a:miter lim="800000"/>
                  <a:headEnd type="none" w="sm" len="sm"/>
                  <a:tailEnd type="none" w="sm" len="sm"/>
                </a:ln>
              </p:spPr>
              <p:txBody>
                <a:bodyPr wrap="none">
                  <a:spAutoFit/>
                </a:bodyPr>
                <a:lstStyle/>
                <a:p>
                  <a:r>
                    <a:rPr lang="en-US"/>
                    <a:t>2</a:t>
                  </a:r>
                </a:p>
              </p:txBody>
            </p:sp>
          </p:grpSp>
          <p:grpSp>
            <p:nvGrpSpPr>
              <p:cNvPr id="44" name="Group 20">
                <a:extLst>
                  <a:ext uri="{FF2B5EF4-FFF2-40B4-BE49-F238E27FC236}">
                    <a16:creationId xmlns:a16="http://schemas.microsoft.com/office/drawing/2014/main" id="{1B0D18A8-48B8-1BA2-87E4-D5ADFE4865AD}"/>
                  </a:ext>
                </a:extLst>
              </p:cNvPr>
              <p:cNvGrpSpPr>
                <a:grpSpLocks/>
              </p:cNvGrpSpPr>
              <p:nvPr/>
            </p:nvGrpSpPr>
            <p:grpSpPr bwMode="auto">
              <a:xfrm>
                <a:off x="1376" y="2965"/>
                <a:ext cx="350" cy="296"/>
                <a:chOff x="3838" y="2684"/>
                <a:chExt cx="350" cy="296"/>
              </a:xfrm>
            </p:grpSpPr>
            <p:sp>
              <p:nvSpPr>
                <p:cNvPr id="45" name="Oval 9">
                  <a:extLst>
                    <a:ext uri="{FF2B5EF4-FFF2-40B4-BE49-F238E27FC236}">
                      <a16:creationId xmlns:a16="http://schemas.microsoft.com/office/drawing/2014/main" id="{B60D7D60-E213-2D82-C5A9-DB194BEC65C9}"/>
                    </a:ext>
                  </a:extLst>
                </p:cNvPr>
                <p:cNvSpPr>
                  <a:spLocks noChangeArrowheads="1"/>
                </p:cNvSpPr>
                <p:nvPr/>
              </p:nvSpPr>
              <p:spPr bwMode="auto">
                <a:xfrm>
                  <a:off x="3838" y="2684"/>
                  <a:ext cx="350" cy="296"/>
                </a:xfrm>
                <a:prstGeom prst="ellipse">
                  <a:avLst/>
                </a:prstGeom>
                <a:solidFill>
                  <a:srgbClr val="0066FF"/>
                </a:solidFill>
                <a:ln w="19050">
                  <a:solidFill>
                    <a:schemeClr val="tx1"/>
                  </a:solidFill>
                  <a:round/>
                  <a:headEnd type="none" w="sm" len="sm"/>
                  <a:tailEnd type="none" w="sm" len="sm"/>
                </a:ln>
              </p:spPr>
              <p:txBody>
                <a:bodyPr wrap="none" anchor="ctr"/>
                <a:lstStyle/>
                <a:p>
                  <a:endParaRPr lang="nl-NL"/>
                </a:p>
              </p:txBody>
            </p:sp>
            <p:sp>
              <p:nvSpPr>
                <p:cNvPr id="46" name="Text Box 10">
                  <a:extLst>
                    <a:ext uri="{FF2B5EF4-FFF2-40B4-BE49-F238E27FC236}">
                      <a16:creationId xmlns:a16="http://schemas.microsoft.com/office/drawing/2014/main" id="{AE1630FB-DD6B-E5E5-9F50-08768E986EEF}"/>
                    </a:ext>
                  </a:extLst>
                </p:cNvPr>
                <p:cNvSpPr txBox="1">
                  <a:spLocks noChangeArrowheads="1"/>
                </p:cNvSpPr>
                <p:nvPr/>
              </p:nvSpPr>
              <p:spPr bwMode="auto">
                <a:xfrm>
                  <a:off x="3915" y="2707"/>
                  <a:ext cx="196" cy="250"/>
                </a:xfrm>
                <a:prstGeom prst="rect">
                  <a:avLst/>
                </a:prstGeom>
                <a:noFill/>
                <a:ln w="12700">
                  <a:noFill/>
                  <a:miter lim="800000"/>
                  <a:headEnd type="none" w="sm" len="sm"/>
                  <a:tailEnd type="none" w="sm" len="sm"/>
                </a:ln>
              </p:spPr>
              <p:txBody>
                <a:bodyPr wrap="none">
                  <a:spAutoFit/>
                </a:bodyPr>
                <a:lstStyle/>
                <a:p>
                  <a:r>
                    <a:rPr lang="en-US" dirty="0"/>
                    <a:t>1</a:t>
                  </a:r>
                </a:p>
              </p:txBody>
            </p:sp>
          </p:grpSp>
        </p:grpSp>
        <p:grpSp>
          <p:nvGrpSpPr>
            <p:cNvPr id="8" name="Group 38">
              <a:extLst>
                <a:ext uri="{FF2B5EF4-FFF2-40B4-BE49-F238E27FC236}">
                  <a16:creationId xmlns:a16="http://schemas.microsoft.com/office/drawing/2014/main" id="{1ABEB6AD-A273-07E3-0E61-89441BFD577A}"/>
                </a:ext>
              </a:extLst>
            </p:cNvPr>
            <p:cNvGrpSpPr>
              <a:grpSpLocks/>
            </p:cNvGrpSpPr>
            <p:nvPr/>
          </p:nvGrpSpPr>
          <p:grpSpPr bwMode="auto">
            <a:xfrm>
              <a:off x="4433860" y="2201850"/>
              <a:ext cx="555625" cy="469900"/>
              <a:chOff x="4433860" y="2201850"/>
              <a:chExt cx="555625" cy="469900"/>
            </a:xfrm>
          </p:grpSpPr>
          <p:sp>
            <p:nvSpPr>
              <p:cNvPr id="41" name="Oval 11">
                <a:extLst>
                  <a:ext uri="{FF2B5EF4-FFF2-40B4-BE49-F238E27FC236}">
                    <a16:creationId xmlns:a16="http://schemas.microsoft.com/office/drawing/2014/main" id="{87C2330A-AB7F-2E64-091F-AD750E351BE3}"/>
                  </a:ext>
                </a:extLst>
              </p:cNvPr>
              <p:cNvSpPr>
                <a:spLocks noChangeArrowheads="1"/>
              </p:cNvSpPr>
              <p:nvPr/>
            </p:nvSpPr>
            <p:spPr bwMode="auto">
              <a:xfrm>
                <a:off x="4433860" y="2201850"/>
                <a:ext cx="555625" cy="469900"/>
              </a:xfrm>
              <a:prstGeom prst="ellipse">
                <a:avLst/>
              </a:prstGeom>
              <a:solidFill>
                <a:srgbClr val="0066FF"/>
              </a:solidFill>
              <a:ln w="9525">
                <a:solidFill>
                  <a:schemeClr val="tx1"/>
                </a:solidFill>
                <a:round/>
                <a:headEnd type="none" w="sm" len="sm"/>
                <a:tailEnd type="none" w="sm" len="sm"/>
              </a:ln>
            </p:spPr>
            <p:txBody>
              <a:bodyPr wrap="none" anchor="ctr"/>
              <a:lstStyle/>
              <a:p>
                <a:endParaRPr lang="nl-NL"/>
              </a:p>
            </p:txBody>
          </p:sp>
          <p:sp>
            <p:nvSpPr>
              <p:cNvPr id="42" name="Text Box 12">
                <a:extLst>
                  <a:ext uri="{FF2B5EF4-FFF2-40B4-BE49-F238E27FC236}">
                    <a16:creationId xmlns:a16="http://schemas.microsoft.com/office/drawing/2014/main" id="{F9CFBA1B-5001-AF53-8F2E-05FC6342D520}"/>
                  </a:ext>
                </a:extLst>
              </p:cNvPr>
              <p:cNvSpPr txBox="1">
                <a:spLocks noChangeArrowheads="1"/>
              </p:cNvSpPr>
              <p:nvPr/>
            </p:nvSpPr>
            <p:spPr bwMode="auto">
              <a:xfrm>
                <a:off x="4556098" y="2238363"/>
                <a:ext cx="311150" cy="396875"/>
              </a:xfrm>
              <a:prstGeom prst="rect">
                <a:avLst/>
              </a:prstGeom>
              <a:noFill/>
              <a:ln w="12700">
                <a:noFill/>
                <a:miter lim="800000"/>
                <a:headEnd type="none" w="sm" len="sm"/>
                <a:tailEnd type="none" w="sm" len="sm"/>
              </a:ln>
            </p:spPr>
            <p:txBody>
              <a:bodyPr wrap="none">
                <a:spAutoFit/>
              </a:bodyPr>
              <a:lstStyle/>
              <a:p>
                <a:r>
                  <a:rPr lang="en-US"/>
                  <a:t>6</a:t>
                </a:r>
              </a:p>
            </p:txBody>
          </p:sp>
        </p:grpSp>
        <p:sp>
          <p:nvSpPr>
            <p:cNvPr id="9" name="Line 13">
              <a:extLst>
                <a:ext uri="{FF2B5EF4-FFF2-40B4-BE49-F238E27FC236}">
                  <a16:creationId xmlns:a16="http://schemas.microsoft.com/office/drawing/2014/main" id="{0D54A674-465A-D6C2-8002-BAA04D312B49}"/>
                </a:ext>
              </a:extLst>
            </p:cNvPr>
            <p:cNvSpPr>
              <a:spLocks noChangeShapeType="1"/>
            </p:cNvSpPr>
            <p:nvPr/>
          </p:nvSpPr>
          <p:spPr bwMode="auto">
            <a:xfrm flipV="1">
              <a:off x="1550960" y="2074850"/>
              <a:ext cx="396875" cy="265112"/>
            </a:xfrm>
            <a:prstGeom prst="line">
              <a:avLst/>
            </a:prstGeom>
            <a:noFill/>
            <a:ln w="19050">
              <a:solidFill>
                <a:schemeClr val="tx1"/>
              </a:solidFill>
              <a:round/>
              <a:headEnd type="none" w="sm" len="sm"/>
              <a:tailEnd type="arrow" w="med" len="med"/>
            </a:ln>
          </p:spPr>
          <p:txBody>
            <a:bodyPr/>
            <a:lstStyle/>
            <a:p>
              <a:endParaRPr lang="en-US"/>
            </a:p>
          </p:txBody>
        </p:sp>
        <p:sp>
          <p:nvSpPr>
            <p:cNvPr id="10" name="Line 17">
              <a:extLst>
                <a:ext uri="{FF2B5EF4-FFF2-40B4-BE49-F238E27FC236}">
                  <a16:creationId xmlns:a16="http://schemas.microsoft.com/office/drawing/2014/main" id="{81FA3E25-C1DA-4B38-6882-1CC73CB91E6D}"/>
                </a:ext>
              </a:extLst>
            </p:cNvPr>
            <p:cNvSpPr>
              <a:spLocks noChangeShapeType="1"/>
            </p:cNvSpPr>
            <p:nvPr/>
          </p:nvSpPr>
          <p:spPr bwMode="auto">
            <a:xfrm>
              <a:off x="642910" y="2436800"/>
              <a:ext cx="354013" cy="0"/>
            </a:xfrm>
            <a:prstGeom prst="line">
              <a:avLst/>
            </a:prstGeom>
            <a:noFill/>
            <a:ln w="19050">
              <a:solidFill>
                <a:schemeClr val="tx1"/>
              </a:solidFill>
              <a:round/>
              <a:headEnd type="none" w="sm" len="sm"/>
              <a:tailEnd type="arrow" w="med" len="med"/>
            </a:ln>
          </p:spPr>
          <p:txBody>
            <a:bodyPr/>
            <a:lstStyle/>
            <a:p>
              <a:endParaRPr lang="en-US"/>
            </a:p>
          </p:txBody>
        </p:sp>
        <p:grpSp>
          <p:nvGrpSpPr>
            <p:cNvPr id="11" name="Group 22">
              <a:extLst>
                <a:ext uri="{FF2B5EF4-FFF2-40B4-BE49-F238E27FC236}">
                  <a16:creationId xmlns:a16="http://schemas.microsoft.com/office/drawing/2014/main" id="{ED1EAF9E-7E8F-58CF-BA07-BFB2DA3A5556}"/>
                </a:ext>
              </a:extLst>
            </p:cNvPr>
            <p:cNvGrpSpPr>
              <a:grpSpLocks/>
            </p:cNvGrpSpPr>
            <p:nvPr/>
          </p:nvGrpSpPr>
          <p:grpSpPr bwMode="auto">
            <a:xfrm>
              <a:off x="2717773" y="2201850"/>
              <a:ext cx="555625" cy="469900"/>
              <a:chOff x="4288" y="1746"/>
              <a:chExt cx="350" cy="296"/>
            </a:xfrm>
          </p:grpSpPr>
          <p:sp>
            <p:nvSpPr>
              <p:cNvPr id="39" name="Oval 23">
                <a:extLst>
                  <a:ext uri="{FF2B5EF4-FFF2-40B4-BE49-F238E27FC236}">
                    <a16:creationId xmlns:a16="http://schemas.microsoft.com/office/drawing/2014/main" id="{977BED52-A244-BE59-6FF0-718F2D0D7CAF}"/>
                  </a:ext>
                </a:extLst>
              </p:cNvPr>
              <p:cNvSpPr>
                <a:spLocks noChangeArrowheads="1"/>
              </p:cNvSpPr>
              <p:nvPr/>
            </p:nvSpPr>
            <p:spPr bwMode="auto">
              <a:xfrm>
                <a:off x="4288" y="1746"/>
                <a:ext cx="350" cy="296"/>
              </a:xfrm>
              <a:prstGeom prst="ellipse">
                <a:avLst/>
              </a:prstGeom>
              <a:solidFill>
                <a:srgbClr val="0066FF"/>
              </a:solidFill>
              <a:ln w="19050">
                <a:solidFill>
                  <a:schemeClr val="tx1"/>
                </a:solidFill>
                <a:round/>
                <a:headEnd type="none" w="sm" len="sm"/>
                <a:tailEnd type="none" w="sm" len="sm"/>
              </a:ln>
            </p:spPr>
            <p:txBody>
              <a:bodyPr wrap="none" anchor="ctr"/>
              <a:lstStyle/>
              <a:p>
                <a:endParaRPr lang="nl-NL"/>
              </a:p>
            </p:txBody>
          </p:sp>
          <p:sp>
            <p:nvSpPr>
              <p:cNvPr id="40" name="Text Box 24">
                <a:extLst>
                  <a:ext uri="{FF2B5EF4-FFF2-40B4-BE49-F238E27FC236}">
                    <a16:creationId xmlns:a16="http://schemas.microsoft.com/office/drawing/2014/main" id="{50AA73B3-DFA0-418A-5F55-80305848D692}"/>
                  </a:ext>
                </a:extLst>
              </p:cNvPr>
              <p:cNvSpPr txBox="1">
                <a:spLocks noChangeArrowheads="1"/>
              </p:cNvSpPr>
              <p:nvPr/>
            </p:nvSpPr>
            <p:spPr bwMode="auto">
              <a:xfrm>
                <a:off x="4365" y="1769"/>
                <a:ext cx="196" cy="250"/>
              </a:xfrm>
              <a:prstGeom prst="rect">
                <a:avLst/>
              </a:prstGeom>
              <a:noFill/>
              <a:ln w="12700">
                <a:noFill/>
                <a:miter lim="800000"/>
                <a:headEnd type="none" w="sm" len="sm"/>
                <a:tailEnd type="none" w="sm" len="sm"/>
              </a:ln>
            </p:spPr>
            <p:txBody>
              <a:bodyPr wrap="none">
                <a:spAutoFit/>
              </a:bodyPr>
              <a:lstStyle/>
              <a:p>
                <a:pPr algn="r"/>
                <a:r>
                  <a:rPr lang="en-US"/>
                  <a:t>3</a:t>
                </a:r>
              </a:p>
            </p:txBody>
          </p:sp>
        </p:grpSp>
        <p:grpSp>
          <p:nvGrpSpPr>
            <p:cNvPr id="12" name="Group 32">
              <a:extLst>
                <a:ext uri="{FF2B5EF4-FFF2-40B4-BE49-F238E27FC236}">
                  <a16:creationId xmlns:a16="http://schemas.microsoft.com/office/drawing/2014/main" id="{C05BE6A7-0744-DBA5-25BD-BCE034A166B6}"/>
                </a:ext>
              </a:extLst>
            </p:cNvPr>
            <p:cNvGrpSpPr>
              <a:grpSpLocks/>
            </p:cNvGrpSpPr>
            <p:nvPr/>
          </p:nvGrpSpPr>
          <p:grpSpPr bwMode="auto">
            <a:xfrm>
              <a:off x="3551210" y="1716075"/>
              <a:ext cx="603250" cy="1441450"/>
              <a:chOff x="2450" y="2968"/>
              <a:chExt cx="380" cy="908"/>
            </a:xfrm>
          </p:grpSpPr>
          <p:grpSp>
            <p:nvGrpSpPr>
              <p:cNvPr id="33" name="Group 25">
                <a:extLst>
                  <a:ext uri="{FF2B5EF4-FFF2-40B4-BE49-F238E27FC236}">
                    <a16:creationId xmlns:a16="http://schemas.microsoft.com/office/drawing/2014/main" id="{E12477B8-9410-F196-C600-52CD151C3D60}"/>
                  </a:ext>
                </a:extLst>
              </p:cNvPr>
              <p:cNvGrpSpPr>
                <a:grpSpLocks/>
              </p:cNvGrpSpPr>
              <p:nvPr/>
            </p:nvGrpSpPr>
            <p:grpSpPr bwMode="auto">
              <a:xfrm>
                <a:off x="2450" y="3580"/>
                <a:ext cx="350" cy="296"/>
                <a:chOff x="4738" y="2684"/>
                <a:chExt cx="350" cy="296"/>
              </a:xfrm>
            </p:grpSpPr>
            <p:sp>
              <p:nvSpPr>
                <p:cNvPr id="37" name="Oval 26">
                  <a:extLst>
                    <a:ext uri="{FF2B5EF4-FFF2-40B4-BE49-F238E27FC236}">
                      <a16:creationId xmlns:a16="http://schemas.microsoft.com/office/drawing/2014/main" id="{93294288-2E5F-6225-C1EA-EDE61CF3BCD0}"/>
                    </a:ext>
                  </a:extLst>
                </p:cNvPr>
                <p:cNvSpPr>
                  <a:spLocks noChangeArrowheads="1"/>
                </p:cNvSpPr>
                <p:nvPr/>
              </p:nvSpPr>
              <p:spPr bwMode="auto">
                <a:xfrm>
                  <a:off x="4738" y="2684"/>
                  <a:ext cx="350" cy="296"/>
                </a:xfrm>
                <a:prstGeom prst="ellipse">
                  <a:avLst/>
                </a:prstGeom>
                <a:solidFill>
                  <a:srgbClr val="0066FF"/>
                </a:solidFill>
                <a:ln w="19050">
                  <a:solidFill>
                    <a:schemeClr val="tx1"/>
                  </a:solidFill>
                  <a:round/>
                  <a:headEnd type="none" w="sm" len="sm"/>
                  <a:tailEnd type="none" w="sm" len="sm"/>
                </a:ln>
              </p:spPr>
              <p:txBody>
                <a:bodyPr wrap="none" anchor="ctr"/>
                <a:lstStyle/>
                <a:p>
                  <a:endParaRPr lang="nl-NL"/>
                </a:p>
              </p:txBody>
            </p:sp>
            <p:sp>
              <p:nvSpPr>
                <p:cNvPr id="38" name="Text Box 27">
                  <a:extLst>
                    <a:ext uri="{FF2B5EF4-FFF2-40B4-BE49-F238E27FC236}">
                      <a16:creationId xmlns:a16="http://schemas.microsoft.com/office/drawing/2014/main" id="{5853025C-510B-EB00-FF79-B6C32FA0E99C}"/>
                    </a:ext>
                  </a:extLst>
                </p:cNvPr>
                <p:cNvSpPr txBox="1">
                  <a:spLocks noChangeArrowheads="1"/>
                </p:cNvSpPr>
                <p:nvPr/>
              </p:nvSpPr>
              <p:spPr bwMode="auto">
                <a:xfrm>
                  <a:off x="4815" y="2707"/>
                  <a:ext cx="196" cy="250"/>
                </a:xfrm>
                <a:prstGeom prst="rect">
                  <a:avLst/>
                </a:prstGeom>
                <a:noFill/>
                <a:ln w="12700">
                  <a:noFill/>
                  <a:miter lim="800000"/>
                  <a:headEnd type="none" w="sm" len="sm"/>
                  <a:tailEnd type="none" w="sm" len="sm"/>
                </a:ln>
              </p:spPr>
              <p:txBody>
                <a:bodyPr wrap="none">
                  <a:spAutoFit/>
                </a:bodyPr>
                <a:lstStyle/>
                <a:p>
                  <a:r>
                    <a:rPr lang="en-US"/>
                    <a:t>5</a:t>
                  </a:r>
                </a:p>
              </p:txBody>
            </p:sp>
          </p:grpSp>
          <p:grpSp>
            <p:nvGrpSpPr>
              <p:cNvPr id="34" name="Group 28">
                <a:extLst>
                  <a:ext uri="{FF2B5EF4-FFF2-40B4-BE49-F238E27FC236}">
                    <a16:creationId xmlns:a16="http://schemas.microsoft.com/office/drawing/2014/main" id="{70D6E689-2856-9EBD-8C73-469CDDC0C16A}"/>
                  </a:ext>
                </a:extLst>
              </p:cNvPr>
              <p:cNvGrpSpPr>
                <a:grpSpLocks/>
              </p:cNvGrpSpPr>
              <p:nvPr/>
            </p:nvGrpSpPr>
            <p:grpSpPr bwMode="auto">
              <a:xfrm>
                <a:off x="2480" y="2968"/>
                <a:ext cx="350" cy="296"/>
                <a:chOff x="3838" y="2684"/>
                <a:chExt cx="350" cy="296"/>
              </a:xfrm>
            </p:grpSpPr>
            <p:sp>
              <p:nvSpPr>
                <p:cNvPr id="35" name="Oval 29">
                  <a:extLst>
                    <a:ext uri="{FF2B5EF4-FFF2-40B4-BE49-F238E27FC236}">
                      <a16:creationId xmlns:a16="http://schemas.microsoft.com/office/drawing/2014/main" id="{3AF3892D-B0EB-404D-4EDF-47C9A8927B3E}"/>
                    </a:ext>
                  </a:extLst>
                </p:cNvPr>
                <p:cNvSpPr>
                  <a:spLocks noChangeArrowheads="1"/>
                </p:cNvSpPr>
                <p:nvPr/>
              </p:nvSpPr>
              <p:spPr bwMode="auto">
                <a:xfrm>
                  <a:off x="3838" y="2684"/>
                  <a:ext cx="350" cy="296"/>
                </a:xfrm>
                <a:prstGeom prst="ellipse">
                  <a:avLst/>
                </a:prstGeom>
                <a:solidFill>
                  <a:srgbClr val="0066FF"/>
                </a:solidFill>
                <a:ln w="19050">
                  <a:solidFill>
                    <a:schemeClr val="tx1"/>
                  </a:solidFill>
                  <a:round/>
                  <a:headEnd type="none" w="sm" len="sm"/>
                  <a:tailEnd type="none" w="sm" len="sm"/>
                </a:ln>
              </p:spPr>
              <p:txBody>
                <a:bodyPr wrap="none" anchor="ctr"/>
                <a:lstStyle/>
                <a:p>
                  <a:endParaRPr lang="nl-NL"/>
                </a:p>
              </p:txBody>
            </p:sp>
            <p:sp>
              <p:nvSpPr>
                <p:cNvPr id="36" name="Text Box 30">
                  <a:extLst>
                    <a:ext uri="{FF2B5EF4-FFF2-40B4-BE49-F238E27FC236}">
                      <a16:creationId xmlns:a16="http://schemas.microsoft.com/office/drawing/2014/main" id="{6FE2CA87-4E14-FBBC-E6F1-EFCB932A7B76}"/>
                    </a:ext>
                  </a:extLst>
                </p:cNvPr>
                <p:cNvSpPr txBox="1">
                  <a:spLocks noChangeArrowheads="1"/>
                </p:cNvSpPr>
                <p:nvPr/>
              </p:nvSpPr>
              <p:spPr bwMode="auto">
                <a:xfrm>
                  <a:off x="3915" y="2707"/>
                  <a:ext cx="196" cy="250"/>
                </a:xfrm>
                <a:prstGeom prst="rect">
                  <a:avLst/>
                </a:prstGeom>
                <a:noFill/>
                <a:ln w="12700">
                  <a:noFill/>
                  <a:miter lim="800000"/>
                  <a:headEnd type="none" w="sm" len="sm"/>
                  <a:tailEnd type="none" w="sm" len="sm"/>
                </a:ln>
              </p:spPr>
              <p:txBody>
                <a:bodyPr wrap="none">
                  <a:spAutoFit/>
                </a:bodyPr>
                <a:lstStyle/>
                <a:p>
                  <a:r>
                    <a:rPr lang="en-US"/>
                    <a:t>4</a:t>
                  </a:r>
                </a:p>
              </p:txBody>
            </p:sp>
          </p:grpSp>
        </p:grpSp>
        <p:sp>
          <p:nvSpPr>
            <p:cNvPr id="13" name="Line 33">
              <a:extLst>
                <a:ext uri="{FF2B5EF4-FFF2-40B4-BE49-F238E27FC236}">
                  <a16:creationId xmlns:a16="http://schemas.microsoft.com/office/drawing/2014/main" id="{2542BEBA-9392-D094-20A9-3196295C5DA9}"/>
                </a:ext>
              </a:extLst>
            </p:cNvPr>
            <p:cNvSpPr>
              <a:spLocks noChangeShapeType="1"/>
            </p:cNvSpPr>
            <p:nvPr/>
          </p:nvSpPr>
          <p:spPr bwMode="auto">
            <a:xfrm flipV="1">
              <a:off x="4097310" y="2582850"/>
              <a:ext cx="396875" cy="265112"/>
            </a:xfrm>
            <a:prstGeom prst="line">
              <a:avLst/>
            </a:prstGeom>
            <a:noFill/>
            <a:ln w="19050">
              <a:solidFill>
                <a:schemeClr val="tx1"/>
              </a:solidFill>
              <a:round/>
              <a:headEnd type="none" w="sm" len="sm"/>
              <a:tailEnd type="arrow" w="med" len="med"/>
            </a:ln>
          </p:spPr>
          <p:txBody>
            <a:bodyPr/>
            <a:lstStyle/>
            <a:p>
              <a:endParaRPr lang="en-US"/>
            </a:p>
          </p:txBody>
        </p:sp>
        <p:sp>
          <p:nvSpPr>
            <p:cNvPr id="14" name="Line 34">
              <a:extLst>
                <a:ext uri="{FF2B5EF4-FFF2-40B4-BE49-F238E27FC236}">
                  <a16:creationId xmlns:a16="http://schemas.microsoft.com/office/drawing/2014/main" id="{BB0EB096-818E-E15D-5540-10F0791934A0}"/>
                </a:ext>
              </a:extLst>
            </p:cNvPr>
            <p:cNvSpPr>
              <a:spLocks noChangeShapeType="1"/>
            </p:cNvSpPr>
            <p:nvPr/>
          </p:nvSpPr>
          <p:spPr bwMode="auto">
            <a:xfrm flipV="1">
              <a:off x="2376460" y="2582850"/>
              <a:ext cx="396875" cy="265112"/>
            </a:xfrm>
            <a:prstGeom prst="line">
              <a:avLst/>
            </a:prstGeom>
            <a:noFill/>
            <a:ln w="19050">
              <a:solidFill>
                <a:schemeClr val="tx1"/>
              </a:solidFill>
              <a:round/>
              <a:headEnd type="none" w="sm" len="sm"/>
              <a:tailEnd type="arrow" w="med" len="med"/>
            </a:ln>
          </p:spPr>
          <p:txBody>
            <a:bodyPr/>
            <a:lstStyle/>
            <a:p>
              <a:endParaRPr lang="en-US"/>
            </a:p>
          </p:txBody>
        </p:sp>
        <p:sp>
          <p:nvSpPr>
            <p:cNvPr id="15" name="Line 35">
              <a:extLst>
                <a:ext uri="{FF2B5EF4-FFF2-40B4-BE49-F238E27FC236}">
                  <a16:creationId xmlns:a16="http://schemas.microsoft.com/office/drawing/2014/main" id="{384EF1A8-AF29-1317-7586-4EEAC45A2ABA}"/>
                </a:ext>
              </a:extLst>
            </p:cNvPr>
            <p:cNvSpPr>
              <a:spLocks noChangeShapeType="1"/>
            </p:cNvSpPr>
            <p:nvPr/>
          </p:nvSpPr>
          <p:spPr bwMode="auto">
            <a:xfrm flipV="1">
              <a:off x="3252760" y="2074850"/>
              <a:ext cx="396875" cy="265112"/>
            </a:xfrm>
            <a:prstGeom prst="line">
              <a:avLst/>
            </a:prstGeom>
            <a:noFill/>
            <a:ln w="19050">
              <a:solidFill>
                <a:schemeClr val="tx1"/>
              </a:solidFill>
              <a:round/>
              <a:headEnd type="none" w="sm" len="sm"/>
              <a:tailEnd type="arrow" w="med" len="med"/>
            </a:ln>
          </p:spPr>
          <p:txBody>
            <a:bodyPr/>
            <a:lstStyle/>
            <a:p>
              <a:endParaRPr lang="en-US"/>
            </a:p>
          </p:txBody>
        </p:sp>
        <p:sp>
          <p:nvSpPr>
            <p:cNvPr id="16" name="Line 36">
              <a:extLst>
                <a:ext uri="{FF2B5EF4-FFF2-40B4-BE49-F238E27FC236}">
                  <a16:creationId xmlns:a16="http://schemas.microsoft.com/office/drawing/2014/main" id="{4F1E764F-E7DB-0C41-1DFB-5B0189436566}"/>
                </a:ext>
              </a:extLst>
            </p:cNvPr>
            <p:cNvSpPr>
              <a:spLocks noChangeShapeType="1"/>
            </p:cNvSpPr>
            <p:nvPr/>
          </p:nvSpPr>
          <p:spPr bwMode="auto">
            <a:xfrm>
              <a:off x="1519210" y="2589200"/>
              <a:ext cx="346075" cy="249237"/>
            </a:xfrm>
            <a:prstGeom prst="line">
              <a:avLst/>
            </a:prstGeom>
            <a:noFill/>
            <a:ln w="19050">
              <a:solidFill>
                <a:schemeClr val="tx1"/>
              </a:solidFill>
              <a:round/>
              <a:headEnd type="none" w="sm" len="sm"/>
              <a:tailEnd type="arrow" w="med" len="med"/>
            </a:ln>
          </p:spPr>
          <p:txBody>
            <a:bodyPr/>
            <a:lstStyle/>
            <a:p>
              <a:endParaRPr lang="en-US"/>
            </a:p>
          </p:txBody>
        </p:sp>
        <p:sp>
          <p:nvSpPr>
            <p:cNvPr id="17" name="Line 37">
              <a:extLst>
                <a:ext uri="{FF2B5EF4-FFF2-40B4-BE49-F238E27FC236}">
                  <a16:creationId xmlns:a16="http://schemas.microsoft.com/office/drawing/2014/main" id="{C0B6FB61-4603-1380-21C6-CC30F1237DEF}"/>
                </a:ext>
              </a:extLst>
            </p:cNvPr>
            <p:cNvSpPr>
              <a:spLocks noChangeShapeType="1"/>
            </p:cNvSpPr>
            <p:nvPr/>
          </p:nvSpPr>
          <p:spPr bwMode="auto">
            <a:xfrm>
              <a:off x="2395510" y="2082788"/>
              <a:ext cx="346075" cy="249237"/>
            </a:xfrm>
            <a:prstGeom prst="line">
              <a:avLst/>
            </a:prstGeom>
            <a:noFill/>
            <a:ln w="19050">
              <a:solidFill>
                <a:schemeClr val="tx1"/>
              </a:solidFill>
              <a:round/>
              <a:headEnd type="none" w="sm" len="sm"/>
              <a:tailEnd type="arrow" w="med" len="med"/>
            </a:ln>
          </p:spPr>
          <p:txBody>
            <a:bodyPr/>
            <a:lstStyle/>
            <a:p>
              <a:endParaRPr lang="en-US"/>
            </a:p>
          </p:txBody>
        </p:sp>
        <p:sp>
          <p:nvSpPr>
            <p:cNvPr id="18" name="Line 38">
              <a:extLst>
                <a:ext uri="{FF2B5EF4-FFF2-40B4-BE49-F238E27FC236}">
                  <a16:creationId xmlns:a16="http://schemas.microsoft.com/office/drawing/2014/main" id="{729BD95C-5206-00A4-FA19-7872ED588474}"/>
                </a:ext>
              </a:extLst>
            </p:cNvPr>
            <p:cNvSpPr>
              <a:spLocks noChangeShapeType="1"/>
            </p:cNvSpPr>
            <p:nvPr/>
          </p:nvSpPr>
          <p:spPr bwMode="auto">
            <a:xfrm>
              <a:off x="3214660" y="2590788"/>
              <a:ext cx="346075" cy="249237"/>
            </a:xfrm>
            <a:prstGeom prst="line">
              <a:avLst/>
            </a:prstGeom>
            <a:noFill/>
            <a:ln w="19050">
              <a:solidFill>
                <a:schemeClr val="tx1"/>
              </a:solidFill>
              <a:round/>
              <a:headEnd type="none" w="sm" len="sm"/>
              <a:tailEnd type="arrow" w="med" len="med"/>
            </a:ln>
          </p:spPr>
          <p:txBody>
            <a:bodyPr/>
            <a:lstStyle/>
            <a:p>
              <a:endParaRPr lang="en-US"/>
            </a:p>
          </p:txBody>
        </p:sp>
        <p:sp>
          <p:nvSpPr>
            <p:cNvPr id="19" name="Line 39">
              <a:extLst>
                <a:ext uri="{FF2B5EF4-FFF2-40B4-BE49-F238E27FC236}">
                  <a16:creationId xmlns:a16="http://schemas.microsoft.com/office/drawing/2014/main" id="{484FE342-2156-1E86-1AB1-D5D732A2AF6F}"/>
                </a:ext>
              </a:extLst>
            </p:cNvPr>
            <p:cNvSpPr>
              <a:spLocks noChangeShapeType="1"/>
            </p:cNvSpPr>
            <p:nvPr/>
          </p:nvSpPr>
          <p:spPr bwMode="auto">
            <a:xfrm>
              <a:off x="4141760" y="2081200"/>
              <a:ext cx="346075" cy="249237"/>
            </a:xfrm>
            <a:prstGeom prst="line">
              <a:avLst/>
            </a:prstGeom>
            <a:noFill/>
            <a:ln w="19050">
              <a:solidFill>
                <a:schemeClr val="tx1"/>
              </a:solidFill>
              <a:round/>
              <a:headEnd type="none" w="sm" len="sm"/>
              <a:tailEnd type="arrow" w="med" len="med"/>
            </a:ln>
          </p:spPr>
          <p:txBody>
            <a:bodyPr/>
            <a:lstStyle/>
            <a:p>
              <a:endParaRPr lang="en-US"/>
            </a:p>
          </p:txBody>
        </p:sp>
        <p:sp>
          <p:nvSpPr>
            <p:cNvPr id="20" name="Oval 11">
              <a:extLst>
                <a:ext uri="{FF2B5EF4-FFF2-40B4-BE49-F238E27FC236}">
                  <a16:creationId xmlns:a16="http://schemas.microsoft.com/office/drawing/2014/main" id="{95DF759B-E17B-BFE8-9D0F-EDDCF55264DB}"/>
                </a:ext>
              </a:extLst>
            </p:cNvPr>
            <p:cNvSpPr>
              <a:spLocks noChangeArrowheads="1"/>
            </p:cNvSpPr>
            <p:nvPr/>
          </p:nvSpPr>
          <p:spPr bwMode="auto">
            <a:xfrm>
              <a:off x="6169030" y="2187573"/>
              <a:ext cx="555625" cy="469900"/>
            </a:xfrm>
            <a:prstGeom prst="ellipse">
              <a:avLst/>
            </a:prstGeom>
            <a:solidFill>
              <a:srgbClr val="0066FF"/>
            </a:solidFill>
            <a:ln w="28575">
              <a:solidFill>
                <a:schemeClr val="tx1"/>
              </a:solidFill>
              <a:round/>
              <a:headEnd type="none" w="sm" len="sm"/>
              <a:tailEnd type="none" w="sm" len="sm"/>
            </a:ln>
          </p:spPr>
          <p:txBody>
            <a:bodyPr wrap="none" anchor="ctr"/>
            <a:lstStyle/>
            <a:p>
              <a:endParaRPr lang="nl-NL"/>
            </a:p>
          </p:txBody>
        </p:sp>
        <p:sp>
          <p:nvSpPr>
            <p:cNvPr id="21" name="Text Box 12">
              <a:extLst>
                <a:ext uri="{FF2B5EF4-FFF2-40B4-BE49-F238E27FC236}">
                  <a16:creationId xmlns:a16="http://schemas.microsoft.com/office/drawing/2014/main" id="{0C26EECD-C7ED-8BA2-4C82-429D516C1F81}"/>
                </a:ext>
              </a:extLst>
            </p:cNvPr>
            <p:cNvSpPr txBox="1">
              <a:spLocks noChangeArrowheads="1"/>
            </p:cNvSpPr>
            <p:nvPr/>
          </p:nvSpPr>
          <p:spPr bwMode="auto">
            <a:xfrm>
              <a:off x="6291268" y="2224086"/>
              <a:ext cx="312906" cy="369332"/>
            </a:xfrm>
            <a:prstGeom prst="rect">
              <a:avLst/>
            </a:prstGeom>
            <a:noFill/>
            <a:ln w="12700">
              <a:noFill/>
              <a:miter lim="800000"/>
              <a:headEnd type="none" w="sm" len="sm"/>
              <a:tailEnd type="none" w="sm" len="sm"/>
            </a:ln>
          </p:spPr>
          <p:txBody>
            <a:bodyPr wrap="none">
              <a:spAutoFit/>
            </a:bodyPr>
            <a:lstStyle/>
            <a:p>
              <a:r>
                <a:rPr lang="en-US"/>
                <a:t>9</a:t>
              </a:r>
            </a:p>
          </p:txBody>
        </p:sp>
        <p:grpSp>
          <p:nvGrpSpPr>
            <p:cNvPr id="22" name="Group 32">
              <a:extLst>
                <a:ext uri="{FF2B5EF4-FFF2-40B4-BE49-F238E27FC236}">
                  <a16:creationId xmlns:a16="http://schemas.microsoft.com/office/drawing/2014/main" id="{EDFE3399-20E1-6722-6E19-EBBC07338387}"/>
                </a:ext>
              </a:extLst>
            </p:cNvPr>
            <p:cNvGrpSpPr>
              <a:grpSpLocks/>
            </p:cNvGrpSpPr>
            <p:nvPr/>
          </p:nvGrpSpPr>
          <p:grpSpPr bwMode="auto">
            <a:xfrm>
              <a:off x="5286380" y="1701798"/>
              <a:ext cx="603250" cy="1441450"/>
              <a:chOff x="2450" y="2968"/>
              <a:chExt cx="380" cy="908"/>
            </a:xfrm>
          </p:grpSpPr>
          <p:grpSp>
            <p:nvGrpSpPr>
              <p:cNvPr id="27" name="Group 25">
                <a:extLst>
                  <a:ext uri="{FF2B5EF4-FFF2-40B4-BE49-F238E27FC236}">
                    <a16:creationId xmlns:a16="http://schemas.microsoft.com/office/drawing/2014/main" id="{9C7974A9-93E5-3A58-7B2B-FD8EC1568141}"/>
                  </a:ext>
                </a:extLst>
              </p:cNvPr>
              <p:cNvGrpSpPr>
                <a:grpSpLocks/>
              </p:cNvGrpSpPr>
              <p:nvPr/>
            </p:nvGrpSpPr>
            <p:grpSpPr bwMode="auto">
              <a:xfrm>
                <a:off x="2450" y="3580"/>
                <a:ext cx="350" cy="296"/>
                <a:chOff x="4738" y="2684"/>
                <a:chExt cx="350" cy="296"/>
              </a:xfrm>
            </p:grpSpPr>
            <p:sp>
              <p:nvSpPr>
                <p:cNvPr id="31" name="Oval 26">
                  <a:extLst>
                    <a:ext uri="{FF2B5EF4-FFF2-40B4-BE49-F238E27FC236}">
                      <a16:creationId xmlns:a16="http://schemas.microsoft.com/office/drawing/2014/main" id="{54146587-8146-F744-5FC7-B21FC95EAB5A}"/>
                    </a:ext>
                  </a:extLst>
                </p:cNvPr>
                <p:cNvSpPr>
                  <a:spLocks noChangeArrowheads="1"/>
                </p:cNvSpPr>
                <p:nvPr/>
              </p:nvSpPr>
              <p:spPr bwMode="auto">
                <a:xfrm>
                  <a:off x="4738" y="2684"/>
                  <a:ext cx="350" cy="296"/>
                </a:xfrm>
                <a:prstGeom prst="ellipse">
                  <a:avLst/>
                </a:prstGeom>
                <a:solidFill>
                  <a:srgbClr val="0066FF"/>
                </a:solidFill>
                <a:ln w="19050">
                  <a:solidFill>
                    <a:schemeClr val="tx1"/>
                  </a:solidFill>
                  <a:round/>
                  <a:headEnd type="none" w="sm" len="sm"/>
                  <a:tailEnd type="none" w="sm" len="sm"/>
                </a:ln>
              </p:spPr>
              <p:txBody>
                <a:bodyPr wrap="none" anchor="ctr"/>
                <a:lstStyle/>
                <a:p>
                  <a:endParaRPr lang="nl-NL"/>
                </a:p>
              </p:txBody>
            </p:sp>
            <p:sp>
              <p:nvSpPr>
                <p:cNvPr id="32" name="Text Box 27">
                  <a:extLst>
                    <a:ext uri="{FF2B5EF4-FFF2-40B4-BE49-F238E27FC236}">
                      <a16:creationId xmlns:a16="http://schemas.microsoft.com/office/drawing/2014/main" id="{AD04D2F0-7789-8F06-89E6-C1FDCB8F9ED0}"/>
                    </a:ext>
                  </a:extLst>
                </p:cNvPr>
                <p:cNvSpPr txBox="1">
                  <a:spLocks noChangeArrowheads="1"/>
                </p:cNvSpPr>
                <p:nvPr/>
              </p:nvSpPr>
              <p:spPr bwMode="auto">
                <a:xfrm>
                  <a:off x="4815" y="2707"/>
                  <a:ext cx="197" cy="233"/>
                </a:xfrm>
                <a:prstGeom prst="rect">
                  <a:avLst/>
                </a:prstGeom>
                <a:noFill/>
                <a:ln w="12700">
                  <a:noFill/>
                  <a:miter lim="800000"/>
                  <a:headEnd type="none" w="sm" len="sm"/>
                  <a:tailEnd type="none" w="sm" len="sm"/>
                </a:ln>
              </p:spPr>
              <p:txBody>
                <a:bodyPr wrap="none">
                  <a:spAutoFit/>
                </a:bodyPr>
                <a:lstStyle/>
                <a:p>
                  <a:r>
                    <a:rPr lang="en-US"/>
                    <a:t>7</a:t>
                  </a:r>
                </a:p>
              </p:txBody>
            </p:sp>
          </p:grpSp>
          <p:grpSp>
            <p:nvGrpSpPr>
              <p:cNvPr id="28" name="Group 28">
                <a:extLst>
                  <a:ext uri="{FF2B5EF4-FFF2-40B4-BE49-F238E27FC236}">
                    <a16:creationId xmlns:a16="http://schemas.microsoft.com/office/drawing/2014/main" id="{56F48990-ED40-DE0F-A28E-AD3743B17E71}"/>
                  </a:ext>
                </a:extLst>
              </p:cNvPr>
              <p:cNvGrpSpPr>
                <a:grpSpLocks/>
              </p:cNvGrpSpPr>
              <p:nvPr/>
            </p:nvGrpSpPr>
            <p:grpSpPr bwMode="auto">
              <a:xfrm>
                <a:off x="2480" y="2968"/>
                <a:ext cx="350" cy="296"/>
                <a:chOff x="3838" y="2684"/>
                <a:chExt cx="350" cy="296"/>
              </a:xfrm>
            </p:grpSpPr>
            <p:sp>
              <p:nvSpPr>
                <p:cNvPr id="29" name="Oval 29">
                  <a:extLst>
                    <a:ext uri="{FF2B5EF4-FFF2-40B4-BE49-F238E27FC236}">
                      <a16:creationId xmlns:a16="http://schemas.microsoft.com/office/drawing/2014/main" id="{FE722C71-816B-7C3B-4CF1-C149802D8D2D}"/>
                    </a:ext>
                  </a:extLst>
                </p:cNvPr>
                <p:cNvSpPr>
                  <a:spLocks noChangeArrowheads="1"/>
                </p:cNvSpPr>
                <p:nvPr/>
              </p:nvSpPr>
              <p:spPr bwMode="auto">
                <a:xfrm>
                  <a:off x="3838" y="2684"/>
                  <a:ext cx="350" cy="296"/>
                </a:xfrm>
                <a:prstGeom prst="ellipse">
                  <a:avLst/>
                </a:prstGeom>
                <a:solidFill>
                  <a:srgbClr val="0066FF"/>
                </a:solidFill>
                <a:ln w="19050">
                  <a:solidFill>
                    <a:schemeClr val="tx1"/>
                  </a:solidFill>
                  <a:round/>
                  <a:headEnd type="none" w="sm" len="sm"/>
                  <a:tailEnd type="none" w="sm" len="sm"/>
                </a:ln>
              </p:spPr>
              <p:txBody>
                <a:bodyPr wrap="none" anchor="ctr"/>
                <a:lstStyle/>
                <a:p>
                  <a:endParaRPr lang="nl-NL"/>
                </a:p>
              </p:txBody>
            </p:sp>
            <p:sp>
              <p:nvSpPr>
                <p:cNvPr id="30" name="Text Box 30">
                  <a:extLst>
                    <a:ext uri="{FF2B5EF4-FFF2-40B4-BE49-F238E27FC236}">
                      <a16:creationId xmlns:a16="http://schemas.microsoft.com/office/drawing/2014/main" id="{14E65E8A-2FEB-72EC-E8FB-0B4415A0ABC8}"/>
                    </a:ext>
                  </a:extLst>
                </p:cNvPr>
                <p:cNvSpPr txBox="1">
                  <a:spLocks noChangeArrowheads="1"/>
                </p:cNvSpPr>
                <p:nvPr/>
              </p:nvSpPr>
              <p:spPr bwMode="auto">
                <a:xfrm>
                  <a:off x="3915" y="2707"/>
                  <a:ext cx="197" cy="233"/>
                </a:xfrm>
                <a:prstGeom prst="rect">
                  <a:avLst/>
                </a:prstGeom>
                <a:noFill/>
                <a:ln w="12700">
                  <a:noFill/>
                  <a:miter lim="800000"/>
                  <a:headEnd type="none" w="sm" len="sm"/>
                  <a:tailEnd type="none" w="sm" len="sm"/>
                </a:ln>
              </p:spPr>
              <p:txBody>
                <a:bodyPr wrap="none">
                  <a:spAutoFit/>
                </a:bodyPr>
                <a:lstStyle/>
                <a:p>
                  <a:r>
                    <a:rPr lang="en-US"/>
                    <a:t>8</a:t>
                  </a:r>
                </a:p>
              </p:txBody>
            </p:sp>
          </p:grpSp>
        </p:grpSp>
        <p:sp>
          <p:nvSpPr>
            <p:cNvPr id="23" name="Line 33">
              <a:extLst>
                <a:ext uri="{FF2B5EF4-FFF2-40B4-BE49-F238E27FC236}">
                  <a16:creationId xmlns:a16="http://schemas.microsoft.com/office/drawing/2014/main" id="{082520B5-123E-F4F1-8545-BA9466C1F782}"/>
                </a:ext>
              </a:extLst>
            </p:cNvPr>
            <p:cNvSpPr>
              <a:spLocks noChangeShapeType="1"/>
            </p:cNvSpPr>
            <p:nvPr/>
          </p:nvSpPr>
          <p:spPr bwMode="auto">
            <a:xfrm flipV="1">
              <a:off x="5832480" y="2568573"/>
              <a:ext cx="396875" cy="265112"/>
            </a:xfrm>
            <a:prstGeom prst="line">
              <a:avLst/>
            </a:prstGeom>
            <a:noFill/>
            <a:ln w="19050">
              <a:solidFill>
                <a:schemeClr val="tx1"/>
              </a:solidFill>
              <a:round/>
              <a:headEnd type="none" w="sm" len="sm"/>
              <a:tailEnd type="arrow" w="med" len="med"/>
            </a:ln>
          </p:spPr>
          <p:txBody>
            <a:bodyPr/>
            <a:lstStyle/>
            <a:p>
              <a:endParaRPr lang="en-US"/>
            </a:p>
          </p:txBody>
        </p:sp>
        <p:sp>
          <p:nvSpPr>
            <p:cNvPr id="24" name="Line 39">
              <a:extLst>
                <a:ext uri="{FF2B5EF4-FFF2-40B4-BE49-F238E27FC236}">
                  <a16:creationId xmlns:a16="http://schemas.microsoft.com/office/drawing/2014/main" id="{D1FAA61E-71AE-A9AD-1607-5312CB021E01}"/>
                </a:ext>
              </a:extLst>
            </p:cNvPr>
            <p:cNvSpPr>
              <a:spLocks noChangeShapeType="1"/>
            </p:cNvSpPr>
            <p:nvPr/>
          </p:nvSpPr>
          <p:spPr bwMode="auto">
            <a:xfrm>
              <a:off x="5876930" y="2066923"/>
              <a:ext cx="346075" cy="249237"/>
            </a:xfrm>
            <a:prstGeom prst="line">
              <a:avLst/>
            </a:prstGeom>
            <a:noFill/>
            <a:ln w="19050">
              <a:solidFill>
                <a:schemeClr val="tx1"/>
              </a:solidFill>
              <a:round/>
              <a:headEnd type="none" w="sm" len="sm"/>
              <a:tailEnd type="arrow" w="med" len="med"/>
            </a:ln>
          </p:spPr>
          <p:txBody>
            <a:bodyPr/>
            <a:lstStyle/>
            <a:p>
              <a:endParaRPr lang="en-US"/>
            </a:p>
          </p:txBody>
        </p:sp>
        <p:sp>
          <p:nvSpPr>
            <p:cNvPr id="25" name="Line 33">
              <a:extLst>
                <a:ext uri="{FF2B5EF4-FFF2-40B4-BE49-F238E27FC236}">
                  <a16:creationId xmlns:a16="http://schemas.microsoft.com/office/drawing/2014/main" id="{CAD4512A-C0EB-62F2-E75A-808233DD37D6}"/>
                </a:ext>
              </a:extLst>
            </p:cNvPr>
            <p:cNvSpPr>
              <a:spLocks noChangeShapeType="1"/>
            </p:cNvSpPr>
            <p:nvPr/>
          </p:nvSpPr>
          <p:spPr bwMode="auto">
            <a:xfrm flipV="1">
              <a:off x="4929190" y="2000240"/>
              <a:ext cx="396875" cy="265112"/>
            </a:xfrm>
            <a:prstGeom prst="line">
              <a:avLst/>
            </a:prstGeom>
            <a:noFill/>
            <a:ln w="19050">
              <a:solidFill>
                <a:schemeClr val="tx1"/>
              </a:solidFill>
              <a:round/>
              <a:headEnd type="none" w="sm" len="sm"/>
              <a:tailEnd type="arrow" w="med" len="med"/>
            </a:ln>
          </p:spPr>
          <p:txBody>
            <a:bodyPr/>
            <a:lstStyle/>
            <a:p>
              <a:endParaRPr lang="en-US"/>
            </a:p>
          </p:txBody>
        </p:sp>
        <p:sp>
          <p:nvSpPr>
            <p:cNvPr id="26" name="Line 39">
              <a:extLst>
                <a:ext uri="{FF2B5EF4-FFF2-40B4-BE49-F238E27FC236}">
                  <a16:creationId xmlns:a16="http://schemas.microsoft.com/office/drawing/2014/main" id="{144D0EAD-8198-6DD2-EDD2-1CD031E8CE9F}"/>
                </a:ext>
              </a:extLst>
            </p:cNvPr>
            <p:cNvSpPr>
              <a:spLocks noChangeShapeType="1"/>
            </p:cNvSpPr>
            <p:nvPr/>
          </p:nvSpPr>
          <p:spPr bwMode="auto">
            <a:xfrm>
              <a:off x="4929190" y="2571744"/>
              <a:ext cx="346075" cy="249237"/>
            </a:xfrm>
            <a:prstGeom prst="line">
              <a:avLst/>
            </a:prstGeom>
            <a:noFill/>
            <a:ln w="19050">
              <a:solidFill>
                <a:schemeClr val="tx1"/>
              </a:solidFill>
              <a:round/>
              <a:headEnd type="none" w="sm" len="sm"/>
              <a:tailEnd type="arrow" w="med" len="med"/>
            </a:ln>
          </p:spPr>
          <p:txBody>
            <a:bodyPr/>
            <a:lstStyle/>
            <a:p>
              <a:endParaRPr lang="en-US"/>
            </a:p>
          </p:txBody>
        </p:sp>
      </p:grpSp>
      <p:sp>
        <p:nvSpPr>
          <p:cNvPr id="51" name="TextBox 50">
            <a:extLst>
              <a:ext uri="{FF2B5EF4-FFF2-40B4-BE49-F238E27FC236}">
                <a16:creationId xmlns:a16="http://schemas.microsoft.com/office/drawing/2014/main" id="{31A4495C-5F6E-3D9F-A06C-2A4282CB2FD8}"/>
              </a:ext>
            </a:extLst>
          </p:cNvPr>
          <p:cNvSpPr txBox="1"/>
          <p:nvPr/>
        </p:nvSpPr>
        <p:spPr>
          <a:xfrm>
            <a:off x="497809" y="1170253"/>
            <a:ext cx="4506362" cy="1015663"/>
          </a:xfrm>
          <a:prstGeom prst="rect">
            <a:avLst/>
          </a:prstGeom>
          <a:solidFill>
            <a:schemeClr val="tx2">
              <a:lumMod val="20000"/>
              <a:lumOff val="80000"/>
            </a:schemeClr>
          </a:solidFill>
          <a:ln>
            <a:solidFill>
              <a:schemeClr val="tx1"/>
            </a:solidFill>
          </a:ln>
        </p:spPr>
        <p:txBody>
          <a:bodyPr wrap="none" rtlCol="0">
            <a:spAutoFit/>
          </a:bodyPr>
          <a:lstStyle/>
          <a:p>
            <a:r>
              <a:rPr lang="en-NL" sz="2000" b="1" dirty="0"/>
              <a:t>if</a:t>
            </a:r>
            <a:r>
              <a:rPr lang="en-NL" sz="2000" dirty="0"/>
              <a:t> x&gt;0 </a:t>
            </a:r>
            <a:r>
              <a:rPr lang="en-NL" sz="2000" b="1" dirty="0"/>
              <a:t>then</a:t>
            </a:r>
            <a:r>
              <a:rPr lang="en-NL" sz="2000" dirty="0"/>
              <a:t> x = 2x </a:t>
            </a:r>
            <a:r>
              <a:rPr lang="en-NL" sz="2000" b="1" dirty="0"/>
              <a:t>else</a:t>
            </a:r>
            <a:r>
              <a:rPr lang="en-NL" sz="2000" dirty="0"/>
              <a:t> x=0</a:t>
            </a:r>
          </a:p>
          <a:p>
            <a:r>
              <a:rPr lang="en-NL" sz="2000" b="1" dirty="0"/>
              <a:t>if</a:t>
            </a:r>
            <a:r>
              <a:rPr lang="en-NL" sz="2000" dirty="0"/>
              <a:t> y&gt;0 </a:t>
            </a:r>
            <a:r>
              <a:rPr lang="en-NL" sz="2000" b="1" dirty="0"/>
              <a:t>then</a:t>
            </a:r>
            <a:r>
              <a:rPr lang="en-NL" sz="2000" dirty="0"/>
              <a:t> y = 2y </a:t>
            </a:r>
            <a:r>
              <a:rPr lang="en-NL" sz="2000" b="1" dirty="0"/>
              <a:t>else</a:t>
            </a:r>
            <a:r>
              <a:rPr lang="en-NL" sz="2000" dirty="0"/>
              <a:t> y=0</a:t>
            </a:r>
          </a:p>
          <a:p>
            <a:r>
              <a:rPr lang="en-NL" sz="2000" b="1" dirty="0"/>
              <a:t>if </a:t>
            </a:r>
            <a:r>
              <a:rPr lang="en-NL" sz="2000" dirty="0"/>
              <a:t>x*y&gt; 0 </a:t>
            </a:r>
            <a:r>
              <a:rPr lang="en-NL" sz="2000" b="1" dirty="0"/>
              <a:t>then</a:t>
            </a:r>
            <a:r>
              <a:rPr lang="en-NL" sz="2000" dirty="0"/>
              <a:t> return x+y </a:t>
            </a:r>
            <a:r>
              <a:rPr lang="en-NL" sz="2000" b="1" dirty="0"/>
              <a:t>else</a:t>
            </a:r>
            <a:r>
              <a:rPr lang="en-NL" sz="2000" dirty="0"/>
              <a:t> return 0</a:t>
            </a:r>
          </a:p>
        </p:txBody>
      </p:sp>
      <p:sp>
        <p:nvSpPr>
          <p:cNvPr id="52" name="TextBox 51">
            <a:extLst>
              <a:ext uri="{FF2B5EF4-FFF2-40B4-BE49-F238E27FC236}">
                <a16:creationId xmlns:a16="http://schemas.microsoft.com/office/drawing/2014/main" id="{D2855751-2E27-C406-8546-1382DB9F975B}"/>
              </a:ext>
            </a:extLst>
          </p:cNvPr>
          <p:cNvSpPr txBox="1"/>
          <p:nvPr/>
        </p:nvSpPr>
        <p:spPr>
          <a:xfrm>
            <a:off x="667186" y="3184596"/>
            <a:ext cx="1106393" cy="338554"/>
          </a:xfrm>
          <a:prstGeom prst="rect">
            <a:avLst/>
          </a:prstGeom>
          <a:solidFill>
            <a:srgbClr val="FFFF00"/>
          </a:solidFill>
          <a:ln>
            <a:solidFill>
              <a:srgbClr val="FFC000"/>
            </a:solidFill>
          </a:ln>
        </p:spPr>
        <p:txBody>
          <a:bodyPr wrap="none" rtlCol="0">
            <a:spAutoFit/>
          </a:bodyPr>
          <a:lstStyle/>
          <a:p>
            <a:r>
              <a:rPr lang="en-NL" sz="1600" dirty="0"/>
              <a:t>def = {x,y}</a:t>
            </a:r>
          </a:p>
        </p:txBody>
      </p:sp>
      <p:sp>
        <p:nvSpPr>
          <p:cNvPr id="53" name="TextBox 52">
            <a:extLst>
              <a:ext uri="{FF2B5EF4-FFF2-40B4-BE49-F238E27FC236}">
                <a16:creationId xmlns:a16="http://schemas.microsoft.com/office/drawing/2014/main" id="{E02294A9-0C63-63E1-93F4-9EFF3449059E}"/>
              </a:ext>
            </a:extLst>
          </p:cNvPr>
          <p:cNvSpPr txBox="1"/>
          <p:nvPr/>
        </p:nvSpPr>
        <p:spPr>
          <a:xfrm>
            <a:off x="3147469" y="2480414"/>
            <a:ext cx="990977" cy="584775"/>
          </a:xfrm>
          <a:prstGeom prst="rect">
            <a:avLst/>
          </a:prstGeom>
          <a:solidFill>
            <a:srgbClr val="FFFF00"/>
          </a:solidFill>
          <a:ln>
            <a:solidFill>
              <a:srgbClr val="FFC000"/>
            </a:solidFill>
          </a:ln>
        </p:spPr>
        <p:txBody>
          <a:bodyPr wrap="none" rtlCol="0">
            <a:spAutoFit/>
          </a:bodyPr>
          <a:lstStyle/>
          <a:p>
            <a:r>
              <a:rPr lang="en-NL" sz="1600" dirty="0"/>
              <a:t>use = {x}</a:t>
            </a:r>
          </a:p>
          <a:p>
            <a:r>
              <a:rPr lang="en-NL" sz="1600" dirty="0"/>
              <a:t>def = {x}</a:t>
            </a:r>
          </a:p>
        </p:txBody>
      </p:sp>
      <p:sp>
        <p:nvSpPr>
          <p:cNvPr id="54" name="TextBox 53">
            <a:extLst>
              <a:ext uri="{FF2B5EF4-FFF2-40B4-BE49-F238E27FC236}">
                <a16:creationId xmlns:a16="http://schemas.microsoft.com/office/drawing/2014/main" id="{FB39BA54-4348-EDC8-18A4-489A5E7BF447}"/>
              </a:ext>
            </a:extLst>
          </p:cNvPr>
          <p:cNvSpPr txBox="1"/>
          <p:nvPr/>
        </p:nvSpPr>
        <p:spPr>
          <a:xfrm>
            <a:off x="3122286" y="4560160"/>
            <a:ext cx="946093" cy="338554"/>
          </a:xfrm>
          <a:prstGeom prst="rect">
            <a:avLst/>
          </a:prstGeom>
          <a:solidFill>
            <a:srgbClr val="FFFF00"/>
          </a:solidFill>
          <a:ln>
            <a:solidFill>
              <a:srgbClr val="FFC000"/>
            </a:solidFill>
          </a:ln>
        </p:spPr>
        <p:txBody>
          <a:bodyPr wrap="none" rtlCol="0">
            <a:spAutoFit/>
          </a:bodyPr>
          <a:lstStyle/>
          <a:p>
            <a:r>
              <a:rPr lang="en-NL" sz="1600" dirty="0"/>
              <a:t>def = {x}</a:t>
            </a:r>
          </a:p>
        </p:txBody>
      </p:sp>
      <p:sp>
        <p:nvSpPr>
          <p:cNvPr id="55" name="TextBox 54">
            <a:extLst>
              <a:ext uri="{FF2B5EF4-FFF2-40B4-BE49-F238E27FC236}">
                <a16:creationId xmlns:a16="http://schemas.microsoft.com/office/drawing/2014/main" id="{250B286D-7867-D4C7-72A6-75EF692CE9C5}"/>
              </a:ext>
            </a:extLst>
          </p:cNvPr>
          <p:cNvSpPr txBox="1"/>
          <p:nvPr/>
        </p:nvSpPr>
        <p:spPr>
          <a:xfrm>
            <a:off x="4854235" y="4569106"/>
            <a:ext cx="946093" cy="338554"/>
          </a:xfrm>
          <a:prstGeom prst="rect">
            <a:avLst/>
          </a:prstGeom>
          <a:solidFill>
            <a:srgbClr val="FFFF00"/>
          </a:solidFill>
          <a:ln>
            <a:solidFill>
              <a:srgbClr val="FFC000"/>
            </a:solidFill>
          </a:ln>
        </p:spPr>
        <p:txBody>
          <a:bodyPr wrap="none" rtlCol="0">
            <a:spAutoFit/>
          </a:bodyPr>
          <a:lstStyle/>
          <a:p>
            <a:r>
              <a:rPr lang="en-NL" sz="1600" dirty="0"/>
              <a:t>def = {y}</a:t>
            </a:r>
          </a:p>
        </p:txBody>
      </p:sp>
      <p:sp>
        <p:nvSpPr>
          <p:cNvPr id="56" name="TextBox 55">
            <a:extLst>
              <a:ext uri="{FF2B5EF4-FFF2-40B4-BE49-F238E27FC236}">
                <a16:creationId xmlns:a16="http://schemas.microsoft.com/office/drawing/2014/main" id="{8F829FEE-0983-B6E3-3E8B-BF22D9042B49}"/>
              </a:ext>
            </a:extLst>
          </p:cNvPr>
          <p:cNvSpPr txBox="1"/>
          <p:nvPr/>
        </p:nvSpPr>
        <p:spPr>
          <a:xfrm>
            <a:off x="4869151" y="2446249"/>
            <a:ext cx="990977" cy="584775"/>
          </a:xfrm>
          <a:prstGeom prst="rect">
            <a:avLst/>
          </a:prstGeom>
          <a:solidFill>
            <a:srgbClr val="FFFF00"/>
          </a:solidFill>
          <a:ln>
            <a:solidFill>
              <a:srgbClr val="FFC000"/>
            </a:solidFill>
          </a:ln>
        </p:spPr>
        <p:txBody>
          <a:bodyPr wrap="none" rtlCol="0">
            <a:spAutoFit/>
          </a:bodyPr>
          <a:lstStyle/>
          <a:p>
            <a:r>
              <a:rPr lang="en-NL" sz="1600" dirty="0"/>
              <a:t>use = {y}</a:t>
            </a:r>
          </a:p>
          <a:p>
            <a:r>
              <a:rPr lang="en-NL" sz="1600" dirty="0"/>
              <a:t>def = {y}</a:t>
            </a:r>
          </a:p>
        </p:txBody>
      </p:sp>
      <p:sp>
        <p:nvSpPr>
          <p:cNvPr id="57" name="TextBox 56">
            <a:extLst>
              <a:ext uri="{FF2B5EF4-FFF2-40B4-BE49-F238E27FC236}">
                <a16:creationId xmlns:a16="http://schemas.microsoft.com/office/drawing/2014/main" id="{2BCDB510-792D-25C6-E551-574EA24E1154}"/>
              </a:ext>
            </a:extLst>
          </p:cNvPr>
          <p:cNvSpPr txBox="1"/>
          <p:nvPr/>
        </p:nvSpPr>
        <p:spPr>
          <a:xfrm>
            <a:off x="7044361" y="2396288"/>
            <a:ext cx="1345240" cy="584775"/>
          </a:xfrm>
          <a:prstGeom prst="rect">
            <a:avLst/>
          </a:prstGeom>
          <a:solidFill>
            <a:srgbClr val="FFFF00"/>
          </a:solidFill>
          <a:ln>
            <a:solidFill>
              <a:srgbClr val="FFC000"/>
            </a:solidFill>
          </a:ln>
        </p:spPr>
        <p:txBody>
          <a:bodyPr wrap="none" rtlCol="0">
            <a:spAutoFit/>
          </a:bodyPr>
          <a:lstStyle/>
          <a:p>
            <a:r>
              <a:rPr lang="en-NL" sz="1600" dirty="0"/>
              <a:t>use = {x,y}</a:t>
            </a:r>
          </a:p>
          <a:p>
            <a:r>
              <a:rPr lang="en-NL" sz="1600" dirty="0"/>
              <a:t>def = {retval}</a:t>
            </a:r>
          </a:p>
        </p:txBody>
      </p:sp>
      <p:sp>
        <p:nvSpPr>
          <p:cNvPr id="58" name="Oval 57">
            <a:extLst>
              <a:ext uri="{FF2B5EF4-FFF2-40B4-BE49-F238E27FC236}">
                <a16:creationId xmlns:a16="http://schemas.microsoft.com/office/drawing/2014/main" id="{3908AA45-CFC5-6EF0-8B10-9C9F32D9CAD0}"/>
              </a:ext>
            </a:extLst>
          </p:cNvPr>
          <p:cNvSpPr/>
          <p:nvPr/>
        </p:nvSpPr>
        <p:spPr>
          <a:xfrm>
            <a:off x="1485752" y="3570390"/>
            <a:ext cx="576064" cy="520704"/>
          </a:xfrm>
          <a:prstGeom prst="ellipse">
            <a:avLst/>
          </a:prstGeom>
          <a:solidFill>
            <a:schemeClr val="accent6"/>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NL" dirty="0"/>
              <a:t>0</a:t>
            </a:r>
          </a:p>
        </p:txBody>
      </p:sp>
      <p:sp>
        <p:nvSpPr>
          <p:cNvPr id="59" name="Oval 58">
            <a:extLst>
              <a:ext uri="{FF2B5EF4-FFF2-40B4-BE49-F238E27FC236}">
                <a16:creationId xmlns:a16="http://schemas.microsoft.com/office/drawing/2014/main" id="{A872D791-DA1A-4A51-AACC-2EFE09A0E0DA}"/>
              </a:ext>
            </a:extLst>
          </p:cNvPr>
          <p:cNvSpPr/>
          <p:nvPr/>
        </p:nvSpPr>
        <p:spPr>
          <a:xfrm>
            <a:off x="2466891" y="3549366"/>
            <a:ext cx="576064" cy="520704"/>
          </a:xfrm>
          <a:prstGeom prst="ellipse">
            <a:avLst/>
          </a:prstGeom>
          <a:solidFill>
            <a:schemeClr val="accent6">
              <a:lumMod val="60000"/>
              <a:lumOff val="40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NL" dirty="0"/>
          </a:p>
        </p:txBody>
      </p:sp>
      <p:sp>
        <p:nvSpPr>
          <p:cNvPr id="60" name="TextBox 59">
            <a:extLst>
              <a:ext uri="{FF2B5EF4-FFF2-40B4-BE49-F238E27FC236}">
                <a16:creationId xmlns:a16="http://schemas.microsoft.com/office/drawing/2014/main" id="{E4C6128C-4B29-0934-1385-995AEA3DD1DA}"/>
              </a:ext>
            </a:extLst>
          </p:cNvPr>
          <p:cNvSpPr txBox="1"/>
          <p:nvPr/>
        </p:nvSpPr>
        <p:spPr>
          <a:xfrm>
            <a:off x="2276622" y="3208701"/>
            <a:ext cx="734496" cy="261610"/>
          </a:xfrm>
          <a:prstGeom prst="rect">
            <a:avLst/>
          </a:prstGeom>
          <a:solidFill>
            <a:srgbClr val="FFFF00"/>
          </a:solidFill>
          <a:ln>
            <a:solidFill>
              <a:srgbClr val="FFC000"/>
            </a:solidFill>
          </a:ln>
        </p:spPr>
        <p:txBody>
          <a:bodyPr wrap="none" rtlCol="0">
            <a:spAutoFit/>
          </a:bodyPr>
          <a:lstStyle/>
          <a:p>
            <a:r>
              <a:rPr lang="en-NL" sz="1100" dirty="0"/>
              <a:t>use = {x}</a:t>
            </a:r>
          </a:p>
        </p:txBody>
      </p:sp>
      <p:sp>
        <p:nvSpPr>
          <p:cNvPr id="61" name="TextBox 60">
            <a:extLst>
              <a:ext uri="{FF2B5EF4-FFF2-40B4-BE49-F238E27FC236}">
                <a16:creationId xmlns:a16="http://schemas.microsoft.com/office/drawing/2014/main" id="{1A674498-91EE-373C-62FD-62C8C1307F94}"/>
              </a:ext>
            </a:extLst>
          </p:cNvPr>
          <p:cNvSpPr txBox="1"/>
          <p:nvPr/>
        </p:nvSpPr>
        <p:spPr>
          <a:xfrm>
            <a:off x="4090885" y="3261540"/>
            <a:ext cx="734496" cy="261610"/>
          </a:xfrm>
          <a:prstGeom prst="rect">
            <a:avLst/>
          </a:prstGeom>
          <a:solidFill>
            <a:srgbClr val="FFFF00"/>
          </a:solidFill>
          <a:ln>
            <a:solidFill>
              <a:srgbClr val="FFC000"/>
            </a:solidFill>
          </a:ln>
        </p:spPr>
        <p:txBody>
          <a:bodyPr wrap="none" rtlCol="0">
            <a:spAutoFit/>
          </a:bodyPr>
          <a:lstStyle/>
          <a:p>
            <a:r>
              <a:rPr lang="en-NL" sz="1100" dirty="0"/>
              <a:t>use = {y}</a:t>
            </a:r>
          </a:p>
        </p:txBody>
      </p:sp>
      <p:sp>
        <p:nvSpPr>
          <p:cNvPr id="62" name="TextBox 61">
            <a:extLst>
              <a:ext uri="{FF2B5EF4-FFF2-40B4-BE49-F238E27FC236}">
                <a16:creationId xmlns:a16="http://schemas.microsoft.com/office/drawing/2014/main" id="{62558FA1-5D8A-16B7-D271-0BD942D60B5A}"/>
              </a:ext>
            </a:extLst>
          </p:cNvPr>
          <p:cNvSpPr txBox="1"/>
          <p:nvPr/>
        </p:nvSpPr>
        <p:spPr>
          <a:xfrm>
            <a:off x="5780906" y="4100796"/>
            <a:ext cx="843501" cy="261610"/>
          </a:xfrm>
          <a:prstGeom prst="rect">
            <a:avLst/>
          </a:prstGeom>
          <a:solidFill>
            <a:srgbClr val="FFFF00"/>
          </a:solidFill>
          <a:ln>
            <a:solidFill>
              <a:srgbClr val="FFC000"/>
            </a:solidFill>
          </a:ln>
        </p:spPr>
        <p:txBody>
          <a:bodyPr wrap="none" rtlCol="0">
            <a:spAutoFit/>
          </a:bodyPr>
          <a:lstStyle/>
          <a:p>
            <a:r>
              <a:rPr lang="en-NL" sz="1100" dirty="0"/>
              <a:t>use = {x,y}</a:t>
            </a:r>
          </a:p>
        </p:txBody>
      </p:sp>
      <p:sp>
        <p:nvSpPr>
          <p:cNvPr id="63" name="TextBox 62">
            <a:extLst>
              <a:ext uri="{FF2B5EF4-FFF2-40B4-BE49-F238E27FC236}">
                <a16:creationId xmlns:a16="http://schemas.microsoft.com/office/drawing/2014/main" id="{769A36D8-1546-7FE8-0A13-C9F217C7F5AE}"/>
              </a:ext>
            </a:extLst>
          </p:cNvPr>
          <p:cNvSpPr txBox="1"/>
          <p:nvPr/>
        </p:nvSpPr>
        <p:spPr>
          <a:xfrm>
            <a:off x="7255010" y="4459835"/>
            <a:ext cx="1345240" cy="338554"/>
          </a:xfrm>
          <a:prstGeom prst="rect">
            <a:avLst/>
          </a:prstGeom>
          <a:solidFill>
            <a:srgbClr val="FFFF00"/>
          </a:solidFill>
          <a:ln>
            <a:solidFill>
              <a:srgbClr val="FFC000"/>
            </a:solidFill>
          </a:ln>
        </p:spPr>
        <p:txBody>
          <a:bodyPr wrap="none" rtlCol="0">
            <a:spAutoFit/>
          </a:bodyPr>
          <a:lstStyle/>
          <a:p>
            <a:r>
              <a:rPr lang="en-NL" sz="1600" dirty="0"/>
              <a:t>def = {retval}</a:t>
            </a:r>
          </a:p>
        </p:txBody>
      </p:sp>
    </p:spTree>
    <p:extLst>
      <p:ext uri="{BB962C8B-B14F-4D97-AF65-F5344CB8AC3E}">
        <p14:creationId xmlns:p14="http://schemas.microsoft.com/office/powerpoint/2010/main" val="60214934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56"/>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55"/>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grpId="0" nodeType="clickEffect">
                                  <p:stCondLst>
                                    <p:cond delay="0"/>
                                  </p:stCondLst>
                                  <p:childTnLst>
                                    <p:set>
                                      <p:cBhvr>
                                        <p:cTn id="12" dur="1" fill="hold">
                                          <p:stCondLst>
                                            <p:cond delay="0"/>
                                          </p:stCondLst>
                                        </p:cTn>
                                        <p:tgtEl>
                                          <p:spTgt spid="60"/>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61"/>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6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5" grpId="0" animBg="1"/>
      <p:bldP spid="56" grpId="0" animBg="1"/>
      <p:bldP spid="60" grpId="0" animBg="1"/>
      <p:bldP spid="61" grpId="0" animBg="1"/>
      <p:bldP spid="62" grpId="0" animBg="1"/>
    </p:bldLst>
  </p:timing>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242" name="Title 1"/>
          <p:cNvSpPr>
            <a:spLocks noGrp="1"/>
          </p:cNvSpPr>
          <p:nvPr>
            <p:ph type="title"/>
          </p:nvPr>
        </p:nvSpPr>
        <p:spPr>
          <a:xfrm>
            <a:off x="457200" y="274638"/>
            <a:ext cx="8229600" cy="706437"/>
          </a:xfrm>
        </p:spPr>
        <p:txBody>
          <a:bodyPr/>
          <a:lstStyle/>
          <a:p>
            <a:r>
              <a:rPr lang="en-US"/>
              <a:t>Overview of subsumption relations</a:t>
            </a:r>
          </a:p>
        </p:txBody>
      </p:sp>
      <p:sp>
        <p:nvSpPr>
          <p:cNvPr id="10243" name="Content Placeholder 2"/>
          <p:cNvSpPr>
            <a:spLocks noGrp="1"/>
          </p:cNvSpPr>
          <p:nvPr>
            <p:ph idx="1"/>
          </p:nvPr>
        </p:nvSpPr>
        <p:spPr>
          <a:xfrm>
            <a:off x="250825" y="3861048"/>
            <a:ext cx="8642350" cy="2352675"/>
          </a:xfrm>
        </p:spPr>
        <p:txBody>
          <a:bodyPr/>
          <a:lstStyle/>
          <a:p>
            <a:r>
              <a:rPr lang="en-US" sz="2400" dirty="0"/>
              <a:t>PPC </a:t>
            </a:r>
            <a:r>
              <a:rPr lang="en-US" sz="2400" dirty="0">
                <a:sym typeface="Symbol" pitchFamily="18" charset="2"/>
              </a:rPr>
              <a:t> </a:t>
            </a:r>
            <a:r>
              <a:rPr lang="en-US" sz="2400" dirty="0"/>
              <a:t>ADUPC,  because every simple path is a </a:t>
            </a:r>
            <a:r>
              <a:rPr lang="en-US" sz="2400" dirty="0" err="1"/>
              <a:t>subpath</a:t>
            </a:r>
            <a:r>
              <a:rPr lang="en-US" sz="2400" dirty="0"/>
              <a:t> of some prime path. </a:t>
            </a:r>
          </a:p>
          <a:p>
            <a:r>
              <a:rPr lang="en-US" sz="2400" dirty="0"/>
              <a:t>AUC </a:t>
            </a:r>
            <a:r>
              <a:rPr lang="en-US" sz="2400" dirty="0">
                <a:sym typeface="Symbol" pitchFamily="18" charset="2"/>
              </a:rPr>
              <a:t> EC .... under the following a</a:t>
            </a:r>
            <a:r>
              <a:rPr lang="en-US" sz="2400" dirty="0"/>
              <a:t>ssumptions:</a:t>
            </a:r>
          </a:p>
          <a:p>
            <a:pPr lvl="1"/>
            <a:r>
              <a:rPr lang="en-US" sz="1800" dirty="0"/>
              <a:t>there is at least one </a:t>
            </a:r>
            <a:r>
              <a:rPr lang="en-US" sz="1800" dirty="0" err="1"/>
              <a:t>def</a:t>
            </a:r>
            <a:endParaRPr lang="en-US" sz="1800" dirty="0"/>
          </a:p>
          <a:p>
            <a:pPr lvl="1"/>
            <a:r>
              <a:rPr lang="en-US" sz="1800" dirty="0"/>
              <a:t>every </a:t>
            </a:r>
            <a:r>
              <a:rPr lang="en-US" sz="1800" dirty="0" err="1"/>
              <a:t>def</a:t>
            </a:r>
            <a:r>
              <a:rPr lang="en-US" sz="1800" dirty="0"/>
              <a:t> reaches at least one use.</a:t>
            </a:r>
          </a:p>
          <a:p>
            <a:pPr lvl="1"/>
            <a:r>
              <a:rPr lang="en-US" sz="1800" dirty="0"/>
              <a:t>every use (of </a:t>
            </a:r>
            <a:r>
              <a:rPr lang="en-US" sz="1800" i="1" dirty="0"/>
              <a:t>v</a:t>
            </a:r>
            <a:r>
              <a:rPr lang="en-US" sz="1800" dirty="0"/>
              <a:t>) is preceded by a def.</a:t>
            </a:r>
          </a:p>
          <a:p>
            <a:pPr lvl="1"/>
            <a:r>
              <a:rPr lang="en-US" sz="1800" dirty="0"/>
              <a:t>every edge uses a variable  (note: not the case in “if e then S” without else)</a:t>
            </a:r>
          </a:p>
        </p:txBody>
      </p:sp>
      <p:sp>
        <p:nvSpPr>
          <p:cNvPr id="4" name="Slide Number Placeholder 3"/>
          <p:cNvSpPr>
            <a:spLocks noGrp="1"/>
          </p:cNvSpPr>
          <p:nvPr>
            <p:ph type="sldNum" sz="quarter" idx="12"/>
          </p:nvPr>
        </p:nvSpPr>
        <p:spPr/>
        <p:txBody>
          <a:bodyPr/>
          <a:lstStyle/>
          <a:p>
            <a:pPr>
              <a:defRPr/>
            </a:pPr>
            <a:fld id="{0D80BE26-2A28-4976-9E28-1ED6562C580C}" type="slidenum">
              <a:rPr lang="en-US" smtClean="0"/>
              <a:pPr>
                <a:defRPr/>
              </a:pPr>
              <a:t>10</a:t>
            </a:fld>
            <a:endParaRPr lang="en-US" dirty="0"/>
          </a:p>
        </p:txBody>
      </p:sp>
      <p:sp>
        <p:nvSpPr>
          <p:cNvPr id="6" name="TextBox 5"/>
          <p:cNvSpPr txBox="1"/>
          <p:nvPr/>
        </p:nvSpPr>
        <p:spPr>
          <a:xfrm>
            <a:off x="3932238" y="1196975"/>
            <a:ext cx="2095500" cy="369888"/>
          </a:xfrm>
          <a:prstGeom prst="rect">
            <a:avLst/>
          </a:prstGeom>
          <a:solidFill>
            <a:srgbClr val="FFFF00"/>
          </a:solidFill>
          <a:ln>
            <a:solidFill>
              <a:schemeClr val="accent6">
                <a:lumMod val="75000"/>
              </a:schemeClr>
            </a:solidFill>
          </a:ln>
        </p:spPr>
        <p:txBody>
          <a:bodyPr wrap="none">
            <a:spAutoFit/>
          </a:bodyPr>
          <a:lstStyle/>
          <a:p>
            <a:pPr algn="ctr">
              <a:defRPr/>
            </a:pPr>
            <a:r>
              <a:rPr lang="en-US" i="1" dirty="0">
                <a:latin typeface="+mn-lt"/>
              </a:rPr>
              <a:t>complete path </a:t>
            </a:r>
            <a:r>
              <a:rPr lang="en-US" i="1" dirty="0" err="1">
                <a:latin typeface="+mn-lt"/>
              </a:rPr>
              <a:t>covrg</a:t>
            </a:r>
            <a:endParaRPr lang="en-US" i="1" dirty="0">
              <a:latin typeface="+mn-lt"/>
            </a:endParaRPr>
          </a:p>
        </p:txBody>
      </p:sp>
      <p:sp>
        <p:nvSpPr>
          <p:cNvPr id="7" name="TextBox 6"/>
          <p:cNvSpPr txBox="1"/>
          <p:nvPr/>
        </p:nvSpPr>
        <p:spPr>
          <a:xfrm>
            <a:off x="3989388" y="1768475"/>
            <a:ext cx="1981200" cy="369888"/>
          </a:xfrm>
          <a:prstGeom prst="rect">
            <a:avLst/>
          </a:prstGeom>
          <a:solidFill>
            <a:srgbClr val="FFFF00"/>
          </a:solidFill>
          <a:ln>
            <a:solidFill>
              <a:schemeClr val="accent6">
                <a:lumMod val="75000"/>
              </a:schemeClr>
            </a:solidFill>
          </a:ln>
        </p:spPr>
        <p:txBody>
          <a:bodyPr wrap="none">
            <a:spAutoFit/>
          </a:bodyPr>
          <a:lstStyle/>
          <a:p>
            <a:pPr algn="ctr">
              <a:defRPr/>
            </a:pPr>
            <a:r>
              <a:rPr lang="en-US" i="1" dirty="0">
                <a:latin typeface="+mn-lt"/>
              </a:rPr>
              <a:t>prime path </a:t>
            </a:r>
            <a:r>
              <a:rPr lang="en-US" i="1" dirty="0" err="1">
                <a:latin typeface="+mn-lt"/>
              </a:rPr>
              <a:t>covrg</a:t>
            </a:r>
            <a:endParaRPr lang="en-US" i="1" dirty="0">
              <a:latin typeface="+mn-lt"/>
            </a:endParaRPr>
          </a:p>
        </p:txBody>
      </p:sp>
      <p:sp>
        <p:nvSpPr>
          <p:cNvPr id="8" name="TextBox 7"/>
          <p:cNvSpPr txBox="1"/>
          <p:nvPr/>
        </p:nvSpPr>
        <p:spPr>
          <a:xfrm>
            <a:off x="4060825" y="2339975"/>
            <a:ext cx="1800225" cy="369888"/>
          </a:xfrm>
          <a:prstGeom prst="rect">
            <a:avLst/>
          </a:prstGeom>
          <a:solidFill>
            <a:srgbClr val="FFFF00"/>
          </a:solidFill>
          <a:ln>
            <a:solidFill>
              <a:schemeClr val="accent6">
                <a:lumMod val="75000"/>
              </a:schemeClr>
            </a:solidFill>
          </a:ln>
        </p:spPr>
        <p:txBody>
          <a:bodyPr wrap="none">
            <a:spAutoFit/>
          </a:bodyPr>
          <a:lstStyle/>
          <a:p>
            <a:pPr algn="ctr">
              <a:defRPr/>
            </a:pPr>
            <a:r>
              <a:rPr lang="en-US" i="1" dirty="0">
                <a:latin typeface="+mn-lt"/>
              </a:rPr>
              <a:t>edge-pair </a:t>
            </a:r>
            <a:r>
              <a:rPr lang="en-US" i="1" dirty="0" err="1">
                <a:latin typeface="+mn-lt"/>
              </a:rPr>
              <a:t>covrg</a:t>
            </a:r>
            <a:endParaRPr lang="en-US" i="1" dirty="0">
              <a:latin typeface="+mn-lt"/>
            </a:endParaRPr>
          </a:p>
        </p:txBody>
      </p:sp>
      <p:sp>
        <p:nvSpPr>
          <p:cNvPr id="9" name="TextBox 8"/>
          <p:cNvSpPr txBox="1"/>
          <p:nvPr/>
        </p:nvSpPr>
        <p:spPr>
          <a:xfrm>
            <a:off x="4354513" y="2911475"/>
            <a:ext cx="1187450" cy="369888"/>
          </a:xfrm>
          <a:prstGeom prst="rect">
            <a:avLst/>
          </a:prstGeom>
          <a:solidFill>
            <a:srgbClr val="FFFF00"/>
          </a:solidFill>
          <a:ln>
            <a:solidFill>
              <a:schemeClr val="accent6">
                <a:lumMod val="75000"/>
              </a:schemeClr>
            </a:solidFill>
          </a:ln>
        </p:spPr>
        <p:txBody>
          <a:bodyPr wrap="none">
            <a:spAutoFit/>
          </a:bodyPr>
          <a:lstStyle/>
          <a:p>
            <a:pPr algn="ctr">
              <a:defRPr/>
            </a:pPr>
            <a:r>
              <a:rPr lang="en-US" i="1" dirty="0">
                <a:latin typeface="+mn-lt"/>
              </a:rPr>
              <a:t>edge </a:t>
            </a:r>
            <a:r>
              <a:rPr lang="en-US" i="1" dirty="0" err="1">
                <a:latin typeface="+mn-lt"/>
              </a:rPr>
              <a:t>covrg</a:t>
            </a:r>
            <a:endParaRPr lang="en-US" i="1" dirty="0">
              <a:latin typeface="+mn-lt"/>
            </a:endParaRPr>
          </a:p>
        </p:txBody>
      </p:sp>
      <p:sp>
        <p:nvSpPr>
          <p:cNvPr id="10" name="TextBox 9"/>
          <p:cNvSpPr txBox="1"/>
          <p:nvPr/>
        </p:nvSpPr>
        <p:spPr>
          <a:xfrm>
            <a:off x="4346575" y="3482975"/>
            <a:ext cx="1189038" cy="369888"/>
          </a:xfrm>
          <a:prstGeom prst="rect">
            <a:avLst/>
          </a:prstGeom>
          <a:solidFill>
            <a:srgbClr val="FFFF00"/>
          </a:solidFill>
          <a:ln>
            <a:solidFill>
              <a:schemeClr val="accent6">
                <a:lumMod val="75000"/>
              </a:schemeClr>
            </a:solidFill>
          </a:ln>
        </p:spPr>
        <p:txBody>
          <a:bodyPr wrap="none">
            <a:spAutoFit/>
          </a:bodyPr>
          <a:lstStyle/>
          <a:p>
            <a:pPr algn="ctr">
              <a:defRPr/>
            </a:pPr>
            <a:r>
              <a:rPr lang="en-US" i="1" dirty="0">
                <a:latin typeface="+mn-lt"/>
              </a:rPr>
              <a:t>node </a:t>
            </a:r>
            <a:r>
              <a:rPr lang="en-US" i="1" dirty="0" err="1">
                <a:latin typeface="+mn-lt"/>
              </a:rPr>
              <a:t>covrg</a:t>
            </a:r>
            <a:endParaRPr lang="en-US" i="1" dirty="0">
              <a:latin typeface="+mn-lt"/>
            </a:endParaRPr>
          </a:p>
        </p:txBody>
      </p:sp>
      <p:sp>
        <p:nvSpPr>
          <p:cNvPr id="11" name="TextBox 10"/>
          <p:cNvSpPr txBox="1"/>
          <p:nvPr/>
        </p:nvSpPr>
        <p:spPr>
          <a:xfrm>
            <a:off x="2786063" y="1982788"/>
            <a:ext cx="846137" cy="369887"/>
          </a:xfrm>
          <a:prstGeom prst="rect">
            <a:avLst/>
          </a:prstGeom>
          <a:solidFill>
            <a:schemeClr val="accent6">
              <a:lumMod val="20000"/>
              <a:lumOff val="80000"/>
            </a:schemeClr>
          </a:solidFill>
          <a:ln>
            <a:solidFill>
              <a:schemeClr val="accent6">
                <a:lumMod val="75000"/>
              </a:schemeClr>
            </a:solidFill>
          </a:ln>
        </p:spPr>
        <p:txBody>
          <a:bodyPr wrap="none">
            <a:spAutoFit/>
          </a:bodyPr>
          <a:lstStyle/>
          <a:p>
            <a:pPr algn="ctr">
              <a:defRPr/>
            </a:pPr>
            <a:r>
              <a:rPr lang="en-US" i="1" dirty="0">
                <a:latin typeface="+mn-lt"/>
              </a:rPr>
              <a:t>ADUPC</a:t>
            </a:r>
          </a:p>
        </p:txBody>
      </p:sp>
      <p:sp>
        <p:nvSpPr>
          <p:cNvPr id="12" name="TextBox 11"/>
          <p:cNvSpPr txBox="1"/>
          <p:nvPr/>
        </p:nvSpPr>
        <p:spPr>
          <a:xfrm>
            <a:off x="2921000" y="2554288"/>
            <a:ext cx="579438" cy="369887"/>
          </a:xfrm>
          <a:prstGeom prst="rect">
            <a:avLst/>
          </a:prstGeom>
          <a:solidFill>
            <a:schemeClr val="accent6">
              <a:lumMod val="20000"/>
              <a:lumOff val="80000"/>
            </a:schemeClr>
          </a:solidFill>
          <a:ln>
            <a:solidFill>
              <a:schemeClr val="accent6">
                <a:lumMod val="75000"/>
              </a:schemeClr>
            </a:solidFill>
          </a:ln>
        </p:spPr>
        <p:txBody>
          <a:bodyPr wrap="none">
            <a:spAutoFit/>
          </a:bodyPr>
          <a:lstStyle/>
          <a:p>
            <a:pPr algn="ctr">
              <a:defRPr/>
            </a:pPr>
            <a:r>
              <a:rPr lang="en-US" i="1" dirty="0">
                <a:latin typeface="+mn-lt"/>
              </a:rPr>
              <a:t>AUC</a:t>
            </a:r>
          </a:p>
        </p:txBody>
      </p:sp>
      <p:sp>
        <p:nvSpPr>
          <p:cNvPr id="13" name="TextBox 12"/>
          <p:cNvSpPr txBox="1"/>
          <p:nvPr/>
        </p:nvSpPr>
        <p:spPr>
          <a:xfrm>
            <a:off x="2928938" y="3125788"/>
            <a:ext cx="581025" cy="369887"/>
          </a:xfrm>
          <a:prstGeom prst="rect">
            <a:avLst/>
          </a:prstGeom>
          <a:solidFill>
            <a:schemeClr val="accent6">
              <a:lumMod val="20000"/>
              <a:lumOff val="80000"/>
            </a:schemeClr>
          </a:solidFill>
          <a:ln>
            <a:solidFill>
              <a:schemeClr val="accent6">
                <a:lumMod val="75000"/>
              </a:schemeClr>
            </a:solidFill>
          </a:ln>
        </p:spPr>
        <p:txBody>
          <a:bodyPr wrap="none">
            <a:spAutoFit/>
          </a:bodyPr>
          <a:lstStyle/>
          <a:p>
            <a:pPr algn="ctr">
              <a:defRPr/>
            </a:pPr>
            <a:r>
              <a:rPr lang="en-US" i="1" dirty="0">
                <a:latin typeface="+mn-lt"/>
              </a:rPr>
              <a:t>ADC</a:t>
            </a:r>
          </a:p>
        </p:txBody>
      </p:sp>
      <p:cxnSp>
        <p:nvCxnSpPr>
          <p:cNvPr id="15" name="Straight Arrow Connector 14"/>
          <p:cNvCxnSpPr>
            <a:stCxn id="6" idx="2"/>
            <a:endCxn id="7" idx="0"/>
          </p:cNvCxnSpPr>
          <p:nvPr/>
        </p:nvCxnSpPr>
        <p:spPr>
          <a:xfrm flipH="1">
            <a:off x="4979988" y="1566863"/>
            <a:ext cx="0" cy="201612"/>
          </a:xfrm>
          <a:prstGeom prst="straightConnector1">
            <a:avLst/>
          </a:prstGeom>
          <a:ln>
            <a:tailEnd type="arrow"/>
          </a:ln>
        </p:spPr>
        <p:style>
          <a:lnRef idx="1">
            <a:schemeClr val="accent1"/>
          </a:lnRef>
          <a:fillRef idx="0">
            <a:schemeClr val="accent1"/>
          </a:fillRef>
          <a:effectRef idx="0">
            <a:schemeClr val="accent1"/>
          </a:effectRef>
          <a:fontRef idx="minor">
            <a:schemeClr val="tx1"/>
          </a:fontRef>
        </p:style>
      </p:cxnSp>
      <p:cxnSp>
        <p:nvCxnSpPr>
          <p:cNvPr id="17" name="Straight Arrow Connector 16"/>
          <p:cNvCxnSpPr>
            <a:stCxn id="7" idx="2"/>
            <a:endCxn id="8" idx="0"/>
          </p:cNvCxnSpPr>
          <p:nvPr/>
        </p:nvCxnSpPr>
        <p:spPr>
          <a:xfrm rot="5400000">
            <a:off x="4869657" y="2229644"/>
            <a:ext cx="201612" cy="19050"/>
          </a:xfrm>
          <a:prstGeom prst="straightConnector1">
            <a:avLst/>
          </a:prstGeom>
          <a:ln>
            <a:tailEnd type="arrow"/>
          </a:ln>
        </p:spPr>
        <p:style>
          <a:lnRef idx="1">
            <a:schemeClr val="accent1"/>
          </a:lnRef>
          <a:fillRef idx="0">
            <a:schemeClr val="accent1"/>
          </a:fillRef>
          <a:effectRef idx="0">
            <a:schemeClr val="accent1"/>
          </a:effectRef>
          <a:fontRef idx="minor">
            <a:schemeClr val="tx1"/>
          </a:fontRef>
        </p:style>
      </p:cxnSp>
      <p:cxnSp>
        <p:nvCxnSpPr>
          <p:cNvPr id="19" name="Straight Arrow Connector 18"/>
          <p:cNvCxnSpPr>
            <a:stCxn id="8" idx="2"/>
            <a:endCxn id="9" idx="0"/>
          </p:cNvCxnSpPr>
          <p:nvPr/>
        </p:nvCxnSpPr>
        <p:spPr>
          <a:xfrm rot="5400000">
            <a:off x="4853782" y="2804319"/>
            <a:ext cx="201612" cy="12700"/>
          </a:xfrm>
          <a:prstGeom prst="straightConnector1">
            <a:avLst/>
          </a:prstGeom>
          <a:ln>
            <a:tailEnd type="arrow"/>
          </a:ln>
        </p:spPr>
        <p:style>
          <a:lnRef idx="1">
            <a:schemeClr val="accent1"/>
          </a:lnRef>
          <a:fillRef idx="0">
            <a:schemeClr val="accent1"/>
          </a:fillRef>
          <a:effectRef idx="0">
            <a:schemeClr val="accent1"/>
          </a:effectRef>
          <a:fontRef idx="minor">
            <a:schemeClr val="tx1"/>
          </a:fontRef>
        </p:style>
      </p:cxnSp>
      <p:cxnSp>
        <p:nvCxnSpPr>
          <p:cNvPr id="20" name="Straight Arrow Connector 19"/>
          <p:cNvCxnSpPr>
            <a:stCxn id="9" idx="2"/>
            <a:endCxn id="10" idx="0"/>
          </p:cNvCxnSpPr>
          <p:nvPr/>
        </p:nvCxnSpPr>
        <p:spPr>
          <a:xfrm rot="5400000">
            <a:off x="4844257" y="3378994"/>
            <a:ext cx="201612" cy="6350"/>
          </a:xfrm>
          <a:prstGeom prst="straightConnector1">
            <a:avLst/>
          </a:prstGeom>
          <a:ln>
            <a:tailEnd type="arrow"/>
          </a:ln>
        </p:spPr>
        <p:style>
          <a:lnRef idx="1">
            <a:schemeClr val="accent1"/>
          </a:lnRef>
          <a:fillRef idx="0">
            <a:schemeClr val="accent1"/>
          </a:fillRef>
          <a:effectRef idx="0">
            <a:schemeClr val="accent1"/>
          </a:effectRef>
          <a:fontRef idx="minor">
            <a:schemeClr val="tx1"/>
          </a:fontRef>
        </p:style>
      </p:cxnSp>
      <p:cxnSp>
        <p:nvCxnSpPr>
          <p:cNvPr id="24" name="Straight Arrow Connector 23"/>
          <p:cNvCxnSpPr>
            <a:stCxn id="7" idx="1"/>
            <a:endCxn id="11" idx="3"/>
          </p:cNvCxnSpPr>
          <p:nvPr/>
        </p:nvCxnSpPr>
        <p:spPr>
          <a:xfrm rot="10800000" flipV="1">
            <a:off x="3632200" y="1952625"/>
            <a:ext cx="357188" cy="214313"/>
          </a:xfrm>
          <a:prstGeom prst="straightConnector1">
            <a:avLst/>
          </a:prstGeom>
          <a:ln>
            <a:tailEnd type="arrow"/>
          </a:ln>
        </p:spPr>
        <p:style>
          <a:lnRef idx="1">
            <a:schemeClr val="accent1"/>
          </a:lnRef>
          <a:fillRef idx="0">
            <a:schemeClr val="accent1"/>
          </a:fillRef>
          <a:effectRef idx="0">
            <a:schemeClr val="accent1"/>
          </a:effectRef>
          <a:fontRef idx="minor">
            <a:schemeClr val="tx1"/>
          </a:fontRef>
        </p:style>
      </p:cxnSp>
      <p:cxnSp>
        <p:nvCxnSpPr>
          <p:cNvPr id="25" name="Straight Arrow Connector 24"/>
          <p:cNvCxnSpPr>
            <a:stCxn id="11" idx="2"/>
            <a:endCxn id="12" idx="0"/>
          </p:cNvCxnSpPr>
          <p:nvPr/>
        </p:nvCxnSpPr>
        <p:spPr>
          <a:xfrm rot="16200000" flipH="1">
            <a:off x="3109912" y="2452688"/>
            <a:ext cx="201613" cy="1588"/>
          </a:xfrm>
          <a:prstGeom prst="straightConnector1">
            <a:avLst/>
          </a:prstGeom>
          <a:ln>
            <a:tailEnd type="arrow"/>
          </a:ln>
        </p:spPr>
        <p:style>
          <a:lnRef idx="1">
            <a:schemeClr val="accent1"/>
          </a:lnRef>
          <a:fillRef idx="0">
            <a:schemeClr val="accent1"/>
          </a:fillRef>
          <a:effectRef idx="0">
            <a:schemeClr val="accent1"/>
          </a:effectRef>
          <a:fontRef idx="minor">
            <a:schemeClr val="tx1"/>
          </a:fontRef>
        </p:style>
      </p:cxnSp>
      <p:cxnSp>
        <p:nvCxnSpPr>
          <p:cNvPr id="28" name="Straight Arrow Connector 27"/>
          <p:cNvCxnSpPr>
            <a:stCxn id="12" idx="2"/>
            <a:endCxn id="13" idx="0"/>
          </p:cNvCxnSpPr>
          <p:nvPr/>
        </p:nvCxnSpPr>
        <p:spPr>
          <a:xfrm rot="16200000" flipH="1">
            <a:off x="3114675" y="3021013"/>
            <a:ext cx="201613" cy="7937"/>
          </a:xfrm>
          <a:prstGeom prst="straightConnector1">
            <a:avLst/>
          </a:prstGeom>
          <a:ln>
            <a:tailEnd type="arrow"/>
          </a:ln>
        </p:spPr>
        <p:style>
          <a:lnRef idx="1">
            <a:schemeClr val="accent1"/>
          </a:lnRef>
          <a:fillRef idx="0">
            <a:schemeClr val="accent1"/>
          </a:fillRef>
          <a:effectRef idx="0">
            <a:schemeClr val="accent1"/>
          </a:effectRef>
          <a:fontRef idx="minor">
            <a:schemeClr val="tx1"/>
          </a:fontRef>
        </p:style>
      </p:cxnSp>
      <p:cxnSp>
        <p:nvCxnSpPr>
          <p:cNvPr id="31" name="Straight Arrow Connector 30"/>
          <p:cNvCxnSpPr>
            <a:stCxn id="12" idx="3"/>
            <a:endCxn id="9" idx="1"/>
          </p:cNvCxnSpPr>
          <p:nvPr/>
        </p:nvCxnSpPr>
        <p:spPr>
          <a:xfrm>
            <a:off x="3500438" y="2738438"/>
            <a:ext cx="854075" cy="357187"/>
          </a:xfrm>
          <a:prstGeom prst="straightConnector1">
            <a:avLst/>
          </a:prstGeom>
          <a:ln>
            <a:prstDash val="dash"/>
            <a:tailEnd type="arrow"/>
          </a:ln>
        </p:spPr>
        <p:style>
          <a:lnRef idx="1">
            <a:schemeClr val="accent1"/>
          </a:lnRef>
          <a:fillRef idx="0">
            <a:schemeClr val="accent1"/>
          </a:fillRef>
          <a:effectRef idx="0">
            <a:schemeClr val="accent1"/>
          </a:effectRef>
          <a:fontRef idx="minor">
            <a:schemeClr val="tx1"/>
          </a:fontRef>
        </p:style>
      </p:cxn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266" name="Title 1"/>
          <p:cNvSpPr>
            <a:spLocks noGrp="1"/>
          </p:cNvSpPr>
          <p:nvPr>
            <p:ph type="title"/>
          </p:nvPr>
        </p:nvSpPr>
        <p:spPr/>
        <p:txBody>
          <a:bodyPr/>
          <a:lstStyle/>
          <a:p>
            <a:r>
              <a:rPr lang="en-US"/>
              <a:t>Summary</a:t>
            </a:r>
          </a:p>
        </p:txBody>
      </p:sp>
      <p:sp>
        <p:nvSpPr>
          <p:cNvPr id="11267" name="Content Placeholder 2"/>
          <p:cNvSpPr>
            <a:spLocks noGrp="1"/>
          </p:cNvSpPr>
          <p:nvPr>
            <p:ph idx="1"/>
          </p:nvPr>
        </p:nvSpPr>
        <p:spPr>
          <a:xfrm>
            <a:off x="500063" y="1700213"/>
            <a:ext cx="8229600" cy="4586287"/>
          </a:xfrm>
        </p:spPr>
        <p:txBody>
          <a:bodyPr/>
          <a:lstStyle/>
          <a:p>
            <a:r>
              <a:rPr lang="en-US" sz="2800" dirty="0"/>
              <a:t>We learned another set of white-box test-coverage criteria, namely data-flow based coverage.</a:t>
            </a:r>
          </a:p>
          <a:p>
            <a:endParaRPr lang="en-US" sz="2800" dirty="0"/>
          </a:p>
          <a:p>
            <a:r>
              <a:rPr lang="en-US" sz="2800" dirty="0"/>
              <a:t>An alternative to prime-path-based testing, if the latter becomes too expensive, while being more aware of the semantic of the program under test.</a:t>
            </a:r>
          </a:p>
          <a:p>
            <a:endParaRPr lang="en-US" sz="2800" dirty="0"/>
          </a:p>
          <a:p>
            <a:pPr lvl="1"/>
            <a:endParaRPr lang="en-US" dirty="0"/>
          </a:p>
          <a:p>
            <a:pPr lvl="1"/>
            <a:endParaRPr lang="en-US" sz="2400" dirty="0"/>
          </a:p>
        </p:txBody>
      </p:sp>
      <p:sp>
        <p:nvSpPr>
          <p:cNvPr id="4" name="Slide Number Placeholder 3"/>
          <p:cNvSpPr>
            <a:spLocks noGrp="1"/>
          </p:cNvSpPr>
          <p:nvPr>
            <p:ph type="sldNum" sz="quarter" idx="12"/>
          </p:nvPr>
        </p:nvSpPr>
        <p:spPr/>
        <p:txBody>
          <a:bodyPr/>
          <a:lstStyle/>
          <a:p>
            <a:pPr>
              <a:defRPr/>
            </a:pPr>
            <a:fld id="{CD8D0775-E41B-4604-A259-2345CCAE8B5D}" type="slidenum">
              <a:rPr lang="en-US" smtClean="0"/>
              <a:pPr>
                <a:defRPr/>
              </a:pPr>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2290" name="Title 1"/>
          <p:cNvSpPr>
            <a:spLocks noGrp="1"/>
          </p:cNvSpPr>
          <p:nvPr>
            <p:ph type="title"/>
          </p:nvPr>
        </p:nvSpPr>
        <p:spPr/>
        <p:txBody>
          <a:bodyPr/>
          <a:lstStyle/>
          <a:p>
            <a:r>
              <a:rPr lang="en-US" dirty="0"/>
              <a:t>Integration Test</a:t>
            </a:r>
          </a:p>
        </p:txBody>
      </p:sp>
      <p:sp>
        <p:nvSpPr>
          <p:cNvPr id="12291" name="Content Placeholder 2"/>
          <p:cNvSpPr>
            <a:spLocks noGrp="1"/>
          </p:cNvSpPr>
          <p:nvPr>
            <p:ph idx="1"/>
          </p:nvPr>
        </p:nvSpPr>
        <p:spPr>
          <a:xfrm>
            <a:off x="357188" y="1600200"/>
            <a:ext cx="8429625" cy="4525963"/>
          </a:xfrm>
        </p:spPr>
        <p:txBody>
          <a:bodyPr/>
          <a:lstStyle/>
          <a:p>
            <a:r>
              <a:rPr lang="en-US" sz="2800" dirty="0"/>
              <a:t>Integration test: to test if a composition of program units  works correctly.</a:t>
            </a:r>
          </a:p>
          <a:p>
            <a:r>
              <a:rPr lang="en-US" sz="2800" dirty="0"/>
              <a:t>“Hidden” in Section 2.4 (2</a:t>
            </a:r>
            <a:r>
              <a:rPr lang="en-US" sz="2800" baseline="30000" dirty="0"/>
              <a:t>nd</a:t>
            </a:r>
            <a:r>
              <a:rPr lang="en-US" sz="2800" dirty="0"/>
              <a:t> Ed. 7.4) about using design elements (e.g. your UML models) as your coverage criterion. 2.4.1 (2</a:t>
            </a:r>
            <a:r>
              <a:rPr lang="en-US" sz="2800" baseline="30000" dirty="0"/>
              <a:t>nd</a:t>
            </a:r>
            <a:r>
              <a:rPr lang="en-US" sz="2800" dirty="0"/>
              <a:t> Ed. 7.4 p146) says: </a:t>
            </a:r>
            <a:r>
              <a:rPr lang="en-US" sz="2800" i="1" dirty="0"/>
              <a:t>“testing software based on design elements is usually associated with integration testing”.</a:t>
            </a:r>
          </a:p>
          <a:p>
            <a:r>
              <a:rPr lang="en-US" sz="2800" dirty="0"/>
              <a:t>2.4.2 (2</a:t>
            </a:r>
            <a:r>
              <a:rPr lang="en-US" sz="2800" baseline="30000" dirty="0"/>
              <a:t>nd</a:t>
            </a:r>
            <a:r>
              <a:rPr lang="en-US" sz="2800" dirty="0"/>
              <a:t> Ed. 7.4.2) is actually more about integration testing rather than design-element-based testing.</a:t>
            </a:r>
          </a:p>
          <a:p>
            <a:endParaRPr lang="en-US" sz="2800" dirty="0"/>
          </a:p>
        </p:txBody>
      </p:sp>
      <p:sp>
        <p:nvSpPr>
          <p:cNvPr id="4" name="Slide Number Placeholder 3"/>
          <p:cNvSpPr>
            <a:spLocks noGrp="1"/>
          </p:cNvSpPr>
          <p:nvPr>
            <p:ph type="sldNum" sz="quarter" idx="12"/>
          </p:nvPr>
        </p:nvSpPr>
        <p:spPr/>
        <p:txBody>
          <a:bodyPr/>
          <a:lstStyle/>
          <a:p>
            <a:pPr>
              <a:defRPr/>
            </a:pPr>
            <a:fld id="{A7491791-3350-4F0D-BC7A-42C33D8CA723}" type="slidenum">
              <a:rPr lang="en-US" smtClean="0"/>
              <a:pPr>
                <a:defRPr/>
              </a:pPr>
              <a:t>12</a:t>
            </a:fld>
            <a:endParaRPr lang="en-US"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Integration Test, example</a:t>
            </a:r>
          </a:p>
        </p:txBody>
      </p:sp>
      <p:sp>
        <p:nvSpPr>
          <p:cNvPr id="4" name="Slide Number Placeholder 3"/>
          <p:cNvSpPr>
            <a:spLocks noGrp="1"/>
          </p:cNvSpPr>
          <p:nvPr>
            <p:ph type="sldNum" sz="quarter" idx="12"/>
          </p:nvPr>
        </p:nvSpPr>
        <p:spPr/>
        <p:txBody>
          <a:bodyPr/>
          <a:lstStyle/>
          <a:p>
            <a:pPr>
              <a:defRPr/>
            </a:pPr>
            <a:fld id="{F51486F7-ACCF-4DB7-BBF3-9BC4B709FB28}" type="slidenum">
              <a:rPr lang="en-US" smtClean="0"/>
              <a:pPr>
                <a:defRPr/>
              </a:pPr>
              <a:t>13</a:t>
            </a:fld>
            <a:endParaRPr lang="en-US"/>
          </a:p>
        </p:txBody>
      </p:sp>
      <p:sp>
        <p:nvSpPr>
          <p:cNvPr id="5" name="Rectangle 4"/>
          <p:cNvSpPr/>
          <p:nvPr/>
        </p:nvSpPr>
        <p:spPr>
          <a:xfrm>
            <a:off x="3779912" y="1866584"/>
            <a:ext cx="1296144" cy="936104"/>
          </a:xfrm>
          <a:prstGeom prst="rect">
            <a:avLst/>
          </a:prstGeom>
          <a:solidFill>
            <a:schemeClr val="tx2">
              <a:lumMod val="20000"/>
              <a:lumOff val="80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Class A</a:t>
            </a:r>
          </a:p>
        </p:txBody>
      </p:sp>
      <p:sp>
        <p:nvSpPr>
          <p:cNvPr id="6" name="Rectangle 5"/>
          <p:cNvSpPr/>
          <p:nvPr/>
        </p:nvSpPr>
        <p:spPr>
          <a:xfrm>
            <a:off x="5580112" y="1866584"/>
            <a:ext cx="1296144" cy="936104"/>
          </a:xfrm>
          <a:prstGeom prst="rect">
            <a:avLst/>
          </a:prstGeom>
          <a:solidFill>
            <a:schemeClr val="tx2">
              <a:lumMod val="20000"/>
              <a:lumOff val="80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Server</a:t>
            </a:r>
          </a:p>
        </p:txBody>
      </p:sp>
      <p:cxnSp>
        <p:nvCxnSpPr>
          <p:cNvPr id="8" name="Straight Arrow Connector 7"/>
          <p:cNvCxnSpPr>
            <a:stCxn id="5" idx="3"/>
            <a:endCxn id="6" idx="1"/>
          </p:cNvCxnSpPr>
          <p:nvPr/>
        </p:nvCxnSpPr>
        <p:spPr>
          <a:xfrm>
            <a:off x="5076056" y="2334636"/>
            <a:ext cx="504056" cy="0"/>
          </a:xfrm>
          <a:prstGeom prst="straightConnector1">
            <a:avLst/>
          </a:prstGeom>
          <a:ln w="28575">
            <a:solidFill>
              <a:schemeClr val="accent6">
                <a:lumMod val="60000"/>
                <a:lumOff val="40000"/>
              </a:schemeClr>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sp>
        <p:nvSpPr>
          <p:cNvPr id="10" name="Rectangle 9"/>
          <p:cNvSpPr/>
          <p:nvPr/>
        </p:nvSpPr>
        <p:spPr>
          <a:xfrm>
            <a:off x="3758208" y="3099885"/>
            <a:ext cx="1296144" cy="936104"/>
          </a:xfrm>
          <a:prstGeom prst="rect">
            <a:avLst/>
          </a:prstGeom>
          <a:solidFill>
            <a:schemeClr val="tx2">
              <a:lumMod val="20000"/>
              <a:lumOff val="80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Class A</a:t>
            </a:r>
          </a:p>
        </p:txBody>
      </p:sp>
      <p:sp>
        <p:nvSpPr>
          <p:cNvPr id="11" name="Rectangle 10"/>
          <p:cNvSpPr/>
          <p:nvPr/>
        </p:nvSpPr>
        <p:spPr>
          <a:xfrm>
            <a:off x="5580112" y="3099036"/>
            <a:ext cx="720080" cy="936104"/>
          </a:xfrm>
          <a:prstGeom prst="rect">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200" dirty="0">
                <a:solidFill>
                  <a:schemeClr val="tx1"/>
                </a:solidFill>
              </a:rPr>
              <a:t>Mock Server</a:t>
            </a:r>
          </a:p>
        </p:txBody>
      </p:sp>
      <p:cxnSp>
        <p:nvCxnSpPr>
          <p:cNvPr id="12" name="Straight Arrow Connector 11"/>
          <p:cNvCxnSpPr>
            <a:stCxn id="10" idx="3"/>
            <a:endCxn id="11" idx="1"/>
          </p:cNvCxnSpPr>
          <p:nvPr/>
        </p:nvCxnSpPr>
        <p:spPr>
          <a:xfrm flipV="1">
            <a:off x="5054352" y="3567088"/>
            <a:ext cx="525760" cy="849"/>
          </a:xfrm>
          <a:prstGeom prst="straightConnector1">
            <a:avLst/>
          </a:prstGeom>
          <a:ln w="28575">
            <a:solidFill>
              <a:schemeClr val="accent6">
                <a:lumMod val="60000"/>
                <a:lumOff val="40000"/>
              </a:schemeClr>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sp>
        <p:nvSpPr>
          <p:cNvPr id="15" name="Rectangle 14"/>
          <p:cNvSpPr/>
          <p:nvPr/>
        </p:nvSpPr>
        <p:spPr>
          <a:xfrm>
            <a:off x="3758208" y="4391167"/>
            <a:ext cx="1296144" cy="936104"/>
          </a:xfrm>
          <a:prstGeom prst="rect">
            <a:avLst/>
          </a:prstGeom>
          <a:solidFill>
            <a:schemeClr val="tx2">
              <a:lumMod val="20000"/>
              <a:lumOff val="80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Class A</a:t>
            </a:r>
          </a:p>
        </p:txBody>
      </p:sp>
      <p:sp>
        <p:nvSpPr>
          <p:cNvPr id="16" name="Rectangle 15"/>
          <p:cNvSpPr/>
          <p:nvPr/>
        </p:nvSpPr>
        <p:spPr>
          <a:xfrm>
            <a:off x="5558408" y="4391167"/>
            <a:ext cx="1296144" cy="936104"/>
          </a:xfrm>
          <a:prstGeom prst="rect">
            <a:avLst/>
          </a:prstGeom>
          <a:solidFill>
            <a:schemeClr val="tx2">
              <a:lumMod val="20000"/>
              <a:lumOff val="80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Actual</a:t>
            </a:r>
          </a:p>
          <a:p>
            <a:pPr algn="ctr"/>
            <a:r>
              <a:rPr lang="en-US" dirty="0">
                <a:solidFill>
                  <a:schemeClr val="tx1"/>
                </a:solidFill>
              </a:rPr>
              <a:t>Server</a:t>
            </a:r>
          </a:p>
        </p:txBody>
      </p:sp>
      <p:cxnSp>
        <p:nvCxnSpPr>
          <p:cNvPr id="17" name="Straight Arrow Connector 16"/>
          <p:cNvCxnSpPr/>
          <p:nvPr/>
        </p:nvCxnSpPr>
        <p:spPr>
          <a:xfrm>
            <a:off x="5054352" y="4859219"/>
            <a:ext cx="504056" cy="0"/>
          </a:xfrm>
          <a:prstGeom prst="straightConnector1">
            <a:avLst/>
          </a:prstGeom>
          <a:ln w="28575">
            <a:solidFill>
              <a:schemeClr val="accent6">
                <a:lumMod val="60000"/>
                <a:lumOff val="40000"/>
              </a:schemeClr>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sp>
        <p:nvSpPr>
          <p:cNvPr id="18" name="TextBox 17"/>
          <p:cNvSpPr txBox="1"/>
          <p:nvPr/>
        </p:nvSpPr>
        <p:spPr>
          <a:xfrm>
            <a:off x="2462659" y="2149970"/>
            <a:ext cx="966931" cy="369332"/>
          </a:xfrm>
          <a:prstGeom prst="rect">
            <a:avLst/>
          </a:prstGeom>
          <a:noFill/>
        </p:spPr>
        <p:txBody>
          <a:bodyPr wrap="none" rtlCol="0">
            <a:spAutoFit/>
          </a:bodyPr>
          <a:lstStyle/>
          <a:p>
            <a:pPr algn="r"/>
            <a:r>
              <a:rPr lang="en-US"/>
              <a:t>Design:</a:t>
            </a:r>
          </a:p>
        </p:txBody>
      </p:sp>
      <p:sp>
        <p:nvSpPr>
          <p:cNvPr id="19" name="TextBox 18"/>
          <p:cNvSpPr txBox="1"/>
          <p:nvPr/>
        </p:nvSpPr>
        <p:spPr>
          <a:xfrm>
            <a:off x="1835696" y="3243922"/>
            <a:ext cx="1593894" cy="646331"/>
          </a:xfrm>
          <a:prstGeom prst="rect">
            <a:avLst/>
          </a:prstGeom>
          <a:noFill/>
        </p:spPr>
        <p:txBody>
          <a:bodyPr wrap="square" rtlCol="0">
            <a:spAutoFit/>
          </a:bodyPr>
          <a:lstStyle/>
          <a:p>
            <a:pPr algn="r"/>
            <a:r>
              <a:rPr lang="en-US" dirty="0"/>
              <a:t>During </a:t>
            </a:r>
            <a:r>
              <a:rPr lang="en-US"/>
              <a:t>unit test of A :</a:t>
            </a:r>
            <a:endParaRPr lang="en-US" dirty="0"/>
          </a:p>
        </p:txBody>
      </p:sp>
      <p:sp>
        <p:nvSpPr>
          <p:cNvPr id="20" name="TextBox 19"/>
          <p:cNvSpPr txBox="1"/>
          <p:nvPr/>
        </p:nvSpPr>
        <p:spPr>
          <a:xfrm>
            <a:off x="1480238" y="4568872"/>
            <a:ext cx="2025942" cy="646331"/>
          </a:xfrm>
          <a:prstGeom prst="rect">
            <a:avLst/>
          </a:prstGeom>
          <a:noFill/>
        </p:spPr>
        <p:txBody>
          <a:bodyPr wrap="square" rtlCol="0">
            <a:spAutoFit/>
          </a:bodyPr>
          <a:lstStyle/>
          <a:p>
            <a:pPr algn="r"/>
            <a:r>
              <a:rPr lang="en-US"/>
              <a:t>During integration test </a:t>
            </a:r>
            <a:r>
              <a:rPr lang="en-US" dirty="0"/>
              <a:t>of A :</a:t>
            </a:r>
          </a:p>
        </p:txBody>
      </p:sp>
      <p:sp>
        <p:nvSpPr>
          <p:cNvPr id="21" name="TextBox 20"/>
          <p:cNvSpPr txBox="1"/>
          <p:nvPr/>
        </p:nvSpPr>
        <p:spPr>
          <a:xfrm>
            <a:off x="827584" y="5478323"/>
            <a:ext cx="7704857" cy="830997"/>
          </a:xfrm>
          <a:prstGeom prst="rect">
            <a:avLst/>
          </a:prstGeom>
          <a:noFill/>
        </p:spPr>
        <p:txBody>
          <a:bodyPr wrap="square" rtlCol="0">
            <a:spAutoFit/>
          </a:bodyPr>
          <a:lstStyle/>
          <a:p>
            <a:pPr algn="ctr"/>
            <a:r>
              <a:rPr lang="en-US" sz="1600" dirty="0"/>
              <a:t>We can test the integration between A and the Server by re-running the unit test of A, but replacing the mock server with a real server. Question: what should we use to determine the adequacy of this test?</a:t>
            </a:r>
          </a:p>
        </p:txBody>
      </p:sp>
    </p:spTree>
    <p:extLst>
      <p:ext uri="{BB962C8B-B14F-4D97-AF65-F5344CB8AC3E}">
        <p14:creationId xmlns:p14="http://schemas.microsoft.com/office/powerpoint/2010/main" val="2020478961"/>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2" name="Rounded Rectangle 11">
            <a:extLst>
              <a:ext uri="{FF2B5EF4-FFF2-40B4-BE49-F238E27FC236}">
                <a16:creationId xmlns:a16="http://schemas.microsoft.com/office/drawing/2014/main" id="{A05DE08E-357A-5547-93CE-C818F6A2D2EA}"/>
              </a:ext>
            </a:extLst>
          </p:cNvPr>
          <p:cNvSpPr/>
          <p:nvPr/>
        </p:nvSpPr>
        <p:spPr>
          <a:xfrm>
            <a:off x="712653" y="1623629"/>
            <a:ext cx="4547676" cy="1499012"/>
          </a:xfrm>
          <a:prstGeom prst="roundRect">
            <a:avLst/>
          </a:prstGeom>
          <a:solidFill>
            <a:schemeClr val="accent5">
              <a:lumMod val="20000"/>
              <a:lumOff val="80000"/>
              <a:alpha val="25000"/>
            </a:schemeClr>
          </a:solidFill>
          <a:ln>
            <a:solidFill>
              <a:schemeClr val="accent5">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340" name="Title 1"/>
          <p:cNvSpPr>
            <a:spLocks noGrp="1"/>
          </p:cNvSpPr>
          <p:nvPr>
            <p:ph type="title"/>
          </p:nvPr>
        </p:nvSpPr>
        <p:spPr>
          <a:solidFill>
            <a:schemeClr val="bg1"/>
          </a:solidFill>
        </p:spPr>
        <p:txBody>
          <a:bodyPr/>
          <a:lstStyle/>
          <a:p>
            <a:r>
              <a:rPr lang="en-US" sz="4000" dirty="0"/>
              <a:t>Data flow approach to Integration Test (2.4.2/2</a:t>
            </a:r>
            <a:r>
              <a:rPr lang="en-US" sz="4000" baseline="30000" dirty="0"/>
              <a:t>nd</a:t>
            </a:r>
            <a:r>
              <a:rPr lang="en-US" sz="4000" dirty="0"/>
              <a:t> Ed. 7.4.2)</a:t>
            </a:r>
          </a:p>
        </p:txBody>
      </p:sp>
      <p:sp>
        <p:nvSpPr>
          <p:cNvPr id="14341" name="Content Placeholder 2"/>
          <p:cNvSpPr>
            <a:spLocks noGrp="1"/>
          </p:cNvSpPr>
          <p:nvPr>
            <p:ph idx="1"/>
          </p:nvPr>
        </p:nvSpPr>
        <p:spPr>
          <a:xfrm>
            <a:off x="250825" y="3427153"/>
            <a:ext cx="8435975" cy="3214687"/>
          </a:xfrm>
        </p:spPr>
        <p:txBody>
          <a:bodyPr/>
          <a:lstStyle/>
          <a:p>
            <a:r>
              <a:rPr lang="en-US" sz="2400" dirty="0"/>
              <a:t>Imagine a method </a:t>
            </a:r>
            <a:r>
              <a:rPr lang="en-US" sz="2400" i="1" dirty="0"/>
              <a:t>f</a:t>
            </a:r>
            <a:r>
              <a:rPr lang="en-US" sz="2400" dirty="0"/>
              <a:t> from module </a:t>
            </a:r>
            <a:r>
              <a:rPr lang="en-US" sz="2400" i="1" dirty="0"/>
              <a:t>A</a:t>
            </a:r>
            <a:r>
              <a:rPr lang="en-US" sz="2400" dirty="0"/>
              <a:t> uses a method/API </a:t>
            </a:r>
            <a:r>
              <a:rPr lang="en-US" sz="2400" i="1" dirty="0"/>
              <a:t>g</a:t>
            </a:r>
            <a:r>
              <a:rPr lang="en-US" sz="2400" dirty="0"/>
              <a:t> from module B. How to test such a composition?</a:t>
            </a:r>
          </a:p>
          <a:p>
            <a:r>
              <a:rPr lang="en-US" sz="2400" dirty="0"/>
              <a:t>Idea 1: cover all edges </a:t>
            </a:r>
            <a:r>
              <a:rPr lang="en-US" sz="2400" dirty="0">
                <a:sym typeface="Wingdings" pitchFamily="2" charset="2"/>
              </a:rPr>
              <a:t> does not capture “integration”.</a:t>
            </a:r>
            <a:endParaRPr lang="en-US" sz="2400" dirty="0"/>
          </a:p>
          <a:p>
            <a:r>
              <a:rPr lang="en-US" sz="2400" dirty="0"/>
              <a:t>Idea 2: cover all prime paths in the combined CFG of both </a:t>
            </a:r>
            <a:r>
              <a:rPr lang="en-US" sz="2400" dirty="0">
                <a:sym typeface="Wingdings" pitchFamily="2" charset="2"/>
              </a:rPr>
              <a:t> </a:t>
            </a:r>
            <a:r>
              <a:rPr lang="en-US" sz="2400" dirty="0"/>
              <a:t>blows up. </a:t>
            </a:r>
          </a:p>
          <a:p>
            <a:r>
              <a:rPr lang="en-US" sz="2400" dirty="0"/>
              <a:t>Idea 3: focus on the flow of the “coupling data” around the call point.</a:t>
            </a:r>
          </a:p>
        </p:txBody>
      </p:sp>
      <p:sp>
        <p:nvSpPr>
          <p:cNvPr id="4" name="Slide Number Placeholder 3"/>
          <p:cNvSpPr>
            <a:spLocks noGrp="1"/>
          </p:cNvSpPr>
          <p:nvPr>
            <p:ph type="sldNum" sz="quarter" idx="12"/>
          </p:nvPr>
        </p:nvSpPr>
        <p:spPr/>
        <p:txBody>
          <a:bodyPr/>
          <a:lstStyle/>
          <a:p>
            <a:pPr>
              <a:defRPr/>
            </a:pPr>
            <a:fld id="{417AE398-CB40-4F18-BB19-156046463C9C}" type="slidenum">
              <a:rPr lang="en-US" smtClean="0"/>
              <a:pPr>
                <a:defRPr/>
              </a:pPr>
              <a:t>14</a:t>
            </a:fld>
            <a:endParaRPr lang="en-US"/>
          </a:p>
        </p:txBody>
      </p:sp>
      <p:sp>
        <p:nvSpPr>
          <p:cNvPr id="5" name="TextBox 4"/>
          <p:cNvSpPr txBox="1"/>
          <p:nvPr/>
        </p:nvSpPr>
        <p:spPr>
          <a:xfrm>
            <a:off x="2019968" y="2469514"/>
            <a:ext cx="2990850" cy="461963"/>
          </a:xfrm>
          <a:prstGeom prst="rect">
            <a:avLst/>
          </a:prstGeom>
          <a:solidFill>
            <a:schemeClr val="accent1">
              <a:lumMod val="20000"/>
              <a:lumOff val="80000"/>
            </a:schemeClr>
          </a:solidFill>
          <a:ln>
            <a:solidFill>
              <a:schemeClr val="tx1"/>
            </a:solidFill>
          </a:ln>
        </p:spPr>
        <p:txBody>
          <a:bodyPr wrap="none">
            <a:spAutoFit/>
          </a:bodyPr>
          <a:lstStyle/>
          <a:p>
            <a:pPr>
              <a:defRPr/>
            </a:pPr>
            <a:r>
              <a:rPr lang="en-US" sz="2400" dirty="0">
                <a:latin typeface="+mn-lt"/>
              </a:rPr>
              <a:t>f (a)  {   ...  g(e) ...         }</a:t>
            </a:r>
          </a:p>
        </p:txBody>
      </p:sp>
      <p:sp>
        <p:nvSpPr>
          <p:cNvPr id="7" name="TextBox 6"/>
          <p:cNvSpPr txBox="1"/>
          <p:nvPr/>
        </p:nvSpPr>
        <p:spPr>
          <a:xfrm>
            <a:off x="6318133" y="2061160"/>
            <a:ext cx="1277937" cy="461962"/>
          </a:xfrm>
          <a:prstGeom prst="rect">
            <a:avLst/>
          </a:prstGeom>
          <a:solidFill>
            <a:schemeClr val="accent5">
              <a:lumMod val="20000"/>
              <a:lumOff val="80000"/>
            </a:schemeClr>
          </a:solidFill>
          <a:ln>
            <a:solidFill>
              <a:schemeClr val="tx1"/>
            </a:solidFill>
          </a:ln>
        </p:spPr>
        <p:txBody>
          <a:bodyPr wrap="none">
            <a:spAutoFit/>
          </a:bodyPr>
          <a:lstStyle/>
          <a:p>
            <a:pPr>
              <a:defRPr/>
            </a:pPr>
            <a:r>
              <a:rPr lang="en-US" sz="2400" dirty="0">
                <a:latin typeface="+mn-lt"/>
              </a:rPr>
              <a:t>g(x) { ... }</a:t>
            </a:r>
          </a:p>
        </p:txBody>
      </p:sp>
      <p:cxnSp>
        <p:nvCxnSpPr>
          <p:cNvPr id="9" name="Curved Connector 8"/>
          <p:cNvCxnSpPr>
            <a:cxnSpLocks/>
            <a:stCxn id="5" idx="3"/>
            <a:endCxn id="7" idx="1"/>
          </p:cNvCxnSpPr>
          <p:nvPr/>
        </p:nvCxnSpPr>
        <p:spPr>
          <a:xfrm flipV="1">
            <a:off x="5010818" y="2292141"/>
            <a:ext cx="1307315" cy="408355"/>
          </a:xfrm>
          <a:prstGeom prst="curvedConnector3">
            <a:avLst>
              <a:gd name="adj1" fmla="val 50000"/>
            </a:avLst>
          </a:prstGeom>
          <a:ln>
            <a:prstDash val="dash"/>
            <a:headEnd type="arrow" w="med" len="med"/>
            <a:tailEnd type="arrow" w="med" len="med"/>
          </a:ln>
        </p:spPr>
        <p:style>
          <a:lnRef idx="1">
            <a:schemeClr val="accent1"/>
          </a:lnRef>
          <a:fillRef idx="0">
            <a:schemeClr val="accent1"/>
          </a:fillRef>
          <a:effectRef idx="0">
            <a:schemeClr val="accent1"/>
          </a:effectRef>
          <a:fontRef idx="minor">
            <a:schemeClr val="tx1"/>
          </a:fontRef>
        </p:style>
      </p:cxnSp>
      <p:sp>
        <p:nvSpPr>
          <p:cNvPr id="24" name="TextBox 23"/>
          <p:cNvSpPr txBox="1"/>
          <p:nvPr/>
        </p:nvSpPr>
        <p:spPr>
          <a:xfrm>
            <a:off x="5766076" y="1590030"/>
            <a:ext cx="1582484" cy="523220"/>
          </a:xfrm>
          <a:prstGeom prst="rect">
            <a:avLst/>
          </a:prstGeom>
          <a:noFill/>
        </p:spPr>
        <p:txBody>
          <a:bodyPr wrap="none">
            <a:spAutoFit/>
          </a:bodyPr>
          <a:lstStyle/>
          <a:p>
            <a:pPr>
              <a:defRPr/>
            </a:pPr>
            <a:r>
              <a:rPr lang="en-US" sz="2800" dirty="0">
                <a:latin typeface="+mn-lt"/>
              </a:rPr>
              <a:t>module </a:t>
            </a:r>
            <a:r>
              <a:rPr lang="en-US" sz="2800" b="1" dirty="0">
                <a:latin typeface="+mn-lt"/>
              </a:rPr>
              <a:t>B</a:t>
            </a:r>
          </a:p>
        </p:txBody>
      </p:sp>
      <p:sp>
        <p:nvSpPr>
          <p:cNvPr id="25" name="TextBox 24"/>
          <p:cNvSpPr txBox="1"/>
          <p:nvPr/>
        </p:nvSpPr>
        <p:spPr>
          <a:xfrm>
            <a:off x="795832" y="1623629"/>
            <a:ext cx="1598515" cy="523220"/>
          </a:xfrm>
          <a:prstGeom prst="rect">
            <a:avLst/>
          </a:prstGeom>
          <a:noFill/>
        </p:spPr>
        <p:txBody>
          <a:bodyPr wrap="none">
            <a:spAutoFit/>
          </a:bodyPr>
          <a:lstStyle/>
          <a:p>
            <a:pPr>
              <a:defRPr/>
            </a:pPr>
            <a:r>
              <a:rPr lang="en-US" sz="2800" dirty="0">
                <a:latin typeface="+mn-lt"/>
              </a:rPr>
              <a:t>module</a:t>
            </a:r>
            <a:r>
              <a:rPr lang="en-US" sz="2800" b="1" dirty="0">
                <a:latin typeface="+mn-lt"/>
              </a:rPr>
              <a:t> A</a:t>
            </a:r>
          </a:p>
        </p:txBody>
      </p:sp>
      <p:sp>
        <p:nvSpPr>
          <p:cNvPr id="19" name="Rounded Rectangle 18">
            <a:extLst>
              <a:ext uri="{FF2B5EF4-FFF2-40B4-BE49-F238E27FC236}">
                <a16:creationId xmlns:a16="http://schemas.microsoft.com/office/drawing/2014/main" id="{76C9B671-CE3E-E141-9C1E-2D26C6D42856}"/>
              </a:ext>
            </a:extLst>
          </p:cNvPr>
          <p:cNvSpPr/>
          <p:nvPr/>
        </p:nvSpPr>
        <p:spPr>
          <a:xfrm>
            <a:off x="5580112" y="1629767"/>
            <a:ext cx="2671067" cy="1757127"/>
          </a:xfrm>
          <a:prstGeom prst="roundRect">
            <a:avLst/>
          </a:prstGeom>
          <a:solidFill>
            <a:schemeClr val="accent5">
              <a:lumMod val="20000"/>
              <a:lumOff val="80000"/>
              <a:alpha val="25000"/>
            </a:schemeClr>
          </a:solidFill>
          <a:ln>
            <a:solidFill>
              <a:schemeClr val="accent5">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0" name="Rounded Rectangle 29">
            <a:extLst>
              <a:ext uri="{FF2B5EF4-FFF2-40B4-BE49-F238E27FC236}">
                <a16:creationId xmlns:a16="http://schemas.microsoft.com/office/drawing/2014/main" id="{A75840DB-BEDD-4F48-87E1-522736E501CA}"/>
              </a:ext>
            </a:extLst>
          </p:cNvPr>
          <p:cNvSpPr/>
          <p:nvPr/>
        </p:nvSpPr>
        <p:spPr>
          <a:xfrm>
            <a:off x="3969502" y="1419770"/>
            <a:ext cx="4274905" cy="2498070"/>
          </a:xfrm>
          <a:prstGeom prst="roundRect">
            <a:avLst/>
          </a:prstGeom>
          <a:solidFill>
            <a:schemeClr val="accent6">
              <a:lumMod val="40000"/>
              <a:lumOff val="60000"/>
              <a:alpha val="25000"/>
            </a:schemeClr>
          </a:solidFill>
          <a:ln>
            <a:solidFill>
              <a:schemeClr val="accent6">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8" name="Rounded Rectangle 27">
            <a:extLst>
              <a:ext uri="{FF2B5EF4-FFF2-40B4-BE49-F238E27FC236}">
                <a16:creationId xmlns:a16="http://schemas.microsoft.com/office/drawing/2014/main" id="{43830540-9598-6447-BD8C-81C4C889356D}"/>
              </a:ext>
            </a:extLst>
          </p:cNvPr>
          <p:cNvSpPr/>
          <p:nvPr/>
        </p:nvSpPr>
        <p:spPr>
          <a:xfrm>
            <a:off x="529398" y="1430993"/>
            <a:ext cx="3096948" cy="2498070"/>
          </a:xfrm>
          <a:prstGeom prst="roundRect">
            <a:avLst/>
          </a:prstGeom>
          <a:solidFill>
            <a:srgbClr val="FFC000">
              <a:alpha val="25000"/>
            </a:srgbClr>
          </a:solidFill>
          <a:ln>
            <a:solidFill>
              <a:srgbClr val="FFC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362" name="Title 1"/>
          <p:cNvSpPr>
            <a:spLocks noGrp="1"/>
          </p:cNvSpPr>
          <p:nvPr>
            <p:ph type="title"/>
          </p:nvPr>
        </p:nvSpPr>
        <p:spPr>
          <a:xfrm>
            <a:off x="457200" y="274638"/>
            <a:ext cx="8229600" cy="969130"/>
          </a:xfrm>
        </p:spPr>
        <p:txBody>
          <a:bodyPr/>
          <a:lstStyle/>
          <a:p>
            <a:r>
              <a:rPr lang="en-US" sz="4000" dirty="0"/>
              <a:t>Terminology</a:t>
            </a:r>
          </a:p>
        </p:txBody>
      </p:sp>
      <p:sp>
        <p:nvSpPr>
          <p:cNvPr id="15363" name="Content Placeholder 2"/>
          <p:cNvSpPr>
            <a:spLocks noGrp="1"/>
          </p:cNvSpPr>
          <p:nvPr>
            <p:ph idx="1"/>
          </p:nvPr>
        </p:nvSpPr>
        <p:spPr>
          <a:xfrm>
            <a:off x="457200" y="4093842"/>
            <a:ext cx="8329613" cy="2197100"/>
          </a:xfrm>
        </p:spPr>
        <p:txBody>
          <a:bodyPr/>
          <a:lstStyle/>
          <a:p>
            <a:r>
              <a:rPr lang="en-US" sz="2800" i="1"/>
              <a:t>caller, callee, actual parameters,  formal parameters</a:t>
            </a:r>
          </a:p>
          <a:p>
            <a:r>
              <a:rPr lang="en-US" sz="2800" i="1"/>
              <a:t>parameter coupling, shared variable coupling, external device coupling</a:t>
            </a:r>
          </a:p>
          <a:p>
            <a:r>
              <a:rPr lang="en-US" sz="2800"/>
              <a:t>More general concept: </a:t>
            </a:r>
            <a:r>
              <a:rPr lang="en-US" sz="2800" i="1"/>
              <a:t>coupling variable  </a:t>
            </a:r>
            <a:r>
              <a:rPr lang="en-US" sz="2800">
                <a:sym typeface="Wingdings" pitchFamily="2" charset="2"/>
              </a:rPr>
              <a:t> </a:t>
            </a:r>
            <a:r>
              <a:rPr lang="en-US" sz="2800"/>
              <a:t>a ‘variable’ defined in one ‘unit’, and used in the other. </a:t>
            </a:r>
          </a:p>
        </p:txBody>
      </p:sp>
      <p:sp>
        <p:nvSpPr>
          <p:cNvPr id="4" name="Slide Number Placeholder 3"/>
          <p:cNvSpPr>
            <a:spLocks noGrp="1"/>
          </p:cNvSpPr>
          <p:nvPr>
            <p:ph type="sldNum" sz="quarter" idx="12"/>
          </p:nvPr>
        </p:nvSpPr>
        <p:spPr/>
        <p:txBody>
          <a:bodyPr/>
          <a:lstStyle/>
          <a:p>
            <a:pPr>
              <a:defRPr/>
            </a:pPr>
            <a:fld id="{7AF318FA-0FEF-45DF-8BBE-F59B9E989AE5}" type="slidenum">
              <a:rPr lang="en-US" smtClean="0"/>
              <a:pPr>
                <a:defRPr/>
              </a:pPr>
              <a:t>15</a:t>
            </a:fld>
            <a:endParaRPr lang="en-US" dirty="0"/>
          </a:p>
        </p:txBody>
      </p:sp>
      <p:sp>
        <p:nvSpPr>
          <p:cNvPr id="27" name="TextBox 26">
            <a:extLst>
              <a:ext uri="{FF2B5EF4-FFF2-40B4-BE49-F238E27FC236}">
                <a16:creationId xmlns:a16="http://schemas.microsoft.com/office/drawing/2014/main" id="{6F0A2A4E-75B7-EA45-96B7-E62CC959A7A4}"/>
              </a:ext>
            </a:extLst>
          </p:cNvPr>
          <p:cNvSpPr txBox="1"/>
          <p:nvPr/>
        </p:nvSpPr>
        <p:spPr>
          <a:xfrm>
            <a:off x="827584" y="1860798"/>
            <a:ext cx="1684337" cy="369887"/>
          </a:xfrm>
          <a:prstGeom prst="rect">
            <a:avLst/>
          </a:prstGeom>
          <a:solidFill>
            <a:schemeClr val="accent1">
              <a:lumMod val="40000"/>
              <a:lumOff val="60000"/>
            </a:schemeClr>
          </a:solidFill>
        </p:spPr>
        <p:style>
          <a:lnRef idx="2">
            <a:schemeClr val="dk1"/>
          </a:lnRef>
          <a:fillRef idx="1">
            <a:schemeClr val="lt1"/>
          </a:fillRef>
          <a:effectRef idx="0">
            <a:schemeClr val="dk1"/>
          </a:effectRef>
          <a:fontRef idx="minor">
            <a:schemeClr val="dk1"/>
          </a:fontRef>
        </p:style>
        <p:txBody>
          <a:bodyPr wrap="none">
            <a:spAutoFit/>
          </a:bodyPr>
          <a:lstStyle/>
          <a:p>
            <a:pPr>
              <a:defRPr/>
            </a:pPr>
            <a:r>
              <a:rPr lang="en-US" dirty="0"/>
              <a:t>(1) a = ...  ;b = ...</a:t>
            </a:r>
          </a:p>
        </p:txBody>
      </p:sp>
      <p:sp>
        <p:nvSpPr>
          <p:cNvPr id="29" name="TextBox 28">
            <a:extLst>
              <a:ext uri="{FF2B5EF4-FFF2-40B4-BE49-F238E27FC236}">
                <a16:creationId xmlns:a16="http://schemas.microsoft.com/office/drawing/2014/main" id="{D4D3A750-78D7-EB4D-A8A7-581817FADAE7}"/>
              </a:ext>
            </a:extLst>
          </p:cNvPr>
          <p:cNvSpPr txBox="1"/>
          <p:nvPr/>
        </p:nvSpPr>
        <p:spPr>
          <a:xfrm>
            <a:off x="2346582" y="2428875"/>
            <a:ext cx="1054100" cy="369888"/>
          </a:xfrm>
          <a:prstGeom prst="rect">
            <a:avLst/>
          </a:prstGeom>
          <a:solidFill>
            <a:schemeClr val="accent1">
              <a:lumMod val="40000"/>
              <a:lumOff val="60000"/>
            </a:schemeClr>
          </a:solidFill>
        </p:spPr>
        <p:style>
          <a:lnRef idx="2">
            <a:schemeClr val="dk1"/>
          </a:lnRef>
          <a:fillRef idx="1">
            <a:schemeClr val="lt1"/>
          </a:fillRef>
          <a:effectRef idx="0">
            <a:schemeClr val="dk1"/>
          </a:effectRef>
          <a:fontRef idx="minor">
            <a:schemeClr val="dk1"/>
          </a:fontRef>
        </p:style>
        <p:txBody>
          <a:bodyPr wrap="none">
            <a:spAutoFit/>
          </a:bodyPr>
          <a:lstStyle/>
          <a:p>
            <a:pPr>
              <a:defRPr/>
            </a:pPr>
            <a:r>
              <a:rPr lang="en-US" dirty="0"/>
              <a:t>(3)  a = ...</a:t>
            </a:r>
          </a:p>
        </p:txBody>
      </p:sp>
      <p:sp>
        <p:nvSpPr>
          <p:cNvPr id="31" name="TextBox 30">
            <a:extLst>
              <a:ext uri="{FF2B5EF4-FFF2-40B4-BE49-F238E27FC236}">
                <a16:creationId xmlns:a16="http://schemas.microsoft.com/office/drawing/2014/main" id="{E8AB34AD-68A4-CA41-8A7D-AD0AC98CA3A2}"/>
              </a:ext>
            </a:extLst>
          </p:cNvPr>
          <p:cNvSpPr txBox="1"/>
          <p:nvPr/>
        </p:nvSpPr>
        <p:spPr>
          <a:xfrm>
            <a:off x="1226046" y="2432298"/>
            <a:ext cx="896938" cy="369887"/>
          </a:xfrm>
          <a:prstGeom prst="rect">
            <a:avLst/>
          </a:prstGeom>
          <a:solidFill>
            <a:schemeClr val="accent1">
              <a:lumMod val="40000"/>
              <a:lumOff val="60000"/>
            </a:schemeClr>
          </a:solidFill>
        </p:spPr>
        <p:style>
          <a:lnRef idx="2">
            <a:schemeClr val="dk1"/>
          </a:lnRef>
          <a:fillRef idx="1">
            <a:schemeClr val="lt1"/>
          </a:fillRef>
          <a:effectRef idx="0">
            <a:schemeClr val="dk1"/>
          </a:effectRef>
          <a:fontRef idx="minor">
            <a:schemeClr val="dk1"/>
          </a:fontRef>
        </p:style>
        <p:txBody>
          <a:bodyPr wrap="none">
            <a:spAutoFit/>
          </a:bodyPr>
          <a:lstStyle/>
          <a:p>
            <a:pPr>
              <a:defRPr/>
            </a:pPr>
            <a:r>
              <a:rPr lang="en-US" dirty="0"/>
              <a:t>(2)  a&gt;b</a:t>
            </a:r>
          </a:p>
        </p:txBody>
      </p:sp>
      <p:sp>
        <p:nvSpPr>
          <p:cNvPr id="33" name="TextBox 32">
            <a:extLst>
              <a:ext uri="{FF2B5EF4-FFF2-40B4-BE49-F238E27FC236}">
                <a16:creationId xmlns:a16="http://schemas.microsoft.com/office/drawing/2014/main" id="{25B9FFA2-B37E-F842-BCA4-1E2A02D38277}"/>
              </a:ext>
            </a:extLst>
          </p:cNvPr>
          <p:cNvSpPr txBox="1"/>
          <p:nvPr/>
        </p:nvSpPr>
        <p:spPr>
          <a:xfrm>
            <a:off x="979506" y="3211540"/>
            <a:ext cx="1378904" cy="369332"/>
          </a:xfrm>
          <a:prstGeom prst="rect">
            <a:avLst/>
          </a:prstGeom>
          <a:solidFill>
            <a:schemeClr val="accent1">
              <a:lumMod val="40000"/>
              <a:lumOff val="60000"/>
            </a:schemeClr>
          </a:solidFill>
        </p:spPr>
        <p:style>
          <a:lnRef idx="2">
            <a:schemeClr val="dk1"/>
          </a:lnRef>
          <a:fillRef idx="1">
            <a:schemeClr val="lt1"/>
          </a:fillRef>
          <a:effectRef idx="0">
            <a:schemeClr val="dk1"/>
          </a:effectRef>
          <a:fontRef idx="minor">
            <a:schemeClr val="dk1"/>
          </a:fontRef>
        </p:style>
        <p:txBody>
          <a:bodyPr wrap="none">
            <a:spAutoFit/>
          </a:bodyPr>
          <a:lstStyle/>
          <a:p>
            <a:pPr>
              <a:defRPr/>
            </a:pPr>
            <a:r>
              <a:rPr lang="en-US" dirty="0"/>
              <a:t>(4) b = g(</a:t>
            </a:r>
            <a:r>
              <a:rPr lang="en-US" dirty="0" err="1"/>
              <a:t>a,b</a:t>
            </a:r>
            <a:r>
              <a:rPr lang="en-US" dirty="0"/>
              <a:t>)</a:t>
            </a:r>
          </a:p>
        </p:txBody>
      </p:sp>
      <p:sp>
        <p:nvSpPr>
          <p:cNvPr id="35" name="TextBox 34">
            <a:extLst>
              <a:ext uri="{FF2B5EF4-FFF2-40B4-BE49-F238E27FC236}">
                <a16:creationId xmlns:a16="http://schemas.microsoft.com/office/drawing/2014/main" id="{3BBBBCEC-0A31-1441-9598-C9468EE78D76}"/>
              </a:ext>
            </a:extLst>
          </p:cNvPr>
          <p:cNvSpPr txBox="1"/>
          <p:nvPr/>
        </p:nvSpPr>
        <p:spPr>
          <a:xfrm>
            <a:off x="4940796" y="1717923"/>
            <a:ext cx="1007007" cy="369332"/>
          </a:xfrm>
          <a:prstGeom prst="rect">
            <a:avLst/>
          </a:prstGeom>
          <a:solidFill>
            <a:schemeClr val="accent5">
              <a:lumMod val="20000"/>
              <a:lumOff val="80000"/>
            </a:schemeClr>
          </a:solidFill>
        </p:spPr>
        <p:style>
          <a:lnRef idx="2">
            <a:schemeClr val="dk1"/>
          </a:lnRef>
          <a:fillRef idx="1">
            <a:schemeClr val="lt1"/>
          </a:fillRef>
          <a:effectRef idx="0">
            <a:schemeClr val="dk1"/>
          </a:effectRef>
          <a:fontRef idx="minor">
            <a:schemeClr val="dk1"/>
          </a:fontRef>
        </p:style>
        <p:txBody>
          <a:bodyPr wrap="none">
            <a:spAutoFit/>
          </a:bodyPr>
          <a:lstStyle/>
          <a:p>
            <a:pPr>
              <a:defRPr/>
            </a:pPr>
            <a:r>
              <a:rPr lang="en-US" dirty="0"/>
              <a:t>(1) g(</a:t>
            </a:r>
            <a:r>
              <a:rPr lang="en-US" dirty="0" err="1"/>
              <a:t>x,y</a:t>
            </a:r>
            <a:r>
              <a:rPr lang="en-US" dirty="0"/>
              <a:t>)</a:t>
            </a:r>
          </a:p>
        </p:txBody>
      </p:sp>
      <p:sp>
        <p:nvSpPr>
          <p:cNvPr id="37" name="TextBox 36">
            <a:extLst>
              <a:ext uri="{FF2B5EF4-FFF2-40B4-BE49-F238E27FC236}">
                <a16:creationId xmlns:a16="http://schemas.microsoft.com/office/drawing/2014/main" id="{23E2FE42-49EA-0645-921E-BA4A3DB6F9FF}"/>
              </a:ext>
            </a:extLst>
          </p:cNvPr>
          <p:cNvSpPr txBox="1"/>
          <p:nvPr/>
        </p:nvSpPr>
        <p:spPr>
          <a:xfrm>
            <a:off x="4979267" y="2289423"/>
            <a:ext cx="930063" cy="369332"/>
          </a:xfrm>
          <a:prstGeom prst="rect">
            <a:avLst/>
          </a:prstGeom>
          <a:solidFill>
            <a:schemeClr val="accent5">
              <a:lumMod val="20000"/>
              <a:lumOff val="80000"/>
            </a:schemeClr>
          </a:solidFill>
        </p:spPr>
        <p:style>
          <a:lnRef idx="2">
            <a:schemeClr val="dk1"/>
          </a:lnRef>
          <a:fillRef idx="1">
            <a:schemeClr val="lt1"/>
          </a:fillRef>
          <a:effectRef idx="0">
            <a:schemeClr val="dk1"/>
          </a:effectRef>
          <a:fontRef idx="minor">
            <a:schemeClr val="dk1"/>
          </a:fontRef>
        </p:style>
        <p:txBody>
          <a:bodyPr wrap="none">
            <a:spAutoFit/>
          </a:bodyPr>
          <a:lstStyle/>
          <a:p>
            <a:pPr>
              <a:defRPr/>
            </a:pPr>
            <a:r>
              <a:rPr lang="en-US" dirty="0"/>
              <a:t>(2) x&lt;=y</a:t>
            </a:r>
          </a:p>
        </p:txBody>
      </p:sp>
      <p:sp>
        <p:nvSpPr>
          <p:cNvPr id="38" name="TextBox 37">
            <a:extLst>
              <a:ext uri="{FF2B5EF4-FFF2-40B4-BE49-F238E27FC236}">
                <a16:creationId xmlns:a16="http://schemas.microsoft.com/office/drawing/2014/main" id="{AC67A60C-0B1A-4D4D-956C-4F5C46538F15}"/>
              </a:ext>
            </a:extLst>
          </p:cNvPr>
          <p:cNvSpPr txBox="1"/>
          <p:nvPr/>
        </p:nvSpPr>
        <p:spPr>
          <a:xfrm>
            <a:off x="4979267" y="2871153"/>
            <a:ext cx="930063" cy="369332"/>
          </a:xfrm>
          <a:prstGeom prst="rect">
            <a:avLst/>
          </a:prstGeom>
          <a:solidFill>
            <a:schemeClr val="accent5">
              <a:lumMod val="20000"/>
              <a:lumOff val="80000"/>
            </a:schemeClr>
          </a:solidFill>
        </p:spPr>
        <p:style>
          <a:lnRef idx="2">
            <a:schemeClr val="dk1"/>
          </a:lnRef>
          <a:fillRef idx="1">
            <a:schemeClr val="lt1"/>
          </a:fillRef>
          <a:effectRef idx="0">
            <a:schemeClr val="dk1"/>
          </a:effectRef>
          <a:fontRef idx="minor">
            <a:schemeClr val="dk1"/>
          </a:fontRef>
        </p:style>
        <p:txBody>
          <a:bodyPr wrap="none">
            <a:spAutoFit/>
          </a:bodyPr>
          <a:lstStyle/>
          <a:p>
            <a:pPr>
              <a:defRPr/>
            </a:pPr>
            <a:r>
              <a:rPr lang="en-US" dirty="0"/>
              <a:t>(3) x==y</a:t>
            </a:r>
          </a:p>
        </p:txBody>
      </p:sp>
      <p:sp>
        <p:nvSpPr>
          <p:cNvPr id="42" name="TextBox 41">
            <a:extLst>
              <a:ext uri="{FF2B5EF4-FFF2-40B4-BE49-F238E27FC236}">
                <a16:creationId xmlns:a16="http://schemas.microsoft.com/office/drawing/2014/main" id="{D808314B-5E01-4545-8A7F-87408D7CA6CB}"/>
              </a:ext>
            </a:extLst>
          </p:cNvPr>
          <p:cNvSpPr txBox="1"/>
          <p:nvPr/>
        </p:nvSpPr>
        <p:spPr>
          <a:xfrm>
            <a:off x="6412409" y="2289423"/>
            <a:ext cx="1314450" cy="369887"/>
          </a:xfrm>
          <a:prstGeom prst="rect">
            <a:avLst/>
          </a:prstGeom>
          <a:solidFill>
            <a:schemeClr val="accent5">
              <a:lumMod val="20000"/>
              <a:lumOff val="80000"/>
            </a:schemeClr>
          </a:solidFill>
        </p:spPr>
        <p:style>
          <a:lnRef idx="2">
            <a:schemeClr val="dk1"/>
          </a:lnRef>
          <a:fillRef idx="1">
            <a:schemeClr val="lt1"/>
          </a:fillRef>
          <a:effectRef idx="0">
            <a:schemeClr val="dk1"/>
          </a:effectRef>
          <a:fontRef idx="minor">
            <a:schemeClr val="dk1"/>
          </a:fontRef>
        </p:style>
        <p:txBody>
          <a:bodyPr wrap="none">
            <a:spAutoFit/>
          </a:bodyPr>
          <a:lstStyle/>
          <a:p>
            <a:pPr>
              <a:defRPr/>
            </a:pPr>
            <a:r>
              <a:rPr lang="en-US" dirty="0"/>
              <a:t>(4) return ...</a:t>
            </a:r>
          </a:p>
        </p:txBody>
      </p:sp>
      <p:sp>
        <p:nvSpPr>
          <p:cNvPr id="43" name="TextBox 42">
            <a:extLst>
              <a:ext uri="{FF2B5EF4-FFF2-40B4-BE49-F238E27FC236}">
                <a16:creationId xmlns:a16="http://schemas.microsoft.com/office/drawing/2014/main" id="{B2550A17-D992-2649-8D60-0213AD5E9B41}"/>
              </a:ext>
            </a:extLst>
          </p:cNvPr>
          <p:cNvSpPr txBox="1"/>
          <p:nvPr/>
        </p:nvSpPr>
        <p:spPr>
          <a:xfrm>
            <a:off x="6769598" y="3396411"/>
            <a:ext cx="1314450" cy="369888"/>
          </a:xfrm>
          <a:prstGeom prst="rect">
            <a:avLst/>
          </a:prstGeom>
          <a:solidFill>
            <a:schemeClr val="accent5">
              <a:lumMod val="20000"/>
              <a:lumOff val="80000"/>
            </a:schemeClr>
          </a:solidFill>
        </p:spPr>
        <p:style>
          <a:lnRef idx="2">
            <a:schemeClr val="dk1"/>
          </a:lnRef>
          <a:fillRef idx="1">
            <a:schemeClr val="lt1"/>
          </a:fillRef>
          <a:effectRef idx="0">
            <a:schemeClr val="dk1"/>
          </a:effectRef>
          <a:fontRef idx="minor">
            <a:schemeClr val="dk1"/>
          </a:fontRef>
        </p:style>
        <p:txBody>
          <a:bodyPr wrap="none">
            <a:spAutoFit/>
          </a:bodyPr>
          <a:lstStyle/>
          <a:p>
            <a:pPr>
              <a:defRPr/>
            </a:pPr>
            <a:r>
              <a:rPr lang="en-US" dirty="0"/>
              <a:t>(5) return ...</a:t>
            </a:r>
          </a:p>
        </p:txBody>
      </p:sp>
      <p:cxnSp>
        <p:nvCxnSpPr>
          <p:cNvPr id="44" name="Straight Arrow Connector 43">
            <a:extLst>
              <a:ext uri="{FF2B5EF4-FFF2-40B4-BE49-F238E27FC236}">
                <a16:creationId xmlns:a16="http://schemas.microsoft.com/office/drawing/2014/main" id="{698DBB4F-92CB-5243-816B-E699BAE0B039}"/>
              </a:ext>
            </a:extLst>
          </p:cNvPr>
          <p:cNvCxnSpPr>
            <a:stCxn id="27" idx="2"/>
            <a:endCxn id="31" idx="0"/>
          </p:cNvCxnSpPr>
          <p:nvPr/>
        </p:nvCxnSpPr>
        <p:spPr>
          <a:xfrm rot="16200000" flipH="1">
            <a:off x="1570533" y="2329111"/>
            <a:ext cx="201613" cy="4762"/>
          </a:xfrm>
          <a:prstGeom prst="straightConnector1">
            <a:avLst/>
          </a:prstGeom>
          <a:ln>
            <a:tailEnd type="arrow"/>
          </a:ln>
        </p:spPr>
        <p:style>
          <a:lnRef idx="1">
            <a:schemeClr val="accent1"/>
          </a:lnRef>
          <a:fillRef idx="0">
            <a:schemeClr val="accent1"/>
          </a:fillRef>
          <a:effectRef idx="0">
            <a:schemeClr val="accent1"/>
          </a:effectRef>
          <a:fontRef idx="minor">
            <a:schemeClr val="tx1"/>
          </a:fontRef>
        </p:style>
      </p:cxnSp>
      <p:cxnSp>
        <p:nvCxnSpPr>
          <p:cNvPr id="46" name="Straight Arrow Connector 45">
            <a:extLst>
              <a:ext uri="{FF2B5EF4-FFF2-40B4-BE49-F238E27FC236}">
                <a16:creationId xmlns:a16="http://schemas.microsoft.com/office/drawing/2014/main" id="{0AA2DC1B-F6C2-A94C-BA69-B5B17A97D2CF}"/>
              </a:ext>
            </a:extLst>
          </p:cNvPr>
          <p:cNvCxnSpPr>
            <a:stCxn id="31" idx="3"/>
            <a:endCxn id="29" idx="1"/>
          </p:cNvCxnSpPr>
          <p:nvPr/>
        </p:nvCxnSpPr>
        <p:spPr>
          <a:xfrm flipV="1">
            <a:off x="2122984" y="2613819"/>
            <a:ext cx="223598" cy="3423"/>
          </a:xfrm>
          <a:prstGeom prst="straightConnector1">
            <a:avLst/>
          </a:prstGeom>
          <a:ln>
            <a:tailEnd type="arrow"/>
          </a:ln>
        </p:spPr>
        <p:style>
          <a:lnRef idx="1">
            <a:schemeClr val="accent1"/>
          </a:lnRef>
          <a:fillRef idx="0">
            <a:schemeClr val="accent1"/>
          </a:fillRef>
          <a:effectRef idx="0">
            <a:schemeClr val="accent1"/>
          </a:effectRef>
          <a:fontRef idx="minor">
            <a:schemeClr val="tx1"/>
          </a:fontRef>
        </p:style>
      </p:cxnSp>
      <p:cxnSp>
        <p:nvCxnSpPr>
          <p:cNvPr id="48" name="Straight Arrow Connector 47">
            <a:extLst>
              <a:ext uri="{FF2B5EF4-FFF2-40B4-BE49-F238E27FC236}">
                <a16:creationId xmlns:a16="http://schemas.microsoft.com/office/drawing/2014/main" id="{EC6EB162-6289-D240-9D9E-30CE267C6DAE}"/>
              </a:ext>
            </a:extLst>
          </p:cNvPr>
          <p:cNvCxnSpPr>
            <a:stCxn id="31" idx="2"/>
            <a:endCxn id="33" idx="0"/>
          </p:cNvCxnSpPr>
          <p:nvPr/>
        </p:nvCxnSpPr>
        <p:spPr>
          <a:xfrm flipH="1">
            <a:off x="1668958" y="2802185"/>
            <a:ext cx="5557" cy="409355"/>
          </a:xfrm>
          <a:prstGeom prst="straightConnector1">
            <a:avLst/>
          </a:prstGeom>
          <a:ln>
            <a:tailEnd type="arrow"/>
          </a:ln>
        </p:spPr>
        <p:style>
          <a:lnRef idx="1">
            <a:schemeClr val="accent1"/>
          </a:lnRef>
          <a:fillRef idx="0">
            <a:schemeClr val="accent1"/>
          </a:fillRef>
          <a:effectRef idx="0">
            <a:schemeClr val="accent1"/>
          </a:effectRef>
          <a:fontRef idx="minor">
            <a:schemeClr val="tx1"/>
          </a:fontRef>
        </p:style>
      </p:cxnSp>
      <p:cxnSp>
        <p:nvCxnSpPr>
          <p:cNvPr id="50" name="Straight Arrow Connector 49">
            <a:extLst>
              <a:ext uri="{FF2B5EF4-FFF2-40B4-BE49-F238E27FC236}">
                <a16:creationId xmlns:a16="http://schemas.microsoft.com/office/drawing/2014/main" id="{BF2EED33-2B33-5F49-8EE8-36AFDC012332}"/>
              </a:ext>
            </a:extLst>
          </p:cNvPr>
          <p:cNvCxnSpPr>
            <a:stCxn id="29" idx="2"/>
            <a:endCxn id="33" idx="3"/>
          </p:cNvCxnSpPr>
          <p:nvPr/>
        </p:nvCxnSpPr>
        <p:spPr>
          <a:xfrm flipH="1">
            <a:off x="2358410" y="2798763"/>
            <a:ext cx="515222" cy="597443"/>
          </a:xfrm>
          <a:prstGeom prst="straightConnector1">
            <a:avLst/>
          </a:prstGeom>
          <a:ln>
            <a:tailEnd type="arrow"/>
          </a:ln>
        </p:spPr>
        <p:style>
          <a:lnRef idx="1">
            <a:schemeClr val="accent1"/>
          </a:lnRef>
          <a:fillRef idx="0">
            <a:schemeClr val="accent1"/>
          </a:fillRef>
          <a:effectRef idx="0">
            <a:schemeClr val="accent1"/>
          </a:effectRef>
          <a:fontRef idx="minor">
            <a:schemeClr val="tx1"/>
          </a:fontRef>
        </p:style>
      </p:cxnSp>
      <p:cxnSp>
        <p:nvCxnSpPr>
          <p:cNvPr id="51" name="Straight Arrow Connector 50">
            <a:extLst>
              <a:ext uri="{FF2B5EF4-FFF2-40B4-BE49-F238E27FC236}">
                <a16:creationId xmlns:a16="http://schemas.microsoft.com/office/drawing/2014/main" id="{96CA8CB9-CDCE-5448-85C9-0B9643F8302D}"/>
              </a:ext>
            </a:extLst>
          </p:cNvPr>
          <p:cNvCxnSpPr>
            <a:stCxn id="35" idx="2"/>
            <a:endCxn id="37" idx="0"/>
          </p:cNvCxnSpPr>
          <p:nvPr/>
        </p:nvCxnSpPr>
        <p:spPr>
          <a:xfrm flipH="1">
            <a:off x="5444299" y="2087255"/>
            <a:ext cx="1" cy="202168"/>
          </a:xfrm>
          <a:prstGeom prst="straightConnector1">
            <a:avLst/>
          </a:prstGeom>
          <a:ln>
            <a:tailEnd type="arrow"/>
          </a:ln>
        </p:spPr>
        <p:style>
          <a:lnRef idx="1">
            <a:schemeClr val="accent1"/>
          </a:lnRef>
          <a:fillRef idx="0">
            <a:schemeClr val="accent1"/>
          </a:fillRef>
          <a:effectRef idx="0">
            <a:schemeClr val="accent1"/>
          </a:effectRef>
          <a:fontRef idx="minor">
            <a:schemeClr val="tx1"/>
          </a:fontRef>
        </p:style>
      </p:cxnSp>
      <p:cxnSp>
        <p:nvCxnSpPr>
          <p:cNvPr id="52" name="Straight Arrow Connector 51">
            <a:extLst>
              <a:ext uri="{FF2B5EF4-FFF2-40B4-BE49-F238E27FC236}">
                <a16:creationId xmlns:a16="http://schemas.microsoft.com/office/drawing/2014/main" id="{9EF4127D-F159-B548-A6E3-FAF84AB17BC8}"/>
              </a:ext>
            </a:extLst>
          </p:cNvPr>
          <p:cNvCxnSpPr>
            <a:stCxn id="37" idx="2"/>
            <a:endCxn id="38" idx="0"/>
          </p:cNvCxnSpPr>
          <p:nvPr/>
        </p:nvCxnSpPr>
        <p:spPr>
          <a:xfrm>
            <a:off x="5444299" y="2658755"/>
            <a:ext cx="0" cy="212398"/>
          </a:xfrm>
          <a:prstGeom prst="straightConnector1">
            <a:avLst/>
          </a:prstGeom>
          <a:ln>
            <a:tailEnd type="arrow"/>
          </a:ln>
        </p:spPr>
        <p:style>
          <a:lnRef idx="1">
            <a:schemeClr val="accent1"/>
          </a:lnRef>
          <a:fillRef idx="0">
            <a:schemeClr val="accent1"/>
          </a:fillRef>
          <a:effectRef idx="0">
            <a:schemeClr val="accent1"/>
          </a:effectRef>
          <a:fontRef idx="minor">
            <a:schemeClr val="tx1"/>
          </a:fontRef>
        </p:style>
      </p:cxnSp>
      <p:cxnSp>
        <p:nvCxnSpPr>
          <p:cNvPr id="53" name="Straight Arrow Connector 52">
            <a:extLst>
              <a:ext uri="{FF2B5EF4-FFF2-40B4-BE49-F238E27FC236}">
                <a16:creationId xmlns:a16="http://schemas.microsoft.com/office/drawing/2014/main" id="{CCEB7F0D-2AAA-3749-B80B-8D44395B6A1A}"/>
              </a:ext>
            </a:extLst>
          </p:cNvPr>
          <p:cNvCxnSpPr>
            <a:stCxn id="37" idx="3"/>
            <a:endCxn id="42" idx="1"/>
          </p:cNvCxnSpPr>
          <p:nvPr/>
        </p:nvCxnSpPr>
        <p:spPr>
          <a:xfrm>
            <a:off x="5909330" y="2474089"/>
            <a:ext cx="503079" cy="278"/>
          </a:xfrm>
          <a:prstGeom prst="straightConnector1">
            <a:avLst/>
          </a:prstGeom>
          <a:ln>
            <a:tailEnd type="arrow"/>
          </a:ln>
        </p:spPr>
        <p:style>
          <a:lnRef idx="1">
            <a:schemeClr val="accent1"/>
          </a:lnRef>
          <a:fillRef idx="0">
            <a:schemeClr val="accent1"/>
          </a:fillRef>
          <a:effectRef idx="0">
            <a:schemeClr val="accent1"/>
          </a:effectRef>
          <a:fontRef idx="minor">
            <a:schemeClr val="tx1"/>
          </a:fontRef>
        </p:style>
      </p:cxnSp>
      <p:sp>
        <p:nvSpPr>
          <p:cNvPr id="54" name="Rounded Rectangle 53">
            <a:extLst>
              <a:ext uri="{FF2B5EF4-FFF2-40B4-BE49-F238E27FC236}">
                <a16:creationId xmlns:a16="http://schemas.microsoft.com/office/drawing/2014/main" id="{EAAADF15-2108-BA47-A9A3-F7ECA3982338}"/>
              </a:ext>
            </a:extLst>
          </p:cNvPr>
          <p:cNvSpPr/>
          <p:nvPr/>
        </p:nvSpPr>
        <p:spPr>
          <a:xfrm>
            <a:off x="4154984" y="3289548"/>
            <a:ext cx="2428875" cy="571500"/>
          </a:xfrm>
          <a:prstGeom prst="roundRect">
            <a:avLst/>
          </a:prstGeom>
          <a:solidFill>
            <a:schemeClr val="bg2">
              <a:lumMod val="50000"/>
            </a:schemeClr>
          </a:solidFill>
          <a:ln w="38100">
            <a:solidFill>
              <a:schemeClr val="tx1"/>
            </a:solidFill>
            <a:prstDash val="dash"/>
          </a:ln>
        </p:spPr>
        <p:style>
          <a:lnRef idx="2">
            <a:schemeClr val="dk1"/>
          </a:lnRef>
          <a:fillRef idx="1">
            <a:schemeClr val="lt1"/>
          </a:fillRef>
          <a:effectRef idx="0">
            <a:schemeClr val="dk1"/>
          </a:effectRef>
          <a:fontRef idx="minor">
            <a:schemeClr val="dk1"/>
          </a:fontRef>
        </p:style>
        <p:txBody>
          <a:bodyPr anchor="ctr"/>
          <a:lstStyle/>
          <a:p>
            <a:pPr algn="ctr">
              <a:defRPr/>
            </a:pPr>
            <a:endParaRPr lang="en-US"/>
          </a:p>
        </p:txBody>
      </p:sp>
      <p:cxnSp>
        <p:nvCxnSpPr>
          <p:cNvPr id="55" name="Straight Arrow Connector 54">
            <a:extLst>
              <a:ext uri="{FF2B5EF4-FFF2-40B4-BE49-F238E27FC236}">
                <a16:creationId xmlns:a16="http://schemas.microsoft.com/office/drawing/2014/main" id="{1BD78273-7ED1-8F42-A071-1E6894108802}"/>
              </a:ext>
            </a:extLst>
          </p:cNvPr>
          <p:cNvCxnSpPr>
            <a:stCxn id="54" idx="3"/>
            <a:endCxn id="43" idx="1"/>
          </p:cNvCxnSpPr>
          <p:nvPr/>
        </p:nvCxnSpPr>
        <p:spPr>
          <a:xfrm>
            <a:off x="6583859" y="3575298"/>
            <a:ext cx="185739" cy="6057"/>
          </a:xfrm>
          <a:prstGeom prst="straightConnector1">
            <a:avLst/>
          </a:prstGeom>
          <a:ln>
            <a:tailEnd type="arrow"/>
          </a:ln>
        </p:spPr>
        <p:style>
          <a:lnRef idx="1">
            <a:schemeClr val="accent1"/>
          </a:lnRef>
          <a:fillRef idx="0">
            <a:schemeClr val="accent1"/>
          </a:fillRef>
          <a:effectRef idx="0">
            <a:schemeClr val="accent1"/>
          </a:effectRef>
          <a:fontRef idx="minor">
            <a:schemeClr val="tx1"/>
          </a:fontRef>
        </p:style>
      </p:cxnSp>
      <p:cxnSp>
        <p:nvCxnSpPr>
          <p:cNvPr id="56" name="Straight Arrow Connector 55">
            <a:extLst>
              <a:ext uri="{FF2B5EF4-FFF2-40B4-BE49-F238E27FC236}">
                <a16:creationId xmlns:a16="http://schemas.microsoft.com/office/drawing/2014/main" id="{FB71AC18-74DC-FB40-BD3C-28B1043E855A}"/>
              </a:ext>
            </a:extLst>
          </p:cNvPr>
          <p:cNvCxnSpPr>
            <a:cxnSpLocks/>
            <a:stCxn id="38" idx="2"/>
          </p:cNvCxnSpPr>
          <p:nvPr/>
        </p:nvCxnSpPr>
        <p:spPr>
          <a:xfrm>
            <a:off x="5444299" y="3240485"/>
            <a:ext cx="0" cy="334813"/>
          </a:xfrm>
          <a:prstGeom prst="straightConnector1">
            <a:avLst/>
          </a:prstGeom>
          <a:ln>
            <a:tailEnd type="arrow"/>
          </a:ln>
        </p:spPr>
        <p:style>
          <a:lnRef idx="1">
            <a:schemeClr val="accent1"/>
          </a:lnRef>
          <a:fillRef idx="0">
            <a:schemeClr val="accent1"/>
          </a:fillRef>
          <a:effectRef idx="0">
            <a:schemeClr val="accent1"/>
          </a:effectRef>
          <a:fontRef idx="minor">
            <a:schemeClr val="tx1"/>
          </a:fontRef>
        </p:style>
      </p:cxnSp>
      <p:cxnSp>
        <p:nvCxnSpPr>
          <p:cNvPr id="57" name="Straight Arrow Connector 56">
            <a:extLst>
              <a:ext uri="{FF2B5EF4-FFF2-40B4-BE49-F238E27FC236}">
                <a16:creationId xmlns:a16="http://schemas.microsoft.com/office/drawing/2014/main" id="{A0B82CEA-AFF4-4244-895C-B898C8D5A532}"/>
              </a:ext>
            </a:extLst>
          </p:cNvPr>
          <p:cNvCxnSpPr>
            <a:cxnSpLocks/>
            <a:stCxn id="38" idx="3"/>
          </p:cNvCxnSpPr>
          <p:nvPr/>
        </p:nvCxnSpPr>
        <p:spPr>
          <a:xfrm>
            <a:off x="5909330" y="3055819"/>
            <a:ext cx="351289" cy="418117"/>
          </a:xfrm>
          <a:prstGeom prst="straightConnector1">
            <a:avLst/>
          </a:prstGeom>
          <a:ln>
            <a:tailEnd type="arrow"/>
          </a:ln>
        </p:spPr>
        <p:style>
          <a:lnRef idx="1">
            <a:schemeClr val="accent1"/>
          </a:lnRef>
          <a:fillRef idx="0">
            <a:schemeClr val="accent1"/>
          </a:fillRef>
          <a:effectRef idx="0">
            <a:schemeClr val="accent1"/>
          </a:effectRef>
          <a:fontRef idx="minor">
            <a:schemeClr val="tx1"/>
          </a:fontRef>
        </p:style>
      </p:cxnSp>
      <p:cxnSp>
        <p:nvCxnSpPr>
          <p:cNvPr id="58" name="Shape 57">
            <a:extLst>
              <a:ext uri="{FF2B5EF4-FFF2-40B4-BE49-F238E27FC236}">
                <a16:creationId xmlns:a16="http://schemas.microsoft.com/office/drawing/2014/main" id="{C82E1727-6C6D-A948-9F79-482D86F3F2BB}"/>
              </a:ext>
            </a:extLst>
          </p:cNvPr>
          <p:cNvCxnSpPr>
            <a:stCxn id="33" idx="2"/>
            <a:endCxn id="35" idx="1"/>
          </p:cNvCxnSpPr>
          <p:nvPr/>
        </p:nvCxnSpPr>
        <p:spPr>
          <a:xfrm rot="5400000" flipH="1" flipV="1">
            <a:off x="2465735" y="1105812"/>
            <a:ext cx="1678283" cy="3271838"/>
          </a:xfrm>
          <a:prstGeom prst="curvedConnector4">
            <a:avLst>
              <a:gd name="adj1" fmla="val -13621"/>
              <a:gd name="adj2" fmla="val 60536"/>
            </a:avLst>
          </a:prstGeom>
          <a:ln>
            <a:prstDash val="dash"/>
            <a:headEnd type="arrow" w="med" len="med"/>
            <a:tailEnd type="arrow" w="med" len="med"/>
          </a:ln>
        </p:spPr>
        <p:style>
          <a:lnRef idx="1">
            <a:schemeClr val="accent1"/>
          </a:lnRef>
          <a:fillRef idx="0">
            <a:schemeClr val="accent1"/>
          </a:fillRef>
          <a:effectRef idx="0">
            <a:schemeClr val="accent1"/>
          </a:effectRef>
          <a:fontRef idx="minor">
            <a:schemeClr val="tx1"/>
          </a:fontRef>
        </p:style>
      </p:cxnSp>
      <p:sp>
        <p:nvSpPr>
          <p:cNvPr id="3" name="TextBox 2">
            <a:extLst>
              <a:ext uri="{FF2B5EF4-FFF2-40B4-BE49-F238E27FC236}">
                <a16:creationId xmlns:a16="http://schemas.microsoft.com/office/drawing/2014/main" id="{A8F7B9E7-F5E5-DD4E-92E3-379C381045AB}"/>
              </a:ext>
            </a:extLst>
          </p:cNvPr>
          <p:cNvSpPr txBox="1"/>
          <p:nvPr/>
        </p:nvSpPr>
        <p:spPr>
          <a:xfrm>
            <a:off x="1574014" y="1419770"/>
            <a:ext cx="439544" cy="461665"/>
          </a:xfrm>
          <a:prstGeom prst="rect">
            <a:avLst/>
          </a:prstGeom>
          <a:noFill/>
        </p:spPr>
        <p:txBody>
          <a:bodyPr wrap="none" rtlCol="0">
            <a:spAutoFit/>
          </a:bodyPr>
          <a:lstStyle/>
          <a:p>
            <a:r>
              <a:rPr lang="en-US" sz="2400" dirty="0"/>
              <a:t>f  </a:t>
            </a:r>
          </a:p>
        </p:txBody>
      </p:sp>
      <p:sp>
        <p:nvSpPr>
          <p:cNvPr id="60" name="TextBox 59">
            <a:extLst>
              <a:ext uri="{FF2B5EF4-FFF2-40B4-BE49-F238E27FC236}">
                <a16:creationId xmlns:a16="http://schemas.microsoft.com/office/drawing/2014/main" id="{EBBF4BC0-590B-CC43-92C7-2494145D1CE2}"/>
              </a:ext>
            </a:extLst>
          </p:cNvPr>
          <p:cNvSpPr txBox="1"/>
          <p:nvPr/>
        </p:nvSpPr>
        <p:spPr>
          <a:xfrm>
            <a:off x="5266204" y="1261928"/>
            <a:ext cx="356188" cy="461665"/>
          </a:xfrm>
          <a:prstGeom prst="rect">
            <a:avLst/>
          </a:prstGeom>
          <a:noFill/>
        </p:spPr>
        <p:txBody>
          <a:bodyPr wrap="none" rtlCol="0">
            <a:spAutoFit/>
          </a:bodyPr>
          <a:lstStyle/>
          <a:p>
            <a:r>
              <a:rPr lang="en-US" sz="2400" dirty="0"/>
              <a:t>g</a:t>
            </a:r>
          </a:p>
        </p:txBody>
      </p:sp>
    </p:spTree>
    <p:extLst>
      <p:ext uri="{BB962C8B-B14F-4D97-AF65-F5344CB8AC3E}">
        <p14:creationId xmlns:p14="http://schemas.microsoft.com/office/powerpoint/2010/main" val="737221333"/>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1" name="Rounded Rectangle 30">
            <a:extLst>
              <a:ext uri="{FF2B5EF4-FFF2-40B4-BE49-F238E27FC236}">
                <a16:creationId xmlns:a16="http://schemas.microsoft.com/office/drawing/2014/main" id="{E828FB9B-00AE-B440-AF2A-65B4349D4987}"/>
              </a:ext>
            </a:extLst>
          </p:cNvPr>
          <p:cNvSpPr/>
          <p:nvPr/>
        </p:nvSpPr>
        <p:spPr>
          <a:xfrm>
            <a:off x="3969502" y="1419770"/>
            <a:ext cx="4274905" cy="2498070"/>
          </a:xfrm>
          <a:prstGeom prst="roundRect">
            <a:avLst/>
          </a:prstGeom>
          <a:solidFill>
            <a:schemeClr val="accent6">
              <a:lumMod val="40000"/>
              <a:lumOff val="60000"/>
              <a:alpha val="25000"/>
            </a:schemeClr>
          </a:solidFill>
          <a:ln>
            <a:solidFill>
              <a:schemeClr val="accent6">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9" name="Rounded Rectangle 28">
            <a:extLst>
              <a:ext uri="{FF2B5EF4-FFF2-40B4-BE49-F238E27FC236}">
                <a16:creationId xmlns:a16="http://schemas.microsoft.com/office/drawing/2014/main" id="{EE3B128C-CE79-2745-9509-4414C68E5109}"/>
              </a:ext>
            </a:extLst>
          </p:cNvPr>
          <p:cNvSpPr/>
          <p:nvPr/>
        </p:nvSpPr>
        <p:spPr>
          <a:xfrm>
            <a:off x="529398" y="1430993"/>
            <a:ext cx="3096948" cy="2498070"/>
          </a:xfrm>
          <a:prstGeom prst="roundRect">
            <a:avLst/>
          </a:prstGeom>
          <a:solidFill>
            <a:srgbClr val="FFC000">
              <a:alpha val="25000"/>
            </a:srgbClr>
          </a:solidFill>
          <a:ln>
            <a:solidFill>
              <a:srgbClr val="FFC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386" name="Title 1"/>
          <p:cNvSpPr>
            <a:spLocks noGrp="1"/>
          </p:cNvSpPr>
          <p:nvPr>
            <p:ph type="title"/>
          </p:nvPr>
        </p:nvSpPr>
        <p:spPr>
          <a:xfrm>
            <a:off x="457200" y="274638"/>
            <a:ext cx="8229600" cy="875864"/>
          </a:xfrm>
        </p:spPr>
        <p:txBody>
          <a:bodyPr/>
          <a:lstStyle/>
          <a:p>
            <a:r>
              <a:rPr lang="en-US" sz="4000"/>
              <a:t>Coupling du-path</a:t>
            </a:r>
            <a:br>
              <a:rPr lang="en-US" sz="4000"/>
            </a:br>
            <a:r>
              <a:rPr lang="en-US" sz="2400" i="1"/>
              <a:t>(Jin-Offutt, 1998)</a:t>
            </a:r>
          </a:p>
        </p:txBody>
      </p:sp>
      <p:sp>
        <p:nvSpPr>
          <p:cNvPr id="16387" name="Content Placeholder 2"/>
          <p:cNvSpPr>
            <a:spLocks noGrp="1"/>
          </p:cNvSpPr>
          <p:nvPr>
            <p:ph idx="1"/>
          </p:nvPr>
        </p:nvSpPr>
        <p:spPr>
          <a:xfrm>
            <a:off x="457200" y="3922736"/>
            <a:ext cx="8507288" cy="2314576"/>
          </a:xfrm>
        </p:spPr>
        <p:txBody>
          <a:bodyPr/>
          <a:lstStyle/>
          <a:p>
            <a:r>
              <a:rPr lang="en-US" sz="2400" dirty="0"/>
              <a:t>(Def 2.40/2</a:t>
            </a:r>
            <a:r>
              <a:rPr lang="en-US" sz="2400" baseline="30000" dirty="0"/>
              <a:t>nd</a:t>
            </a:r>
            <a:r>
              <a:rPr lang="en-US" sz="2400" dirty="0"/>
              <a:t> Ed. 7.39) </a:t>
            </a:r>
            <a:r>
              <a:rPr lang="en-US" sz="2400" i="1" u="sng" dirty="0">
                <a:solidFill>
                  <a:srgbClr val="0070C0"/>
                </a:solidFill>
              </a:rPr>
              <a:t>Last-de</a:t>
            </a:r>
            <a:r>
              <a:rPr lang="en-US" sz="2400" i="1" dirty="0">
                <a:solidFill>
                  <a:srgbClr val="0070C0"/>
                </a:solidFill>
              </a:rPr>
              <a:t>f</a:t>
            </a:r>
            <a:r>
              <a:rPr lang="en-US" sz="2400" i="1" dirty="0"/>
              <a:t> of v</a:t>
            </a:r>
            <a:r>
              <a:rPr lang="en-US" sz="2400" dirty="0"/>
              <a:t> : set of nodes defining </a:t>
            </a:r>
            <a:r>
              <a:rPr lang="en-US" sz="2400" i="1" dirty="0"/>
              <a:t>v</a:t>
            </a:r>
            <a:r>
              <a:rPr lang="en-US" sz="2400" dirty="0"/>
              <a:t>, from which there is a def-clear path (</a:t>
            </a:r>
            <a:r>
              <a:rPr lang="en-US" sz="2400" dirty="0" err="1"/>
              <a:t>wrt</a:t>
            </a:r>
            <a:r>
              <a:rPr lang="en-US" sz="2400" dirty="0"/>
              <a:t> </a:t>
            </a:r>
            <a:r>
              <a:rPr lang="en-US" sz="2400" i="1" dirty="0"/>
              <a:t>v</a:t>
            </a:r>
            <a:r>
              <a:rPr lang="en-US" sz="2400" dirty="0"/>
              <a:t>) through the call-site, to a use in the other unit.</a:t>
            </a:r>
          </a:p>
          <a:p>
            <a:r>
              <a:rPr lang="en-US" sz="2400" dirty="0"/>
              <a:t>Can be at the caller or </a:t>
            </a:r>
            <a:r>
              <a:rPr lang="en-US" sz="2400" dirty="0" err="1"/>
              <a:t>callee</a:t>
            </a:r>
            <a:r>
              <a:rPr lang="en-US" sz="2400" dirty="0"/>
              <a:t>! Example: b@f1, a@f3, g.return@g4, g.return@g5.</a:t>
            </a:r>
          </a:p>
          <a:p>
            <a:r>
              <a:rPr lang="en-US" sz="2400" dirty="0"/>
              <a:t>(Def 2.41/2</a:t>
            </a:r>
            <a:r>
              <a:rPr lang="en-US" sz="2400" baseline="30000" dirty="0"/>
              <a:t>nd</a:t>
            </a:r>
            <a:r>
              <a:rPr lang="en-US" sz="2400" dirty="0"/>
              <a:t> Ed. 7.40) </a:t>
            </a:r>
            <a:r>
              <a:rPr lang="en-US" sz="2400" i="1" u="sng" dirty="0">
                <a:solidFill>
                  <a:srgbClr val="0070C0"/>
                </a:solidFill>
              </a:rPr>
              <a:t>First-use</a:t>
            </a:r>
            <a:r>
              <a:rPr lang="en-US" sz="2400" i="1" u="sng" dirty="0"/>
              <a:t> </a:t>
            </a:r>
            <a:r>
              <a:rPr lang="en-US" sz="2400" i="1" dirty="0"/>
              <a:t>(of v</a:t>
            </a:r>
            <a:r>
              <a:rPr lang="en-US" sz="2400" dirty="0"/>
              <a:t>)</a:t>
            </a:r>
            <a:r>
              <a:rPr lang="en-US" sz="2400" i="1" dirty="0"/>
              <a:t>  </a:t>
            </a:r>
            <a:r>
              <a:rPr lang="en-US" sz="2400" dirty="0"/>
              <a:t>E.g.: b@g2, g.return@f4</a:t>
            </a:r>
          </a:p>
          <a:p>
            <a:r>
              <a:rPr lang="en-US" sz="2400" i="1" u="sng" dirty="0">
                <a:solidFill>
                  <a:srgbClr val="0070C0"/>
                </a:solidFill>
              </a:rPr>
              <a:t>Coupling du-path </a:t>
            </a:r>
            <a:r>
              <a:rPr lang="en-US" sz="2400" i="1" dirty="0"/>
              <a:t>of v </a:t>
            </a:r>
            <a:r>
              <a:rPr lang="en-US" sz="2400" dirty="0"/>
              <a:t>is a path from </a:t>
            </a:r>
            <a:r>
              <a:rPr lang="en-US" sz="2400" i="1" dirty="0"/>
              <a:t>v</a:t>
            </a:r>
            <a:r>
              <a:rPr lang="en-US" sz="2400" dirty="0"/>
              <a:t>’s last-</a:t>
            </a:r>
            <a:r>
              <a:rPr lang="en-US" sz="2400" dirty="0" err="1"/>
              <a:t>def</a:t>
            </a:r>
            <a:r>
              <a:rPr lang="en-US" sz="2400" dirty="0"/>
              <a:t> to its first-use.</a:t>
            </a:r>
          </a:p>
        </p:txBody>
      </p:sp>
      <p:sp>
        <p:nvSpPr>
          <p:cNvPr id="4" name="Slide Number Placeholder 3"/>
          <p:cNvSpPr>
            <a:spLocks noGrp="1"/>
          </p:cNvSpPr>
          <p:nvPr>
            <p:ph type="sldNum" sz="quarter" idx="12"/>
          </p:nvPr>
        </p:nvSpPr>
        <p:spPr/>
        <p:txBody>
          <a:bodyPr/>
          <a:lstStyle/>
          <a:p>
            <a:pPr>
              <a:defRPr/>
            </a:pPr>
            <a:fld id="{D99913E4-9123-46A5-8CA9-2FC3F1978391}" type="slidenum">
              <a:rPr lang="en-US" smtClean="0"/>
              <a:pPr>
                <a:defRPr/>
              </a:pPr>
              <a:t>16</a:t>
            </a:fld>
            <a:endParaRPr lang="en-US" dirty="0"/>
          </a:p>
        </p:txBody>
      </p:sp>
      <p:sp>
        <p:nvSpPr>
          <p:cNvPr id="28" name="TextBox 27">
            <a:extLst>
              <a:ext uri="{FF2B5EF4-FFF2-40B4-BE49-F238E27FC236}">
                <a16:creationId xmlns:a16="http://schemas.microsoft.com/office/drawing/2014/main" id="{0EA92F83-C947-2541-9B7B-B10605DFCDAB}"/>
              </a:ext>
            </a:extLst>
          </p:cNvPr>
          <p:cNvSpPr txBox="1"/>
          <p:nvPr/>
        </p:nvSpPr>
        <p:spPr>
          <a:xfrm>
            <a:off x="960512" y="1788790"/>
            <a:ext cx="1684337" cy="369887"/>
          </a:xfrm>
          <a:prstGeom prst="rect">
            <a:avLst/>
          </a:prstGeom>
          <a:solidFill>
            <a:schemeClr val="accent1">
              <a:lumMod val="40000"/>
              <a:lumOff val="60000"/>
            </a:schemeClr>
          </a:solidFill>
        </p:spPr>
        <p:style>
          <a:lnRef idx="2">
            <a:schemeClr val="dk1"/>
          </a:lnRef>
          <a:fillRef idx="1">
            <a:schemeClr val="lt1"/>
          </a:fillRef>
          <a:effectRef idx="0">
            <a:schemeClr val="dk1"/>
          </a:effectRef>
          <a:fontRef idx="minor">
            <a:schemeClr val="dk1"/>
          </a:fontRef>
        </p:style>
        <p:txBody>
          <a:bodyPr wrap="none">
            <a:spAutoFit/>
          </a:bodyPr>
          <a:lstStyle/>
          <a:p>
            <a:pPr>
              <a:defRPr/>
            </a:pPr>
            <a:r>
              <a:rPr lang="en-US" dirty="0"/>
              <a:t>(1)</a:t>
            </a:r>
            <a:r>
              <a:rPr lang="en-US" b="1" dirty="0">
                <a:solidFill>
                  <a:srgbClr val="FF0000"/>
                </a:solidFill>
              </a:rPr>
              <a:t> a </a:t>
            </a:r>
            <a:r>
              <a:rPr lang="en-US" dirty="0"/>
              <a:t>= ...  ;</a:t>
            </a:r>
            <a:r>
              <a:rPr lang="en-US" b="1" dirty="0">
                <a:solidFill>
                  <a:schemeClr val="accent6">
                    <a:lumMod val="60000"/>
                    <a:lumOff val="40000"/>
                  </a:schemeClr>
                </a:solidFill>
              </a:rPr>
              <a:t>b</a:t>
            </a:r>
            <a:r>
              <a:rPr lang="en-US" dirty="0"/>
              <a:t> = ...</a:t>
            </a:r>
          </a:p>
        </p:txBody>
      </p:sp>
      <p:sp>
        <p:nvSpPr>
          <p:cNvPr id="30" name="TextBox 29">
            <a:extLst>
              <a:ext uri="{FF2B5EF4-FFF2-40B4-BE49-F238E27FC236}">
                <a16:creationId xmlns:a16="http://schemas.microsoft.com/office/drawing/2014/main" id="{3D9DBFD3-E7C2-104D-8FEB-FBC20F0811DF}"/>
              </a:ext>
            </a:extLst>
          </p:cNvPr>
          <p:cNvSpPr txBox="1"/>
          <p:nvPr/>
        </p:nvSpPr>
        <p:spPr>
          <a:xfrm>
            <a:off x="2442046" y="2358175"/>
            <a:ext cx="1054100" cy="369888"/>
          </a:xfrm>
          <a:prstGeom prst="rect">
            <a:avLst/>
          </a:prstGeom>
          <a:solidFill>
            <a:schemeClr val="accent1">
              <a:lumMod val="40000"/>
              <a:lumOff val="60000"/>
            </a:schemeClr>
          </a:solidFill>
        </p:spPr>
        <p:style>
          <a:lnRef idx="2">
            <a:schemeClr val="dk1"/>
          </a:lnRef>
          <a:fillRef idx="1">
            <a:schemeClr val="lt1"/>
          </a:fillRef>
          <a:effectRef idx="0">
            <a:schemeClr val="dk1"/>
          </a:effectRef>
          <a:fontRef idx="minor">
            <a:schemeClr val="dk1"/>
          </a:fontRef>
        </p:style>
        <p:txBody>
          <a:bodyPr wrap="none">
            <a:spAutoFit/>
          </a:bodyPr>
          <a:lstStyle/>
          <a:p>
            <a:pPr>
              <a:defRPr/>
            </a:pPr>
            <a:r>
              <a:rPr lang="en-US" dirty="0"/>
              <a:t>(3)  </a:t>
            </a:r>
            <a:r>
              <a:rPr lang="en-US" b="1" dirty="0">
                <a:solidFill>
                  <a:srgbClr val="FF0000"/>
                </a:solidFill>
              </a:rPr>
              <a:t>a</a:t>
            </a:r>
            <a:r>
              <a:rPr lang="en-US" dirty="0"/>
              <a:t> = ...</a:t>
            </a:r>
          </a:p>
        </p:txBody>
      </p:sp>
      <p:sp>
        <p:nvSpPr>
          <p:cNvPr id="32" name="TextBox 31">
            <a:extLst>
              <a:ext uri="{FF2B5EF4-FFF2-40B4-BE49-F238E27FC236}">
                <a16:creationId xmlns:a16="http://schemas.microsoft.com/office/drawing/2014/main" id="{A2FC483F-75BC-704B-86E5-87C731C7990F}"/>
              </a:ext>
            </a:extLst>
          </p:cNvPr>
          <p:cNvSpPr txBox="1"/>
          <p:nvPr/>
        </p:nvSpPr>
        <p:spPr>
          <a:xfrm>
            <a:off x="1358974" y="2360290"/>
            <a:ext cx="896938" cy="369887"/>
          </a:xfrm>
          <a:prstGeom prst="rect">
            <a:avLst/>
          </a:prstGeom>
          <a:solidFill>
            <a:schemeClr val="accent1">
              <a:lumMod val="40000"/>
              <a:lumOff val="60000"/>
            </a:schemeClr>
          </a:solidFill>
        </p:spPr>
        <p:style>
          <a:lnRef idx="2">
            <a:schemeClr val="dk1"/>
          </a:lnRef>
          <a:fillRef idx="1">
            <a:schemeClr val="lt1"/>
          </a:fillRef>
          <a:effectRef idx="0">
            <a:schemeClr val="dk1"/>
          </a:effectRef>
          <a:fontRef idx="minor">
            <a:schemeClr val="dk1"/>
          </a:fontRef>
        </p:style>
        <p:txBody>
          <a:bodyPr wrap="none">
            <a:spAutoFit/>
          </a:bodyPr>
          <a:lstStyle/>
          <a:p>
            <a:pPr>
              <a:defRPr/>
            </a:pPr>
            <a:r>
              <a:rPr lang="en-US" dirty="0"/>
              <a:t>(2)  a&gt;b</a:t>
            </a:r>
          </a:p>
        </p:txBody>
      </p:sp>
      <p:sp>
        <p:nvSpPr>
          <p:cNvPr id="34" name="TextBox 33">
            <a:extLst>
              <a:ext uri="{FF2B5EF4-FFF2-40B4-BE49-F238E27FC236}">
                <a16:creationId xmlns:a16="http://schemas.microsoft.com/office/drawing/2014/main" id="{EDA89D2F-1C07-7C4A-8AD5-DEC7C96F3031}"/>
              </a:ext>
            </a:extLst>
          </p:cNvPr>
          <p:cNvSpPr txBox="1"/>
          <p:nvPr/>
        </p:nvSpPr>
        <p:spPr>
          <a:xfrm>
            <a:off x="1111633" y="3227388"/>
            <a:ext cx="1380506" cy="369332"/>
          </a:xfrm>
          <a:prstGeom prst="rect">
            <a:avLst/>
          </a:prstGeom>
          <a:solidFill>
            <a:schemeClr val="accent1">
              <a:lumMod val="40000"/>
              <a:lumOff val="60000"/>
            </a:schemeClr>
          </a:solidFill>
        </p:spPr>
        <p:style>
          <a:lnRef idx="2">
            <a:schemeClr val="dk1"/>
          </a:lnRef>
          <a:fillRef idx="1">
            <a:schemeClr val="lt1"/>
          </a:fillRef>
          <a:effectRef idx="0">
            <a:schemeClr val="dk1"/>
          </a:effectRef>
          <a:fontRef idx="minor">
            <a:schemeClr val="dk1"/>
          </a:fontRef>
        </p:style>
        <p:txBody>
          <a:bodyPr wrap="none">
            <a:spAutoFit/>
          </a:bodyPr>
          <a:lstStyle/>
          <a:p>
            <a:pPr>
              <a:defRPr/>
            </a:pPr>
            <a:r>
              <a:rPr lang="en-US" dirty="0"/>
              <a:t>(4) </a:t>
            </a:r>
            <a:r>
              <a:rPr lang="en-US" b="1" dirty="0">
                <a:solidFill>
                  <a:srgbClr val="00B050"/>
                </a:solidFill>
              </a:rPr>
              <a:t>b</a:t>
            </a:r>
            <a:r>
              <a:rPr lang="en-US" dirty="0"/>
              <a:t> = g(</a:t>
            </a:r>
            <a:r>
              <a:rPr lang="en-US" dirty="0" err="1"/>
              <a:t>a,b</a:t>
            </a:r>
            <a:r>
              <a:rPr lang="en-US" dirty="0"/>
              <a:t>)</a:t>
            </a:r>
          </a:p>
        </p:txBody>
      </p:sp>
      <p:sp>
        <p:nvSpPr>
          <p:cNvPr id="36" name="TextBox 35">
            <a:extLst>
              <a:ext uri="{FF2B5EF4-FFF2-40B4-BE49-F238E27FC236}">
                <a16:creationId xmlns:a16="http://schemas.microsoft.com/office/drawing/2014/main" id="{4FCF67B1-1C08-4F46-A4A7-CCEAAE4D455F}"/>
              </a:ext>
            </a:extLst>
          </p:cNvPr>
          <p:cNvSpPr txBox="1"/>
          <p:nvPr/>
        </p:nvSpPr>
        <p:spPr>
          <a:xfrm>
            <a:off x="5073724" y="1645915"/>
            <a:ext cx="1007007" cy="369332"/>
          </a:xfrm>
          <a:prstGeom prst="rect">
            <a:avLst/>
          </a:prstGeom>
          <a:solidFill>
            <a:schemeClr val="accent5">
              <a:lumMod val="20000"/>
              <a:lumOff val="80000"/>
            </a:schemeClr>
          </a:solidFill>
        </p:spPr>
        <p:style>
          <a:lnRef idx="2">
            <a:schemeClr val="dk1"/>
          </a:lnRef>
          <a:fillRef idx="1">
            <a:schemeClr val="lt1"/>
          </a:fillRef>
          <a:effectRef idx="0">
            <a:schemeClr val="dk1"/>
          </a:effectRef>
          <a:fontRef idx="minor">
            <a:schemeClr val="dk1"/>
          </a:fontRef>
        </p:style>
        <p:txBody>
          <a:bodyPr wrap="none">
            <a:spAutoFit/>
          </a:bodyPr>
          <a:lstStyle/>
          <a:p>
            <a:pPr>
              <a:defRPr/>
            </a:pPr>
            <a:r>
              <a:rPr lang="en-US" dirty="0"/>
              <a:t>(1) g(</a:t>
            </a:r>
            <a:r>
              <a:rPr lang="en-US" dirty="0" err="1"/>
              <a:t>x,y</a:t>
            </a:r>
            <a:r>
              <a:rPr lang="en-US" dirty="0"/>
              <a:t>)</a:t>
            </a:r>
          </a:p>
        </p:txBody>
      </p:sp>
      <p:sp>
        <p:nvSpPr>
          <p:cNvPr id="39" name="TextBox 38">
            <a:extLst>
              <a:ext uri="{FF2B5EF4-FFF2-40B4-BE49-F238E27FC236}">
                <a16:creationId xmlns:a16="http://schemas.microsoft.com/office/drawing/2014/main" id="{217F9BBD-DB8B-B943-82F0-A61DAF75EE2B}"/>
              </a:ext>
            </a:extLst>
          </p:cNvPr>
          <p:cNvSpPr txBox="1"/>
          <p:nvPr/>
        </p:nvSpPr>
        <p:spPr>
          <a:xfrm>
            <a:off x="5124064" y="2217415"/>
            <a:ext cx="941283" cy="369332"/>
          </a:xfrm>
          <a:prstGeom prst="rect">
            <a:avLst/>
          </a:prstGeom>
          <a:solidFill>
            <a:schemeClr val="accent5">
              <a:lumMod val="20000"/>
              <a:lumOff val="80000"/>
            </a:schemeClr>
          </a:solidFill>
        </p:spPr>
        <p:style>
          <a:lnRef idx="2">
            <a:schemeClr val="dk1"/>
          </a:lnRef>
          <a:fillRef idx="1">
            <a:schemeClr val="lt1"/>
          </a:fillRef>
          <a:effectRef idx="0">
            <a:schemeClr val="dk1"/>
          </a:effectRef>
          <a:fontRef idx="minor">
            <a:schemeClr val="dk1"/>
          </a:fontRef>
        </p:style>
        <p:txBody>
          <a:bodyPr wrap="none">
            <a:spAutoFit/>
          </a:bodyPr>
          <a:lstStyle/>
          <a:p>
            <a:pPr>
              <a:defRPr/>
            </a:pPr>
            <a:r>
              <a:rPr lang="en-US" dirty="0"/>
              <a:t>(2) </a:t>
            </a:r>
            <a:r>
              <a:rPr lang="en-US" b="1" dirty="0">
                <a:solidFill>
                  <a:srgbClr val="FF0000"/>
                </a:solidFill>
              </a:rPr>
              <a:t>x</a:t>
            </a:r>
            <a:r>
              <a:rPr lang="en-US" dirty="0"/>
              <a:t>&lt;=</a:t>
            </a:r>
            <a:r>
              <a:rPr lang="en-US" b="1" dirty="0">
                <a:solidFill>
                  <a:schemeClr val="accent6">
                    <a:lumMod val="60000"/>
                    <a:lumOff val="40000"/>
                  </a:schemeClr>
                </a:solidFill>
              </a:rPr>
              <a:t>y</a:t>
            </a:r>
          </a:p>
        </p:txBody>
      </p:sp>
      <p:sp>
        <p:nvSpPr>
          <p:cNvPr id="40" name="TextBox 39">
            <a:extLst>
              <a:ext uri="{FF2B5EF4-FFF2-40B4-BE49-F238E27FC236}">
                <a16:creationId xmlns:a16="http://schemas.microsoft.com/office/drawing/2014/main" id="{EB0E121E-64D9-FD46-92E7-D5AF023DC56A}"/>
              </a:ext>
            </a:extLst>
          </p:cNvPr>
          <p:cNvSpPr txBox="1"/>
          <p:nvPr/>
        </p:nvSpPr>
        <p:spPr>
          <a:xfrm>
            <a:off x="5135284" y="2767967"/>
            <a:ext cx="930063" cy="369332"/>
          </a:xfrm>
          <a:prstGeom prst="rect">
            <a:avLst/>
          </a:prstGeom>
          <a:solidFill>
            <a:schemeClr val="accent5">
              <a:lumMod val="20000"/>
              <a:lumOff val="80000"/>
            </a:schemeClr>
          </a:solidFill>
        </p:spPr>
        <p:style>
          <a:lnRef idx="2">
            <a:schemeClr val="dk1"/>
          </a:lnRef>
          <a:fillRef idx="1">
            <a:schemeClr val="lt1"/>
          </a:fillRef>
          <a:effectRef idx="0">
            <a:schemeClr val="dk1"/>
          </a:effectRef>
          <a:fontRef idx="minor">
            <a:schemeClr val="dk1"/>
          </a:fontRef>
        </p:style>
        <p:txBody>
          <a:bodyPr wrap="none">
            <a:spAutoFit/>
          </a:bodyPr>
          <a:lstStyle/>
          <a:p>
            <a:pPr>
              <a:defRPr/>
            </a:pPr>
            <a:r>
              <a:rPr lang="en-US" dirty="0"/>
              <a:t>(3) x==y</a:t>
            </a:r>
          </a:p>
        </p:txBody>
      </p:sp>
      <p:sp>
        <p:nvSpPr>
          <p:cNvPr id="41" name="TextBox 40">
            <a:extLst>
              <a:ext uri="{FF2B5EF4-FFF2-40B4-BE49-F238E27FC236}">
                <a16:creationId xmlns:a16="http://schemas.microsoft.com/office/drawing/2014/main" id="{FD05CB92-9A44-684C-9726-3BD51D9F9068}"/>
              </a:ext>
            </a:extLst>
          </p:cNvPr>
          <p:cNvSpPr txBox="1"/>
          <p:nvPr/>
        </p:nvSpPr>
        <p:spPr>
          <a:xfrm>
            <a:off x="6545337" y="2217415"/>
            <a:ext cx="1314450" cy="369887"/>
          </a:xfrm>
          <a:prstGeom prst="rect">
            <a:avLst/>
          </a:prstGeom>
          <a:solidFill>
            <a:schemeClr val="accent5">
              <a:lumMod val="20000"/>
              <a:lumOff val="80000"/>
            </a:schemeClr>
          </a:solidFill>
        </p:spPr>
        <p:style>
          <a:lnRef idx="2">
            <a:schemeClr val="dk1"/>
          </a:lnRef>
          <a:fillRef idx="1">
            <a:schemeClr val="lt1"/>
          </a:fillRef>
          <a:effectRef idx="0">
            <a:schemeClr val="dk1"/>
          </a:effectRef>
          <a:fontRef idx="minor">
            <a:schemeClr val="dk1"/>
          </a:fontRef>
        </p:style>
        <p:txBody>
          <a:bodyPr wrap="none">
            <a:spAutoFit/>
          </a:bodyPr>
          <a:lstStyle/>
          <a:p>
            <a:pPr>
              <a:defRPr/>
            </a:pPr>
            <a:r>
              <a:rPr lang="en-US" dirty="0"/>
              <a:t>(4) </a:t>
            </a:r>
            <a:r>
              <a:rPr lang="en-US" b="1" dirty="0">
                <a:solidFill>
                  <a:srgbClr val="00B050"/>
                </a:solidFill>
              </a:rPr>
              <a:t>return</a:t>
            </a:r>
            <a:r>
              <a:rPr lang="en-US" dirty="0"/>
              <a:t> ...</a:t>
            </a:r>
          </a:p>
        </p:txBody>
      </p:sp>
      <p:sp>
        <p:nvSpPr>
          <p:cNvPr id="45" name="TextBox 44">
            <a:extLst>
              <a:ext uri="{FF2B5EF4-FFF2-40B4-BE49-F238E27FC236}">
                <a16:creationId xmlns:a16="http://schemas.microsoft.com/office/drawing/2014/main" id="{64051510-70A9-484C-A570-25745ACD842E}"/>
              </a:ext>
            </a:extLst>
          </p:cNvPr>
          <p:cNvSpPr txBox="1"/>
          <p:nvPr/>
        </p:nvSpPr>
        <p:spPr>
          <a:xfrm>
            <a:off x="6962775" y="3318346"/>
            <a:ext cx="1314450" cy="369888"/>
          </a:xfrm>
          <a:prstGeom prst="rect">
            <a:avLst/>
          </a:prstGeom>
          <a:solidFill>
            <a:schemeClr val="accent5">
              <a:lumMod val="20000"/>
              <a:lumOff val="80000"/>
            </a:schemeClr>
          </a:solidFill>
        </p:spPr>
        <p:style>
          <a:lnRef idx="2">
            <a:schemeClr val="dk1"/>
          </a:lnRef>
          <a:fillRef idx="1">
            <a:schemeClr val="lt1"/>
          </a:fillRef>
          <a:effectRef idx="0">
            <a:schemeClr val="dk1"/>
          </a:effectRef>
          <a:fontRef idx="minor">
            <a:schemeClr val="dk1"/>
          </a:fontRef>
        </p:style>
        <p:txBody>
          <a:bodyPr wrap="none">
            <a:spAutoFit/>
          </a:bodyPr>
          <a:lstStyle/>
          <a:p>
            <a:pPr>
              <a:defRPr/>
            </a:pPr>
            <a:r>
              <a:rPr lang="en-US" dirty="0"/>
              <a:t>(5) </a:t>
            </a:r>
            <a:r>
              <a:rPr lang="en-US" b="1" dirty="0">
                <a:solidFill>
                  <a:srgbClr val="00B050"/>
                </a:solidFill>
              </a:rPr>
              <a:t>return</a:t>
            </a:r>
            <a:r>
              <a:rPr lang="en-US" dirty="0"/>
              <a:t> ...</a:t>
            </a:r>
          </a:p>
        </p:txBody>
      </p:sp>
      <p:cxnSp>
        <p:nvCxnSpPr>
          <p:cNvPr id="47" name="Straight Arrow Connector 46">
            <a:extLst>
              <a:ext uri="{FF2B5EF4-FFF2-40B4-BE49-F238E27FC236}">
                <a16:creationId xmlns:a16="http://schemas.microsoft.com/office/drawing/2014/main" id="{B1648576-1265-884C-8ECC-6F26B91090FA}"/>
              </a:ext>
            </a:extLst>
          </p:cNvPr>
          <p:cNvCxnSpPr>
            <a:stCxn id="28" idx="2"/>
            <a:endCxn id="32" idx="0"/>
          </p:cNvCxnSpPr>
          <p:nvPr/>
        </p:nvCxnSpPr>
        <p:spPr>
          <a:xfrm rot="16200000" flipH="1">
            <a:off x="1703461" y="2257103"/>
            <a:ext cx="201613" cy="4762"/>
          </a:xfrm>
          <a:prstGeom prst="straightConnector1">
            <a:avLst/>
          </a:prstGeom>
          <a:ln>
            <a:tailEnd type="arrow"/>
          </a:ln>
        </p:spPr>
        <p:style>
          <a:lnRef idx="1">
            <a:schemeClr val="accent1"/>
          </a:lnRef>
          <a:fillRef idx="0">
            <a:schemeClr val="accent1"/>
          </a:fillRef>
          <a:effectRef idx="0">
            <a:schemeClr val="accent1"/>
          </a:effectRef>
          <a:fontRef idx="minor">
            <a:schemeClr val="tx1"/>
          </a:fontRef>
        </p:style>
      </p:cxnSp>
      <p:cxnSp>
        <p:nvCxnSpPr>
          <p:cNvPr id="49" name="Straight Arrow Connector 48">
            <a:extLst>
              <a:ext uri="{FF2B5EF4-FFF2-40B4-BE49-F238E27FC236}">
                <a16:creationId xmlns:a16="http://schemas.microsoft.com/office/drawing/2014/main" id="{13D7D883-0049-8345-A608-DCCA8CEB5601}"/>
              </a:ext>
            </a:extLst>
          </p:cNvPr>
          <p:cNvCxnSpPr>
            <a:stCxn id="32" idx="3"/>
            <a:endCxn id="30" idx="1"/>
          </p:cNvCxnSpPr>
          <p:nvPr/>
        </p:nvCxnSpPr>
        <p:spPr>
          <a:xfrm flipV="1">
            <a:off x="2255912" y="2543119"/>
            <a:ext cx="186134" cy="2115"/>
          </a:xfrm>
          <a:prstGeom prst="straightConnector1">
            <a:avLst/>
          </a:prstGeom>
          <a:ln>
            <a:tailEnd type="arrow"/>
          </a:ln>
        </p:spPr>
        <p:style>
          <a:lnRef idx="1">
            <a:schemeClr val="accent1"/>
          </a:lnRef>
          <a:fillRef idx="0">
            <a:schemeClr val="accent1"/>
          </a:fillRef>
          <a:effectRef idx="0">
            <a:schemeClr val="accent1"/>
          </a:effectRef>
          <a:fontRef idx="minor">
            <a:schemeClr val="tx1"/>
          </a:fontRef>
        </p:style>
      </p:cxnSp>
      <p:cxnSp>
        <p:nvCxnSpPr>
          <p:cNvPr id="59" name="Straight Arrow Connector 58">
            <a:extLst>
              <a:ext uri="{FF2B5EF4-FFF2-40B4-BE49-F238E27FC236}">
                <a16:creationId xmlns:a16="http://schemas.microsoft.com/office/drawing/2014/main" id="{516FC270-F53F-7745-BCC1-A3097CD3E96C}"/>
              </a:ext>
            </a:extLst>
          </p:cNvPr>
          <p:cNvCxnSpPr>
            <a:stCxn id="32" idx="2"/>
            <a:endCxn id="34" idx="0"/>
          </p:cNvCxnSpPr>
          <p:nvPr/>
        </p:nvCxnSpPr>
        <p:spPr>
          <a:xfrm flipH="1">
            <a:off x="1801886" y="2730177"/>
            <a:ext cx="5557" cy="497211"/>
          </a:xfrm>
          <a:prstGeom prst="straightConnector1">
            <a:avLst/>
          </a:prstGeom>
          <a:ln>
            <a:tailEnd type="arrow"/>
          </a:ln>
        </p:spPr>
        <p:style>
          <a:lnRef idx="1">
            <a:schemeClr val="accent1"/>
          </a:lnRef>
          <a:fillRef idx="0">
            <a:schemeClr val="accent1"/>
          </a:fillRef>
          <a:effectRef idx="0">
            <a:schemeClr val="accent1"/>
          </a:effectRef>
          <a:fontRef idx="minor">
            <a:schemeClr val="tx1"/>
          </a:fontRef>
        </p:style>
      </p:cxnSp>
      <p:cxnSp>
        <p:nvCxnSpPr>
          <p:cNvPr id="60" name="Straight Arrow Connector 59">
            <a:extLst>
              <a:ext uri="{FF2B5EF4-FFF2-40B4-BE49-F238E27FC236}">
                <a16:creationId xmlns:a16="http://schemas.microsoft.com/office/drawing/2014/main" id="{5DDC448F-261F-654D-A01C-EE7FFAC9956A}"/>
              </a:ext>
            </a:extLst>
          </p:cNvPr>
          <p:cNvCxnSpPr>
            <a:stCxn id="30" idx="2"/>
            <a:endCxn id="34" idx="3"/>
          </p:cNvCxnSpPr>
          <p:nvPr/>
        </p:nvCxnSpPr>
        <p:spPr>
          <a:xfrm flipH="1">
            <a:off x="2492139" y="2728063"/>
            <a:ext cx="476957" cy="683991"/>
          </a:xfrm>
          <a:prstGeom prst="straightConnector1">
            <a:avLst/>
          </a:prstGeom>
          <a:ln>
            <a:tailEnd type="arrow"/>
          </a:ln>
        </p:spPr>
        <p:style>
          <a:lnRef idx="1">
            <a:schemeClr val="accent1"/>
          </a:lnRef>
          <a:fillRef idx="0">
            <a:schemeClr val="accent1"/>
          </a:fillRef>
          <a:effectRef idx="0">
            <a:schemeClr val="accent1"/>
          </a:effectRef>
          <a:fontRef idx="minor">
            <a:schemeClr val="tx1"/>
          </a:fontRef>
        </p:style>
      </p:cxnSp>
      <p:cxnSp>
        <p:nvCxnSpPr>
          <p:cNvPr id="61" name="Straight Arrow Connector 60">
            <a:extLst>
              <a:ext uri="{FF2B5EF4-FFF2-40B4-BE49-F238E27FC236}">
                <a16:creationId xmlns:a16="http://schemas.microsoft.com/office/drawing/2014/main" id="{B752A8DC-63EA-4348-BE83-2D9072F7A0D0}"/>
              </a:ext>
            </a:extLst>
          </p:cNvPr>
          <p:cNvCxnSpPr>
            <a:stCxn id="36" idx="2"/>
            <a:endCxn id="39" idx="0"/>
          </p:cNvCxnSpPr>
          <p:nvPr/>
        </p:nvCxnSpPr>
        <p:spPr>
          <a:xfrm>
            <a:off x="5577228" y="2015247"/>
            <a:ext cx="17478" cy="202168"/>
          </a:xfrm>
          <a:prstGeom prst="straightConnector1">
            <a:avLst/>
          </a:prstGeom>
          <a:ln>
            <a:tailEnd type="arrow"/>
          </a:ln>
        </p:spPr>
        <p:style>
          <a:lnRef idx="1">
            <a:schemeClr val="accent1"/>
          </a:lnRef>
          <a:fillRef idx="0">
            <a:schemeClr val="accent1"/>
          </a:fillRef>
          <a:effectRef idx="0">
            <a:schemeClr val="accent1"/>
          </a:effectRef>
          <a:fontRef idx="minor">
            <a:schemeClr val="tx1"/>
          </a:fontRef>
        </p:style>
      </p:cxnSp>
      <p:cxnSp>
        <p:nvCxnSpPr>
          <p:cNvPr id="62" name="Straight Arrow Connector 61">
            <a:extLst>
              <a:ext uri="{FF2B5EF4-FFF2-40B4-BE49-F238E27FC236}">
                <a16:creationId xmlns:a16="http://schemas.microsoft.com/office/drawing/2014/main" id="{9F590AD3-03FB-AC4E-90B7-305FAE00CD85}"/>
              </a:ext>
            </a:extLst>
          </p:cNvPr>
          <p:cNvCxnSpPr>
            <a:stCxn id="39" idx="2"/>
            <a:endCxn id="40" idx="0"/>
          </p:cNvCxnSpPr>
          <p:nvPr/>
        </p:nvCxnSpPr>
        <p:spPr>
          <a:xfrm>
            <a:off x="5594706" y="2586747"/>
            <a:ext cx="5610" cy="181220"/>
          </a:xfrm>
          <a:prstGeom prst="straightConnector1">
            <a:avLst/>
          </a:prstGeom>
          <a:ln>
            <a:tailEnd type="arrow"/>
          </a:ln>
        </p:spPr>
        <p:style>
          <a:lnRef idx="1">
            <a:schemeClr val="accent1"/>
          </a:lnRef>
          <a:fillRef idx="0">
            <a:schemeClr val="accent1"/>
          </a:fillRef>
          <a:effectRef idx="0">
            <a:schemeClr val="accent1"/>
          </a:effectRef>
          <a:fontRef idx="minor">
            <a:schemeClr val="tx1"/>
          </a:fontRef>
        </p:style>
      </p:cxnSp>
      <p:cxnSp>
        <p:nvCxnSpPr>
          <p:cNvPr id="63" name="Straight Arrow Connector 62">
            <a:extLst>
              <a:ext uri="{FF2B5EF4-FFF2-40B4-BE49-F238E27FC236}">
                <a16:creationId xmlns:a16="http://schemas.microsoft.com/office/drawing/2014/main" id="{185442C7-0D51-674F-A4F7-497FA674BBAD}"/>
              </a:ext>
            </a:extLst>
          </p:cNvPr>
          <p:cNvCxnSpPr>
            <a:stCxn id="39" idx="3"/>
            <a:endCxn id="41" idx="1"/>
          </p:cNvCxnSpPr>
          <p:nvPr/>
        </p:nvCxnSpPr>
        <p:spPr>
          <a:xfrm>
            <a:off x="6065347" y="2402081"/>
            <a:ext cx="479990" cy="278"/>
          </a:xfrm>
          <a:prstGeom prst="straightConnector1">
            <a:avLst/>
          </a:prstGeom>
          <a:ln>
            <a:tailEnd type="arrow"/>
          </a:ln>
        </p:spPr>
        <p:style>
          <a:lnRef idx="1">
            <a:schemeClr val="accent1"/>
          </a:lnRef>
          <a:fillRef idx="0">
            <a:schemeClr val="accent1"/>
          </a:fillRef>
          <a:effectRef idx="0">
            <a:schemeClr val="accent1"/>
          </a:effectRef>
          <a:fontRef idx="minor">
            <a:schemeClr val="tx1"/>
          </a:fontRef>
        </p:style>
      </p:cxnSp>
      <p:sp>
        <p:nvSpPr>
          <p:cNvPr id="64" name="Rounded Rectangle 63">
            <a:extLst>
              <a:ext uri="{FF2B5EF4-FFF2-40B4-BE49-F238E27FC236}">
                <a16:creationId xmlns:a16="http://schemas.microsoft.com/office/drawing/2014/main" id="{36C7B8EF-F3FB-BB4D-9049-E8E09B3B139B}"/>
              </a:ext>
            </a:extLst>
          </p:cNvPr>
          <p:cNvSpPr/>
          <p:nvPr/>
        </p:nvSpPr>
        <p:spPr>
          <a:xfrm>
            <a:off x="4287912" y="3217540"/>
            <a:ext cx="2428875" cy="571500"/>
          </a:xfrm>
          <a:prstGeom prst="roundRect">
            <a:avLst/>
          </a:prstGeom>
          <a:solidFill>
            <a:schemeClr val="bg2">
              <a:lumMod val="50000"/>
            </a:schemeClr>
          </a:solidFill>
          <a:ln w="38100">
            <a:solidFill>
              <a:schemeClr val="tx1"/>
            </a:solidFill>
            <a:prstDash val="dash"/>
          </a:ln>
        </p:spPr>
        <p:style>
          <a:lnRef idx="2">
            <a:schemeClr val="dk1"/>
          </a:lnRef>
          <a:fillRef idx="1">
            <a:schemeClr val="lt1"/>
          </a:fillRef>
          <a:effectRef idx="0">
            <a:schemeClr val="dk1"/>
          </a:effectRef>
          <a:fontRef idx="minor">
            <a:schemeClr val="dk1"/>
          </a:fontRef>
        </p:style>
        <p:txBody>
          <a:bodyPr anchor="ctr"/>
          <a:lstStyle/>
          <a:p>
            <a:pPr algn="ctr">
              <a:defRPr/>
            </a:pPr>
            <a:endParaRPr lang="en-US"/>
          </a:p>
        </p:txBody>
      </p:sp>
      <p:cxnSp>
        <p:nvCxnSpPr>
          <p:cNvPr id="65" name="Straight Arrow Connector 64">
            <a:extLst>
              <a:ext uri="{FF2B5EF4-FFF2-40B4-BE49-F238E27FC236}">
                <a16:creationId xmlns:a16="http://schemas.microsoft.com/office/drawing/2014/main" id="{F2257E27-FB28-1440-8352-0338288C4ACF}"/>
              </a:ext>
            </a:extLst>
          </p:cNvPr>
          <p:cNvCxnSpPr>
            <a:stCxn id="64" idx="3"/>
            <a:endCxn id="45" idx="1"/>
          </p:cNvCxnSpPr>
          <p:nvPr/>
        </p:nvCxnSpPr>
        <p:spPr>
          <a:xfrm>
            <a:off x="6716787" y="3503290"/>
            <a:ext cx="245988" cy="0"/>
          </a:xfrm>
          <a:prstGeom prst="straightConnector1">
            <a:avLst/>
          </a:prstGeom>
          <a:ln>
            <a:tailEnd type="arrow"/>
          </a:ln>
        </p:spPr>
        <p:style>
          <a:lnRef idx="1">
            <a:schemeClr val="accent1"/>
          </a:lnRef>
          <a:fillRef idx="0">
            <a:schemeClr val="accent1"/>
          </a:fillRef>
          <a:effectRef idx="0">
            <a:schemeClr val="accent1"/>
          </a:effectRef>
          <a:fontRef idx="minor">
            <a:schemeClr val="tx1"/>
          </a:fontRef>
        </p:style>
      </p:cxnSp>
      <p:cxnSp>
        <p:nvCxnSpPr>
          <p:cNvPr id="66" name="Straight Arrow Connector 65">
            <a:extLst>
              <a:ext uri="{FF2B5EF4-FFF2-40B4-BE49-F238E27FC236}">
                <a16:creationId xmlns:a16="http://schemas.microsoft.com/office/drawing/2014/main" id="{07491EAE-25BA-564E-99D5-E008E9AB509C}"/>
              </a:ext>
            </a:extLst>
          </p:cNvPr>
          <p:cNvCxnSpPr>
            <a:cxnSpLocks/>
            <a:stCxn id="40" idx="2"/>
          </p:cNvCxnSpPr>
          <p:nvPr/>
        </p:nvCxnSpPr>
        <p:spPr>
          <a:xfrm>
            <a:off x="5600316" y="3137299"/>
            <a:ext cx="0" cy="308296"/>
          </a:xfrm>
          <a:prstGeom prst="straightConnector1">
            <a:avLst/>
          </a:prstGeom>
          <a:ln>
            <a:tailEnd type="arrow"/>
          </a:ln>
        </p:spPr>
        <p:style>
          <a:lnRef idx="1">
            <a:schemeClr val="accent1"/>
          </a:lnRef>
          <a:fillRef idx="0">
            <a:schemeClr val="accent1"/>
          </a:fillRef>
          <a:effectRef idx="0">
            <a:schemeClr val="accent1"/>
          </a:effectRef>
          <a:fontRef idx="minor">
            <a:schemeClr val="tx1"/>
          </a:fontRef>
        </p:style>
      </p:cxnSp>
      <p:cxnSp>
        <p:nvCxnSpPr>
          <p:cNvPr id="67" name="Straight Arrow Connector 66">
            <a:extLst>
              <a:ext uri="{FF2B5EF4-FFF2-40B4-BE49-F238E27FC236}">
                <a16:creationId xmlns:a16="http://schemas.microsoft.com/office/drawing/2014/main" id="{0F673E65-C360-254F-B314-4E0279432BB5}"/>
              </a:ext>
            </a:extLst>
          </p:cNvPr>
          <p:cNvCxnSpPr>
            <a:cxnSpLocks/>
            <a:stCxn id="40" idx="3"/>
          </p:cNvCxnSpPr>
          <p:nvPr/>
        </p:nvCxnSpPr>
        <p:spPr>
          <a:xfrm>
            <a:off x="6065347" y="2952633"/>
            <a:ext cx="365889" cy="365886"/>
          </a:xfrm>
          <a:prstGeom prst="straightConnector1">
            <a:avLst/>
          </a:prstGeom>
          <a:ln>
            <a:tailEnd type="arrow"/>
          </a:ln>
        </p:spPr>
        <p:style>
          <a:lnRef idx="1">
            <a:schemeClr val="accent1"/>
          </a:lnRef>
          <a:fillRef idx="0">
            <a:schemeClr val="accent1"/>
          </a:fillRef>
          <a:effectRef idx="0">
            <a:schemeClr val="accent1"/>
          </a:effectRef>
          <a:fontRef idx="minor">
            <a:schemeClr val="tx1"/>
          </a:fontRef>
        </p:style>
      </p:cxnSp>
      <p:cxnSp>
        <p:nvCxnSpPr>
          <p:cNvPr id="68" name="Shape 48">
            <a:extLst>
              <a:ext uri="{FF2B5EF4-FFF2-40B4-BE49-F238E27FC236}">
                <a16:creationId xmlns:a16="http://schemas.microsoft.com/office/drawing/2014/main" id="{2DFA751A-88C9-F34A-B754-50098C2A7EC9}"/>
              </a:ext>
            </a:extLst>
          </p:cNvPr>
          <p:cNvCxnSpPr>
            <a:stCxn id="34" idx="2"/>
            <a:endCxn id="36" idx="1"/>
          </p:cNvCxnSpPr>
          <p:nvPr/>
        </p:nvCxnSpPr>
        <p:spPr>
          <a:xfrm rot="5400000" flipH="1" flipV="1">
            <a:off x="2554735" y="1077732"/>
            <a:ext cx="1766139" cy="3271838"/>
          </a:xfrm>
          <a:prstGeom prst="curvedConnector4">
            <a:avLst>
              <a:gd name="adj1" fmla="val -12943"/>
              <a:gd name="adj2" fmla="val 60548"/>
            </a:avLst>
          </a:prstGeom>
          <a:ln>
            <a:prstDash val="dash"/>
            <a:headEnd type="arrow" w="med" len="med"/>
            <a:tailEnd type="arrow" w="med" len="med"/>
          </a:ln>
        </p:spPr>
        <p:style>
          <a:lnRef idx="1">
            <a:schemeClr val="accent1"/>
          </a:lnRef>
          <a:fillRef idx="0">
            <a:schemeClr val="accent1"/>
          </a:fillRef>
          <a:effectRef idx="0">
            <a:schemeClr val="accent1"/>
          </a:effectRef>
          <a:fontRef idx="minor">
            <a:schemeClr val="tx1"/>
          </a:fontRef>
        </p:style>
      </p:cxnSp>
      <p:sp>
        <p:nvSpPr>
          <p:cNvPr id="70" name="TextBox 69">
            <a:extLst>
              <a:ext uri="{FF2B5EF4-FFF2-40B4-BE49-F238E27FC236}">
                <a16:creationId xmlns:a16="http://schemas.microsoft.com/office/drawing/2014/main" id="{D2FF7BB5-2F7C-3745-9B44-A1D5D5918E4D}"/>
              </a:ext>
            </a:extLst>
          </p:cNvPr>
          <p:cNvSpPr txBox="1"/>
          <p:nvPr/>
        </p:nvSpPr>
        <p:spPr>
          <a:xfrm>
            <a:off x="1574014" y="1419770"/>
            <a:ext cx="439544" cy="461665"/>
          </a:xfrm>
          <a:prstGeom prst="rect">
            <a:avLst/>
          </a:prstGeom>
          <a:noFill/>
        </p:spPr>
        <p:txBody>
          <a:bodyPr wrap="none" rtlCol="0">
            <a:spAutoFit/>
          </a:bodyPr>
          <a:lstStyle/>
          <a:p>
            <a:r>
              <a:rPr lang="en-US" sz="2400" dirty="0"/>
              <a:t>f  </a:t>
            </a:r>
          </a:p>
        </p:txBody>
      </p:sp>
      <p:sp>
        <p:nvSpPr>
          <p:cNvPr id="71" name="TextBox 70">
            <a:extLst>
              <a:ext uri="{FF2B5EF4-FFF2-40B4-BE49-F238E27FC236}">
                <a16:creationId xmlns:a16="http://schemas.microsoft.com/office/drawing/2014/main" id="{E22DCE0F-636C-534C-B77D-7C76D795DC38}"/>
              </a:ext>
            </a:extLst>
          </p:cNvPr>
          <p:cNvSpPr txBox="1"/>
          <p:nvPr/>
        </p:nvSpPr>
        <p:spPr>
          <a:xfrm>
            <a:off x="5317905" y="1179077"/>
            <a:ext cx="356188" cy="461665"/>
          </a:xfrm>
          <a:prstGeom prst="rect">
            <a:avLst/>
          </a:prstGeom>
          <a:noFill/>
        </p:spPr>
        <p:txBody>
          <a:bodyPr wrap="none" rtlCol="0">
            <a:spAutoFit/>
          </a:bodyPr>
          <a:lstStyle/>
          <a:p>
            <a:r>
              <a:rPr lang="en-US" sz="2400" dirty="0"/>
              <a:t>g</a:t>
            </a:r>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8434" name="Title 1"/>
          <p:cNvSpPr>
            <a:spLocks noGrp="1"/>
          </p:cNvSpPr>
          <p:nvPr>
            <p:ph type="title"/>
          </p:nvPr>
        </p:nvSpPr>
        <p:spPr/>
        <p:txBody>
          <a:bodyPr/>
          <a:lstStyle/>
          <a:p>
            <a:r>
              <a:rPr lang="en-US" dirty="0"/>
              <a:t>Note on the first use at the </a:t>
            </a:r>
            <a:r>
              <a:rPr lang="en-US" dirty="0" err="1"/>
              <a:t>callee</a:t>
            </a:r>
            <a:endParaRPr lang="en-US" dirty="0"/>
          </a:p>
        </p:txBody>
      </p:sp>
      <p:sp>
        <p:nvSpPr>
          <p:cNvPr id="18435" name="Content Placeholder 2"/>
          <p:cNvSpPr>
            <a:spLocks noGrp="1"/>
          </p:cNvSpPr>
          <p:nvPr>
            <p:ph idx="1"/>
          </p:nvPr>
        </p:nvSpPr>
        <p:spPr/>
        <p:txBody>
          <a:bodyPr/>
          <a:lstStyle/>
          <a:p>
            <a:r>
              <a:rPr lang="en-US" sz="2800" dirty="0"/>
              <a:t>When you just pass a variable as a in g(</a:t>
            </a:r>
            <a:r>
              <a:rPr lang="en-US" sz="2800" dirty="0" err="1"/>
              <a:t>a,b</a:t>
            </a:r>
            <a:r>
              <a:rPr lang="en-US" sz="2800" dirty="0"/>
              <a:t>), it makes sense to define g’s first use to be the first time g uses the parameter (location g.2 in the previous example).</a:t>
            </a:r>
          </a:p>
          <a:p>
            <a:endParaRPr lang="en-US" sz="2800" dirty="0"/>
          </a:p>
          <a:p>
            <a:r>
              <a:rPr lang="en-US" sz="2800" dirty="0"/>
              <a:t>But when you pass a complex expression like g(a+b,0), </a:t>
            </a:r>
            <a:r>
              <a:rPr lang="en-US" sz="2800" dirty="0">
                <a:sym typeface="Wingdings" pitchFamily="2" charset="2"/>
              </a:rPr>
              <a:t>things become more obscure. We will define g’s first uses of a and b to be the first node of g that uses, in this example, its first formal parameter. So, in this example it is g.2.</a:t>
            </a:r>
            <a:endParaRPr lang="en-US" sz="2800" dirty="0"/>
          </a:p>
        </p:txBody>
      </p:sp>
      <p:sp>
        <p:nvSpPr>
          <p:cNvPr id="4" name="Slide Number Placeholder 3"/>
          <p:cNvSpPr>
            <a:spLocks noGrp="1"/>
          </p:cNvSpPr>
          <p:nvPr>
            <p:ph type="sldNum" sz="quarter" idx="12"/>
          </p:nvPr>
        </p:nvSpPr>
        <p:spPr/>
        <p:txBody>
          <a:bodyPr/>
          <a:lstStyle/>
          <a:p>
            <a:pPr>
              <a:defRPr/>
            </a:pPr>
            <a:fld id="{41B6EF9F-F858-4462-BCD9-F3A1B69F2013}" type="slidenum">
              <a:rPr lang="en-US" smtClean="0"/>
              <a:pPr>
                <a:defRPr/>
              </a:pPr>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4" name="Rounded Rectangle 33">
            <a:extLst>
              <a:ext uri="{FF2B5EF4-FFF2-40B4-BE49-F238E27FC236}">
                <a16:creationId xmlns:a16="http://schemas.microsoft.com/office/drawing/2014/main" id="{A949E148-ECFC-EC4F-91E6-2D686BE54EED}"/>
              </a:ext>
            </a:extLst>
          </p:cNvPr>
          <p:cNvSpPr/>
          <p:nvPr/>
        </p:nvSpPr>
        <p:spPr>
          <a:xfrm>
            <a:off x="2741309" y="1212334"/>
            <a:ext cx="3093714" cy="2865444"/>
          </a:xfrm>
          <a:prstGeom prst="roundRect">
            <a:avLst/>
          </a:prstGeom>
          <a:solidFill>
            <a:schemeClr val="accent6">
              <a:lumMod val="40000"/>
              <a:lumOff val="60000"/>
              <a:alpha val="25000"/>
            </a:schemeClr>
          </a:solidFill>
          <a:ln>
            <a:solidFill>
              <a:schemeClr val="accent6">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6" name="Rounded Rectangle 35">
            <a:extLst>
              <a:ext uri="{FF2B5EF4-FFF2-40B4-BE49-F238E27FC236}">
                <a16:creationId xmlns:a16="http://schemas.microsoft.com/office/drawing/2014/main" id="{D40008E7-4F35-5543-8156-598D15406AEF}"/>
              </a:ext>
            </a:extLst>
          </p:cNvPr>
          <p:cNvSpPr/>
          <p:nvPr/>
        </p:nvSpPr>
        <p:spPr>
          <a:xfrm>
            <a:off x="-10118" y="1224715"/>
            <a:ext cx="2665170" cy="2836772"/>
          </a:xfrm>
          <a:prstGeom prst="roundRect">
            <a:avLst/>
          </a:prstGeom>
          <a:solidFill>
            <a:srgbClr val="FFC000">
              <a:alpha val="25000"/>
            </a:srgbClr>
          </a:solidFill>
          <a:ln>
            <a:solidFill>
              <a:srgbClr val="FFC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1" name="Rectangle 40">
            <a:extLst>
              <a:ext uri="{FF2B5EF4-FFF2-40B4-BE49-F238E27FC236}">
                <a16:creationId xmlns:a16="http://schemas.microsoft.com/office/drawing/2014/main" id="{17612BE9-8D9D-0043-BEF7-F60BD7E0DD82}"/>
              </a:ext>
            </a:extLst>
          </p:cNvPr>
          <p:cNvSpPr/>
          <p:nvPr/>
        </p:nvSpPr>
        <p:spPr>
          <a:xfrm>
            <a:off x="6005779" y="3450514"/>
            <a:ext cx="2686761" cy="610973"/>
          </a:xfrm>
          <a:prstGeom prst="rect">
            <a:avLst/>
          </a:prstGeom>
          <a:solidFill>
            <a:srgbClr val="92D050">
              <a:alpha val="61176"/>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0" name="Rectangle 39">
            <a:extLst>
              <a:ext uri="{FF2B5EF4-FFF2-40B4-BE49-F238E27FC236}">
                <a16:creationId xmlns:a16="http://schemas.microsoft.com/office/drawing/2014/main" id="{8F43F182-AA0F-5F4A-BA18-36C3B9018CD7}"/>
              </a:ext>
            </a:extLst>
          </p:cNvPr>
          <p:cNvSpPr/>
          <p:nvPr/>
        </p:nvSpPr>
        <p:spPr>
          <a:xfrm>
            <a:off x="6000038" y="2813992"/>
            <a:ext cx="2686761" cy="610973"/>
          </a:xfrm>
          <a:prstGeom prst="rect">
            <a:avLst/>
          </a:prstGeom>
          <a:solidFill>
            <a:schemeClr val="accent5">
              <a:lumMod val="20000"/>
              <a:lumOff val="8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9" name="Rectangle 38">
            <a:extLst>
              <a:ext uri="{FF2B5EF4-FFF2-40B4-BE49-F238E27FC236}">
                <a16:creationId xmlns:a16="http://schemas.microsoft.com/office/drawing/2014/main" id="{DA5492E2-C305-2545-870D-BD5CDAD024EE}"/>
              </a:ext>
            </a:extLst>
          </p:cNvPr>
          <p:cNvSpPr/>
          <p:nvPr/>
        </p:nvSpPr>
        <p:spPr>
          <a:xfrm>
            <a:off x="6005779" y="2203019"/>
            <a:ext cx="2686761" cy="610973"/>
          </a:xfrm>
          <a:prstGeom prst="rect">
            <a:avLst/>
          </a:prstGeom>
          <a:solidFill>
            <a:schemeClr val="accent1">
              <a:lumMod val="20000"/>
              <a:lumOff val="8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Rectangle 11">
            <a:extLst>
              <a:ext uri="{FF2B5EF4-FFF2-40B4-BE49-F238E27FC236}">
                <a16:creationId xmlns:a16="http://schemas.microsoft.com/office/drawing/2014/main" id="{C40E2F38-1055-F248-A758-6E1F424544A4}"/>
              </a:ext>
            </a:extLst>
          </p:cNvPr>
          <p:cNvSpPr/>
          <p:nvPr/>
        </p:nvSpPr>
        <p:spPr>
          <a:xfrm>
            <a:off x="6000039" y="1242367"/>
            <a:ext cx="2686761" cy="699840"/>
          </a:xfrm>
          <a:prstGeom prst="rect">
            <a:avLst/>
          </a:prstGeom>
          <a:solidFill>
            <a:srgbClr val="FFFF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410" name="Title 1"/>
          <p:cNvSpPr>
            <a:spLocks noGrp="1"/>
          </p:cNvSpPr>
          <p:nvPr>
            <p:ph type="title"/>
          </p:nvPr>
        </p:nvSpPr>
        <p:spPr>
          <a:xfrm>
            <a:off x="457200" y="274638"/>
            <a:ext cx="8229600" cy="764529"/>
          </a:xfrm>
        </p:spPr>
        <p:txBody>
          <a:bodyPr/>
          <a:lstStyle/>
          <a:p>
            <a:r>
              <a:rPr lang="en-US" sz="3600" dirty="0"/>
              <a:t>Integration Test-Requirement</a:t>
            </a:r>
          </a:p>
        </p:txBody>
      </p:sp>
      <p:sp>
        <p:nvSpPr>
          <p:cNvPr id="17411" name="Content Placeholder 2"/>
          <p:cNvSpPr>
            <a:spLocks noGrp="1"/>
          </p:cNvSpPr>
          <p:nvPr>
            <p:ph idx="1"/>
          </p:nvPr>
        </p:nvSpPr>
        <p:spPr>
          <a:xfrm>
            <a:off x="179388" y="4581525"/>
            <a:ext cx="8713787" cy="1990725"/>
          </a:xfrm>
        </p:spPr>
        <p:txBody>
          <a:bodyPr/>
          <a:lstStyle/>
          <a:p>
            <a:r>
              <a:rPr lang="en-US" sz="2400" dirty="0"/>
              <a:t>(ACDC)  </a:t>
            </a:r>
            <a:r>
              <a:rPr lang="en-US" sz="2400" i="1" dirty="0">
                <a:solidFill>
                  <a:srgbClr val="0070C0"/>
                </a:solidFill>
              </a:rPr>
              <a:t>All Coupling </a:t>
            </a:r>
            <a:r>
              <a:rPr lang="en-US" sz="2400" i="1" dirty="0" err="1">
                <a:solidFill>
                  <a:srgbClr val="0070C0"/>
                </a:solidFill>
              </a:rPr>
              <a:t>Defs</a:t>
            </a:r>
            <a:r>
              <a:rPr lang="en-US" sz="2400" i="1" dirty="0">
                <a:solidFill>
                  <a:srgbClr val="0070C0"/>
                </a:solidFill>
              </a:rPr>
              <a:t> </a:t>
            </a:r>
            <a:r>
              <a:rPr lang="en-US" sz="2400" i="1" dirty="0" err="1">
                <a:solidFill>
                  <a:srgbClr val="0070C0"/>
                </a:solidFill>
              </a:rPr>
              <a:t>Cov</a:t>
            </a:r>
            <a:r>
              <a:rPr lang="en-US" sz="2400" dirty="0"/>
              <a:t>. :  for every last-</a:t>
            </a:r>
            <a:r>
              <a:rPr lang="en-US" sz="2400" dirty="0" err="1"/>
              <a:t>def</a:t>
            </a:r>
            <a:r>
              <a:rPr lang="en-US" sz="2400" dirty="0"/>
              <a:t> </a:t>
            </a:r>
            <a:r>
              <a:rPr lang="en-US" sz="2400" i="1" dirty="0"/>
              <a:t>d </a:t>
            </a:r>
            <a:r>
              <a:rPr lang="en-US" sz="2400" dirty="0"/>
              <a:t>of each coupling </a:t>
            </a:r>
            <a:r>
              <a:rPr lang="en-US" sz="2400" dirty="0" err="1"/>
              <a:t>var</a:t>
            </a:r>
            <a:r>
              <a:rPr lang="en-US" sz="2400" dirty="0"/>
              <a:t> </a:t>
            </a:r>
            <a:r>
              <a:rPr lang="en-US" sz="2400" i="1" dirty="0"/>
              <a:t>v</a:t>
            </a:r>
            <a:r>
              <a:rPr lang="en-US" sz="2400" dirty="0"/>
              <a:t>, TR includes one coupling du-path starting from </a:t>
            </a:r>
            <a:r>
              <a:rPr lang="en-US" sz="2400" i="1" dirty="0"/>
              <a:t>d</a:t>
            </a:r>
            <a:r>
              <a:rPr lang="en-US" sz="2400" dirty="0"/>
              <a:t>.</a:t>
            </a:r>
          </a:p>
          <a:p>
            <a:r>
              <a:rPr lang="en-US" sz="2400" dirty="0"/>
              <a:t>(ACUC) </a:t>
            </a:r>
            <a:r>
              <a:rPr lang="en-US" sz="2400" i="1" dirty="0">
                <a:solidFill>
                  <a:srgbClr val="0070C0"/>
                </a:solidFill>
                <a:sym typeface="Wingdings" pitchFamily="2" charset="2"/>
              </a:rPr>
              <a:t>All Coupling Uses </a:t>
            </a:r>
            <a:r>
              <a:rPr lang="en-US" sz="2400" i="1" dirty="0" err="1">
                <a:solidFill>
                  <a:srgbClr val="0070C0"/>
                </a:solidFill>
                <a:sym typeface="Wingdings" pitchFamily="2" charset="2"/>
              </a:rPr>
              <a:t>Cov</a:t>
            </a:r>
            <a:r>
              <a:rPr lang="en-US" sz="2400" dirty="0">
                <a:sym typeface="Wingdings" pitchFamily="2" charset="2"/>
              </a:rPr>
              <a:t>. : for every last-</a:t>
            </a:r>
            <a:r>
              <a:rPr lang="en-US" sz="2400" dirty="0" err="1">
                <a:sym typeface="Wingdings" pitchFamily="2" charset="2"/>
              </a:rPr>
              <a:t>def</a:t>
            </a:r>
            <a:r>
              <a:rPr lang="en-US" sz="2400" dirty="0">
                <a:sym typeface="Wingdings" pitchFamily="2" charset="2"/>
              </a:rPr>
              <a:t> </a:t>
            </a:r>
            <a:r>
              <a:rPr lang="en-US" sz="2400" i="1" dirty="0">
                <a:sym typeface="Wingdings" pitchFamily="2" charset="2"/>
              </a:rPr>
              <a:t>d </a:t>
            </a:r>
            <a:r>
              <a:rPr lang="en-US" sz="2400" dirty="0">
                <a:sym typeface="Wingdings" pitchFamily="2" charset="2"/>
              </a:rPr>
              <a:t>and first-use </a:t>
            </a:r>
            <a:r>
              <a:rPr lang="en-US" sz="2400" i="1" dirty="0">
                <a:sym typeface="Wingdings" pitchFamily="2" charset="2"/>
              </a:rPr>
              <a:t>u </a:t>
            </a:r>
            <a:r>
              <a:rPr lang="en-US" sz="2400" dirty="0">
                <a:sym typeface="Wingdings" pitchFamily="2" charset="2"/>
              </a:rPr>
              <a:t>of </a:t>
            </a:r>
            <a:r>
              <a:rPr lang="en-US" sz="2400" i="1" dirty="0">
                <a:sym typeface="Wingdings" pitchFamily="2" charset="2"/>
              </a:rPr>
              <a:t>v, TR </a:t>
            </a:r>
            <a:r>
              <a:rPr lang="en-US" sz="2400" dirty="0">
                <a:sym typeface="Wingdings" pitchFamily="2" charset="2"/>
              </a:rPr>
              <a:t>includes one couple du-path from </a:t>
            </a:r>
            <a:r>
              <a:rPr lang="en-US" sz="2400" i="1" dirty="0">
                <a:sym typeface="Wingdings" pitchFamily="2" charset="2"/>
              </a:rPr>
              <a:t>d</a:t>
            </a:r>
            <a:r>
              <a:rPr lang="en-US" sz="2400" dirty="0">
                <a:sym typeface="Wingdings" pitchFamily="2" charset="2"/>
              </a:rPr>
              <a:t> to </a:t>
            </a:r>
            <a:r>
              <a:rPr lang="en-US" sz="2400" i="1" dirty="0">
                <a:sym typeface="Wingdings" pitchFamily="2" charset="2"/>
              </a:rPr>
              <a:t>u</a:t>
            </a:r>
            <a:r>
              <a:rPr lang="en-US" sz="2400" dirty="0">
                <a:sym typeface="Wingdings" pitchFamily="2" charset="2"/>
              </a:rPr>
              <a:t>.</a:t>
            </a:r>
            <a:endParaRPr lang="en-US" sz="2400" dirty="0"/>
          </a:p>
          <a:p>
            <a:endParaRPr lang="en-US" sz="2400" dirty="0"/>
          </a:p>
          <a:p>
            <a:endParaRPr lang="en-US" sz="2400" dirty="0"/>
          </a:p>
          <a:p>
            <a:endParaRPr lang="en-US" sz="2400" dirty="0"/>
          </a:p>
          <a:p>
            <a:endParaRPr lang="en-US" sz="2400" dirty="0"/>
          </a:p>
        </p:txBody>
      </p:sp>
      <p:sp>
        <p:nvSpPr>
          <p:cNvPr id="4" name="Slide Number Placeholder 3"/>
          <p:cNvSpPr>
            <a:spLocks noGrp="1"/>
          </p:cNvSpPr>
          <p:nvPr>
            <p:ph type="sldNum" sz="quarter" idx="12"/>
          </p:nvPr>
        </p:nvSpPr>
        <p:spPr/>
        <p:txBody>
          <a:bodyPr/>
          <a:lstStyle/>
          <a:p>
            <a:pPr>
              <a:defRPr/>
            </a:pPr>
            <a:fld id="{4222195C-4E8F-49AE-B622-01B2FA64103B}" type="slidenum">
              <a:rPr lang="en-US" smtClean="0"/>
              <a:pPr>
                <a:defRPr/>
              </a:pPr>
              <a:t>18</a:t>
            </a:fld>
            <a:endParaRPr lang="en-US" dirty="0"/>
          </a:p>
        </p:txBody>
      </p:sp>
      <p:sp>
        <p:nvSpPr>
          <p:cNvPr id="31" name="TextBox 30"/>
          <p:cNvSpPr txBox="1"/>
          <p:nvPr/>
        </p:nvSpPr>
        <p:spPr>
          <a:xfrm>
            <a:off x="6000039" y="1224715"/>
            <a:ext cx="2515432" cy="2862322"/>
          </a:xfrm>
          <a:prstGeom prst="rect">
            <a:avLst/>
          </a:prstGeom>
          <a:noFill/>
        </p:spPr>
        <p:txBody>
          <a:bodyPr wrap="none">
            <a:spAutoFit/>
          </a:bodyPr>
          <a:lstStyle/>
          <a:p>
            <a:pPr>
              <a:defRPr/>
            </a:pPr>
            <a:r>
              <a:rPr lang="en-US" sz="2000" b="1" i="1" dirty="0">
                <a:latin typeface="+mn-lt"/>
              </a:rPr>
              <a:t>Coupling </a:t>
            </a:r>
            <a:r>
              <a:rPr lang="en-US" sz="2000" b="1" i="1" dirty="0" err="1">
                <a:latin typeface="+mn-lt"/>
              </a:rPr>
              <a:t>vars</a:t>
            </a:r>
            <a:r>
              <a:rPr lang="en-US" sz="2000" b="1" i="1" dirty="0">
                <a:latin typeface="+mn-lt"/>
              </a:rPr>
              <a:t>:  </a:t>
            </a:r>
            <a:br>
              <a:rPr lang="en-US" sz="2000" dirty="0">
                <a:latin typeface="+mn-lt"/>
              </a:rPr>
            </a:br>
            <a:r>
              <a:rPr lang="en-US" sz="2000" dirty="0">
                <a:latin typeface="+mn-lt"/>
              </a:rPr>
              <a:t>      a, b, </a:t>
            </a:r>
            <a:r>
              <a:rPr lang="en-US" sz="2000" dirty="0" err="1">
                <a:latin typeface="+mn-lt"/>
              </a:rPr>
              <a:t>g.return</a:t>
            </a:r>
            <a:endParaRPr lang="en-US" sz="2000" dirty="0">
              <a:latin typeface="+mn-lt"/>
            </a:endParaRPr>
          </a:p>
          <a:p>
            <a:pPr>
              <a:defRPr/>
            </a:pPr>
            <a:r>
              <a:rPr lang="en-US" sz="2000" b="1" i="1" dirty="0">
                <a:latin typeface="+mn-lt"/>
              </a:rPr>
              <a:t>Coupling du-paths :  </a:t>
            </a:r>
            <a:br>
              <a:rPr lang="en-US" sz="2000" dirty="0">
                <a:latin typeface="+mn-lt"/>
              </a:rPr>
            </a:br>
            <a:r>
              <a:rPr lang="en-US" sz="2000" dirty="0">
                <a:latin typeface="+mn-lt"/>
              </a:rPr>
              <a:t>    </a:t>
            </a:r>
            <a:r>
              <a:rPr lang="en-US" sz="2000" dirty="0">
                <a:solidFill>
                  <a:srgbClr val="FF0000"/>
                </a:solidFill>
                <a:latin typeface="+mn-lt"/>
              </a:rPr>
              <a:t>a</a:t>
            </a:r>
            <a:r>
              <a:rPr lang="en-US" sz="2000" dirty="0">
                <a:latin typeface="+mn-lt"/>
              </a:rPr>
              <a:t>:  [f1,f2,f4,g1,g2] </a:t>
            </a:r>
            <a:br>
              <a:rPr lang="en-US" sz="2000" dirty="0">
                <a:latin typeface="+mn-lt"/>
              </a:rPr>
            </a:br>
            <a:r>
              <a:rPr lang="en-US" sz="2000" dirty="0">
                <a:latin typeface="+mn-lt"/>
              </a:rPr>
              <a:t>         [f3,f4,g1,g2]</a:t>
            </a:r>
            <a:br>
              <a:rPr lang="en-US" sz="2000" dirty="0">
                <a:latin typeface="+mn-lt"/>
              </a:rPr>
            </a:br>
            <a:r>
              <a:rPr lang="en-US" sz="2000" dirty="0">
                <a:latin typeface="+mn-lt"/>
              </a:rPr>
              <a:t>   </a:t>
            </a:r>
            <a:r>
              <a:rPr lang="en-US" sz="2000" dirty="0">
                <a:solidFill>
                  <a:schemeClr val="accent6">
                    <a:lumMod val="60000"/>
                    <a:lumOff val="40000"/>
                  </a:schemeClr>
                </a:solidFill>
                <a:latin typeface="+mn-lt"/>
              </a:rPr>
              <a:t> b</a:t>
            </a:r>
            <a:r>
              <a:rPr lang="en-US" sz="2000" dirty="0">
                <a:latin typeface="+mn-lt"/>
              </a:rPr>
              <a:t>: [f1,f2,f4,g1,g2] </a:t>
            </a:r>
            <a:br>
              <a:rPr lang="en-US" sz="2000" dirty="0">
                <a:latin typeface="+mn-lt"/>
              </a:rPr>
            </a:br>
            <a:r>
              <a:rPr lang="en-US" sz="2000" dirty="0">
                <a:latin typeface="+mn-lt"/>
              </a:rPr>
              <a:t>         [f1,f2,f3,f4,g1,g2]</a:t>
            </a:r>
            <a:br>
              <a:rPr lang="en-US" sz="2000" dirty="0">
                <a:latin typeface="+mn-lt"/>
              </a:rPr>
            </a:br>
            <a:r>
              <a:rPr lang="en-US" sz="2000" dirty="0">
                <a:latin typeface="+mn-lt"/>
              </a:rPr>
              <a:t>    </a:t>
            </a:r>
            <a:r>
              <a:rPr lang="en-US" sz="2000" dirty="0" err="1">
                <a:solidFill>
                  <a:srgbClr val="00B050"/>
                </a:solidFill>
                <a:latin typeface="+mn-lt"/>
              </a:rPr>
              <a:t>g.return</a:t>
            </a:r>
            <a:r>
              <a:rPr lang="en-US" sz="2000" dirty="0">
                <a:latin typeface="+mn-lt"/>
              </a:rPr>
              <a:t>: [g4,f4]</a:t>
            </a:r>
            <a:br>
              <a:rPr lang="en-US" sz="2000" dirty="0">
                <a:latin typeface="+mn-lt"/>
              </a:rPr>
            </a:br>
            <a:r>
              <a:rPr lang="en-US" sz="2000" dirty="0">
                <a:latin typeface="+mn-lt"/>
              </a:rPr>
              <a:t>                     [g5,f4]</a:t>
            </a:r>
          </a:p>
        </p:txBody>
      </p:sp>
      <p:sp>
        <p:nvSpPr>
          <p:cNvPr id="27" name="TextBox 26"/>
          <p:cNvSpPr txBox="1"/>
          <p:nvPr/>
        </p:nvSpPr>
        <p:spPr>
          <a:xfrm>
            <a:off x="107950" y="1643063"/>
            <a:ext cx="1684338" cy="369887"/>
          </a:xfrm>
          <a:prstGeom prst="rect">
            <a:avLst/>
          </a:prstGeom>
          <a:solidFill>
            <a:schemeClr val="accent1">
              <a:lumMod val="40000"/>
              <a:lumOff val="60000"/>
            </a:schemeClr>
          </a:solidFill>
        </p:spPr>
        <p:style>
          <a:lnRef idx="2">
            <a:schemeClr val="dk1"/>
          </a:lnRef>
          <a:fillRef idx="1">
            <a:schemeClr val="lt1"/>
          </a:fillRef>
          <a:effectRef idx="0">
            <a:schemeClr val="dk1"/>
          </a:effectRef>
          <a:fontRef idx="minor">
            <a:schemeClr val="dk1"/>
          </a:fontRef>
        </p:style>
        <p:txBody>
          <a:bodyPr wrap="none">
            <a:spAutoFit/>
          </a:bodyPr>
          <a:lstStyle/>
          <a:p>
            <a:pPr>
              <a:defRPr/>
            </a:pPr>
            <a:r>
              <a:rPr lang="en-US" dirty="0"/>
              <a:t>(1)</a:t>
            </a:r>
            <a:r>
              <a:rPr lang="en-US" b="1" dirty="0">
                <a:solidFill>
                  <a:srgbClr val="FF0000"/>
                </a:solidFill>
              </a:rPr>
              <a:t> a </a:t>
            </a:r>
            <a:r>
              <a:rPr lang="en-US" dirty="0"/>
              <a:t>= ...  ;</a:t>
            </a:r>
            <a:r>
              <a:rPr lang="en-US" b="1" dirty="0">
                <a:solidFill>
                  <a:schemeClr val="accent6">
                    <a:lumMod val="60000"/>
                    <a:lumOff val="40000"/>
                  </a:schemeClr>
                </a:solidFill>
              </a:rPr>
              <a:t>b</a:t>
            </a:r>
            <a:r>
              <a:rPr lang="en-US" dirty="0"/>
              <a:t> = ...</a:t>
            </a:r>
          </a:p>
        </p:txBody>
      </p:sp>
      <p:sp>
        <p:nvSpPr>
          <p:cNvPr id="29" name="TextBox 28"/>
          <p:cNvSpPr txBox="1"/>
          <p:nvPr/>
        </p:nvSpPr>
        <p:spPr>
          <a:xfrm>
            <a:off x="1539057" y="2218650"/>
            <a:ext cx="1054100" cy="369888"/>
          </a:xfrm>
          <a:prstGeom prst="rect">
            <a:avLst/>
          </a:prstGeom>
          <a:solidFill>
            <a:schemeClr val="accent1">
              <a:lumMod val="40000"/>
              <a:lumOff val="60000"/>
            </a:schemeClr>
          </a:solidFill>
        </p:spPr>
        <p:style>
          <a:lnRef idx="2">
            <a:schemeClr val="dk1"/>
          </a:lnRef>
          <a:fillRef idx="1">
            <a:schemeClr val="lt1"/>
          </a:fillRef>
          <a:effectRef idx="0">
            <a:schemeClr val="dk1"/>
          </a:effectRef>
          <a:fontRef idx="minor">
            <a:schemeClr val="dk1"/>
          </a:fontRef>
        </p:style>
        <p:txBody>
          <a:bodyPr wrap="none">
            <a:spAutoFit/>
          </a:bodyPr>
          <a:lstStyle/>
          <a:p>
            <a:pPr>
              <a:defRPr/>
            </a:pPr>
            <a:r>
              <a:rPr lang="en-US" dirty="0"/>
              <a:t>(3)  </a:t>
            </a:r>
            <a:r>
              <a:rPr lang="en-US" b="1" dirty="0">
                <a:solidFill>
                  <a:srgbClr val="FF0000"/>
                </a:solidFill>
              </a:rPr>
              <a:t>a</a:t>
            </a:r>
            <a:r>
              <a:rPr lang="en-US" dirty="0"/>
              <a:t> = ...</a:t>
            </a:r>
          </a:p>
        </p:txBody>
      </p:sp>
      <p:sp>
        <p:nvSpPr>
          <p:cNvPr id="33" name="TextBox 32"/>
          <p:cNvSpPr txBox="1"/>
          <p:nvPr/>
        </p:nvSpPr>
        <p:spPr>
          <a:xfrm>
            <a:off x="506413" y="2214563"/>
            <a:ext cx="896937" cy="369887"/>
          </a:xfrm>
          <a:prstGeom prst="rect">
            <a:avLst/>
          </a:prstGeom>
          <a:solidFill>
            <a:schemeClr val="accent1">
              <a:lumMod val="40000"/>
              <a:lumOff val="60000"/>
            </a:schemeClr>
          </a:solidFill>
        </p:spPr>
        <p:style>
          <a:lnRef idx="2">
            <a:schemeClr val="dk1"/>
          </a:lnRef>
          <a:fillRef idx="1">
            <a:schemeClr val="lt1"/>
          </a:fillRef>
          <a:effectRef idx="0">
            <a:schemeClr val="dk1"/>
          </a:effectRef>
          <a:fontRef idx="minor">
            <a:schemeClr val="dk1"/>
          </a:fontRef>
        </p:style>
        <p:txBody>
          <a:bodyPr wrap="none">
            <a:spAutoFit/>
          </a:bodyPr>
          <a:lstStyle/>
          <a:p>
            <a:pPr>
              <a:defRPr/>
            </a:pPr>
            <a:r>
              <a:rPr lang="en-US" dirty="0"/>
              <a:t>(2)  a&gt;b</a:t>
            </a:r>
          </a:p>
        </p:txBody>
      </p:sp>
      <p:sp>
        <p:nvSpPr>
          <p:cNvPr id="35" name="TextBox 34"/>
          <p:cNvSpPr txBox="1"/>
          <p:nvPr/>
        </p:nvSpPr>
        <p:spPr>
          <a:xfrm>
            <a:off x="259072" y="2971007"/>
            <a:ext cx="1380506" cy="369332"/>
          </a:xfrm>
          <a:prstGeom prst="rect">
            <a:avLst/>
          </a:prstGeom>
          <a:solidFill>
            <a:schemeClr val="accent1">
              <a:lumMod val="40000"/>
              <a:lumOff val="60000"/>
            </a:schemeClr>
          </a:solidFill>
        </p:spPr>
        <p:style>
          <a:lnRef idx="2">
            <a:schemeClr val="dk1"/>
          </a:lnRef>
          <a:fillRef idx="1">
            <a:schemeClr val="lt1"/>
          </a:fillRef>
          <a:effectRef idx="0">
            <a:schemeClr val="dk1"/>
          </a:effectRef>
          <a:fontRef idx="minor">
            <a:schemeClr val="dk1"/>
          </a:fontRef>
        </p:style>
        <p:txBody>
          <a:bodyPr wrap="none">
            <a:spAutoFit/>
          </a:bodyPr>
          <a:lstStyle/>
          <a:p>
            <a:pPr>
              <a:defRPr/>
            </a:pPr>
            <a:r>
              <a:rPr lang="en-US" dirty="0"/>
              <a:t>(4) </a:t>
            </a:r>
            <a:r>
              <a:rPr lang="en-US" b="1" dirty="0">
                <a:solidFill>
                  <a:srgbClr val="00B050"/>
                </a:solidFill>
              </a:rPr>
              <a:t>b</a:t>
            </a:r>
            <a:r>
              <a:rPr lang="en-US" dirty="0"/>
              <a:t> = g(</a:t>
            </a:r>
            <a:r>
              <a:rPr lang="en-US" dirty="0" err="1"/>
              <a:t>a,b</a:t>
            </a:r>
            <a:r>
              <a:rPr lang="en-US" dirty="0"/>
              <a:t>)</a:t>
            </a:r>
          </a:p>
        </p:txBody>
      </p:sp>
      <p:sp>
        <p:nvSpPr>
          <p:cNvPr id="37" name="TextBox 36"/>
          <p:cNvSpPr txBox="1"/>
          <p:nvPr/>
        </p:nvSpPr>
        <p:spPr>
          <a:xfrm>
            <a:off x="3201442" y="1573907"/>
            <a:ext cx="1007007" cy="369332"/>
          </a:xfrm>
          <a:prstGeom prst="rect">
            <a:avLst/>
          </a:prstGeom>
          <a:solidFill>
            <a:schemeClr val="accent5">
              <a:lumMod val="20000"/>
              <a:lumOff val="80000"/>
            </a:schemeClr>
          </a:solidFill>
        </p:spPr>
        <p:style>
          <a:lnRef idx="2">
            <a:schemeClr val="dk1"/>
          </a:lnRef>
          <a:fillRef idx="1">
            <a:schemeClr val="lt1"/>
          </a:fillRef>
          <a:effectRef idx="0">
            <a:schemeClr val="dk1"/>
          </a:effectRef>
          <a:fontRef idx="minor">
            <a:schemeClr val="dk1"/>
          </a:fontRef>
        </p:style>
        <p:txBody>
          <a:bodyPr wrap="none">
            <a:spAutoFit/>
          </a:bodyPr>
          <a:lstStyle/>
          <a:p>
            <a:pPr>
              <a:defRPr/>
            </a:pPr>
            <a:r>
              <a:rPr lang="en-US" dirty="0"/>
              <a:t>(1) g(</a:t>
            </a:r>
            <a:r>
              <a:rPr lang="en-US" dirty="0" err="1"/>
              <a:t>x,y</a:t>
            </a:r>
            <a:r>
              <a:rPr lang="en-US" dirty="0"/>
              <a:t>)</a:t>
            </a:r>
          </a:p>
        </p:txBody>
      </p:sp>
      <p:sp>
        <p:nvSpPr>
          <p:cNvPr id="38" name="TextBox 37"/>
          <p:cNvSpPr txBox="1"/>
          <p:nvPr/>
        </p:nvSpPr>
        <p:spPr>
          <a:xfrm>
            <a:off x="3231898" y="2135249"/>
            <a:ext cx="941283" cy="369332"/>
          </a:xfrm>
          <a:prstGeom prst="rect">
            <a:avLst/>
          </a:prstGeom>
          <a:solidFill>
            <a:schemeClr val="accent5">
              <a:lumMod val="20000"/>
              <a:lumOff val="80000"/>
            </a:schemeClr>
          </a:solidFill>
        </p:spPr>
        <p:style>
          <a:lnRef idx="2">
            <a:schemeClr val="dk1"/>
          </a:lnRef>
          <a:fillRef idx="1">
            <a:schemeClr val="lt1"/>
          </a:fillRef>
          <a:effectRef idx="0">
            <a:schemeClr val="dk1"/>
          </a:effectRef>
          <a:fontRef idx="minor">
            <a:schemeClr val="dk1"/>
          </a:fontRef>
        </p:style>
        <p:txBody>
          <a:bodyPr wrap="none">
            <a:spAutoFit/>
          </a:bodyPr>
          <a:lstStyle/>
          <a:p>
            <a:pPr>
              <a:defRPr/>
            </a:pPr>
            <a:r>
              <a:rPr lang="en-US" dirty="0"/>
              <a:t>(2) </a:t>
            </a:r>
            <a:r>
              <a:rPr lang="en-US" b="1" dirty="0">
                <a:solidFill>
                  <a:srgbClr val="FF0000"/>
                </a:solidFill>
              </a:rPr>
              <a:t>x</a:t>
            </a:r>
            <a:r>
              <a:rPr lang="en-US" dirty="0"/>
              <a:t>&lt;=</a:t>
            </a:r>
            <a:r>
              <a:rPr lang="en-US" b="1" dirty="0">
                <a:solidFill>
                  <a:schemeClr val="accent6">
                    <a:lumMod val="60000"/>
                    <a:lumOff val="40000"/>
                  </a:schemeClr>
                </a:solidFill>
              </a:rPr>
              <a:t>y</a:t>
            </a:r>
          </a:p>
        </p:txBody>
      </p:sp>
      <p:sp>
        <p:nvSpPr>
          <p:cNvPr id="42" name="TextBox 41"/>
          <p:cNvSpPr txBox="1"/>
          <p:nvPr/>
        </p:nvSpPr>
        <p:spPr>
          <a:xfrm>
            <a:off x="3270569" y="2666239"/>
            <a:ext cx="930063" cy="369332"/>
          </a:xfrm>
          <a:prstGeom prst="rect">
            <a:avLst/>
          </a:prstGeom>
          <a:solidFill>
            <a:schemeClr val="accent5">
              <a:lumMod val="20000"/>
              <a:lumOff val="80000"/>
            </a:schemeClr>
          </a:solidFill>
        </p:spPr>
        <p:style>
          <a:lnRef idx="2">
            <a:schemeClr val="dk1"/>
          </a:lnRef>
          <a:fillRef idx="1">
            <a:schemeClr val="lt1"/>
          </a:fillRef>
          <a:effectRef idx="0">
            <a:schemeClr val="dk1"/>
          </a:effectRef>
          <a:fontRef idx="minor">
            <a:schemeClr val="dk1"/>
          </a:fontRef>
        </p:style>
        <p:txBody>
          <a:bodyPr wrap="none">
            <a:spAutoFit/>
          </a:bodyPr>
          <a:lstStyle/>
          <a:p>
            <a:pPr>
              <a:defRPr/>
            </a:pPr>
            <a:r>
              <a:rPr lang="en-US" dirty="0"/>
              <a:t>(3) x==y</a:t>
            </a:r>
          </a:p>
        </p:txBody>
      </p:sp>
      <p:sp>
        <p:nvSpPr>
          <p:cNvPr id="43" name="TextBox 42"/>
          <p:cNvSpPr txBox="1"/>
          <p:nvPr/>
        </p:nvSpPr>
        <p:spPr>
          <a:xfrm>
            <a:off x="4282521" y="2145407"/>
            <a:ext cx="1314450" cy="369887"/>
          </a:xfrm>
          <a:prstGeom prst="rect">
            <a:avLst/>
          </a:prstGeom>
          <a:solidFill>
            <a:schemeClr val="accent5">
              <a:lumMod val="20000"/>
              <a:lumOff val="80000"/>
            </a:schemeClr>
          </a:solidFill>
        </p:spPr>
        <p:style>
          <a:lnRef idx="2">
            <a:schemeClr val="dk1"/>
          </a:lnRef>
          <a:fillRef idx="1">
            <a:schemeClr val="lt1"/>
          </a:fillRef>
          <a:effectRef idx="0">
            <a:schemeClr val="dk1"/>
          </a:effectRef>
          <a:fontRef idx="minor">
            <a:schemeClr val="dk1"/>
          </a:fontRef>
        </p:style>
        <p:txBody>
          <a:bodyPr wrap="none">
            <a:spAutoFit/>
          </a:bodyPr>
          <a:lstStyle/>
          <a:p>
            <a:pPr>
              <a:defRPr/>
            </a:pPr>
            <a:r>
              <a:rPr lang="en-US" dirty="0"/>
              <a:t>(4) </a:t>
            </a:r>
            <a:r>
              <a:rPr lang="en-US" b="1" dirty="0">
                <a:solidFill>
                  <a:srgbClr val="00B050"/>
                </a:solidFill>
              </a:rPr>
              <a:t>return</a:t>
            </a:r>
            <a:r>
              <a:rPr lang="en-US" dirty="0"/>
              <a:t> ...</a:t>
            </a:r>
          </a:p>
        </p:txBody>
      </p:sp>
      <p:sp>
        <p:nvSpPr>
          <p:cNvPr id="44" name="TextBox 43"/>
          <p:cNvSpPr txBox="1"/>
          <p:nvPr/>
        </p:nvSpPr>
        <p:spPr>
          <a:xfrm>
            <a:off x="4520572" y="3285231"/>
            <a:ext cx="1314450" cy="369888"/>
          </a:xfrm>
          <a:prstGeom prst="rect">
            <a:avLst/>
          </a:prstGeom>
          <a:solidFill>
            <a:schemeClr val="accent5">
              <a:lumMod val="20000"/>
              <a:lumOff val="80000"/>
            </a:schemeClr>
          </a:solidFill>
        </p:spPr>
        <p:style>
          <a:lnRef idx="2">
            <a:schemeClr val="dk1"/>
          </a:lnRef>
          <a:fillRef idx="1">
            <a:schemeClr val="lt1"/>
          </a:fillRef>
          <a:effectRef idx="0">
            <a:schemeClr val="dk1"/>
          </a:effectRef>
          <a:fontRef idx="minor">
            <a:schemeClr val="dk1"/>
          </a:fontRef>
        </p:style>
        <p:txBody>
          <a:bodyPr wrap="none">
            <a:spAutoFit/>
          </a:bodyPr>
          <a:lstStyle/>
          <a:p>
            <a:pPr>
              <a:defRPr/>
            </a:pPr>
            <a:r>
              <a:rPr lang="en-US" dirty="0"/>
              <a:t>(5) </a:t>
            </a:r>
            <a:r>
              <a:rPr lang="en-US" b="1" dirty="0">
                <a:solidFill>
                  <a:srgbClr val="00B050"/>
                </a:solidFill>
              </a:rPr>
              <a:t>return</a:t>
            </a:r>
            <a:r>
              <a:rPr lang="en-US" dirty="0"/>
              <a:t> ...</a:t>
            </a:r>
          </a:p>
        </p:txBody>
      </p:sp>
      <p:cxnSp>
        <p:nvCxnSpPr>
          <p:cNvPr id="46" name="Straight Arrow Connector 45"/>
          <p:cNvCxnSpPr>
            <a:stCxn id="27" idx="2"/>
            <a:endCxn id="33" idx="0"/>
          </p:cNvCxnSpPr>
          <p:nvPr/>
        </p:nvCxnSpPr>
        <p:spPr>
          <a:xfrm rot="16200000" flipH="1">
            <a:off x="850900" y="2111375"/>
            <a:ext cx="201613" cy="4763"/>
          </a:xfrm>
          <a:prstGeom prst="straightConnector1">
            <a:avLst/>
          </a:prstGeom>
          <a:ln>
            <a:tailEnd type="arrow"/>
          </a:ln>
        </p:spPr>
        <p:style>
          <a:lnRef idx="1">
            <a:schemeClr val="accent1"/>
          </a:lnRef>
          <a:fillRef idx="0">
            <a:schemeClr val="accent1"/>
          </a:fillRef>
          <a:effectRef idx="0">
            <a:schemeClr val="accent1"/>
          </a:effectRef>
          <a:fontRef idx="minor">
            <a:schemeClr val="tx1"/>
          </a:fontRef>
        </p:style>
      </p:cxnSp>
      <p:cxnSp>
        <p:nvCxnSpPr>
          <p:cNvPr id="48" name="Straight Arrow Connector 47"/>
          <p:cNvCxnSpPr>
            <a:stCxn id="33" idx="3"/>
            <a:endCxn id="29" idx="1"/>
          </p:cNvCxnSpPr>
          <p:nvPr/>
        </p:nvCxnSpPr>
        <p:spPr>
          <a:xfrm>
            <a:off x="1403350" y="2399507"/>
            <a:ext cx="135707" cy="4087"/>
          </a:xfrm>
          <a:prstGeom prst="straightConnector1">
            <a:avLst/>
          </a:prstGeom>
          <a:ln>
            <a:tailEnd type="arrow"/>
          </a:ln>
        </p:spPr>
        <p:style>
          <a:lnRef idx="1">
            <a:schemeClr val="accent1"/>
          </a:lnRef>
          <a:fillRef idx="0">
            <a:schemeClr val="accent1"/>
          </a:fillRef>
          <a:effectRef idx="0">
            <a:schemeClr val="accent1"/>
          </a:effectRef>
          <a:fontRef idx="minor">
            <a:schemeClr val="tx1"/>
          </a:fontRef>
        </p:style>
      </p:cxnSp>
      <p:cxnSp>
        <p:nvCxnSpPr>
          <p:cNvPr id="50" name="Straight Arrow Connector 49"/>
          <p:cNvCxnSpPr>
            <a:stCxn id="33" idx="2"/>
            <a:endCxn id="35" idx="0"/>
          </p:cNvCxnSpPr>
          <p:nvPr/>
        </p:nvCxnSpPr>
        <p:spPr>
          <a:xfrm flipH="1">
            <a:off x="949325" y="2584450"/>
            <a:ext cx="5557" cy="386557"/>
          </a:xfrm>
          <a:prstGeom prst="straightConnector1">
            <a:avLst/>
          </a:prstGeom>
          <a:ln>
            <a:tailEnd type="arrow"/>
          </a:ln>
        </p:spPr>
        <p:style>
          <a:lnRef idx="1">
            <a:schemeClr val="accent1"/>
          </a:lnRef>
          <a:fillRef idx="0">
            <a:schemeClr val="accent1"/>
          </a:fillRef>
          <a:effectRef idx="0">
            <a:schemeClr val="accent1"/>
          </a:effectRef>
          <a:fontRef idx="minor">
            <a:schemeClr val="tx1"/>
          </a:fontRef>
        </p:style>
      </p:cxnSp>
      <p:cxnSp>
        <p:nvCxnSpPr>
          <p:cNvPr id="51" name="Straight Arrow Connector 50"/>
          <p:cNvCxnSpPr>
            <a:stCxn id="29" idx="2"/>
            <a:endCxn id="35" idx="3"/>
          </p:cNvCxnSpPr>
          <p:nvPr/>
        </p:nvCxnSpPr>
        <p:spPr>
          <a:xfrm flipH="1">
            <a:off x="1639578" y="2588538"/>
            <a:ext cx="426529" cy="567135"/>
          </a:xfrm>
          <a:prstGeom prst="straightConnector1">
            <a:avLst/>
          </a:prstGeom>
          <a:ln>
            <a:tailEnd type="arrow"/>
          </a:ln>
        </p:spPr>
        <p:style>
          <a:lnRef idx="1">
            <a:schemeClr val="accent1"/>
          </a:lnRef>
          <a:fillRef idx="0">
            <a:schemeClr val="accent1"/>
          </a:fillRef>
          <a:effectRef idx="0">
            <a:schemeClr val="accent1"/>
          </a:effectRef>
          <a:fontRef idx="minor">
            <a:schemeClr val="tx1"/>
          </a:fontRef>
        </p:style>
      </p:cxnSp>
      <p:cxnSp>
        <p:nvCxnSpPr>
          <p:cNvPr id="52" name="Straight Arrow Connector 51"/>
          <p:cNvCxnSpPr>
            <a:stCxn id="37" idx="2"/>
            <a:endCxn id="38" idx="0"/>
          </p:cNvCxnSpPr>
          <p:nvPr/>
        </p:nvCxnSpPr>
        <p:spPr>
          <a:xfrm flipH="1">
            <a:off x="3702540" y="1943239"/>
            <a:ext cx="2406" cy="192010"/>
          </a:xfrm>
          <a:prstGeom prst="straightConnector1">
            <a:avLst/>
          </a:prstGeom>
          <a:ln>
            <a:tailEnd type="arrow"/>
          </a:ln>
        </p:spPr>
        <p:style>
          <a:lnRef idx="1">
            <a:schemeClr val="accent1"/>
          </a:lnRef>
          <a:fillRef idx="0">
            <a:schemeClr val="accent1"/>
          </a:fillRef>
          <a:effectRef idx="0">
            <a:schemeClr val="accent1"/>
          </a:effectRef>
          <a:fontRef idx="minor">
            <a:schemeClr val="tx1"/>
          </a:fontRef>
        </p:style>
      </p:cxnSp>
      <p:cxnSp>
        <p:nvCxnSpPr>
          <p:cNvPr id="53" name="Straight Arrow Connector 52"/>
          <p:cNvCxnSpPr>
            <a:stCxn id="38" idx="2"/>
            <a:endCxn id="42" idx="0"/>
          </p:cNvCxnSpPr>
          <p:nvPr/>
        </p:nvCxnSpPr>
        <p:spPr>
          <a:xfrm>
            <a:off x="3702540" y="2504581"/>
            <a:ext cx="33061" cy="161658"/>
          </a:xfrm>
          <a:prstGeom prst="straightConnector1">
            <a:avLst/>
          </a:prstGeom>
          <a:ln>
            <a:tailEnd type="arrow"/>
          </a:ln>
        </p:spPr>
        <p:style>
          <a:lnRef idx="1">
            <a:schemeClr val="accent1"/>
          </a:lnRef>
          <a:fillRef idx="0">
            <a:schemeClr val="accent1"/>
          </a:fillRef>
          <a:effectRef idx="0">
            <a:schemeClr val="accent1"/>
          </a:effectRef>
          <a:fontRef idx="minor">
            <a:schemeClr val="tx1"/>
          </a:fontRef>
        </p:style>
      </p:cxnSp>
      <p:cxnSp>
        <p:nvCxnSpPr>
          <p:cNvPr id="54" name="Straight Arrow Connector 53"/>
          <p:cNvCxnSpPr>
            <a:stCxn id="38" idx="3"/>
            <a:endCxn id="43" idx="1"/>
          </p:cNvCxnSpPr>
          <p:nvPr/>
        </p:nvCxnSpPr>
        <p:spPr>
          <a:xfrm>
            <a:off x="4173181" y="2319915"/>
            <a:ext cx="109340" cy="10436"/>
          </a:xfrm>
          <a:prstGeom prst="straightConnector1">
            <a:avLst/>
          </a:prstGeom>
          <a:ln>
            <a:tailEnd type="arrow"/>
          </a:ln>
        </p:spPr>
        <p:style>
          <a:lnRef idx="1">
            <a:schemeClr val="accent1"/>
          </a:lnRef>
          <a:fillRef idx="0">
            <a:schemeClr val="accent1"/>
          </a:fillRef>
          <a:effectRef idx="0">
            <a:schemeClr val="accent1"/>
          </a:effectRef>
          <a:fontRef idx="minor">
            <a:schemeClr val="tx1"/>
          </a:fontRef>
        </p:style>
      </p:cxnSp>
      <p:sp>
        <p:nvSpPr>
          <p:cNvPr id="55" name="Rounded Rectangle 54"/>
          <p:cNvSpPr/>
          <p:nvPr/>
        </p:nvSpPr>
        <p:spPr>
          <a:xfrm>
            <a:off x="2843808" y="3145531"/>
            <a:ext cx="1511747" cy="660113"/>
          </a:xfrm>
          <a:prstGeom prst="roundRect">
            <a:avLst/>
          </a:prstGeom>
          <a:solidFill>
            <a:schemeClr val="bg2">
              <a:lumMod val="50000"/>
            </a:schemeClr>
          </a:solidFill>
          <a:ln>
            <a:solidFill>
              <a:schemeClr val="tx1"/>
            </a:solidFill>
            <a:prstDash val="dash"/>
          </a:ln>
        </p:spPr>
        <p:style>
          <a:lnRef idx="2">
            <a:schemeClr val="dk1"/>
          </a:lnRef>
          <a:fillRef idx="1">
            <a:schemeClr val="lt1"/>
          </a:fillRef>
          <a:effectRef idx="0">
            <a:schemeClr val="dk1"/>
          </a:effectRef>
          <a:fontRef idx="minor">
            <a:schemeClr val="dk1"/>
          </a:fontRef>
        </p:style>
        <p:txBody>
          <a:bodyPr anchor="ctr"/>
          <a:lstStyle/>
          <a:p>
            <a:pPr algn="ctr">
              <a:defRPr/>
            </a:pPr>
            <a:endParaRPr lang="en-US"/>
          </a:p>
        </p:txBody>
      </p:sp>
      <p:cxnSp>
        <p:nvCxnSpPr>
          <p:cNvPr id="56" name="Straight Arrow Connector 55"/>
          <p:cNvCxnSpPr>
            <a:cxnSpLocks/>
            <a:stCxn id="55" idx="3"/>
            <a:endCxn id="44" idx="1"/>
          </p:cNvCxnSpPr>
          <p:nvPr/>
        </p:nvCxnSpPr>
        <p:spPr>
          <a:xfrm flipV="1">
            <a:off x="4355555" y="3470175"/>
            <a:ext cx="165017" cy="5413"/>
          </a:xfrm>
          <a:prstGeom prst="straightConnector1">
            <a:avLst/>
          </a:prstGeom>
          <a:ln>
            <a:tailEnd type="arrow"/>
          </a:ln>
        </p:spPr>
        <p:style>
          <a:lnRef idx="1">
            <a:schemeClr val="accent1"/>
          </a:lnRef>
          <a:fillRef idx="0">
            <a:schemeClr val="accent1"/>
          </a:fillRef>
          <a:effectRef idx="0">
            <a:schemeClr val="accent1"/>
          </a:effectRef>
          <a:fontRef idx="minor">
            <a:schemeClr val="tx1"/>
          </a:fontRef>
        </p:style>
      </p:cxnSp>
      <p:cxnSp>
        <p:nvCxnSpPr>
          <p:cNvPr id="57" name="Straight Arrow Connector 56"/>
          <p:cNvCxnSpPr>
            <a:cxnSpLocks/>
            <a:stCxn id="42" idx="2"/>
          </p:cNvCxnSpPr>
          <p:nvPr/>
        </p:nvCxnSpPr>
        <p:spPr>
          <a:xfrm>
            <a:off x="3735601" y="3035571"/>
            <a:ext cx="18377" cy="294626"/>
          </a:xfrm>
          <a:prstGeom prst="straightConnector1">
            <a:avLst/>
          </a:prstGeom>
          <a:ln>
            <a:tailEnd type="arrow"/>
          </a:ln>
        </p:spPr>
        <p:style>
          <a:lnRef idx="1">
            <a:schemeClr val="accent1"/>
          </a:lnRef>
          <a:fillRef idx="0">
            <a:schemeClr val="accent1"/>
          </a:fillRef>
          <a:effectRef idx="0">
            <a:schemeClr val="accent1"/>
          </a:effectRef>
          <a:fontRef idx="minor">
            <a:schemeClr val="tx1"/>
          </a:fontRef>
        </p:style>
      </p:cxnSp>
      <p:cxnSp>
        <p:nvCxnSpPr>
          <p:cNvPr id="59" name="Shape 58"/>
          <p:cNvCxnSpPr>
            <a:stCxn id="35" idx="2"/>
            <a:endCxn id="37" idx="1"/>
          </p:cNvCxnSpPr>
          <p:nvPr/>
        </p:nvCxnSpPr>
        <p:spPr>
          <a:xfrm rot="5400000" flipH="1" flipV="1">
            <a:off x="1284500" y="1423397"/>
            <a:ext cx="1581766" cy="2252117"/>
          </a:xfrm>
          <a:prstGeom prst="curvedConnector4">
            <a:avLst>
              <a:gd name="adj1" fmla="val -14452"/>
              <a:gd name="adj2" fmla="val 80169"/>
            </a:avLst>
          </a:prstGeom>
          <a:ln>
            <a:prstDash val="dash"/>
            <a:headEnd type="arrow" w="med" len="med"/>
            <a:tailEnd type="arrow" w="med" len="med"/>
          </a:ln>
        </p:spPr>
        <p:style>
          <a:lnRef idx="1">
            <a:schemeClr val="accent1"/>
          </a:lnRef>
          <a:fillRef idx="0">
            <a:schemeClr val="accent1"/>
          </a:fillRef>
          <a:effectRef idx="0">
            <a:schemeClr val="accent1"/>
          </a:effectRef>
          <a:fontRef idx="minor">
            <a:schemeClr val="tx1"/>
          </a:fontRef>
        </p:style>
      </p:cxnSp>
      <p:sp>
        <p:nvSpPr>
          <p:cNvPr id="28" name="TextBox 27">
            <a:extLst>
              <a:ext uri="{FF2B5EF4-FFF2-40B4-BE49-F238E27FC236}">
                <a16:creationId xmlns:a16="http://schemas.microsoft.com/office/drawing/2014/main" id="{410D21A8-B697-7949-B945-C07418C8AE57}"/>
              </a:ext>
            </a:extLst>
          </p:cNvPr>
          <p:cNvSpPr txBox="1"/>
          <p:nvPr/>
        </p:nvSpPr>
        <p:spPr>
          <a:xfrm>
            <a:off x="793815" y="1242367"/>
            <a:ext cx="439544" cy="461665"/>
          </a:xfrm>
          <a:prstGeom prst="rect">
            <a:avLst/>
          </a:prstGeom>
          <a:noFill/>
        </p:spPr>
        <p:txBody>
          <a:bodyPr wrap="none" rtlCol="0">
            <a:spAutoFit/>
          </a:bodyPr>
          <a:lstStyle/>
          <a:p>
            <a:r>
              <a:rPr lang="en-US" sz="2400" dirty="0"/>
              <a:t>f  </a:t>
            </a:r>
          </a:p>
        </p:txBody>
      </p:sp>
      <p:sp>
        <p:nvSpPr>
          <p:cNvPr id="30" name="TextBox 29">
            <a:extLst>
              <a:ext uri="{FF2B5EF4-FFF2-40B4-BE49-F238E27FC236}">
                <a16:creationId xmlns:a16="http://schemas.microsoft.com/office/drawing/2014/main" id="{FBD4D8BD-2C31-5642-9354-5F09E91F5343}"/>
              </a:ext>
            </a:extLst>
          </p:cNvPr>
          <p:cNvSpPr txBox="1"/>
          <p:nvPr/>
        </p:nvSpPr>
        <p:spPr>
          <a:xfrm>
            <a:off x="3445623" y="1065560"/>
            <a:ext cx="356188" cy="461665"/>
          </a:xfrm>
          <a:prstGeom prst="rect">
            <a:avLst/>
          </a:prstGeom>
          <a:noFill/>
        </p:spPr>
        <p:txBody>
          <a:bodyPr wrap="none" rtlCol="0">
            <a:spAutoFit/>
          </a:bodyPr>
          <a:lstStyle/>
          <a:p>
            <a:r>
              <a:rPr lang="en-US" sz="2400" dirty="0"/>
              <a:t>g</a:t>
            </a:r>
          </a:p>
        </p:txBody>
      </p:sp>
      <p:cxnSp>
        <p:nvCxnSpPr>
          <p:cNvPr id="21" name="Curved Connector 20">
            <a:extLst>
              <a:ext uri="{FF2B5EF4-FFF2-40B4-BE49-F238E27FC236}">
                <a16:creationId xmlns:a16="http://schemas.microsoft.com/office/drawing/2014/main" id="{3ACF8211-8AD3-4745-BE89-D5001701EB89}"/>
              </a:ext>
            </a:extLst>
          </p:cNvPr>
          <p:cNvCxnSpPr>
            <a:stCxn id="42" idx="3"/>
          </p:cNvCxnSpPr>
          <p:nvPr/>
        </p:nvCxnSpPr>
        <p:spPr>
          <a:xfrm flipH="1">
            <a:off x="4067944" y="2850905"/>
            <a:ext cx="132688" cy="479292"/>
          </a:xfrm>
          <a:prstGeom prst="curvedConnector4">
            <a:avLst>
              <a:gd name="adj1" fmla="val -172284"/>
              <a:gd name="adj2" fmla="val 69264"/>
            </a:avLst>
          </a:prstGeom>
          <a:ln>
            <a:tailEnd type="triangle"/>
          </a:ln>
        </p:spPr>
        <p:style>
          <a:lnRef idx="1">
            <a:schemeClr val="accent1"/>
          </a:lnRef>
          <a:fillRef idx="0">
            <a:schemeClr val="accent1"/>
          </a:fillRef>
          <a:effectRef idx="0">
            <a:schemeClr val="accent1"/>
          </a:effectRef>
          <a:fontRef idx="minor">
            <a:schemeClr val="tx1"/>
          </a:fontRef>
        </p:style>
      </p:cxn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le 4">
            <a:extLst>
              <a:ext uri="{FF2B5EF4-FFF2-40B4-BE49-F238E27FC236}">
                <a16:creationId xmlns:a16="http://schemas.microsoft.com/office/drawing/2014/main" id="{04EC238F-A5E5-CE45-9F03-9E8F196A8321}"/>
              </a:ext>
            </a:extLst>
          </p:cNvPr>
          <p:cNvSpPr>
            <a:spLocks noGrp="1"/>
          </p:cNvSpPr>
          <p:nvPr>
            <p:ph type="ctrTitle"/>
          </p:nvPr>
        </p:nvSpPr>
        <p:spPr/>
        <p:txBody>
          <a:bodyPr/>
          <a:lstStyle/>
          <a:p>
            <a:r>
              <a:rPr lang="en-US" sz="3200" dirty="0"/>
              <a:t>The next slides are based on A&amp;O Ch 7.1. Unfortunately, this chapter does not appear in the 2</a:t>
            </a:r>
            <a:r>
              <a:rPr lang="en-US" sz="3200" baseline="30000" dirty="0"/>
              <a:t>nd</a:t>
            </a:r>
            <a:r>
              <a:rPr lang="en-US" sz="3200" dirty="0"/>
              <a:t> Ed.</a:t>
            </a:r>
          </a:p>
        </p:txBody>
      </p:sp>
      <p:sp>
        <p:nvSpPr>
          <p:cNvPr id="4" name="Slide Number Placeholder 3">
            <a:extLst>
              <a:ext uri="{FF2B5EF4-FFF2-40B4-BE49-F238E27FC236}">
                <a16:creationId xmlns:a16="http://schemas.microsoft.com/office/drawing/2014/main" id="{BD80D748-0972-614A-BD97-EE79298CA543}"/>
              </a:ext>
            </a:extLst>
          </p:cNvPr>
          <p:cNvSpPr>
            <a:spLocks noGrp="1"/>
          </p:cNvSpPr>
          <p:nvPr>
            <p:ph type="sldNum" sz="quarter" idx="12"/>
          </p:nvPr>
        </p:nvSpPr>
        <p:spPr/>
        <p:txBody>
          <a:bodyPr/>
          <a:lstStyle/>
          <a:p>
            <a:pPr>
              <a:defRPr/>
            </a:pPr>
            <a:fld id="{F51486F7-ACCF-4DB7-BBF3-9BC4B709FB28}" type="slidenum">
              <a:rPr lang="en-US" smtClean="0"/>
              <a:pPr>
                <a:defRPr/>
              </a:pPr>
              <a:t>19</a:t>
            </a:fld>
            <a:endParaRPr lang="en-US"/>
          </a:p>
        </p:txBody>
      </p:sp>
    </p:spTree>
    <p:extLst>
      <p:ext uri="{BB962C8B-B14F-4D97-AF65-F5344CB8AC3E}">
        <p14:creationId xmlns:p14="http://schemas.microsoft.com/office/powerpoint/2010/main" val="490440654"/>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458" name="Title 1"/>
          <p:cNvSpPr>
            <a:spLocks noGrp="1"/>
          </p:cNvSpPr>
          <p:nvPr>
            <p:ph type="title"/>
          </p:nvPr>
        </p:nvSpPr>
        <p:spPr/>
        <p:txBody>
          <a:bodyPr/>
          <a:lstStyle/>
          <a:p>
            <a:r>
              <a:rPr lang="en-US" sz="4000" dirty="0"/>
              <a:t>OO is powerful, but also comes new sources of concerns</a:t>
            </a:r>
            <a:endParaRPr lang="en-US" sz="2400" i="1" dirty="0"/>
          </a:p>
        </p:txBody>
      </p:sp>
      <p:sp>
        <p:nvSpPr>
          <p:cNvPr id="19459" name="Content Placeholder 2"/>
          <p:cNvSpPr>
            <a:spLocks noGrp="1"/>
          </p:cNvSpPr>
          <p:nvPr>
            <p:ph idx="1"/>
          </p:nvPr>
        </p:nvSpPr>
        <p:spPr>
          <a:xfrm>
            <a:off x="395536" y="1600200"/>
            <a:ext cx="8291264" cy="4525963"/>
          </a:xfrm>
        </p:spPr>
        <p:txBody>
          <a:bodyPr/>
          <a:lstStyle/>
          <a:p>
            <a:r>
              <a:rPr lang="en-US" sz="2800" dirty="0"/>
              <a:t>A function behaves “cleanly”. In contrast, a procedure may have side effects.</a:t>
            </a:r>
          </a:p>
          <a:p>
            <a:r>
              <a:rPr lang="en-US" sz="2800" dirty="0"/>
              <a:t>An OO program is more complicated:</a:t>
            </a:r>
            <a:endParaRPr lang="en-US" dirty="0"/>
          </a:p>
          <a:p>
            <a:pPr lvl="1"/>
            <a:r>
              <a:rPr lang="en-US" dirty="0"/>
              <a:t>access control  (</a:t>
            </a:r>
            <a:r>
              <a:rPr lang="en-US" dirty="0" err="1"/>
              <a:t>priv</a:t>
            </a:r>
            <a:r>
              <a:rPr lang="en-US" dirty="0"/>
              <a:t>, pub, default, protected, ...)</a:t>
            </a:r>
            <a:endParaRPr lang="en-US" i="1" dirty="0"/>
          </a:p>
          <a:p>
            <a:pPr lvl="1"/>
            <a:r>
              <a:rPr lang="en-US" dirty="0"/>
              <a:t>side effects on instance variables and static variables</a:t>
            </a:r>
          </a:p>
          <a:p>
            <a:pPr lvl="1"/>
            <a:r>
              <a:rPr lang="en-US" dirty="0"/>
              <a:t>inheritance:</a:t>
            </a:r>
          </a:p>
          <a:p>
            <a:pPr lvl="2"/>
            <a:r>
              <a:rPr lang="en-US" sz="2800" dirty="0"/>
              <a:t>dynamic binding  </a:t>
            </a:r>
          </a:p>
          <a:p>
            <a:pPr lvl="2"/>
            <a:r>
              <a:rPr lang="en-US" sz="2800" dirty="0"/>
              <a:t>interaction through inheritance</a:t>
            </a:r>
          </a:p>
        </p:txBody>
      </p:sp>
      <p:sp>
        <p:nvSpPr>
          <p:cNvPr id="4" name="Slide Number Placeholder 3"/>
          <p:cNvSpPr>
            <a:spLocks noGrp="1"/>
          </p:cNvSpPr>
          <p:nvPr>
            <p:ph type="sldNum" sz="quarter" idx="12"/>
          </p:nvPr>
        </p:nvSpPr>
        <p:spPr/>
        <p:txBody>
          <a:bodyPr/>
          <a:lstStyle/>
          <a:p>
            <a:pPr>
              <a:defRPr/>
            </a:pPr>
            <a:fld id="{26306A5D-F995-4A3B-A90C-3D00FD00B829}" type="slidenum">
              <a:rPr lang="en-US" smtClean="0"/>
              <a:pPr>
                <a:defRPr/>
              </a:pPr>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0482" name="Title 3"/>
          <p:cNvSpPr>
            <a:spLocks noGrp="1"/>
          </p:cNvSpPr>
          <p:nvPr>
            <p:ph type="title"/>
          </p:nvPr>
        </p:nvSpPr>
        <p:spPr/>
        <p:txBody>
          <a:bodyPr/>
          <a:lstStyle/>
          <a:p>
            <a:r>
              <a:rPr lang="en-US" sz="3600" dirty="0"/>
              <a:t>Inheritance-related error prone programming patterns</a:t>
            </a:r>
          </a:p>
        </p:txBody>
      </p:sp>
      <p:sp>
        <p:nvSpPr>
          <p:cNvPr id="20483" name="Content Placeholder 4"/>
          <p:cNvSpPr>
            <a:spLocks noGrp="1"/>
          </p:cNvSpPr>
          <p:nvPr>
            <p:ph idx="1"/>
          </p:nvPr>
        </p:nvSpPr>
        <p:spPr/>
        <p:txBody>
          <a:bodyPr/>
          <a:lstStyle/>
          <a:p>
            <a:r>
              <a:rPr lang="en-US" sz="2800" dirty="0"/>
              <a:t>A&amp;O call them inheritance-related “anomalies”: use of error prone programming patterns. AO list 9 anomalies related to inheritance and dynamic binding:</a:t>
            </a:r>
          </a:p>
          <a:p>
            <a:pPr lvl="1"/>
            <a:r>
              <a:rPr lang="en-US" dirty="0"/>
              <a:t>Inconsistent Type Use (ITU)</a:t>
            </a:r>
          </a:p>
          <a:p>
            <a:pPr lvl="1"/>
            <a:r>
              <a:rPr lang="en-US" dirty="0"/>
              <a:t>State definition anomaly (SDA) ,   ...  7 more</a:t>
            </a:r>
          </a:p>
          <a:p>
            <a:r>
              <a:rPr lang="en-US" sz="2800" dirty="0"/>
              <a:t>A&amp;O also implicitly discuss two more: deep yoyo and data-flow anomaly.</a:t>
            </a:r>
          </a:p>
        </p:txBody>
      </p:sp>
      <p:sp>
        <p:nvSpPr>
          <p:cNvPr id="3" name="Slide Number Placeholder 2"/>
          <p:cNvSpPr>
            <a:spLocks noGrp="1"/>
          </p:cNvSpPr>
          <p:nvPr>
            <p:ph type="sldNum" sz="quarter" idx="12"/>
          </p:nvPr>
        </p:nvSpPr>
        <p:spPr/>
        <p:txBody>
          <a:bodyPr/>
          <a:lstStyle/>
          <a:p>
            <a:pPr>
              <a:defRPr/>
            </a:pPr>
            <a:fld id="{06F9FDAF-EEDC-4F73-AC52-D2F730F18E31}" type="slidenum">
              <a:rPr lang="en-US" smtClean="0"/>
              <a:pPr>
                <a:defRPr/>
              </a:pPr>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1506" name="Title 1"/>
          <p:cNvSpPr>
            <a:spLocks noGrp="1"/>
          </p:cNvSpPr>
          <p:nvPr>
            <p:ph type="title"/>
          </p:nvPr>
        </p:nvSpPr>
        <p:spPr/>
        <p:txBody>
          <a:bodyPr/>
          <a:lstStyle/>
          <a:p>
            <a:r>
              <a:rPr lang="en-US" sz="4000"/>
              <a:t>Inconsistent Type Use (ITU) anomaly</a:t>
            </a:r>
          </a:p>
        </p:txBody>
      </p:sp>
      <p:sp>
        <p:nvSpPr>
          <p:cNvPr id="3" name="Slide Number Placeholder 2"/>
          <p:cNvSpPr>
            <a:spLocks noGrp="1"/>
          </p:cNvSpPr>
          <p:nvPr>
            <p:ph type="sldNum" sz="quarter" idx="12"/>
          </p:nvPr>
        </p:nvSpPr>
        <p:spPr/>
        <p:txBody>
          <a:bodyPr/>
          <a:lstStyle/>
          <a:p>
            <a:pPr>
              <a:defRPr/>
            </a:pPr>
            <a:fld id="{2096F019-A9B8-4AB7-A18F-FB46C2578270}" type="slidenum">
              <a:rPr lang="en-US" smtClean="0"/>
              <a:pPr>
                <a:defRPr/>
              </a:pPr>
              <a:t>22</a:t>
            </a:fld>
            <a:endParaRPr lang="en-US"/>
          </a:p>
        </p:txBody>
      </p:sp>
      <p:sp>
        <p:nvSpPr>
          <p:cNvPr id="4" name="TextBox 3"/>
          <p:cNvSpPr txBox="1"/>
          <p:nvPr/>
        </p:nvSpPr>
        <p:spPr>
          <a:xfrm>
            <a:off x="3347864" y="1700808"/>
            <a:ext cx="2616200" cy="1200150"/>
          </a:xfrm>
          <a:prstGeom prst="rect">
            <a:avLst/>
          </a:prstGeom>
          <a:solidFill>
            <a:srgbClr val="FFFF00"/>
          </a:solidFill>
          <a:ln>
            <a:solidFill>
              <a:schemeClr val="tx1"/>
            </a:solidFill>
          </a:ln>
        </p:spPr>
        <p:txBody>
          <a:bodyPr wrap="none">
            <a:spAutoFit/>
          </a:bodyPr>
          <a:lstStyle/>
          <a:p>
            <a:pPr>
              <a:defRPr/>
            </a:pPr>
            <a:r>
              <a:rPr lang="en-US" sz="2400" b="1" u="sng" dirty="0">
                <a:latin typeface="+mn-lt"/>
                <a:cs typeface="Arial" pitchFamily="34" charset="0"/>
              </a:rPr>
              <a:t>List                            </a:t>
            </a:r>
          </a:p>
          <a:p>
            <a:pPr>
              <a:defRPr/>
            </a:pPr>
            <a:r>
              <a:rPr lang="en-US" sz="2400" dirty="0">
                <a:latin typeface="+mn-lt"/>
                <a:cs typeface="Arial" pitchFamily="34" charset="0"/>
              </a:rPr>
              <a:t>+</a:t>
            </a:r>
            <a:r>
              <a:rPr lang="en-US" sz="2400" dirty="0" err="1">
                <a:latin typeface="+mn-lt"/>
                <a:cs typeface="Arial" pitchFamily="34" charset="0"/>
              </a:rPr>
              <a:t>insertAt</a:t>
            </a:r>
            <a:r>
              <a:rPr lang="en-US" sz="2400" dirty="0">
                <a:latin typeface="+mn-lt"/>
                <a:cs typeface="Arial" pitchFamily="34" charset="0"/>
              </a:rPr>
              <a:t>(</a:t>
            </a:r>
            <a:r>
              <a:rPr lang="en-US" sz="2400" dirty="0" err="1">
                <a:latin typeface="+mn-lt"/>
                <a:cs typeface="Arial" pitchFamily="34" charset="0"/>
              </a:rPr>
              <a:t>i,x</a:t>
            </a:r>
            <a:r>
              <a:rPr lang="en-US" sz="2400" dirty="0">
                <a:latin typeface="+mn-lt"/>
                <a:cs typeface="Arial" pitchFamily="34" charset="0"/>
              </a:rPr>
              <a:t>)</a:t>
            </a:r>
          </a:p>
          <a:p>
            <a:pPr>
              <a:defRPr/>
            </a:pPr>
            <a:r>
              <a:rPr lang="en-US" sz="2400" dirty="0">
                <a:latin typeface="+mn-lt"/>
                <a:cs typeface="Arial" pitchFamily="34" charset="0"/>
              </a:rPr>
              <a:t>+</a:t>
            </a:r>
            <a:r>
              <a:rPr lang="en-US" sz="2400" dirty="0" err="1">
                <a:latin typeface="+mn-lt"/>
                <a:cs typeface="Arial" pitchFamily="34" charset="0"/>
              </a:rPr>
              <a:t>removeAt</a:t>
            </a:r>
            <a:r>
              <a:rPr lang="en-US" sz="2400" dirty="0">
                <a:latin typeface="+mn-lt"/>
                <a:cs typeface="Arial" pitchFamily="34" charset="0"/>
              </a:rPr>
              <a:t>(</a:t>
            </a:r>
            <a:r>
              <a:rPr lang="en-US" sz="2400" dirty="0" err="1">
                <a:latin typeface="+mn-lt"/>
                <a:cs typeface="Arial" pitchFamily="34" charset="0"/>
              </a:rPr>
              <a:t>i</a:t>
            </a:r>
            <a:r>
              <a:rPr lang="en-US" sz="2400" dirty="0">
                <a:latin typeface="+mn-lt"/>
                <a:cs typeface="Arial" pitchFamily="34" charset="0"/>
              </a:rPr>
              <a:t>)</a:t>
            </a:r>
          </a:p>
        </p:txBody>
      </p:sp>
      <p:sp>
        <p:nvSpPr>
          <p:cNvPr id="5" name="TextBox 4"/>
          <p:cNvSpPr txBox="1"/>
          <p:nvPr/>
        </p:nvSpPr>
        <p:spPr>
          <a:xfrm>
            <a:off x="3906664" y="3415308"/>
            <a:ext cx="1414463" cy="1200150"/>
          </a:xfrm>
          <a:prstGeom prst="rect">
            <a:avLst/>
          </a:prstGeom>
          <a:solidFill>
            <a:schemeClr val="accent1">
              <a:lumMod val="20000"/>
              <a:lumOff val="80000"/>
            </a:schemeClr>
          </a:solidFill>
          <a:ln>
            <a:solidFill>
              <a:schemeClr val="tx1"/>
            </a:solidFill>
          </a:ln>
        </p:spPr>
        <p:txBody>
          <a:bodyPr wrap="none">
            <a:spAutoFit/>
          </a:bodyPr>
          <a:lstStyle/>
          <a:p>
            <a:pPr>
              <a:defRPr/>
            </a:pPr>
            <a:r>
              <a:rPr lang="en-US" sz="2400" b="1" u="sng" dirty="0">
                <a:latin typeface="+mn-lt"/>
                <a:cs typeface="Arial" pitchFamily="34" charset="0"/>
              </a:rPr>
              <a:t>Stack        </a:t>
            </a:r>
          </a:p>
          <a:p>
            <a:pPr>
              <a:defRPr/>
            </a:pPr>
            <a:r>
              <a:rPr lang="en-US" sz="2400" dirty="0">
                <a:latin typeface="+mn-lt"/>
                <a:cs typeface="Arial" pitchFamily="34" charset="0"/>
              </a:rPr>
              <a:t>+push(x)</a:t>
            </a:r>
          </a:p>
          <a:p>
            <a:pPr>
              <a:defRPr/>
            </a:pPr>
            <a:r>
              <a:rPr lang="en-US" sz="2400" dirty="0">
                <a:latin typeface="+mn-lt"/>
                <a:cs typeface="Arial" pitchFamily="34" charset="0"/>
              </a:rPr>
              <a:t>+pop()</a:t>
            </a:r>
          </a:p>
        </p:txBody>
      </p:sp>
      <p:sp>
        <p:nvSpPr>
          <p:cNvPr id="11" name="Isosceles Triangle 10"/>
          <p:cNvSpPr/>
          <p:nvPr/>
        </p:nvSpPr>
        <p:spPr>
          <a:xfrm>
            <a:off x="4463877" y="2915246"/>
            <a:ext cx="285750" cy="285750"/>
          </a:xfrm>
          <a:prstGeom prst="triangle">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US"/>
          </a:p>
        </p:txBody>
      </p:sp>
      <p:cxnSp>
        <p:nvCxnSpPr>
          <p:cNvPr id="13" name="Straight Connector 12"/>
          <p:cNvCxnSpPr>
            <a:stCxn id="5" idx="0"/>
            <a:endCxn id="11" idx="3"/>
          </p:cNvCxnSpPr>
          <p:nvPr/>
        </p:nvCxnSpPr>
        <p:spPr>
          <a:xfrm rot="16200000" flipV="1">
            <a:off x="4502771" y="3304977"/>
            <a:ext cx="214312" cy="635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
        <p:nvSpPr>
          <p:cNvPr id="16" name="TextBox 15"/>
          <p:cNvSpPr txBox="1"/>
          <p:nvPr/>
        </p:nvSpPr>
        <p:spPr>
          <a:xfrm>
            <a:off x="427658" y="4829770"/>
            <a:ext cx="8358188" cy="1754326"/>
          </a:xfrm>
          <a:prstGeom prst="rect">
            <a:avLst/>
          </a:prstGeom>
          <a:noFill/>
        </p:spPr>
        <p:txBody>
          <a:bodyPr>
            <a:spAutoFit/>
          </a:bodyPr>
          <a:lstStyle/>
          <a:p>
            <a:pPr algn="just">
              <a:defRPr/>
            </a:pPr>
            <a:r>
              <a:rPr lang="en-US" dirty="0">
                <a:latin typeface="+mn-lt"/>
                <a:cs typeface="Arial" pitchFamily="34" charset="0"/>
              </a:rPr>
              <a:t>This is a quite common </a:t>
            </a:r>
            <a:r>
              <a:rPr lang="en-US" dirty="0" err="1">
                <a:latin typeface="+mn-lt"/>
                <a:cs typeface="Arial" pitchFamily="34" charset="0"/>
              </a:rPr>
              <a:t>subclassing</a:t>
            </a:r>
            <a:r>
              <a:rPr lang="en-US" dirty="0">
                <a:latin typeface="+mn-lt"/>
                <a:cs typeface="Arial" pitchFamily="34" charset="0"/>
              </a:rPr>
              <a:t> pattern. However note that in OO a Stack s can also be used as a List, which leads to an error prone situation, since a stack should not allow elements to be inserted at or removed from an arbitrary position. But a user method may not be aware that s is actually a stack, and call </a:t>
            </a:r>
            <a:r>
              <a:rPr lang="en-US" dirty="0" err="1">
                <a:latin typeface="+mn-lt"/>
                <a:cs typeface="Arial" pitchFamily="34" charset="0"/>
              </a:rPr>
              <a:t>insertAt</a:t>
            </a:r>
            <a:r>
              <a:rPr lang="en-US" dirty="0">
                <a:latin typeface="+mn-lt"/>
                <a:cs typeface="Arial" pitchFamily="34" charset="0"/>
              </a:rPr>
              <a:t> and </a:t>
            </a:r>
            <a:r>
              <a:rPr lang="en-US" dirty="0" err="1">
                <a:latin typeface="+mn-lt"/>
                <a:cs typeface="Arial" pitchFamily="34" charset="0"/>
              </a:rPr>
              <a:t>removeAt</a:t>
            </a:r>
            <a:r>
              <a:rPr lang="en-US" dirty="0">
                <a:latin typeface="+mn-lt"/>
                <a:cs typeface="Arial" pitchFamily="34" charset="0"/>
              </a:rPr>
              <a:t>! The class Stack should have overridden the methods, and e.g. make them throw an illegal operation exception.</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6" grpId="0"/>
    </p:bldLst>
  </p:timing>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2530" name="Title 1"/>
          <p:cNvSpPr>
            <a:spLocks noGrp="1"/>
          </p:cNvSpPr>
          <p:nvPr>
            <p:ph type="title"/>
          </p:nvPr>
        </p:nvSpPr>
        <p:spPr/>
        <p:txBody>
          <a:bodyPr/>
          <a:lstStyle/>
          <a:p>
            <a:r>
              <a:rPr lang="en-US" sz="4000"/>
              <a:t>State Definition Anomaly (SDA)</a:t>
            </a:r>
          </a:p>
        </p:txBody>
      </p:sp>
      <p:sp>
        <p:nvSpPr>
          <p:cNvPr id="22531" name="Content Placeholder 3"/>
          <p:cNvSpPr>
            <a:spLocks noGrp="1"/>
          </p:cNvSpPr>
          <p:nvPr>
            <p:ph idx="1"/>
          </p:nvPr>
        </p:nvSpPr>
        <p:spPr>
          <a:xfrm>
            <a:off x="457200" y="4581128"/>
            <a:ext cx="8229600" cy="1656184"/>
          </a:xfrm>
        </p:spPr>
        <p:txBody>
          <a:bodyPr/>
          <a:lstStyle/>
          <a:p>
            <a:pPr marL="0" indent="0" algn="just">
              <a:buNone/>
            </a:pPr>
            <a:r>
              <a:rPr lang="en-US" sz="1800" dirty="0" err="1"/>
              <a:t>ScalableItem</a:t>
            </a:r>
            <a:r>
              <a:rPr lang="en-US" sz="1800" dirty="0"/>
              <a:t> </a:t>
            </a:r>
            <a:r>
              <a:rPr lang="en-US" sz="1800" b="1" dirty="0"/>
              <a:t>directly</a:t>
            </a:r>
            <a:r>
              <a:rPr lang="en-US" sz="1800" dirty="0"/>
              <a:t> manipulates the part of its state which it inherits from </a:t>
            </a:r>
            <a:r>
              <a:rPr lang="en-US" sz="1800" dirty="0" err="1"/>
              <a:t>UnitItem</a:t>
            </a:r>
            <a:r>
              <a:rPr lang="en-US" sz="1800" dirty="0"/>
              <a:t> (the assignment “scale=s”), rather than doing so through </a:t>
            </a:r>
            <a:r>
              <a:rPr lang="en-US" sz="1800" dirty="0" err="1"/>
              <a:t>UnitItem’s</a:t>
            </a:r>
            <a:r>
              <a:rPr lang="en-US" sz="1800" dirty="0"/>
              <a:t> method. This error prone as it may unwittingly break </a:t>
            </a:r>
            <a:r>
              <a:rPr lang="en-US" sz="1800" dirty="0" err="1"/>
              <a:t>UnitItem’s</a:t>
            </a:r>
            <a:r>
              <a:rPr lang="en-US" sz="1800" dirty="0"/>
              <a:t> class invariant. </a:t>
            </a:r>
          </a:p>
        </p:txBody>
      </p:sp>
      <p:sp>
        <p:nvSpPr>
          <p:cNvPr id="3" name="Slide Number Placeholder 2"/>
          <p:cNvSpPr>
            <a:spLocks noGrp="1"/>
          </p:cNvSpPr>
          <p:nvPr>
            <p:ph type="sldNum" sz="quarter" idx="12"/>
          </p:nvPr>
        </p:nvSpPr>
        <p:spPr/>
        <p:txBody>
          <a:bodyPr/>
          <a:lstStyle/>
          <a:p>
            <a:pPr>
              <a:defRPr/>
            </a:pPr>
            <a:fld id="{EDAF52CB-2413-4592-99D0-B70B8299D401}" type="slidenum">
              <a:rPr lang="en-US" smtClean="0"/>
              <a:pPr>
                <a:defRPr/>
              </a:pPr>
              <a:t>23</a:t>
            </a:fld>
            <a:endParaRPr lang="en-US"/>
          </a:p>
        </p:txBody>
      </p:sp>
      <p:sp>
        <p:nvSpPr>
          <p:cNvPr id="5" name="TextBox 4"/>
          <p:cNvSpPr txBox="1"/>
          <p:nvPr/>
        </p:nvSpPr>
        <p:spPr>
          <a:xfrm>
            <a:off x="2907209" y="3369186"/>
            <a:ext cx="2676567" cy="707886"/>
          </a:xfrm>
          <a:prstGeom prst="rect">
            <a:avLst/>
          </a:prstGeom>
          <a:solidFill>
            <a:schemeClr val="accent1">
              <a:lumMod val="20000"/>
              <a:lumOff val="80000"/>
            </a:schemeClr>
          </a:solidFill>
          <a:ln>
            <a:solidFill>
              <a:schemeClr val="tx1"/>
            </a:solidFill>
          </a:ln>
        </p:spPr>
        <p:txBody>
          <a:bodyPr wrap="none">
            <a:spAutoFit/>
          </a:bodyPr>
          <a:lstStyle/>
          <a:p>
            <a:pPr>
              <a:defRPr/>
            </a:pPr>
            <a:r>
              <a:rPr lang="en-US" sz="2000" b="1" dirty="0" err="1">
                <a:latin typeface="+mn-lt"/>
                <a:cs typeface="Arial" pitchFamily="34" charset="0"/>
              </a:rPr>
              <a:t>ScalableItem</a:t>
            </a:r>
            <a:endParaRPr lang="en-US" sz="2000" b="1" dirty="0">
              <a:latin typeface="+mn-lt"/>
              <a:cs typeface="Arial" pitchFamily="34" charset="0"/>
            </a:endParaRPr>
          </a:p>
          <a:p>
            <a:pPr>
              <a:defRPr/>
            </a:pPr>
            <a:r>
              <a:rPr lang="en-US" sz="2000" dirty="0">
                <a:latin typeface="+mn-lt"/>
                <a:cs typeface="Arial" pitchFamily="34" charset="0"/>
              </a:rPr>
              <a:t>+</a:t>
            </a:r>
            <a:r>
              <a:rPr lang="en-US" sz="2000" dirty="0" err="1">
                <a:latin typeface="+mn-lt"/>
                <a:cs typeface="Arial" pitchFamily="34" charset="0"/>
              </a:rPr>
              <a:t>setScale</a:t>
            </a:r>
            <a:r>
              <a:rPr lang="en-US" sz="2000" dirty="0">
                <a:latin typeface="+mn-lt"/>
                <a:cs typeface="Arial" pitchFamily="34" charset="0"/>
              </a:rPr>
              <a:t>(s) { scale  = s }</a:t>
            </a:r>
          </a:p>
        </p:txBody>
      </p:sp>
      <p:sp>
        <p:nvSpPr>
          <p:cNvPr id="6" name="TextBox 5"/>
          <p:cNvSpPr txBox="1"/>
          <p:nvPr/>
        </p:nvSpPr>
        <p:spPr>
          <a:xfrm>
            <a:off x="2813571" y="1940436"/>
            <a:ext cx="2880469" cy="1015663"/>
          </a:xfrm>
          <a:prstGeom prst="rect">
            <a:avLst/>
          </a:prstGeom>
          <a:solidFill>
            <a:srgbClr val="F9F967"/>
          </a:solidFill>
          <a:ln>
            <a:solidFill>
              <a:schemeClr val="tx1"/>
            </a:solidFill>
          </a:ln>
        </p:spPr>
        <p:txBody>
          <a:bodyPr wrap="none">
            <a:spAutoFit/>
          </a:bodyPr>
          <a:lstStyle/>
          <a:p>
            <a:pPr>
              <a:defRPr/>
            </a:pPr>
            <a:r>
              <a:rPr lang="en-US" sz="2000" b="1" dirty="0" err="1">
                <a:latin typeface="+mn-lt"/>
                <a:cs typeface="Arial" pitchFamily="34" charset="0"/>
              </a:rPr>
              <a:t>UnitItem</a:t>
            </a:r>
            <a:endParaRPr lang="en-US" sz="2000" b="1" dirty="0">
              <a:latin typeface="+mn-lt"/>
              <a:cs typeface="Arial" pitchFamily="34" charset="0"/>
            </a:endParaRPr>
          </a:p>
          <a:p>
            <a:pPr>
              <a:defRPr/>
            </a:pPr>
            <a:r>
              <a:rPr lang="en-US" sz="2000" dirty="0">
                <a:latin typeface="+mn-lt"/>
                <a:cs typeface="Arial" pitchFamily="34" charset="0"/>
              </a:rPr>
              <a:t>scale = 1</a:t>
            </a:r>
          </a:p>
          <a:p>
            <a:pPr>
              <a:defRPr/>
            </a:pPr>
            <a:r>
              <a:rPr lang="en-US" sz="2000" dirty="0">
                <a:latin typeface="+mn-lt"/>
                <a:cs typeface="Arial" pitchFamily="34" charset="0"/>
              </a:rPr>
              <a:t>+price() { return p*scale } </a:t>
            </a:r>
          </a:p>
        </p:txBody>
      </p:sp>
      <p:sp>
        <p:nvSpPr>
          <p:cNvPr id="8" name="Isosceles Triangle 7"/>
          <p:cNvSpPr/>
          <p:nvPr/>
        </p:nvSpPr>
        <p:spPr>
          <a:xfrm>
            <a:off x="3929583" y="2940561"/>
            <a:ext cx="169863" cy="214313"/>
          </a:xfrm>
          <a:prstGeom prst="triangle">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US"/>
          </a:p>
        </p:txBody>
      </p:sp>
      <p:cxnSp>
        <p:nvCxnSpPr>
          <p:cNvPr id="9" name="Straight Connector 8"/>
          <p:cNvCxnSpPr>
            <a:endCxn id="8" idx="3"/>
          </p:cNvCxnSpPr>
          <p:nvPr/>
        </p:nvCxnSpPr>
        <p:spPr>
          <a:xfrm rot="16200000" flipV="1">
            <a:off x="3913709" y="3254886"/>
            <a:ext cx="214312" cy="14287"/>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
        <p:nvSpPr>
          <p:cNvPr id="2" name="TextBox 1">
            <a:extLst>
              <a:ext uri="{FF2B5EF4-FFF2-40B4-BE49-F238E27FC236}">
                <a16:creationId xmlns:a16="http://schemas.microsoft.com/office/drawing/2014/main" id="{6D65801A-7A85-7842-9833-DAAD114BB81A}"/>
              </a:ext>
            </a:extLst>
          </p:cNvPr>
          <p:cNvSpPr txBox="1"/>
          <p:nvPr/>
        </p:nvSpPr>
        <p:spPr>
          <a:xfrm>
            <a:off x="6001816" y="2190187"/>
            <a:ext cx="2674640" cy="523220"/>
          </a:xfrm>
          <a:prstGeom prst="rect">
            <a:avLst/>
          </a:prstGeom>
          <a:solidFill>
            <a:schemeClr val="bg1">
              <a:lumMod val="85000"/>
            </a:schemeClr>
          </a:solidFill>
        </p:spPr>
        <p:txBody>
          <a:bodyPr wrap="square" rtlCol="0">
            <a:spAutoFit/>
          </a:bodyPr>
          <a:lstStyle/>
          <a:p>
            <a:r>
              <a:rPr lang="en-US" sz="1400" dirty="0"/>
              <a:t>The class maintains the class invariant: scale &gt;= 1 </a:t>
            </a:r>
          </a:p>
        </p:txBody>
      </p:sp>
      <p:cxnSp>
        <p:nvCxnSpPr>
          <p:cNvPr id="10" name="Straight Connector 9">
            <a:extLst>
              <a:ext uri="{FF2B5EF4-FFF2-40B4-BE49-F238E27FC236}">
                <a16:creationId xmlns:a16="http://schemas.microsoft.com/office/drawing/2014/main" id="{D28F7A3F-EB9B-BB48-B970-27FABF5B6F9D}"/>
              </a:ext>
            </a:extLst>
          </p:cNvPr>
          <p:cNvCxnSpPr>
            <a:stCxn id="6" idx="3"/>
            <a:endCxn id="2" idx="1"/>
          </p:cNvCxnSpPr>
          <p:nvPr/>
        </p:nvCxnSpPr>
        <p:spPr>
          <a:xfrm>
            <a:off x="5694040" y="2448268"/>
            <a:ext cx="307776" cy="3529"/>
          </a:xfrm>
          <a:prstGeom prst="line">
            <a:avLst/>
          </a:prstGeom>
        </p:spPr>
        <p:style>
          <a:lnRef idx="1">
            <a:schemeClr val="accent1"/>
          </a:lnRef>
          <a:fillRef idx="0">
            <a:schemeClr val="accent1"/>
          </a:fillRef>
          <a:effectRef idx="0">
            <a:schemeClr val="accent1"/>
          </a:effectRef>
          <a:fontRef idx="minor">
            <a:schemeClr val="tx1"/>
          </a:fontRef>
        </p:style>
      </p:cxn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2531">
                                            <p:txEl>
                                              <p:pRg st="0" end="0"/>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2531" grpId="0" build="p"/>
    </p:bldLst>
  </p:timing>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3554" name="Title 1"/>
          <p:cNvSpPr>
            <a:spLocks noGrp="1"/>
          </p:cNvSpPr>
          <p:nvPr>
            <p:ph type="title"/>
          </p:nvPr>
        </p:nvSpPr>
        <p:spPr/>
        <p:txBody>
          <a:bodyPr/>
          <a:lstStyle/>
          <a:p>
            <a:r>
              <a:rPr lang="en-US" sz="4000"/>
              <a:t>State definition inconsistency due to state variable hiding (SDIH)</a:t>
            </a:r>
          </a:p>
        </p:txBody>
      </p:sp>
      <p:sp>
        <p:nvSpPr>
          <p:cNvPr id="23555" name="Content Placeholder 2"/>
          <p:cNvSpPr>
            <a:spLocks noGrp="1"/>
          </p:cNvSpPr>
          <p:nvPr>
            <p:ph idx="1"/>
          </p:nvPr>
        </p:nvSpPr>
        <p:spPr>
          <a:xfrm>
            <a:off x="457200" y="4063106"/>
            <a:ext cx="8229600" cy="2462238"/>
          </a:xfrm>
        </p:spPr>
        <p:txBody>
          <a:bodyPr/>
          <a:lstStyle/>
          <a:p>
            <a:pPr marL="0" indent="0" algn="just">
              <a:buNone/>
            </a:pPr>
            <a:r>
              <a:rPr lang="en-US" sz="1800" dirty="0"/>
              <a:t>The class </a:t>
            </a:r>
            <a:r>
              <a:rPr lang="en-US" sz="1800" dirty="0" err="1"/>
              <a:t>OnSaleItem</a:t>
            </a:r>
            <a:r>
              <a:rPr lang="en-US" sz="1800" dirty="0"/>
              <a:t> declares it own “price” field, which then shadows the original “price” field inherited from the class Item. Notice that </a:t>
            </a:r>
            <a:r>
              <a:rPr lang="en-US" sz="1800" dirty="0" err="1"/>
              <a:t>OnSaleItem</a:t>
            </a:r>
            <a:r>
              <a:rPr lang="en-US" sz="1800" dirty="0"/>
              <a:t> does not override </a:t>
            </a:r>
            <a:r>
              <a:rPr lang="en-US" sz="1800" dirty="0" err="1"/>
              <a:t>setPrice</a:t>
            </a:r>
            <a:r>
              <a:rPr lang="en-US" sz="1800" dirty="0"/>
              <a:t>, which uses “price” in its calculation. This leads to an error prone situation. When we have an instance o of </a:t>
            </a:r>
            <a:r>
              <a:rPr lang="en-US" sz="1800" dirty="0" err="1"/>
              <a:t>OnSaleItem</a:t>
            </a:r>
            <a:r>
              <a:rPr lang="en-US" sz="1800" dirty="0"/>
              <a:t>, and we call </a:t>
            </a:r>
            <a:r>
              <a:rPr lang="en-US" sz="1800" dirty="0" err="1"/>
              <a:t>o.price</a:t>
            </a:r>
            <a:r>
              <a:rPr lang="en-US" sz="1800" dirty="0"/>
              <a:t>(), in Java the method price() would use the old price rather than the newly declared price.</a:t>
            </a:r>
          </a:p>
        </p:txBody>
      </p:sp>
      <p:sp>
        <p:nvSpPr>
          <p:cNvPr id="4" name="Slide Number Placeholder 3"/>
          <p:cNvSpPr>
            <a:spLocks noGrp="1"/>
          </p:cNvSpPr>
          <p:nvPr>
            <p:ph type="sldNum" sz="quarter" idx="12"/>
          </p:nvPr>
        </p:nvSpPr>
        <p:spPr/>
        <p:txBody>
          <a:bodyPr/>
          <a:lstStyle/>
          <a:p>
            <a:pPr>
              <a:defRPr/>
            </a:pPr>
            <a:fld id="{733EE044-0A3C-4C09-B629-9785C3CE45E7}" type="slidenum">
              <a:rPr lang="en-US" smtClean="0"/>
              <a:pPr>
                <a:defRPr/>
              </a:pPr>
              <a:t>24</a:t>
            </a:fld>
            <a:endParaRPr lang="en-US"/>
          </a:p>
        </p:txBody>
      </p:sp>
      <p:sp>
        <p:nvSpPr>
          <p:cNvPr id="5" name="TextBox 4"/>
          <p:cNvSpPr txBox="1"/>
          <p:nvPr/>
        </p:nvSpPr>
        <p:spPr>
          <a:xfrm>
            <a:off x="928688" y="1941066"/>
            <a:ext cx="3651321" cy="1631216"/>
          </a:xfrm>
          <a:prstGeom prst="rect">
            <a:avLst/>
          </a:prstGeom>
          <a:solidFill>
            <a:srgbClr val="FFFF00"/>
          </a:solidFill>
          <a:ln>
            <a:solidFill>
              <a:schemeClr val="tx1"/>
            </a:solidFill>
          </a:ln>
        </p:spPr>
        <p:txBody>
          <a:bodyPr wrap="none">
            <a:spAutoFit/>
          </a:bodyPr>
          <a:lstStyle/>
          <a:p>
            <a:pPr>
              <a:defRPr/>
            </a:pPr>
            <a:r>
              <a:rPr lang="en-US" sz="2000" b="1" dirty="0">
                <a:latin typeface="+mn-lt"/>
                <a:cs typeface="Arial" pitchFamily="34" charset="0"/>
              </a:rPr>
              <a:t>Item</a:t>
            </a:r>
          </a:p>
          <a:p>
            <a:pPr>
              <a:defRPr/>
            </a:pPr>
            <a:r>
              <a:rPr lang="en-US" sz="2000" dirty="0">
                <a:latin typeface="+mn-lt"/>
                <a:cs typeface="Arial" pitchFamily="34" charset="0"/>
              </a:rPr>
              <a:t>price</a:t>
            </a:r>
          </a:p>
          <a:p>
            <a:pPr>
              <a:defRPr/>
            </a:pPr>
            <a:r>
              <a:rPr lang="en-US" sz="2000" dirty="0">
                <a:latin typeface="+mn-lt"/>
                <a:cs typeface="Arial" pitchFamily="34" charset="0"/>
              </a:rPr>
              <a:t>tax</a:t>
            </a:r>
          </a:p>
          <a:p>
            <a:pPr>
              <a:defRPr/>
            </a:pPr>
            <a:r>
              <a:rPr lang="en-US" sz="2000" dirty="0">
                <a:latin typeface="+mn-lt"/>
                <a:cs typeface="Arial" pitchFamily="34" charset="0"/>
              </a:rPr>
              <a:t>+price() { return price * (1 + tax) }</a:t>
            </a:r>
          </a:p>
          <a:p>
            <a:pPr>
              <a:defRPr/>
            </a:pPr>
            <a:r>
              <a:rPr lang="en-US" sz="2000" dirty="0">
                <a:latin typeface="+mn-lt"/>
                <a:cs typeface="Arial" pitchFamily="34" charset="0"/>
              </a:rPr>
              <a:t>+</a:t>
            </a:r>
            <a:r>
              <a:rPr lang="en-US" sz="2000" dirty="0" err="1">
                <a:latin typeface="+mn-lt"/>
                <a:cs typeface="Arial" pitchFamily="34" charset="0"/>
              </a:rPr>
              <a:t>setPrice</a:t>
            </a:r>
            <a:r>
              <a:rPr lang="en-US" sz="2000" dirty="0">
                <a:latin typeface="+mn-lt"/>
                <a:cs typeface="Arial" pitchFamily="34" charset="0"/>
              </a:rPr>
              <a:t>(p) { price = p }</a:t>
            </a:r>
          </a:p>
        </p:txBody>
      </p:sp>
      <p:sp>
        <p:nvSpPr>
          <p:cNvPr id="6" name="TextBox 5"/>
          <p:cNvSpPr txBox="1"/>
          <p:nvPr/>
        </p:nvSpPr>
        <p:spPr>
          <a:xfrm>
            <a:off x="5469544" y="2226816"/>
            <a:ext cx="2630848" cy="1015663"/>
          </a:xfrm>
          <a:prstGeom prst="rect">
            <a:avLst/>
          </a:prstGeom>
          <a:solidFill>
            <a:schemeClr val="accent1">
              <a:lumMod val="20000"/>
              <a:lumOff val="80000"/>
            </a:schemeClr>
          </a:solidFill>
          <a:ln>
            <a:solidFill>
              <a:schemeClr val="tx1"/>
            </a:solidFill>
          </a:ln>
        </p:spPr>
        <p:txBody>
          <a:bodyPr wrap="none">
            <a:spAutoFit/>
          </a:bodyPr>
          <a:lstStyle/>
          <a:p>
            <a:pPr>
              <a:defRPr/>
            </a:pPr>
            <a:r>
              <a:rPr lang="en-US" sz="2000" b="1" dirty="0" err="1">
                <a:latin typeface="+mn-lt"/>
                <a:cs typeface="Arial" pitchFamily="34" charset="0"/>
              </a:rPr>
              <a:t>OnSaleItem</a:t>
            </a:r>
            <a:endParaRPr lang="en-US" sz="2000" b="1" dirty="0">
              <a:latin typeface="+mn-lt"/>
              <a:cs typeface="Arial" pitchFamily="34" charset="0"/>
            </a:endParaRPr>
          </a:p>
          <a:p>
            <a:pPr>
              <a:defRPr/>
            </a:pPr>
            <a:r>
              <a:rPr lang="en-US" sz="2000" dirty="0">
                <a:latin typeface="+mn-lt"/>
                <a:cs typeface="Arial" pitchFamily="34" charset="0"/>
              </a:rPr>
              <a:t>price</a:t>
            </a:r>
          </a:p>
          <a:p>
            <a:pPr>
              <a:defRPr/>
            </a:pPr>
            <a:r>
              <a:rPr lang="en-US" sz="2000" dirty="0">
                <a:latin typeface="+mn-lt"/>
                <a:cs typeface="Arial" pitchFamily="34" charset="0"/>
              </a:rPr>
              <a:t>+sale(p) { price = 0.8 p }</a:t>
            </a:r>
          </a:p>
        </p:txBody>
      </p:sp>
      <p:sp>
        <p:nvSpPr>
          <p:cNvPr id="7" name="Isosceles Triangle 6"/>
          <p:cNvSpPr/>
          <p:nvPr/>
        </p:nvSpPr>
        <p:spPr>
          <a:xfrm rot="16200000">
            <a:off x="4991707" y="2633216"/>
            <a:ext cx="169862" cy="214312"/>
          </a:xfrm>
          <a:prstGeom prst="triangle">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US"/>
          </a:p>
        </p:txBody>
      </p:sp>
      <p:cxnSp>
        <p:nvCxnSpPr>
          <p:cNvPr id="8" name="Straight Connector 7"/>
          <p:cNvCxnSpPr>
            <a:stCxn id="6" idx="1"/>
            <a:endCxn id="7" idx="3"/>
          </p:cNvCxnSpPr>
          <p:nvPr/>
        </p:nvCxnSpPr>
        <p:spPr>
          <a:xfrm flipH="1">
            <a:off x="5183794" y="2734648"/>
            <a:ext cx="285750" cy="5724"/>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3555">
                                            <p:txEl>
                                              <p:pRg st="0" end="0"/>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3555" grpId="0" build="p"/>
    </p:bldLst>
  </p:timing>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4578" name="Title 1"/>
          <p:cNvSpPr>
            <a:spLocks noGrp="1"/>
          </p:cNvSpPr>
          <p:nvPr>
            <p:ph type="title"/>
          </p:nvPr>
        </p:nvSpPr>
        <p:spPr/>
        <p:txBody>
          <a:bodyPr/>
          <a:lstStyle/>
          <a:p>
            <a:r>
              <a:rPr lang="en-US"/>
              <a:t>State Visibility Anomaly (SVA)</a:t>
            </a:r>
          </a:p>
        </p:txBody>
      </p:sp>
      <p:sp>
        <p:nvSpPr>
          <p:cNvPr id="4" name="Slide Number Placeholder 3"/>
          <p:cNvSpPr>
            <a:spLocks noGrp="1"/>
          </p:cNvSpPr>
          <p:nvPr>
            <p:ph type="sldNum" sz="quarter" idx="12"/>
          </p:nvPr>
        </p:nvSpPr>
        <p:spPr/>
        <p:txBody>
          <a:bodyPr/>
          <a:lstStyle/>
          <a:p>
            <a:pPr>
              <a:defRPr/>
            </a:pPr>
            <a:fld id="{7BA62E47-B85A-49C4-900D-EB78D0968550}" type="slidenum">
              <a:rPr lang="en-US" smtClean="0"/>
              <a:pPr>
                <a:defRPr/>
              </a:pPr>
              <a:t>25</a:t>
            </a:fld>
            <a:endParaRPr lang="en-US"/>
          </a:p>
        </p:txBody>
      </p:sp>
      <p:sp>
        <p:nvSpPr>
          <p:cNvPr id="5" name="TextBox 4"/>
          <p:cNvSpPr txBox="1"/>
          <p:nvPr/>
        </p:nvSpPr>
        <p:spPr>
          <a:xfrm>
            <a:off x="2300288" y="2270125"/>
            <a:ext cx="1031875" cy="1016000"/>
          </a:xfrm>
          <a:prstGeom prst="rect">
            <a:avLst/>
          </a:prstGeom>
          <a:solidFill>
            <a:srgbClr val="FFFF00"/>
          </a:solidFill>
          <a:ln>
            <a:solidFill>
              <a:schemeClr val="tx1"/>
            </a:solidFill>
          </a:ln>
        </p:spPr>
        <p:txBody>
          <a:bodyPr wrap="none">
            <a:spAutoFit/>
          </a:bodyPr>
          <a:lstStyle/>
          <a:p>
            <a:pPr>
              <a:defRPr/>
            </a:pPr>
            <a:r>
              <a:rPr lang="en-US" sz="2000" b="1" u="sng" dirty="0">
                <a:latin typeface="+mn-lt"/>
                <a:cs typeface="Arial" pitchFamily="34" charset="0"/>
              </a:rPr>
              <a:t>A            </a:t>
            </a:r>
          </a:p>
          <a:p>
            <a:pPr>
              <a:buFontTx/>
              <a:buChar char="-"/>
              <a:defRPr/>
            </a:pPr>
            <a:r>
              <a:rPr lang="en-US" sz="2000" dirty="0">
                <a:latin typeface="+mn-lt"/>
                <a:cs typeface="Arial" pitchFamily="34" charset="0"/>
              </a:rPr>
              <a:t> x</a:t>
            </a:r>
          </a:p>
          <a:p>
            <a:pPr>
              <a:defRPr/>
            </a:pPr>
            <a:r>
              <a:rPr lang="en-US" sz="2000" dirty="0">
                <a:latin typeface="+mn-lt"/>
                <a:cs typeface="Arial" pitchFamily="34" charset="0"/>
              </a:rPr>
              <a:t>+ </a:t>
            </a:r>
            <a:r>
              <a:rPr lang="en-US" sz="2000" dirty="0" err="1">
                <a:latin typeface="+mn-lt"/>
                <a:cs typeface="Arial" pitchFamily="34" charset="0"/>
              </a:rPr>
              <a:t>incr</a:t>
            </a:r>
            <a:r>
              <a:rPr lang="en-US" sz="2000" dirty="0">
                <a:latin typeface="+mn-lt"/>
                <a:cs typeface="Arial" pitchFamily="34" charset="0"/>
              </a:rPr>
              <a:t>()</a:t>
            </a:r>
          </a:p>
        </p:txBody>
      </p:sp>
      <p:sp>
        <p:nvSpPr>
          <p:cNvPr id="6" name="TextBox 5"/>
          <p:cNvSpPr txBox="1"/>
          <p:nvPr/>
        </p:nvSpPr>
        <p:spPr>
          <a:xfrm>
            <a:off x="3871913" y="2419350"/>
            <a:ext cx="1020762" cy="708025"/>
          </a:xfrm>
          <a:prstGeom prst="rect">
            <a:avLst/>
          </a:prstGeom>
          <a:solidFill>
            <a:schemeClr val="accent1">
              <a:lumMod val="20000"/>
              <a:lumOff val="80000"/>
            </a:schemeClr>
          </a:solidFill>
          <a:ln>
            <a:solidFill>
              <a:schemeClr val="tx1"/>
            </a:solidFill>
          </a:ln>
        </p:spPr>
        <p:txBody>
          <a:bodyPr wrap="none">
            <a:spAutoFit/>
          </a:bodyPr>
          <a:lstStyle/>
          <a:p>
            <a:pPr>
              <a:defRPr/>
            </a:pPr>
            <a:r>
              <a:rPr lang="en-US" sz="2000" b="1" u="sng" dirty="0">
                <a:latin typeface="+mn-lt"/>
                <a:cs typeface="Arial" pitchFamily="34" charset="0"/>
              </a:rPr>
              <a:t>B            </a:t>
            </a:r>
          </a:p>
          <a:p>
            <a:pPr>
              <a:defRPr/>
            </a:pPr>
            <a:endParaRPr lang="en-US" sz="2000" b="1" u="sng" dirty="0">
              <a:latin typeface="+mn-lt"/>
              <a:cs typeface="Arial" pitchFamily="34" charset="0"/>
            </a:endParaRPr>
          </a:p>
        </p:txBody>
      </p:sp>
      <p:sp>
        <p:nvSpPr>
          <p:cNvPr id="7" name="TextBox 6"/>
          <p:cNvSpPr txBox="1"/>
          <p:nvPr/>
        </p:nvSpPr>
        <p:spPr>
          <a:xfrm>
            <a:off x="5514975" y="2419350"/>
            <a:ext cx="1128713" cy="708025"/>
          </a:xfrm>
          <a:prstGeom prst="rect">
            <a:avLst/>
          </a:prstGeom>
          <a:solidFill>
            <a:schemeClr val="accent1">
              <a:lumMod val="20000"/>
              <a:lumOff val="80000"/>
            </a:schemeClr>
          </a:solidFill>
          <a:ln>
            <a:solidFill>
              <a:schemeClr val="tx1"/>
            </a:solidFill>
          </a:ln>
        </p:spPr>
        <p:txBody>
          <a:bodyPr wrap="none">
            <a:spAutoFit/>
          </a:bodyPr>
          <a:lstStyle/>
          <a:p>
            <a:pPr>
              <a:defRPr/>
            </a:pPr>
            <a:r>
              <a:rPr lang="en-US" sz="2000" b="1" u="sng" dirty="0">
                <a:latin typeface="+mn-lt"/>
                <a:cs typeface="Arial" pitchFamily="34" charset="0"/>
              </a:rPr>
              <a:t>C              </a:t>
            </a:r>
          </a:p>
          <a:p>
            <a:pPr>
              <a:defRPr/>
            </a:pPr>
            <a:r>
              <a:rPr lang="en-US" sz="2000" dirty="0">
                <a:latin typeface="+mn-lt"/>
                <a:cs typeface="Arial" pitchFamily="34" charset="0"/>
              </a:rPr>
              <a:t>+ incr2()</a:t>
            </a:r>
          </a:p>
        </p:txBody>
      </p:sp>
      <p:sp>
        <p:nvSpPr>
          <p:cNvPr id="8" name="Isosceles Triangle 7"/>
          <p:cNvSpPr/>
          <p:nvPr/>
        </p:nvSpPr>
        <p:spPr>
          <a:xfrm rot="16200000">
            <a:off x="3394075" y="2676525"/>
            <a:ext cx="169863" cy="214313"/>
          </a:xfrm>
          <a:prstGeom prst="triangle">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US"/>
          </a:p>
        </p:txBody>
      </p:sp>
      <p:cxnSp>
        <p:nvCxnSpPr>
          <p:cNvPr id="9" name="Straight Connector 8"/>
          <p:cNvCxnSpPr>
            <a:endCxn id="8" idx="3"/>
          </p:cNvCxnSpPr>
          <p:nvPr/>
        </p:nvCxnSpPr>
        <p:spPr>
          <a:xfrm rot="10800000">
            <a:off x="3586163" y="2784475"/>
            <a:ext cx="311150" cy="4763"/>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
        <p:nvSpPr>
          <p:cNvPr id="10" name="Isosceles Triangle 9"/>
          <p:cNvSpPr/>
          <p:nvPr/>
        </p:nvSpPr>
        <p:spPr>
          <a:xfrm rot="16200000">
            <a:off x="4965700" y="2676525"/>
            <a:ext cx="169863" cy="214313"/>
          </a:xfrm>
          <a:prstGeom prst="triangle">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US"/>
          </a:p>
        </p:txBody>
      </p:sp>
      <p:cxnSp>
        <p:nvCxnSpPr>
          <p:cNvPr id="11" name="Straight Connector 10"/>
          <p:cNvCxnSpPr>
            <a:endCxn id="10" idx="3"/>
          </p:cNvCxnSpPr>
          <p:nvPr/>
        </p:nvCxnSpPr>
        <p:spPr>
          <a:xfrm rot="10800000">
            <a:off x="5157788" y="2784475"/>
            <a:ext cx="311150" cy="4763"/>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
        <p:nvSpPr>
          <p:cNvPr id="12" name="TextBox 11"/>
          <p:cNvSpPr txBox="1"/>
          <p:nvPr/>
        </p:nvSpPr>
        <p:spPr>
          <a:xfrm>
            <a:off x="457200" y="3929063"/>
            <a:ext cx="8229600" cy="1200329"/>
          </a:xfrm>
          <a:prstGeom prst="rect">
            <a:avLst/>
          </a:prstGeom>
          <a:noFill/>
        </p:spPr>
        <p:txBody>
          <a:bodyPr wrap="square">
            <a:spAutoFit/>
          </a:bodyPr>
          <a:lstStyle/>
          <a:p>
            <a:pPr algn="just">
              <a:defRPr/>
            </a:pPr>
            <a:r>
              <a:rPr lang="en-US" i="1" dirty="0">
                <a:latin typeface="+mn-lt"/>
                <a:cs typeface="Arial" pitchFamily="34" charset="0"/>
              </a:rPr>
              <a:t>C’</a:t>
            </a:r>
            <a:r>
              <a:rPr lang="en-US" dirty="0">
                <a:latin typeface="+mn-lt"/>
                <a:cs typeface="Arial" pitchFamily="34" charset="0"/>
              </a:rPr>
              <a:t>s needs a method </a:t>
            </a:r>
            <a:r>
              <a:rPr lang="en-US" i="1" dirty="0">
                <a:latin typeface="+mn-lt"/>
                <a:cs typeface="Arial" pitchFamily="34" charset="0"/>
              </a:rPr>
              <a:t>incr2</a:t>
            </a:r>
            <a:r>
              <a:rPr lang="en-US" dirty="0">
                <a:latin typeface="+mn-lt"/>
                <a:cs typeface="Arial" pitchFamily="34" charset="0"/>
              </a:rPr>
              <a:t> that would increase </a:t>
            </a:r>
            <a:r>
              <a:rPr lang="en-US" i="1" dirty="0">
                <a:latin typeface="+mn-lt"/>
                <a:cs typeface="Arial" pitchFamily="34" charset="0"/>
              </a:rPr>
              <a:t>x</a:t>
            </a:r>
            <a:r>
              <a:rPr lang="en-US" dirty="0">
                <a:latin typeface="+mn-lt"/>
                <a:cs typeface="Arial" pitchFamily="34" charset="0"/>
              </a:rPr>
              <a:t> by 2. However it can’t get to </a:t>
            </a:r>
            <a:r>
              <a:rPr lang="en-US" i="1" dirty="0">
                <a:latin typeface="+mn-lt"/>
                <a:cs typeface="Arial" pitchFamily="34" charset="0"/>
              </a:rPr>
              <a:t>x</a:t>
            </a:r>
            <a:r>
              <a:rPr lang="en-US" dirty="0">
                <a:latin typeface="+mn-lt"/>
                <a:cs typeface="Arial" pitchFamily="34" charset="0"/>
              </a:rPr>
              <a:t>, because it is private to </a:t>
            </a:r>
            <a:r>
              <a:rPr lang="en-US" i="1" dirty="0">
                <a:latin typeface="+mn-lt"/>
                <a:cs typeface="Arial" pitchFamily="34" charset="0"/>
              </a:rPr>
              <a:t>A</a:t>
            </a:r>
            <a:r>
              <a:rPr lang="en-US" dirty="0">
                <a:latin typeface="+mn-lt"/>
                <a:cs typeface="Arial" pitchFamily="34" charset="0"/>
              </a:rPr>
              <a:t>.  It can however calls </a:t>
            </a:r>
            <a:r>
              <a:rPr lang="en-US" dirty="0" err="1">
                <a:latin typeface="+mn-lt"/>
                <a:cs typeface="Arial" pitchFamily="34" charset="0"/>
              </a:rPr>
              <a:t>incr</a:t>
            </a:r>
            <a:r>
              <a:rPr lang="en-US" dirty="0">
                <a:latin typeface="+mn-lt"/>
                <a:cs typeface="Arial" pitchFamily="34" charset="0"/>
              </a:rPr>
              <a:t>() twice. So far it is ok. Now imagine someone else changes </a:t>
            </a:r>
            <a:r>
              <a:rPr lang="en-US" i="1" dirty="0">
                <a:latin typeface="+mn-lt"/>
                <a:cs typeface="Arial" pitchFamily="34" charset="0"/>
              </a:rPr>
              <a:t>B</a:t>
            </a:r>
            <a:r>
              <a:rPr lang="en-US" dirty="0">
                <a:latin typeface="+mn-lt"/>
                <a:cs typeface="Arial" pitchFamily="34" charset="0"/>
              </a:rPr>
              <a:t> by overriding </a:t>
            </a:r>
            <a:r>
              <a:rPr lang="en-US" i="1" dirty="0">
                <a:latin typeface="+mn-lt"/>
                <a:cs typeface="Arial" pitchFamily="34" charset="0"/>
              </a:rPr>
              <a:t>incr</a:t>
            </a:r>
            <a:r>
              <a:rPr lang="en-US" dirty="0">
                <a:latin typeface="+mn-lt"/>
                <a:cs typeface="Arial" pitchFamily="34" charset="0"/>
              </a:rPr>
              <a:t>. This suddenly changes the behavior of </a:t>
            </a:r>
            <a:r>
              <a:rPr lang="en-US" i="1" dirty="0">
                <a:latin typeface="+mn-lt"/>
                <a:cs typeface="Arial" pitchFamily="34" charset="0"/>
              </a:rPr>
              <a:t>C</a:t>
            </a:r>
            <a:r>
              <a:rPr lang="en-US" dirty="0">
                <a:latin typeface="+mn-lt"/>
                <a:cs typeface="Arial" pitchFamily="34" charset="0"/>
              </a:rPr>
              <a:t>; as it now calls </a:t>
            </a:r>
            <a:r>
              <a:rPr lang="en-US" i="1" dirty="0">
                <a:latin typeface="+mn-lt"/>
                <a:cs typeface="Arial" pitchFamily="34" charset="0"/>
              </a:rPr>
              <a:t>B</a:t>
            </a:r>
            <a:r>
              <a:rPr lang="en-US" dirty="0">
                <a:latin typeface="+mn-lt"/>
                <a:cs typeface="Arial" pitchFamily="34" charset="0"/>
              </a:rPr>
              <a:t>’s </a:t>
            </a:r>
            <a:r>
              <a:rPr lang="en-US" i="1" dirty="0" err="1">
                <a:latin typeface="+mn-lt"/>
                <a:cs typeface="Arial" pitchFamily="34" charset="0"/>
              </a:rPr>
              <a:t>incr</a:t>
            </a:r>
            <a:r>
              <a:rPr lang="en-US" dirty="0">
                <a:latin typeface="+mn-lt"/>
                <a:cs typeface="Arial" pitchFamily="34" charset="0"/>
              </a:rPr>
              <a:t> instead.</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2" grpId="0"/>
    </p:bldLst>
  </p:timing>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602" name="Title 1"/>
          <p:cNvSpPr>
            <a:spLocks noGrp="1"/>
          </p:cNvSpPr>
          <p:nvPr>
            <p:ph type="title"/>
          </p:nvPr>
        </p:nvSpPr>
        <p:spPr/>
        <p:txBody>
          <a:bodyPr/>
          <a:lstStyle/>
          <a:p>
            <a:r>
              <a:rPr lang="en-US" sz="3600"/>
              <a:t>Anomalous Construction Behavior 1 (ACB1)</a:t>
            </a:r>
          </a:p>
        </p:txBody>
      </p:sp>
      <p:sp>
        <p:nvSpPr>
          <p:cNvPr id="25603" name="Content Placeholder 2"/>
          <p:cNvSpPr>
            <a:spLocks noGrp="1"/>
          </p:cNvSpPr>
          <p:nvPr>
            <p:ph idx="1"/>
          </p:nvPr>
        </p:nvSpPr>
        <p:spPr>
          <a:xfrm>
            <a:off x="460057" y="3893206"/>
            <a:ext cx="8229600" cy="2554288"/>
          </a:xfrm>
        </p:spPr>
        <p:txBody>
          <a:bodyPr/>
          <a:lstStyle/>
          <a:p>
            <a:pPr marL="0" indent="0" algn="just">
              <a:buNone/>
            </a:pPr>
            <a:r>
              <a:rPr lang="en-US" sz="1800" dirty="0"/>
              <a:t>In the above design, Item’s constructor calls reset(). </a:t>
            </a:r>
            <a:r>
              <a:rPr lang="en-US" sz="1800" dirty="0" err="1"/>
              <a:t>ExpensiveItem</a:t>
            </a:r>
            <a:r>
              <a:rPr lang="en-US" sz="1800" dirty="0"/>
              <a:t> overrides reset(). So far so good. But then, </a:t>
            </a:r>
            <a:r>
              <a:rPr lang="en-US" sz="1800" dirty="0" err="1"/>
              <a:t>ExpensiveItem’s</a:t>
            </a:r>
            <a:r>
              <a:rPr lang="en-US" sz="1800" dirty="0"/>
              <a:t> constructor calls Item’s constructor. This leads to an error prone situation. The latter would then call reset(). In Java, it will call the new reset() rather than the old one (which may or may not be the intended behavior).</a:t>
            </a:r>
          </a:p>
        </p:txBody>
      </p:sp>
      <p:sp>
        <p:nvSpPr>
          <p:cNvPr id="4" name="Slide Number Placeholder 3"/>
          <p:cNvSpPr>
            <a:spLocks noGrp="1"/>
          </p:cNvSpPr>
          <p:nvPr>
            <p:ph type="sldNum" sz="quarter" idx="12"/>
          </p:nvPr>
        </p:nvSpPr>
        <p:spPr/>
        <p:txBody>
          <a:bodyPr/>
          <a:lstStyle/>
          <a:p>
            <a:pPr>
              <a:defRPr/>
            </a:pPr>
            <a:fld id="{1DF02825-223A-4D7E-845E-C6E374D8798F}" type="slidenum">
              <a:rPr lang="en-US" smtClean="0"/>
              <a:pPr>
                <a:defRPr/>
              </a:pPr>
              <a:t>26</a:t>
            </a:fld>
            <a:endParaRPr lang="en-US"/>
          </a:p>
        </p:txBody>
      </p:sp>
      <p:sp>
        <p:nvSpPr>
          <p:cNvPr id="5" name="TextBox 4"/>
          <p:cNvSpPr txBox="1"/>
          <p:nvPr/>
        </p:nvSpPr>
        <p:spPr>
          <a:xfrm>
            <a:off x="623591" y="1941800"/>
            <a:ext cx="2600199" cy="1631216"/>
          </a:xfrm>
          <a:prstGeom prst="rect">
            <a:avLst/>
          </a:prstGeom>
          <a:solidFill>
            <a:srgbClr val="FFFF00"/>
          </a:solidFill>
          <a:ln>
            <a:solidFill>
              <a:schemeClr val="tx1"/>
            </a:solidFill>
          </a:ln>
        </p:spPr>
        <p:txBody>
          <a:bodyPr wrap="none">
            <a:spAutoFit/>
          </a:bodyPr>
          <a:lstStyle/>
          <a:p>
            <a:pPr>
              <a:defRPr/>
            </a:pPr>
            <a:r>
              <a:rPr lang="en-US" sz="2000" b="1" dirty="0">
                <a:latin typeface="+mn-lt"/>
                <a:cs typeface="Arial" pitchFamily="34" charset="0"/>
              </a:rPr>
              <a:t>Item</a:t>
            </a:r>
          </a:p>
          <a:p>
            <a:pPr>
              <a:defRPr/>
            </a:pPr>
            <a:r>
              <a:rPr lang="en-US" sz="2000" dirty="0">
                <a:latin typeface="+mn-lt"/>
                <a:cs typeface="Arial" pitchFamily="34" charset="0"/>
              </a:rPr>
              <a:t>price</a:t>
            </a:r>
          </a:p>
          <a:p>
            <a:pPr>
              <a:defRPr/>
            </a:pPr>
            <a:r>
              <a:rPr lang="en-US" sz="2000" dirty="0">
                <a:latin typeface="+mn-lt"/>
                <a:cs typeface="Arial" pitchFamily="34" charset="0"/>
              </a:rPr>
              <a:t>tax </a:t>
            </a:r>
          </a:p>
          <a:p>
            <a:pPr>
              <a:defRPr/>
            </a:pPr>
            <a:r>
              <a:rPr lang="en-US" sz="2000" dirty="0">
                <a:latin typeface="+mn-lt"/>
                <a:cs typeface="Arial" pitchFamily="34" charset="0"/>
              </a:rPr>
              <a:t>Item() { reset() ; tax=0 }</a:t>
            </a:r>
          </a:p>
          <a:p>
            <a:pPr>
              <a:defRPr/>
            </a:pPr>
            <a:r>
              <a:rPr lang="en-US" sz="2000" dirty="0">
                <a:latin typeface="+mn-lt"/>
                <a:cs typeface="Arial" pitchFamily="34" charset="0"/>
              </a:rPr>
              <a:t>reset() { price = 1 }</a:t>
            </a:r>
          </a:p>
        </p:txBody>
      </p:sp>
      <p:sp>
        <p:nvSpPr>
          <p:cNvPr id="6" name="Isosceles Triangle 5"/>
          <p:cNvSpPr/>
          <p:nvPr/>
        </p:nvSpPr>
        <p:spPr>
          <a:xfrm rot="16200000">
            <a:off x="3245494" y="2626012"/>
            <a:ext cx="169863" cy="214313"/>
          </a:xfrm>
          <a:prstGeom prst="triangle">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US"/>
          </a:p>
        </p:txBody>
      </p:sp>
      <p:sp>
        <p:nvSpPr>
          <p:cNvPr id="7" name="TextBox 6"/>
          <p:cNvSpPr txBox="1"/>
          <p:nvPr/>
        </p:nvSpPr>
        <p:spPr>
          <a:xfrm>
            <a:off x="3943994" y="2084675"/>
            <a:ext cx="4516438" cy="1323975"/>
          </a:xfrm>
          <a:prstGeom prst="rect">
            <a:avLst/>
          </a:prstGeom>
          <a:solidFill>
            <a:schemeClr val="accent1">
              <a:lumMod val="20000"/>
              <a:lumOff val="80000"/>
            </a:schemeClr>
          </a:solidFill>
          <a:ln>
            <a:solidFill>
              <a:schemeClr val="tx1"/>
            </a:solidFill>
          </a:ln>
        </p:spPr>
        <p:txBody>
          <a:bodyPr wrap="none">
            <a:spAutoFit/>
          </a:bodyPr>
          <a:lstStyle/>
          <a:p>
            <a:pPr>
              <a:defRPr/>
            </a:pPr>
            <a:r>
              <a:rPr lang="en-US" sz="2000" b="1" dirty="0" err="1">
                <a:latin typeface="+mn-lt"/>
                <a:cs typeface="Arial" pitchFamily="34" charset="0"/>
              </a:rPr>
              <a:t>ExpensiveItem</a:t>
            </a:r>
            <a:endParaRPr lang="en-US" sz="2000" b="1" dirty="0">
              <a:latin typeface="+mn-lt"/>
              <a:cs typeface="Arial" pitchFamily="34" charset="0"/>
            </a:endParaRPr>
          </a:p>
          <a:p>
            <a:pPr>
              <a:defRPr/>
            </a:pPr>
            <a:r>
              <a:rPr lang="en-US" sz="2000" dirty="0" err="1">
                <a:latin typeface="+mn-lt"/>
                <a:cs typeface="Arial" pitchFamily="34" charset="0"/>
              </a:rPr>
              <a:t>baseprice</a:t>
            </a:r>
            <a:endParaRPr lang="en-US" sz="2000" dirty="0">
              <a:latin typeface="+mn-lt"/>
              <a:cs typeface="Arial" pitchFamily="34" charset="0"/>
            </a:endParaRPr>
          </a:p>
          <a:p>
            <a:pPr>
              <a:defRPr/>
            </a:pPr>
            <a:r>
              <a:rPr lang="en-US" sz="2000" dirty="0" err="1">
                <a:latin typeface="+mn-lt"/>
                <a:cs typeface="Arial" pitchFamily="34" charset="0"/>
              </a:rPr>
              <a:t>ExpensiveItem</a:t>
            </a:r>
            <a:r>
              <a:rPr lang="en-US" sz="2000" dirty="0">
                <a:latin typeface="+mn-lt"/>
                <a:cs typeface="Arial" pitchFamily="34" charset="0"/>
              </a:rPr>
              <a:t>() { super() ; </a:t>
            </a:r>
            <a:r>
              <a:rPr lang="en-US" sz="2000" dirty="0" err="1">
                <a:latin typeface="+mn-lt"/>
                <a:cs typeface="Arial" pitchFamily="34" charset="0"/>
              </a:rPr>
              <a:t>baseprice</a:t>
            </a:r>
            <a:r>
              <a:rPr lang="en-US" sz="2000" dirty="0">
                <a:latin typeface="+mn-lt"/>
                <a:cs typeface="Arial" pitchFamily="34" charset="0"/>
              </a:rPr>
              <a:t>=10 }</a:t>
            </a:r>
          </a:p>
          <a:p>
            <a:pPr>
              <a:defRPr/>
            </a:pPr>
            <a:r>
              <a:rPr lang="en-US" sz="2000" dirty="0">
                <a:latin typeface="+mn-lt"/>
                <a:cs typeface="Arial" pitchFamily="34" charset="0"/>
              </a:rPr>
              <a:t>reset() { price = </a:t>
            </a:r>
            <a:r>
              <a:rPr lang="en-US" sz="2000" dirty="0" err="1">
                <a:latin typeface="+mn-lt"/>
                <a:cs typeface="Arial" pitchFamily="34" charset="0"/>
              </a:rPr>
              <a:t>baseprice</a:t>
            </a:r>
            <a:r>
              <a:rPr lang="en-US" sz="2000" dirty="0">
                <a:latin typeface="+mn-lt"/>
                <a:cs typeface="Arial" pitchFamily="34" charset="0"/>
              </a:rPr>
              <a:t> }</a:t>
            </a:r>
          </a:p>
        </p:txBody>
      </p:sp>
      <p:cxnSp>
        <p:nvCxnSpPr>
          <p:cNvPr id="8" name="Straight Connector 7"/>
          <p:cNvCxnSpPr>
            <a:stCxn id="7" idx="1"/>
            <a:endCxn id="6" idx="3"/>
          </p:cNvCxnSpPr>
          <p:nvPr/>
        </p:nvCxnSpPr>
        <p:spPr>
          <a:xfrm flipH="1" flipV="1">
            <a:off x="3437582" y="2732375"/>
            <a:ext cx="506412" cy="14287"/>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5603">
                                            <p:txEl>
                                              <p:pRg st="0" end="0"/>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5603" grpId="0" uiExpand="1" build="p"/>
    </p:bldLst>
  </p:timing>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9698" name="Title 3"/>
          <p:cNvSpPr>
            <a:spLocks noGrp="1"/>
          </p:cNvSpPr>
          <p:nvPr>
            <p:ph type="title"/>
          </p:nvPr>
        </p:nvSpPr>
        <p:spPr/>
        <p:txBody>
          <a:bodyPr/>
          <a:lstStyle/>
          <a:p>
            <a:r>
              <a:rPr lang="en-US" sz="4000"/>
              <a:t>Check the remaining anomalies yourself</a:t>
            </a:r>
          </a:p>
        </p:txBody>
      </p:sp>
      <p:sp>
        <p:nvSpPr>
          <p:cNvPr id="29699" name="Content Placeholder 4"/>
          <p:cNvSpPr>
            <a:spLocks noGrp="1"/>
          </p:cNvSpPr>
          <p:nvPr>
            <p:ph idx="1"/>
          </p:nvPr>
        </p:nvSpPr>
        <p:spPr/>
        <p:txBody>
          <a:bodyPr/>
          <a:lstStyle/>
          <a:p>
            <a:r>
              <a:rPr lang="en-US"/>
              <a:t>State Defined Incorrectly (SDI)</a:t>
            </a:r>
          </a:p>
          <a:p>
            <a:r>
              <a:rPr lang="en-US"/>
              <a:t>Indirect Inconsistent State Definition (IISD)</a:t>
            </a:r>
          </a:p>
          <a:p>
            <a:r>
              <a:rPr lang="en-US"/>
              <a:t>Anomalous Construction Behavior 2 (ACB2)</a:t>
            </a:r>
          </a:p>
          <a:p>
            <a:r>
              <a:rPr lang="en-US"/>
              <a:t>Incomplete Construction (IC)</a:t>
            </a:r>
          </a:p>
        </p:txBody>
      </p:sp>
      <p:sp>
        <p:nvSpPr>
          <p:cNvPr id="3" name="Slide Number Placeholder 2"/>
          <p:cNvSpPr>
            <a:spLocks noGrp="1"/>
          </p:cNvSpPr>
          <p:nvPr>
            <p:ph type="sldNum" sz="quarter" idx="12"/>
          </p:nvPr>
        </p:nvSpPr>
        <p:spPr/>
        <p:txBody>
          <a:bodyPr/>
          <a:lstStyle/>
          <a:p>
            <a:pPr>
              <a:defRPr/>
            </a:pPr>
            <a:fld id="{18531432-A9D7-4DEA-87EB-ABCC88ADDF79}" type="slidenum">
              <a:rPr lang="en-US" smtClean="0"/>
              <a:pPr>
                <a:defRPr/>
              </a:pPr>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284CDCA-C040-024E-87AF-BDA15F564C15}"/>
              </a:ext>
            </a:extLst>
          </p:cNvPr>
          <p:cNvSpPr>
            <a:spLocks noGrp="1"/>
          </p:cNvSpPr>
          <p:nvPr>
            <p:ph type="title"/>
          </p:nvPr>
        </p:nvSpPr>
        <p:spPr/>
        <p:txBody>
          <a:bodyPr/>
          <a:lstStyle/>
          <a:p>
            <a:r>
              <a:rPr lang="en-US" dirty="0"/>
              <a:t>Error prone situations due to inheritance</a:t>
            </a:r>
          </a:p>
        </p:txBody>
      </p:sp>
      <p:sp>
        <p:nvSpPr>
          <p:cNvPr id="3" name="Content Placeholder 2">
            <a:extLst>
              <a:ext uri="{FF2B5EF4-FFF2-40B4-BE49-F238E27FC236}">
                <a16:creationId xmlns:a16="http://schemas.microsoft.com/office/drawing/2014/main" id="{30E72786-356F-C049-B051-684F81B51F26}"/>
              </a:ext>
            </a:extLst>
          </p:cNvPr>
          <p:cNvSpPr>
            <a:spLocks noGrp="1"/>
          </p:cNvSpPr>
          <p:nvPr>
            <p:ph idx="1"/>
          </p:nvPr>
        </p:nvSpPr>
        <p:spPr/>
        <p:txBody>
          <a:bodyPr/>
          <a:lstStyle/>
          <a:p>
            <a:r>
              <a:rPr lang="en-US" sz="2800" dirty="0"/>
              <a:t>In previous examples we have seen how inheritance can change the behavior of a class, and can create error prone situations. </a:t>
            </a:r>
          </a:p>
          <a:p>
            <a:r>
              <a:rPr lang="en-US" sz="2800" dirty="0"/>
              <a:t>These are not necessarily errors (could be the intended behavior), but there are definitely needs to verify them.</a:t>
            </a:r>
          </a:p>
          <a:p>
            <a:r>
              <a:rPr lang="en-US" sz="2800" dirty="0"/>
              <a:t>Also notice that methods from subclasses and </a:t>
            </a:r>
            <a:r>
              <a:rPr lang="en-US" sz="2800" dirty="0" err="1"/>
              <a:t>superclasses</a:t>
            </a:r>
            <a:r>
              <a:rPr lang="en-US" sz="2800" dirty="0"/>
              <a:t> can implicitly call each other, called “yoyo” effect. </a:t>
            </a:r>
          </a:p>
          <a:p>
            <a:endParaRPr lang="en-US" sz="2800" dirty="0"/>
          </a:p>
          <a:p>
            <a:endParaRPr lang="en-US" sz="2800" dirty="0"/>
          </a:p>
        </p:txBody>
      </p:sp>
      <p:sp>
        <p:nvSpPr>
          <p:cNvPr id="4" name="Slide Number Placeholder 3">
            <a:extLst>
              <a:ext uri="{FF2B5EF4-FFF2-40B4-BE49-F238E27FC236}">
                <a16:creationId xmlns:a16="http://schemas.microsoft.com/office/drawing/2014/main" id="{6DA5BD4C-FABC-CC48-ABD9-FF586A8D6DED}"/>
              </a:ext>
            </a:extLst>
          </p:cNvPr>
          <p:cNvSpPr>
            <a:spLocks noGrp="1"/>
          </p:cNvSpPr>
          <p:nvPr>
            <p:ph type="sldNum" sz="quarter" idx="12"/>
          </p:nvPr>
        </p:nvSpPr>
        <p:spPr/>
        <p:txBody>
          <a:bodyPr/>
          <a:lstStyle/>
          <a:p>
            <a:pPr>
              <a:defRPr/>
            </a:pPr>
            <a:fld id="{F51486F7-ACCF-4DB7-BBF3-9BC4B709FB28}" type="slidenum">
              <a:rPr lang="en-US" smtClean="0"/>
              <a:pPr>
                <a:defRPr/>
              </a:pPr>
              <a:t>28</a:t>
            </a:fld>
            <a:endParaRPr lang="en-US"/>
          </a:p>
        </p:txBody>
      </p:sp>
    </p:spTree>
    <p:extLst>
      <p:ext uri="{BB962C8B-B14F-4D97-AF65-F5344CB8AC3E}">
        <p14:creationId xmlns:p14="http://schemas.microsoft.com/office/powerpoint/2010/main" val="1075008535"/>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9" name="Line 38"/>
          <p:cNvSpPr>
            <a:spLocks noChangeShapeType="1"/>
          </p:cNvSpPr>
          <p:nvPr/>
        </p:nvSpPr>
        <p:spPr bwMode="auto">
          <a:xfrm flipV="1">
            <a:off x="819150" y="3633788"/>
            <a:ext cx="76200" cy="152400"/>
          </a:xfrm>
          <a:prstGeom prst="line">
            <a:avLst/>
          </a:prstGeom>
          <a:noFill/>
          <a:ln w="12700">
            <a:solidFill>
              <a:schemeClr val="tx1"/>
            </a:solidFill>
            <a:round/>
            <a:headEnd/>
            <a:tailEnd/>
          </a:ln>
        </p:spPr>
        <p:txBody>
          <a:bodyPr wrap="none" anchor="ctr"/>
          <a:lstStyle/>
          <a:p>
            <a:pPr>
              <a:defRPr/>
            </a:pPr>
            <a:endParaRPr lang="en-US" sz="2400">
              <a:latin typeface="+mn-lt"/>
              <a:cs typeface="Arial" pitchFamily="34" charset="0"/>
            </a:endParaRPr>
          </a:p>
        </p:txBody>
      </p:sp>
      <p:sp>
        <p:nvSpPr>
          <p:cNvPr id="40" name="Line 39"/>
          <p:cNvSpPr>
            <a:spLocks noChangeShapeType="1"/>
          </p:cNvSpPr>
          <p:nvPr/>
        </p:nvSpPr>
        <p:spPr bwMode="auto">
          <a:xfrm flipH="1" flipV="1">
            <a:off x="895350" y="3633788"/>
            <a:ext cx="76200" cy="152400"/>
          </a:xfrm>
          <a:prstGeom prst="line">
            <a:avLst/>
          </a:prstGeom>
          <a:noFill/>
          <a:ln w="12700">
            <a:solidFill>
              <a:schemeClr val="tx1"/>
            </a:solidFill>
            <a:round/>
            <a:headEnd/>
            <a:tailEnd/>
          </a:ln>
        </p:spPr>
        <p:txBody>
          <a:bodyPr wrap="none" anchor="ctr"/>
          <a:lstStyle/>
          <a:p>
            <a:pPr>
              <a:defRPr/>
            </a:pPr>
            <a:endParaRPr lang="en-US" sz="2400">
              <a:latin typeface="+mn-lt"/>
              <a:cs typeface="Arial" pitchFamily="34" charset="0"/>
            </a:endParaRPr>
          </a:p>
        </p:txBody>
      </p:sp>
      <p:sp>
        <p:nvSpPr>
          <p:cNvPr id="41" name="Line 40"/>
          <p:cNvSpPr>
            <a:spLocks noChangeShapeType="1"/>
          </p:cNvSpPr>
          <p:nvPr/>
        </p:nvSpPr>
        <p:spPr bwMode="auto">
          <a:xfrm>
            <a:off x="819150" y="3786188"/>
            <a:ext cx="152400" cy="0"/>
          </a:xfrm>
          <a:prstGeom prst="line">
            <a:avLst/>
          </a:prstGeom>
          <a:noFill/>
          <a:ln w="12700">
            <a:solidFill>
              <a:schemeClr val="tx1"/>
            </a:solidFill>
            <a:round/>
            <a:headEnd/>
            <a:tailEnd/>
          </a:ln>
        </p:spPr>
        <p:txBody>
          <a:bodyPr wrap="none" anchor="ctr"/>
          <a:lstStyle/>
          <a:p>
            <a:pPr>
              <a:defRPr/>
            </a:pPr>
            <a:endParaRPr lang="en-US" sz="2400">
              <a:latin typeface="+mn-lt"/>
              <a:cs typeface="Arial" pitchFamily="34" charset="0"/>
            </a:endParaRPr>
          </a:p>
        </p:txBody>
      </p:sp>
      <p:sp>
        <p:nvSpPr>
          <p:cNvPr id="42" name="Line 41"/>
          <p:cNvSpPr>
            <a:spLocks noChangeShapeType="1"/>
          </p:cNvSpPr>
          <p:nvPr/>
        </p:nvSpPr>
        <p:spPr bwMode="auto">
          <a:xfrm>
            <a:off x="895350" y="3786188"/>
            <a:ext cx="0" cy="228600"/>
          </a:xfrm>
          <a:prstGeom prst="line">
            <a:avLst/>
          </a:prstGeom>
          <a:noFill/>
          <a:ln w="12700">
            <a:solidFill>
              <a:schemeClr val="tx1"/>
            </a:solidFill>
            <a:round/>
            <a:headEnd/>
            <a:tailEnd/>
          </a:ln>
        </p:spPr>
        <p:txBody>
          <a:bodyPr wrap="none" anchor="ctr"/>
          <a:lstStyle/>
          <a:p>
            <a:pPr>
              <a:defRPr/>
            </a:pPr>
            <a:endParaRPr lang="en-US" sz="2400">
              <a:latin typeface="+mn-lt"/>
              <a:cs typeface="Arial" pitchFamily="34" charset="0"/>
            </a:endParaRPr>
          </a:p>
        </p:txBody>
      </p:sp>
      <p:sp>
        <p:nvSpPr>
          <p:cNvPr id="27654" name="Title 4"/>
          <p:cNvSpPr>
            <a:spLocks noGrp="1"/>
          </p:cNvSpPr>
          <p:nvPr>
            <p:ph type="title"/>
          </p:nvPr>
        </p:nvSpPr>
        <p:spPr>
          <a:xfrm>
            <a:off x="457200" y="274638"/>
            <a:ext cx="8229600" cy="762000"/>
          </a:xfrm>
        </p:spPr>
        <p:txBody>
          <a:bodyPr/>
          <a:lstStyle/>
          <a:p>
            <a:r>
              <a:rPr lang="en-US" sz="2800" dirty="0"/>
              <a:t>The call graph of d() in A,B,C, exemplifying Yoyo behavior</a:t>
            </a:r>
            <a:endParaRPr lang="en-US" sz="1600" i="1" dirty="0"/>
          </a:p>
        </p:txBody>
      </p:sp>
      <p:sp>
        <p:nvSpPr>
          <p:cNvPr id="4" name="Slide Number Placeholder 3"/>
          <p:cNvSpPr>
            <a:spLocks noGrp="1"/>
          </p:cNvSpPr>
          <p:nvPr>
            <p:ph type="sldNum" sz="quarter" idx="12"/>
          </p:nvPr>
        </p:nvSpPr>
        <p:spPr/>
        <p:txBody>
          <a:bodyPr/>
          <a:lstStyle/>
          <a:p>
            <a:pPr>
              <a:defRPr/>
            </a:pPr>
            <a:fld id="{BDB5378D-868B-4B51-81E4-559CAB448F5B}" type="slidenum">
              <a:rPr lang="en-US" smtClean="0"/>
              <a:pPr>
                <a:defRPr/>
              </a:pPr>
              <a:t>29</a:t>
            </a:fld>
            <a:endParaRPr lang="en-US"/>
          </a:p>
        </p:txBody>
      </p:sp>
      <p:sp>
        <p:nvSpPr>
          <p:cNvPr id="7" name="Rectangle 2"/>
          <p:cNvSpPr>
            <a:spLocks noChangeArrowheads="1"/>
          </p:cNvSpPr>
          <p:nvPr/>
        </p:nvSpPr>
        <p:spPr bwMode="auto">
          <a:xfrm>
            <a:off x="330200" y="5729288"/>
            <a:ext cx="1146175" cy="914400"/>
          </a:xfrm>
          <a:prstGeom prst="rect">
            <a:avLst/>
          </a:prstGeom>
          <a:solidFill>
            <a:srgbClr val="FFFFCC"/>
          </a:solidFill>
          <a:ln w="28575">
            <a:solidFill>
              <a:srgbClr val="000000"/>
            </a:solidFill>
            <a:miter lim="800000"/>
            <a:headEnd/>
            <a:tailEnd/>
          </a:ln>
        </p:spPr>
        <p:txBody>
          <a:bodyPr wrap="none" anchor="ctr"/>
          <a:lstStyle/>
          <a:p>
            <a:pPr>
              <a:defRPr/>
            </a:pPr>
            <a:r>
              <a:rPr lang="nl-NL" b="1" u="sng" dirty="0">
                <a:latin typeface="+mn-lt"/>
                <a:cs typeface="Arial" pitchFamily="34" charset="0"/>
              </a:rPr>
              <a:t>      C      </a:t>
            </a:r>
          </a:p>
          <a:p>
            <a:pPr>
              <a:defRPr/>
            </a:pPr>
            <a:r>
              <a:rPr lang="en-US" dirty="0">
                <a:solidFill>
                  <a:srgbClr val="00005A"/>
                </a:solidFill>
                <a:latin typeface="+mn-lt"/>
                <a:cs typeface="Arial" pitchFamily="34" charset="0"/>
              </a:rPr>
              <a:t>+j () { k() }</a:t>
            </a:r>
          </a:p>
        </p:txBody>
      </p:sp>
      <p:sp>
        <p:nvSpPr>
          <p:cNvPr id="8" name="Rectangle 3"/>
          <p:cNvSpPr>
            <a:spLocks noChangeArrowheads="1"/>
          </p:cNvSpPr>
          <p:nvPr/>
        </p:nvSpPr>
        <p:spPr bwMode="auto">
          <a:xfrm>
            <a:off x="250825" y="4000500"/>
            <a:ext cx="1657350" cy="1084263"/>
          </a:xfrm>
          <a:prstGeom prst="rect">
            <a:avLst/>
          </a:prstGeom>
          <a:solidFill>
            <a:srgbClr val="CCFFFF"/>
          </a:solidFill>
          <a:ln w="28575">
            <a:solidFill>
              <a:srgbClr val="000000"/>
            </a:solidFill>
            <a:miter lim="800000"/>
            <a:headEnd/>
            <a:tailEnd/>
          </a:ln>
        </p:spPr>
        <p:txBody>
          <a:bodyPr wrap="none" anchor="ctr"/>
          <a:lstStyle/>
          <a:p>
            <a:pPr>
              <a:defRPr/>
            </a:pPr>
            <a:r>
              <a:rPr lang="nl-NL" b="1" u="sng" dirty="0">
                <a:latin typeface="+mn-lt"/>
                <a:cs typeface="Arial" pitchFamily="34" charset="0"/>
              </a:rPr>
              <a:t>       B      </a:t>
            </a:r>
          </a:p>
          <a:p>
            <a:pPr>
              <a:defRPr/>
            </a:pPr>
            <a:r>
              <a:rPr lang="en-US" dirty="0">
                <a:solidFill>
                  <a:srgbClr val="00005A"/>
                </a:solidFill>
                <a:cs typeface="Arial" pitchFamily="34" charset="0"/>
              </a:rPr>
              <a:t>+h () { </a:t>
            </a:r>
            <a:r>
              <a:rPr lang="en-US" dirty="0" err="1">
                <a:solidFill>
                  <a:srgbClr val="00005A"/>
                </a:solidFill>
                <a:cs typeface="Arial" pitchFamily="34" charset="0"/>
              </a:rPr>
              <a:t>i</a:t>
            </a:r>
            <a:r>
              <a:rPr lang="en-US" dirty="0">
                <a:solidFill>
                  <a:srgbClr val="00005A"/>
                </a:solidFill>
                <a:cs typeface="Arial" pitchFamily="34" charset="0"/>
              </a:rPr>
              <a:t>() ...} </a:t>
            </a:r>
            <a:endParaRPr lang="en-US" dirty="0">
              <a:solidFill>
                <a:srgbClr val="00005A"/>
              </a:solidFill>
              <a:latin typeface="+mn-lt"/>
              <a:cs typeface="Arial" pitchFamily="34" charset="0"/>
            </a:endParaRPr>
          </a:p>
          <a:p>
            <a:pPr>
              <a:defRPr/>
            </a:pPr>
            <a:r>
              <a:rPr lang="en-US" dirty="0">
                <a:solidFill>
                  <a:srgbClr val="00005A"/>
                </a:solidFill>
                <a:latin typeface="+mn-lt"/>
                <a:cs typeface="Arial" pitchFamily="34" charset="0"/>
              </a:rPr>
              <a:t>+ </a:t>
            </a:r>
            <a:r>
              <a:rPr lang="en-US" dirty="0" err="1">
                <a:solidFill>
                  <a:srgbClr val="00005A"/>
                </a:solidFill>
                <a:latin typeface="+mn-lt"/>
                <a:cs typeface="Arial" pitchFamily="34" charset="0"/>
              </a:rPr>
              <a:t>i</a:t>
            </a:r>
            <a:r>
              <a:rPr lang="en-US" dirty="0">
                <a:solidFill>
                  <a:srgbClr val="00005A"/>
                </a:solidFill>
                <a:latin typeface="+mn-lt"/>
                <a:cs typeface="Arial" pitchFamily="34" charset="0"/>
              </a:rPr>
              <a:t>() { </a:t>
            </a:r>
            <a:r>
              <a:rPr lang="en-US" dirty="0" err="1">
                <a:solidFill>
                  <a:srgbClr val="00005A"/>
                </a:solidFill>
                <a:latin typeface="+mn-lt"/>
                <a:cs typeface="Arial" pitchFamily="34" charset="0"/>
              </a:rPr>
              <a:t>super.i</a:t>
            </a:r>
            <a:r>
              <a:rPr lang="en-US" dirty="0">
                <a:solidFill>
                  <a:srgbClr val="00005A"/>
                </a:solidFill>
                <a:latin typeface="+mn-lt"/>
                <a:cs typeface="Arial" pitchFamily="34" charset="0"/>
              </a:rPr>
              <a:t>() ...}</a:t>
            </a:r>
          </a:p>
          <a:p>
            <a:pPr>
              <a:defRPr/>
            </a:pPr>
            <a:r>
              <a:rPr lang="en-US" dirty="0">
                <a:solidFill>
                  <a:srgbClr val="00005A"/>
                </a:solidFill>
                <a:latin typeface="+mn-lt"/>
                <a:cs typeface="Arial" pitchFamily="34" charset="0"/>
              </a:rPr>
              <a:t>+k() { }</a:t>
            </a:r>
          </a:p>
        </p:txBody>
      </p:sp>
      <p:sp>
        <p:nvSpPr>
          <p:cNvPr id="9" name="Rectangle 4"/>
          <p:cNvSpPr>
            <a:spLocks noChangeArrowheads="1"/>
          </p:cNvSpPr>
          <p:nvPr/>
        </p:nvSpPr>
        <p:spPr bwMode="auto">
          <a:xfrm>
            <a:off x="323850" y="1643063"/>
            <a:ext cx="1233488" cy="1928812"/>
          </a:xfrm>
          <a:prstGeom prst="rect">
            <a:avLst/>
          </a:prstGeom>
          <a:solidFill>
            <a:srgbClr val="FFE1FF"/>
          </a:solidFill>
          <a:ln w="28575">
            <a:solidFill>
              <a:srgbClr val="000000"/>
            </a:solidFill>
            <a:miter lim="800000"/>
            <a:headEnd/>
            <a:tailEnd/>
          </a:ln>
        </p:spPr>
        <p:txBody>
          <a:bodyPr wrap="none" anchor="ctr"/>
          <a:lstStyle/>
          <a:p>
            <a:pPr>
              <a:defRPr/>
            </a:pPr>
            <a:r>
              <a:rPr lang="en-US" b="1" u="sng" dirty="0">
                <a:solidFill>
                  <a:srgbClr val="00005A"/>
                </a:solidFill>
                <a:latin typeface="+mn-lt"/>
                <a:cs typeface="Arial" pitchFamily="34" charset="0"/>
              </a:rPr>
              <a:t>       A       </a:t>
            </a:r>
          </a:p>
          <a:p>
            <a:pPr>
              <a:defRPr/>
            </a:pPr>
            <a:r>
              <a:rPr lang="en-US" dirty="0">
                <a:solidFill>
                  <a:srgbClr val="00005A"/>
                </a:solidFill>
                <a:latin typeface="+mn-lt"/>
                <a:cs typeface="Arial" pitchFamily="34" charset="0"/>
              </a:rPr>
              <a:t>+d () { g() }</a:t>
            </a:r>
          </a:p>
          <a:p>
            <a:pPr>
              <a:defRPr/>
            </a:pPr>
            <a:r>
              <a:rPr lang="en-US" dirty="0">
                <a:solidFill>
                  <a:srgbClr val="00005A"/>
                </a:solidFill>
                <a:latin typeface="+mn-lt"/>
                <a:cs typeface="Arial" pitchFamily="34" charset="0"/>
              </a:rPr>
              <a:t>+g () { h() }</a:t>
            </a:r>
          </a:p>
          <a:p>
            <a:pPr>
              <a:defRPr/>
            </a:pPr>
            <a:r>
              <a:rPr lang="en-US" dirty="0">
                <a:solidFill>
                  <a:srgbClr val="00005A"/>
                </a:solidFill>
                <a:latin typeface="+mn-lt"/>
                <a:cs typeface="Arial" pitchFamily="34" charset="0"/>
              </a:rPr>
              <a:t>+h () { </a:t>
            </a:r>
            <a:r>
              <a:rPr lang="en-US" dirty="0" err="1">
                <a:solidFill>
                  <a:srgbClr val="00005A"/>
                </a:solidFill>
                <a:latin typeface="+mn-lt"/>
                <a:cs typeface="Arial" pitchFamily="34" charset="0"/>
              </a:rPr>
              <a:t>i</a:t>
            </a:r>
            <a:r>
              <a:rPr lang="en-US" dirty="0">
                <a:solidFill>
                  <a:srgbClr val="00005A"/>
                </a:solidFill>
                <a:latin typeface="+mn-lt"/>
                <a:cs typeface="Arial" pitchFamily="34" charset="0"/>
              </a:rPr>
              <a:t>() }</a:t>
            </a:r>
          </a:p>
          <a:p>
            <a:pPr>
              <a:defRPr/>
            </a:pPr>
            <a:r>
              <a:rPr lang="en-US" dirty="0">
                <a:solidFill>
                  <a:srgbClr val="00005A"/>
                </a:solidFill>
                <a:latin typeface="+mn-lt"/>
                <a:cs typeface="Arial" pitchFamily="34" charset="0"/>
              </a:rPr>
              <a:t>+</a:t>
            </a:r>
            <a:r>
              <a:rPr lang="en-US" dirty="0" err="1">
                <a:solidFill>
                  <a:srgbClr val="00005A"/>
                </a:solidFill>
                <a:latin typeface="+mn-lt"/>
                <a:cs typeface="Arial" pitchFamily="34" charset="0"/>
              </a:rPr>
              <a:t>i</a:t>
            </a:r>
            <a:r>
              <a:rPr lang="en-US" dirty="0">
                <a:solidFill>
                  <a:srgbClr val="00005A"/>
                </a:solidFill>
                <a:latin typeface="+mn-lt"/>
                <a:cs typeface="Arial" pitchFamily="34" charset="0"/>
              </a:rPr>
              <a:t> () { j() }</a:t>
            </a:r>
          </a:p>
          <a:p>
            <a:pPr>
              <a:defRPr/>
            </a:pPr>
            <a:r>
              <a:rPr lang="en-US" dirty="0">
                <a:solidFill>
                  <a:srgbClr val="00005A"/>
                </a:solidFill>
                <a:latin typeface="+mn-lt"/>
                <a:cs typeface="Arial" pitchFamily="34" charset="0"/>
              </a:rPr>
              <a:t>+j () {}</a:t>
            </a:r>
          </a:p>
        </p:txBody>
      </p:sp>
      <p:sp>
        <p:nvSpPr>
          <p:cNvPr id="10" name="Rectangle 5"/>
          <p:cNvSpPr>
            <a:spLocks noChangeArrowheads="1"/>
          </p:cNvSpPr>
          <p:nvPr/>
        </p:nvSpPr>
        <p:spPr bwMode="auto">
          <a:xfrm>
            <a:off x="2652713" y="6096000"/>
            <a:ext cx="5562600" cy="457200"/>
          </a:xfrm>
          <a:prstGeom prst="rect">
            <a:avLst/>
          </a:prstGeom>
          <a:solidFill>
            <a:srgbClr val="FFFFCC"/>
          </a:solidFill>
          <a:ln w="28575">
            <a:solidFill>
              <a:srgbClr val="000000"/>
            </a:solidFill>
            <a:miter lim="800000"/>
            <a:headEnd/>
            <a:tailEnd/>
          </a:ln>
        </p:spPr>
        <p:txBody>
          <a:bodyPr wrap="none" anchor="ctr"/>
          <a:lstStyle/>
          <a:p>
            <a:pPr>
              <a:defRPr/>
            </a:pPr>
            <a:endParaRPr lang="nl-NL" sz="2400">
              <a:latin typeface="+mn-lt"/>
              <a:cs typeface="Arial" pitchFamily="34" charset="0"/>
            </a:endParaRPr>
          </a:p>
        </p:txBody>
      </p:sp>
      <p:sp>
        <p:nvSpPr>
          <p:cNvPr id="11" name="Rectangle 6"/>
          <p:cNvSpPr>
            <a:spLocks noChangeArrowheads="1"/>
          </p:cNvSpPr>
          <p:nvPr/>
        </p:nvSpPr>
        <p:spPr bwMode="auto">
          <a:xfrm>
            <a:off x="2652713" y="4033838"/>
            <a:ext cx="5562600" cy="609600"/>
          </a:xfrm>
          <a:prstGeom prst="rect">
            <a:avLst/>
          </a:prstGeom>
          <a:solidFill>
            <a:srgbClr val="CCFFFF"/>
          </a:solidFill>
          <a:ln w="28575">
            <a:solidFill>
              <a:srgbClr val="000000"/>
            </a:solidFill>
            <a:miter lim="800000"/>
            <a:headEnd/>
            <a:tailEnd/>
          </a:ln>
        </p:spPr>
        <p:txBody>
          <a:bodyPr wrap="none" anchor="ctr"/>
          <a:lstStyle/>
          <a:p>
            <a:pPr>
              <a:defRPr/>
            </a:pPr>
            <a:endParaRPr lang="nl-NL" sz="2400">
              <a:latin typeface="+mn-lt"/>
              <a:cs typeface="Arial" pitchFamily="34" charset="0"/>
            </a:endParaRPr>
          </a:p>
        </p:txBody>
      </p:sp>
      <p:sp>
        <p:nvSpPr>
          <p:cNvPr id="12" name="Rectangle 7"/>
          <p:cNvSpPr>
            <a:spLocks noChangeArrowheads="1"/>
          </p:cNvSpPr>
          <p:nvPr/>
        </p:nvSpPr>
        <p:spPr bwMode="auto">
          <a:xfrm>
            <a:off x="2724150" y="2143125"/>
            <a:ext cx="5562600" cy="609600"/>
          </a:xfrm>
          <a:prstGeom prst="rect">
            <a:avLst/>
          </a:prstGeom>
          <a:solidFill>
            <a:srgbClr val="FFE1FF"/>
          </a:solidFill>
          <a:ln w="28575">
            <a:solidFill>
              <a:srgbClr val="000000"/>
            </a:solidFill>
            <a:miter lim="800000"/>
            <a:headEnd/>
            <a:tailEnd/>
          </a:ln>
        </p:spPr>
        <p:txBody>
          <a:bodyPr wrap="none" anchor="ctr"/>
          <a:lstStyle/>
          <a:p>
            <a:pPr>
              <a:defRPr/>
            </a:pPr>
            <a:endParaRPr lang="nl-NL" sz="2400">
              <a:latin typeface="+mn-lt"/>
              <a:cs typeface="Arial" pitchFamily="34" charset="0"/>
            </a:endParaRPr>
          </a:p>
        </p:txBody>
      </p:sp>
      <p:sp>
        <p:nvSpPr>
          <p:cNvPr id="22" name="Line 18"/>
          <p:cNvSpPr>
            <a:spLocks noChangeShapeType="1"/>
          </p:cNvSpPr>
          <p:nvPr/>
        </p:nvSpPr>
        <p:spPr bwMode="auto">
          <a:xfrm>
            <a:off x="1581150" y="2447925"/>
            <a:ext cx="1143000" cy="0"/>
          </a:xfrm>
          <a:prstGeom prst="line">
            <a:avLst/>
          </a:prstGeom>
          <a:noFill/>
          <a:ln w="28575">
            <a:solidFill>
              <a:schemeClr val="tx1"/>
            </a:solidFill>
            <a:round/>
            <a:headEnd/>
            <a:tailEnd type="triangle" w="med" len="med"/>
          </a:ln>
        </p:spPr>
        <p:txBody>
          <a:bodyPr wrap="none" anchor="ctr"/>
          <a:lstStyle/>
          <a:p>
            <a:pPr>
              <a:defRPr/>
            </a:pPr>
            <a:endParaRPr lang="en-US" sz="2400">
              <a:latin typeface="+mn-lt"/>
              <a:cs typeface="Arial" pitchFamily="34" charset="0"/>
            </a:endParaRPr>
          </a:p>
        </p:txBody>
      </p:sp>
      <p:sp>
        <p:nvSpPr>
          <p:cNvPr id="23" name="Text Box 20"/>
          <p:cNvSpPr txBox="1">
            <a:spLocks noChangeArrowheads="1"/>
          </p:cNvSpPr>
          <p:nvPr/>
        </p:nvSpPr>
        <p:spPr bwMode="auto">
          <a:xfrm>
            <a:off x="2716213" y="6156325"/>
            <a:ext cx="320675" cy="400050"/>
          </a:xfrm>
          <a:prstGeom prst="rect">
            <a:avLst/>
          </a:prstGeom>
          <a:noFill/>
          <a:ln w="12700">
            <a:noFill/>
            <a:miter lim="800000"/>
            <a:headEnd/>
            <a:tailEnd/>
          </a:ln>
        </p:spPr>
        <p:txBody>
          <a:bodyPr wrap="none">
            <a:spAutoFit/>
          </a:bodyPr>
          <a:lstStyle/>
          <a:p>
            <a:pPr algn="ctr">
              <a:defRPr/>
            </a:pPr>
            <a:r>
              <a:rPr lang="en-US" sz="2000">
                <a:solidFill>
                  <a:srgbClr val="00005A"/>
                </a:solidFill>
                <a:latin typeface="+mn-lt"/>
                <a:cs typeface="Arial" pitchFamily="34" charset="0"/>
              </a:rPr>
              <a:t>C</a:t>
            </a:r>
          </a:p>
        </p:txBody>
      </p:sp>
      <p:sp>
        <p:nvSpPr>
          <p:cNvPr id="24" name="Text Box 21"/>
          <p:cNvSpPr txBox="1">
            <a:spLocks noChangeArrowheads="1"/>
          </p:cNvSpPr>
          <p:nvPr/>
        </p:nvSpPr>
        <p:spPr bwMode="auto">
          <a:xfrm>
            <a:off x="6686550" y="6172200"/>
            <a:ext cx="403225" cy="400050"/>
          </a:xfrm>
          <a:prstGeom prst="rect">
            <a:avLst/>
          </a:prstGeom>
          <a:noFill/>
          <a:ln w="12700">
            <a:noFill/>
            <a:miter lim="800000"/>
            <a:headEnd/>
            <a:tailEnd/>
          </a:ln>
        </p:spPr>
        <p:txBody>
          <a:bodyPr wrap="none">
            <a:spAutoFit/>
          </a:bodyPr>
          <a:lstStyle/>
          <a:p>
            <a:pPr algn="ctr">
              <a:defRPr/>
            </a:pPr>
            <a:r>
              <a:rPr lang="en-US" sz="2000">
                <a:solidFill>
                  <a:srgbClr val="00005A"/>
                </a:solidFill>
                <a:latin typeface="+mn-lt"/>
                <a:cs typeface="Arial" pitchFamily="34" charset="0"/>
              </a:rPr>
              <a:t>j()</a:t>
            </a:r>
          </a:p>
        </p:txBody>
      </p:sp>
      <p:sp>
        <p:nvSpPr>
          <p:cNvPr id="27" name="Text Box 24"/>
          <p:cNvSpPr txBox="1">
            <a:spLocks noChangeArrowheads="1"/>
          </p:cNvSpPr>
          <p:nvPr/>
        </p:nvSpPr>
        <p:spPr bwMode="auto">
          <a:xfrm>
            <a:off x="2716213" y="4170363"/>
            <a:ext cx="328612" cy="400050"/>
          </a:xfrm>
          <a:prstGeom prst="rect">
            <a:avLst/>
          </a:prstGeom>
          <a:noFill/>
          <a:ln w="12700">
            <a:noFill/>
            <a:miter lim="800000"/>
            <a:headEnd/>
            <a:tailEnd/>
          </a:ln>
        </p:spPr>
        <p:txBody>
          <a:bodyPr wrap="none">
            <a:spAutoFit/>
          </a:bodyPr>
          <a:lstStyle/>
          <a:p>
            <a:pPr algn="ctr">
              <a:defRPr/>
            </a:pPr>
            <a:r>
              <a:rPr lang="en-US" sz="2000" b="1">
                <a:solidFill>
                  <a:srgbClr val="00005A"/>
                </a:solidFill>
                <a:latin typeface="+mn-lt"/>
                <a:cs typeface="Arial" pitchFamily="34" charset="0"/>
              </a:rPr>
              <a:t>B</a:t>
            </a:r>
          </a:p>
        </p:txBody>
      </p:sp>
      <p:sp>
        <p:nvSpPr>
          <p:cNvPr id="28" name="Text Box 25"/>
          <p:cNvSpPr txBox="1">
            <a:spLocks noChangeArrowheads="1"/>
          </p:cNvSpPr>
          <p:nvPr/>
        </p:nvSpPr>
        <p:spPr bwMode="auto">
          <a:xfrm>
            <a:off x="5133975" y="4186238"/>
            <a:ext cx="476250" cy="400050"/>
          </a:xfrm>
          <a:prstGeom prst="rect">
            <a:avLst/>
          </a:prstGeom>
          <a:noFill/>
          <a:ln w="12700">
            <a:noFill/>
            <a:miter lim="800000"/>
            <a:headEnd/>
            <a:tailEnd/>
          </a:ln>
        </p:spPr>
        <p:txBody>
          <a:bodyPr wrap="none">
            <a:spAutoFit/>
          </a:bodyPr>
          <a:lstStyle/>
          <a:p>
            <a:pPr algn="ctr">
              <a:defRPr/>
            </a:pPr>
            <a:r>
              <a:rPr lang="en-US" sz="2000">
                <a:solidFill>
                  <a:srgbClr val="00005A"/>
                </a:solidFill>
                <a:latin typeface="+mn-lt"/>
                <a:cs typeface="Arial" pitchFamily="34" charset="0"/>
              </a:rPr>
              <a:t>h()</a:t>
            </a:r>
          </a:p>
        </p:txBody>
      </p:sp>
      <p:sp>
        <p:nvSpPr>
          <p:cNvPr id="29" name="Text Box 26"/>
          <p:cNvSpPr txBox="1">
            <a:spLocks noChangeArrowheads="1"/>
          </p:cNvSpPr>
          <p:nvPr/>
        </p:nvSpPr>
        <p:spPr bwMode="auto">
          <a:xfrm>
            <a:off x="5924550" y="4186238"/>
            <a:ext cx="401638" cy="400050"/>
          </a:xfrm>
          <a:prstGeom prst="rect">
            <a:avLst/>
          </a:prstGeom>
          <a:noFill/>
          <a:ln w="12700">
            <a:noFill/>
            <a:miter lim="800000"/>
            <a:headEnd/>
            <a:tailEnd/>
          </a:ln>
        </p:spPr>
        <p:txBody>
          <a:bodyPr wrap="none">
            <a:spAutoFit/>
          </a:bodyPr>
          <a:lstStyle/>
          <a:p>
            <a:pPr algn="ctr">
              <a:defRPr/>
            </a:pPr>
            <a:r>
              <a:rPr lang="en-US" sz="2000">
                <a:solidFill>
                  <a:srgbClr val="00005A"/>
                </a:solidFill>
                <a:latin typeface="+mn-lt"/>
                <a:cs typeface="Arial" pitchFamily="34" charset="0"/>
              </a:rPr>
              <a:t>i()</a:t>
            </a:r>
          </a:p>
        </p:txBody>
      </p:sp>
      <p:sp>
        <p:nvSpPr>
          <p:cNvPr id="31" name="Line 28"/>
          <p:cNvSpPr>
            <a:spLocks noChangeShapeType="1"/>
          </p:cNvSpPr>
          <p:nvPr/>
        </p:nvSpPr>
        <p:spPr bwMode="auto">
          <a:xfrm>
            <a:off x="5519738" y="4338638"/>
            <a:ext cx="457200" cy="0"/>
          </a:xfrm>
          <a:prstGeom prst="line">
            <a:avLst/>
          </a:prstGeom>
          <a:noFill/>
          <a:ln w="28575">
            <a:solidFill>
              <a:srgbClr val="C00000"/>
            </a:solidFill>
            <a:round/>
            <a:headEnd/>
            <a:tailEnd type="triangle" w="med" len="med"/>
          </a:ln>
        </p:spPr>
        <p:txBody>
          <a:bodyPr wrap="none" anchor="ctr"/>
          <a:lstStyle/>
          <a:p>
            <a:pPr>
              <a:defRPr/>
            </a:pPr>
            <a:endParaRPr lang="en-US" sz="2000">
              <a:latin typeface="+mn-lt"/>
              <a:cs typeface="Arial" pitchFamily="34" charset="0"/>
            </a:endParaRPr>
          </a:p>
        </p:txBody>
      </p:sp>
      <p:sp>
        <p:nvSpPr>
          <p:cNvPr id="32" name="Line 30"/>
          <p:cNvSpPr>
            <a:spLocks noChangeShapeType="1"/>
          </p:cNvSpPr>
          <p:nvPr/>
        </p:nvSpPr>
        <p:spPr bwMode="auto">
          <a:xfrm flipV="1">
            <a:off x="1763713" y="4343400"/>
            <a:ext cx="889000" cy="22225"/>
          </a:xfrm>
          <a:prstGeom prst="line">
            <a:avLst/>
          </a:prstGeom>
          <a:noFill/>
          <a:ln w="28575">
            <a:solidFill>
              <a:schemeClr val="tx1"/>
            </a:solidFill>
            <a:round/>
            <a:headEnd/>
            <a:tailEnd type="triangle" w="med" len="med"/>
          </a:ln>
        </p:spPr>
        <p:txBody>
          <a:bodyPr wrap="none" anchor="ctr"/>
          <a:lstStyle/>
          <a:p>
            <a:pPr>
              <a:defRPr/>
            </a:pPr>
            <a:endParaRPr lang="en-US" sz="2400">
              <a:latin typeface="+mn-lt"/>
              <a:cs typeface="Arial" pitchFamily="34" charset="0"/>
            </a:endParaRPr>
          </a:p>
        </p:txBody>
      </p:sp>
      <p:sp>
        <p:nvSpPr>
          <p:cNvPr id="33" name="Line 32"/>
          <p:cNvSpPr>
            <a:spLocks noChangeShapeType="1"/>
          </p:cNvSpPr>
          <p:nvPr/>
        </p:nvSpPr>
        <p:spPr bwMode="auto">
          <a:xfrm>
            <a:off x="1509713" y="6327775"/>
            <a:ext cx="1143000" cy="0"/>
          </a:xfrm>
          <a:prstGeom prst="line">
            <a:avLst/>
          </a:prstGeom>
          <a:noFill/>
          <a:ln w="28575">
            <a:solidFill>
              <a:schemeClr val="tx1"/>
            </a:solidFill>
            <a:round/>
            <a:headEnd/>
            <a:tailEnd type="triangle" w="med" len="med"/>
          </a:ln>
        </p:spPr>
        <p:txBody>
          <a:bodyPr wrap="none" anchor="ctr"/>
          <a:lstStyle/>
          <a:p>
            <a:pPr>
              <a:defRPr/>
            </a:pPr>
            <a:endParaRPr lang="en-US" sz="2400">
              <a:latin typeface="+mn-lt"/>
              <a:cs typeface="Arial" pitchFamily="34" charset="0"/>
            </a:endParaRPr>
          </a:p>
        </p:txBody>
      </p:sp>
      <p:sp>
        <p:nvSpPr>
          <p:cNvPr id="51" name="Text Box 50"/>
          <p:cNvSpPr txBox="1">
            <a:spLocks noChangeArrowheads="1"/>
          </p:cNvSpPr>
          <p:nvPr/>
        </p:nvSpPr>
        <p:spPr bwMode="auto">
          <a:xfrm>
            <a:off x="2709863" y="3462338"/>
            <a:ext cx="339725" cy="400050"/>
          </a:xfrm>
          <a:prstGeom prst="rect">
            <a:avLst/>
          </a:prstGeom>
          <a:noFill/>
          <a:ln w="12700">
            <a:noFill/>
            <a:miter lim="800000"/>
            <a:headEnd/>
            <a:tailEnd/>
          </a:ln>
        </p:spPr>
        <p:txBody>
          <a:bodyPr wrap="none">
            <a:spAutoFit/>
          </a:bodyPr>
          <a:lstStyle/>
          <a:p>
            <a:pPr algn="ctr">
              <a:defRPr/>
            </a:pPr>
            <a:r>
              <a:rPr lang="en-US" sz="2000" b="1">
                <a:latin typeface="+mn-lt"/>
                <a:cs typeface="Arial" pitchFamily="34" charset="0"/>
              </a:rPr>
              <a:t>A</a:t>
            </a:r>
          </a:p>
        </p:txBody>
      </p:sp>
      <p:sp>
        <p:nvSpPr>
          <p:cNvPr id="52" name="Text Box 51"/>
          <p:cNvSpPr txBox="1">
            <a:spLocks noChangeArrowheads="1"/>
          </p:cNvSpPr>
          <p:nvPr/>
        </p:nvSpPr>
        <p:spPr bwMode="auto">
          <a:xfrm>
            <a:off x="3414713" y="3478213"/>
            <a:ext cx="476250" cy="400050"/>
          </a:xfrm>
          <a:prstGeom prst="rect">
            <a:avLst/>
          </a:prstGeom>
          <a:noFill/>
          <a:ln w="12700">
            <a:noFill/>
            <a:miter lim="800000"/>
            <a:headEnd/>
            <a:tailEnd/>
          </a:ln>
        </p:spPr>
        <p:txBody>
          <a:bodyPr wrap="none">
            <a:spAutoFit/>
          </a:bodyPr>
          <a:lstStyle/>
          <a:p>
            <a:pPr algn="ctr">
              <a:defRPr/>
            </a:pPr>
            <a:r>
              <a:rPr lang="en-US" sz="2000">
                <a:latin typeface="+mn-lt"/>
                <a:cs typeface="Arial" pitchFamily="34" charset="0"/>
              </a:rPr>
              <a:t>d()</a:t>
            </a:r>
          </a:p>
        </p:txBody>
      </p:sp>
      <p:sp>
        <p:nvSpPr>
          <p:cNvPr id="53" name="Text Box 52"/>
          <p:cNvSpPr txBox="1">
            <a:spLocks noChangeArrowheads="1"/>
          </p:cNvSpPr>
          <p:nvPr/>
        </p:nvSpPr>
        <p:spPr bwMode="auto">
          <a:xfrm>
            <a:off x="6688138" y="3478213"/>
            <a:ext cx="403225" cy="400050"/>
          </a:xfrm>
          <a:prstGeom prst="rect">
            <a:avLst/>
          </a:prstGeom>
          <a:noFill/>
          <a:ln w="12700">
            <a:noFill/>
            <a:miter lim="800000"/>
            <a:headEnd/>
            <a:tailEnd/>
          </a:ln>
        </p:spPr>
        <p:txBody>
          <a:bodyPr wrap="none">
            <a:spAutoFit/>
          </a:bodyPr>
          <a:lstStyle/>
          <a:p>
            <a:pPr algn="ctr">
              <a:defRPr/>
            </a:pPr>
            <a:r>
              <a:rPr lang="en-US" sz="2000">
                <a:latin typeface="+mn-lt"/>
                <a:cs typeface="Arial" pitchFamily="34" charset="0"/>
              </a:rPr>
              <a:t>j()</a:t>
            </a:r>
          </a:p>
        </p:txBody>
      </p:sp>
      <p:sp>
        <p:nvSpPr>
          <p:cNvPr id="54" name="Text Box 53"/>
          <p:cNvSpPr txBox="1">
            <a:spLocks noChangeArrowheads="1"/>
          </p:cNvSpPr>
          <p:nvPr/>
        </p:nvSpPr>
        <p:spPr bwMode="auto">
          <a:xfrm>
            <a:off x="4405313" y="3478213"/>
            <a:ext cx="461962" cy="400050"/>
          </a:xfrm>
          <a:prstGeom prst="rect">
            <a:avLst/>
          </a:prstGeom>
          <a:noFill/>
          <a:ln w="12700">
            <a:noFill/>
            <a:miter lim="800000"/>
            <a:headEnd/>
            <a:tailEnd/>
          </a:ln>
        </p:spPr>
        <p:txBody>
          <a:bodyPr wrap="none">
            <a:spAutoFit/>
          </a:bodyPr>
          <a:lstStyle/>
          <a:p>
            <a:pPr algn="ctr">
              <a:defRPr/>
            </a:pPr>
            <a:r>
              <a:rPr lang="en-US" sz="2000">
                <a:latin typeface="+mn-lt"/>
                <a:cs typeface="Arial" pitchFamily="34" charset="0"/>
              </a:rPr>
              <a:t>g()</a:t>
            </a:r>
          </a:p>
        </p:txBody>
      </p:sp>
      <p:sp>
        <p:nvSpPr>
          <p:cNvPr id="55" name="Text Box 54"/>
          <p:cNvSpPr txBox="1">
            <a:spLocks noChangeArrowheads="1"/>
          </p:cNvSpPr>
          <p:nvPr/>
        </p:nvSpPr>
        <p:spPr bwMode="auto">
          <a:xfrm>
            <a:off x="5138738" y="3478213"/>
            <a:ext cx="476250" cy="400050"/>
          </a:xfrm>
          <a:prstGeom prst="rect">
            <a:avLst/>
          </a:prstGeom>
          <a:noFill/>
          <a:ln w="12700">
            <a:noFill/>
            <a:miter lim="800000"/>
            <a:headEnd/>
            <a:tailEnd/>
          </a:ln>
        </p:spPr>
        <p:txBody>
          <a:bodyPr wrap="none">
            <a:spAutoFit/>
          </a:bodyPr>
          <a:lstStyle/>
          <a:p>
            <a:pPr algn="ctr">
              <a:defRPr/>
            </a:pPr>
            <a:r>
              <a:rPr lang="en-US" sz="2000">
                <a:latin typeface="+mn-lt"/>
                <a:cs typeface="Arial" pitchFamily="34" charset="0"/>
              </a:rPr>
              <a:t>h()</a:t>
            </a:r>
          </a:p>
        </p:txBody>
      </p:sp>
      <p:sp>
        <p:nvSpPr>
          <p:cNvPr id="56" name="Text Box 55"/>
          <p:cNvSpPr txBox="1">
            <a:spLocks noChangeArrowheads="1"/>
          </p:cNvSpPr>
          <p:nvPr/>
        </p:nvSpPr>
        <p:spPr bwMode="auto">
          <a:xfrm>
            <a:off x="5926138" y="3478213"/>
            <a:ext cx="401637" cy="400050"/>
          </a:xfrm>
          <a:prstGeom prst="rect">
            <a:avLst/>
          </a:prstGeom>
          <a:noFill/>
          <a:ln w="12700">
            <a:noFill/>
            <a:miter lim="800000"/>
            <a:headEnd/>
            <a:tailEnd/>
          </a:ln>
        </p:spPr>
        <p:txBody>
          <a:bodyPr wrap="none">
            <a:spAutoFit/>
          </a:bodyPr>
          <a:lstStyle/>
          <a:p>
            <a:pPr algn="ctr">
              <a:defRPr/>
            </a:pPr>
            <a:r>
              <a:rPr lang="en-US" sz="2000">
                <a:latin typeface="+mn-lt"/>
                <a:cs typeface="Arial" pitchFamily="34" charset="0"/>
              </a:rPr>
              <a:t>i()</a:t>
            </a:r>
          </a:p>
        </p:txBody>
      </p:sp>
      <p:sp>
        <p:nvSpPr>
          <p:cNvPr id="62" name="Text Box 61"/>
          <p:cNvSpPr txBox="1">
            <a:spLocks noChangeArrowheads="1"/>
          </p:cNvSpPr>
          <p:nvPr/>
        </p:nvSpPr>
        <p:spPr bwMode="auto">
          <a:xfrm>
            <a:off x="2709863" y="4989513"/>
            <a:ext cx="333375" cy="400050"/>
          </a:xfrm>
          <a:prstGeom prst="rect">
            <a:avLst/>
          </a:prstGeom>
          <a:noFill/>
          <a:ln w="12700">
            <a:noFill/>
            <a:miter lim="800000"/>
            <a:headEnd/>
            <a:tailEnd/>
          </a:ln>
        </p:spPr>
        <p:txBody>
          <a:bodyPr wrap="none">
            <a:spAutoFit/>
          </a:bodyPr>
          <a:lstStyle/>
          <a:p>
            <a:pPr algn="ctr">
              <a:defRPr/>
            </a:pPr>
            <a:r>
              <a:rPr lang="en-US" sz="2000">
                <a:latin typeface="+mn-lt"/>
                <a:cs typeface="Arial" pitchFamily="34" charset="0"/>
              </a:rPr>
              <a:t>A</a:t>
            </a:r>
          </a:p>
        </p:txBody>
      </p:sp>
      <p:sp>
        <p:nvSpPr>
          <p:cNvPr id="63" name="Text Box 62"/>
          <p:cNvSpPr txBox="1">
            <a:spLocks noChangeArrowheads="1"/>
          </p:cNvSpPr>
          <p:nvPr/>
        </p:nvSpPr>
        <p:spPr bwMode="auto">
          <a:xfrm>
            <a:off x="3414713" y="5024438"/>
            <a:ext cx="476250" cy="400050"/>
          </a:xfrm>
          <a:prstGeom prst="rect">
            <a:avLst/>
          </a:prstGeom>
          <a:noFill/>
          <a:ln w="12700">
            <a:noFill/>
            <a:miter lim="800000"/>
            <a:headEnd/>
            <a:tailEnd/>
          </a:ln>
        </p:spPr>
        <p:txBody>
          <a:bodyPr wrap="none">
            <a:spAutoFit/>
          </a:bodyPr>
          <a:lstStyle/>
          <a:p>
            <a:pPr algn="ctr">
              <a:defRPr/>
            </a:pPr>
            <a:r>
              <a:rPr lang="en-US" sz="2000">
                <a:latin typeface="+mn-lt"/>
                <a:cs typeface="Arial" pitchFamily="34" charset="0"/>
              </a:rPr>
              <a:t>d()</a:t>
            </a:r>
          </a:p>
        </p:txBody>
      </p:sp>
      <p:sp>
        <p:nvSpPr>
          <p:cNvPr id="64" name="Text Box 63"/>
          <p:cNvSpPr txBox="1">
            <a:spLocks noChangeArrowheads="1"/>
          </p:cNvSpPr>
          <p:nvPr/>
        </p:nvSpPr>
        <p:spPr bwMode="auto">
          <a:xfrm>
            <a:off x="6688138" y="5024438"/>
            <a:ext cx="403225" cy="400050"/>
          </a:xfrm>
          <a:prstGeom prst="rect">
            <a:avLst/>
          </a:prstGeom>
          <a:noFill/>
          <a:ln w="12700">
            <a:noFill/>
            <a:miter lim="800000"/>
            <a:headEnd/>
            <a:tailEnd/>
          </a:ln>
        </p:spPr>
        <p:txBody>
          <a:bodyPr wrap="none">
            <a:spAutoFit/>
          </a:bodyPr>
          <a:lstStyle/>
          <a:p>
            <a:pPr algn="ctr">
              <a:defRPr/>
            </a:pPr>
            <a:r>
              <a:rPr lang="en-US" sz="2000">
                <a:latin typeface="+mn-lt"/>
                <a:cs typeface="Arial" pitchFamily="34" charset="0"/>
              </a:rPr>
              <a:t>j()</a:t>
            </a:r>
          </a:p>
        </p:txBody>
      </p:sp>
      <p:sp>
        <p:nvSpPr>
          <p:cNvPr id="65" name="Text Box 64"/>
          <p:cNvSpPr txBox="1">
            <a:spLocks noChangeArrowheads="1"/>
          </p:cNvSpPr>
          <p:nvPr/>
        </p:nvSpPr>
        <p:spPr bwMode="auto">
          <a:xfrm>
            <a:off x="4405313" y="5024438"/>
            <a:ext cx="461962" cy="400050"/>
          </a:xfrm>
          <a:prstGeom prst="rect">
            <a:avLst/>
          </a:prstGeom>
          <a:noFill/>
          <a:ln w="12700">
            <a:noFill/>
            <a:miter lim="800000"/>
            <a:headEnd/>
            <a:tailEnd/>
          </a:ln>
        </p:spPr>
        <p:txBody>
          <a:bodyPr wrap="none">
            <a:spAutoFit/>
          </a:bodyPr>
          <a:lstStyle/>
          <a:p>
            <a:pPr algn="ctr">
              <a:defRPr/>
            </a:pPr>
            <a:r>
              <a:rPr lang="en-US" sz="2000">
                <a:latin typeface="+mn-lt"/>
                <a:cs typeface="Arial" pitchFamily="34" charset="0"/>
              </a:rPr>
              <a:t>g()</a:t>
            </a:r>
          </a:p>
        </p:txBody>
      </p:sp>
      <p:sp>
        <p:nvSpPr>
          <p:cNvPr id="66" name="Text Box 65"/>
          <p:cNvSpPr txBox="1">
            <a:spLocks noChangeArrowheads="1"/>
          </p:cNvSpPr>
          <p:nvPr/>
        </p:nvSpPr>
        <p:spPr bwMode="auto">
          <a:xfrm>
            <a:off x="5138738" y="5024438"/>
            <a:ext cx="476250" cy="400050"/>
          </a:xfrm>
          <a:prstGeom prst="rect">
            <a:avLst/>
          </a:prstGeom>
          <a:noFill/>
          <a:ln w="12700">
            <a:noFill/>
            <a:miter lim="800000"/>
            <a:headEnd/>
            <a:tailEnd/>
          </a:ln>
        </p:spPr>
        <p:txBody>
          <a:bodyPr wrap="none">
            <a:spAutoFit/>
          </a:bodyPr>
          <a:lstStyle/>
          <a:p>
            <a:pPr algn="ctr">
              <a:defRPr/>
            </a:pPr>
            <a:r>
              <a:rPr lang="en-US" sz="2000">
                <a:latin typeface="+mn-lt"/>
                <a:cs typeface="Arial" pitchFamily="34" charset="0"/>
              </a:rPr>
              <a:t>h()</a:t>
            </a:r>
          </a:p>
        </p:txBody>
      </p:sp>
      <p:sp>
        <p:nvSpPr>
          <p:cNvPr id="67" name="Text Box 66"/>
          <p:cNvSpPr txBox="1">
            <a:spLocks noChangeArrowheads="1"/>
          </p:cNvSpPr>
          <p:nvPr/>
        </p:nvSpPr>
        <p:spPr bwMode="auto">
          <a:xfrm>
            <a:off x="5926138" y="5024438"/>
            <a:ext cx="401637" cy="400050"/>
          </a:xfrm>
          <a:prstGeom prst="rect">
            <a:avLst/>
          </a:prstGeom>
          <a:noFill/>
          <a:ln w="12700">
            <a:noFill/>
            <a:miter lim="800000"/>
            <a:headEnd/>
            <a:tailEnd/>
          </a:ln>
        </p:spPr>
        <p:txBody>
          <a:bodyPr wrap="none">
            <a:spAutoFit/>
          </a:bodyPr>
          <a:lstStyle/>
          <a:p>
            <a:pPr algn="ctr">
              <a:defRPr/>
            </a:pPr>
            <a:r>
              <a:rPr lang="en-US" sz="2000">
                <a:latin typeface="+mn-lt"/>
                <a:cs typeface="Arial" pitchFamily="34" charset="0"/>
              </a:rPr>
              <a:t>i()</a:t>
            </a:r>
          </a:p>
        </p:txBody>
      </p:sp>
      <p:sp>
        <p:nvSpPr>
          <p:cNvPr id="69" name="Text Box 68"/>
          <p:cNvSpPr txBox="1">
            <a:spLocks noChangeArrowheads="1"/>
          </p:cNvSpPr>
          <p:nvPr/>
        </p:nvSpPr>
        <p:spPr bwMode="auto">
          <a:xfrm>
            <a:off x="2709863" y="5562600"/>
            <a:ext cx="323850" cy="400050"/>
          </a:xfrm>
          <a:prstGeom prst="rect">
            <a:avLst/>
          </a:prstGeom>
          <a:noFill/>
          <a:ln w="12700">
            <a:noFill/>
            <a:miter lim="800000"/>
            <a:headEnd/>
            <a:tailEnd/>
          </a:ln>
        </p:spPr>
        <p:txBody>
          <a:bodyPr wrap="none">
            <a:spAutoFit/>
          </a:bodyPr>
          <a:lstStyle/>
          <a:p>
            <a:pPr algn="ctr">
              <a:defRPr/>
            </a:pPr>
            <a:r>
              <a:rPr lang="en-US" sz="2000">
                <a:latin typeface="+mn-lt"/>
                <a:cs typeface="Arial" pitchFamily="34" charset="0"/>
              </a:rPr>
              <a:t>B</a:t>
            </a:r>
          </a:p>
        </p:txBody>
      </p:sp>
      <p:sp>
        <p:nvSpPr>
          <p:cNvPr id="70" name="Text Box 69"/>
          <p:cNvSpPr txBox="1">
            <a:spLocks noChangeArrowheads="1"/>
          </p:cNvSpPr>
          <p:nvPr/>
        </p:nvSpPr>
        <p:spPr bwMode="auto">
          <a:xfrm>
            <a:off x="5138738" y="5597525"/>
            <a:ext cx="476250" cy="400050"/>
          </a:xfrm>
          <a:prstGeom prst="rect">
            <a:avLst/>
          </a:prstGeom>
          <a:noFill/>
          <a:ln w="12700">
            <a:noFill/>
            <a:miter lim="800000"/>
            <a:headEnd/>
            <a:tailEnd/>
          </a:ln>
        </p:spPr>
        <p:txBody>
          <a:bodyPr wrap="none">
            <a:spAutoFit/>
          </a:bodyPr>
          <a:lstStyle/>
          <a:p>
            <a:pPr algn="ctr">
              <a:defRPr/>
            </a:pPr>
            <a:r>
              <a:rPr lang="en-US" sz="2000">
                <a:latin typeface="+mn-lt"/>
                <a:cs typeface="Arial" pitchFamily="34" charset="0"/>
              </a:rPr>
              <a:t>h()</a:t>
            </a:r>
          </a:p>
        </p:txBody>
      </p:sp>
      <p:sp>
        <p:nvSpPr>
          <p:cNvPr id="71" name="Text Box 70"/>
          <p:cNvSpPr txBox="1">
            <a:spLocks noChangeArrowheads="1"/>
          </p:cNvSpPr>
          <p:nvPr/>
        </p:nvSpPr>
        <p:spPr bwMode="auto">
          <a:xfrm>
            <a:off x="5926138" y="5597525"/>
            <a:ext cx="401637" cy="400050"/>
          </a:xfrm>
          <a:prstGeom prst="rect">
            <a:avLst/>
          </a:prstGeom>
          <a:noFill/>
          <a:ln w="12700">
            <a:noFill/>
            <a:miter lim="800000"/>
            <a:headEnd/>
            <a:tailEnd/>
          </a:ln>
        </p:spPr>
        <p:txBody>
          <a:bodyPr wrap="none">
            <a:spAutoFit/>
          </a:bodyPr>
          <a:lstStyle/>
          <a:p>
            <a:pPr algn="ctr">
              <a:defRPr/>
            </a:pPr>
            <a:r>
              <a:rPr lang="en-US" sz="2000">
                <a:latin typeface="+mn-lt"/>
                <a:cs typeface="Arial" pitchFamily="34" charset="0"/>
              </a:rPr>
              <a:t>i()</a:t>
            </a:r>
          </a:p>
        </p:txBody>
      </p:sp>
      <p:sp>
        <p:nvSpPr>
          <p:cNvPr id="72" name="Text Box 71"/>
          <p:cNvSpPr txBox="1">
            <a:spLocks noChangeArrowheads="1"/>
          </p:cNvSpPr>
          <p:nvPr/>
        </p:nvSpPr>
        <p:spPr bwMode="auto">
          <a:xfrm>
            <a:off x="7204075" y="5562600"/>
            <a:ext cx="458788" cy="400050"/>
          </a:xfrm>
          <a:prstGeom prst="rect">
            <a:avLst/>
          </a:prstGeom>
          <a:noFill/>
          <a:ln w="12700">
            <a:noFill/>
            <a:miter lim="800000"/>
            <a:headEnd/>
            <a:tailEnd/>
          </a:ln>
        </p:spPr>
        <p:txBody>
          <a:bodyPr wrap="none">
            <a:spAutoFit/>
          </a:bodyPr>
          <a:lstStyle/>
          <a:p>
            <a:pPr algn="ctr">
              <a:defRPr/>
            </a:pPr>
            <a:r>
              <a:rPr lang="en-US" sz="2000">
                <a:latin typeface="+mn-lt"/>
                <a:cs typeface="Arial" pitchFamily="34" charset="0"/>
              </a:rPr>
              <a:t>k()</a:t>
            </a:r>
          </a:p>
        </p:txBody>
      </p:sp>
      <p:sp>
        <p:nvSpPr>
          <p:cNvPr id="78" name="Line 77"/>
          <p:cNvSpPr>
            <a:spLocks noChangeShapeType="1"/>
          </p:cNvSpPr>
          <p:nvPr/>
        </p:nvSpPr>
        <p:spPr bwMode="auto">
          <a:xfrm>
            <a:off x="3719513" y="3714750"/>
            <a:ext cx="685800" cy="0"/>
          </a:xfrm>
          <a:prstGeom prst="line">
            <a:avLst/>
          </a:prstGeom>
          <a:noFill/>
          <a:ln w="28575">
            <a:solidFill>
              <a:srgbClr val="C00000"/>
            </a:solidFill>
            <a:round/>
            <a:headEnd/>
            <a:tailEnd type="triangle" w="med" len="med"/>
          </a:ln>
        </p:spPr>
        <p:txBody>
          <a:bodyPr wrap="none" anchor="ctr"/>
          <a:lstStyle/>
          <a:p>
            <a:pPr>
              <a:defRPr/>
            </a:pPr>
            <a:endParaRPr lang="en-US" sz="2000">
              <a:latin typeface="+mn-lt"/>
              <a:cs typeface="Arial" pitchFamily="34" charset="0"/>
            </a:endParaRPr>
          </a:p>
        </p:txBody>
      </p:sp>
      <p:sp>
        <p:nvSpPr>
          <p:cNvPr id="79" name="Line 78"/>
          <p:cNvSpPr>
            <a:spLocks noChangeShapeType="1"/>
          </p:cNvSpPr>
          <p:nvPr/>
        </p:nvSpPr>
        <p:spPr bwMode="auto">
          <a:xfrm>
            <a:off x="4710113" y="3805238"/>
            <a:ext cx="457200" cy="457200"/>
          </a:xfrm>
          <a:prstGeom prst="line">
            <a:avLst/>
          </a:prstGeom>
          <a:noFill/>
          <a:ln w="28575">
            <a:solidFill>
              <a:srgbClr val="C00000"/>
            </a:solidFill>
            <a:round/>
            <a:headEnd/>
            <a:tailEnd type="triangle" w="med" len="med"/>
          </a:ln>
        </p:spPr>
        <p:txBody>
          <a:bodyPr wrap="none" anchor="ctr"/>
          <a:lstStyle/>
          <a:p>
            <a:pPr>
              <a:defRPr/>
            </a:pPr>
            <a:endParaRPr lang="en-US" sz="2000">
              <a:latin typeface="+mn-lt"/>
              <a:cs typeface="Arial" pitchFamily="34" charset="0"/>
            </a:endParaRPr>
          </a:p>
        </p:txBody>
      </p:sp>
      <p:sp>
        <p:nvSpPr>
          <p:cNvPr id="80" name="Line 79"/>
          <p:cNvSpPr>
            <a:spLocks noChangeShapeType="1"/>
          </p:cNvSpPr>
          <p:nvPr/>
        </p:nvSpPr>
        <p:spPr bwMode="auto">
          <a:xfrm flipV="1">
            <a:off x="6081713" y="3881438"/>
            <a:ext cx="0" cy="381000"/>
          </a:xfrm>
          <a:prstGeom prst="line">
            <a:avLst/>
          </a:prstGeom>
          <a:noFill/>
          <a:ln w="28575">
            <a:solidFill>
              <a:srgbClr val="C00000"/>
            </a:solidFill>
            <a:round/>
            <a:headEnd/>
            <a:tailEnd type="triangle" w="med" len="med"/>
          </a:ln>
        </p:spPr>
        <p:txBody>
          <a:bodyPr wrap="none" anchor="ctr"/>
          <a:lstStyle/>
          <a:p>
            <a:pPr>
              <a:defRPr/>
            </a:pPr>
            <a:endParaRPr lang="en-US" sz="2000">
              <a:latin typeface="+mn-lt"/>
              <a:cs typeface="Arial" pitchFamily="34" charset="0"/>
            </a:endParaRPr>
          </a:p>
        </p:txBody>
      </p:sp>
      <p:sp>
        <p:nvSpPr>
          <p:cNvPr id="81" name="Line 80"/>
          <p:cNvSpPr>
            <a:spLocks noChangeShapeType="1"/>
          </p:cNvSpPr>
          <p:nvPr/>
        </p:nvSpPr>
        <p:spPr bwMode="auto">
          <a:xfrm>
            <a:off x="6234113" y="3614738"/>
            <a:ext cx="533400" cy="0"/>
          </a:xfrm>
          <a:prstGeom prst="line">
            <a:avLst/>
          </a:prstGeom>
          <a:noFill/>
          <a:ln w="28575">
            <a:solidFill>
              <a:srgbClr val="C00000"/>
            </a:solidFill>
            <a:round/>
            <a:headEnd/>
            <a:tailEnd type="triangle" w="med" len="med"/>
          </a:ln>
        </p:spPr>
        <p:txBody>
          <a:bodyPr wrap="none" anchor="ctr"/>
          <a:lstStyle/>
          <a:p>
            <a:pPr>
              <a:defRPr/>
            </a:pPr>
            <a:endParaRPr lang="en-US" sz="2000">
              <a:latin typeface="+mn-lt"/>
              <a:cs typeface="Arial" pitchFamily="34" charset="0"/>
            </a:endParaRPr>
          </a:p>
        </p:txBody>
      </p:sp>
      <p:sp>
        <p:nvSpPr>
          <p:cNvPr id="82" name="Line 81"/>
          <p:cNvSpPr>
            <a:spLocks noChangeShapeType="1"/>
          </p:cNvSpPr>
          <p:nvPr/>
        </p:nvSpPr>
        <p:spPr bwMode="auto">
          <a:xfrm>
            <a:off x="4710113" y="3630613"/>
            <a:ext cx="457200" cy="0"/>
          </a:xfrm>
          <a:prstGeom prst="line">
            <a:avLst/>
          </a:prstGeom>
          <a:noFill/>
          <a:ln w="12700" cap="rnd">
            <a:solidFill>
              <a:schemeClr val="tx1"/>
            </a:solidFill>
            <a:prstDash val="sysDot"/>
            <a:round/>
            <a:headEnd/>
            <a:tailEnd type="arrow" w="med" len="med"/>
          </a:ln>
        </p:spPr>
        <p:txBody>
          <a:bodyPr wrap="none" anchor="ctr"/>
          <a:lstStyle/>
          <a:p>
            <a:pPr>
              <a:defRPr/>
            </a:pPr>
            <a:endParaRPr lang="en-US" sz="2000">
              <a:latin typeface="+mn-lt"/>
              <a:cs typeface="Arial" pitchFamily="34" charset="0"/>
            </a:endParaRPr>
          </a:p>
        </p:txBody>
      </p:sp>
      <p:sp>
        <p:nvSpPr>
          <p:cNvPr id="83" name="Line 82"/>
          <p:cNvSpPr>
            <a:spLocks noChangeShapeType="1"/>
          </p:cNvSpPr>
          <p:nvPr/>
        </p:nvSpPr>
        <p:spPr bwMode="auto">
          <a:xfrm>
            <a:off x="3752850" y="5214938"/>
            <a:ext cx="685800" cy="0"/>
          </a:xfrm>
          <a:prstGeom prst="line">
            <a:avLst/>
          </a:prstGeom>
          <a:noFill/>
          <a:ln w="38100">
            <a:solidFill>
              <a:srgbClr val="C00000"/>
            </a:solidFill>
            <a:round/>
            <a:headEnd/>
            <a:tailEnd type="triangle" w="med" len="med"/>
          </a:ln>
        </p:spPr>
        <p:txBody>
          <a:bodyPr wrap="none" anchor="ctr"/>
          <a:lstStyle/>
          <a:p>
            <a:pPr>
              <a:defRPr/>
            </a:pPr>
            <a:endParaRPr lang="en-US" sz="2000">
              <a:latin typeface="+mn-lt"/>
              <a:cs typeface="Arial" pitchFamily="34" charset="0"/>
            </a:endParaRPr>
          </a:p>
        </p:txBody>
      </p:sp>
      <p:sp>
        <p:nvSpPr>
          <p:cNvPr id="84" name="Line 83"/>
          <p:cNvSpPr>
            <a:spLocks noChangeShapeType="1"/>
          </p:cNvSpPr>
          <p:nvPr/>
        </p:nvSpPr>
        <p:spPr bwMode="auto">
          <a:xfrm>
            <a:off x="4710113" y="5410200"/>
            <a:ext cx="457200" cy="304800"/>
          </a:xfrm>
          <a:prstGeom prst="line">
            <a:avLst/>
          </a:prstGeom>
          <a:noFill/>
          <a:ln w="38100">
            <a:solidFill>
              <a:srgbClr val="C00000"/>
            </a:solidFill>
            <a:round/>
            <a:headEnd/>
            <a:tailEnd type="triangle" w="med" len="med"/>
          </a:ln>
        </p:spPr>
        <p:txBody>
          <a:bodyPr wrap="none" anchor="ctr"/>
          <a:lstStyle/>
          <a:p>
            <a:pPr>
              <a:defRPr/>
            </a:pPr>
            <a:endParaRPr lang="en-US" sz="2000">
              <a:latin typeface="+mn-lt"/>
              <a:cs typeface="Arial" pitchFamily="34" charset="0"/>
            </a:endParaRPr>
          </a:p>
        </p:txBody>
      </p:sp>
      <p:sp>
        <p:nvSpPr>
          <p:cNvPr id="85" name="Line 84"/>
          <p:cNvSpPr>
            <a:spLocks noChangeShapeType="1"/>
          </p:cNvSpPr>
          <p:nvPr/>
        </p:nvSpPr>
        <p:spPr bwMode="auto">
          <a:xfrm flipV="1">
            <a:off x="5508625" y="5876925"/>
            <a:ext cx="503238" cy="0"/>
          </a:xfrm>
          <a:prstGeom prst="line">
            <a:avLst/>
          </a:prstGeom>
          <a:noFill/>
          <a:ln w="38100">
            <a:solidFill>
              <a:srgbClr val="C00000"/>
            </a:solidFill>
            <a:round/>
            <a:headEnd/>
            <a:tailEnd type="triangle" w="med" len="med"/>
          </a:ln>
        </p:spPr>
        <p:txBody>
          <a:bodyPr wrap="none" anchor="ctr"/>
          <a:lstStyle/>
          <a:p>
            <a:pPr>
              <a:defRPr/>
            </a:pPr>
            <a:endParaRPr lang="en-US" sz="2000">
              <a:latin typeface="+mn-lt"/>
              <a:cs typeface="Arial" pitchFamily="34" charset="0"/>
            </a:endParaRPr>
          </a:p>
        </p:txBody>
      </p:sp>
      <p:sp>
        <p:nvSpPr>
          <p:cNvPr id="87" name="Line 86"/>
          <p:cNvSpPr>
            <a:spLocks noChangeShapeType="1"/>
          </p:cNvSpPr>
          <p:nvPr/>
        </p:nvSpPr>
        <p:spPr bwMode="auto">
          <a:xfrm flipV="1">
            <a:off x="6119813" y="5395913"/>
            <a:ext cx="0" cy="228600"/>
          </a:xfrm>
          <a:prstGeom prst="line">
            <a:avLst/>
          </a:prstGeom>
          <a:noFill/>
          <a:ln w="38100">
            <a:solidFill>
              <a:srgbClr val="C00000"/>
            </a:solidFill>
            <a:round/>
            <a:headEnd/>
            <a:tailEnd type="triangle" w="med" len="med"/>
          </a:ln>
        </p:spPr>
        <p:txBody>
          <a:bodyPr wrap="none" anchor="ctr"/>
          <a:lstStyle/>
          <a:p>
            <a:pPr>
              <a:defRPr/>
            </a:pPr>
            <a:endParaRPr lang="en-US" sz="2000">
              <a:latin typeface="+mn-lt"/>
              <a:cs typeface="Arial" pitchFamily="34" charset="0"/>
            </a:endParaRPr>
          </a:p>
        </p:txBody>
      </p:sp>
      <p:sp>
        <p:nvSpPr>
          <p:cNvPr id="88" name="Line 87"/>
          <p:cNvSpPr>
            <a:spLocks noChangeShapeType="1"/>
          </p:cNvSpPr>
          <p:nvPr/>
        </p:nvSpPr>
        <p:spPr bwMode="auto">
          <a:xfrm>
            <a:off x="6262688" y="5481638"/>
            <a:ext cx="504825" cy="766762"/>
          </a:xfrm>
          <a:prstGeom prst="line">
            <a:avLst/>
          </a:prstGeom>
          <a:noFill/>
          <a:ln w="38100">
            <a:solidFill>
              <a:srgbClr val="C00000"/>
            </a:solidFill>
            <a:round/>
            <a:headEnd/>
            <a:tailEnd type="triangle" w="med" len="med"/>
          </a:ln>
        </p:spPr>
        <p:txBody>
          <a:bodyPr wrap="none" anchor="ctr"/>
          <a:lstStyle/>
          <a:p>
            <a:pPr>
              <a:defRPr/>
            </a:pPr>
            <a:endParaRPr lang="en-US" sz="2000">
              <a:latin typeface="+mn-lt"/>
              <a:cs typeface="Arial" pitchFamily="34" charset="0"/>
            </a:endParaRPr>
          </a:p>
        </p:txBody>
      </p:sp>
      <p:sp>
        <p:nvSpPr>
          <p:cNvPr id="89" name="Line 88"/>
          <p:cNvSpPr>
            <a:spLocks noChangeShapeType="1"/>
          </p:cNvSpPr>
          <p:nvPr/>
        </p:nvSpPr>
        <p:spPr bwMode="auto">
          <a:xfrm flipV="1">
            <a:off x="6996113" y="5867400"/>
            <a:ext cx="304800" cy="457200"/>
          </a:xfrm>
          <a:prstGeom prst="line">
            <a:avLst/>
          </a:prstGeom>
          <a:noFill/>
          <a:ln w="38100">
            <a:solidFill>
              <a:srgbClr val="C00000"/>
            </a:solidFill>
            <a:round/>
            <a:headEnd/>
            <a:tailEnd type="triangle" w="med" len="med"/>
          </a:ln>
        </p:spPr>
        <p:txBody>
          <a:bodyPr wrap="none" anchor="ctr"/>
          <a:lstStyle/>
          <a:p>
            <a:pPr>
              <a:defRPr/>
            </a:pPr>
            <a:endParaRPr lang="en-US" sz="2000">
              <a:latin typeface="+mn-lt"/>
              <a:cs typeface="Arial" pitchFamily="34" charset="0"/>
            </a:endParaRPr>
          </a:p>
        </p:txBody>
      </p:sp>
      <p:sp>
        <p:nvSpPr>
          <p:cNvPr id="91" name="Line 90"/>
          <p:cNvSpPr>
            <a:spLocks noChangeShapeType="1"/>
          </p:cNvSpPr>
          <p:nvPr/>
        </p:nvSpPr>
        <p:spPr bwMode="auto">
          <a:xfrm>
            <a:off x="4710113" y="5176838"/>
            <a:ext cx="457200" cy="0"/>
          </a:xfrm>
          <a:prstGeom prst="line">
            <a:avLst/>
          </a:prstGeom>
          <a:noFill/>
          <a:ln w="12700" cap="rnd">
            <a:solidFill>
              <a:schemeClr val="tx1"/>
            </a:solidFill>
            <a:prstDash val="sysDot"/>
            <a:round/>
            <a:headEnd/>
            <a:tailEnd type="arrow" w="med" len="med"/>
          </a:ln>
        </p:spPr>
        <p:txBody>
          <a:bodyPr wrap="none" anchor="ctr"/>
          <a:lstStyle/>
          <a:p>
            <a:pPr>
              <a:defRPr/>
            </a:pPr>
            <a:endParaRPr lang="en-US" sz="2000">
              <a:latin typeface="+mn-lt"/>
              <a:cs typeface="Arial" pitchFamily="34" charset="0"/>
            </a:endParaRPr>
          </a:p>
        </p:txBody>
      </p:sp>
      <p:sp>
        <p:nvSpPr>
          <p:cNvPr id="93" name="Line 92"/>
          <p:cNvSpPr>
            <a:spLocks noChangeShapeType="1"/>
          </p:cNvSpPr>
          <p:nvPr/>
        </p:nvSpPr>
        <p:spPr bwMode="auto">
          <a:xfrm>
            <a:off x="6157913" y="5176838"/>
            <a:ext cx="609600" cy="0"/>
          </a:xfrm>
          <a:prstGeom prst="line">
            <a:avLst/>
          </a:prstGeom>
          <a:noFill/>
          <a:ln w="12700" cap="rnd">
            <a:solidFill>
              <a:schemeClr val="tx1"/>
            </a:solidFill>
            <a:prstDash val="sysDot"/>
            <a:round/>
            <a:headEnd/>
            <a:tailEnd type="arrow" w="med" len="med"/>
          </a:ln>
        </p:spPr>
        <p:txBody>
          <a:bodyPr wrap="none" anchor="ctr"/>
          <a:lstStyle/>
          <a:p>
            <a:pPr>
              <a:defRPr/>
            </a:pPr>
            <a:endParaRPr lang="en-US" sz="2000">
              <a:latin typeface="+mn-lt"/>
              <a:cs typeface="Arial" pitchFamily="34" charset="0"/>
            </a:endParaRPr>
          </a:p>
        </p:txBody>
      </p:sp>
      <p:sp>
        <p:nvSpPr>
          <p:cNvPr id="95" name="Text Box 94"/>
          <p:cNvSpPr txBox="1">
            <a:spLocks noChangeArrowheads="1"/>
          </p:cNvSpPr>
          <p:nvPr/>
        </p:nvSpPr>
        <p:spPr bwMode="auto">
          <a:xfrm>
            <a:off x="2787650" y="2279650"/>
            <a:ext cx="369888" cy="461963"/>
          </a:xfrm>
          <a:prstGeom prst="rect">
            <a:avLst/>
          </a:prstGeom>
          <a:noFill/>
          <a:ln w="12700">
            <a:noFill/>
            <a:miter lim="800000"/>
            <a:headEnd/>
            <a:tailEnd/>
          </a:ln>
        </p:spPr>
        <p:txBody>
          <a:bodyPr wrap="none">
            <a:spAutoFit/>
          </a:bodyPr>
          <a:lstStyle/>
          <a:p>
            <a:pPr algn="ctr">
              <a:defRPr/>
            </a:pPr>
            <a:r>
              <a:rPr lang="en-US" sz="2400" b="1">
                <a:solidFill>
                  <a:srgbClr val="00005A"/>
                </a:solidFill>
                <a:latin typeface="+mn-lt"/>
                <a:cs typeface="Arial" pitchFamily="34" charset="0"/>
              </a:rPr>
              <a:t>A</a:t>
            </a:r>
          </a:p>
        </p:txBody>
      </p:sp>
      <p:sp>
        <p:nvSpPr>
          <p:cNvPr id="96" name="Text Box 95"/>
          <p:cNvSpPr txBox="1">
            <a:spLocks noChangeArrowheads="1"/>
          </p:cNvSpPr>
          <p:nvPr/>
        </p:nvSpPr>
        <p:spPr bwMode="auto">
          <a:xfrm>
            <a:off x="3481388" y="2295525"/>
            <a:ext cx="476250" cy="400050"/>
          </a:xfrm>
          <a:prstGeom prst="rect">
            <a:avLst/>
          </a:prstGeom>
          <a:noFill/>
          <a:ln w="12700">
            <a:noFill/>
            <a:miter lim="800000"/>
            <a:headEnd/>
            <a:tailEnd/>
          </a:ln>
        </p:spPr>
        <p:txBody>
          <a:bodyPr wrap="none">
            <a:spAutoFit/>
          </a:bodyPr>
          <a:lstStyle/>
          <a:p>
            <a:pPr algn="ctr">
              <a:defRPr/>
            </a:pPr>
            <a:r>
              <a:rPr lang="en-US" sz="2000" dirty="0">
                <a:solidFill>
                  <a:srgbClr val="00005A"/>
                </a:solidFill>
                <a:latin typeface="+mn-lt"/>
                <a:cs typeface="Arial" pitchFamily="34" charset="0"/>
              </a:rPr>
              <a:t>d()</a:t>
            </a:r>
          </a:p>
        </p:txBody>
      </p:sp>
      <p:sp>
        <p:nvSpPr>
          <p:cNvPr id="97" name="Text Box 96"/>
          <p:cNvSpPr txBox="1">
            <a:spLocks noChangeArrowheads="1"/>
          </p:cNvSpPr>
          <p:nvPr/>
        </p:nvSpPr>
        <p:spPr bwMode="auto">
          <a:xfrm>
            <a:off x="6757988" y="2295525"/>
            <a:ext cx="403225" cy="400050"/>
          </a:xfrm>
          <a:prstGeom prst="rect">
            <a:avLst/>
          </a:prstGeom>
          <a:noFill/>
          <a:ln w="12700">
            <a:noFill/>
            <a:miter lim="800000"/>
            <a:headEnd/>
            <a:tailEnd/>
          </a:ln>
        </p:spPr>
        <p:txBody>
          <a:bodyPr wrap="none">
            <a:spAutoFit/>
          </a:bodyPr>
          <a:lstStyle/>
          <a:p>
            <a:pPr algn="ctr">
              <a:defRPr/>
            </a:pPr>
            <a:r>
              <a:rPr lang="en-US" sz="2000">
                <a:solidFill>
                  <a:srgbClr val="00005A"/>
                </a:solidFill>
                <a:latin typeface="+mn-lt"/>
                <a:cs typeface="Arial" pitchFamily="34" charset="0"/>
              </a:rPr>
              <a:t>j()</a:t>
            </a:r>
          </a:p>
        </p:txBody>
      </p:sp>
      <p:sp>
        <p:nvSpPr>
          <p:cNvPr id="98" name="Text Box 97"/>
          <p:cNvSpPr txBox="1">
            <a:spLocks noChangeArrowheads="1"/>
          </p:cNvSpPr>
          <p:nvPr/>
        </p:nvSpPr>
        <p:spPr bwMode="auto">
          <a:xfrm>
            <a:off x="4471988" y="2295525"/>
            <a:ext cx="461962" cy="400050"/>
          </a:xfrm>
          <a:prstGeom prst="rect">
            <a:avLst/>
          </a:prstGeom>
          <a:noFill/>
          <a:ln w="12700">
            <a:noFill/>
            <a:miter lim="800000"/>
            <a:headEnd/>
            <a:tailEnd/>
          </a:ln>
        </p:spPr>
        <p:txBody>
          <a:bodyPr wrap="none">
            <a:spAutoFit/>
          </a:bodyPr>
          <a:lstStyle/>
          <a:p>
            <a:pPr algn="ctr">
              <a:defRPr/>
            </a:pPr>
            <a:r>
              <a:rPr lang="en-US" sz="2000">
                <a:solidFill>
                  <a:srgbClr val="00005A"/>
                </a:solidFill>
                <a:latin typeface="+mn-lt"/>
                <a:cs typeface="Arial" pitchFamily="34" charset="0"/>
              </a:rPr>
              <a:t>g()</a:t>
            </a:r>
          </a:p>
        </p:txBody>
      </p:sp>
      <p:sp>
        <p:nvSpPr>
          <p:cNvPr id="99" name="Text Box 98"/>
          <p:cNvSpPr txBox="1">
            <a:spLocks noChangeArrowheads="1"/>
          </p:cNvSpPr>
          <p:nvPr/>
        </p:nvSpPr>
        <p:spPr bwMode="auto">
          <a:xfrm>
            <a:off x="5205413" y="2295525"/>
            <a:ext cx="476250" cy="400050"/>
          </a:xfrm>
          <a:prstGeom prst="rect">
            <a:avLst/>
          </a:prstGeom>
          <a:noFill/>
          <a:ln w="12700">
            <a:noFill/>
            <a:miter lim="800000"/>
            <a:headEnd/>
            <a:tailEnd/>
          </a:ln>
        </p:spPr>
        <p:txBody>
          <a:bodyPr wrap="none">
            <a:spAutoFit/>
          </a:bodyPr>
          <a:lstStyle/>
          <a:p>
            <a:pPr algn="ctr">
              <a:defRPr/>
            </a:pPr>
            <a:r>
              <a:rPr lang="en-US" sz="2000">
                <a:solidFill>
                  <a:srgbClr val="00005A"/>
                </a:solidFill>
                <a:latin typeface="+mn-lt"/>
                <a:cs typeface="Arial" pitchFamily="34" charset="0"/>
              </a:rPr>
              <a:t>h()</a:t>
            </a:r>
          </a:p>
        </p:txBody>
      </p:sp>
      <p:sp>
        <p:nvSpPr>
          <p:cNvPr id="100" name="Text Box 99"/>
          <p:cNvSpPr txBox="1">
            <a:spLocks noChangeArrowheads="1"/>
          </p:cNvSpPr>
          <p:nvPr/>
        </p:nvSpPr>
        <p:spPr bwMode="auto">
          <a:xfrm>
            <a:off x="5995988" y="2295525"/>
            <a:ext cx="401637" cy="400050"/>
          </a:xfrm>
          <a:prstGeom prst="rect">
            <a:avLst/>
          </a:prstGeom>
          <a:noFill/>
          <a:ln w="12700">
            <a:noFill/>
            <a:miter lim="800000"/>
            <a:headEnd/>
            <a:tailEnd/>
          </a:ln>
        </p:spPr>
        <p:txBody>
          <a:bodyPr wrap="none">
            <a:spAutoFit/>
          </a:bodyPr>
          <a:lstStyle/>
          <a:p>
            <a:pPr algn="ctr">
              <a:defRPr/>
            </a:pPr>
            <a:r>
              <a:rPr lang="en-US" sz="2000">
                <a:solidFill>
                  <a:srgbClr val="00005A"/>
                </a:solidFill>
                <a:latin typeface="+mn-lt"/>
                <a:cs typeface="Arial" pitchFamily="34" charset="0"/>
              </a:rPr>
              <a:t>i()</a:t>
            </a:r>
          </a:p>
        </p:txBody>
      </p:sp>
      <p:sp>
        <p:nvSpPr>
          <p:cNvPr id="102" name="Line 102"/>
          <p:cNvSpPr>
            <a:spLocks noChangeShapeType="1"/>
          </p:cNvSpPr>
          <p:nvPr/>
        </p:nvSpPr>
        <p:spPr bwMode="auto">
          <a:xfrm>
            <a:off x="3867150" y="2447925"/>
            <a:ext cx="609600" cy="0"/>
          </a:xfrm>
          <a:prstGeom prst="line">
            <a:avLst/>
          </a:prstGeom>
          <a:noFill/>
          <a:ln w="28575">
            <a:solidFill>
              <a:srgbClr val="C00000"/>
            </a:solidFill>
            <a:round/>
            <a:headEnd/>
            <a:tailEnd type="triangle" w="med" len="med"/>
          </a:ln>
        </p:spPr>
        <p:txBody>
          <a:bodyPr wrap="none" anchor="ctr"/>
          <a:lstStyle/>
          <a:p>
            <a:pPr>
              <a:defRPr/>
            </a:pPr>
            <a:endParaRPr lang="en-US" sz="2800">
              <a:latin typeface="+mn-lt"/>
              <a:cs typeface="Arial" pitchFamily="34" charset="0"/>
            </a:endParaRPr>
          </a:p>
        </p:txBody>
      </p:sp>
      <p:sp>
        <p:nvSpPr>
          <p:cNvPr id="103" name="Line 103"/>
          <p:cNvSpPr>
            <a:spLocks noChangeShapeType="1"/>
          </p:cNvSpPr>
          <p:nvPr/>
        </p:nvSpPr>
        <p:spPr bwMode="auto">
          <a:xfrm>
            <a:off x="4829175" y="2447925"/>
            <a:ext cx="457200" cy="0"/>
          </a:xfrm>
          <a:prstGeom prst="line">
            <a:avLst/>
          </a:prstGeom>
          <a:noFill/>
          <a:ln w="28575">
            <a:solidFill>
              <a:srgbClr val="C00000"/>
            </a:solidFill>
            <a:round/>
            <a:headEnd/>
            <a:tailEnd type="triangle" w="med" len="med"/>
          </a:ln>
        </p:spPr>
        <p:txBody>
          <a:bodyPr wrap="none" anchor="ctr"/>
          <a:lstStyle/>
          <a:p>
            <a:pPr>
              <a:defRPr/>
            </a:pPr>
            <a:endParaRPr lang="en-US" sz="2800">
              <a:latin typeface="+mn-lt"/>
              <a:cs typeface="Arial" pitchFamily="34" charset="0"/>
            </a:endParaRPr>
          </a:p>
        </p:txBody>
      </p:sp>
      <p:sp>
        <p:nvSpPr>
          <p:cNvPr id="104" name="Line 104"/>
          <p:cNvSpPr>
            <a:spLocks noChangeShapeType="1"/>
          </p:cNvSpPr>
          <p:nvPr/>
        </p:nvSpPr>
        <p:spPr bwMode="auto">
          <a:xfrm>
            <a:off x="5591175" y="2447925"/>
            <a:ext cx="457200" cy="0"/>
          </a:xfrm>
          <a:prstGeom prst="line">
            <a:avLst/>
          </a:prstGeom>
          <a:noFill/>
          <a:ln w="28575">
            <a:solidFill>
              <a:srgbClr val="C00000"/>
            </a:solidFill>
            <a:round/>
            <a:headEnd/>
            <a:tailEnd type="triangle" w="med" len="med"/>
          </a:ln>
        </p:spPr>
        <p:txBody>
          <a:bodyPr wrap="none" anchor="ctr"/>
          <a:lstStyle/>
          <a:p>
            <a:pPr>
              <a:defRPr/>
            </a:pPr>
            <a:endParaRPr lang="en-US" sz="2800">
              <a:latin typeface="+mn-lt"/>
              <a:cs typeface="Arial" pitchFamily="34" charset="0"/>
            </a:endParaRPr>
          </a:p>
        </p:txBody>
      </p:sp>
      <p:sp>
        <p:nvSpPr>
          <p:cNvPr id="105" name="Line 105"/>
          <p:cNvSpPr>
            <a:spLocks noChangeShapeType="1"/>
          </p:cNvSpPr>
          <p:nvPr/>
        </p:nvSpPr>
        <p:spPr bwMode="auto">
          <a:xfrm>
            <a:off x="6276975" y="2447925"/>
            <a:ext cx="533400" cy="0"/>
          </a:xfrm>
          <a:prstGeom prst="line">
            <a:avLst/>
          </a:prstGeom>
          <a:noFill/>
          <a:ln w="28575">
            <a:solidFill>
              <a:srgbClr val="C00000"/>
            </a:solidFill>
            <a:round/>
            <a:headEnd/>
            <a:tailEnd type="triangle" w="med" len="med"/>
          </a:ln>
        </p:spPr>
        <p:txBody>
          <a:bodyPr wrap="none" anchor="ctr"/>
          <a:lstStyle/>
          <a:p>
            <a:pPr>
              <a:defRPr/>
            </a:pPr>
            <a:endParaRPr lang="en-US" sz="2800">
              <a:latin typeface="+mn-lt"/>
              <a:cs typeface="Arial" pitchFamily="34" charset="0"/>
            </a:endParaRPr>
          </a:p>
        </p:txBody>
      </p:sp>
      <p:sp>
        <p:nvSpPr>
          <p:cNvPr id="107" name="Line 110"/>
          <p:cNvSpPr>
            <a:spLocks noChangeShapeType="1"/>
          </p:cNvSpPr>
          <p:nvPr/>
        </p:nvSpPr>
        <p:spPr bwMode="auto">
          <a:xfrm>
            <a:off x="4946650" y="4033838"/>
            <a:ext cx="192088" cy="228600"/>
          </a:xfrm>
          <a:prstGeom prst="line">
            <a:avLst/>
          </a:prstGeom>
          <a:noFill/>
          <a:ln w="28575">
            <a:solidFill>
              <a:srgbClr val="C00000"/>
            </a:solidFill>
            <a:round/>
            <a:headEnd/>
            <a:tailEnd type="triangle" w="med" len="med"/>
          </a:ln>
        </p:spPr>
        <p:txBody>
          <a:bodyPr/>
          <a:lstStyle/>
          <a:p>
            <a:pPr>
              <a:defRPr/>
            </a:pPr>
            <a:endParaRPr lang="en-US" sz="2000">
              <a:latin typeface="+mn-lt"/>
              <a:cs typeface="Arial" pitchFamily="34" charset="0"/>
            </a:endParaRPr>
          </a:p>
        </p:txBody>
      </p:sp>
      <p:sp>
        <p:nvSpPr>
          <p:cNvPr id="108" name="Line 111"/>
          <p:cNvSpPr>
            <a:spLocks noChangeShapeType="1"/>
          </p:cNvSpPr>
          <p:nvPr/>
        </p:nvSpPr>
        <p:spPr bwMode="auto">
          <a:xfrm>
            <a:off x="6081713" y="4033838"/>
            <a:ext cx="0" cy="228600"/>
          </a:xfrm>
          <a:prstGeom prst="line">
            <a:avLst/>
          </a:prstGeom>
          <a:noFill/>
          <a:ln w="9525">
            <a:solidFill>
              <a:srgbClr val="000000"/>
            </a:solidFill>
            <a:round/>
            <a:headEnd/>
            <a:tailEnd/>
          </a:ln>
        </p:spPr>
        <p:txBody>
          <a:bodyPr/>
          <a:lstStyle/>
          <a:p>
            <a:pPr>
              <a:defRPr/>
            </a:pPr>
            <a:endParaRPr lang="en-US" sz="2000">
              <a:latin typeface="+mn-lt"/>
              <a:cs typeface="Arial" pitchFamily="34" charset="0"/>
            </a:endParaRPr>
          </a:p>
        </p:txBody>
      </p:sp>
      <p:sp>
        <p:nvSpPr>
          <p:cNvPr id="110" name="Line 113"/>
          <p:cNvSpPr>
            <a:spLocks noChangeShapeType="1"/>
          </p:cNvSpPr>
          <p:nvPr/>
        </p:nvSpPr>
        <p:spPr bwMode="auto">
          <a:xfrm>
            <a:off x="3186113" y="4033838"/>
            <a:ext cx="0" cy="609600"/>
          </a:xfrm>
          <a:prstGeom prst="line">
            <a:avLst/>
          </a:prstGeom>
          <a:noFill/>
          <a:ln w="9525">
            <a:solidFill>
              <a:schemeClr val="bg2"/>
            </a:solidFill>
            <a:round/>
            <a:headEnd/>
            <a:tailEnd/>
          </a:ln>
        </p:spPr>
        <p:txBody>
          <a:bodyPr/>
          <a:lstStyle/>
          <a:p>
            <a:pPr>
              <a:defRPr/>
            </a:pPr>
            <a:endParaRPr lang="en-US" sz="2000" b="1">
              <a:latin typeface="+mn-lt"/>
              <a:cs typeface="Arial" pitchFamily="34" charset="0"/>
            </a:endParaRPr>
          </a:p>
        </p:txBody>
      </p:sp>
      <p:sp>
        <p:nvSpPr>
          <p:cNvPr id="111" name="Line 114"/>
          <p:cNvSpPr>
            <a:spLocks noChangeShapeType="1"/>
          </p:cNvSpPr>
          <p:nvPr/>
        </p:nvSpPr>
        <p:spPr bwMode="auto">
          <a:xfrm>
            <a:off x="3186113" y="6096000"/>
            <a:ext cx="0" cy="441325"/>
          </a:xfrm>
          <a:prstGeom prst="line">
            <a:avLst/>
          </a:prstGeom>
          <a:noFill/>
          <a:ln w="9525">
            <a:solidFill>
              <a:schemeClr val="bg2"/>
            </a:solidFill>
            <a:round/>
            <a:headEnd/>
            <a:tailEnd/>
          </a:ln>
        </p:spPr>
        <p:txBody>
          <a:bodyPr/>
          <a:lstStyle/>
          <a:p>
            <a:pPr>
              <a:defRPr/>
            </a:pPr>
            <a:endParaRPr lang="en-US" sz="2000">
              <a:latin typeface="+mn-lt"/>
              <a:cs typeface="Arial" pitchFamily="34" charset="0"/>
            </a:endParaRPr>
          </a:p>
        </p:txBody>
      </p:sp>
      <p:sp>
        <p:nvSpPr>
          <p:cNvPr id="114" name="Line 38"/>
          <p:cNvSpPr>
            <a:spLocks noChangeShapeType="1"/>
          </p:cNvSpPr>
          <p:nvPr/>
        </p:nvSpPr>
        <p:spPr bwMode="auto">
          <a:xfrm flipV="1">
            <a:off x="819150" y="5157788"/>
            <a:ext cx="76200" cy="152400"/>
          </a:xfrm>
          <a:prstGeom prst="line">
            <a:avLst/>
          </a:prstGeom>
          <a:noFill/>
          <a:ln w="12700">
            <a:solidFill>
              <a:schemeClr val="tx1"/>
            </a:solidFill>
            <a:round/>
            <a:headEnd/>
            <a:tailEnd/>
          </a:ln>
        </p:spPr>
        <p:txBody>
          <a:bodyPr wrap="none" anchor="ctr"/>
          <a:lstStyle/>
          <a:p>
            <a:pPr>
              <a:defRPr/>
            </a:pPr>
            <a:endParaRPr lang="en-US" sz="2400">
              <a:latin typeface="+mn-lt"/>
              <a:cs typeface="Arial" pitchFamily="34" charset="0"/>
            </a:endParaRPr>
          </a:p>
        </p:txBody>
      </p:sp>
      <p:sp>
        <p:nvSpPr>
          <p:cNvPr id="115" name="Line 39"/>
          <p:cNvSpPr>
            <a:spLocks noChangeShapeType="1"/>
          </p:cNvSpPr>
          <p:nvPr/>
        </p:nvSpPr>
        <p:spPr bwMode="auto">
          <a:xfrm flipH="1" flipV="1">
            <a:off x="895350" y="5157788"/>
            <a:ext cx="76200" cy="152400"/>
          </a:xfrm>
          <a:prstGeom prst="line">
            <a:avLst/>
          </a:prstGeom>
          <a:noFill/>
          <a:ln w="12700">
            <a:solidFill>
              <a:schemeClr val="tx1"/>
            </a:solidFill>
            <a:round/>
            <a:headEnd/>
            <a:tailEnd/>
          </a:ln>
        </p:spPr>
        <p:txBody>
          <a:bodyPr wrap="none" anchor="ctr"/>
          <a:lstStyle/>
          <a:p>
            <a:pPr>
              <a:defRPr/>
            </a:pPr>
            <a:endParaRPr lang="en-US" sz="2400">
              <a:latin typeface="+mn-lt"/>
              <a:cs typeface="Arial" pitchFamily="34" charset="0"/>
            </a:endParaRPr>
          </a:p>
        </p:txBody>
      </p:sp>
      <p:sp>
        <p:nvSpPr>
          <p:cNvPr id="116" name="Line 40"/>
          <p:cNvSpPr>
            <a:spLocks noChangeShapeType="1"/>
          </p:cNvSpPr>
          <p:nvPr/>
        </p:nvSpPr>
        <p:spPr bwMode="auto">
          <a:xfrm>
            <a:off x="819150" y="5310188"/>
            <a:ext cx="152400" cy="0"/>
          </a:xfrm>
          <a:prstGeom prst="line">
            <a:avLst/>
          </a:prstGeom>
          <a:noFill/>
          <a:ln w="12700">
            <a:solidFill>
              <a:schemeClr val="tx1"/>
            </a:solidFill>
            <a:round/>
            <a:headEnd/>
            <a:tailEnd/>
          </a:ln>
        </p:spPr>
        <p:txBody>
          <a:bodyPr wrap="none" anchor="ctr"/>
          <a:lstStyle/>
          <a:p>
            <a:pPr>
              <a:defRPr/>
            </a:pPr>
            <a:endParaRPr lang="en-US" sz="2400">
              <a:latin typeface="+mn-lt"/>
              <a:cs typeface="Arial" pitchFamily="34" charset="0"/>
            </a:endParaRPr>
          </a:p>
        </p:txBody>
      </p:sp>
      <p:sp>
        <p:nvSpPr>
          <p:cNvPr id="117" name="Line 41"/>
          <p:cNvSpPr>
            <a:spLocks noChangeShapeType="1"/>
          </p:cNvSpPr>
          <p:nvPr/>
        </p:nvSpPr>
        <p:spPr bwMode="auto">
          <a:xfrm flipH="1">
            <a:off x="877888" y="5300663"/>
            <a:ext cx="22225" cy="414337"/>
          </a:xfrm>
          <a:prstGeom prst="line">
            <a:avLst/>
          </a:prstGeom>
          <a:noFill/>
          <a:ln w="12700">
            <a:solidFill>
              <a:schemeClr val="tx1"/>
            </a:solidFill>
            <a:round/>
            <a:headEnd/>
            <a:tailEnd/>
          </a:ln>
        </p:spPr>
        <p:txBody>
          <a:bodyPr wrap="none" anchor="ctr"/>
          <a:lstStyle/>
          <a:p>
            <a:pPr>
              <a:defRPr/>
            </a:pPr>
            <a:endParaRPr lang="en-US" sz="2400">
              <a:latin typeface="+mn-lt"/>
              <a:cs typeface="Arial" pitchFamily="34" charset="0"/>
            </a:endParaRPr>
          </a:p>
        </p:txBody>
      </p:sp>
      <p:sp>
        <p:nvSpPr>
          <p:cNvPr id="2" name="TextBox 1">
            <a:extLst>
              <a:ext uri="{FF2B5EF4-FFF2-40B4-BE49-F238E27FC236}">
                <a16:creationId xmlns:a16="http://schemas.microsoft.com/office/drawing/2014/main" id="{47B3D0BF-C4A5-BE87-B143-7AC7156B32ED}"/>
              </a:ext>
            </a:extLst>
          </p:cNvPr>
          <p:cNvSpPr txBox="1"/>
          <p:nvPr/>
        </p:nvSpPr>
        <p:spPr>
          <a:xfrm>
            <a:off x="1763713" y="1224609"/>
            <a:ext cx="7056437" cy="646331"/>
          </a:xfrm>
          <a:prstGeom prst="rect">
            <a:avLst/>
          </a:prstGeom>
          <a:noFill/>
        </p:spPr>
        <p:txBody>
          <a:bodyPr wrap="square" rtlCol="0">
            <a:spAutoFit/>
          </a:bodyPr>
          <a:lstStyle/>
          <a:p>
            <a:r>
              <a:rPr lang="en-US" i="1" dirty="0">
                <a:highlight>
                  <a:srgbClr val="FFFF00"/>
                </a:highlight>
              </a:rPr>
              <a:t>Y</a:t>
            </a:r>
            <a:r>
              <a:rPr lang="en-US" sz="1800" i="1" dirty="0">
                <a:highlight>
                  <a:srgbClr val="FFFF00"/>
                </a:highlight>
              </a:rPr>
              <a:t>oyo behavior </a:t>
            </a:r>
            <a:r>
              <a:rPr lang="en-US" sz="1800" i="1" dirty="0"/>
              <a:t>: methods of a class interact with that of its super classes.  Alexander-</a:t>
            </a:r>
            <a:r>
              <a:rPr lang="en-US" sz="1800" i="1" dirty="0" err="1"/>
              <a:t>Offut</a:t>
            </a:r>
            <a:r>
              <a:rPr lang="en-US" sz="1800" i="1" dirty="0"/>
              <a:t> 2000</a:t>
            </a:r>
            <a:endParaRPr lang="en-NL"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26432B8-0B79-5C4F-9BAA-6C9BF1712CEE}"/>
              </a:ext>
            </a:extLst>
          </p:cNvPr>
          <p:cNvSpPr>
            <a:spLocks noGrp="1"/>
          </p:cNvSpPr>
          <p:nvPr>
            <p:ph type="title"/>
          </p:nvPr>
        </p:nvSpPr>
        <p:spPr/>
        <p:txBody>
          <a:bodyPr/>
          <a:lstStyle/>
          <a:p>
            <a:r>
              <a:rPr lang="en-US" dirty="0"/>
              <a:t>Testing OO programs </a:t>
            </a:r>
          </a:p>
        </p:txBody>
      </p:sp>
      <p:sp>
        <p:nvSpPr>
          <p:cNvPr id="4" name="Content Placeholder 3">
            <a:extLst>
              <a:ext uri="{FF2B5EF4-FFF2-40B4-BE49-F238E27FC236}">
                <a16:creationId xmlns:a16="http://schemas.microsoft.com/office/drawing/2014/main" id="{3EBDFA80-6C74-2245-8C2A-3952BA792504}"/>
              </a:ext>
            </a:extLst>
          </p:cNvPr>
          <p:cNvSpPr>
            <a:spLocks noGrp="1"/>
          </p:cNvSpPr>
          <p:nvPr>
            <p:ph idx="1"/>
          </p:nvPr>
        </p:nvSpPr>
        <p:spPr/>
        <p:txBody>
          <a:bodyPr/>
          <a:lstStyle/>
          <a:p>
            <a:r>
              <a:rPr lang="en-US" sz="2400" dirty="0"/>
              <a:t>Of course: every method/class should be unit-tested.</a:t>
            </a:r>
          </a:p>
          <a:p>
            <a:r>
              <a:rPr lang="en-US" sz="2400" dirty="0"/>
              <a:t>However, previously mentioned inheritance-related error prone situations happen at the integration level when a module uses a class C, but it might get a subclass of C at the runtime.</a:t>
            </a:r>
          </a:p>
          <a:p>
            <a:r>
              <a:rPr lang="en-US" sz="2400" dirty="0"/>
              <a:t>We can test this through the previously discussed integration test approach, and enhance it to cover for inheritance as well.</a:t>
            </a:r>
          </a:p>
          <a:p>
            <a:endParaRPr lang="en-US" sz="2400" dirty="0"/>
          </a:p>
        </p:txBody>
      </p:sp>
      <p:sp>
        <p:nvSpPr>
          <p:cNvPr id="3" name="Slide Number Placeholder 2">
            <a:extLst>
              <a:ext uri="{FF2B5EF4-FFF2-40B4-BE49-F238E27FC236}">
                <a16:creationId xmlns:a16="http://schemas.microsoft.com/office/drawing/2014/main" id="{A4B68833-2582-384F-A95E-4E1E221310B8}"/>
              </a:ext>
            </a:extLst>
          </p:cNvPr>
          <p:cNvSpPr>
            <a:spLocks noGrp="1"/>
          </p:cNvSpPr>
          <p:nvPr>
            <p:ph type="sldNum" sz="quarter" idx="12"/>
          </p:nvPr>
        </p:nvSpPr>
        <p:spPr/>
        <p:txBody>
          <a:bodyPr/>
          <a:lstStyle/>
          <a:p>
            <a:pPr>
              <a:defRPr/>
            </a:pPr>
            <a:fld id="{E2F37286-FE51-4C52-8532-323FC50E77F0}" type="slidenum">
              <a:rPr lang="en-US" smtClean="0"/>
              <a:pPr>
                <a:defRPr/>
              </a:pPr>
              <a:t>30</a:t>
            </a:fld>
            <a:endParaRPr lang="en-US"/>
          </a:p>
        </p:txBody>
      </p:sp>
    </p:spTree>
    <p:extLst>
      <p:ext uri="{BB962C8B-B14F-4D97-AF65-F5344CB8AC3E}">
        <p14:creationId xmlns:p14="http://schemas.microsoft.com/office/powerpoint/2010/main" val="4232089041"/>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1746" name="Title 1"/>
          <p:cNvSpPr>
            <a:spLocks noGrp="1"/>
          </p:cNvSpPr>
          <p:nvPr>
            <p:ph type="title"/>
          </p:nvPr>
        </p:nvSpPr>
        <p:spPr>
          <a:xfrm>
            <a:off x="457200" y="274638"/>
            <a:ext cx="8229600" cy="1138237"/>
          </a:xfrm>
        </p:spPr>
        <p:txBody>
          <a:bodyPr/>
          <a:lstStyle/>
          <a:p>
            <a:r>
              <a:rPr lang="en-US" dirty="0"/>
              <a:t>Testing Direct Coupling</a:t>
            </a:r>
            <a:endParaRPr lang="en-US" sz="3200" dirty="0"/>
          </a:p>
        </p:txBody>
      </p:sp>
      <p:sp>
        <p:nvSpPr>
          <p:cNvPr id="31747" name="Content Placeholder 2"/>
          <p:cNvSpPr>
            <a:spLocks noGrp="1"/>
          </p:cNvSpPr>
          <p:nvPr>
            <p:ph idx="1"/>
          </p:nvPr>
        </p:nvSpPr>
        <p:spPr>
          <a:xfrm>
            <a:off x="395536" y="3861048"/>
            <a:ext cx="8246690" cy="2481263"/>
          </a:xfrm>
        </p:spPr>
        <p:txBody>
          <a:bodyPr/>
          <a:lstStyle/>
          <a:p>
            <a:pPr marL="0" indent="0" algn="just">
              <a:buNone/>
            </a:pPr>
            <a:r>
              <a:rPr lang="en-US" sz="2400" dirty="0"/>
              <a:t>Testing the usage of class A by class E (direct coupling) : treat this as an integration testing problem ➝</a:t>
            </a:r>
            <a:r>
              <a:rPr lang="en-US" sz="2400" dirty="0">
                <a:sym typeface="Wingdings" pitchFamily="2" charset="2"/>
              </a:rPr>
              <a:t> </a:t>
            </a:r>
            <a:r>
              <a:rPr lang="en-US" sz="2400" dirty="0"/>
              <a:t>we already have a solution  (data-flow based integration test), </a:t>
            </a:r>
            <a:r>
              <a:rPr lang="en-US" sz="2400" dirty="0">
                <a:sym typeface="Wingdings" pitchFamily="2" charset="2"/>
              </a:rPr>
              <a:t>but </a:t>
            </a:r>
            <a:r>
              <a:rPr lang="en-US" sz="2400" b="1" dirty="0">
                <a:sym typeface="Wingdings" pitchFamily="2" charset="2"/>
              </a:rPr>
              <a:t>additionally</a:t>
            </a:r>
            <a:r>
              <a:rPr lang="en-US" sz="2400" dirty="0">
                <a:sym typeface="Wingdings" pitchFamily="2" charset="2"/>
              </a:rPr>
              <a:t> now we need to quantify over the subclasses of A, due to </a:t>
            </a:r>
            <a:r>
              <a:rPr lang="en-US" sz="2400" dirty="0"/>
              <a:t>dynamic binding</a:t>
            </a:r>
            <a:r>
              <a:rPr lang="en-US" sz="2400" dirty="0">
                <a:sym typeface="Wingdings" pitchFamily="2" charset="2"/>
              </a:rPr>
              <a:t>  (the exact </a:t>
            </a:r>
            <a:r>
              <a:rPr lang="en-US" sz="2400" i="1" dirty="0">
                <a:sym typeface="Wingdings" pitchFamily="2" charset="2"/>
              </a:rPr>
              <a:t>m</a:t>
            </a:r>
            <a:r>
              <a:rPr lang="en-US" sz="2400" dirty="0">
                <a:sym typeface="Wingdings" pitchFamily="2" charset="2"/>
              </a:rPr>
              <a:t> called in </a:t>
            </a:r>
            <a:r>
              <a:rPr lang="en-US" sz="2400" i="1" dirty="0">
                <a:sym typeface="Wingdings" pitchFamily="2" charset="2"/>
              </a:rPr>
              <a:t>f</a:t>
            </a:r>
            <a:r>
              <a:rPr lang="en-US" sz="2400" dirty="0">
                <a:sym typeface="Wingdings" pitchFamily="2" charset="2"/>
              </a:rPr>
              <a:t> depends on the type of actual type of </a:t>
            </a:r>
            <a:r>
              <a:rPr lang="en-US" sz="2400" i="1" dirty="0">
                <a:sym typeface="Wingdings" pitchFamily="2" charset="2"/>
              </a:rPr>
              <a:t>o </a:t>
            </a:r>
            <a:r>
              <a:rPr lang="en-US" sz="2400" dirty="0">
                <a:sym typeface="Wingdings" pitchFamily="2" charset="2"/>
              </a:rPr>
              <a:t>).</a:t>
            </a:r>
          </a:p>
        </p:txBody>
      </p:sp>
      <p:sp>
        <p:nvSpPr>
          <p:cNvPr id="4" name="Slide Number Placeholder 3"/>
          <p:cNvSpPr>
            <a:spLocks noGrp="1"/>
          </p:cNvSpPr>
          <p:nvPr>
            <p:ph type="sldNum" sz="quarter" idx="12"/>
          </p:nvPr>
        </p:nvSpPr>
        <p:spPr/>
        <p:txBody>
          <a:bodyPr/>
          <a:lstStyle/>
          <a:p>
            <a:pPr>
              <a:defRPr/>
            </a:pPr>
            <a:fld id="{9C36300D-7A5F-4A55-A723-E5304E3FE0FD}" type="slidenum">
              <a:rPr lang="en-US" smtClean="0"/>
              <a:pPr>
                <a:defRPr/>
              </a:pPr>
              <a:t>31</a:t>
            </a:fld>
            <a:endParaRPr lang="en-US"/>
          </a:p>
        </p:txBody>
      </p:sp>
      <p:sp>
        <p:nvSpPr>
          <p:cNvPr id="5" name="TextBox 4"/>
          <p:cNvSpPr txBox="1"/>
          <p:nvPr/>
        </p:nvSpPr>
        <p:spPr>
          <a:xfrm>
            <a:off x="1547664" y="1742952"/>
            <a:ext cx="3384376" cy="1938992"/>
          </a:xfrm>
          <a:prstGeom prst="rect">
            <a:avLst/>
          </a:prstGeom>
          <a:solidFill>
            <a:schemeClr val="accent5">
              <a:lumMod val="20000"/>
              <a:lumOff val="80000"/>
            </a:schemeClr>
          </a:solidFill>
          <a:ln>
            <a:solidFill>
              <a:schemeClr val="tx1"/>
            </a:solidFill>
          </a:ln>
        </p:spPr>
        <p:txBody>
          <a:bodyPr wrap="square">
            <a:spAutoFit/>
          </a:bodyPr>
          <a:lstStyle/>
          <a:p>
            <a:pPr>
              <a:defRPr/>
            </a:pPr>
            <a:r>
              <a:rPr lang="en-US" sz="2400" b="1" dirty="0">
                <a:latin typeface="+mn-lt"/>
              </a:rPr>
              <a:t>class</a:t>
            </a:r>
            <a:r>
              <a:rPr lang="en-US" sz="2400" dirty="0">
                <a:latin typeface="+mn-lt"/>
              </a:rPr>
              <a:t> E {</a:t>
            </a:r>
            <a:br>
              <a:rPr lang="en-US" sz="2400" dirty="0">
                <a:latin typeface="+mn-lt"/>
              </a:rPr>
            </a:br>
            <a:r>
              <a:rPr lang="en-US" sz="2400" dirty="0">
                <a:latin typeface="+mn-lt"/>
              </a:rPr>
              <a:t>   f(x) {  A o = Factory(x ) ;     </a:t>
            </a:r>
            <a:br>
              <a:rPr lang="en-US" sz="2400" dirty="0">
                <a:latin typeface="+mn-lt"/>
              </a:rPr>
            </a:br>
            <a:r>
              <a:rPr lang="en-US" sz="2400" dirty="0">
                <a:latin typeface="+mn-lt"/>
              </a:rPr>
              <a:t>            ...</a:t>
            </a:r>
            <a:endParaRPr lang="en-US" sz="2400" dirty="0">
              <a:solidFill>
                <a:schemeClr val="accent1">
                  <a:lumMod val="60000"/>
                  <a:lumOff val="40000"/>
                </a:schemeClr>
              </a:solidFill>
              <a:latin typeface="+mn-lt"/>
            </a:endParaRPr>
          </a:p>
          <a:p>
            <a:pPr>
              <a:defRPr/>
            </a:pPr>
            <a:r>
              <a:rPr lang="en-US" sz="2400" dirty="0">
                <a:latin typeface="+mn-lt"/>
              </a:rPr>
              <a:t>           y = </a:t>
            </a:r>
            <a:r>
              <a:rPr lang="en-US" sz="2400" dirty="0" err="1">
                <a:latin typeface="+mn-lt"/>
              </a:rPr>
              <a:t>o.m</a:t>
            </a:r>
            <a:r>
              <a:rPr lang="en-US" sz="2400" dirty="0">
                <a:latin typeface="+mn-lt"/>
              </a:rPr>
              <a:t>(...)    </a:t>
            </a:r>
            <a:br>
              <a:rPr lang="en-US" sz="2400" dirty="0">
                <a:latin typeface="+mn-lt"/>
              </a:rPr>
            </a:br>
            <a:r>
              <a:rPr lang="en-US" sz="2400" dirty="0">
                <a:latin typeface="+mn-lt"/>
              </a:rPr>
              <a:t>            ….} }</a:t>
            </a:r>
          </a:p>
        </p:txBody>
      </p:sp>
      <p:sp>
        <p:nvSpPr>
          <p:cNvPr id="6" name="TextBox 5">
            <a:extLst>
              <a:ext uri="{FF2B5EF4-FFF2-40B4-BE49-F238E27FC236}">
                <a16:creationId xmlns:a16="http://schemas.microsoft.com/office/drawing/2014/main" id="{5E7FCCE2-3534-5141-8ED2-D508474C23C1}"/>
              </a:ext>
            </a:extLst>
          </p:cNvPr>
          <p:cNvSpPr txBox="1"/>
          <p:nvPr/>
        </p:nvSpPr>
        <p:spPr>
          <a:xfrm>
            <a:off x="6228513" y="1572044"/>
            <a:ext cx="1103187" cy="830997"/>
          </a:xfrm>
          <a:prstGeom prst="rect">
            <a:avLst/>
          </a:prstGeom>
          <a:solidFill>
            <a:schemeClr val="bg1">
              <a:lumMod val="85000"/>
            </a:schemeClr>
          </a:solidFill>
          <a:ln>
            <a:solidFill>
              <a:schemeClr val="tx1"/>
            </a:solidFill>
          </a:ln>
        </p:spPr>
        <p:txBody>
          <a:bodyPr wrap="none">
            <a:spAutoFit/>
          </a:bodyPr>
          <a:lstStyle/>
          <a:p>
            <a:pPr>
              <a:defRPr/>
            </a:pPr>
            <a:r>
              <a:rPr lang="en-US" sz="2400" b="1" dirty="0">
                <a:latin typeface="+mn-lt"/>
              </a:rPr>
              <a:t>class</a:t>
            </a:r>
            <a:r>
              <a:rPr lang="en-US" sz="2400" dirty="0">
                <a:latin typeface="+mn-lt"/>
              </a:rPr>
              <a:t> A </a:t>
            </a:r>
          </a:p>
          <a:p>
            <a:pPr>
              <a:defRPr/>
            </a:pPr>
            <a:r>
              <a:rPr lang="en-US" sz="2400" dirty="0">
                <a:latin typeface="+mn-lt"/>
              </a:rPr>
              <a:t>+ m(...)</a:t>
            </a:r>
          </a:p>
        </p:txBody>
      </p:sp>
      <p:cxnSp>
        <p:nvCxnSpPr>
          <p:cNvPr id="3" name="Straight Arrow Connector 2">
            <a:extLst>
              <a:ext uri="{FF2B5EF4-FFF2-40B4-BE49-F238E27FC236}">
                <a16:creationId xmlns:a16="http://schemas.microsoft.com/office/drawing/2014/main" id="{3E5D2127-D77C-C943-8B24-12C857C00030}"/>
              </a:ext>
            </a:extLst>
          </p:cNvPr>
          <p:cNvCxnSpPr>
            <a:cxnSpLocks/>
            <a:stCxn id="6" idx="1"/>
          </p:cNvCxnSpPr>
          <p:nvPr/>
        </p:nvCxnSpPr>
        <p:spPr>
          <a:xfrm flipH="1">
            <a:off x="3779912" y="1987543"/>
            <a:ext cx="2448601" cy="1009409"/>
          </a:xfrm>
          <a:prstGeom prst="straightConnector1">
            <a:avLst/>
          </a:prstGeom>
          <a:ln>
            <a:solidFill>
              <a:schemeClr val="accent2"/>
            </a:solidFill>
            <a:prstDash val="dash"/>
            <a:tailEnd type="triangle"/>
          </a:ln>
        </p:spPr>
        <p:style>
          <a:lnRef idx="1">
            <a:schemeClr val="accent1"/>
          </a:lnRef>
          <a:fillRef idx="0">
            <a:schemeClr val="accent1"/>
          </a:fillRef>
          <a:effectRef idx="0">
            <a:schemeClr val="accent1"/>
          </a:effectRef>
          <a:fontRef idx="minor">
            <a:schemeClr val="tx1"/>
          </a:fontRef>
        </p:style>
      </p:cxnSp>
      <p:sp>
        <p:nvSpPr>
          <p:cNvPr id="11" name="TextBox 10">
            <a:extLst>
              <a:ext uri="{FF2B5EF4-FFF2-40B4-BE49-F238E27FC236}">
                <a16:creationId xmlns:a16="http://schemas.microsoft.com/office/drawing/2014/main" id="{17F57FC7-3F71-3A4A-B45B-E5578FF2E07D}"/>
              </a:ext>
            </a:extLst>
          </p:cNvPr>
          <p:cNvSpPr txBox="1"/>
          <p:nvPr/>
        </p:nvSpPr>
        <p:spPr>
          <a:xfrm>
            <a:off x="6265578" y="2712448"/>
            <a:ext cx="1103187" cy="830997"/>
          </a:xfrm>
          <a:prstGeom prst="rect">
            <a:avLst/>
          </a:prstGeom>
          <a:solidFill>
            <a:schemeClr val="bg1">
              <a:lumMod val="85000"/>
            </a:schemeClr>
          </a:solidFill>
          <a:ln>
            <a:solidFill>
              <a:schemeClr val="tx1"/>
            </a:solidFill>
          </a:ln>
        </p:spPr>
        <p:txBody>
          <a:bodyPr wrap="none">
            <a:spAutoFit/>
          </a:bodyPr>
          <a:lstStyle/>
          <a:p>
            <a:pPr>
              <a:defRPr/>
            </a:pPr>
            <a:r>
              <a:rPr lang="en-US" sz="2400" b="1" dirty="0">
                <a:latin typeface="+mn-lt"/>
              </a:rPr>
              <a:t>class</a:t>
            </a:r>
            <a:r>
              <a:rPr lang="en-US" sz="2400" dirty="0">
                <a:latin typeface="+mn-lt"/>
              </a:rPr>
              <a:t> B </a:t>
            </a:r>
          </a:p>
          <a:p>
            <a:pPr>
              <a:defRPr/>
            </a:pPr>
            <a:r>
              <a:rPr lang="en-US" sz="2400" dirty="0">
                <a:latin typeface="+mn-lt"/>
              </a:rPr>
              <a:t>+ m(...)</a:t>
            </a:r>
          </a:p>
        </p:txBody>
      </p:sp>
      <p:sp>
        <p:nvSpPr>
          <p:cNvPr id="12" name="Isosceles Triangle 7">
            <a:extLst>
              <a:ext uri="{FF2B5EF4-FFF2-40B4-BE49-F238E27FC236}">
                <a16:creationId xmlns:a16="http://schemas.microsoft.com/office/drawing/2014/main" id="{D5F2F233-3477-4D48-95AB-B826080CD8A1}"/>
              </a:ext>
            </a:extLst>
          </p:cNvPr>
          <p:cNvSpPr/>
          <p:nvPr/>
        </p:nvSpPr>
        <p:spPr>
          <a:xfrm>
            <a:off x="6732240" y="2412045"/>
            <a:ext cx="169863" cy="214313"/>
          </a:xfrm>
          <a:prstGeom prst="triangle">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US"/>
          </a:p>
        </p:txBody>
      </p:sp>
      <p:cxnSp>
        <p:nvCxnSpPr>
          <p:cNvPr id="13" name="Straight Connector 12">
            <a:extLst>
              <a:ext uri="{FF2B5EF4-FFF2-40B4-BE49-F238E27FC236}">
                <a16:creationId xmlns:a16="http://schemas.microsoft.com/office/drawing/2014/main" id="{33CB57FA-2947-294C-AB0E-5BAB8B3711B0}"/>
              </a:ext>
            </a:extLst>
          </p:cNvPr>
          <p:cNvCxnSpPr>
            <a:cxnSpLocks/>
            <a:stCxn id="11" idx="0"/>
            <a:endCxn id="12" idx="3"/>
          </p:cNvCxnSpPr>
          <p:nvPr/>
        </p:nvCxnSpPr>
        <p:spPr>
          <a:xfrm flipV="1">
            <a:off x="6817172" y="2626358"/>
            <a:ext cx="0" cy="8609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2770" name="Title 1"/>
          <p:cNvSpPr>
            <a:spLocks noGrp="1"/>
          </p:cNvSpPr>
          <p:nvPr>
            <p:ph type="title"/>
          </p:nvPr>
        </p:nvSpPr>
        <p:spPr>
          <a:xfrm>
            <a:off x="457200" y="300372"/>
            <a:ext cx="8229600" cy="868808"/>
          </a:xfrm>
        </p:spPr>
        <p:txBody>
          <a:bodyPr/>
          <a:lstStyle/>
          <a:p>
            <a:r>
              <a:rPr lang="en-US" sz="3600" dirty="0"/>
              <a:t>Indirect coupling</a:t>
            </a:r>
          </a:p>
        </p:txBody>
      </p:sp>
      <p:sp>
        <p:nvSpPr>
          <p:cNvPr id="32771" name="Content Placeholder 2"/>
          <p:cNvSpPr>
            <a:spLocks noGrp="1"/>
          </p:cNvSpPr>
          <p:nvPr>
            <p:ph idx="1"/>
          </p:nvPr>
        </p:nvSpPr>
        <p:spPr>
          <a:xfrm>
            <a:off x="323528" y="4095302"/>
            <a:ext cx="8568952" cy="1949755"/>
          </a:xfrm>
        </p:spPr>
        <p:txBody>
          <a:bodyPr/>
          <a:lstStyle/>
          <a:p>
            <a:pPr marL="0" indent="0" algn="just">
              <a:buNone/>
            </a:pPr>
            <a:r>
              <a:rPr lang="en-US" sz="2000" dirty="0">
                <a:sym typeface="Wingdings" pitchFamily="2" charset="2"/>
              </a:rPr>
              <a:t>We want to check the </a:t>
            </a:r>
            <a:r>
              <a:rPr lang="en-US" sz="2000" dirty="0">
                <a:highlight>
                  <a:srgbClr val="FFFF00"/>
                </a:highlight>
                <a:sym typeface="Wingdings" pitchFamily="2" charset="2"/>
              </a:rPr>
              <a:t>interactions between methods of class A (or B) in </a:t>
            </a:r>
            <a:r>
              <a:rPr lang="en-US" sz="2000" b="1" dirty="0">
                <a:highlight>
                  <a:srgbClr val="FFFF00"/>
                </a:highlight>
                <a:sym typeface="Wingdings" pitchFamily="2" charset="2"/>
              </a:rPr>
              <a:t>the context </a:t>
            </a:r>
            <a:r>
              <a:rPr lang="en-US" sz="2000" dirty="0">
                <a:highlight>
                  <a:srgbClr val="FFFF00"/>
                </a:highlight>
                <a:sym typeface="Wingdings" pitchFamily="2" charset="2"/>
              </a:rPr>
              <a:t>of the class E2</a:t>
            </a:r>
            <a:r>
              <a:rPr lang="en-US" sz="2000" dirty="0">
                <a:sym typeface="Wingdings" pitchFamily="2" charset="2"/>
              </a:rPr>
              <a:t> (indirect coupling).  In the example above, </a:t>
            </a:r>
            <a:r>
              <a:rPr lang="en-US" sz="2000" dirty="0" err="1">
                <a:sym typeface="Wingdings" pitchFamily="2" charset="2"/>
              </a:rPr>
              <a:t>o.m</a:t>
            </a:r>
            <a:r>
              <a:rPr lang="en-US" sz="2000" dirty="0">
                <a:sym typeface="Wingdings" pitchFamily="2" charset="2"/>
              </a:rPr>
              <a:t>(...) may change the state of o, which influences the behavior of </a:t>
            </a:r>
            <a:r>
              <a:rPr lang="en-US" sz="2000" dirty="0" err="1">
                <a:sym typeface="Wingdings" pitchFamily="2" charset="2"/>
              </a:rPr>
              <a:t>o.k</a:t>
            </a:r>
            <a:r>
              <a:rPr lang="en-US" sz="2000" dirty="0">
                <a:sym typeface="Wingdings" pitchFamily="2" charset="2"/>
              </a:rPr>
              <a:t>(...) that comes after. </a:t>
            </a:r>
          </a:p>
          <a:p>
            <a:pPr algn="just"/>
            <a:r>
              <a:rPr lang="en-US" sz="2000" dirty="0">
                <a:sym typeface="Wingdings" pitchFamily="2" charset="2"/>
              </a:rPr>
              <a:t>You may have tested method interactions when you tested A and B, e.g. via the ADT approach. But if you only independently unit-test the methods, you may not have tested their interactions enough.</a:t>
            </a:r>
          </a:p>
          <a:p>
            <a:pPr algn="just"/>
            <a:r>
              <a:rPr lang="en-US" sz="2000" dirty="0">
                <a:sym typeface="Wingdings" pitchFamily="2" charset="2"/>
              </a:rPr>
              <a:t>Even then, you may not tested possible Yoyo behavior in your unit tests.</a:t>
            </a:r>
          </a:p>
          <a:p>
            <a:pPr marL="0" indent="0" algn="just">
              <a:buNone/>
            </a:pPr>
            <a:endParaRPr lang="en-US" sz="2000" dirty="0">
              <a:sym typeface="Wingdings" pitchFamily="2" charset="2"/>
            </a:endParaRPr>
          </a:p>
          <a:p>
            <a:pPr marL="0" indent="0" algn="just">
              <a:buNone/>
            </a:pPr>
            <a:endParaRPr lang="en-US" sz="2000" dirty="0">
              <a:sym typeface="Wingdings" pitchFamily="2" charset="2"/>
            </a:endParaRPr>
          </a:p>
        </p:txBody>
      </p:sp>
      <p:sp>
        <p:nvSpPr>
          <p:cNvPr id="4" name="Slide Number Placeholder 3"/>
          <p:cNvSpPr>
            <a:spLocks noGrp="1"/>
          </p:cNvSpPr>
          <p:nvPr>
            <p:ph type="sldNum" sz="quarter" idx="12"/>
          </p:nvPr>
        </p:nvSpPr>
        <p:spPr/>
        <p:txBody>
          <a:bodyPr/>
          <a:lstStyle/>
          <a:p>
            <a:pPr>
              <a:defRPr/>
            </a:pPr>
            <a:endParaRPr lang="en-US" dirty="0"/>
          </a:p>
        </p:txBody>
      </p:sp>
      <p:sp>
        <p:nvSpPr>
          <p:cNvPr id="6" name="TextBox 5"/>
          <p:cNvSpPr txBox="1"/>
          <p:nvPr/>
        </p:nvSpPr>
        <p:spPr>
          <a:xfrm>
            <a:off x="427693" y="1521123"/>
            <a:ext cx="4032448" cy="2308324"/>
          </a:xfrm>
          <a:prstGeom prst="rect">
            <a:avLst/>
          </a:prstGeom>
          <a:solidFill>
            <a:schemeClr val="accent5">
              <a:lumMod val="20000"/>
              <a:lumOff val="80000"/>
            </a:schemeClr>
          </a:solidFill>
          <a:ln>
            <a:solidFill>
              <a:schemeClr val="tx1"/>
            </a:solidFill>
          </a:ln>
        </p:spPr>
        <p:txBody>
          <a:bodyPr wrap="square">
            <a:spAutoFit/>
          </a:bodyPr>
          <a:lstStyle/>
          <a:p>
            <a:pPr>
              <a:defRPr/>
            </a:pPr>
            <a:r>
              <a:rPr lang="en-US" sz="2400" b="1" dirty="0">
                <a:latin typeface="+mn-lt"/>
              </a:rPr>
              <a:t>class</a:t>
            </a:r>
            <a:r>
              <a:rPr lang="en-US" sz="2400" dirty="0">
                <a:latin typeface="+mn-lt"/>
              </a:rPr>
              <a:t> E2 {</a:t>
            </a:r>
          </a:p>
          <a:p>
            <a:pPr>
              <a:defRPr/>
            </a:pPr>
            <a:r>
              <a:rPr lang="en-US" sz="2400" dirty="0">
                <a:latin typeface="+mn-lt"/>
              </a:rPr>
              <a:t>   f(x) {   A o = Factory(x ) ;   </a:t>
            </a:r>
            <a:br>
              <a:rPr lang="en-US" sz="2400" dirty="0">
                <a:latin typeface="+mn-lt"/>
              </a:rPr>
            </a:br>
            <a:r>
              <a:rPr lang="en-US" sz="2400" dirty="0">
                <a:latin typeface="+mn-lt"/>
              </a:rPr>
              <a:t>              …  </a:t>
            </a:r>
            <a:endParaRPr lang="en-US" sz="2400" dirty="0">
              <a:solidFill>
                <a:schemeClr val="accent1">
                  <a:lumMod val="60000"/>
                  <a:lumOff val="40000"/>
                </a:schemeClr>
              </a:solidFill>
              <a:latin typeface="+mn-lt"/>
            </a:endParaRPr>
          </a:p>
          <a:p>
            <a:pPr>
              <a:defRPr/>
            </a:pPr>
            <a:r>
              <a:rPr lang="en-US" sz="2400" dirty="0">
                <a:latin typeface="+mn-lt"/>
              </a:rPr>
              <a:t>              y = </a:t>
            </a:r>
            <a:r>
              <a:rPr lang="en-US" sz="2400" dirty="0" err="1">
                <a:latin typeface="+mn-lt"/>
              </a:rPr>
              <a:t>o.m</a:t>
            </a:r>
            <a:r>
              <a:rPr lang="en-US" sz="2400" dirty="0">
                <a:latin typeface="+mn-lt"/>
              </a:rPr>
              <a:t>(...)                         </a:t>
            </a:r>
            <a:endParaRPr lang="en-US" sz="2400" dirty="0">
              <a:solidFill>
                <a:schemeClr val="accent1">
                  <a:lumMod val="60000"/>
                  <a:lumOff val="40000"/>
                </a:schemeClr>
              </a:solidFill>
              <a:latin typeface="+mn-lt"/>
            </a:endParaRPr>
          </a:p>
          <a:p>
            <a:pPr>
              <a:defRPr/>
            </a:pPr>
            <a:r>
              <a:rPr lang="en-US" sz="2400" dirty="0">
                <a:latin typeface="+mn-lt"/>
              </a:rPr>
              <a:t>              ...</a:t>
            </a:r>
          </a:p>
          <a:p>
            <a:pPr>
              <a:defRPr/>
            </a:pPr>
            <a:r>
              <a:rPr lang="en-US" sz="2400" dirty="0">
                <a:latin typeface="+mn-lt"/>
              </a:rPr>
              <a:t>              z = </a:t>
            </a:r>
            <a:r>
              <a:rPr lang="en-US" sz="2400" dirty="0" err="1">
                <a:latin typeface="+mn-lt"/>
              </a:rPr>
              <a:t>o.k</a:t>
            </a:r>
            <a:r>
              <a:rPr lang="en-US" sz="2400" dirty="0">
                <a:latin typeface="+mn-lt"/>
              </a:rPr>
              <a:t>(...)   …}</a:t>
            </a:r>
            <a:endParaRPr lang="en-US" sz="2400" dirty="0">
              <a:solidFill>
                <a:schemeClr val="accent1">
                  <a:lumMod val="60000"/>
                  <a:lumOff val="40000"/>
                </a:schemeClr>
              </a:solidFill>
              <a:latin typeface="+mn-lt"/>
            </a:endParaRPr>
          </a:p>
        </p:txBody>
      </p:sp>
      <p:sp>
        <p:nvSpPr>
          <p:cNvPr id="8" name="TextBox 7">
            <a:extLst>
              <a:ext uri="{FF2B5EF4-FFF2-40B4-BE49-F238E27FC236}">
                <a16:creationId xmlns:a16="http://schemas.microsoft.com/office/drawing/2014/main" id="{9C2921CC-6203-D243-BBEC-90C8C10E534F}"/>
              </a:ext>
            </a:extLst>
          </p:cNvPr>
          <p:cNvSpPr txBox="1"/>
          <p:nvPr/>
        </p:nvSpPr>
        <p:spPr>
          <a:xfrm>
            <a:off x="5539572" y="1483881"/>
            <a:ext cx="1103187" cy="1200329"/>
          </a:xfrm>
          <a:prstGeom prst="rect">
            <a:avLst/>
          </a:prstGeom>
          <a:solidFill>
            <a:schemeClr val="bg1">
              <a:lumMod val="85000"/>
            </a:schemeClr>
          </a:solidFill>
          <a:ln>
            <a:solidFill>
              <a:schemeClr val="tx1"/>
            </a:solidFill>
          </a:ln>
        </p:spPr>
        <p:txBody>
          <a:bodyPr wrap="none">
            <a:spAutoFit/>
          </a:bodyPr>
          <a:lstStyle/>
          <a:p>
            <a:pPr>
              <a:defRPr/>
            </a:pPr>
            <a:r>
              <a:rPr lang="en-US" sz="2400" b="1" dirty="0">
                <a:latin typeface="+mn-lt"/>
              </a:rPr>
              <a:t>class</a:t>
            </a:r>
            <a:r>
              <a:rPr lang="en-US" sz="2400" dirty="0">
                <a:latin typeface="+mn-lt"/>
              </a:rPr>
              <a:t> A </a:t>
            </a:r>
          </a:p>
          <a:p>
            <a:pPr>
              <a:defRPr/>
            </a:pPr>
            <a:r>
              <a:rPr lang="en-US" sz="2400" dirty="0">
                <a:latin typeface="+mn-lt"/>
              </a:rPr>
              <a:t>+ m(...)</a:t>
            </a:r>
          </a:p>
          <a:p>
            <a:pPr>
              <a:defRPr/>
            </a:pPr>
            <a:r>
              <a:rPr lang="en-US" sz="2400" dirty="0">
                <a:latin typeface="+mn-lt"/>
              </a:rPr>
              <a:t>+ k(..)</a:t>
            </a:r>
          </a:p>
        </p:txBody>
      </p:sp>
      <p:sp>
        <p:nvSpPr>
          <p:cNvPr id="9" name="TextBox 8">
            <a:extLst>
              <a:ext uri="{FF2B5EF4-FFF2-40B4-BE49-F238E27FC236}">
                <a16:creationId xmlns:a16="http://schemas.microsoft.com/office/drawing/2014/main" id="{85C97C57-A31E-054B-8ACF-1778A99FC5DD}"/>
              </a:ext>
            </a:extLst>
          </p:cNvPr>
          <p:cNvSpPr txBox="1"/>
          <p:nvPr/>
        </p:nvSpPr>
        <p:spPr>
          <a:xfrm>
            <a:off x="5576637" y="3046769"/>
            <a:ext cx="1103187" cy="830997"/>
          </a:xfrm>
          <a:prstGeom prst="rect">
            <a:avLst/>
          </a:prstGeom>
          <a:solidFill>
            <a:schemeClr val="bg1">
              <a:lumMod val="85000"/>
            </a:schemeClr>
          </a:solidFill>
          <a:ln>
            <a:solidFill>
              <a:schemeClr val="tx1"/>
            </a:solidFill>
          </a:ln>
        </p:spPr>
        <p:txBody>
          <a:bodyPr wrap="none">
            <a:spAutoFit/>
          </a:bodyPr>
          <a:lstStyle/>
          <a:p>
            <a:pPr>
              <a:defRPr/>
            </a:pPr>
            <a:r>
              <a:rPr lang="en-US" sz="2400" b="1" dirty="0">
                <a:latin typeface="+mn-lt"/>
              </a:rPr>
              <a:t>class</a:t>
            </a:r>
            <a:r>
              <a:rPr lang="en-US" sz="2400" dirty="0">
                <a:latin typeface="+mn-lt"/>
              </a:rPr>
              <a:t> B </a:t>
            </a:r>
          </a:p>
          <a:p>
            <a:pPr>
              <a:defRPr/>
            </a:pPr>
            <a:r>
              <a:rPr lang="en-US" sz="2400" dirty="0">
                <a:latin typeface="+mn-lt"/>
              </a:rPr>
              <a:t>+ m(...)</a:t>
            </a:r>
          </a:p>
        </p:txBody>
      </p:sp>
      <p:sp>
        <p:nvSpPr>
          <p:cNvPr id="10" name="Isosceles Triangle 7">
            <a:extLst>
              <a:ext uri="{FF2B5EF4-FFF2-40B4-BE49-F238E27FC236}">
                <a16:creationId xmlns:a16="http://schemas.microsoft.com/office/drawing/2014/main" id="{FF0B83F9-2496-1D49-A39B-177376EE32DB}"/>
              </a:ext>
            </a:extLst>
          </p:cNvPr>
          <p:cNvSpPr/>
          <p:nvPr/>
        </p:nvSpPr>
        <p:spPr>
          <a:xfrm>
            <a:off x="6043299" y="2746366"/>
            <a:ext cx="169863" cy="214313"/>
          </a:xfrm>
          <a:prstGeom prst="triangle">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US"/>
          </a:p>
        </p:txBody>
      </p:sp>
      <p:cxnSp>
        <p:nvCxnSpPr>
          <p:cNvPr id="11" name="Straight Connector 10">
            <a:extLst>
              <a:ext uri="{FF2B5EF4-FFF2-40B4-BE49-F238E27FC236}">
                <a16:creationId xmlns:a16="http://schemas.microsoft.com/office/drawing/2014/main" id="{D940DD6B-2D8A-9D45-A3E5-7E832B4BB404}"/>
              </a:ext>
            </a:extLst>
          </p:cNvPr>
          <p:cNvCxnSpPr>
            <a:cxnSpLocks/>
            <a:stCxn id="9" idx="0"/>
            <a:endCxn id="10" idx="3"/>
          </p:cNvCxnSpPr>
          <p:nvPr/>
        </p:nvCxnSpPr>
        <p:spPr>
          <a:xfrm flipV="1">
            <a:off x="6128231" y="2960679"/>
            <a:ext cx="0" cy="8609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
        <p:nvSpPr>
          <p:cNvPr id="2" name="TextBox 1">
            <a:extLst>
              <a:ext uri="{FF2B5EF4-FFF2-40B4-BE49-F238E27FC236}">
                <a16:creationId xmlns:a16="http://schemas.microsoft.com/office/drawing/2014/main" id="{7034461E-DB0C-D3BF-07B3-171E60C58EEA}"/>
              </a:ext>
            </a:extLst>
          </p:cNvPr>
          <p:cNvSpPr txBox="1"/>
          <p:nvPr/>
        </p:nvSpPr>
        <p:spPr>
          <a:xfrm>
            <a:off x="6840902" y="3003724"/>
            <a:ext cx="1910836" cy="954107"/>
          </a:xfrm>
          <a:prstGeom prst="rect">
            <a:avLst/>
          </a:prstGeom>
          <a:noFill/>
        </p:spPr>
        <p:txBody>
          <a:bodyPr wrap="square" rtlCol="0">
            <a:spAutoFit/>
          </a:bodyPr>
          <a:lstStyle/>
          <a:p>
            <a:r>
              <a:rPr lang="en-NL" sz="1400" dirty="0"/>
              <a:t>subclass B overrides m(), but not k(), leading to possible Yoyo.</a:t>
            </a:r>
          </a:p>
        </p:txBody>
      </p:sp>
    </p:spTree>
    <p:extLst>
      <p:ext uri="{BB962C8B-B14F-4D97-AF65-F5344CB8AC3E}">
        <p14:creationId xmlns:p14="http://schemas.microsoft.com/office/powerpoint/2010/main" val="272014429"/>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91F3FCA-648D-9543-2980-1CE0DB7C1C6D}"/>
              </a:ext>
            </a:extLst>
          </p:cNvPr>
          <p:cNvSpPr>
            <a:spLocks noGrp="1"/>
          </p:cNvSpPr>
          <p:nvPr>
            <p:ph type="title"/>
          </p:nvPr>
        </p:nvSpPr>
        <p:spPr/>
        <p:txBody>
          <a:bodyPr/>
          <a:lstStyle/>
          <a:p>
            <a:r>
              <a:rPr lang="en-NL" sz="4000" dirty="0"/>
              <a:t>Testing Direct and Indirect Coupling</a:t>
            </a:r>
          </a:p>
        </p:txBody>
      </p:sp>
      <p:sp>
        <p:nvSpPr>
          <p:cNvPr id="4" name="Slide Number Placeholder 3">
            <a:extLst>
              <a:ext uri="{FF2B5EF4-FFF2-40B4-BE49-F238E27FC236}">
                <a16:creationId xmlns:a16="http://schemas.microsoft.com/office/drawing/2014/main" id="{D3D89580-BBC2-225D-E931-BA9AFF16FD0E}"/>
              </a:ext>
            </a:extLst>
          </p:cNvPr>
          <p:cNvSpPr>
            <a:spLocks noGrp="1"/>
          </p:cNvSpPr>
          <p:nvPr>
            <p:ph type="sldNum" sz="quarter" idx="12"/>
          </p:nvPr>
        </p:nvSpPr>
        <p:spPr>
          <a:xfrm>
            <a:off x="6440108" y="6736283"/>
            <a:ext cx="2133600" cy="365125"/>
          </a:xfrm>
        </p:spPr>
        <p:txBody>
          <a:bodyPr/>
          <a:lstStyle/>
          <a:p>
            <a:pPr>
              <a:defRPr/>
            </a:pPr>
            <a:fld id="{F51486F7-ACCF-4DB7-BBF3-9BC4B709FB28}" type="slidenum">
              <a:rPr lang="en-US" smtClean="0"/>
              <a:pPr>
                <a:defRPr/>
              </a:pPr>
              <a:t>33</a:t>
            </a:fld>
            <a:endParaRPr lang="en-US"/>
          </a:p>
        </p:txBody>
      </p:sp>
      <p:sp>
        <p:nvSpPr>
          <p:cNvPr id="6" name="Rounded Rectangle 5">
            <a:extLst>
              <a:ext uri="{FF2B5EF4-FFF2-40B4-BE49-F238E27FC236}">
                <a16:creationId xmlns:a16="http://schemas.microsoft.com/office/drawing/2014/main" id="{A5556B07-4F08-1994-AF89-A7E883097183}"/>
              </a:ext>
            </a:extLst>
          </p:cNvPr>
          <p:cNvSpPr/>
          <p:nvPr/>
        </p:nvSpPr>
        <p:spPr>
          <a:xfrm>
            <a:off x="580352" y="2025454"/>
            <a:ext cx="3355291" cy="1085291"/>
          </a:xfrm>
          <a:prstGeom prst="roundRect">
            <a:avLst/>
          </a:prstGeom>
          <a:solidFill>
            <a:schemeClr val="accent5">
              <a:lumMod val="20000"/>
              <a:lumOff val="80000"/>
              <a:alpha val="25000"/>
            </a:schemeClr>
          </a:solidFill>
          <a:ln>
            <a:solidFill>
              <a:schemeClr val="accent5">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600"/>
          </a:p>
        </p:txBody>
      </p:sp>
      <p:sp>
        <p:nvSpPr>
          <p:cNvPr id="7" name="TextBox 6">
            <a:extLst>
              <a:ext uri="{FF2B5EF4-FFF2-40B4-BE49-F238E27FC236}">
                <a16:creationId xmlns:a16="http://schemas.microsoft.com/office/drawing/2014/main" id="{8C240F83-51CF-C939-6DED-C9A94ABB597D}"/>
              </a:ext>
            </a:extLst>
          </p:cNvPr>
          <p:cNvSpPr txBox="1"/>
          <p:nvPr/>
        </p:nvSpPr>
        <p:spPr>
          <a:xfrm>
            <a:off x="1055323" y="2499317"/>
            <a:ext cx="2605200" cy="400110"/>
          </a:xfrm>
          <a:prstGeom prst="rect">
            <a:avLst/>
          </a:prstGeom>
          <a:solidFill>
            <a:schemeClr val="accent1">
              <a:lumMod val="20000"/>
              <a:lumOff val="80000"/>
            </a:schemeClr>
          </a:solidFill>
          <a:ln>
            <a:solidFill>
              <a:schemeClr val="tx1"/>
            </a:solidFill>
          </a:ln>
        </p:spPr>
        <p:txBody>
          <a:bodyPr wrap="none">
            <a:spAutoFit/>
          </a:bodyPr>
          <a:lstStyle/>
          <a:p>
            <a:pPr>
              <a:defRPr/>
            </a:pPr>
            <a:r>
              <a:rPr lang="en-US" sz="2000" dirty="0">
                <a:latin typeface="+mn-lt"/>
              </a:rPr>
              <a:t>f (x)  {   ...  m(e) ...         }</a:t>
            </a:r>
          </a:p>
        </p:txBody>
      </p:sp>
      <p:sp>
        <p:nvSpPr>
          <p:cNvPr id="8" name="TextBox 7">
            <a:extLst>
              <a:ext uri="{FF2B5EF4-FFF2-40B4-BE49-F238E27FC236}">
                <a16:creationId xmlns:a16="http://schemas.microsoft.com/office/drawing/2014/main" id="{B1D9EDE5-8ECC-223B-F422-8F07F9696EAE}"/>
              </a:ext>
            </a:extLst>
          </p:cNvPr>
          <p:cNvSpPr txBox="1"/>
          <p:nvPr/>
        </p:nvSpPr>
        <p:spPr>
          <a:xfrm>
            <a:off x="5026312" y="2524930"/>
            <a:ext cx="1188146" cy="400110"/>
          </a:xfrm>
          <a:prstGeom prst="rect">
            <a:avLst/>
          </a:prstGeom>
          <a:solidFill>
            <a:schemeClr val="accent5">
              <a:lumMod val="20000"/>
              <a:lumOff val="80000"/>
            </a:schemeClr>
          </a:solidFill>
          <a:ln>
            <a:solidFill>
              <a:schemeClr val="tx1"/>
            </a:solidFill>
          </a:ln>
        </p:spPr>
        <p:txBody>
          <a:bodyPr wrap="none">
            <a:spAutoFit/>
          </a:bodyPr>
          <a:lstStyle/>
          <a:p>
            <a:pPr>
              <a:defRPr/>
            </a:pPr>
            <a:r>
              <a:rPr lang="en-US" sz="2000" dirty="0">
                <a:latin typeface="+mn-lt"/>
              </a:rPr>
              <a:t>m(y) { ... }</a:t>
            </a:r>
          </a:p>
        </p:txBody>
      </p:sp>
      <p:cxnSp>
        <p:nvCxnSpPr>
          <p:cNvPr id="9" name="Curved Connector 8">
            <a:extLst>
              <a:ext uri="{FF2B5EF4-FFF2-40B4-BE49-F238E27FC236}">
                <a16:creationId xmlns:a16="http://schemas.microsoft.com/office/drawing/2014/main" id="{73110BD1-87BF-94C0-677B-58E094DD898B}"/>
              </a:ext>
            </a:extLst>
          </p:cNvPr>
          <p:cNvCxnSpPr>
            <a:cxnSpLocks/>
            <a:stCxn id="7" idx="3"/>
            <a:endCxn id="8" idx="1"/>
          </p:cNvCxnSpPr>
          <p:nvPr/>
        </p:nvCxnSpPr>
        <p:spPr>
          <a:xfrm>
            <a:off x="3660523" y="2699372"/>
            <a:ext cx="1365789" cy="25613"/>
          </a:xfrm>
          <a:prstGeom prst="curvedConnector3">
            <a:avLst>
              <a:gd name="adj1" fmla="val 50000"/>
            </a:avLst>
          </a:prstGeom>
          <a:ln>
            <a:prstDash val="dash"/>
            <a:headEnd type="arrow" w="med" len="med"/>
            <a:tailEnd type="arrow" w="med" len="med"/>
          </a:ln>
        </p:spPr>
        <p:style>
          <a:lnRef idx="1">
            <a:schemeClr val="accent1"/>
          </a:lnRef>
          <a:fillRef idx="0">
            <a:schemeClr val="accent1"/>
          </a:fillRef>
          <a:effectRef idx="0">
            <a:schemeClr val="accent1"/>
          </a:effectRef>
          <a:fontRef idx="minor">
            <a:schemeClr val="tx1"/>
          </a:fontRef>
        </p:style>
      </p:cxnSp>
      <p:sp>
        <p:nvSpPr>
          <p:cNvPr id="10" name="TextBox 9">
            <a:extLst>
              <a:ext uri="{FF2B5EF4-FFF2-40B4-BE49-F238E27FC236}">
                <a16:creationId xmlns:a16="http://schemas.microsoft.com/office/drawing/2014/main" id="{53AC9A96-7027-4DEF-DDEF-E1986CBEE464}"/>
              </a:ext>
            </a:extLst>
          </p:cNvPr>
          <p:cNvSpPr txBox="1"/>
          <p:nvPr/>
        </p:nvSpPr>
        <p:spPr>
          <a:xfrm>
            <a:off x="4440254" y="2020414"/>
            <a:ext cx="1027845" cy="461665"/>
          </a:xfrm>
          <a:prstGeom prst="rect">
            <a:avLst/>
          </a:prstGeom>
          <a:noFill/>
        </p:spPr>
        <p:txBody>
          <a:bodyPr wrap="none">
            <a:spAutoFit/>
          </a:bodyPr>
          <a:lstStyle/>
          <a:p>
            <a:pPr>
              <a:defRPr/>
            </a:pPr>
            <a:r>
              <a:rPr lang="en-US" sz="2400" dirty="0">
                <a:latin typeface="+mn-lt"/>
              </a:rPr>
              <a:t>class </a:t>
            </a:r>
            <a:r>
              <a:rPr lang="en-US" sz="2400" b="1" dirty="0">
                <a:latin typeface="+mn-lt"/>
              </a:rPr>
              <a:t>A</a:t>
            </a:r>
          </a:p>
        </p:txBody>
      </p:sp>
      <p:sp>
        <p:nvSpPr>
          <p:cNvPr id="11" name="TextBox 10">
            <a:extLst>
              <a:ext uri="{FF2B5EF4-FFF2-40B4-BE49-F238E27FC236}">
                <a16:creationId xmlns:a16="http://schemas.microsoft.com/office/drawing/2014/main" id="{0B53E7B5-9DEC-C82E-0D25-8CDD6A163BF6}"/>
              </a:ext>
            </a:extLst>
          </p:cNvPr>
          <p:cNvSpPr txBox="1"/>
          <p:nvPr/>
        </p:nvSpPr>
        <p:spPr>
          <a:xfrm>
            <a:off x="663531" y="2025454"/>
            <a:ext cx="992579" cy="461665"/>
          </a:xfrm>
          <a:prstGeom prst="rect">
            <a:avLst/>
          </a:prstGeom>
          <a:noFill/>
        </p:spPr>
        <p:txBody>
          <a:bodyPr wrap="none">
            <a:spAutoFit/>
          </a:bodyPr>
          <a:lstStyle/>
          <a:p>
            <a:pPr>
              <a:defRPr/>
            </a:pPr>
            <a:r>
              <a:rPr lang="en-US" sz="2400" dirty="0">
                <a:latin typeface="+mn-lt"/>
              </a:rPr>
              <a:t>class</a:t>
            </a:r>
            <a:r>
              <a:rPr lang="en-US" sz="2400" b="1" dirty="0">
                <a:latin typeface="+mn-lt"/>
              </a:rPr>
              <a:t> E</a:t>
            </a:r>
          </a:p>
        </p:txBody>
      </p:sp>
      <p:sp>
        <p:nvSpPr>
          <p:cNvPr id="12" name="Rounded Rectangle 11">
            <a:extLst>
              <a:ext uri="{FF2B5EF4-FFF2-40B4-BE49-F238E27FC236}">
                <a16:creationId xmlns:a16="http://schemas.microsoft.com/office/drawing/2014/main" id="{C88CC6C7-6153-4DDB-596C-E3E9EE2BAC9A}"/>
              </a:ext>
            </a:extLst>
          </p:cNvPr>
          <p:cNvSpPr/>
          <p:nvPr/>
        </p:nvSpPr>
        <p:spPr>
          <a:xfrm>
            <a:off x="4440255" y="1996751"/>
            <a:ext cx="1944215" cy="1108794"/>
          </a:xfrm>
          <a:prstGeom prst="roundRect">
            <a:avLst/>
          </a:prstGeom>
          <a:solidFill>
            <a:schemeClr val="accent5">
              <a:lumMod val="20000"/>
              <a:lumOff val="80000"/>
              <a:alpha val="25000"/>
            </a:schemeClr>
          </a:solidFill>
          <a:ln>
            <a:solidFill>
              <a:schemeClr val="accent5">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600" dirty="0"/>
          </a:p>
        </p:txBody>
      </p:sp>
      <p:sp>
        <p:nvSpPr>
          <p:cNvPr id="15" name="TextBox 14">
            <a:extLst>
              <a:ext uri="{FF2B5EF4-FFF2-40B4-BE49-F238E27FC236}">
                <a16:creationId xmlns:a16="http://schemas.microsoft.com/office/drawing/2014/main" id="{EB46A626-8FD9-EC55-C29F-B9FC50F6542C}"/>
              </a:ext>
            </a:extLst>
          </p:cNvPr>
          <p:cNvSpPr txBox="1"/>
          <p:nvPr/>
        </p:nvSpPr>
        <p:spPr>
          <a:xfrm>
            <a:off x="7323038" y="2611631"/>
            <a:ext cx="1188146" cy="400110"/>
          </a:xfrm>
          <a:prstGeom prst="rect">
            <a:avLst/>
          </a:prstGeom>
          <a:solidFill>
            <a:schemeClr val="accent5">
              <a:lumMod val="20000"/>
              <a:lumOff val="80000"/>
            </a:schemeClr>
          </a:solidFill>
          <a:ln>
            <a:solidFill>
              <a:schemeClr val="tx1"/>
            </a:solidFill>
          </a:ln>
        </p:spPr>
        <p:txBody>
          <a:bodyPr wrap="none">
            <a:spAutoFit/>
          </a:bodyPr>
          <a:lstStyle/>
          <a:p>
            <a:pPr>
              <a:defRPr/>
            </a:pPr>
            <a:r>
              <a:rPr lang="en-US" sz="2000" dirty="0">
                <a:latin typeface="+mn-lt"/>
              </a:rPr>
              <a:t>m(y) { ... }</a:t>
            </a:r>
          </a:p>
        </p:txBody>
      </p:sp>
      <p:sp>
        <p:nvSpPr>
          <p:cNvPr id="16" name="TextBox 15">
            <a:extLst>
              <a:ext uri="{FF2B5EF4-FFF2-40B4-BE49-F238E27FC236}">
                <a16:creationId xmlns:a16="http://schemas.microsoft.com/office/drawing/2014/main" id="{44DF36A2-6C7A-FE04-93EE-08052C6E0E89}"/>
              </a:ext>
            </a:extLst>
          </p:cNvPr>
          <p:cNvSpPr txBox="1"/>
          <p:nvPr/>
        </p:nvSpPr>
        <p:spPr>
          <a:xfrm>
            <a:off x="6736980" y="2104162"/>
            <a:ext cx="1015021" cy="461665"/>
          </a:xfrm>
          <a:prstGeom prst="rect">
            <a:avLst/>
          </a:prstGeom>
          <a:noFill/>
        </p:spPr>
        <p:txBody>
          <a:bodyPr wrap="none">
            <a:spAutoFit/>
          </a:bodyPr>
          <a:lstStyle/>
          <a:p>
            <a:pPr>
              <a:defRPr/>
            </a:pPr>
            <a:r>
              <a:rPr lang="en-US" sz="2400" dirty="0">
                <a:latin typeface="+mn-lt"/>
              </a:rPr>
              <a:t>class </a:t>
            </a:r>
            <a:r>
              <a:rPr lang="en-US" sz="2400" b="1" dirty="0">
                <a:latin typeface="+mn-lt"/>
              </a:rPr>
              <a:t>B</a:t>
            </a:r>
          </a:p>
        </p:txBody>
      </p:sp>
      <p:sp>
        <p:nvSpPr>
          <p:cNvPr id="17" name="Rounded Rectangle 16">
            <a:extLst>
              <a:ext uri="{FF2B5EF4-FFF2-40B4-BE49-F238E27FC236}">
                <a16:creationId xmlns:a16="http://schemas.microsoft.com/office/drawing/2014/main" id="{E252CCC8-6145-5288-82C4-1D86DD0CD479}"/>
              </a:ext>
            </a:extLst>
          </p:cNvPr>
          <p:cNvSpPr/>
          <p:nvPr/>
        </p:nvSpPr>
        <p:spPr>
          <a:xfrm>
            <a:off x="6791949" y="2104162"/>
            <a:ext cx="1851919" cy="1108795"/>
          </a:xfrm>
          <a:prstGeom prst="roundRect">
            <a:avLst/>
          </a:prstGeom>
          <a:solidFill>
            <a:schemeClr val="accent5">
              <a:lumMod val="20000"/>
              <a:lumOff val="80000"/>
              <a:alpha val="25000"/>
            </a:schemeClr>
          </a:solidFill>
          <a:ln>
            <a:solidFill>
              <a:schemeClr val="accent5">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600" dirty="0"/>
          </a:p>
        </p:txBody>
      </p:sp>
      <p:sp>
        <p:nvSpPr>
          <p:cNvPr id="20" name="Isosceles Triangle 7">
            <a:extLst>
              <a:ext uri="{FF2B5EF4-FFF2-40B4-BE49-F238E27FC236}">
                <a16:creationId xmlns:a16="http://schemas.microsoft.com/office/drawing/2014/main" id="{911884A9-6E14-55D7-EA14-D72C34FA5B0E}"/>
              </a:ext>
            </a:extLst>
          </p:cNvPr>
          <p:cNvSpPr/>
          <p:nvPr/>
        </p:nvSpPr>
        <p:spPr>
          <a:xfrm rot="16200000">
            <a:off x="6432006" y="2555583"/>
            <a:ext cx="169863" cy="214313"/>
          </a:xfrm>
          <a:prstGeom prst="triangle">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US"/>
          </a:p>
        </p:txBody>
      </p:sp>
      <p:cxnSp>
        <p:nvCxnSpPr>
          <p:cNvPr id="21" name="Straight Connector 20">
            <a:extLst>
              <a:ext uri="{FF2B5EF4-FFF2-40B4-BE49-F238E27FC236}">
                <a16:creationId xmlns:a16="http://schemas.microsoft.com/office/drawing/2014/main" id="{39D6F376-3D33-BB7D-D164-21B3E59A553B}"/>
              </a:ext>
            </a:extLst>
          </p:cNvPr>
          <p:cNvCxnSpPr>
            <a:cxnSpLocks/>
            <a:stCxn id="20" idx="3"/>
            <a:endCxn id="17" idx="1"/>
          </p:cNvCxnSpPr>
          <p:nvPr/>
        </p:nvCxnSpPr>
        <p:spPr>
          <a:xfrm flipV="1">
            <a:off x="6624094" y="2658560"/>
            <a:ext cx="167855" cy="4179"/>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6" name="Curved Connector 25">
            <a:extLst>
              <a:ext uri="{FF2B5EF4-FFF2-40B4-BE49-F238E27FC236}">
                <a16:creationId xmlns:a16="http://schemas.microsoft.com/office/drawing/2014/main" id="{7E28EF49-A49C-DC5E-6D22-E45B9CB13A1A}"/>
              </a:ext>
            </a:extLst>
          </p:cNvPr>
          <p:cNvCxnSpPr>
            <a:cxnSpLocks/>
            <a:stCxn id="7" idx="3"/>
            <a:endCxn id="15" idx="2"/>
          </p:cNvCxnSpPr>
          <p:nvPr/>
        </p:nvCxnSpPr>
        <p:spPr>
          <a:xfrm>
            <a:off x="3660523" y="2699372"/>
            <a:ext cx="4256588" cy="312369"/>
          </a:xfrm>
          <a:prstGeom prst="curvedConnector4">
            <a:avLst>
              <a:gd name="adj1" fmla="val 8693"/>
              <a:gd name="adj2" fmla="val 173183"/>
            </a:avLst>
          </a:prstGeom>
          <a:ln>
            <a:prstDash val="dash"/>
            <a:tailEnd type="arrow"/>
          </a:ln>
        </p:spPr>
        <p:style>
          <a:lnRef idx="1">
            <a:schemeClr val="accent1"/>
          </a:lnRef>
          <a:fillRef idx="0">
            <a:schemeClr val="accent1"/>
          </a:fillRef>
          <a:effectRef idx="0">
            <a:schemeClr val="accent1"/>
          </a:effectRef>
          <a:fontRef idx="minor">
            <a:schemeClr val="tx1"/>
          </a:fontRef>
        </p:style>
      </p:cxnSp>
      <p:sp>
        <p:nvSpPr>
          <p:cNvPr id="34" name="Rounded Rectangle 33">
            <a:extLst>
              <a:ext uri="{FF2B5EF4-FFF2-40B4-BE49-F238E27FC236}">
                <a16:creationId xmlns:a16="http://schemas.microsoft.com/office/drawing/2014/main" id="{C6619C8D-BC61-1D4F-DDCE-92757B0CEA2D}"/>
              </a:ext>
            </a:extLst>
          </p:cNvPr>
          <p:cNvSpPr/>
          <p:nvPr/>
        </p:nvSpPr>
        <p:spPr>
          <a:xfrm>
            <a:off x="629705" y="4409723"/>
            <a:ext cx="3355291" cy="1085291"/>
          </a:xfrm>
          <a:prstGeom prst="roundRect">
            <a:avLst/>
          </a:prstGeom>
          <a:solidFill>
            <a:schemeClr val="accent5">
              <a:lumMod val="20000"/>
              <a:lumOff val="80000"/>
              <a:alpha val="25000"/>
            </a:schemeClr>
          </a:solidFill>
          <a:ln>
            <a:solidFill>
              <a:schemeClr val="accent5">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600"/>
          </a:p>
        </p:txBody>
      </p:sp>
      <p:sp>
        <p:nvSpPr>
          <p:cNvPr id="35" name="TextBox 34">
            <a:extLst>
              <a:ext uri="{FF2B5EF4-FFF2-40B4-BE49-F238E27FC236}">
                <a16:creationId xmlns:a16="http://schemas.microsoft.com/office/drawing/2014/main" id="{2BE0BB0A-A6AB-0045-A866-DB0A6D143204}"/>
              </a:ext>
            </a:extLst>
          </p:cNvPr>
          <p:cNvSpPr txBox="1"/>
          <p:nvPr/>
        </p:nvSpPr>
        <p:spPr>
          <a:xfrm>
            <a:off x="1104676" y="4883586"/>
            <a:ext cx="2860078" cy="400110"/>
          </a:xfrm>
          <a:prstGeom prst="rect">
            <a:avLst/>
          </a:prstGeom>
          <a:solidFill>
            <a:schemeClr val="accent1">
              <a:lumMod val="20000"/>
              <a:lumOff val="80000"/>
            </a:schemeClr>
          </a:solidFill>
          <a:ln>
            <a:solidFill>
              <a:schemeClr val="tx1"/>
            </a:solidFill>
          </a:ln>
        </p:spPr>
        <p:txBody>
          <a:bodyPr wrap="none">
            <a:spAutoFit/>
          </a:bodyPr>
          <a:lstStyle/>
          <a:p>
            <a:pPr>
              <a:defRPr/>
            </a:pPr>
            <a:r>
              <a:rPr lang="en-US" sz="2000" dirty="0">
                <a:latin typeface="+mn-lt"/>
              </a:rPr>
              <a:t>f (x)  {   ...  m(e) ... k(e’)... }</a:t>
            </a:r>
          </a:p>
        </p:txBody>
      </p:sp>
      <p:sp>
        <p:nvSpPr>
          <p:cNvPr id="36" name="TextBox 35">
            <a:extLst>
              <a:ext uri="{FF2B5EF4-FFF2-40B4-BE49-F238E27FC236}">
                <a16:creationId xmlns:a16="http://schemas.microsoft.com/office/drawing/2014/main" id="{30071BD8-DAD5-F53E-B8DE-ABAA783ECB40}"/>
              </a:ext>
            </a:extLst>
          </p:cNvPr>
          <p:cNvSpPr txBox="1"/>
          <p:nvPr/>
        </p:nvSpPr>
        <p:spPr>
          <a:xfrm>
            <a:off x="5075665" y="4909199"/>
            <a:ext cx="1188146" cy="1015663"/>
          </a:xfrm>
          <a:prstGeom prst="rect">
            <a:avLst/>
          </a:prstGeom>
          <a:solidFill>
            <a:schemeClr val="accent5">
              <a:lumMod val="20000"/>
              <a:lumOff val="80000"/>
            </a:schemeClr>
          </a:solidFill>
          <a:ln>
            <a:solidFill>
              <a:schemeClr val="tx1"/>
            </a:solidFill>
          </a:ln>
        </p:spPr>
        <p:txBody>
          <a:bodyPr wrap="none">
            <a:spAutoFit/>
          </a:bodyPr>
          <a:lstStyle/>
          <a:p>
            <a:pPr>
              <a:defRPr/>
            </a:pPr>
            <a:r>
              <a:rPr lang="en-US" sz="2000" dirty="0">
                <a:latin typeface="+mn-lt"/>
              </a:rPr>
              <a:t>m(y) { ... }</a:t>
            </a:r>
          </a:p>
          <a:p>
            <a:pPr>
              <a:defRPr/>
            </a:pPr>
            <a:endParaRPr lang="en-US" sz="2000" dirty="0">
              <a:latin typeface="+mn-lt"/>
            </a:endParaRPr>
          </a:p>
          <a:p>
            <a:pPr>
              <a:defRPr/>
            </a:pPr>
            <a:r>
              <a:rPr lang="en-US" sz="2000" dirty="0">
                <a:latin typeface="+mn-lt"/>
              </a:rPr>
              <a:t>k(z) { ...}</a:t>
            </a:r>
          </a:p>
        </p:txBody>
      </p:sp>
      <p:sp>
        <p:nvSpPr>
          <p:cNvPr id="38" name="TextBox 37">
            <a:extLst>
              <a:ext uri="{FF2B5EF4-FFF2-40B4-BE49-F238E27FC236}">
                <a16:creationId xmlns:a16="http://schemas.microsoft.com/office/drawing/2014/main" id="{F9741079-AD39-C61B-F953-DD18EFF0AE5A}"/>
              </a:ext>
            </a:extLst>
          </p:cNvPr>
          <p:cNvSpPr txBox="1"/>
          <p:nvPr/>
        </p:nvSpPr>
        <p:spPr>
          <a:xfrm>
            <a:off x="4489607" y="4404683"/>
            <a:ext cx="1027845" cy="461665"/>
          </a:xfrm>
          <a:prstGeom prst="rect">
            <a:avLst/>
          </a:prstGeom>
          <a:noFill/>
        </p:spPr>
        <p:txBody>
          <a:bodyPr wrap="none">
            <a:spAutoFit/>
          </a:bodyPr>
          <a:lstStyle/>
          <a:p>
            <a:pPr>
              <a:defRPr/>
            </a:pPr>
            <a:r>
              <a:rPr lang="en-US" sz="2400" dirty="0">
                <a:latin typeface="+mn-lt"/>
              </a:rPr>
              <a:t>class </a:t>
            </a:r>
            <a:r>
              <a:rPr lang="en-US" sz="2400" b="1" dirty="0">
                <a:latin typeface="+mn-lt"/>
              </a:rPr>
              <a:t>A</a:t>
            </a:r>
          </a:p>
        </p:txBody>
      </p:sp>
      <p:sp>
        <p:nvSpPr>
          <p:cNvPr id="39" name="TextBox 38">
            <a:extLst>
              <a:ext uri="{FF2B5EF4-FFF2-40B4-BE49-F238E27FC236}">
                <a16:creationId xmlns:a16="http://schemas.microsoft.com/office/drawing/2014/main" id="{3A4BB950-A044-2D66-E21F-84D717FA08C1}"/>
              </a:ext>
            </a:extLst>
          </p:cNvPr>
          <p:cNvSpPr txBox="1"/>
          <p:nvPr/>
        </p:nvSpPr>
        <p:spPr>
          <a:xfrm>
            <a:off x="712884" y="4409723"/>
            <a:ext cx="1148071" cy="461665"/>
          </a:xfrm>
          <a:prstGeom prst="rect">
            <a:avLst/>
          </a:prstGeom>
          <a:noFill/>
        </p:spPr>
        <p:txBody>
          <a:bodyPr wrap="none">
            <a:spAutoFit/>
          </a:bodyPr>
          <a:lstStyle/>
          <a:p>
            <a:pPr>
              <a:defRPr/>
            </a:pPr>
            <a:r>
              <a:rPr lang="en-US" sz="2400" dirty="0">
                <a:latin typeface="+mn-lt"/>
              </a:rPr>
              <a:t>class</a:t>
            </a:r>
            <a:r>
              <a:rPr lang="en-US" sz="2400" b="1" dirty="0">
                <a:latin typeface="+mn-lt"/>
              </a:rPr>
              <a:t> E2</a:t>
            </a:r>
          </a:p>
        </p:txBody>
      </p:sp>
      <p:sp>
        <p:nvSpPr>
          <p:cNvPr id="40" name="Rounded Rectangle 39">
            <a:extLst>
              <a:ext uri="{FF2B5EF4-FFF2-40B4-BE49-F238E27FC236}">
                <a16:creationId xmlns:a16="http://schemas.microsoft.com/office/drawing/2014/main" id="{20CD4DCB-D44B-6640-DB4E-F019C08DCEBD}"/>
              </a:ext>
            </a:extLst>
          </p:cNvPr>
          <p:cNvSpPr/>
          <p:nvPr/>
        </p:nvSpPr>
        <p:spPr>
          <a:xfrm>
            <a:off x="4484775" y="4360469"/>
            <a:ext cx="1944215" cy="1752719"/>
          </a:xfrm>
          <a:prstGeom prst="roundRect">
            <a:avLst/>
          </a:prstGeom>
          <a:solidFill>
            <a:schemeClr val="accent5">
              <a:lumMod val="20000"/>
              <a:lumOff val="80000"/>
              <a:alpha val="25000"/>
            </a:schemeClr>
          </a:solidFill>
          <a:ln>
            <a:solidFill>
              <a:schemeClr val="accent5">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600" dirty="0"/>
          </a:p>
        </p:txBody>
      </p:sp>
      <p:sp>
        <p:nvSpPr>
          <p:cNvPr id="41" name="TextBox 40">
            <a:extLst>
              <a:ext uri="{FF2B5EF4-FFF2-40B4-BE49-F238E27FC236}">
                <a16:creationId xmlns:a16="http://schemas.microsoft.com/office/drawing/2014/main" id="{10C75D4D-1E6D-9576-C68A-3788C3FFD1C4}"/>
              </a:ext>
            </a:extLst>
          </p:cNvPr>
          <p:cNvSpPr txBox="1"/>
          <p:nvPr/>
        </p:nvSpPr>
        <p:spPr>
          <a:xfrm>
            <a:off x="7372391" y="4995900"/>
            <a:ext cx="1188146" cy="707886"/>
          </a:xfrm>
          <a:prstGeom prst="rect">
            <a:avLst/>
          </a:prstGeom>
          <a:solidFill>
            <a:schemeClr val="accent5">
              <a:lumMod val="20000"/>
              <a:lumOff val="80000"/>
            </a:schemeClr>
          </a:solidFill>
          <a:ln>
            <a:solidFill>
              <a:schemeClr val="tx1"/>
            </a:solidFill>
          </a:ln>
        </p:spPr>
        <p:txBody>
          <a:bodyPr wrap="none">
            <a:spAutoFit/>
          </a:bodyPr>
          <a:lstStyle/>
          <a:p>
            <a:pPr>
              <a:defRPr/>
            </a:pPr>
            <a:r>
              <a:rPr lang="en-US" sz="2000" dirty="0">
                <a:latin typeface="+mn-lt"/>
              </a:rPr>
              <a:t>m(y) { ... }</a:t>
            </a:r>
          </a:p>
          <a:p>
            <a:pPr>
              <a:defRPr/>
            </a:pPr>
            <a:endParaRPr lang="en-US" sz="2000" dirty="0">
              <a:latin typeface="+mn-lt"/>
            </a:endParaRPr>
          </a:p>
        </p:txBody>
      </p:sp>
      <p:sp>
        <p:nvSpPr>
          <p:cNvPr id="42" name="TextBox 41">
            <a:extLst>
              <a:ext uri="{FF2B5EF4-FFF2-40B4-BE49-F238E27FC236}">
                <a16:creationId xmlns:a16="http://schemas.microsoft.com/office/drawing/2014/main" id="{B483D2FF-A5A1-3883-7AAB-3431706AD809}"/>
              </a:ext>
            </a:extLst>
          </p:cNvPr>
          <p:cNvSpPr txBox="1"/>
          <p:nvPr/>
        </p:nvSpPr>
        <p:spPr>
          <a:xfrm>
            <a:off x="6786333" y="4488431"/>
            <a:ext cx="1015021" cy="461665"/>
          </a:xfrm>
          <a:prstGeom prst="rect">
            <a:avLst/>
          </a:prstGeom>
          <a:noFill/>
        </p:spPr>
        <p:txBody>
          <a:bodyPr wrap="none">
            <a:spAutoFit/>
          </a:bodyPr>
          <a:lstStyle/>
          <a:p>
            <a:pPr>
              <a:defRPr/>
            </a:pPr>
            <a:r>
              <a:rPr lang="en-US" sz="2400" dirty="0">
                <a:latin typeface="+mn-lt"/>
              </a:rPr>
              <a:t>class </a:t>
            </a:r>
            <a:r>
              <a:rPr lang="en-US" sz="2400" b="1" dirty="0">
                <a:latin typeface="+mn-lt"/>
              </a:rPr>
              <a:t>B</a:t>
            </a:r>
          </a:p>
        </p:txBody>
      </p:sp>
      <p:sp>
        <p:nvSpPr>
          <p:cNvPr id="43" name="Rounded Rectangle 42">
            <a:extLst>
              <a:ext uri="{FF2B5EF4-FFF2-40B4-BE49-F238E27FC236}">
                <a16:creationId xmlns:a16="http://schemas.microsoft.com/office/drawing/2014/main" id="{95667B00-0C33-FA2E-9F90-D41499E2867C}"/>
              </a:ext>
            </a:extLst>
          </p:cNvPr>
          <p:cNvSpPr/>
          <p:nvPr/>
        </p:nvSpPr>
        <p:spPr>
          <a:xfrm>
            <a:off x="6845250" y="4360469"/>
            <a:ext cx="1851919" cy="1752719"/>
          </a:xfrm>
          <a:prstGeom prst="roundRect">
            <a:avLst/>
          </a:prstGeom>
          <a:solidFill>
            <a:schemeClr val="accent5">
              <a:lumMod val="20000"/>
              <a:lumOff val="80000"/>
              <a:alpha val="25000"/>
            </a:schemeClr>
          </a:solidFill>
          <a:ln>
            <a:solidFill>
              <a:schemeClr val="accent5">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600" dirty="0"/>
          </a:p>
        </p:txBody>
      </p:sp>
      <p:sp>
        <p:nvSpPr>
          <p:cNvPr id="44" name="Isosceles Triangle 7">
            <a:extLst>
              <a:ext uri="{FF2B5EF4-FFF2-40B4-BE49-F238E27FC236}">
                <a16:creationId xmlns:a16="http://schemas.microsoft.com/office/drawing/2014/main" id="{150A1A42-814A-D1EA-D6DC-60F424455DF5}"/>
              </a:ext>
            </a:extLst>
          </p:cNvPr>
          <p:cNvSpPr/>
          <p:nvPr/>
        </p:nvSpPr>
        <p:spPr>
          <a:xfrm rot="16200000">
            <a:off x="6469098" y="5116527"/>
            <a:ext cx="169863" cy="214313"/>
          </a:xfrm>
          <a:prstGeom prst="triangle">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US"/>
          </a:p>
        </p:txBody>
      </p:sp>
      <p:cxnSp>
        <p:nvCxnSpPr>
          <p:cNvPr id="45" name="Straight Connector 44">
            <a:extLst>
              <a:ext uri="{FF2B5EF4-FFF2-40B4-BE49-F238E27FC236}">
                <a16:creationId xmlns:a16="http://schemas.microsoft.com/office/drawing/2014/main" id="{2BCE71A1-C0F6-E449-DE7B-2DF5EFF7DA6B}"/>
              </a:ext>
            </a:extLst>
          </p:cNvPr>
          <p:cNvCxnSpPr>
            <a:cxnSpLocks/>
            <a:stCxn id="44" idx="3"/>
            <a:endCxn id="43" idx="1"/>
          </p:cNvCxnSpPr>
          <p:nvPr/>
        </p:nvCxnSpPr>
        <p:spPr>
          <a:xfrm>
            <a:off x="6661186" y="5223683"/>
            <a:ext cx="184064" cy="13146"/>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
        <p:nvSpPr>
          <p:cNvPr id="49" name="Freeform 48">
            <a:extLst>
              <a:ext uri="{FF2B5EF4-FFF2-40B4-BE49-F238E27FC236}">
                <a16:creationId xmlns:a16="http://schemas.microsoft.com/office/drawing/2014/main" id="{501F1AA9-FBFF-4FD4-35D7-48DA47B533A1}"/>
              </a:ext>
            </a:extLst>
          </p:cNvPr>
          <p:cNvSpPr/>
          <p:nvPr/>
        </p:nvSpPr>
        <p:spPr>
          <a:xfrm>
            <a:off x="2701749" y="4736780"/>
            <a:ext cx="2447441" cy="1039906"/>
          </a:xfrm>
          <a:custGeom>
            <a:avLst/>
            <a:gdLst>
              <a:gd name="connsiteX0" fmla="*/ 2447441 w 2447441"/>
              <a:gd name="connsiteY0" fmla="*/ 430306 h 1039906"/>
              <a:gd name="connsiteX1" fmla="*/ 2375724 w 2447441"/>
              <a:gd name="connsiteY1" fmla="*/ 403412 h 1039906"/>
              <a:gd name="connsiteX2" fmla="*/ 2304006 w 2447441"/>
              <a:gd name="connsiteY2" fmla="*/ 394447 h 1039906"/>
              <a:gd name="connsiteX3" fmla="*/ 2241253 w 2447441"/>
              <a:gd name="connsiteY3" fmla="*/ 385482 h 1039906"/>
              <a:gd name="connsiteX4" fmla="*/ 2106783 w 2447441"/>
              <a:gd name="connsiteY4" fmla="*/ 340659 h 1039906"/>
              <a:gd name="connsiteX5" fmla="*/ 1981277 w 2447441"/>
              <a:gd name="connsiteY5" fmla="*/ 304800 h 1039906"/>
              <a:gd name="connsiteX6" fmla="*/ 1882665 w 2447441"/>
              <a:gd name="connsiteY6" fmla="*/ 259977 h 1039906"/>
              <a:gd name="connsiteX7" fmla="*/ 1837841 w 2447441"/>
              <a:gd name="connsiteY7" fmla="*/ 233082 h 1039906"/>
              <a:gd name="connsiteX8" fmla="*/ 1810947 w 2447441"/>
              <a:gd name="connsiteY8" fmla="*/ 215153 h 1039906"/>
              <a:gd name="connsiteX9" fmla="*/ 1739230 w 2447441"/>
              <a:gd name="connsiteY9" fmla="*/ 197224 h 1039906"/>
              <a:gd name="connsiteX10" fmla="*/ 1685441 w 2447441"/>
              <a:gd name="connsiteY10" fmla="*/ 179294 h 1039906"/>
              <a:gd name="connsiteX11" fmla="*/ 1586830 w 2447441"/>
              <a:gd name="connsiteY11" fmla="*/ 161365 h 1039906"/>
              <a:gd name="connsiteX12" fmla="*/ 1506147 w 2447441"/>
              <a:gd name="connsiteY12" fmla="*/ 143435 h 1039906"/>
              <a:gd name="connsiteX13" fmla="*/ 1479253 w 2447441"/>
              <a:gd name="connsiteY13" fmla="*/ 134471 h 1039906"/>
              <a:gd name="connsiteX14" fmla="*/ 1407535 w 2447441"/>
              <a:gd name="connsiteY14" fmla="*/ 116541 h 1039906"/>
              <a:gd name="connsiteX15" fmla="*/ 1380641 w 2447441"/>
              <a:gd name="connsiteY15" fmla="*/ 98612 h 1039906"/>
              <a:gd name="connsiteX16" fmla="*/ 1353747 w 2447441"/>
              <a:gd name="connsiteY16" fmla="*/ 89647 h 1039906"/>
              <a:gd name="connsiteX17" fmla="*/ 1326853 w 2447441"/>
              <a:gd name="connsiteY17" fmla="*/ 71718 h 1039906"/>
              <a:gd name="connsiteX18" fmla="*/ 1273065 w 2447441"/>
              <a:gd name="connsiteY18" fmla="*/ 53788 h 1039906"/>
              <a:gd name="connsiteX19" fmla="*/ 1246171 w 2447441"/>
              <a:gd name="connsiteY19" fmla="*/ 35859 h 1039906"/>
              <a:gd name="connsiteX20" fmla="*/ 1192383 w 2447441"/>
              <a:gd name="connsiteY20" fmla="*/ 17929 h 1039906"/>
              <a:gd name="connsiteX21" fmla="*/ 1120665 w 2447441"/>
              <a:gd name="connsiteY21" fmla="*/ 0 h 1039906"/>
              <a:gd name="connsiteX22" fmla="*/ 833794 w 2447441"/>
              <a:gd name="connsiteY22" fmla="*/ 17929 h 1039906"/>
              <a:gd name="connsiteX23" fmla="*/ 797935 w 2447441"/>
              <a:gd name="connsiteY23" fmla="*/ 26894 h 1039906"/>
              <a:gd name="connsiteX24" fmla="*/ 609677 w 2447441"/>
              <a:gd name="connsiteY24" fmla="*/ 44824 h 1039906"/>
              <a:gd name="connsiteX25" fmla="*/ 502100 w 2447441"/>
              <a:gd name="connsiteY25" fmla="*/ 62753 h 1039906"/>
              <a:gd name="connsiteX26" fmla="*/ 394524 w 2447441"/>
              <a:gd name="connsiteY26" fmla="*/ 80682 h 1039906"/>
              <a:gd name="connsiteX27" fmla="*/ 277983 w 2447441"/>
              <a:gd name="connsiteY27" fmla="*/ 107577 h 1039906"/>
              <a:gd name="connsiteX28" fmla="*/ 233159 w 2447441"/>
              <a:gd name="connsiteY28" fmla="*/ 116541 h 1039906"/>
              <a:gd name="connsiteX29" fmla="*/ 152477 w 2447441"/>
              <a:gd name="connsiteY29" fmla="*/ 152400 h 1039906"/>
              <a:gd name="connsiteX30" fmla="*/ 125583 w 2447441"/>
              <a:gd name="connsiteY30" fmla="*/ 161365 h 1039906"/>
              <a:gd name="connsiteX31" fmla="*/ 80759 w 2447441"/>
              <a:gd name="connsiteY31" fmla="*/ 197224 h 1039906"/>
              <a:gd name="connsiteX32" fmla="*/ 9041 w 2447441"/>
              <a:gd name="connsiteY32" fmla="*/ 251012 h 1039906"/>
              <a:gd name="connsiteX33" fmla="*/ 77 w 2447441"/>
              <a:gd name="connsiteY33" fmla="*/ 286871 h 1039906"/>
              <a:gd name="connsiteX34" fmla="*/ 18006 w 2447441"/>
              <a:gd name="connsiteY34" fmla="*/ 376518 h 1039906"/>
              <a:gd name="connsiteX35" fmla="*/ 35935 w 2447441"/>
              <a:gd name="connsiteY35" fmla="*/ 448235 h 1039906"/>
              <a:gd name="connsiteX36" fmla="*/ 44900 w 2447441"/>
              <a:gd name="connsiteY36" fmla="*/ 484094 h 1039906"/>
              <a:gd name="connsiteX37" fmla="*/ 71794 w 2447441"/>
              <a:gd name="connsiteY37" fmla="*/ 519953 h 1039906"/>
              <a:gd name="connsiteX38" fmla="*/ 89724 w 2447441"/>
              <a:gd name="connsiteY38" fmla="*/ 555812 h 1039906"/>
              <a:gd name="connsiteX39" fmla="*/ 143512 w 2447441"/>
              <a:gd name="connsiteY39" fmla="*/ 627529 h 1039906"/>
              <a:gd name="connsiteX40" fmla="*/ 161441 w 2447441"/>
              <a:gd name="connsiteY40" fmla="*/ 663388 h 1039906"/>
              <a:gd name="connsiteX41" fmla="*/ 188335 w 2447441"/>
              <a:gd name="connsiteY41" fmla="*/ 690282 h 1039906"/>
              <a:gd name="connsiteX42" fmla="*/ 269018 w 2447441"/>
              <a:gd name="connsiteY42" fmla="*/ 788894 h 1039906"/>
              <a:gd name="connsiteX43" fmla="*/ 295912 w 2447441"/>
              <a:gd name="connsiteY43" fmla="*/ 806824 h 1039906"/>
              <a:gd name="connsiteX44" fmla="*/ 322806 w 2447441"/>
              <a:gd name="connsiteY44" fmla="*/ 815788 h 1039906"/>
              <a:gd name="connsiteX45" fmla="*/ 367630 w 2447441"/>
              <a:gd name="connsiteY45" fmla="*/ 833718 h 1039906"/>
              <a:gd name="connsiteX46" fmla="*/ 439347 w 2447441"/>
              <a:gd name="connsiteY46" fmla="*/ 860612 h 1039906"/>
              <a:gd name="connsiteX47" fmla="*/ 466241 w 2447441"/>
              <a:gd name="connsiteY47" fmla="*/ 878541 h 1039906"/>
              <a:gd name="connsiteX48" fmla="*/ 502100 w 2447441"/>
              <a:gd name="connsiteY48" fmla="*/ 887506 h 1039906"/>
              <a:gd name="connsiteX49" fmla="*/ 528994 w 2447441"/>
              <a:gd name="connsiteY49" fmla="*/ 896471 h 1039906"/>
              <a:gd name="connsiteX50" fmla="*/ 618641 w 2447441"/>
              <a:gd name="connsiteY50" fmla="*/ 914400 h 1039906"/>
              <a:gd name="connsiteX51" fmla="*/ 690359 w 2447441"/>
              <a:gd name="connsiteY51" fmla="*/ 941294 h 1039906"/>
              <a:gd name="connsiteX52" fmla="*/ 726218 w 2447441"/>
              <a:gd name="connsiteY52" fmla="*/ 959224 h 1039906"/>
              <a:gd name="connsiteX53" fmla="*/ 815865 w 2447441"/>
              <a:gd name="connsiteY53" fmla="*/ 986118 h 1039906"/>
              <a:gd name="connsiteX54" fmla="*/ 842759 w 2447441"/>
              <a:gd name="connsiteY54" fmla="*/ 995082 h 1039906"/>
              <a:gd name="connsiteX55" fmla="*/ 941371 w 2447441"/>
              <a:gd name="connsiteY55" fmla="*/ 1013012 h 1039906"/>
              <a:gd name="connsiteX56" fmla="*/ 986194 w 2447441"/>
              <a:gd name="connsiteY56" fmla="*/ 1021977 h 1039906"/>
              <a:gd name="connsiteX57" fmla="*/ 1237206 w 2447441"/>
              <a:gd name="connsiteY57" fmla="*/ 1039906 h 1039906"/>
              <a:gd name="connsiteX58" fmla="*/ 1667512 w 2447441"/>
              <a:gd name="connsiteY58" fmla="*/ 1030941 h 1039906"/>
              <a:gd name="connsiteX59" fmla="*/ 1721300 w 2447441"/>
              <a:gd name="connsiteY59" fmla="*/ 1021977 h 1039906"/>
              <a:gd name="connsiteX60" fmla="*/ 1828877 w 2447441"/>
              <a:gd name="connsiteY60" fmla="*/ 1004047 h 1039906"/>
              <a:gd name="connsiteX61" fmla="*/ 2008171 w 2447441"/>
              <a:gd name="connsiteY61" fmla="*/ 995082 h 1039906"/>
              <a:gd name="connsiteX62" fmla="*/ 2070924 w 2447441"/>
              <a:gd name="connsiteY62" fmla="*/ 986118 h 1039906"/>
              <a:gd name="connsiteX63" fmla="*/ 2115747 w 2447441"/>
              <a:gd name="connsiteY63" fmla="*/ 977153 h 1039906"/>
              <a:gd name="connsiteX64" fmla="*/ 2277112 w 2447441"/>
              <a:gd name="connsiteY64" fmla="*/ 968188 h 103990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Lst>
            <a:rect l="l" t="t" r="r" b="b"/>
            <a:pathLst>
              <a:path w="2447441" h="1039906">
                <a:moveTo>
                  <a:pt x="2447441" y="430306"/>
                </a:moveTo>
                <a:cubicBezTo>
                  <a:pt x="2423535" y="421341"/>
                  <a:pt x="2400493" y="409604"/>
                  <a:pt x="2375724" y="403412"/>
                </a:cubicBezTo>
                <a:cubicBezTo>
                  <a:pt x="2352351" y="397569"/>
                  <a:pt x="2327887" y="397631"/>
                  <a:pt x="2304006" y="394447"/>
                </a:cubicBezTo>
                <a:lnTo>
                  <a:pt x="2241253" y="385482"/>
                </a:lnTo>
                <a:cubicBezTo>
                  <a:pt x="2143216" y="343466"/>
                  <a:pt x="2214259" y="369971"/>
                  <a:pt x="2106783" y="340659"/>
                </a:cubicBezTo>
                <a:cubicBezTo>
                  <a:pt x="2064807" y="329211"/>
                  <a:pt x="2020193" y="324258"/>
                  <a:pt x="1981277" y="304800"/>
                </a:cubicBezTo>
                <a:cubicBezTo>
                  <a:pt x="1901107" y="264715"/>
                  <a:pt x="1934915" y="277392"/>
                  <a:pt x="1882665" y="259977"/>
                </a:cubicBezTo>
                <a:cubicBezTo>
                  <a:pt x="1847645" y="224957"/>
                  <a:pt x="1884390" y="256357"/>
                  <a:pt x="1837841" y="233082"/>
                </a:cubicBezTo>
                <a:cubicBezTo>
                  <a:pt x="1828204" y="228264"/>
                  <a:pt x="1821072" y="218835"/>
                  <a:pt x="1810947" y="215153"/>
                </a:cubicBezTo>
                <a:cubicBezTo>
                  <a:pt x="1787789" y="206732"/>
                  <a:pt x="1762607" y="205016"/>
                  <a:pt x="1739230" y="197224"/>
                </a:cubicBezTo>
                <a:cubicBezTo>
                  <a:pt x="1721300" y="191247"/>
                  <a:pt x="1703974" y="183001"/>
                  <a:pt x="1685441" y="179294"/>
                </a:cubicBezTo>
                <a:cubicBezTo>
                  <a:pt x="1622794" y="166764"/>
                  <a:pt x="1655648" y="172834"/>
                  <a:pt x="1586830" y="161365"/>
                </a:cubicBezTo>
                <a:cubicBezTo>
                  <a:pt x="1526290" y="141185"/>
                  <a:pt x="1600804" y="164469"/>
                  <a:pt x="1506147" y="143435"/>
                </a:cubicBezTo>
                <a:cubicBezTo>
                  <a:pt x="1496922" y="141385"/>
                  <a:pt x="1488420" y="136763"/>
                  <a:pt x="1479253" y="134471"/>
                </a:cubicBezTo>
                <a:cubicBezTo>
                  <a:pt x="1458795" y="129356"/>
                  <a:pt x="1428027" y="126787"/>
                  <a:pt x="1407535" y="116541"/>
                </a:cubicBezTo>
                <a:cubicBezTo>
                  <a:pt x="1397898" y="111723"/>
                  <a:pt x="1390278" y="103430"/>
                  <a:pt x="1380641" y="98612"/>
                </a:cubicBezTo>
                <a:cubicBezTo>
                  <a:pt x="1372189" y="94386"/>
                  <a:pt x="1362199" y="93873"/>
                  <a:pt x="1353747" y="89647"/>
                </a:cubicBezTo>
                <a:cubicBezTo>
                  <a:pt x="1344110" y="84829"/>
                  <a:pt x="1336699" y="76094"/>
                  <a:pt x="1326853" y="71718"/>
                </a:cubicBezTo>
                <a:cubicBezTo>
                  <a:pt x="1309583" y="64042"/>
                  <a:pt x="1288790" y="64271"/>
                  <a:pt x="1273065" y="53788"/>
                </a:cubicBezTo>
                <a:cubicBezTo>
                  <a:pt x="1264100" y="47812"/>
                  <a:pt x="1256017" y="40235"/>
                  <a:pt x="1246171" y="35859"/>
                </a:cubicBezTo>
                <a:cubicBezTo>
                  <a:pt x="1228901" y="28183"/>
                  <a:pt x="1210312" y="23905"/>
                  <a:pt x="1192383" y="17929"/>
                </a:cubicBezTo>
                <a:cubicBezTo>
                  <a:pt x="1151043" y="4149"/>
                  <a:pt x="1174738" y="10815"/>
                  <a:pt x="1120665" y="0"/>
                </a:cubicBezTo>
                <a:cubicBezTo>
                  <a:pt x="1051304" y="3303"/>
                  <a:pt x="915185" y="7077"/>
                  <a:pt x="833794" y="17929"/>
                </a:cubicBezTo>
                <a:cubicBezTo>
                  <a:pt x="821581" y="19557"/>
                  <a:pt x="810168" y="25426"/>
                  <a:pt x="797935" y="26894"/>
                </a:cubicBezTo>
                <a:cubicBezTo>
                  <a:pt x="735347" y="34405"/>
                  <a:pt x="609677" y="44824"/>
                  <a:pt x="609677" y="44824"/>
                </a:cubicBezTo>
                <a:cubicBezTo>
                  <a:pt x="551869" y="64092"/>
                  <a:pt x="607187" y="47741"/>
                  <a:pt x="502100" y="62753"/>
                </a:cubicBezTo>
                <a:cubicBezTo>
                  <a:pt x="466112" y="67894"/>
                  <a:pt x="394524" y="80682"/>
                  <a:pt x="394524" y="80682"/>
                </a:cubicBezTo>
                <a:cubicBezTo>
                  <a:pt x="338722" y="99283"/>
                  <a:pt x="376890" y="87796"/>
                  <a:pt x="277983" y="107577"/>
                </a:cubicBezTo>
                <a:cubicBezTo>
                  <a:pt x="263042" y="110565"/>
                  <a:pt x="247614" y="111722"/>
                  <a:pt x="233159" y="116541"/>
                </a:cubicBezTo>
                <a:cubicBezTo>
                  <a:pt x="94390" y="162799"/>
                  <a:pt x="237715" y="109781"/>
                  <a:pt x="152477" y="152400"/>
                </a:cubicBezTo>
                <a:cubicBezTo>
                  <a:pt x="144025" y="156626"/>
                  <a:pt x="134035" y="157139"/>
                  <a:pt x="125583" y="161365"/>
                </a:cubicBezTo>
                <a:cubicBezTo>
                  <a:pt x="81697" y="183308"/>
                  <a:pt x="114119" y="172204"/>
                  <a:pt x="80759" y="197224"/>
                </a:cubicBezTo>
                <a:cubicBezTo>
                  <a:pt x="-339" y="258048"/>
                  <a:pt x="50162" y="209891"/>
                  <a:pt x="9041" y="251012"/>
                </a:cubicBezTo>
                <a:cubicBezTo>
                  <a:pt x="6053" y="262965"/>
                  <a:pt x="-801" y="274582"/>
                  <a:pt x="77" y="286871"/>
                </a:cubicBezTo>
                <a:cubicBezTo>
                  <a:pt x="2248" y="317268"/>
                  <a:pt x="12030" y="346636"/>
                  <a:pt x="18006" y="376518"/>
                </a:cubicBezTo>
                <a:cubicBezTo>
                  <a:pt x="36229" y="467631"/>
                  <a:pt x="17561" y="383924"/>
                  <a:pt x="35935" y="448235"/>
                </a:cubicBezTo>
                <a:cubicBezTo>
                  <a:pt x="39320" y="460082"/>
                  <a:pt x="39390" y="473074"/>
                  <a:pt x="44900" y="484094"/>
                </a:cubicBezTo>
                <a:cubicBezTo>
                  <a:pt x="51582" y="497458"/>
                  <a:pt x="63875" y="507283"/>
                  <a:pt x="71794" y="519953"/>
                </a:cubicBezTo>
                <a:cubicBezTo>
                  <a:pt x="78877" y="531286"/>
                  <a:pt x="82311" y="544693"/>
                  <a:pt x="89724" y="555812"/>
                </a:cubicBezTo>
                <a:cubicBezTo>
                  <a:pt x="106300" y="580675"/>
                  <a:pt x="130149" y="600801"/>
                  <a:pt x="143512" y="627529"/>
                </a:cubicBezTo>
                <a:cubicBezTo>
                  <a:pt x="149488" y="639482"/>
                  <a:pt x="153674" y="652513"/>
                  <a:pt x="161441" y="663388"/>
                </a:cubicBezTo>
                <a:cubicBezTo>
                  <a:pt x="168810" y="673705"/>
                  <a:pt x="180728" y="680140"/>
                  <a:pt x="188335" y="690282"/>
                </a:cubicBezTo>
                <a:cubicBezTo>
                  <a:pt x="225531" y="739876"/>
                  <a:pt x="206903" y="747482"/>
                  <a:pt x="269018" y="788894"/>
                </a:cubicBezTo>
                <a:cubicBezTo>
                  <a:pt x="277983" y="794871"/>
                  <a:pt x="286275" y="802006"/>
                  <a:pt x="295912" y="806824"/>
                </a:cubicBezTo>
                <a:cubicBezTo>
                  <a:pt x="304364" y="811050"/>
                  <a:pt x="313958" y="812470"/>
                  <a:pt x="322806" y="815788"/>
                </a:cubicBezTo>
                <a:cubicBezTo>
                  <a:pt x="337874" y="821438"/>
                  <a:pt x="353237" y="826521"/>
                  <a:pt x="367630" y="833718"/>
                </a:cubicBezTo>
                <a:cubicBezTo>
                  <a:pt x="429185" y="864496"/>
                  <a:pt x="352870" y="843316"/>
                  <a:pt x="439347" y="860612"/>
                </a:cubicBezTo>
                <a:cubicBezTo>
                  <a:pt x="448312" y="866588"/>
                  <a:pt x="456338" y="874297"/>
                  <a:pt x="466241" y="878541"/>
                </a:cubicBezTo>
                <a:cubicBezTo>
                  <a:pt x="477566" y="883394"/>
                  <a:pt x="490253" y="884121"/>
                  <a:pt x="502100" y="887506"/>
                </a:cubicBezTo>
                <a:cubicBezTo>
                  <a:pt x="511186" y="890102"/>
                  <a:pt x="519786" y="894346"/>
                  <a:pt x="528994" y="896471"/>
                </a:cubicBezTo>
                <a:cubicBezTo>
                  <a:pt x="558688" y="903323"/>
                  <a:pt x="618641" y="914400"/>
                  <a:pt x="618641" y="914400"/>
                </a:cubicBezTo>
                <a:cubicBezTo>
                  <a:pt x="718488" y="964322"/>
                  <a:pt x="592701" y="904671"/>
                  <a:pt x="690359" y="941294"/>
                </a:cubicBezTo>
                <a:cubicBezTo>
                  <a:pt x="702872" y="945987"/>
                  <a:pt x="713810" y="954261"/>
                  <a:pt x="726218" y="959224"/>
                </a:cubicBezTo>
                <a:cubicBezTo>
                  <a:pt x="779464" y="980522"/>
                  <a:pt x="769645" y="972913"/>
                  <a:pt x="815865" y="986118"/>
                </a:cubicBezTo>
                <a:cubicBezTo>
                  <a:pt x="824951" y="988714"/>
                  <a:pt x="833592" y="992790"/>
                  <a:pt x="842759" y="995082"/>
                </a:cubicBezTo>
                <a:cubicBezTo>
                  <a:pt x="872289" y="1002464"/>
                  <a:pt x="912059" y="1007682"/>
                  <a:pt x="941371" y="1013012"/>
                </a:cubicBezTo>
                <a:cubicBezTo>
                  <a:pt x="956362" y="1015738"/>
                  <a:pt x="971091" y="1019963"/>
                  <a:pt x="986194" y="1021977"/>
                </a:cubicBezTo>
                <a:cubicBezTo>
                  <a:pt x="1068039" y="1032889"/>
                  <a:pt x="1156009" y="1035395"/>
                  <a:pt x="1237206" y="1039906"/>
                </a:cubicBezTo>
                <a:lnTo>
                  <a:pt x="1667512" y="1030941"/>
                </a:lnTo>
                <a:cubicBezTo>
                  <a:pt x="1685676" y="1030268"/>
                  <a:pt x="1703417" y="1025228"/>
                  <a:pt x="1721300" y="1021977"/>
                </a:cubicBezTo>
                <a:cubicBezTo>
                  <a:pt x="1762074" y="1014564"/>
                  <a:pt x="1785389" y="1007268"/>
                  <a:pt x="1828877" y="1004047"/>
                </a:cubicBezTo>
                <a:cubicBezTo>
                  <a:pt x="1888553" y="999626"/>
                  <a:pt x="1948406" y="998070"/>
                  <a:pt x="2008171" y="995082"/>
                </a:cubicBezTo>
                <a:cubicBezTo>
                  <a:pt x="2029089" y="992094"/>
                  <a:pt x="2050081" y="989592"/>
                  <a:pt x="2070924" y="986118"/>
                </a:cubicBezTo>
                <a:cubicBezTo>
                  <a:pt x="2085954" y="983613"/>
                  <a:pt x="2100573" y="978533"/>
                  <a:pt x="2115747" y="977153"/>
                </a:cubicBezTo>
                <a:cubicBezTo>
                  <a:pt x="2216289" y="968013"/>
                  <a:pt x="2220480" y="968188"/>
                  <a:pt x="2277112" y="968188"/>
                </a:cubicBezTo>
              </a:path>
            </a:pathLst>
          </a:custGeom>
          <a:noFill/>
          <a:ln w="12700">
            <a:prstDash val="dash"/>
            <a:headEnd type="none" w="med" len="med"/>
            <a:tailEnd type="triangl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NL"/>
          </a:p>
        </p:txBody>
      </p:sp>
      <p:sp>
        <p:nvSpPr>
          <p:cNvPr id="50" name="Freeform 49">
            <a:extLst>
              <a:ext uri="{FF2B5EF4-FFF2-40B4-BE49-F238E27FC236}">
                <a16:creationId xmlns:a16="http://schemas.microsoft.com/office/drawing/2014/main" id="{C87DBF26-62B8-366D-77EA-1A16292AA18F}"/>
              </a:ext>
            </a:extLst>
          </p:cNvPr>
          <p:cNvSpPr/>
          <p:nvPr/>
        </p:nvSpPr>
        <p:spPr>
          <a:xfrm>
            <a:off x="2352202" y="4172004"/>
            <a:ext cx="5002306" cy="2366682"/>
          </a:xfrm>
          <a:custGeom>
            <a:avLst/>
            <a:gdLst>
              <a:gd name="connsiteX0" fmla="*/ 5002306 w 5002306"/>
              <a:gd name="connsiteY0" fmla="*/ 1129553 h 2366682"/>
              <a:gd name="connsiteX1" fmla="*/ 4930588 w 5002306"/>
              <a:gd name="connsiteY1" fmla="*/ 1156447 h 2366682"/>
              <a:gd name="connsiteX2" fmla="*/ 4894730 w 5002306"/>
              <a:gd name="connsiteY2" fmla="*/ 1165411 h 2366682"/>
              <a:gd name="connsiteX3" fmla="*/ 4867835 w 5002306"/>
              <a:gd name="connsiteY3" fmla="*/ 1183341 h 2366682"/>
              <a:gd name="connsiteX4" fmla="*/ 4769224 w 5002306"/>
              <a:gd name="connsiteY4" fmla="*/ 1201270 h 2366682"/>
              <a:gd name="connsiteX5" fmla="*/ 4616824 w 5002306"/>
              <a:gd name="connsiteY5" fmla="*/ 1192305 h 2366682"/>
              <a:gd name="connsiteX6" fmla="*/ 4509247 w 5002306"/>
              <a:gd name="connsiteY6" fmla="*/ 1174376 h 2366682"/>
              <a:gd name="connsiteX7" fmla="*/ 4437530 w 5002306"/>
              <a:gd name="connsiteY7" fmla="*/ 1165411 h 2366682"/>
              <a:gd name="connsiteX8" fmla="*/ 4365812 w 5002306"/>
              <a:gd name="connsiteY8" fmla="*/ 1147482 h 2366682"/>
              <a:gd name="connsiteX9" fmla="*/ 4294094 w 5002306"/>
              <a:gd name="connsiteY9" fmla="*/ 1120588 h 2366682"/>
              <a:gd name="connsiteX10" fmla="*/ 4231341 w 5002306"/>
              <a:gd name="connsiteY10" fmla="*/ 1102658 h 2366682"/>
              <a:gd name="connsiteX11" fmla="*/ 4204447 w 5002306"/>
              <a:gd name="connsiteY11" fmla="*/ 1093694 h 2366682"/>
              <a:gd name="connsiteX12" fmla="*/ 4150659 w 5002306"/>
              <a:gd name="connsiteY12" fmla="*/ 1066800 h 2366682"/>
              <a:gd name="connsiteX13" fmla="*/ 4123765 w 5002306"/>
              <a:gd name="connsiteY13" fmla="*/ 1048870 h 2366682"/>
              <a:gd name="connsiteX14" fmla="*/ 4061012 w 5002306"/>
              <a:gd name="connsiteY14" fmla="*/ 1021976 h 2366682"/>
              <a:gd name="connsiteX15" fmla="*/ 4007224 w 5002306"/>
              <a:gd name="connsiteY15" fmla="*/ 986117 h 2366682"/>
              <a:gd name="connsiteX16" fmla="*/ 3971365 w 5002306"/>
              <a:gd name="connsiteY16" fmla="*/ 968188 h 2366682"/>
              <a:gd name="connsiteX17" fmla="*/ 3890682 w 5002306"/>
              <a:gd name="connsiteY17" fmla="*/ 923364 h 2366682"/>
              <a:gd name="connsiteX18" fmla="*/ 3801035 w 5002306"/>
              <a:gd name="connsiteY18" fmla="*/ 878541 h 2366682"/>
              <a:gd name="connsiteX19" fmla="*/ 3720353 w 5002306"/>
              <a:gd name="connsiteY19" fmla="*/ 833717 h 2366682"/>
              <a:gd name="connsiteX20" fmla="*/ 3639671 w 5002306"/>
              <a:gd name="connsiteY20" fmla="*/ 753035 h 2366682"/>
              <a:gd name="connsiteX21" fmla="*/ 3612777 w 5002306"/>
              <a:gd name="connsiteY21" fmla="*/ 726141 h 2366682"/>
              <a:gd name="connsiteX22" fmla="*/ 3594847 w 5002306"/>
              <a:gd name="connsiteY22" fmla="*/ 708211 h 2366682"/>
              <a:gd name="connsiteX23" fmla="*/ 3541059 w 5002306"/>
              <a:gd name="connsiteY23" fmla="*/ 663388 h 2366682"/>
              <a:gd name="connsiteX24" fmla="*/ 3460377 w 5002306"/>
              <a:gd name="connsiteY24" fmla="*/ 582705 h 2366682"/>
              <a:gd name="connsiteX25" fmla="*/ 3424518 w 5002306"/>
              <a:gd name="connsiteY25" fmla="*/ 546847 h 2366682"/>
              <a:gd name="connsiteX26" fmla="*/ 3397624 w 5002306"/>
              <a:gd name="connsiteY26" fmla="*/ 519953 h 2366682"/>
              <a:gd name="connsiteX27" fmla="*/ 3352800 w 5002306"/>
              <a:gd name="connsiteY27" fmla="*/ 484094 h 2366682"/>
              <a:gd name="connsiteX28" fmla="*/ 3290047 w 5002306"/>
              <a:gd name="connsiteY28" fmla="*/ 421341 h 2366682"/>
              <a:gd name="connsiteX29" fmla="*/ 3245224 w 5002306"/>
              <a:gd name="connsiteY29" fmla="*/ 376517 h 2366682"/>
              <a:gd name="connsiteX30" fmla="*/ 3048000 w 5002306"/>
              <a:gd name="connsiteY30" fmla="*/ 224117 h 2366682"/>
              <a:gd name="connsiteX31" fmla="*/ 2967318 w 5002306"/>
              <a:gd name="connsiteY31" fmla="*/ 161364 h 2366682"/>
              <a:gd name="connsiteX32" fmla="*/ 2931459 w 5002306"/>
              <a:gd name="connsiteY32" fmla="*/ 143435 h 2366682"/>
              <a:gd name="connsiteX33" fmla="*/ 2877671 w 5002306"/>
              <a:gd name="connsiteY33" fmla="*/ 98611 h 2366682"/>
              <a:gd name="connsiteX34" fmla="*/ 2859741 w 5002306"/>
              <a:gd name="connsiteY34" fmla="*/ 80682 h 2366682"/>
              <a:gd name="connsiteX35" fmla="*/ 2832847 w 5002306"/>
              <a:gd name="connsiteY35" fmla="*/ 71717 h 2366682"/>
              <a:gd name="connsiteX36" fmla="*/ 2761130 w 5002306"/>
              <a:gd name="connsiteY36" fmla="*/ 35858 h 2366682"/>
              <a:gd name="connsiteX37" fmla="*/ 2698377 w 5002306"/>
              <a:gd name="connsiteY37" fmla="*/ 8964 h 2366682"/>
              <a:gd name="connsiteX38" fmla="*/ 2635624 w 5002306"/>
              <a:gd name="connsiteY38" fmla="*/ 0 h 2366682"/>
              <a:gd name="connsiteX39" fmla="*/ 2456330 w 5002306"/>
              <a:gd name="connsiteY39" fmla="*/ 8964 h 2366682"/>
              <a:gd name="connsiteX40" fmla="*/ 2420471 w 5002306"/>
              <a:gd name="connsiteY40" fmla="*/ 17929 h 2366682"/>
              <a:gd name="connsiteX41" fmla="*/ 2339788 w 5002306"/>
              <a:gd name="connsiteY41" fmla="*/ 26894 h 2366682"/>
              <a:gd name="connsiteX42" fmla="*/ 2223247 w 5002306"/>
              <a:gd name="connsiteY42" fmla="*/ 44823 h 2366682"/>
              <a:gd name="connsiteX43" fmla="*/ 2142565 w 5002306"/>
              <a:gd name="connsiteY43" fmla="*/ 71717 h 2366682"/>
              <a:gd name="connsiteX44" fmla="*/ 2079812 w 5002306"/>
              <a:gd name="connsiteY44" fmla="*/ 89647 h 2366682"/>
              <a:gd name="connsiteX45" fmla="*/ 1694330 w 5002306"/>
              <a:gd name="connsiteY45" fmla="*/ 98611 h 2366682"/>
              <a:gd name="connsiteX46" fmla="*/ 1524000 w 5002306"/>
              <a:gd name="connsiteY46" fmla="*/ 116541 h 2366682"/>
              <a:gd name="connsiteX47" fmla="*/ 1461247 w 5002306"/>
              <a:gd name="connsiteY47" fmla="*/ 125505 h 2366682"/>
              <a:gd name="connsiteX48" fmla="*/ 1380565 w 5002306"/>
              <a:gd name="connsiteY48" fmla="*/ 134470 h 2366682"/>
              <a:gd name="connsiteX49" fmla="*/ 1308847 w 5002306"/>
              <a:gd name="connsiteY49" fmla="*/ 152400 h 2366682"/>
              <a:gd name="connsiteX50" fmla="*/ 1264024 w 5002306"/>
              <a:gd name="connsiteY50" fmla="*/ 161364 h 2366682"/>
              <a:gd name="connsiteX51" fmla="*/ 1210235 w 5002306"/>
              <a:gd name="connsiteY51" fmla="*/ 179294 h 2366682"/>
              <a:gd name="connsiteX52" fmla="*/ 1111624 w 5002306"/>
              <a:gd name="connsiteY52" fmla="*/ 206188 h 2366682"/>
              <a:gd name="connsiteX53" fmla="*/ 1084730 w 5002306"/>
              <a:gd name="connsiteY53" fmla="*/ 215153 h 2366682"/>
              <a:gd name="connsiteX54" fmla="*/ 1004047 w 5002306"/>
              <a:gd name="connsiteY54" fmla="*/ 233082 h 2366682"/>
              <a:gd name="connsiteX55" fmla="*/ 950259 w 5002306"/>
              <a:gd name="connsiteY55" fmla="*/ 251011 h 2366682"/>
              <a:gd name="connsiteX56" fmla="*/ 923365 w 5002306"/>
              <a:gd name="connsiteY56" fmla="*/ 259976 h 2366682"/>
              <a:gd name="connsiteX57" fmla="*/ 896471 w 5002306"/>
              <a:gd name="connsiteY57" fmla="*/ 277905 h 2366682"/>
              <a:gd name="connsiteX58" fmla="*/ 860612 w 5002306"/>
              <a:gd name="connsiteY58" fmla="*/ 286870 h 2366682"/>
              <a:gd name="connsiteX59" fmla="*/ 824753 w 5002306"/>
              <a:gd name="connsiteY59" fmla="*/ 304800 h 2366682"/>
              <a:gd name="connsiteX60" fmla="*/ 797859 w 5002306"/>
              <a:gd name="connsiteY60" fmla="*/ 313764 h 2366682"/>
              <a:gd name="connsiteX61" fmla="*/ 744071 w 5002306"/>
              <a:gd name="connsiteY61" fmla="*/ 349623 h 2366682"/>
              <a:gd name="connsiteX62" fmla="*/ 726141 w 5002306"/>
              <a:gd name="connsiteY62" fmla="*/ 367553 h 2366682"/>
              <a:gd name="connsiteX63" fmla="*/ 663388 w 5002306"/>
              <a:gd name="connsiteY63" fmla="*/ 412376 h 2366682"/>
              <a:gd name="connsiteX64" fmla="*/ 627530 w 5002306"/>
              <a:gd name="connsiteY64" fmla="*/ 448235 h 2366682"/>
              <a:gd name="connsiteX65" fmla="*/ 591671 w 5002306"/>
              <a:gd name="connsiteY65" fmla="*/ 475129 h 2366682"/>
              <a:gd name="connsiteX66" fmla="*/ 546847 w 5002306"/>
              <a:gd name="connsiteY66" fmla="*/ 519953 h 2366682"/>
              <a:gd name="connsiteX67" fmla="*/ 457200 w 5002306"/>
              <a:gd name="connsiteY67" fmla="*/ 600635 h 2366682"/>
              <a:gd name="connsiteX68" fmla="*/ 412377 w 5002306"/>
              <a:gd name="connsiteY68" fmla="*/ 645458 h 2366682"/>
              <a:gd name="connsiteX69" fmla="*/ 349624 w 5002306"/>
              <a:gd name="connsiteY69" fmla="*/ 717176 h 2366682"/>
              <a:gd name="connsiteX70" fmla="*/ 295835 w 5002306"/>
              <a:gd name="connsiteY70" fmla="*/ 753035 h 2366682"/>
              <a:gd name="connsiteX71" fmla="*/ 259977 w 5002306"/>
              <a:gd name="connsiteY71" fmla="*/ 806823 h 2366682"/>
              <a:gd name="connsiteX72" fmla="*/ 224118 w 5002306"/>
              <a:gd name="connsiteY72" fmla="*/ 851647 h 2366682"/>
              <a:gd name="connsiteX73" fmla="*/ 215153 w 5002306"/>
              <a:gd name="connsiteY73" fmla="*/ 878541 h 2366682"/>
              <a:gd name="connsiteX74" fmla="*/ 188259 w 5002306"/>
              <a:gd name="connsiteY74" fmla="*/ 914400 h 2366682"/>
              <a:gd name="connsiteX75" fmla="*/ 134471 w 5002306"/>
              <a:gd name="connsiteY75" fmla="*/ 995082 h 2366682"/>
              <a:gd name="connsiteX76" fmla="*/ 89647 w 5002306"/>
              <a:gd name="connsiteY76" fmla="*/ 1075764 h 2366682"/>
              <a:gd name="connsiteX77" fmla="*/ 80682 w 5002306"/>
              <a:gd name="connsiteY77" fmla="*/ 1102658 h 2366682"/>
              <a:gd name="connsiteX78" fmla="*/ 62753 w 5002306"/>
              <a:gd name="connsiteY78" fmla="*/ 1138517 h 2366682"/>
              <a:gd name="connsiteX79" fmla="*/ 53788 w 5002306"/>
              <a:gd name="connsiteY79" fmla="*/ 1165411 h 2366682"/>
              <a:gd name="connsiteX80" fmla="*/ 35859 w 5002306"/>
              <a:gd name="connsiteY80" fmla="*/ 1201270 h 2366682"/>
              <a:gd name="connsiteX81" fmla="*/ 8965 w 5002306"/>
              <a:gd name="connsiteY81" fmla="*/ 1317811 h 2366682"/>
              <a:gd name="connsiteX82" fmla="*/ 0 w 5002306"/>
              <a:gd name="connsiteY82" fmla="*/ 1353670 h 2366682"/>
              <a:gd name="connsiteX83" fmla="*/ 17930 w 5002306"/>
              <a:gd name="connsiteY83" fmla="*/ 1667435 h 2366682"/>
              <a:gd name="connsiteX84" fmla="*/ 44824 w 5002306"/>
              <a:gd name="connsiteY84" fmla="*/ 1757082 h 2366682"/>
              <a:gd name="connsiteX85" fmla="*/ 53788 w 5002306"/>
              <a:gd name="connsiteY85" fmla="*/ 1792941 h 2366682"/>
              <a:gd name="connsiteX86" fmla="*/ 107577 w 5002306"/>
              <a:gd name="connsiteY86" fmla="*/ 1882588 h 2366682"/>
              <a:gd name="connsiteX87" fmla="*/ 161365 w 5002306"/>
              <a:gd name="connsiteY87" fmla="*/ 1972235 h 2366682"/>
              <a:gd name="connsiteX88" fmla="*/ 197224 w 5002306"/>
              <a:gd name="connsiteY88" fmla="*/ 1999129 h 2366682"/>
              <a:gd name="connsiteX89" fmla="*/ 224118 w 5002306"/>
              <a:gd name="connsiteY89" fmla="*/ 2026023 h 2366682"/>
              <a:gd name="connsiteX90" fmla="*/ 268941 w 5002306"/>
              <a:gd name="connsiteY90" fmla="*/ 2043953 h 2366682"/>
              <a:gd name="connsiteX91" fmla="*/ 322730 w 5002306"/>
              <a:gd name="connsiteY91" fmla="*/ 2070847 h 2366682"/>
              <a:gd name="connsiteX92" fmla="*/ 358588 w 5002306"/>
              <a:gd name="connsiteY92" fmla="*/ 2097741 h 2366682"/>
              <a:gd name="connsiteX93" fmla="*/ 448235 w 5002306"/>
              <a:gd name="connsiteY93" fmla="*/ 2133600 h 2366682"/>
              <a:gd name="connsiteX94" fmla="*/ 484094 w 5002306"/>
              <a:gd name="connsiteY94" fmla="*/ 2151529 h 2366682"/>
              <a:gd name="connsiteX95" fmla="*/ 546847 w 5002306"/>
              <a:gd name="connsiteY95" fmla="*/ 2169458 h 2366682"/>
              <a:gd name="connsiteX96" fmla="*/ 654424 w 5002306"/>
              <a:gd name="connsiteY96" fmla="*/ 2205317 h 2366682"/>
              <a:gd name="connsiteX97" fmla="*/ 699247 w 5002306"/>
              <a:gd name="connsiteY97" fmla="*/ 2223247 h 2366682"/>
              <a:gd name="connsiteX98" fmla="*/ 797859 w 5002306"/>
              <a:gd name="connsiteY98" fmla="*/ 2250141 h 2366682"/>
              <a:gd name="connsiteX99" fmla="*/ 833718 w 5002306"/>
              <a:gd name="connsiteY99" fmla="*/ 2268070 h 2366682"/>
              <a:gd name="connsiteX100" fmla="*/ 869577 w 5002306"/>
              <a:gd name="connsiteY100" fmla="*/ 2277035 h 2366682"/>
              <a:gd name="connsiteX101" fmla="*/ 905435 w 5002306"/>
              <a:gd name="connsiteY101" fmla="*/ 2294964 h 2366682"/>
              <a:gd name="connsiteX102" fmla="*/ 986118 w 5002306"/>
              <a:gd name="connsiteY102" fmla="*/ 2312894 h 2366682"/>
              <a:gd name="connsiteX103" fmla="*/ 1111624 w 5002306"/>
              <a:gd name="connsiteY103" fmla="*/ 2348753 h 2366682"/>
              <a:gd name="connsiteX104" fmla="*/ 1156447 w 5002306"/>
              <a:gd name="connsiteY104" fmla="*/ 2357717 h 2366682"/>
              <a:gd name="connsiteX105" fmla="*/ 1201271 w 5002306"/>
              <a:gd name="connsiteY105" fmla="*/ 2366682 h 2366682"/>
              <a:gd name="connsiteX106" fmla="*/ 1452282 w 5002306"/>
              <a:gd name="connsiteY106" fmla="*/ 2357717 h 2366682"/>
              <a:gd name="connsiteX107" fmla="*/ 1497106 w 5002306"/>
              <a:gd name="connsiteY107" fmla="*/ 2339788 h 2366682"/>
              <a:gd name="connsiteX108" fmla="*/ 1541930 w 5002306"/>
              <a:gd name="connsiteY108" fmla="*/ 2330823 h 2366682"/>
              <a:gd name="connsiteX109" fmla="*/ 1577788 w 5002306"/>
              <a:gd name="connsiteY109" fmla="*/ 2321858 h 2366682"/>
              <a:gd name="connsiteX110" fmla="*/ 1685365 w 5002306"/>
              <a:gd name="connsiteY110" fmla="*/ 2277035 h 2366682"/>
              <a:gd name="connsiteX111" fmla="*/ 1775012 w 5002306"/>
              <a:gd name="connsiteY111" fmla="*/ 2241176 h 2366682"/>
              <a:gd name="connsiteX112" fmla="*/ 1837765 w 5002306"/>
              <a:gd name="connsiteY112" fmla="*/ 2214282 h 2366682"/>
              <a:gd name="connsiteX113" fmla="*/ 1909482 w 5002306"/>
              <a:gd name="connsiteY113" fmla="*/ 2169458 h 2366682"/>
              <a:gd name="connsiteX114" fmla="*/ 1990165 w 5002306"/>
              <a:gd name="connsiteY114" fmla="*/ 2115670 h 2366682"/>
              <a:gd name="connsiteX115" fmla="*/ 2008094 w 5002306"/>
              <a:gd name="connsiteY115" fmla="*/ 2088776 h 2366682"/>
              <a:gd name="connsiteX116" fmla="*/ 2079812 w 5002306"/>
              <a:gd name="connsiteY116" fmla="*/ 2034988 h 2366682"/>
              <a:gd name="connsiteX117" fmla="*/ 2115671 w 5002306"/>
              <a:gd name="connsiteY117" fmla="*/ 1999129 h 2366682"/>
              <a:gd name="connsiteX118" fmla="*/ 2142565 w 5002306"/>
              <a:gd name="connsiteY118" fmla="*/ 1981200 h 2366682"/>
              <a:gd name="connsiteX119" fmla="*/ 2160494 w 5002306"/>
              <a:gd name="connsiteY119" fmla="*/ 1963270 h 2366682"/>
              <a:gd name="connsiteX120" fmla="*/ 2232212 w 5002306"/>
              <a:gd name="connsiteY120" fmla="*/ 1918447 h 2366682"/>
              <a:gd name="connsiteX121" fmla="*/ 2268071 w 5002306"/>
              <a:gd name="connsiteY121" fmla="*/ 1882588 h 2366682"/>
              <a:gd name="connsiteX122" fmla="*/ 2286000 w 5002306"/>
              <a:gd name="connsiteY122" fmla="*/ 1846729 h 2366682"/>
              <a:gd name="connsiteX123" fmla="*/ 2366682 w 5002306"/>
              <a:gd name="connsiteY123" fmla="*/ 1810870 h 2366682"/>
              <a:gd name="connsiteX124" fmla="*/ 2393577 w 5002306"/>
              <a:gd name="connsiteY124" fmla="*/ 1801905 h 2366682"/>
              <a:gd name="connsiteX125" fmla="*/ 2429435 w 5002306"/>
              <a:gd name="connsiteY125" fmla="*/ 1792941 h 236668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Lst>
            <a:rect l="l" t="t" r="r" b="b"/>
            <a:pathLst>
              <a:path w="5002306" h="2366682">
                <a:moveTo>
                  <a:pt x="5002306" y="1129553"/>
                </a:moveTo>
                <a:cubicBezTo>
                  <a:pt x="4978636" y="1139021"/>
                  <a:pt x="4955174" y="1149422"/>
                  <a:pt x="4930588" y="1156447"/>
                </a:cubicBezTo>
                <a:cubicBezTo>
                  <a:pt x="4918742" y="1159832"/>
                  <a:pt x="4906683" y="1162423"/>
                  <a:pt x="4894730" y="1165411"/>
                </a:cubicBezTo>
                <a:cubicBezTo>
                  <a:pt x="4885765" y="1171388"/>
                  <a:pt x="4877738" y="1179097"/>
                  <a:pt x="4867835" y="1183341"/>
                </a:cubicBezTo>
                <a:cubicBezTo>
                  <a:pt x="4846704" y="1192397"/>
                  <a:pt x="4783759" y="1199193"/>
                  <a:pt x="4769224" y="1201270"/>
                </a:cubicBezTo>
                <a:cubicBezTo>
                  <a:pt x="4718424" y="1198282"/>
                  <a:pt x="4667536" y="1196531"/>
                  <a:pt x="4616824" y="1192305"/>
                </a:cubicBezTo>
                <a:cubicBezTo>
                  <a:pt x="4545191" y="1186336"/>
                  <a:pt x="4570317" y="1183772"/>
                  <a:pt x="4509247" y="1174376"/>
                </a:cubicBezTo>
                <a:cubicBezTo>
                  <a:pt x="4485435" y="1170713"/>
                  <a:pt x="4461436" y="1168399"/>
                  <a:pt x="4437530" y="1165411"/>
                </a:cubicBezTo>
                <a:cubicBezTo>
                  <a:pt x="4376040" y="1144917"/>
                  <a:pt x="4452374" y="1169124"/>
                  <a:pt x="4365812" y="1147482"/>
                </a:cubicBezTo>
                <a:cubicBezTo>
                  <a:pt x="4345469" y="1142396"/>
                  <a:pt x="4310537" y="1126754"/>
                  <a:pt x="4294094" y="1120588"/>
                </a:cubicBezTo>
                <a:cubicBezTo>
                  <a:pt x="4259702" y="1107691"/>
                  <a:pt x="4270904" y="1113961"/>
                  <a:pt x="4231341" y="1102658"/>
                </a:cubicBezTo>
                <a:cubicBezTo>
                  <a:pt x="4222255" y="1100062"/>
                  <a:pt x="4213412" y="1096682"/>
                  <a:pt x="4204447" y="1093694"/>
                </a:cubicBezTo>
                <a:cubicBezTo>
                  <a:pt x="4168361" y="1057606"/>
                  <a:pt x="4208486" y="1091583"/>
                  <a:pt x="4150659" y="1066800"/>
                </a:cubicBezTo>
                <a:cubicBezTo>
                  <a:pt x="4140756" y="1062556"/>
                  <a:pt x="4133402" y="1053689"/>
                  <a:pt x="4123765" y="1048870"/>
                </a:cubicBezTo>
                <a:cubicBezTo>
                  <a:pt x="4049566" y="1011769"/>
                  <a:pt x="4154292" y="1077944"/>
                  <a:pt x="4061012" y="1021976"/>
                </a:cubicBezTo>
                <a:cubicBezTo>
                  <a:pt x="4042534" y="1010889"/>
                  <a:pt x="4026498" y="995754"/>
                  <a:pt x="4007224" y="986117"/>
                </a:cubicBezTo>
                <a:cubicBezTo>
                  <a:pt x="3995271" y="980141"/>
                  <a:pt x="3983047" y="974678"/>
                  <a:pt x="3971365" y="968188"/>
                </a:cubicBezTo>
                <a:cubicBezTo>
                  <a:pt x="3926112" y="943048"/>
                  <a:pt x="3933666" y="942468"/>
                  <a:pt x="3890682" y="923364"/>
                </a:cubicBezTo>
                <a:cubicBezTo>
                  <a:pt x="3773598" y="871326"/>
                  <a:pt x="3920384" y="943640"/>
                  <a:pt x="3801035" y="878541"/>
                </a:cubicBezTo>
                <a:cubicBezTo>
                  <a:pt x="3784435" y="869487"/>
                  <a:pt x="3738758" y="850588"/>
                  <a:pt x="3720353" y="833717"/>
                </a:cubicBezTo>
                <a:cubicBezTo>
                  <a:pt x="3692316" y="808016"/>
                  <a:pt x="3666565" y="779929"/>
                  <a:pt x="3639671" y="753035"/>
                </a:cubicBezTo>
                <a:lnTo>
                  <a:pt x="3612777" y="726141"/>
                </a:lnTo>
                <a:cubicBezTo>
                  <a:pt x="3606800" y="720164"/>
                  <a:pt x="3601340" y="713622"/>
                  <a:pt x="3594847" y="708211"/>
                </a:cubicBezTo>
                <a:cubicBezTo>
                  <a:pt x="3576918" y="693270"/>
                  <a:pt x="3558263" y="679158"/>
                  <a:pt x="3541059" y="663388"/>
                </a:cubicBezTo>
                <a:cubicBezTo>
                  <a:pt x="3541019" y="663351"/>
                  <a:pt x="3473843" y="596171"/>
                  <a:pt x="3460377" y="582705"/>
                </a:cubicBezTo>
                <a:lnTo>
                  <a:pt x="3424518" y="546847"/>
                </a:lnTo>
                <a:cubicBezTo>
                  <a:pt x="3415553" y="537882"/>
                  <a:pt x="3407524" y="527873"/>
                  <a:pt x="3397624" y="519953"/>
                </a:cubicBezTo>
                <a:cubicBezTo>
                  <a:pt x="3382683" y="508000"/>
                  <a:pt x="3366905" y="497023"/>
                  <a:pt x="3352800" y="484094"/>
                </a:cubicBezTo>
                <a:cubicBezTo>
                  <a:pt x="3330993" y="464105"/>
                  <a:pt x="3310965" y="442259"/>
                  <a:pt x="3290047" y="421341"/>
                </a:cubicBezTo>
                <a:cubicBezTo>
                  <a:pt x="3275106" y="406400"/>
                  <a:pt x="3261578" y="389897"/>
                  <a:pt x="3245224" y="376517"/>
                </a:cubicBezTo>
                <a:cubicBezTo>
                  <a:pt x="3068829" y="232195"/>
                  <a:pt x="3225293" y="357088"/>
                  <a:pt x="3048000" y="224117"/>
                </a:cubicBezTo>
                <a:cubicBezTo>
                  <a:pt x="3045732" y="222416"/>
                  <a:pt x="2976144" y="165777"/>
                  <a:pt x="2967318" y="161364"/>
                </a:cubicBezTo>
                <a:lnTo>
                  <a:pt x="2931459" y="143435"/>
                </a:lnTo>
                <a:cubicBezTo>
                  <a:pt x="2890918" y="102892"/>
                  <a:pt x="2941588" y="151874"/>
                  <a:pt x="2877671" y="98611"/>
                </a:cubicBezTo>
                <a:cubicBezTo>
                  <a:pt x="2871178" y="93200"/>
                  <a:pt x="2866989" y="85030"/>
                  <a:pt x="2859741" y="80682"/>
                </a:cubicBezTo>
                <a:cubicBezTo>
                  <a:pt x="2851638" y="75820"/>
                  <a:pt x="2841450" y="75627"/>
                  <a:pt x="2832847" y="71717"/>
                </a:cubicBezTo>
                <a:cubicBezTo>
                  <a:pt x="2808515" y="60657"/>
                  <a:pt x="2785036" y="47811"/>
                  <a:pt x="2761130" y="35858"/>
                </a:cubicBezTo>
                <a:cubicBezTo>
                  <a:pt x="2741696" y="26141"/>
                  <a:pt x="2720358" y="13360"/>
                  <a:pt x="2698377" y="8964"/>
                </a:cubicBezTo>
                <a:cubicBezTo>
                  <a:pt x="2677657" y="4820"/>
                  <a:pt x="2656542" y="2988"/>
                  <a:pt x="2635624" y="0"/>
                </a:cubicBezTo>
                <a:cubicBezTo>
                  <a:pt x="2575859" y="2988"/>
                  <a:pt x="2515963" y="3995"/>
                  <a:pt x="2456330" y="8964"/>
                </a:cubicBezTo>
                <a:cubicBezTo>
                  <a:pt x="2444052" y="9987"/>
                  <a:pt x="2432649" y="16055"/>
                  <a:pt x="2420471" y="17929"/>
                </a:cubicBezTo>
                <a:cubicBezTo>
                  <a:pt x="2393726" y="22044"/>
                  <a:pt x="2366639" y="23538"/>
                  <a:pt x="2339788" y="26894"/>
                </a:cubicBezTo>
                <a:cubicBezTo>
                  <a:pt x="2293624" y="32664"/>
                  <a:pt x="2268129" y="37342"/>
                  <a:pt x="2223247" y="44823"/>
                </a:cubicBezTo>
                <a:cubicBezTo>
                  <a:pt x="2175613" y="76580"/>
                  <a:pt x="2216455" y="54666"/>
                  <a:pt x="2142565" y="71717"/>
                </a:cubicBezTo>
                <a:cubicBezTo>
                  <a:pt x="2121367" y="76609"/>
                  <a:pt x="2101528" y="88344"/>
                  <a:pt x="2079812" y="89647"/>
                </a:cubicBezTo>
                <a:cubicBezTo>
                  <a:pt x="1951514" y="97345"/>
                  <a:pt x="1822824" y="95623"/>
                  <a:pt x="1694330" y="98611"/>
                </a:cubicBezTo>
                <a:cubicBezTo>
                  <a:pt x="1580368" y="117605"/>
                  <a:pt x="1705266" y="98415"/>
                  <a:pt x="1524000" y="116541"/>
                </a:cubicBezTo>
                <a:cubicBezTo>
                  <a:pt x="1502975" y="118643"/>
                  <a:pt x="1482214" y="122884"/>
                  <a:pt x="1461247" y="125505"/>
                </a:cubicBezTo>
                <a:cubicBezTo>
                  <a:pt x="1434396" y="128861"/>
                  <a:pt x="1407459" y="131482"/>
                  <a:pt x="1380565" y="134470"/>
                </a:cubicBezTo>
                <a:cubicBezTo>
                  <a:pt x="1356659" y="140447"/>
                  <a:pt x="1333010" y="147568"/>
                  <a:pt x="1308847" y="152400"/>
                </a:cubicBezTo>
                <a:cubicBezTo>
                  <a:pt x="1293906" y="155388"/>
                  <a:pt x="1278724" y="157355"/>
                  <a:pt x="1264024" y="161364"/>
                </a:cubicBezTo>
                <a:cubicBezTo>
                  <a:pt x="1245790" y="166337"/>
                  <a:pt x="1228570" y="174710"/>
                  <a:pt x="1210235" y="179294"/>
                </a:cubicBezTo>
                <a:cubicBezTo>
                  <a:pt x="1165338" y="190518"/>
                  <a:pt x="1164918" y="190199"/>
                  <a:pt x="1111624" y="206188"/>
                </a:cubicBezTo>
                <a:cubicBezTo>
                  <a:pt x="1102573" y="208903"/>
                  <a:pt x="1093897" y="212861"/>
                  <a:pt x="1084730" y="215153"/>
                </a:cubicBezTo>
                <a:cubicBezTo>
                  <a:pt x="1033523" y="227954"/>
                  <a:pt x="1050080" y="219272"/>
                  <a:pt x="1004047" y="233082"/>
                </a:cubicBezTo>
                <a:cubicBezTo>
                  <a:pt x="985945" y="238513"/>
                  <a:pt x="968188" y="245035"/>
                  <a:pt x="950259" y="251011"/>
                </a:cubicBezTo>
                <a:cubicBezTo>
                  <a:pt x="941294" y="253999"/>
                  <a:pt x="931228" y="254734"/>
                  <a:pt x="923365" y="259976"/>
                </a:cubicBezTo>
                <a:cubicBezTo>
                  <a:pt x="914400" y="265952"/>
                  <a:pt x="906374" y="273661"/>
                  <a:pt x="896471" y="277905"/>
                </a:cubicBezTo>
                <a:cubicBezTo>
                  <a:pt x="885146" y="282758"/>
                  <a:pt x="872148" y="282544"/>
                  <a:pt x="860612" y="286870"/>
                </a:cubicBezTo>
                <a:cubicBezTo>
                  <a:pt x="848099" y="291563"/>
                  <a:pt x="837036" y="299536"/>
                  <a:pt x="824753" y="304800"/>
                </a:cubicBezTo>
                <a:cubicBezTo>
                  <a:pt x="816068" y="308522"/>
                  <a:pt x="806824" y="310776"/>
                  <a:pt x="797859" y="313764"/>
                </a:cubicBezTo>
                <a:cubicBezTo>
                  <a:pt x="779930" y="325717"/>
                  <a:pt x="759308" y="334386"/>
                  <a:pt x="744071" y="349623"/>
                </a:cubicBezTo>
                <a:cubicBezTo>
                  <a:pt x="738094" y="355600"/>
                  <a:pt x="732741" y="362273"/>
                  <a:pt x="726141" y="367553"/>
                </a:cubicBezTo>
                <a:cubicBezTo>
                  <a:pt x="670364" y="412175"/>
                  <a:pt x="730681" y="353494"/>
                  <a:pt x="663388" y="412376"/>
                </a:cubicBezTo>
                <a:cubicBezTo>
                  <a:pt x="650667" y="423507"/>
                  <a:pt x="640251" y="437104"/>
                  <a:pt x="627530" y="448235"/>
                </a:cubicBezTo>
                <a:cubicBezTo>
                  <a:pt x="616286" y="458074"/>
                  <a:pt x="602838" y="465203"/>
                  <a:pt x="591671" y="475129"/>
                </a:cubicBezTo>
                <a:cubicBezTo>
                  <a:pt x="575878" y="489167"/>
                  <a:pt x="563751" y="507275"/>
                  <a:pt x="546847" y="519953"/>
                </a:cubicBezTo>
                <a:cubicBezTo>
                  <a:pt x="490703" y="562060"/>
                  <a:pt x="521553" y="536282"/>
                  <a:pt x="457200" y="600635"/>
                </a:cubicBezTo>
                <a:cubicBezTo>
                  <a:pt x="442259" y="615576"/>
                  <a:pt x="425055" y="628554"/>
                  <a:pt x="412377" y="645458"/>
                </a:cubicBezTo>
                <a:cubicBezTo>
                  <a:pt x="390730" y="674320"/>
                  <a:pt x="378635" y="693967"/>
                  <a:pt x="349624" y="717176"/>
                </a:cubicBezTo>
                <a:cubicBezTo>
                  <a:pt x="332797" y="730637"/>
                  <a:pt x="295835" y="753035"/>
                  <a:pt x="295835" y="753035"/>
                </a:cubicBezTo>
                <a:cubicBezTo>
                  <a:pt x="283882" y="770964"/>
                  <a:pt x="275214" y="791586"/>
                  <a:pt x="259977" y="806823"/>
                </a:cubicBezTo>
                <a:cubicBezTo>
                  <a:pt x="243300" y="823500"/>
                  <a:pt x="235427" y="829028"/>
                  <a:pt x="224118" y="851647"/>
                </a:cubicBezTo>
                <a:cubicBezTo>
                  <a:pt x="219892" y="860099"/>
                  <a:pt x="219841" y="870336"/>
                  <a:pt x="215153" y="878541"/>
                </a:cubicBezTo>
                <a:cubicBezTo>
                  <a:pt x="207740" y="891514"/>
                  <a:pt x="196547" y="901968"/>
                  <a:pt x="188259" y="914400"/>
                </a:cubicBezTo>
                <a:cubicBezTo>
                  <a:pt x="119097" y="1018144"/>
                  <a:pt x="201473" y="905745"/>
                  <a:pt x="134471" y="995082"/>
                </a:cubicBezTo>
                <a:cubicBezTo>
                  <a:pt x="116775" y="1065864"/>
                  <a:pt x="139555" y="995913"/>
                  <a:pt x="89647" y="1075764"/>
                </a:cubicBezTo>
                <a:cubicBezTo>
                  <a:pt x="84639" y="1083777"/>
                  <a:pt x="84404" y="1093972"/>
                  <a:pt x="80682" y="1102658"/>
                </a:cubicBezTo>
                <a:cubicBezTo>
                  <a:pt x="75418" y="1114941"/>
                  <a:pt x="68017" y="1126234"/>
                  <a:pt x="62753" y="1138517"/>
                </a:cubicBezTo>
                <a:cubicBezTo>
                  <a:pt x="59031" y="1147203"/>
                  <a:pt x="57510" y="1156725"/>
                  <a:pt x="53788" y="1165411"/>
                </a:cubicBezTo>
                <a:cubicBezTo>
                  <a:pt x="48524" y="1177694"/>
                  <a:pt x="40085" y="1188592"/>
                  <a:pt x="35859" y="1201270"/>
                </a:cubicBezTo>
                <a:cubicBezTo>
                  <a:pt x="21215" y="1245203"/>
                  <a:pt x="18447" y="1275146"/>
                  <a:pt x="8965" y="1317811"/>
                </a:cubicBezTo>
                <a:cubicBezTo>
                  <a:pt x="6292" y="1329838"/>
                  <a:pt x="2988" y="1341717"/>
                  <a:pt x="0" y="1353670"/>
                </a:cubicBezTo>
                <a:cubicBezTo>
                  <a:pt x="5977" y="1458258"/>
                  <a:pt x="9895" y="1562985"/>
                  <a:pt x="17930" y="1667435"/>
                </a:cubicBezTo>
                <a:cubicBezTo>
                  <a:pt x="19356" y="1685968"/>
                  <a:pt x="41592" y="1746308"/>
                  <a:pt x="44824" y="1757082"/>
                </a:cubicBezTo>
                <a:cubicBezTo>
                  <a:pt x="48364" y="1768883"/>
                  <a:pt x="48278" y="1781921"/>
                  <a:pt x="53788" y="1792941"/>
                </a:cubicBezTo>
                <a:cubicBezTo>
                  <a:pt x="69373" y="1824111"/>
                  <a:pt x="91993" y="1851418"/>
                  <a:pt x="107577" y="1882588"/>
                </a:cubicBezTo>
                <a:cubicBezTo>
                  <a:pt x="119042" y="1905518"/>
                  <a:pt x="144055" y="1959252"/>
                  <a:pt x="161365" y="1972235"/>
                </a:cubicBezTo>
                <a:cubicBezTo>
                  <a:pt x="173318" y="1981200"/>
                  <a:pt x="185880" y="1989405"/>
                  <a:pt x="197224" y="1999129"/>
                </a:cubicBezTo>
                <a:cubicBezTo>
                  <a:pt x="206850" y="2007380"/>
                  <a:pt x="213367" y="2019304"/>
                  <a:pt x="224118" y="2026023"/>
                </a:cubicBezTo>
                <a:cubicBezTo>
                  <a:pt x="237764" y="2034552"/>
                  <a:pt x="254548" y="2036756"/>
                  <a:pt x="268941" y="2043953"/>
                </a:cubicBezTo>
                <a:cubicBezTo>
                  <a:pt x="338449" y="2078708"/>
                  <a:pt x="255133" y="2048315"/>
                  <a:pt x="322730" y="2070847"/>
                </a:cubicBezTo>
                <a:cubicBezTo>
                  <a:pt x="334683" y="2079812"/>
                  <a:pt x="345224" y="2091059"/>
                  <a:pt x="358588" y="2097741"/>
                </a:cubicBezTo>
                <a:cubicBezTo>
                  <a:pt x="387374" y="2112134"/>
                  <a:pt x="419448" y="2119207"/>
                  <a:pt x="448235" y="2133600"/>
                </a:cubicBezTo>
                <a:cubicBezTo>
                  <a:pt x="460188" y="2139576"/>
                  <a:pt x="471535" y="2146962"/>
                  <a:pt x="484094" y="2151529"/>
                </a:cubicBezTo>
                <a:cubicBezTo>
                  <a:pt x="504539" y="2158963"/>
                  <a:pt x="526102" y="2162907"/>
                  <a:pt x="546847" y="2169458"/>
                </a:cubicBezTo>
                <a:cubicBezTo>
                  <a:pt x="582891" y="2180840"/>
                  <a:pt x="619329" y="2191278"/>
                  <a:pt x="654424" y="2205317"/>
                </a:cubicBezTo>
                <a:cubicBezTo>
                  <a:pt x="669365" y="2211294"/>
                  <a:pt x="683834" y="2218623"/>
                  <a:pt x="699247" y="2223247"/>
                </a:cubicBezTo>
                <a:cubicBezTo>
                  <a:pt x="789295" y="2250261"/>
                  <a:pt x="696509" y="2209601"/>
                  <a:pt x="797859" y="2250141"/>
                </a:cubicBezTo>
                <a:cubicBezTo>
                  <a:pt x="810267" y="2255104"/>
                  <a:pt x="821205" y="2263378"/>
                  <a:pt x="833718" y="2268070"/>
                </a:cubicBezTo>
                <a:cubicBezTo>
                  <a:pt x="845254" y="2272396"/>
                  <a:pt x="858041" y="2272709"/>
                  <a:pt x="869577" y="2277035"/>
                </a:cubicBezTo>
                <a:cubicBezTo>
                  <a:pt x="882090" y="2281727"/>
                  <a:pt x="892757" y="2290738"/>
                  <a:pt x="905435" y="2294964"/>
                </a:cubicBezTo>
                <a:cubicBezTo>
                  <a:pt x="956564" y="2312007"/>
                  <a:pt x="940148" y="2295655"/>
                  <a:pt x="986118" y="2312894"/>
                </a:cubicBezTo>
                <a:cubicBezTo>
                  <a:pt x="1094312" y="2353467"/>
                  <a:pt x="906078" y="2307644"/>
                  <a:pt x="1111624" y="2348753"/>
                </a:cubicBezTo>
                <a:lnTo>
                  <a:pt x="1156447" y="2357717"/>
                </a:lnTo>
                <a:lnTo>
                  <a:pt x="1201271" y="2366682"/>
                </a:lnTo>
                <a:cubicBezTo>
                  <a:pt x="1284941" y="2363694"/>
                  <a:pt x="1368902" y="2365297"/>
                  <a:pt x="1452282" y="2357717"/>
                </a:cubicBezTo>
                <a:cubicBezTo>
                  <a:pt x="1468308" y="2356260"/>
                  <a:pt x="1481692" y="2344412"/>
                  <a:pt x="1497106" y="2339788"/>
                </a:cubicBezTo>
                <a:cubicBezTo>
                  <a:pt x="1511701" y="2335410"/>
                  <a:pt x="1527056" y="2334129"/>
                  <a:pt x="1541930" y="2330823"/>
                </a:cubicBezTo>
                <a:cubicBezTo>
                  <a:pt x="1553957" y="2328150"/>
                  <a:pt x="1565835" y="2324846"/>
                  <a:pt x="1577788" y="2321858"/>
                </a:cubicBezTo>
                <a:cubicBezTo>
                  <a:pt x="1658597" y="2273374"/>
                  <a:pt x="1584221" y="2312733"/>
                  <a:pt x="1685365" y="2277035"/>
                </a:cubicBezTo>
                <a:cubicBezTo>
                  <a:pt x="1715714" y="2266323"/>
                  <a:pt x="1746225" y="2255569"/>
                  <a:pt x="1775012" y="2241176"/>
                </a:cubicBezTo>
                <a:cubicBezTo>
                  <a:pt x="1819323" y="2219021"/>
                  <a:pt x="1798193" y="2227473"/>
                  <a:pt x="1837765" y="2214282"/>
                </a:cubicBezTo>
                <a:cubicBezTo>
                  <a:pt x="1931479" y="2143997"/>
                  <a:pt x="1818076" y="2225708"/>
                  <a:pt x="1909482" y="2169458"/>
                </a:cubicBezTo>
                <a:cubicBezTo>
                  <a:pt x="1937010" y="2152518"/>
                  <a:pt x="1990165" y="2115670"/>
                  <a:pt x="1990165" y="2115670"/>
                </a:cubicBezTo>
                <a:cubicBezTo>
                  <a:pt x="1996141" y="2106705"/>
                  <a:pt x="2000476" y="2096394"/>
                  <a:pt x="2008094" y="2088776"/>
                </a:cubicBezTo>
                <a:cubicBezTo>
                  <a:pt x="2088183" y="2008687"/>
                  <a:pt x="2021878" y="2084646"/>
                  <a:pt x="2079812" y="2034988"/>
                </a:cubicBezTo>
                <a:cubicBezTo>
                  <a:pt x="2092647" y="2023987"/>
                  <a:pt x="2101606" y="2008506"/>
                  <a:pt x="2115671" y="1999129"/>
                </a:cubicBezTo>
                <a:cubicBezTo>
                  <a:pt x="2124636" y="1993153"/>
                  <a:pt x="2134152" y="1987931"/>
                  <a:pt x="2142565" y="1981200"/>
                </a:cubicBezTo>
                <a:cubicBezTo>
                  <a:pt x="2149165" y="1975920"/>
                  <a:pt x="2153616" y="1968183"/>
                  <a:pt x="2160494" y="1963270"/>
                </a:cubicBezTo>
                <a:cubicBezTo>
                  <a:pt x="2168551" y="1957515"/>
                  <a:pt x="2219267" y="1929543"/>
                  <a:pt x="2232212" y="1918447"/>
                </a:cubicBezTo>
                <a:cubicBezTo>
                  <a:pt x="2245047" y="1907446"/>
                  <a:pt x="2268071" y="1882588"/>
                  <a:pt x="2268071" y="1882588"/>
                </a:cubicBezTo>
                <a:cubicBezTo>
                  <a:pt x="2274047" y="1870635"/>
                  <a:pt x="2277445" y="1856995"/>
                  <a:pt x="2286000" y="1846729"/>
                </a:cubicBezTo>
                <a:cubicBezTo>
                  <a:pt x="2302391" y="1827060"/>
                  <a:pt x="2348681" y="1816871"/>
                  <a:pt x="2366682" y="1810870"/>
                </a:cubicBezTo>
                <a:cubicBezTo>
                  <a:pt x="2375647" y="1807882"/>
                  <a:pt x="2384409" y="1804197"/>
                  <a:pt x="2393577" y="1801905"/>
                </a:cubicBezTo>
                <a:lnTo>
                  <a:pt x="2429435" y="1792941"/>
                </a:lnTo>
              </a:path>
            </a:pathLst>
          </a:custGeom>
          <a:noFill/>
          <a:ln>
            <a:solidFill>
              <a:srgbClr val="FFC000"/>
            </a:solidFill>
            <a:prstDash val="dash"/>
            <a:headEnd type="none" w="med" len="med"/>
            <a:tailEnd type="triangl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NL"/>
          </a:p>
        </p:txBody>
      </p:sp>
      <p:sp>
        <p:nvSpPr>
          <p:cNvPr id="55" name="TextBox 54">
            <a:extLst>
              <a:ext uri="{FF2B5EF4-FFF2-40B4-BE49-F238E27FC236}">
                <a16:creationId xmlns:a16="http://schemas.microsoft.com/office/drawing/2014/main" id="{E17DE363-14E4-48F9-677A-CA90ED756D58}"/>
              </a:ext>
            </a:extLst>
          </p:cNvPr>
          <p:cNvSpPr txBox="1"/>
          <p:nvPr/>
        </p:nvSpPr>
        <p:spPr>
          <a:xfrm>
            <a:off x="6786333" y="6072919"/>
            <a:ext cx="1910836" cy="738664"/>
          </a:xfrm>
          <a:prstGeom prst="rect">
            <a:avLst/>
          </a:prstGeom>
          <a:noFill/>
        </p:spPr>
        <p:txBody>
          <a:bodyPr wrap="square" rtlCol="0">
            <a:spAutoFit/>
          </a:bodyPr>
          <a:lstStyle/>
          <a:p>
            <a:r>
              <a:rPr lang="en-NL" sz="1400" dirty="0"/>
              <a:t>imagine subclass B overrides m(), but not k()</a:t>
            </a:r>
          </a:p>
        </p:txBody>
      </p:sp>
      <p:sp>
        <p:nvSpPr>
          <p:cNvPr id="56" name="TextBox 55">
            <a:extLst>
              <a:ext uri="{FF2B5EF4-FFF2-40B4-BE49-F238E27FC236}">
                <a16:creationId xmlns:a16="http://schemas.microsoft.com/office/drawing/2014/main" id="{B8679004-9E3C-CAAE-9638-65056A1524DE}"/>
              </a:ext>
            </a:extLst>
          </p:cNvPr>
          <p:cNvSpPr txBox="1"/>
          <p:nvPr/>
        </p:nvSpPr>
        <p:spPr>
          <a:xfrm>
            <a:off x="360745" y="1558400"/>
            <a:ext cx="4660315" cy="369332"/>
          </a:xfrm>
          <a:prstGeom prst="rect">
            <a:avLst/>
          </a:prstGeom>
          <a:noFill/>
        </p:spPr>
        <p:txBody>
          <a:bodyPr wrap="none" rtlCol="0">
            <a:spAutoFit/>
          </a:bodyPr>
          <a:lstStyle/>
          <a:p>
            <a:r>
              <a:rPr lang="en-NL" dirty="0"/>
              <a:t>setup-1 : direct coupling between E and A/B</a:t>
            </a:r>
          </a:p>
        </p:txBody>
      </p:sp>
      <p:sp>
        <p:nvSpPr>
          <p:cNvPr id="57" name="TextBox 56">
            <a:extLst>
              <a:ext uri="{FF2B5EF4-FFF2-40B4-BE49-F238E27FC236}">
                <a16:creationId xmlns:a16="http://schemas.microsoft.com/office/drawing/2014/main" id="{E497A6CA-07A7-790B-BEE0-F9BC31FD0C19}"/>
              </a:ext>
            </a:extLst>
          </p:cNvPr>
          <p:cNvSpPr txBox="1"/>
          <p:nvPr/>
        </p:nvSpPr>
        <p:spPr>
          <a:xfrm>
            <a:off x="395536" y="3758003"/>
            <a:ext cx="7417480" cy="369332"/>
          </a:xfrm>
          <a:prstGeom prst="rect">
            <a:avLst/>
          </a:prstGeom>
          <a:noFill/>
        </p:spPr>
        <p:txBody>
          <a:bodyPr wrap="none" rtlCol="0">
            <a:spAutoFit/>
          </a:bodyPr>
          <a:lstStyle/>
          <a:p>
            <a:r>
              <a:rPr lang="en-NL" dirty="0"/>
              <a:t>setup-2 : indirect coupling between methods of A/B in the context of E2</a:t>
            </a:r>
          </a:p>
        </p:txBody>
      </p:sp>
      <p:sp>
        <p:nvSpPr>
          <p:cNvPr id="58" name="TextBox 57">
            <a:extLst>
              <a:ext uri="{FF2B5EF4-FFF2-40B4-BE49-F238E27FC236}">
                <a16:creationId xmlns:a16="http://schemas.microsoft.com/office/drawing/2014/main" id="{E8281053-588F-47CA-AEAA-26CCFC24D32F}"/>
              </a:ext>
            </a:extLst>
          </p:cNvPr>
          <p:cNvSpPr txBox="1"/>
          <p:nvPr/>
        </p:nvSpPr>
        <p:spPr>
          <a:xfrm>
            <a:off x="1187624" y="5894692"/>
            <a:ext cx="1755427" cy="523220"/>
          </a:xfrm>
          <a:prstGeom prst="rect">
            <a:avLst/>
          </a:prstGeom>
          <a:noFill/>
        </p:spPr>
        <p:txBody>
          <a:bodyPr wrap="square" rtlCol="0">
            <a:spAutoFit/>
          </a:bodyPr>
          <a:lstStyle/>
          <a:p>
            <a:pPr algn="r"/>
            <a:r>
              <a:rPr lang="en-NL" sz="1400" dirty="0"/>
              <a:t>yellow exposes “yoyo”</a:t>
            </a:r>
          </a:p>
        </p:txBody>
      </p:sp>
    </p:spTree>
    <p:extLst>
      <p:ext uri="{BB962C8B-B14F-4D97-AF65-F5344CB8AC3E}">
        <p14:creationId xmlns:p14="http://schemas.microsoft.com/office/powerpoint/2010/main" val="3177077208"/>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3794" name="Title 1"/>
          <p:cNvSpPr>
            <a:spLocks noGrp="1"/>
          </p:cNvSpPr>
          <p:nvPr>
            <p:ph type="title"/>
          </p:nvPr>
        </p:nvSpPr>
        <p:spPr/>
        <p:txBody>
          <a:bodyPr/>
          <a:lstStyle/>
          <a:p>
            <a:r>
              <a:rPr lang="en-US" sz="4000" dirty="0"/>
              <a:t>Terminology</a:t>
            </a:r>
          </a:p>
        </p:txBody>
      </p:sp>
      <p:sp>
        <p:nvSpPr>
          <p:cNvPr id="33795" name="Content Placeholder 2"/>
          <p:cNvSpPr>
            <a:spLocks noGrp="1"/>
          </p:cNvSpPr>
          <p:nvPr>
            <p:ph idx="1"/>
          </p:nvPr>
        </p:nvSpPr>
        <p:spPr>
          <a:xfrm>
            <a:off x="457200" y="3320394"/>
            <a:ext cx="8229600" cy="2697163"/>
          </a:xfrm>
        </p:spPr>
        <p:txBody>
          <a:bodyPr/>
          <a:lstStyle/>
          <a:p>
            <a:r>
              <a:rPr lang="en-US" sz="2400" i="1" dirty="0">
                <a:sym typeface="Wingdings" pitchFamily="2" charset="2"/>
              </a:rPr>
              <a:t>f</a:t>
            </a:r>
            <a:r>
              <a:rPr lang="en-US" sz="2400" dirty="0">
                <a:sym typeface="Wingdings" pitchFamily="2" charset="2"/>
              </a:rPr>
              <a:t>  itself  is here called the </a:t>
            </a:r>
            <a:r>
              <a:rPr lang="en-US" sz="2400" i="1" dirty="0">
                <a:solidFill>
                  <a:srgbClr val="FF0000"/>
                </a:solidFill>
                <a:sym typeface="Wingdings" pitchFamily="2" charset="2"/>
              </a:rPr>
              <a:t>coupling method</a:t>
            </a:r>
            <a:r>
              <a:rPr lang="en-US" sz="2400" i="1" dirty="0">
                <a:sym typeface="Wingdings" pitchFamily="2" charset="2"/>
              </a:rPr>
              <a:t>.</a:t>
            </a:r>
            <a:endParaRPr lang="en-US" sz="2400" dirty="0"/>
          </a:p>
          <a:p>
            <a:r>
              <a:rPr lang="en-US" sz="2400" dirty="0"/>
              <a:t>The field </a:t>
            </a:r>
            <a:r>
              <a:rPr lang="en-US" sz="2400" dirty="0" err="1"/>
              <a:t>o.x</a:t>
            </a:r>
            <a:r>
              <a:rPr lang="en-US" sz="2400" dirty="0"/>
              <a:t> is “indirectly” defined (</a:t>
            </a:r>
            <a:r>
              <a:rPr lang="en-US" sz="2400" dirty="0" err="1">
                <a:solidFill>
                  <a:srgbClr val="FF0000"/>
                </a:solidFill>
              </a:rPr>
              <a:t>i</a:t>
            </a:r>
            <a:r>
              <a:rPr lang="en-US" sz="2400" dirty="0">
                <a:solidFill>
                  <a:srgbClr val="FF0000"/>
                </a:solidFill>
              </a:rPr>
              <a:t>-def</a:t>
            </a:r>
            <a:r>
              <a:rPr lang="en-US" sz="2400" dirty="0"/>
              <a:t>) if the field is updated in some </a:t>
            </a:r>
            <a:r>
              <a:rPr lang="en-US" sz="2400" dirty="0" err="1"/>
              <a:t>o.method</a:t>
            </a:r>
            <a:r>
              <a:rPr lang="en-US" sz="2400" dirty="0"/>
              <a:t>() called by f.</a:t>
            </a:r>
            <a:br>
              <a:rPr lang="en-US" sz="2400" dirty="0"/>
            </a:br>
            <a:r>
              <a:rPr lang="en-US" sz="2400" dirty="0"/>
              <a:t>Analogously, we define </a:t>
            </a:r>
            <a:r>
              <a:rPr lang="en-US" sz="2400" dirty="0" err="1">
                <a:solidFill>
                  <a:srgbClr val="FF0000"/>
                </a:solidFill>
              </a:rPr>
              <a:t>i</a:t>
            </a:r>
            <a:r>
              <a:rPr lang="en-US" sz="2400" dirty="0">
                <a:solidFill>
                  <a:srgbClr val="FF0000"/>
                </a:solidFill>
              </a:rPr>
              <a:t>-use</a:t>
            </a:r>
            <a:r>
              <a:rPr lang="en-US" sz="2400" dirty="0"/>
              <a:t>. </a:t>
            </a:r>
          </a:p>
          <a:p>
            <a:r>
              <a:rPr lang="en-US" sz="2400" dirty="0"/>
              <a:t>Focus on coupling </a:t>
            </a:r>
            <a:r>
              <a:rPr lang="en-US" sz="2400" b="1" dirty="0"/>
              <a:t>within</a:t>
            </a:r>
            <a:r>
              <a:rPr lang="en-US" sz="2400" dirty="0"/>
              <a:t> </a:t>
            </a:r>
            <a:r>
              <a:rPr lang="en-US" sz="2400" i="1" dirty="0"/>
              <a:t>f</a:t>
            </a:r>
            <a:r>
              <a:rPr lang="en-US" sz="2400" dirty="0"/>
              <a:t> due to fields </a:t>
            </a:r>
            <a:r>
              <a:rPr lang="en-US" sz="2400" dirty="0" err="1"/>
              <a:t>o.</a:t>
            </a:r>
            <a:r>
              <a:rPr lang="en-US" sz="2400" i="1" dirty="0" err="1"/>
              <a:t>x</a:t>
            </a:r>
            <a:r>
              <a:rPr lang="en-US" sz="2400" i="1" dirty="0"/>
              <a:t> </a:t>
            </a:r>
            <a:r>
              <a:rPr lang="en-US" sz="2400" dirty="0"/>
              <a:t>indirectly defined by </a:t>
            </a:r>
            <a:r>
              <a:rPr lang="en-US" sz="2400" dirty="0" err="1"/>
              <a:t>o.</a:t>
            </a:r>
            <a:r>
              <a:rPr lang="en-US" sz="2400" i="1" dirty="0" err="1"/>
              <a:t>m</a:t>
            </a:r>
            <a:r>
              <a:rPr lang="en-US" sz="2400" dirty="0"/>
              <a:t>(), and used by </a:t>
            </a:r>
            <a:r>
              <a:rPr lang="en-US" sz="2400" dirty="0" err="1"/>
              <a:t>o.</a:t>
            </a:r>
            <a:r>
              <a:rPr lang="en-US" sz="2400" i="1" dirty="0" err="1"/>
              <a:t>k</a:t>
            </a:r>
            <a:r>
              <a:rPr lang="en-US" sz="2400" dirty="0"/>
              <a:t>(); </a:t>
            </a:r>
            <a:r>
              <a:rPr lang="en-US" sz="2400" dirty="0" err="1"/>
              <a:t>o.m</a:t>
            </a:r>
            <a:r>
              <a:rPr lang="en-US" sz="2400" dirty="0"/>
              <a:t>() is then called </a:t>
            </a:r>
            <a:r>
              <a:rPr lang="en-US" sz="2400" i="1" dirty="0">
                <a:solidFill>
                  <a:srgbClr val="FF0000"/>
                </a:solidFill>
              </a:rPr>
              <a:t>antecedent</a:t>
            </a:r>
            <a:r>
              <a:rPr lang="en-US" sz="2400" dirty="0"/>
              <a:t> of this coupling and </a:t>
            </a:r>
            <a:r>
              <a:rPr lang="en-US" sz="2400" dirty="0" err="1"/>
              <a:t>o.k</a:t>
            </a:r>
            <a:r>
              <a:rPr lang="en-US" sz="2400" dirty="0"/>
              <a:t>() the</a:t>
            </a:r>
            <a:r>
              <a:rPr lang="en-US" sz="2400" dirty="0">
                <a:sym typeface="Wingdings" pitchFamily="2" charset="2"/>
              </a:rPr>
              <a:t> </a:t>
            </a:r>
            <a:r>
              <a:rPr lang="en-US" sz="2400" i="1" dirty="0">
                <a:solidFill>
                  <a:srgbClr val="FF0000"/>
                </a:solidFill>
                <a:sym typeface="Wingdings" pitchFamily="2" charset="2"/>
              </a:rPr>
              <a:t>consequent</a:t>
            </a:r>
            <a:r>
              <a:rPr lang="en-US" sz="2400" dirty="0">
                <a:sym typeface="Wingdings" pitchFamily="2" charset="2"/>
              </a:rPr>
              <a:t>. </a:t>
            </a:r>
          </a:p>
        </p:txBody>
      </p:sp>
      <p:sp>
        <p:nvSpPr>
          <p:cNvPr id="4" name="Slide Number Placeholder 3"/>
          <p:cNvSpPr>
            <a:spLocks noGrp="1"/>
          </p:cNvSpPr>
          <p:nvPr>
            <p:ph type="sldNum" sz="quarter" idx="12"/>
          </p:nvPr>
        </p:nvSpPr>
        <p:spPr/>
        <p:txBody>
          <a:bodyPr/>
          <a:lstStyle/>
          <a:p>
            <a:pPr>
              <a:defRPr/>
            </a:pPr>
            <a:fld id="{A0D741F4-878F-4035-8C97-BFF5C4968CE8}" type="slidenum">
              <a:rPr lang="en-US" smtClean="0"/>
              <a:pPr>
                <a:defRPr/>
              </a:pPr>
              <a:t>34</a:t>
            </a:fld>
            <a:endParaRPr lang="en-US"/>
          </a:p>
        </p:txBody>
      </p:sp>
      <p:sp>
        <p:nvSpPr>
          <p:cNvPr id="7" name="TextBox 6"/>
          <p:cNvSpPr txBox="1"/>
          <p:nvPr/>
        </p:nvSpPr>
        <p:spPr>
          <a:xfrm>
            <a:off x="2555776" y="1578908"/>
            <a:ext cx="4228978" cy="1569660"/>
          </a:xfrm>
          <a:prstGeom prst="rect">
            <a:avLst/>
          </a:prstGeom>
          <a:solidFill>
            <a:schemeClr val="accent5">
              <a:lumMod val="20000"/>
              <a:lumOff val="80000"/>
            </a:schemeClr>
          </a:solidFill>
          <a:ln>
            <a:solidFill>
              <a:schemeClr val="tx1"/>
            </a:solidFill>
          </a:ln>
        </p:spPr>
        <p:txBody>
          <a:bodyPr wrap="none">
            <a:spAutoFit/>
          </a:bodyPr>
          <a:lstStyle/>
          <a:p>
            <a:pPr>
              <a:defRPr/>
            </a:pPr>
            <a:r>
              <a:rPr lang="en-US" sz="2400" dirty="0">
                <a:latin typeface="+mn-lt"/>
              </a:rPr>
              <a:t>f(x) {   </a:t>
            </a:r>
            <a:r>
              <a:rPr lang="en-US" sz="2400" dirty="0">
                <a:solidFill>
                  <a:schemeClr val="accent2">
                    <a:lumMod val="60000"/>
                    <a:lumOff val="40000"/>
                  </a:schemeClr>
                </a:solidFill>
                <a:latin typeface="+mn-lt"/>
              </a:rPr>
              <a:t>(1)  </a:t>
            </a:r>
            <a:r>
              <a:rPr lang="en-US" sz="2400" dirty="0">
                <a:latin typeface="+mn-lt"/>
              </a:rPr>
              <a:t>A o = Factory(x ) ; </a:t>
            </a:r>
            <a:endParaRPr lang="en-US" sz="2400" dirty="0">
              <a:solidFill>
                <a:schemeClr val="accent1">
                  <a:lumMod val="60000"/>
                  <a:lumOff val="40000"/>
                </a:schemeClr>
              </a:solidFill>
              <a:latin typeface="+mn-lt"/>
            </a:endParaRPr>
          </a:p>
          <a:p>
            <a:pPr>
              <a:defRPr/>
            </a:pPr>
            <a:r>
              <a:rPr lang="en-US" sz="2400" dirty="0">
                <a:latin typeface="+mn-lt"/>
              </a:rPr>
              <a:t>          </a:t>
            </a:r>
            <a:r>
              <a:rPr lang="en-US" sz="2400" dirty="0">
                <a:solidFill>
                  <a:schemeClr val="accent2">
                    <a:lumMod val="60000"/>
                    <a:lumOff val="40000"/>
                  </a:schemeClr>
                </a:solidFill>
                <a:latin typeface="+mn-lt"/>
              </a:rPr>
              <a:t> (2)  </a:t>
            </a:r>
            <a:r>
              <a:rPr lang="en-US" sz="2400" dirty="0">
                <a:latin typeface="+mn-lt"/>
              </a:rPr>
              <a:t>y = </a:t>
            </a:r>
            <a:r>
              <a:rPr lang="en-US" sz="2400" dirty="0" err="1">
                <a:latin typeface="+mn-lt"/>
              </a:rPr>
              <a:t>o.m</a:t>
            </a:r>
            <a:r>
              <a:rPr lang="en-US" sz="2400" dirty="0">
                <a:latin typeface="+mn-lt"/>
              </a:rPr>
              <a:t>(..) ;                  </a:t>
            </a:r>
            <a:endParaRPr lang="en-US" sz="2400" dirty="0">
              <a:solidFill>
                <a:schemeClr val="accent1">
                  <a:lumMod val="60000"/>
                  <a:lumOff val="40000"/>
                </a:schemeClr>
              </a:solidFill>
              <a:latin typeface="+mn-lt"/>
            </a:endParaRPr>
          </a:p>
          <a:p>
            <a:pPr>
              <a:defRPr/>
            </a:pPr>
            <a:r>
              <a:rPr lang="en-US" sz="2400" dirty="0">
                <a:latin typeface="+mn-lt"/>
              </a:rPr>
              <a:t>           ...</a:t>
            </a:r>
          </a:p>
          <a:p>
            <a:pPr>
              <a:defRPr/>
            </a:pPr>
            <a:r>
              <a:rPr lang="en-US" sz="2400" dirty="0">
                <a:latin typeface="+mn-lt"/>
              </a:rPr>
              <a:t>           </a:t>
            </a:r>
            <a:r>
              <a:rPr lang="en-US" sz="2400" dirty="0">
                <a:solidFill>
                  <a:schemeClr val="accent2">
                    <a:lumMod val="60000"/>
                    <a:lumOff val="40000"/>
                  </a:schemeClr>
                </a:solidFill>
                <a:latin typeface="+mn-lt"/>
              </a:rPr>
              <a:t>(3)  </a:t>
            </a:r>
            <a:r>
              <a:rPr lang="en-US" sz="2400" dirty="0">
                <a:latin typeface="+mn-lt"/>
              </a:rPr>
              <a:t>z = </a:t>
            </a:r>
            <a:r>
              <a:rPr lang="en-US" sz="2400" dirty="0" err="1">
                <a:latin typeface="+mn-lt"/>
              </a:rPr>
              <a:t>o.k</a:t>
            </a:r>
            <a:r>
              <a:rPr lang="en-US" sz="2400" dirty="0">
                <a:latin typeface="+mn-lt"/>
              </a:rPr>
              <a:t>(..)  }</a:t>
            </a:r>
            <a:endParaRPr lang="en-US" sz="2400" dirty="0">
              <a:solidFill>
                <a:schemeClr val="accent1">
                  <a:lumMod val="60000"/>
                  <a:lumOff val="40000"/>
                </a:schemeClr>
              </a:solidFill>
              <a:latin typeface="+mn-lt"/>
            </a:endParaRPr>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4818" name="Title 1"/>
          <p:cNvSpPr>
            <a:spLocks noGrp="1"/>
          </p:cNvSpPr>
          <p:nvPr>
            <p:ph type="title"/>
          </p:nvPr>
        </p:nvSpPr>
        <p:spPr>
          <a:xfrm>
            <a:off x="457200" y="274638"/>
            <a:ext cx="8229600" cy="642269"/>
          </a:xfrm>
        </p:spPr>
        <p:txBody>
          <a:bodyPr/>
          <a:lstStyle/>
          <a:p>
            <a:r>
              <a:rPr lang="en-US" sz="4000" dirty="0"/>
              <a:t>Terminology</a:t>
            </a:r>
          </a:p>
        </p:txBody>
      </p:sp>
      <p:sp>
        <p:nvSpPr>
          <p:cNvPr id="34819" name="Content Placeholder 2"/>
          <p:cNvSpPr>
            <a:spLocks noGrp="1"/>
          </p:cNvSpPr>
          <p:nvPr>
            <p:ph idx="1"/>
          </p:nvPr>
        </p:nvSpPr>
        <p:spPr>
          <a:xfrm>
            <a:off x="454348" y="3046257"/>
            <a:ext cx="8229600" cy="2894836"/>
          </a:xfrm>
        </p:spPr>
        <p:txBody>
          <a:bodyPr/>
          <a:lstStyle/>
          <a:p>
            <a:pPr algn="just"/>
            <a:r>
              <a:rPr lang="en-US" sz="2400" i="1" dirty="0">
                <a:solidFill>
                  <a:srgbClr val="FF0000"/>
                </a:solidFill>
              </a:rPr>
              <a:t>Coupling sequence </a:t>
            </a:r>
            <a:r>
              <a:rPr lang="en-US" sz="2400" i="1" dirty="0"/>
              <a:t>c</a:t>
            </a:r>
            <a:r>
              <a:rPr lang="en-US" sz="2400" dirty="0"/>
              <a:t>: a pair of antecedent m, and consequence </a:t>
            </a:r>
            <a:r>
              <a:rPr lang="en-US" sz="2400" i="1" dirty="0"/>
              <a:t>n</a:t>
            </a:r>
            <a:r>
              <a:rPr lang="en-US" sz="2400" dirty="0"/>
              <a:t>, such that there is at least 1x </a:t>
            </a:r>
            <a:r>
              <a:rPr lang="en-US" sz="2400" i="1" dirty="0">
                <a:solidFill>
                  <a:srgbClr val="C00000"/>
                </a:solidFill>
              </a:rPr>
              <a:t>coupling path</a:t>
            </a:r>
            <a:r>
              <a:rPr lang="en-US" sz="2400" dirty="0"/>
              <a:t> between them: a </a:t>
            </a:r>
            <a:r>
              <a:rPr lang="en-US" sz="2400" b="1" dirty="0"/>
              <a:t>du-path</a:t>
            </a:r>
            <a:r>
              <a:rPr lang="en-US" sz="2400" dirty="0"/>
              <a:t> from a </a:t>
            </a:r>
            <a:r>
              <a:rPr lang="en-US" sz="2400" dirty="0" err="1"/>
              <a:t>i</a:t>
            </a:r>
            <a:r>
              <a:rPr lang="en-US" sz="2400" dirty="0"/>
              <a:t>-def to some </a:t>
            </a:r>
            <a:r>
              <a:rPr lang="en-US" sz="2400" dirty="0" err="1"/>
              <a:t>o.x</a:t>
            </a:r>
            <a:r>
              <a:rPr lang="en-US" sz="2400" dirty="0"/>
              <a:t> inside m(), through the purple part in f, to an </a:t>
            </a:r>
            <a:r>
              <a:rPr lang="en-US" sz="2400" dirty="0" err="1"/>
              <a:t>i</a:t>
            </a:r>
            <a:r>
              <a:rPr lang="en-US" sz="2400" dirty="0"/>
              <a:t>-use of </a:t>
            </a:r>
            <a:r>
              <a:rPr lang="en-US" sz="2400" dirty="0" err="1"/>
              <a:t>o.x</a:t>
            </a:r>
            <a:r>
              <a:rPr lang="en-US" sz="2400" dirty="0"/>
              <a:t> in k()</a:t>
            </a:r>
            <a:r>
              <a:rPr lang="en-US" sz="2400" i="1" dirty="0"/>
              <a:t>. </a:t>
            </a:r>
          </a:p>
          <a:p>
            <a:pPr lvl="1" algn="just"/>
            <a:r>
              <a:rPr lang="en-US" sz="2000" i="1" dirty="0"/>
              <a:t>o </a:t>
            </a:r>
            <a:r>
              <a:rPr lang="en-US" sz="2000" dirty="0"/>
              <a:t>is called the </a:t>
            </a:r>
            <a:r>
              <a:rPr lang="en-US" sz="2000" i="1" dirty="0">
                <a:solidFill>
                  <a:srgbClr val="FF0000"/>
                </a:solidFill>
              </a:rPr>
              <a:t>context var </a:t>
            </a:r>
            <a:r>
              <a:rPr lang="en-US" sz="2000" dirty="0"/>
              <a:t>of the coupling sequence </a:t>
            </a:r>
            <a:r>
              <a:rPr lang="en-US" sz="2000" i="1" dirty="0"/>
              <a:t>c</a:t>
            </a:r>
          </a:p>
          <a:p>
            <a:pPr lvl="1" algn="just"/>
            <a:r>
              <a:rPr lang="en-US" sz="2000" i="1" dirty="0" err="1"/>
              <a:t>o.x</a:t>
            </a:r>
            <a:r>
              <a:rPr lang="en-US" sz="2000" dirty="0"/>
              <a:t> is called a </a:t>
            </a:r>
            <a:r>
              <a:rPr lang="en-US" sz="2000" i="1" dirty="0">
                <a:solidFill>
                  <a:srgbClr val="FF0000"/>
                </a:solidFill>
              </a:rPr>
              <a:t>coupling var</a:t>
            </a:r>
            <a:r>
              <a:rPr lang="en-US" sz="2000" dirty="0">
                <a:solidFill>
                  <a:srgbClr val="FF0000"/>
                </a:solidFill>
              </a:rPr>
              <a:t> </a:t>
            </a:r>
            <a:r>
              <a:rPr lang="en-US" sz="2000" dirty="0"/>
              <a:t>(of </a:t>
            </a:r>
            <a:r>
              <a:rPr lang="en-US" sz="2000" i="1" dirty="0"/>
              <a:t>c</a:t>
            </a:r>
            <a:r>
              <a:rPr lang="en-US" sz="2000" dirty="0"/>
              <a:t>)</a:t>
            </a:r>
          </a:p>
          <a:p>
            <a:pPr algn="just"/>
            <a:r>
              <a:rPr lang="en-US" sz="2400" dirty="0"/>
              <a:t>There can be multiple such coupling sequences within the same f(x).</a:t>
            </a:r>
          </a:p>
          <a:p>
            <a:pPr algn="just"/>
            <a:endParaRPr lang="en-US" sz="2400" dirty="0"/>
          </a:p>
          <a:p>
            <a:pPr algn="just">
              <a:buFont typeface="Arial" charset="0"/>
              <a:buNone/>
            </a:pPr>
            <a:endParaRPr lang="en-US" sz="2400" dirty="0"/>
          </a:p>
        </p:txBody>
      </p:sp>
      <p:sp>
        <p:nvSpPr>
          <p:cNvPr id="4" name="Slide Number Placeholder 3"/>
          <p:cNvSpPr>
            <a:spLocks noGrp="1"/>
          </p:cNvSpPr>
          <p:nvPr>
            <p:ph type="sldNum" sz="quarter" idx="12"/>
          </p:nvPr>
        </p:nvSpPr>
        <p:spPr/>
        <p:txBody>
          <a:bodyPr/>
          <a:lstStyle/>
          <a:p>
            <a:pPr>
              <a:defRPr/>
            </a:pPr>
            <a:fld id="{3B1C7B3B-1398-4AD6-A01F-19A5BB4A5787}" type="slidenum">
              <a:rPr lang="en-US" smtClean="0"/>
              <a:pPr>
                <a:defRPr/>
              </a:pPr>
              <a:t>35</a:t>
            </a:fld>
            <a:endParaRPr lang="en-US"/>
          </a:p>
        </p:txBody>
      </p:sp>
      <p:sp>
        <p:nvSpPr>
          <p:cNvPr id="5" name="TextBox 4"/>
          <p:cNvSpPr txBox="1"/>
          <p:nvPr/>
        </p:nvSpPr>
        <p:spPr>
          <a:xfrm>
            <a:off x="2523201" y="1196752"/>
            <a:ext cx="4097597" cy="1569660"/>
          </a:xfrm>
          <a:prstGeom prst="rect">
            <a:avLst/>
          </a:prstGeom>
          <a:solidFill>
            <a:schemeClr val="accent5">
              <a:lumMod val="20000"/>
              <a:lumOff val="80000"/>
            </a:schemeClr>
          </a:solidFill>
          <a:ln>
            <a:solidFill>
              <a:schemeClr val="tx1"/>
            </a:solidFill>
          </a:ln>
        </p:spPr>
        <p:txBody>
          <a:bodyPr wrap="none">
            <a:spAutoFit/>
          </a:bodyPr>
          <a:lstStyle/>
          <a:p>
            <a:pPr>
              <a:defRPr/>
            </a:pPr>
            <a:r>
              <a:rPr lang="en-US" sz="2400" dirty="0">
                <a:latin typeface="+mn-lt"/>
              </a:rPr>
              <a:t>f(x) {  </a:t>
            </a:r>
            <a:r>
              <a:rPr lang="en-US" sz="2400" dirty="0">
                <a:solidFill>
                  <a:schemeClr val="accent2">
                    <a:lumMod val="60000"/>
                    <a:lumOff val="40000"/>
                  </a:schemeClr>
                </a:solidFill>
                <a:latin typeface="+mn-lt"/>
              </a:rPr>
              <a:t> (1)  </a:t>
            </a:r>
            <a:r>
              <a:rPr lang="en-US" sz="2400" dirty="0">
                <a:latin typeface="+mn-lt"/>
              </a:rPr>
              <a:t>A o = Factory(x ) ; </a:t>
            </a:r>
            <a:endParaRPr lang="en-US" sz="2400" dirty="0">
              <a:solidFill>
                <a:schemeClr val="accent1">
                  <a:lumMod val="60000"/>
                  <a:lumOff val="40000"/>
                </a:schemeClr>
              </a:solidFill>
              <a:latin typeface="+mn-lt"/>
            </a:endParaRPr>
          </a:p>
          <a:p>
            <a:pPr>
              <a:defRPr/>
            </a:pPr>
            <a:r>
              <a:rPr lang="en-US" sz="2400" dirty="0">
                <a:latin typeface="+mn-lt"/>
              </a:rPr>
              <a:t>          </a:t>
            </a:r>
            <a:r>
              <a:rPr lang="en-US" sz="2400" dirty="0">
                <a:solidFill>
                  <a:schemeClr val="accent2">
                    <a:lumMod val="60000"/>
                    <a:lumOff val="40000"/>
                  </a:schemeClr>
                </a:solidFill>
                <a:latin typeface="+mn-lt"/>
              </a:rPr>
              <a:t> (2)  </a:t>
            </a:r>
            <a:r>
              <a:rPr lang="en-US" sz="2400" dirty="0">
                <a:latin typeface="+mn-lt"/>
              </a:rPr>
              <a:t>y= </a:t>
            </a:r>
            <a:r>
              <a:rPr lang="en-US" sz="2400" dirty="0" err="1">
                <a:latin typeface="+mn-lt"/>
              </a:rPr>
              <a:t>o.m</a:t>
            </a:r>
            <a:r>
              <a:rPr lang="en-US" sz="2400" dirty="0">
                <a:latin typeface="+mn-lt"/>
              </a:rPr>
              <a:t>(..) ;                  </a:t>
            </a:r>
            <a:endParaRPr lang="en-US" sz="2400" dirty="0">
              <a:solidFill>
                <a:schemeClr val="accent1">
                  <a:lumMod val="60000"/>
                  <a:lumOff val="40000"/>
                </a:schemeClr>
              </a:solidFill>
              <a:latin typeface="+mn-lt"/>
            </a:endParaRPr>
          </a:p>
          <a:p>
            <a:pPr>
              <a:defRPr/>
            </a:pPr>
            <a:r>
              <a:rPr lang="en-US" sz="2400" dirty="0">
                <a:latin typeface="+mn-lt"/>
              </a:rPr>
              <a:t>          </a:t>
            </a:r>
            <a:r>
              <a:rPr lang="en-US" sz="2400" dirty="0">
                <a:highlight>
                  <a:srgbClr val="FF00FF"/>
                </a:highlight>
                <a:latin typeface="+mn-lt"/>
              </a:rPr>
              <a:t> ...</a:t>
            </a:r>
          </a:p>
          <a:p>
            <a:pPr>
              <a:defRPr/>
            </a:pPr>
            <a:r>
              <a:rPr lang="en-US" sz="2400" dirty="0">
                <a:latin typeface="+mn-lt"/>
              </a:rPr>
              <a:t>           </a:t>
            </a:r>
            <a:r>
              <a:rPr lang="en-US" sz="2400" dirty="0">
                <a:solidFill>
                  <a:schemeClr val="accent2">
                    <a:lumMod val="60000"/>
                    <a:lumOff val="40000"/>
                  </a:schemeClr>
                </a:solidFill>
                <a:latin typeface="+mn-lt"/>
              </a:rPr>
              <a:t>(3)  </a:t>
            </a:r>
            <a:r>
              <a:rPr lang="en-US" sz="2400" dirty="0">
                <a:latin typeface="+mn-lt"/>
              </a:rPr>
              <a:t>z = </a:t>
            </a:r>
            <a:r>
              <a:rPr lang="en-US" sz="2400" dirty="0" err="1">
                <a:latin typeface="+mn-lt"/>
              </a:rPr>
              <a:t>o.k</a:t>
            </a:r>
            <a:r>
              <a:rPr lang="en-US" sz="2400" dirty="0">
                <a:latin typeface="+mn-lt"/>
              </a:rPr>
              <a:t>(..)                     }</a:t>
            </a:r>
            <a:endParaRPr lang="en-US" sz="2400" dirty="0">
              <a:solidFill>
                <a:schemeClr val="accent1">
                  <a:lumMod val="60000"/>
                  <a:lumOff val="40000"/>
                </a:schemeClr>
              </a:solidFill>
              <a:latin typeface="+mn-lt"/>
            </a:endParaRPr>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4818" name="Title 1"/>
          <p:cNvSpPr>
            <a:spLocks noGrp="1"/>
          </p:cNvSpPr>
          <p:nvPr>
            <p:ph type="title"/>
          </p:nvPr>
        </p:nvSpPr>
        <p:spPr>
          <a:xfrm>
            <a:off x="457200" y="274638"/>
            <a:ext cx="8229600" cy="817160"/>
          </a:xfrm>
        </p:spPr>
        <p:txBody>
          <a:bodyPr/>
          <a:lstStyle/>
          <a:p>
            <a:r>
              <a:rPr lang="en-US" sz="4000" dirty="0"/>
              <a:t>Coupling Sequence, example</a:t>
            </a:r>
          </a:p>
        </p:txBody>
      </p:sp>
      <p:sp>
        <p:nvSpPr>
          <p:cNvPr id="4" name="Slide Number Placeholder 3"/>
          <p:cNvSpPr>
            <a:spLocks noGrp="1"/>
          </p:cNvSpPr>
          <p:nvPr>
            <p:ph type="sldNum" sz="quarter" idx="12"/>
          </p:nvPr>
        </p:nvSpPr>
        <p:spPr/>
        <p:txBody>
          <a:bodyPr/>
          <a:lstStyle/>
          <a:p>
            <a:pPr>
              <a:defRPr/>
            </a:pPr>
            <a:fld id="{3B1C7B3B-1398-4AD6-A01F-19A5BB4A5787}" type="slidenum">
              <a:rPr lang="en-US" smtClean="0"/>
              <a:pPr>
                <a:defRPr/>
              </a:pPr>
              <a:t>36</a:t>
            </a:fld>
            <a:endParaRPr lang="en-US"/>
          </a:p>
        </p:txBody>
      </p:sp>
      <p:sp>
        <p:nvSpPr>
          <p:cNvPr id="5" name="TextBox 4"/>
          <p:cNvSpPr txBox="1"/>
          <p:nvPr/>
        </p:nvSpPr>
        <p:spPr>
          <a:xfrm>
            <a:off x="559714" y="1556792"/>
            <a:ext cx="3816424" cy="2308324"/>
          </a:xfrm>
          <a:prstGeom prst="rect">
            <a:avLst/>
          </a:prstGeom>
          <a:solidFill>
            <a:schemeClr val="accent5">
              <a:lumMod val="20000"/>
              <a:lumOff val="80000"/>
            </a:schemeClr>
          </a:solidFill>
          <a:ln>
            <a:solidFill>
              <a:schemeClr val="tx1"/>
            </a:solidFill>
          </a:ln>
        </p:spPr>
        <p:txBody>
          <a:bodyPr wrap="square">
            <a:spAutoFit/>
          </a:bodyPr>
          <a:lstStyle/>
          <a:p>
            <a:pPr>
              <a:defRPr/>
            </a:pPr>
            <a:r>
              <a:rPr lang="en-US" sz="2400" dirty="0">
                <a:latin typeface="+mn-lt"/>
              </a:rPr>
              <a:t>f(x) {  </a:t>
            </a:r>
            <a:r>
              <a:rPr lang="en-US" sz="2400" dirty="0">
                <a:solidFill>
                  <a:schemeClr val="accent2">
                    <a:lumMod val="60000"/>
                    <a:lumOff val="40000"/>
                  </a:schemeClr>
                </a:solidFill>
                <a:latin typeface="+mn-lt"/>
              </a:rPr>
              <a:t> (1)  </a:t>
            </a:r>
            <a:r>
              <a:rPr lang="en-US" sz="2400" dirty="0">
                <a:latin typeface="+mn-lt"/>
              </a:rPr>
              <a:t>A o = Factory(x ) ;</a:t>
            </a:r>
            <a:br>
              <a:rPr lang="en-US" sz="2400" dirty="0">
                <a:latin typeface="+mn-lt"/>
              </a:rPr>
            </a:br>
            <a:r>
              <a:rPr lang="en-US" sz="2400" dirty="0">
                <a:latin typeface="+mn-lt"/>
              </a:rPr>
              <a:t>           … </a:t>
            </a:r>
            <a:endParaRPr lang="en-US" sz="2400" dirty="0">
              <a:solidFill>
                <a:schemeClr val="accent1">
                  <a:lumMod val="60000"/>
                  <a:lumOff val="40000"/>
                </a:schemeClr>
              </a:solidFill>
              <a:latin typeface="+mn-lt"/>
            </a:endParaRPr>
          </a:p>
          <a:p>
            <a:pPr>
              <a:defRPr/>
            </a:pPr>
            <a:r>
              <a:rPr lang="en-US" sz="2400" dirty="0">
                <a:latin typeface="+mn-lt"/>
              </a:rPr>
              <a:t>          </a:t>
            </a:r>
            <a:r>
              <a:rPr lang="en-US" sz="2400" dirty="0">
                <a:solidFill>
                  <a:schemeClr val="accent2">
                    <a:lumMod val="60000"/>
                    <a:lumOff val="40000"/>
                  </a:schemeClr>
                </a:solidFill>
                <a:latin typeface="+mn-lt"/>
              </a:rPr>
              <a:t> (2)  </a:t>
            </a:r>
            <a:r>
              <a:rPr lang="en-US" sz="2400" dirty="0">
                <a:latin typeface="+mn-lt"/>
              </a:rPr>
              <a:t>y= </a:t>
            </a:r>
            <a:r>
              <a:rPr lang="en-US" sz="2400" dirty="0" err="1">
                <a:latin typeface="+mn-lt"/>
              </a:rPr>
              <a:t>o.m</a:t>
            </a:r>
            <a:r>
              <a:rPr lang="en-US" sz="2400" dirty="0">
                <a:latin typeface="+mn-lt"/>
              </a:rPr>
              <a:t>(..) ;                  </a:t>
            </a:r>
            <a:endParaRPr lang="en-US" sz="2400" dirty="0">
              <a:solidFill>
                <a:schemeClr val="accent1">
                  <a:lumMod val="60000"/>
                  <a:lumOff val="40000"/>
                </a:schemeClr>
              </a:solidFill>
              <a:latin typeface="+mn-lt"/>
            </a:endParaRPr>
          </a:p>
          <a:p>
            <a:pPr>
              <a:defRPr/>
            </a:pPr>
            <a:r>
              <a:rPr lang="en-US" sz="2400" dirty="0">
                <a:latin typeface="+mn-lt"/>
              </a:rPr>
              <a:t>           </a:t>
            </a:r>
            <a:r>
              <a:rPr lang="en-US" sz="2400" dirty="0">
                <a:highlight>
                  <a:srgbClr val="FF00FF"/>
                </a:highlight>
                <a:latin typeface="+mn-lt"/>
              </a:rPr>
              <a:t>...</a:t>
            </a:r>
          </a:p>
          <a:p>
            <a:pPr>
              <a:defRPr/>
            </a:pPr>
            <a:r>
              <a:rPr lang="en-US" sz="2400" dirty="0">
                <a:latin typeface="+mn-lt"/>
              </a:rPr>
              <a:t>           </a:t>
            </a:r>
            <a:r>
              <a:rPr lang="en-US" sz="2400" dirty="0">
                <a:solidFill>
                  <a:schemeClr val="accent2">
                    <a:lumMod val="60000"/>
                    <a:lumOff val="40000"/>
                  </a:schemeClr>
                </a:solidFill>
                <a:latin typeface="+mn-lt"/>
              </a:rPr>
              <a:t>(3)  </a:t>
            </a:r>
            <a:r>
              <a:rPr lang="en-US" sz="2400" dirty="0">
                <a:latin typeface="+mn-lt"/>
              </a:rPr>
              <a:t>z = </a:t>
            </a:r>
            <a:r>
              <a:rPr lang="en-US" sz="2400" dirty="0" err="1">
                <a:latin typeface="+mn-lt"/>
              </a:rPr>
              <a:t>o.k</a:t>
            </a:r>
            <a:r>
              <a:rPr lang="en-US" sz="2400" dirty="0">
                <a:latin typeface="+mn-lt"/>
              </a:rPr>
              <a:t>(..)                     </a:t>
            </a:r>
          </a:p>
          <a:p>
            <a:pPr>
              <a:defRPr/>
            </a:pPr>
            <a:r>
              <a:rPr lang="en-US" sz="2400" dirty="0">
                <a:latin typeface="+mn-lt"/>
              </a:rPr>
              <a:t>}</a:t>
            </a:r>
            <a:endParaRPr lang="en-US" sz="2400" dirty="0">
              <a:solidFill>
                <a:schemeClr val="accent1">
                  <a:lumMod val="60000"/>
                  <a:lumOff val="40000"/>
                </a:schemeClr>
              </a:solidFill>
              <a:latin typeface="+mn-lt"/>
            </a:endParaRPr>
          </a:p>
        </p:txBody>
      </p:sp>
      <p:sp>
        <p:nvSpPr>
          <p:cNvPr id="13" name="TextBox 12">
            <a:extLst>
              <a:ext uri="{FF2B5EF4-FFF2-40B4-BE49-F238E27FC236}">
                <a16:creationId xmlns:a16="http://schemas.microsoft.com/office/drawing/2014/main" id="{9FA46D66-B1BC-2E26-834E-7B7428B25C2C}"/>
              </a:ext>
            </a:extLst>
          </p:cNvPr>
          <p:cNvSpPr txBox="1"/>
          <p:nvPr/>
        </p:nvSpPr>
        <p:spPr>
          <a:xfrm>
            <a:off x="4962020" y="1196752"/>
            <a:ext cx="3682752" cy="3293209"/>
          </a:xfrm>
          <a:prstGeom prst="rect">
            <a:avLst/>
          </a:prstGeom>
          <a:noFill/>
          <a:ln>
            <a:solidFill>
              <a:schemeClr val="tx1"/>
            </a:solidFill>
          </a:ln>
        </p:spPr>
        <p:txBody>
          <a:bodyPr wrap="square" rtlCol="0">
            <a:spAutoFit/>
          </a:bodyPr>
          <a:lstStyle/>
          <a:p>
            <a:r>
              <a:rPr lang="en-GB" sz="1600" b="1" dirty="0"/>
              <a:t>class</a:t>
            </a:r>
            <a:r>
              <a:rPr lang="en-GB" sz="1600" dirty="0"/>
              <a:t> A {</a:t>
            </a:r>
            <a:br>
              <a:rPr lang="en-GB" sz="1600" dirty="0"/>
            </a:br>
            <a:r>
              <a:rPr lang="en-GB" sz="1600" dirty="0"/>
              <a:t>    </a:t>
            </a:r>
            <a:r>
              <a:rPr lang="en-GB" sz="1600" dirty="0">
                <a:highlight>
                  <a:srgbClr val="FFFF00"/>
                </a:highlight>
              </a:rPr>
              <a:t>int  x </a:t>
            </a:r>
            <a:br>
              <a:rPr lang="en-GB" sz="1600" dirty="0"/>
            </a:br>
            <a:endParaRPr lang="en-GB" sz="1600" dirty="0"/>
          </a:p>
          <a:p>
            <a:r>
              <a:rPr lang="en-GB" sz="1600" dirty="0"/>
              <a:t>    m</a:t>
            </a:r>
            <a:r>
              <a:rPr lang="en-NL" sz="1600" dirty="0"/>
              <a:t>(i) {</a:t>
            </a:r>
            <a:br>
              <a:rPr lang="en-NL" sz="1600" dirty="0"/>
            </a:br>
            <a:r>
              <a:rPr lang="en-NL" sz="1600" dirty="0"/>
              <a:t>           </a:t>
            </a:r>
            <a:r>
              <a:rPr lang="en-NL" sz="1600" b="1" dirty="0"/>
              <a:t>if</a:t>
            </a:r>
            <a:r>
              <a:rPr lang="en-NL" sz="1600" dirty="0"/>
              <a:t> (i==0)  </a:t>
            </a:r>
            <a:r>
              <a:rPr lang="en-NL" sz="1600" dirty="0">
                <a:solidFill>
                  <a:schemeClr val="accent6">
                    <a:lumMod val="60000"/>
                    <a:lumOff val="40000"/>
                  </a:schemeClr>
                </a:solidFill>
                <a:highlight>
                  <a:srgbClr val="00FF00"/>
                </a:highlight>
              </a:rPr>
              <a:t>this</a:t>
            </a:r>
            <a:r>
              <a:rPr lang="en-NL" sz="1600" dirty="0">
                <a:highlight>
                  <a:srgbClr val="00FF00"/>
                </a:highlight>
              </a:rPr>
              <a:t>.x  =  0</a:t>
            </a:r>
          </a:p>
          <a:p>
            <a:r>
              <a:rPr lang="en-NL" sz="1600" dirty="0"/>
              <a:t>           </a:t>
            </a:r>
            <a:r>
              <a:rPr lang="en-NL" sz="1600" b="1" dirty="0"/>
              <a:t>else</a:t>
            </a:r>
            <a:r>
              <a:rPr lang="en-NL" sz="1600" dirty="0"/>
              <a:t>        </a:t>
            </a:r>
            <a:r>
              <a:rPr lang="en-NL" sz="1600" dirty="0">
                <a:solidFill>
                  <a:schemeClr val="accent6">
                    <a:lumMod val="60000"/>
                    <a:lumOff val="40000"/>
                  </a:schemeClr>
                </a:solidFill>
                <a:highlight>
                  <a:srgbClr val="FFFF00"/>
                </a:highlight>
              </a:rPr>
              <a:t>this</a:t>
            </a:r>
            <a:r>
              <a:rPr lang="en-NL" sz="1600" dirty="0">
                <a:highlight>
                  <a:srgbClr val="FFFF00"/>
                </a:highlight>
              </a:rPr>
              <a:t>.x = 2*</a:t>
            </a:r>
            <a:r>
              <a:rPr lang="en-GB" sz="1600" dirty="0" err="1">
                <a:highlight>
                  <a:srgbClr val="FFFF00"/>
                </a:highlight>
              </a:rPr>
              <a:t>i</a:t>
            </a:r>
            <a:r>
              <a:rPr lang="en-GB" sz="1600" dirty="0">
                <a:highlight>
                  <a:srgbClr val="FFFF00"/>
                </a:highlight>
              </a:rPr>
              <a:t> </a:t>
            </a:r>
            <a:r>
              <a:rPr lang="en-NL" sz="1600" dirty="0">
                <a:highlight>
                  <a:srgbClr val="FFFF00"/>
                </a:highlight>
              </a:rPr>
              <a:t>  </a:t>
            </a:r>
          </a:p>
          <a:p>
            <a:r>
              <a:rPr lang="en-NL" sz="1600" dirty="0"/>
              <a:t>           </a:t>
            </a:r>
            <a:r>
              <a:rPr lang="en-NL" sz="1600" b="1" dirty="0"/>
              <a:t>return</a:t>
            </a:r>
            <a:r>
              <a:rPr lang="en-NL" sz="1600" dirty="0"/>
              <a:t> this.x   }</a:t>
            </a:r>
          </a:p>
          <a:p>
            <a:endParaRPr lang="en-NL" sz="1600" dirty="0"/>
          </a:p>
          <a:p>
            <a:r>
              <a:rPr lang="en-NL" sz="1600" dirty="0"/>
              <a:t>    k(i) { </a:t>
            </a:r>
          </a:p>
          <a:p>
            <a:r>
              <a:rPr lang="en-NL" sz="1600" dirty="0"/>
              <a:t>          </a:t>
            </a:r>
            <a:r>
              <a:rPr lang="en-NL" sz="1600" b="1" dirty="0"/>
              <a:t>if</a:t>
            </a:r>
            <a:r>
              <a:rPr lang="en-NL" sz="1600" dirty="0"/>
              <a:t> (</a:t>
            </a:r>
            <a:r>
              <a:rPr lang="en-NL" sz="1600" dirty="0">
                <a:solidFill>
                  <a:schemeClr val="accent6">
                    <a:lumMod val="60000"/>
                    <a:lumOff val="40000"/>
                  </a:schemeClr>
                </a:solidFill>
                <a:highlight>
                  <a:srgbClr val="00FFFF"/>
                </a:highlight>
              </a:rPr>
              <a:t>this</a:t>
            </a:r>
            <a:r>
              <a:rPr lang="en-NL" sz="1600" dirty="0">
                <a:highlight>
                  <a:srgbClr val="00FFFF"/>
                </a:highlight>
              </a:rPr>
              <a:t>.x == 0</a:t>
            </a:r>
            <a:r>
              <a:rPr lang="en-NL" sz="1600" dirty="0"/>
              <a:t>) …</a:t>
            </a:r>
          </a:p>
          <a:p>
            <a:r>
              <a:rPr lang="en-NL" sz="1600" dirty="0"/>
              <a:t>          </a:t>
            </a:r>
          </a:p>
          <a:p>
            <a:r>
              <a:rPr lang="en-NL" sz="1600" dirty="0"/>
              <a:t>      }  </a:t>
            </a:r>
          </a:p>
          <a:p>
            <a:r>
              <a:rPr lang="en-NL" sz="1600" dirty="0"/>
              <a:t>}</a:t>
            </a:r>
          </a:p>
        </p:txBody>
      </p:sp>
      <p:cxnSp>
        <p:nvCxnSpPr>
          <p:cNvPr id="15" name="Straight Arrow Connector 14">
            <a:extLst>
              <a:ext uri="{FF2B5EF4-FFF2-40B4-BE49-F238E27FC236}">
                <a16:creationId xmlns:a16="http://schemas.microsoft.com/office/drawing/2014/main" id="{BBA19E73-EBD7-BF5D-9966-C4610775F0EF}"/>
              </a:ext>
            </a:extLst>
          </p:cNvPr>
          <p:cNvCxnSpPr>
            <a:cxnSpLocks/>
          </p:cNvCxnSpPr>
          <p:nvPr/>
        </p:nvCxnSpPr>
        <p:spPr>
          <a:xfrm flipV="1">
            <a:off x="3368026" y="2204864"/>
            <a:ext cx="1800200" cy="275945"/>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6" name="Straight Arrow Connector 15">
            <a:extLst>
              <a:ext uri="{FF2B5EF4-FFF2-40B4-BE49-F238E27FC236}">
                <a16:creationId xmlns:a16="http://schemas.microsoft.com/office/drawing/2014/main" id="{1ED911CB-AAA5-7BBF-11A7-A50D1104335D}"/>
              </a:ext>
            </a:extLst>
          </p:cNvPr>
          <p:cNvCxnSpPr>
            <a:cxnSpLocks/>
          </p:cNvCxnSpPr>
          <p:nvPr/>
        </p:nvCxnSpPr>
        <p:spPr>
          <a:xfrm>
            <a:off x="3152002" y="3212976"/>
            <a:ext cx="2088232" cy="144016"/>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21" name="Freeform 20">
            <a:extLst>
              <a:ext uri="{FF2B5EF4-FFF2-40B4-BE49-F238E27FC236}">
                <a16:creationId xmlns:a16="http://schemas.microsoft.com/office/drawing/2014/main" id="{53780311-2E30-4823-D3E3-1B0D69075E74}"/>
              </a:ext>
            </a:extLst>
          </p:cNvPr>
          <p:cNvSpPr/>
          <p:nvPr/>
        </p:nvSpPr>
        <p:spPr>
          <a:xfrm>
            <a:off x="1442999" y="2555411"/>
            <a:ext cx="6114789" cy="962379"/>
          </a:xfrm>
          <a:custGeom>
            <a:avLst/>
            <a:gdLst>
              <a:gd name="connsiteX0" fmla="*/ 6106602 w 6114789"/>
              <a:gd name="connsiteY0" fmla="*/ 47708 h 962379"/>
              <a:gd name="connsiteX1" fmla="*/ 6106602 w 6114789"/>
              <a:gd name="connsiteY1" fmla="*/ 159026 h 962379"/>
              <a:gd name="connsiteX2" fmla="*/ 6090699 w 6114789"/>
              <a:gd name="connsiteY2" fmla="*/ 182880 h 962379"/>
              <a:gd name="connsiteX3" fmla="*/ 6042992 w 6114789"/>
              <a:gd name="connsiteY3" fmla="*/ 214685 h 962379"/>
              <a:gd name="connsiteX4" fmla="*/ 5995284 w 6114789"/>
              <a:gd name="connsiteY4" fmla="*/ 230588 h 962379"/>
              <a:gd name="connsiteX5" fmla="*/ 5756745 w 6114789"/>
              <a:gd name="connsiteY5" fmla="*/ 222637 h 962379"/>
              <a:gd name="connsiteX6" fmla="*/ 5597718 w 6114789"/>
              <a:gd name="connsiteY6" fmla="*/ 206734 h 962379"/>
              <a:gd name="connsiteX7" fmla="*/ 5311472 w 6114789"/>
              <a:gd name="connsiteY7" fmla="*/ 214685 h 962379"/>
              <a:gd name="connsiteX8" fmla="*/ 5263764 w 6114789"/>
              <a:gd name="connsiteY8" fmla="*/ 230588 h 962379"/>
              <a:gd name="connsiteX9" fmla="*/ 5247861 w 6114789"/>
              <a:gd name="connsiteY9" fmla="*/ 254442 h 962379"/>
              <a:gd name="connsiteX10" fmla="*/ 5224007 w 6114789"/>
              <a:gd name="connsiteY10" fmla="*/ 278296 h 962379"/>
              <a:gd name="connsiteX11" fmla="*/ 5216056 w 6114789"/>
              <a:gd name="connsiteY11" fmla="*/ 302150 h 962379"/>
              <a:gd name="connsiteX12" fmla="*/ 5192202 w 6114789"/>
              <a:gd name="connsiteY12" fmla="*/ 326004 h 962379"/>
              <a:gd name="connsiteX13" fmla="*/ 5160397 w 6114789"/>
              <a:gd name="connsiteY13" fmla="*/ 373711 h 962379"/>
              <a:gd name="connsiteX14" fmla="*/ 5144494 w 6114789"/>
              <a:gd name="connsiteY14" fmla="*/ 397565 h 962379"/>
              <a:gd name="connsiteX15" fmla="*/ 5136543 w 6114789"/>
              <a:gd name="connsiteY15" fmla="*/ 421419 h 962379"/>
              <a:gd name="connsiteX16" fmla="*/ 5096786 w 6114789"/>
              <a:gd name="connsiteY16" fmla="*/ 469127 h 962379"/>
              <a:gd name="connsiteX17" fmla="*/ 5072932 w 6114789"/>
              <a:gd name="connsiteY17" fmla="*/ 485030 h 962379"/>
              <a:gd name="connsiteX18" fmla="*/ 5025225 w 6114789"/>
              <a:gd name="connsiteY18" fmla="*/ 500932 h 962379"/>
              <a:gd name="connsiteX19" fmla="*/ 4206240 w 6114789"/>
              <a:gd name="connsiteY19" fmla="*/ 492981 h 962379"/>
              <a:gd name="connsiteX20" fmla="*/ 4094922 w 6114789"/>
              <a:gd name="connsiteY20" fmla="*/ 485030 h 962379"/>
              <a:gd name="connsiteX21" fmla="*/ 4055165 w 6114789"/>
              <a:gd name="connsiteY21" fmla="*/ 477078 h 962379"/>
              <a:gd name="connsiteX22" fmla="*/ 3943847 w 6114789"/>
              <a:gd name="connsiteY22" fmla="*/ 461176 h 962379"/>
              <a:gd name="connsiteX23" fmla="*/ 3840480 w 6114789"/>
              <a:gd name="connsiteY23" fmla="*/ 453224 h 962379"/>
              <a:gd name="connsiteX24" fmla="*/ 3705308 w 6114789"/>
              <a:gd name="connsiteY24" fmla="*/ 429371 h 962379"/>
              <a:gd name="connsiteX25" fmla="*/ 3625795 w 6114789"/>
              <a:gd name="connsiteY25" fmla="*/ 413468 h 962379"/>
              <a:gd name="connsiteX26" fmla="*/ 3530379 w 6114789"/>
              <a:gd name="connsiteY26" fmla="*/ 389614 h 962379"/>
              <a:gd name="connsiteX27" fmla="*/ 3482672 w 6114789"/>
              <a:gd name="connsiteY27" fmla="*/ 381663 h 962379"/>
              <a:gd name="connsiteX28" fmla="*/ 3395207 w 6114789"/>
              <a:gd name="connsiteY28" fmla="*/ 373711 h 962379"/>
              <a:gd name="connsiteX29" fmla="*/ 3299792 w 6114789"/>
              <a:gd name="connsiteY29" fmla="*/ 357809 h 962379"/>
              <a:gd name="connsiteX30" fmla="*/ 3252084 w 6114789"/>
              <a:gd name="connsiteY30" fmla="*/ 349858 h 962379"/>
              <a:gd name="connsiteX31" fmla="*/ 3172571 w 6114789"/>
              <a:gd name="connsiteY31" fmla="*/ 333955 h 962379"/>
              <a:gd name="connsiteX32" fmla="*/ 3045350 w 6114789"/>
              <a:gd name="connsiteY32" fmla="*/ 318052 h 962379"/>
              <a:gd name="connsiteX33" fmla="*/ 2926080 w 6114789"/>
              <a:gd name="connsiteY33" fmla="*/ 302150 h 962379"/>
              <a:gd name="connsiteX34" fmla="*/ 2854518 w 6114789"/>
              <a:gd name="connsiteY34" fmla="*/ 294198 h 962379"/>
              <a:gd name="connsiteX35" fmla="*/ 2790908 w 6114789"/>
              <a:gd name="connsiteY35" fmla="*/ 278296 h 962379"/>
              <a:gd name="connsiteX36" fmla="*/ 2767054 w 6114789"/>
              <a:gd name="connsiteY36" fmla="*/ 270344 h 962379"/>
              <a:gd name="connsiteX37" fmla="*/ 2711395 w 6114789"/>
              <a:gd name="connsiteY37" fmla="*/ 262393 h 962379"/>
              <a:gd name="connsiteX38" fmla="*/ 2687541 w 6114789"/>
              <a:gd name="connsiteY38" fmla="*/ 254442 h 962379"/>
              <a:gd name="connsiteX39" fmla="*/ 2456953 w 6114789"/>
              <a:gd name="connsiteY39" fmla="*/ 230588 h 962379"/>
              <a:gd name="connsiteX40" fmla="*/ 2361538 w 6114789"/>
              <a:gd name="connsiteY40" fmla="*/ 214685 h 962379"/>
              <a:gd name="connsiteX41" fmla="*/ 2297927 w 6114789"/>
              <a:gd name="connsiteY41" fmla="*/ 206734 h 962379"/>
              <a:gd name="connsiteX42" fmla="*/ 2202512 w 6114789"/>
              <a:gd name="connsiteY42" fmla="*/ 190831 h 962379"/>
              <a:gd name="connsiteX43" fmla="*/ 2122998 w 6114789"/>
              <a:gd name="connsiteY43" fmla="*/ 174929 h 962379"/>
              <a:gd name="connsiteX44" fmla="*/ 1979875 w 6114789"/>
              <a:gd name="connsiteY44" fmla="*/ 143124 h 962379"/>
              <a:gd name="connsiteX45" fmla="*/ 1948070 w 6114789"/>
              <a:gd name="connsiteY45" fmla="*/ 135172 h 962379"/>
              <a:gd name="connsiteX46" fmla="*/ 1900362 w 6114789"/>
              <a:gd name="connsiteY46" fmla="*/ 119270 h 962379"/>
              <a:gd name="connsiteX47" fmla="*/ 1868557 w 6114789"/>
              <a:gd name="connsiteY47" fmla="*/ 95416 h 962379"/>
              <a:gd name="connsiteX48" fmla="*/ 1844703 w 6114789"/>
              <a:gd name="connsiteY48" fmla="*/ 87464 h 962379"/>
              <a:gd name="connsiteX49" fmla="*/ 1828800 w 6114789"/>
              <a:gd name="connsiteY49" fmla="*/ 63611 h 962379"/>
              <a:gd name="connsiteX50" fmla="*/ 1781092 w 6114789"/>
              <a:gd name="connsiteY50" fmla="*/ 47708 h 962379"/>
              <a:gd name="connsiteX51" fmla="*/ 1749287 w 6114789"/>
              <a:gd name="connsiteY51" fmla="*/ 55659 h 962379"/>
              <a:gd name="connsiteX52" fmla="*/ 1781092 w 6114789"/>
              <a:gd name="connsiteY52" fmla="*/ 79513 h 962379"/>
              <a:gd name="connsiteX53" fmla="*/ 1828800 w 6114789"/>
              <a:gd name="connsiteY53" fmla="*/ 103367 h 962379"/>
              <a:gd name="connsiteX54" fmla="*/ 1796995 w 6114789"/>
              <a:gd name="connsiteY54" fmla="*/ 95416 h 962379"/>
              <a:gd name="connsiteX55" fmla="*/ 1765190 w 6114789"/>
              <a:gd name="connsiteY55" fmla="*/ 79513 h 962379"/>
              <a:gd name="connsiteX56" fmla="*/ 1606164 w 6114789"/>
              <a:gd name="connsiteY56" fmla="*/ 63611 h 962379"/>
              <a:gd name="connsiteX57" fmla="*/ 1415332 w 6114789"/>
              <a:gd name="connsiteY57" fmla="*/ 55659 h 962379"/>
              <a:gd name="connsiteX58" fmla="*/ 866692 w 6114789"/>
              <a:gd name="connsiteY58" fmla="*/ 39757 h 962379"/>
              <a:gd name="connsiteX59" fmla="*/ 834887 w 6114789"/>
              <a:gd name="connsiteY59" fmla="*/ 31805 h 962379"/>
              <a:gd name="connsiteX60" fmla="*/ 779228 w 6114789"/>
              <a:gd name="connsiteY60" fmla="*/ 23854 h 962379"/>
              <a:gd name="connsiteX61" fmla="*/ 652007 w 6114789"/>
              <a:gd name="connsiteY61" fmla="*/ 15903 h 962379"/>
              <a:gd name="connsiteX62" fmla="*/ 564543 w 6114789"/>
              <a:gd name="connsiteY62" fmla="*/ 0 h 962379"/>
              <a:gd name="connsiteX63" fmla="*/ 532738 w 6114789"/>
              <a:gd name="connsiteY63" fmla="*/ 7951 h 962379"/>
              <a:gd name="connsiteX64" fmla="*/ 508884 w 6114789"/>
              <a:gd name="connsiteY64" fmla="*/ 23854 h 962379"/>
              <a:gd name="connsiteX65" fmla="*/ 485030 w 6114789"/>
              <a:gd name="connsiteY65" fmla="*/ 47708 h 962379"/>
              <a:gd name="connsiteX66" fmla="*/ 461176 w 6114789"/>
              <a:gd name="connsiteY66" fmla="*/ 55659 h 962379"/>
              <a:gd name="connsiteX67" fmla="*/ 437322 w 6114789"/>
              <a:gd name="connsiteY67" fmla="*/ 79513 h 962379"/>
              <a:gd name="connsiteX68" fmla="*/ 405517 w 6114789"/>
              <a:gd name="connsiteY68" fmla="*/ 95416 h 962379"/>
              <a:gd name="connsiteX69" fmla="*/ 357809 w 6114789"/>
              <a:gd name="connsiteY69" fmla="*/ 127221 h 962379"/>
              <a:gd name="connsiteX70" fmla="*/ 310101 w 6114789"/>
              <a:gd name="connsiteY70" fmla="*/ 159026 h 962379"/>
              <a:gd name="connsiteX71" fmla="*/ 262393 w 6114789"/>
              <a:gd name="connsiteY71" fmla="*/ 174929 h 962379"/>
              <a:gd name="connsiteX72" fmla="*/ 190832 w 6114789"/>
              <a:gd name="connsiteY72" fmla="*/ 190831 h 962379"/>
              <a:gd name="connsiteX73" fmla="*/ 143124 w 6114789"/>
              <a:gd name="connsiteY73" fmla="*/ 206734 h 962379"/>
              <a:gd name="connsiteX74" fmla="*/ 119270 w 6114789"/>
              <a:gd name="connsiteY74" fmla="*/ 214685 h 962379"/>
              <a:gd name="connsiteX75" fmla="*/ 95416 w 6114789"/>
              <a:gd name="connsiteY75" fmla="*/ 222637 h 962379"/>
              <a:gd name="connsiteX76" fmla="*/ 71562 w 6114789"/>
              <a:gd name="connsiteY76" fmla="*/ 230588 h 962379"/>
              <a:gd name="connsiteX77" fmla="*/ 47708 w 6114789"/>
              <a:gd name="connsiteY77" fmla="*/ 246491 h 962379"/>
              <a:gd name="connsiteX78" fmla="*/ 15903 w 6114789"/>
              <a:gd name="connsiteY78" fmla="*/ 318052 h 962379"/>
              <a:gd name="connsiteX79" fmla="*/ 7952 w 6114789"/>
              <a:gd name="connsiteY79" fmla="*/ 341906 h 962379"/>
              <a:gd name="connsiteX80" fmla="*/ 0 w 6114789"/>
              <a:gd name="connsiteY80" fmla="*/ 365760 h 962379"/>
              <a:gd name="connsiteX81" fmla="*/ 31805 w 6114789"/>
              <a:gd name="connsiteY81" fmla="*/ 437322 h 962379"/>
              <a:gd name="connsiteX82" fmla="*/ 39757 w 6114789"/>
              <a:gd name="connsiteY82" fmla="*/ 461176 h 962379"/>
              <a:gd name="connsiteX83" fmla="*/ 47708 w 6114789"/>
              <a:gd name="connsiteY83" fmla="*/ 492981 h 962379"/>
              <a:gd name="connsiteX84" fmla="*/ 71562 w 6114789"/>
              <a:gd name="connsiteY84" fmla="*/ 500932 h 962379"/>
              <a:gd name="connsiteX85" fmla="*/ 190832 w 6114789"/>
              <a:gd name="connsiteY85" fmla="*/ 508884 h 962379"/>
              <a:gd name="connsiteX86" fmla="*/ 302150 w 6114789"/>
              <a:gd name="connsiteY86" fmla="*/ 500932 h 962379"/>
              <a:gd name="connsiteX87" fmla="*/ 357809 w 6114789"/>
              <a:gd name="connsiteY87" fmla="*/ 492981 h 962379"/>
              <a:gd name="connsiteX88" fmla="*/ 588397 w 6114789"/>
              <a:gd name="connsiteY88" fmla="*/ 485030 h 962379"/>
              <a:gd name="connsiteX89" fmla="*/ 659958 w 6114789"/>
              <a:gd name="connsiteY89" fmla="*/ 469127 h 962379"/>
              <a:gd name="connsiteX90" fmla="*/ 803082 w 6114789"/>
              <a:gd name="connsiteY90" fmla="*/ 461176 h 962379"/>
              <a:gd name="connsiteX91" fmla="*/ 842838 w 6114789"/>
              <a:gd name="connsiteY91" fmla="*/ 453224 h 962379"/>
              <a:gd name="connsiteX92" fmla="*/ 874644 w 6114789"/>
              <a:gd name="connsiteY92" fmla="*/ 445273 h 962379"/>
              <a:gd name="connsiteX93" fmla="*/ 938254 w 6114789"/>
              <a:gd name="connsiteY93" fmla="*/ 437322 h 962379"/>
              <a:gd name="connsiteX94" fmla="*/ 1152939 w 6114789"/>
              <a:gd name="connsiteY94" fmla="*/ 421419 h 962379"/>
              <a:gd name="connsiteX95" fmla="*/ 1264258 w 6114789"/>
              <a:gd name="connsiteY95" fmla="*/ 429371 h 962379"/>
              <a:gd name="connsiteX96" fmla="*/ 1304014 w 6114789"/>
              <a:gd name="connsiteY96" fmla="*/ 469127 h 962379"/>
              <a:gd name="connsiteX97" fmla="*/ 1343771 w 6114789"/>
              <a:gd name="connsiteY97" fmla="*/ 532738 h 962379"/>
              <a:gd name="connsiteX98" fmla="*/ 1351722 w 6114789"/>
              <a:gd name="connsiteY98" fmla="*/ 556591 h 962379"/>
              <a:gd name="connsiteX99" fmla="*/ 1367625 w 6114789"/>
              <a:gd name="connsiteY99" fmla="*/ 628153 h 962379"/>
              <a:gd name="connsiteX100" fmla="*/ 1383527 w 6114789"/>
              <a:gd name="connsiteY100" fmla="*/ 739471 h 962379"/>
              <a:gd name="connsiteX101" fmla="*/ 1391478 w 6114789"/>
              <a:gd name="connsiteY101" fmla="*/ 763325 h 962379"/>
              <a:gd name="connsiteX102" fmla="*/ 1407381 w 6114789"/>
              <a:gd name="connsiteY102" fmla="*/ 787179 h 962379"/>
              <a:gd name="connsiteX103" fmla="*/ 1439186 w 6114789"/>
              <a:gd name="connsiteY103" fmla="*/ 858741 h 962379"/>
              <a:gd name="connsiteX104" fmla="*/ 1463040 w 6114789"/>
              <a:gd name="connsiteY104" fmla="*/ 874644 h 962379"/>
              <a:gd name="connsiteX105" fmla="*/ 1486894 w 6114789"/>
              <a:gd name="connsiteY105" fmla="*/ 882595 h 962379"/>
              <a:gd name="connsiteX106" fmla="*/ 1598212 w 6114789"/>
              <a:gd name="connsiteY106" fmla="*/ 874644 h 962379"/>
              <a:gd name="connsiteX107" fmla="*/ 1709531 w 6114789"/>
              <a:gd name="connsiteY107" fmla="*/ 874644 h 962379"/>
              <a:gd name="connsiteX108" fmla="*/ 1765190 w 6114789"/>
              <a:gd name="connsiteY108" fmla="*/ 890546 h 962379"/>
              <a:gd name="connsiteX109" fmla="*/ 1812898 w 6114789"/>
              <a:gd name="connsiteY109" fmla="*/ 906449 h 962379"/>
              <a:gd name="connsiteX110" fmla="*/ 1900362 w 6114789"/>
              <a:gd name="connsiteY110" fmla="*/ 898498 h 962379"/>
              <a:gd name="connsiteX111" fmla="*/ 1932167 w 6114789"/>
              <a:gd name="connsiteY111" fmla="*/ 890546 h 962379"/>
              <a:gd name="connsiteX112" fmla="*/ 2019632 w 6114789"/>
              <a:gd name="connsiteY112" fmla="*/ 882595 h 962379"/>
              <a:gd name="connsiteX113" fmla="*/ 2107096 w 6114789"/>
              <a:gd name="connsiteY113" fmla="*/ 890546 h 962379"/>
              <a:gd name="connsiteX114" fmla="*/ 2449002 w 6114789"/>
              <a:gd name="connsiteY114" fmla="*/ 874644 h 962379"/>
              <a:gd name="connsiteX115" fmla="*/ 2480807 w 6114789"/>
              <a:gd name="connsiteY115" fmla="*/ 850790 h 962379"/>
              <a:gd name="connsiteX116" fmla="*/ 2584174 w 6114789"/>
              <a:gd name="connsiteY116" fmla="*/ 850790 h 962379"/>
              <a:gd name="connsiteX117" fmla="*/ 2798859 w 6114789"/>
              <a:gd name="connsiteY117" fmla="*/ 858741 h 962379"/>
              <a:gd name="connsiteX118" fmla="*/ 2854518 w 6114789"/>
              <a:gd name="connsiteY118" fmla="*/ 866692 h 962379"/>
              <a:gd name="connsiteX119" fmla="*/ 2926080 w 6114789"/>
              <a:gd name="connsiteY119" fmla="*/ 866692 h 962379"/>
              <a:gd name="connsiteX120" fmla="*/ 2957885 w 6114789"/>
              <a:gd name="connsiteY120" fmla="*/ 882595 h 962379"/>
              <a:gd name="connsiteX121" fmla="*/ 2981739 w 6114789"/>
              <a:gd name="connsiteY121" fmla="*/ 866692 h 962379"/>
              <a:gd name="connsiteX122" fmla="*/ 2973788 w 6114789"/>
              <a:gd name="connsiteY122" fmla="*/ 882595 h 962379"/>
              <a:gd name="connsiteX123" fmla="*/ 3442915 w 6114789"/>
              <a:gd name="connsiteY123" fmla="*/ 882595 h 962379"/>
              <a:gd name="connsiteX124" fmla="*/ 3530379 w 6114789"/>
              <a:gd name="connsiteY124" fmla="*/ 858741 h 962379"/>
              <a:gd name="connsiteX125" fmla="*/ 3593990 w 6114789"/>
              <a:gd name="connsiteY125" fmla="*/ 850790 h 962379"/>
              <a:gd name="connsiteX126" fmla="*/ 3625795 w 6114789"/>
              <a:gd name="connsiteY126" fmla="*/ 842838 h 962379"/>
              <a:gd name="connsiteX127" fmla="*/ 3673503 w 6114789"/>
              <a:gd name="connsiteY127" fmla="*/ 826936 h 962379"/>
              <a:gd name="connsiteX128" fmla="*/ 3760967 w 6114789"/>
              <a:gd name="connsiteY128" fmla="*/ 818984 h 962379"/>
              <a:gd name="connsiteX129" fmla="*/ 3848432 w 6114789"/>
              <a:gd name="connsiteY129" fmla="*/ 803082 h 962379"/>
              <a:gd name="connsiteX130" fmla="*/ 3888188 w 6114789"/>
              <a:gd name="connsiteY130" fmla="*/ 795131 h 962379"/>
              <a:gd name="connsiteX131" fmla="*/ 4047214 w 6114789"/>
              <a:gd name="connsiteY131" fmla="*/ 787179 h 962379"/>
              <a:gd name="connsiteX132" fmla="*/ 4166484 w 6114789"/>
              <a:gd name="connsiteY132" fmla="*/ 771277 h 962379"/>
              <a:gd name="connsiteX133" fmla="*/ 4214192 w 6114789"/>
              <a:gd name="connsiteY133" fmla="*/ 755374 h 962379"/>
              <a:gd name="connsiteX134" fmla="*/ 4238045 w 6114789"/>
              <a:gd name="connsiteY134" fmla="*/ 747423 h 962379"/>
              <a:gd name="connsiteX135" fmla="*/ 4325510 w 6114789"/>
              <a:gd name="connsiteY135" fmla="*/ 723569 h 962379"/>
              <a:gd name="connsiteX136" fmla="*/ 4389120 w 6114789"/>
              <a:gd name="connsiteY136" fmla="*/ 707666 h 962379"/>
              <a:gd name="connsiteX137" fmla="*/ 4643562 w 6114789"/>
              <a:gd name="connsiteY137" fmla="*/ 699715 h 962379"/>
              <a:gd name="connsiteX138" fmla="*/ 4731026 w 6114789"/>
              <a:gd name="connsiteY138" fmla="*/ 683812 h 962379"/>
              <a:gd name="connsiteX139" fmla="*/ 4882101 w 6114789"/>
              <a:gd name="connsiteY139" fmla="*/ 691764 h 962379"/>
              <a:gd name="connsiteX140" fmla="*/ 4898004 w 6114789"/>
              <a:gd name="connsiteY140" fmla="*/ 874644 h 962379"/>
              <a:gd name="connsiteX141" fmla="*/ 4921858 w 6114789"/>
              <a:gd name="connsiteY141" fmla="*/ 962108 h 962379"/>
              <a:gd name="connsiteX142" fmla="*/ 4898004 w 6114789"/>
              <a:gd name="connsiteY142" fmla="*/ 954157 h 96237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Lst>
            <a:rect l="l" t="t" r="r" b="b"/>
            <a:pathLst>
              <a:path w="6114789" h="962379">
                <a:moveTo>
                  <a:pt x="6106602" y="47708"/>
                </a:moveTo>
                <a:cubicBezTo>
                  <a:pt x="6113441" y="95585"/>
                  <a:pt x="6120965" y="111149"/>
                  <a:pt x="6106602" y="159026"/>
                </a:cubicBezTo>
                <a:cubicBezTo>
                  <a:pt x="6103856" y="168179"/>
                  <a:pt x="6097891" y="176587"/>
                  <a:pt x="6090699" y="182880"/>
                </a:cubicBezTo>
                <a:cubicBezTo>
                  <a:pt x="6076316" y="195466"/>
                  <a:pt x="6061123" y="208641"/>
                  <a:pt x="6042992" y="214685"/>
                </a:cubicBezTo>
                <a:lnTo>
                  <a:pt x="5995284" y="230588"/>
                </a:lnTo>
                <a:lnTo>
                  <a:pt x="5756745" y="222637"/>
                </a:lnTo>
                <a:cubicBezTo>
                  <a:pt x="5720668" y="220877"/>
                  <a:pt x="5636651" y="211060"/>
                  <a:pt x="5597718" y="206734"/>
                </a:cubicBezTo>
                <a:cubicBezTo>
                  <a:pt x="5502303" y="209384"/>
                  <a:pt x="5406682" y="207884"/>
                  <a:pt x="5311472" y="214685"/>
                </a:cubicBezTo>
                <a:cubicBezTo>
                  <a:pt x="5294752" y="215879"/>
                  <a:pt x="5263764" y="230588"/>
                  <a:pt x="5263764" y="230588"/>
                </a:cubicBezTo>
                <a:cubicBezTo>
                  <a:pt x="5258463" y="238539"/>
                  <a:pt x="5253979" y="247101"/>
                  <a:pt x="5247861" y="254442"/>
                </a:cubicBezTo>
                <a:cubicBezTo>
                  <a:pt x="5240662" y="263081"/>
                  <a:pt x="5230244" y="268940"/>
                  <a:pt x="5224007" y="278296"/>
                </a:cubicBezTo>
                <a:cubicBezTo>
                  <a:pt x="5219358" y="285270"/>
                  <a:pt x="5220705" y="295176"/>
                  <a:pt x="5216056" y="302150"/>
                </a:cubicBezTo>
                <a:cubicBezTo>
                  <a:pt x="5209819" y="311506"/>
                  <a:pt x="5199106" y="317128"/>
                  <a:pt x="5192202" y="326004"/>
                </a:cubicBezTo>
                <a:cubicBezTo>
                  <a:pt x="5180468" y="341090"/>
                  <a:pt x="5170999" y="357809"/>
                  <a:pt x="5160397" y="373711"/>
                </a:cubicBezTo>
                <a:lnTo>
                  <a:pt x="5144494" y="397565"/>
                </a:lnTo>
                <a:cubicBezTo>
                  <a:pt x="5141844" y="405516"/>
                  <a:pt x="5140291" y="413922"/>
                  <a:pt x="5136543" y="421419"/>
                </a:cubicBezTo>
                <a:cubicBezTo>
                  <a:pt x="5127608" y="439289"/>
                  <a:pt x="5111858" y="456567"/>
                  <a:pt x="5096786" y="469127"/>
                </a:cubicBezTo>
                <a:cubicBezTo>
                  <a:pt x="5089445" y="475245"/>
                  <a:pt x="5081665" y="481149"/>
                  <a:pt x="5072932" y="485030"/>
                </a:cubicBezTo>
                <a:cubicBezTo>
                  <a:pt x="5057614" y="491838"/>
                  <a:pt x="5025225" y="500932"/>
                  <a:pt x="5025225" y="500932"/>
                </a:cubicBezTo>
                <a:lnTo>
                  <a:pt x="4206240" y="492981"/>
                </a:lnTo>
                <a:cubicBezTo>
                  <a:pt x="4169045" y="492345"/>
                  <a:pt x="4131918" y="488924"/>
                  <a:pt x="4094922" y="485030"/>
                </a:cubicBezTo>
                <a:cubicBezTo>
                  <a:pt x="4081481" y="483615"/>
                  <a:pt x="4068514" y="479186"/>
                  <a:pt x="4055165" y="477078"/>
                </a:cubicBezTo>
                <a:cubicBezTo>
                  <a:pt x="4018141" y="471232"/>
                  <a:pt x="3981219" y="464051"/>
                  <a:pt x="3943847" y="461176"/>
                </a:cubicBezTo>
                <a:lnTo>
                  <a:pt x="3840480" y="453224"/>
                </a:lnTo>
                <a:cubicBezTo>
                  <a:pt x="3777242" y="432146"/>
                  <a:pt x="3842028" y="452160"/>
                  <a:pt x="3705308" y="429371"/>
                </a:cubicBezTo>
                <a:cubicBezTo>
                  <a:pt x="3646821" y="419622"/>
                  <a:pt x="3673241" y="425329"/>
                  <a:pt x="3625795" y="413468"/>
                </a:cubicBezTo>
                <a:cubicBezTo>
                  <a:pt x="3572787" y="386963"/>
                  <a:pt x="3609520" y="400919"/>
                  <a:pt x="3530379" y="389614"/>
                </a:cubicBezTo>
                <a:cubicBezTo>
                  <a:pt x="3514419" y="387334"/>
                  <a:pt x="3498683" y="383547"/>
                  <a:pt x="3482672" y="381663"/>
                </a:cubicBezTo>
                <a:cubicBezTo>
                  <a:pt x="3453597" y="378242"/>
                  <a:pt x="3424303" y="376944"/>
                  <a:pt x="3395207" y="373711"/>
                </a:cubicBezTo>
                <a:cubicBezTo>
                  <a:pt x="3336428" y="367180"/>
                  <a:pt x="3350528" y="367033"/>
                  <a:pt x="3299792" y="357809"/>
                </a:cubicBezTo>
                <a:cubicBezTo>
                  <a:pt x="3283930" y="354925"/>
                  <a:pt x="3267987" y="352508"/>
                  <a:pt x="3252084" y="349858"/>
                </a:cubicBezTo>
                <a:cubicBezTo>
                  <a:pt x="3208700" y="335395"/>
                  <a:pt x="3240442" y="344396"/>
                  <a:pt x="3172571" y="333955"/>
                </a:cubicBezTo>
                <a:cubicBezTo>
                  <a:pt x="3061360" y="316846"/>
                  <a:pt x="3202413" y="335504"/>
                  <a:pt x="3045350" y="318052"/>
                </a:cubicBezTo>
                <a:cubicBezTo>
                  <a:pt x="2932749" y="305541"/>
                  <a:pt x="3029549" y="315084"/>
                  <a:pt x="2926080" y="302150"/>
                </a:cubicBezTo>
                <a:cubicBezTo>
                  <a:pt x="2902265" y="299173"/>
                  <a:pt x="2878372" y="296849"/>
                  <a:pt x="2854518" y="294198"/>
                </a:cubicBezTo>
                <a:cubicBezTo>
                  <a:pt x="2833315" y="288897"/>
                  <a:pt x="2811642" y="285208"/>
                  <a:pt x="2790908" y="278296"/>
                </a:cubicBezTo>
                <a:cubicBezTo>
                  <a:pt x="2782957" y="275645"/>
                  <a:pt x="2775273" y="271988"/>
                  <a:pt x="2767054" y="270344"/>
                </a:cubicBezTo>
                <a:cubicBezTo>
                  <a:pt x="2748677" y="266668"/>
                  <a:pt x="2729948" y="265043"/>
                  <a:pt x="2711395" y="262393"/>
                </a:cubicBezTo>
                <a:cubicBezTo>
                  <a:pt x="2703444" y="259743"/>
                  <a:pt x="2695795" y="255899"/>
                  <a:pt x="2687541" y="254442"/>
                </a:cubicBezTo>
                <a:cubicBezTo>
                  <a:pt x="2582925" y="235980"/>
                  <a:pt x="2564568" y="237762"/>
                  <a:pt x="2456953" y="230588"/>
                </a:cubicBezTo>
                <a:cubicBezTo>
                  <a:pt x="2425148" y="225287"/>
                  <a:pt x="2393533" y="218684"/>
                  <a:pt x="2361538" y="214685"/>
                </a:cubicBezTo>
                <a:cubicBezTo>
                  <a:pt x="2340334" y="212035"/>
                  <a:pt x="2319059" y="209904"/>
                  <a:pt x="2297927" y="206734"/>
                </a:cubicBezTo>
                <a:cubicBezTo>
                  <a:pt x="2266040" y="201951"/>
                  <a:pt x="2234130" y="197154"/>
                  <a:pt x="2202512" y="190831"/>
                </a:cubicBezTo>
                <a:cubicBezTo>
                  <a:pt x="2176007" y="185530"/>
                  <a:pt x="2149660" y="179373"/>
                  <a:pt x="2122998" y="174929"/>
                </a:cubicBezTo>
                <a:cubicBezTo>
                  <a:pt x="1973413" y="149997"/>
                  <a:pt x="2077738" y="172483"/>
                  <a:pt x="1979875" y="143124"/>
                </a:cubicBezTo>
                <a:cubicBezTo>
                  <a:pt x="1969408" y="139984"/>
                  <a:pt x="1958537" y="138312"/>
                  <a:pt x="1948070" y="135172"/>
                </a:cubicBezTo>
                <a:cubicBezTo>
                  <a:pt x="1932014" y="130355"/>
                  <a:pt x="1900362" y="119270"/>
                  <a:pt x="1900362" y="119270"/>
                </a:cubicBezTo>
                <a:cubicBezTo>
                  <a:pt x="1889760" y="111319"/>
                  <a:pt x="1880063" y="101991"/>
                  <a:pt x="1868557" y="95416"/>
                </a:cubicBezTo>
                <a:cubicBezTo>
                  <a:pt x="1861280" y="91258"/>
                  <a:pt x="1851248" y="92700"/>
                  <a:pt x="1844703" y="87464"/>
                </a:cubicBezTo>
                <a:cubicBezTo>
                  <a:pt x="1837241" y="81494"/>
                  <a:pt x="1836904" y="68676"/>
                  <a:pt x="1828800" y="63611"/>
                </a:cubicBezTo>
                <a:cubicBezTo>
                  <a:pt x="1814585" y="54727"/>
                  <a:pt x="1781092" y="47708"/>
                  <a:pt x="1781092" y="47708"/>
                </a:cubicBezTo>
                <a:cubicBezTo>
                  <a:pt x="1770490" y="50358"/>
                  <a:pt x="1749287" y="44731"/>
                  <a:pt x="1749287" y="55659"/>
                </a:cubicBezTo>
                <a:cubicBezTo>
                  <a:pt x="1749287" y="68911"/>
                  <a:pt x="1769728" y="72695"/>
                  <a:pt x="1781092" y="79513"/>
                </a:cubicBezTo>
                <a:cubicBezTo>
                  <a:pt x="1796338" y="88661"/>
                  <a:pt x="1816228" y="90795"/>
                  <a:pt x="1828800" y="103367"/>
                </a:cubicBezTo>
                <a:cubicBezTo>
                  <a:pt x="1836527" y="111094"/>
                  <a:pt x="1807597" y="98066"/>
                  <a:pt x="1796995" y="95416"/>
                </a:cubicBezTo>
                <a:cubicBezTo>
                  <a:pt x="1786393" y="90115"/>
                  <a:pt x="1776625" y="82632"/>
                  <a:pt x="1765190" y="79513"/>
                </a:cubicBezTo>
                <a:cubicBezTo>
                  <a:pt x="1735618" y="71448"/>
                  <a:pt x="1617034" y="64199"/>
                  <a:pt x="1606164" y="63611"/>
                </a:cubicBezTo>
                <a:cubicBezTo>
                  <a:pt x="1542591" y="60175"/>
                  <a:pt x="1478943" y="58310"/>
                  <a:pt x="1415332" y="55659"/>
                </a:cubicBezTo>
                <a:cubicBezTo>
                  <a:pt x="1205858" y="13765"/>
                  <a:pt x="1431314" y="56364"/>
                  <a:pt x="866692" y="39757"/>
                </a:cubicBezTo>
                <a:cubicBezTo>
                  <a:pt x="855769" y="39436"/>
                  <a:pt x="845639" y="33760"/>
                  <a:pt x="834887" y="31805"/>
                </a:cubicBezTo>
                <a:cubicBezTo>
                  <a:pt x="816448" y="28452"/>
                  <a:pt x="797899" y="25477"/>
                  <a:pt x="779228" y="23854"/>
                </a:cubicBezTo>
                <a:cubicBezTo>
                  <a:pt x="736898" y="20173"/>
                  <a:pt x="694414" y="18553"/>
                  <a:pt x="652007" y="15903"/>
                </a:cubicBezTo>
                <a:cubicBezTo>
                  <a:pt x="639075" y="13316"/>
                  <a:pt x="574723" y="0"/>
                  <a:pt x="564543" y="0"/>
                </a:cubicBezTo>
                <a:cubicBezTo>
                  <a:pt x="553615" y="0"/>
                  <a:pt x="543340" y="5301"/>
                  <a:pt x="532738" y="7951"/>
                </a:cubicBezTo>
                <a:cubicBezTo>
                  <a:pt x="524787" y="13252"/>
                  <a:pt x="516225" y="17736"/>
                  <a:pt x="508884" y="23854"/>
                </a:cubicBezTo>
                <a:cubicBezTo>
                  <a:pt x="500245" y="31053"/>
                  <a:pt x="494386" y="41471"/>
                  <a:pt x="485030" y="47708"/>
                </a:cubicBezTo>
                <a:cubicBezTo>
                  <a:pt x="478056" y="52357"/>
                  <a:pt x="469127" y="53009"/>
                  <a:pt x="461176" y="55659"/>
                </a:cubicBezTo>
                <a:cubicBezTo>
                  <a:pt x="453225" y="63610"/>
                  <a:pt x="446472" y="72977"/>
                  <a:pt x="437322" y="79513"/>
                </a:cubicBezTo>
                <a:cubicBezTo>
                  <a:pt x="427677" y="86403"/>
                  <a:pt x="415681" y="89318"/>
                  <a:pt x="405517" y="95416"/>
                </a:cubicBezTo>
                <a:cubicBezTo>
                  <a:pt x="389128" y="105249"/>
                  <a:pt x="373712" y="116619"/>
                  <a:pt x="357809" y="127221"/>
                </a:cubicBezTo>
                <a:lnTo>
                  <a:pt x="310101" y="159026"/>
                </a:lnTo>
                <a:cubicBezTo>
                  <a:pt x="294198" y="164327"/>
                  <a:pt x="278830" y="171642"/>
                  <a:pt x="262393" y="174929"/>
                </a:cubicBezTo>
                <a:cubicBezTo>
                  <a:pt x="239698" y="179468"/>
                  <a:pt x="213287" y="184094"/>
                  <a:pt x="190832" y="190831"/>
                </a:cubicBezTo>
                <a:cubicBezTo>
                  <a:pt x="174776" y="195648"/>
                  <a:pt x="159027" y="201433"/>
                  <a:pt x="143124" y="206734"/>
                </a:cubicBezTo>
                <a:lnTo>
                  <a:pt x="119270" y="214685"/>
                </a:lnTo>
                <a:lnTo>
                  <a:pt x="95416" y="222637"/>
                </a:lnTo>
                <a:lnTo>
                  <a:pt x="71562" y="230588"/>
                </a:lnTo>
                <a:cubicBezTo>
                  <a:pt x="63611" y="235889"/>
                  <a:pt x="54465" y="239734"/>
                  <a:pt x="47708" y="246491"/>
                </a:cubicBezTo>
                <a:cubicBezTo>
                  <a:pt x="28805" y="265393"/>
                  <a:pt x="23777" y="294428"/>
                  <a:pt x="15903" y="318052"/>
                </a:cubicBezTo>
                <a:lnTo>
                  <a:pt x="7952" y="341906"/>
                </a:lnTo>
                <a:lnTo>
                  <a:pt x="0" y="365760"/>
                </a:lnTo>
                <a:cubicBezTo>
                  <a:pt x="41026" y="488835"/>
                  <a:pt x="-5994" y="361723"/>
                  <a:pt x="31805" y="437322"/>
                </a:cubicBezTo>
                <a:cubicBezTo>
                  <a:pt x="35553" y="444819"/>
                  <a:pt x="37454" y="453117"/>
                  <a:pt x="39757" y="461176"/>
                </a:cubicBezTo>
                <a:cubicBezTo>
                  <a:pt x="42759" y="471683"/>
                  <a:pt x="40881" y="484448"/>
                  <a:pt x="47708" y="492981"/>
                </a:cubicBezTo>
                <a:cubicBezTo>
                  <a:pt x="52944" y="499526"/>
                  <a:pt x="63232" y="500006"/>
                  <a:pt x="71562" y="500932"/>
                </a:cubicBezTo>
                <a:cubicBezTo>
                  <a:pt x="111163" y="505332"/>
                  <a:pt x="151075" y="506233"/>
                  <a:pt x="190832" y="508884"/>
                </a:cubicBezTo>
                <a:cubicBezTo>
                  <a:pt x="227938" y="506233"/>
                  <a:pt x="265117" y="504459"/>
                  <a:pt x="302150" y="500932"/>
                </a:cubicBezTo>
                <a:cubicBezTo>
                  <a:pt x="320807" y="499155"/>
                  <a:pt x="339097" y="494021"/>
                  <a:pt x="357809" y="492981"/>
                </a:cubicBezTo>
                <a:cubicBezTo>
                  <a:pt x="434599" y="488715"/>
                  <a:pt x="511534" y="487680"/>
                  <a:pt x="588397" y="485030"/>
                </a:cubicBezTo>
                <a:cubicBezTo>
                  <a:pt x="605021" y="480874"/>
                  <a:pt x="644474" y="470473"/>
                  <a:pt x="659958" y="469127"/>
                </a:cubicBezTo>
                <a:cubicBezTo>
                  <a:pt x="707560" y="464988"/>
                  <a:pt x="755374" y="463826"/>
                  <a:pt x="803082" y="461176"/>
                </a:cubicBezTo>
                <a:cubicBezTo>
                  <a:pt x="816334" y="458525"/>
                  <a:pt x="829645" y="456156"/>
                  <a:pt x="842838" y="453224"/>
                </a:cubicBezTo>
                <a:cubicBezTo>
                  <a:pt x="853506" y="450853"/>
                  <a:pt x="863864" y="447070"/>
                  <a:pt x="874644" y="445273"/>
                </a:cubicBezTo>
                <a:cubicBezTo>
                  <a:pt x="895722" y="441760"/>
                  <a:pt x="917032" y="439819"/>
                  <a:pt x="938254" y="437322"/>
                </a:cubicBezTo>
                <a:cubicBezTo>
                  <a:pt x="1044771" y="424791"/>
                  <a:pt x="1010805" y="429316"/>
                  <a:pt x="1152939" y="421419"/>
                </a:cubicBezTo>
                <a:cubicBezTo>
                  <a:pt x="1190045" y="424070"/>
                  <a:pt x="1227623" y="422906"/>
                  <a:pt x="1264258" y="429371"/>
                </a:cubicBezTo>
                <a:cubicBezTo>
                  <a:pt x="1283623" y="432788"/>
                  <a:pt x="1295252" y="455107"/>
                  <a:pt x="1304014" y="469127"/>
                </a:cubicBezTo>
                <a:cubicBezTo>
                  <a:pt x="1351946" y="545820"/>
                  <a:pt x="1307447" y="478253"/>
                  <a:pt x="1343771" y="532738"/>
                </a:cubicBezTo>
                <a:cubicBezTo>
                  <a:pt x="1346421" y="540689"/>
                  <a:pt x="1349420" y="548532"/>
                  <a:pt x="1351722" y="556591"/>
                </a:cubicBezTo>
                <a:cubicBezTo>
                  <a:pt x="1359205" y="582783"/>
                  <a:pt x="1362161" y="600837"/>
                  <a:pt x="1367625" y="628153"/>
                </a:cubicBezTo>
                <a:cubicBezTo>
                  <a:pt x="1373961" y="691519"/>
                  <a:pt x="1370224" y="692910"/>
                  <a:pt x="1383527" y="739471"/>
                </a:cubicBezTo>
                <a:cubicBezTo>
                  <a:pt x="1385829" y="747530"/>
                  <a:pt x="1387730" y="755828"/>
                  <a:pt x="1391478" y="763325"/>
                </a:cubicBezTo>
                <a:cubicBezTo>
                  <a:pt x="1395752" y="771872"/>
                  <a:pt x="1402080" y="779228"/>
                  <a:pt x="1407381" y="787179"/>
                </a:cubicBezTo>
                <a:cubicBezTo>
                  <a:pt x="1415254" y="810796"/>
                  <a:pt x="1420287" y="839841"/>
                  <a:pt x="1439186" y="858741"/>
                </a:cubicBezTo>
                <a:cubicBezTo>
                  <a:pt x="1445943" y="865498"/>
                  <a:pt x="1454493" y="870370"/>
                  <a:pt x="1463040" y="874644"/>
                </a:cubicBezTo>
                <a:cubicBezTo>
                  <a:pt x="1470537" y="878392"/>
                  <a:pt x="1478943" y="879945"/>
                  <a:pt x="1486894" y="882595"/>
                </a:cubicBezTo>
                <a:lnTo>
                  <a:pt x="1598212" y="874644"/>
                </a:lnTo>
                <a:cubicBezTo>
                  <a:pt x="1668095" y="868291"/>
                  <a:pt x="1648083" y="860464"/>
                  <a:pt x="1709531" y="874644"/>
                </a:cubicBezTo>
                <a:cubicBezTo>
                  <a:pt x="1728332" y="878983"/>
                  <a:pt x="1746748" y="884872"/>
                  <a:pt x="1765190" y="890546"/>
                </a:cubicBezTo>
                <a:cubicBezTo>
                  <a:pt x="1781212" y="895476"/>
                  <a:pt x="1812898" y="906449"/>
                  <a:pt x="1812898" y="906449"/>
                </a:cubicBezTo>
                <a:cubicBezTo>
                  <a:pt x="1842053" y="903799"/>
                  <a:pt x="1871344" y="902367"/>
                  <a:pt x="1900362" y="898498"/>
                </a:cubicBezTo>
                <a:cubicBezTo>
                  <a:pt x="1911194" y="897054"/>
                  <a:pt x="1921335" y="891990"/>
                  <a:pt x="1932167" y="890546"/>
                </a:cubicBezTo>
                <a:cubicBezTo>
                  <a:pt x="1961185" y="886677"/>
                  <a:pt x="1990477" y="885245"/>
                  <a:pt x="2019632" y="882595"/>
                </a:cubicBezTo>
                <a:cubicBezTo>
                  <a:pt x="2086863" y="909489"/>
                  <a:pt x="2031183" y="895194"/>
                  <a:pt x="2107096" y="890546"/>
                </a:cubicBezTo>
                <a:cubicBezTo>
                  <a:pt x="2220975" y="883574"/>
                  <a:pt x="2449002" y="874644"/>
                  <a:pt x="2449002" y="874644"/>
                </a:cubicBezTo>
                <a:cubicBezTo>
                  <a:pt x="2459604" y="866693"/>
                  <a:pt x="2469301" y="857365"/>
                  <a:pt x="2480807" y="850790"/>
                </a:cubicBezTo>
                <a:cubicBezTo>
                  <a:pt x="2513264" y="832243"/>
                  <a:pt x="2549289" y="848904"/>
                  <a:pt x="2584174" y="850790"/>
                </a:cubicBezTo>
                <a:cubicBezTo>
                  <a:pt x="2655680" y="854655"/>
                  <a:pt x="2727297" y="856091"/>
                  <a:pt x="2798859" y="858741"/>
                </a:cubicBezTo>
                <a:cubicBezTo>
                  <a:pt x="2817412" y="861391"/>
                  <a:pt x="2835777" y="866692"/>
                  <a:pt x="2854518" y="866692"/>
                </a:cubicBezTo>
                <a:cubicBezTo>
                  <a:pt x="2955579" y="866692"/>
                  <a:pt x="2806177" y="842712"/>
                  <a:pt x="2926080" y="866692"/>
                </a:cubicBezTo>
                <a:cubicBezTo>
                  <a:pt x="2935168" y="893953"/>
                  <a:pt x="2927595" y="897740"/>
                  <a:pt x="2957885" y="882595"/>
                </a:cubicBezTo>
                <a:cubicBezTo>
                  <a:pt x="2966432" y="878321"/>
                  <a:pt x="2988496" y="859935"/>
                  <a:pt x="2981739" y="866692"/>
                </a:cubicBezTo>
                <a:cubicBezTo>
                  <a:pt x="2957669" y="890762"/>
                  <a:pt x="2928229" y="897781"/>
                  <a:pt x="2973788" y="882595"/>
                </a:cubicBezTo>
                <a:cubicBezTo>
                  <a:pt x="3156534" y="908701"/>
                  <a:pt x="3079669" y="900757"/>
                  <a:pt x="3442915" y="882595"/>
                </a:cubicBezTo>
                <a:cubicBezTo>
                  <a:pt x="3539446" y="877768"/>
                  <a:pt x="3476284" y="868576"/>
                  <a:pt x="3530379" y="858741"/>
                </a:cubicBezTo>
                <a:cubicBezTo>
                  <a:pt x="3551403" y="854919"/>
                  <a:pt x="3572786" y="853440"/>
                  <a:pt x="3593990" y="850790"/>
                </a:cubicBezTo>
                <a:cubicBezTo>
                  <a:pt x="3604592" y="848139"/>
                  <a:pt x="3615328" y="845978"/>
                  <a:pt x="3625795" y="842838"/>
                </a:cubicBezTo>
                <a:cubicBezTo>
                  <a:pt x="3641851" y="838021"/>
                  <a:pt x="3656809" y="828454"/>
                  <a:pt x="3673503" y="826936"/>
                </a:cubicBezTo>
                <a:lnTo>
                  <a:pt x="3760967" y="818984"/>
                </a:lnTo>
                <a:cubicBezTo>
                  <a:pt x="3822029" y="803719"/>
                  <a:pt x="3762959" y="817327"/>
                  <a:pt x="3848432" y="803082"/>
                </a:cubicBezTo>
                <a:cubicBezTo>
                  <a:pt x="3861763" y="800860"/>
                  <a:pt x="3874717" y="796209"/>
                  <a:pt x="3888188" y="795131"/>
                </a:cubicBezTo>
                <a:cubicBezTo>
                  <a:pt x="3941094" y="790898"/>
                  <a:pt x="3994205" y="789830"/>
                  <a:pt x="4047214" y="787179"/>
                </a:cubicBezTo>
                <a:cubicBezTo>
                  <a:pt x="4150145" y="761447"/>
                  <a:pt x="3953678" y="808831"/>
                  <a:pt x="4166484" y="771277"/>
                </a:cubicBezTo>
                <a:cubicBezTo>
                  <a:pt x="4182992" y="768364"/>
                  <a:pt x="4198289" y="760675"/>
                  <a:pt x="4214192" y="755374"/>
                </a:cubicBezTo>
                <a:lnTo>
                  <a:pt x="4238045" y="747423"/>
                </a:lnTo>
                <a:cubicBezTo>
                  <a:pt x="4340386" y="713309"/>
                  <a:pt x="4235605" y="746044"/>
                  <a:pt x="4325510" y="723569"/>
                </a:cubicBezTo>
                <a:cubicBezTo>
                  <a:pt x="4355618" y="716042"/>
                  <a:pt x="4351734" y="709687"/>
                  <a:pt x="4389120" y="707666"/>
                </a:cubicBezTo>
                <a:cubicBezTo>
                  <a:pt x="4473852" y="703086"/>
                  <a:pt x="4558748" y="702365"/>
                  <a:pt x="4643562" y="699715"/>
                </a:cubicBezTo>
                <a:cubicBezTo>
                  <a:pt x="4671396" y="692757"/>
                  <a:pt x="4702540" y="683812"/>
                  <a:pt x="4731026" y="683812"/>
                </a:cubicBezTo>
                <a:cubicBezTo>
                  <a:pt x="4781454" y="683812"/>
                  <a:pt x="4831743" y="689113"/>
                  <a:pt x="4882101" y="691764"/>
                </a:cubicBezTo>
                <a:cubicBezTo>
                  <a:pt x="4887402" y="752724"/>
                  <a:pt x="4890990" y="813857"/>
                  <a:pt x="4898004" y="874644"/>
                </a:cubicBezTo>
                <a:cubicBezTo>
                  <a:pt x="4899734" y="889636"/>
                  <a:pt x="4938167" y="967544"/>
                  <a:pt x="4921858" y="962108"/>
                </a:cubicBezTo>
                <a:lnTo>
                  <a:pt x="4898004" y="954157"/>
                </a:lnTo>
              </a:path>
            </a:pathLst>
          </a:custGeom>
          <a:noFill/>
          <a:ln>
            <a:solidFill>
              <a:srgbClr val="00B0F0"/>
            </a:solidFill>
            <a:prstDash val="dash"/>
            <a:headEnd type="none" w="med" len="med"/>
            <a:tailEnd type="triangl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NL"/>
          </a:p>
        </p:txBody>
      </p:sp>
      <p:sp>
        <p:nvSpPr>
          <p:cNvPr id="22" name="TextBox 21">
            <a:extLst>
              <a:ext uri="{FF2B5EF4-FFF2-40B4-BE49-F238E27FC236}">
                <a16:creationId xmlns:a16="http://schemas.microsoft.com/office/drawing/2014/main" id="{7824A457-93EB-9D8C-298E-E5CD14C7EE27}"/>
              </a:ext>
            </a:extLst>
          </p:cNvPr>
          <p:cNvSpPr txBox="1"/>
          <p:nvPr/>
        </p:nvSpPr>
        <p:spPr>
          <a:xfrm>
            <a:off x="559714" y="4900508"/>
            <a:ext cx="8136904" cy="1323439"/>
          </a:xfrm>
          <a:prstGeom prst="rect">
            <a:avLst/>
          </a:prstGeom>
          <a:noFill/>
        </p:spPr>
        <p:txBody>
          <a:bodyPr wrap="square" rtlCol="0">
            <a:spAutoFit/>
          </a:bodyPr>
          <a:lstStyle/>
          <a:p>
            <a:pPr marL="285750" indent="-285750">
              <a:buFont typeface="Arial" panose="020B0604020202020204" pitchFamily="34" charset="0"/>
              <a:buChar char="•"/>
            </a:pPr>
            <a:r>
              <a:rPr lang="en-GB" sz="1600" dirty="0"/>
              <a:t>Dashed-blue line: a </a:t>
            </a:r>
            <a:r>
              <a:rPr lang="en-GB" sz="1600" dirty="0">
                <a:highlight>
                  <a:srgbClr val="FFFF00"/>
                </a:highlight>
              </a:rPr>
              <a:t>coupling path 𝜎 </a:t>
            </a:r>
            <a:r>
              <a:rPr lang="en-GB" sz="1600" dirty="0"/>
              <a:t>over </a:t>
            </a:r>
            <a:r>
              <a:rPr lang="en-GB" sz="1600" dirty="0" err="1"/>
              <a:t>o.x</a:t>
            </a:r>
            <a:r>
              <a:rPr lang="en-GB" sz="1600" dirty="0"/>
              <a:t> from a yellow in m() to the blue in n(), assuming the path in-between is def-clear on </a:t>
            </a:r>
            <a:r>
              <a:rPr lang="en-GB" sz="1600" dirty="0" err="1"/>
              <a:t>o.x</a:t>
            </a:r>
            <a:r>
              <a:rPr lang="en-GB" sz="1600" dirty="0"/>
              <a:t>.</a:t>
            </a:r>
          </a:p>
          <a:p>
            <a:pPr marL="285750" indent="-285750">
              <a:buFont typeface="Arial" panose="020B0604020202020204" pitchFamily="34" charset="0"/>
              <a:buChar char="•"/>
            </a:pPr>
            <a:r>
              <a:rPr lang="en-GB" sz="1600" dirty="0"/>
              <a:t>2 </a:t>
            </a:r>
            <a:r>
              <a:rPr lang="en-GB" sz="1600" dirty="0">
                <a:sym typeface="Wingdings" pitchFamily="2" charset="2"/>
              </a:rPr>
              <a:t>➝ 3 in f(x) forms a coupling sequence if there is such a coupling path.</a:t>
            </a:r>
          </a:p>
          <a:p>
            <a:pPr marL="285750" indent="-285750">
              <a:buFont typeface="Arial" panose="020B0604020202020204" pitchFamily="34" charset="0"/>
              <a:buChar char="•"/>
            </a:pPr>
            <a:r>
              <a:rPr lang="en-GB" sz="1600" dirty="0">
                <a:sym typeface="Wingdings" pitchFamily="2" charset="2"/>
              </a:rPr>
              <a:t>There is a second coupling path between the coupling sequence </a:t>
            </a:r>
            <a:r>
              <a:rPr lang="en-GB" sz="1600" dirty="0"/>
              <a:t>2 </a:t>
            </a:r>
            <a:r>
              <a:rPr lang="en-GB" sz="1600" dirty="0">
                <a:sym typeface="Wingdings" pitchFamily="2" charset="2"/>
              </a:rPr>
              <a:t>➝ 3, namely the du-path 𝜏 between ”</a:t>
            </a:r>
            <a:r>
              <a:rPr lang="en-GB" sz="1600" dirty="0" err="1">
                <a:sym typeface="Wingdings" pitchFamily="2" charset="2"/>
              </a:rPr>
              <a:t>this.x</a:t>
            </a:r>
            <a:r>
              <a:rPr lang="en-GB" sz="1600" dirty="0">
                <a:sym typeface="Wingdings" pitchFamily="2" charset="2"/>
              </a:rPr>
              <a:t> – 0” (green) and “</a:t>
            </a:r>
            <a:r>
              <a:rPr lang="en-GB" sz="1600" dirty="0" err="1">
                <a:sym typeface="Wingdings" pitchFamily="2" charset="2"/>
              </a:rPr>
              <a:t>this.x</a:t>
            </a:r>
            <a:r>
              <a:rPr lang="en-GB" sz="1600" dirty="0">
                <a:sym typeface="Wingdings" pitchFamily="2" charset="2"/>
              </a:rPr>
              <a:t>==0” (blue), passing through f().</a:t>
            </a:r>
            <a:endParaRPr lang="en-NL" sz="1600" dirty="0"/>
          </a:p>
        </p:txBody>
      </p:sp>
    </p:spTree>
    <p:extLst>
      <p:ext uri="{BB962C8B-B14F-4D97-AF65-F5344CB8AC3E}">
        <p14:creationId xmlns:p14="http://schemas.microsoft.com/office/powerpoint/2010/main" val="136907776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1"/>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1" grpId="0" animBg="1"/>
    </p:bldLst>
  </p:timing>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4818" name="Title 1"/>
          <p:cNvSpPr>
            <a:spLocks noGrp="1"/>
          </p:cNvSpPr>
          <p:nvPr>
            <p:ph type="title"/>
          </p:nvPr>
        </p:nvSpPr>
        <p:spPr>
          <a:xfrm>
            <a:off x="457200" y="274638"/>
            <a:ext cx="8229600" cy="564292"/>
          </a:xfrm>
        </p:spPr>
        <p:txBody>
          <a:bodyPr/>
          <a:lstStyle/>
          <a:p>
            <a:r>
              <a:rPr lang="en-US" sz="4000" dirty="0"/>
              <a:t>Coupling Sequence, example</a:t>
            </a:r>
          </a:p>
        </p:txBody>
      </p:sp>
      <p:sp>
        <p:nvSpPr>
          <p:cNvPr id="4" name="Slide Number Placeholder 3"/>
          <p:cNvSpPr>
            <a:spLocks noGrp="1"/>
          </p:cNvSpPr>
          <p:nvPr>
            <p:ph type="sldNum" sz="quarter" idx="12"/>
          </p:nvPr>
        </p:nvSpPr>
        <p:spPr/>
        <p:txBody>
          <a:bodyPr/>
          <a:lstStyle/>
          <a:p>
            <a:pPr>
              <a:defRPr/>
            </a:pPr>
            <a:fld id="{3B1C7B3B-1398-4AD6-A01F-19A5BB4A5787}" type="slidenum">
              <a:rPr lang="en-US" smtClean="0"/>
              <a:pPr>
                <a:defRPr/>
              </a:pPr>
              <a:t>37</a:t>
            </a:fld>
            <a:endParaRPr lang="en-US"/>
          </a:p>
        </p:txBody>
      </p:sp>
      <p:sp>
        <p:nvSpPr>
          <p:cNvPr id="5" name="TextBox 4"/>
          <p:cNvSpPr txBox="1"/>
          <p:nvPr/>
        </p:nvSpPr>
        <p:spPr>
          <a:xfrm>
            <a:off x="457200" y="1700808"/>
            <a:ext cx="3364214" cy="1938992"/>
          </a:xfrm>
          <a:prstGeom prst="rect">
            <a:avLst/>
          </a:prstGeom>
          <a:solidFill>
            <a:schemeClr val="accent5">
              <a:lumMod val="20000"/>
              <a:lumOff val="80000"/>
            </a:schemeClr>
          </a:solidFill>
          <a:ln>
            <a:solidFill>
              <a:schemeClr val="tx1"/>
            </a:solidFill>
          </a:ln>
        </p:spPr>
        <p:txBody>
          <a:bodyPr wrap="square">
            <a:spAutoFit/>
          </a:bodyPr>
          <a:lstStyle/>
          <a:p>
            <a:pPr>
              <a:defRPr/>
            </a:pPr>
            <a:r>
              <a:rPr lang="en-US" sz="2000" dirty="0">
                <a:latin typeface="+mn-lt"/>
              </a:rPr>
              <a:t>f(x) {  </a:t>
            </a:r>
            <a:r>
              <a:rPr lang="en-US" sz="2000" dirty="0">
                <a:solidFill>
                  <a:schemeClr val="accent2">
                    <a:lumMod val="60000"/>
                    <a:lumOff val="40000"/>
                  </a:schemeClr>
                </a:solidFill>
                <a:latin typeface="+mn-lt"/>
              </a:rPr>
              <a:t> (1)  </a:t>
            </a:r>
            <a:r>
              <a:rPr lang="en-US" sz="2000" dirty="0">
                <a:latin typeface="+mn-lt"/>
              </a:rPr>
              <a:t>A o = Factory(x ) ;</a:t>
            </a:r>
            <a:br>
              <a:rPr lang="en-US" sz="2000" dirty="0">
                <a:latin typeface="+mn-lt"/>
              </a:rPr>
            </a:br>
            <a:r>
              <a:rPr lang="en-US" sz="2000" dirty="0">
                <a:latin typeface="+mn-lt"/>
              </a:rPr>
              <a:t>           … </a:t>
            </a:r>
            <a:endParaRPr lang="en-US" sz="2000" dirty="0">
              <a:solidFill>
                <a:schemeClr val="accent1">
                  <a:lumMod val="60000"/>
                  <a:lumOff val="40000"/>
                </a:schemeClr>
              </a:solidFill>
              <a:latin typeface="+mn-lt"/>
            </a:endParaRPr>
          </a:p>
          <a:p>
            <a:pPr>
              <a:defRPr/>
            </a:pPr>
            <a:r>
              <a:rPr lang="en-US" sz="2000" dirty="0">
                <a:latin typeface="+mn-lt"/>
              </a:rPr>
              <a:t>          </a:t>
            </a:r>
            <a:r>
              <a:rPr lang="en-US" sz="2000" dirty="0">
                <a:solidFill>
                  <a:schemeClr val="accent2">
                    <a:lumMod val="60000"/>
                    <a:lumOff val="40000"/>
                  </a:schemeClr>
                </a:solidFill>
                <a:latin typeface="+mn-lt"/>
              </a:rPr>
              <a:t> (2)  </a:t>
            </a:r>
            <a:r>
              <a:rPr lang="en-US" sz="2000" dirty="0">
                <a:latin typeface="+mn-lt"/>
              </a:rPr>
              <a:t>y= </a:t>
            </a:r>
            <a:r>
              <a:rPr lang="en-US" sz="2000" dirty="0" err="1">
                <a:latin typeface="+mn-lt"/>
              </a:rPr>
              <a:t>o.m</a:t>
            </a:r>
            <a:r>
              <a:rPr lang="en-US" sz="2000" dirty="0">
                <a:latin typeface="+mn-lt"/>
              </a:rPr>
              <a:t>(..) ;                  </a:t>
            </a:r>
            <a:endParaRPr lang="en-US" sz="2000" dirty="0">
              <a:solidFill>
                <a:schemeClr val="accent1">
                  <a:lumMod val="60000"/>
                  <a:lumOff val="40000"/>
                </a:schemeClr>
              </a:solidFill>
              <a:latin typeface="+mn-lt"/>
            </a:endParaRPr>
          </a:p>
          <a:p>
            <a:pPr>
              <a:defRPr/>
            </a:pPr>
            <a:r>
              <a:rPr lang="en-US" sz="2000" dirty="0">
                <a:latin typeface="+mn-lt"/>
              </a:rPr>
              <a:t>           ...</a:t>
            </a:r>
          </a:p>
          <a:p>
            <a:pPr>
              <a:defRPr/>
            </a:pPr>
            <a:r>
              <a:rPr lang="en-US" sz="2000" dirty="0">
                <a:latin typeface="+mn-lt"/>
              </a:rPr>
              <a:t>           </a:t>
            </a:r>
            <a:r>
              <a:rPr lang="en-US" sz="2000" dirty="0">
                <a:solidFill>
                  <a:schemeClr val="accent2">
                    <a:lumMod val="60000"/>
                    <a:lumOff val="40000"/>
                  </a:schemeClr>
                </a:solidFill>
                <a:latin typeface="+mn-lt"/>
              </a:rPr>
              <a:t>(3)  </a:t>
            </a:r>
            <a:r>
              <a:rPr lang="en-US" sz="2000" dirty="0">
                <a:latin typeface="+mn-lt"/>
              </a:rPr>
              <a:t>z = </a:t>
            </a:r>
            <a:r>
              <a:rPr lang="en-US" sz="2000" dirty="0" err="1">
                <a:latin typeface="+mn-lt"/>
              </a:rPr>
              <a:t>o.k</a:t>
            </a:r>
            <a:r>
              <a:rPr lang="en-US" sz="2000" dirty="0">
                <a:latin typeface="+mn-lt"/>
              </a:rPr>
              <a:t>(..)                     </a:t>
            </a:r>
          </a:p>
          <a:p>
            <a:pPr>
              <a:defRPr/>
            </a:pPr>
            <a:r>
              <a:rPr lang="en-US" sz="2000" dirty="0">
                <a:latin typeface="+mn-lt"/>
              </a:rPr>
              <a:t>}</a:t>
            </a:r>
            <a:endParaRPr lang="en-US" sz="2000" dirty="0">
              <a:solidFill>
                <a:schemeClr val="accent1">
                  <a:lumMod val="60000"/>
                  <a:lumOff val="40000"/>
                </a:schemeClr>
              </a:solidFill>
              <a:latin typeface="+mn-lt"/>
            </a:endParaRPr>
          </a:p>
        </p:txBody>
      </p:sp>
      <p:sp>
        <p:nvSpPr>
          <p:cNvPr id="13" name="TextBox 12">
            <a:extLst>
              <a:ext uri="{FF2B5EF4-FFF2-40B4-BE49-F238E27FC236}">
                <a16:creationId xmlns:a16="http://schemas.microsoft.com/office/drawing/2014/main" id="{9FA46D66-B1BC-2E26-834E-7B7428B25C2C}"/>
              </a:ext>
            </a:extLst>
          </p:cNvPr>
          <p:cNvSpPr txBox="1"/>
          <p:nvPr/>
        </p:nvSpPr>
        <p:spPr>
          <a:xfrm>
            <a:off x="4160926" y="1086459"/>
            <a:ext cx="2738981" cy="2800767"/>
          </a:xfrm>
          <a:prstGeom prst="rect">
            <a:avLst/>
          </a:prstGeom>
          <a:noFill/>
          <a:ln>
            <a:solidFill>
              <a:schemeClr val="tx1"/>
            </a:solidFill>
          </a:ln>
        </p:spPr>
        <p:txBody>
          <a:bodyPr wrap="square" rtlCol="0">
            <a:spAutoFit/>
          </a:bodyPr>
          <a:lstStyle/>
          <a:p>
            <a:r>
              <a:rPr lang="en-GB" sz="1600" b="1" dirty="0"/>
              <a:t>class</a:t>
            </a:r>
            <a:r>
              <a:rPr lang="en-GB" sz="1600" dirty="0"/>
              <a:t> A {</a:t>
            </a:r>
            <a:br>
              <a:rPr lang="en-GB" sz="1600" dirty="0"/>
            </a:br>
            <a:r>
              <a:rPr lang="en-GB" sz="1600" dirty="0"/>
              <a:t>    </a:t>
            </a:r>
            <a:r>
              <a:rPr lang="en-GB" sz="1600" dirty="0">
                <a:highlight>
                  <a:srgbClr val="FFFF00"/>
                </a:highlight>
              </a:rPr>
              <a:t>int  x </a:t>
            </a:r>
            <a:br>
              <a:rPr lang="en-GB" sz="1600" dirty="0"/>
            </a:br>
            <a:endParaRPr lang="en-GB" sz="1600" dirty="0"/>
          </a:p>
          <a:p>
            <a:r>
              <a:rPr lang="en-GB" sz="1600" dirty="0"/>
              <a:t>    m</a:t>
            </a:r>
            <a:r>
              <a:rPr lang="en-NL" sz="1600" dirty="0"/>
              <a:t>(i) {</a:t>
            </a:r>
            <a:br>
              <a:rPr lang="en-NL" sz="1600" dirty="0"/>
            </a:br>
            <a:r>
              <a:rPr lang="en-NL" sz="1600" dirty="0"/>
              <a:t>           </a:t>
            </a:r>
            <a:r>
              <a:rPr lang="en-NL" sz="1600" b="1" dirty="0"/>
              <a:t>if</a:t>
            </a:r>
            <a:r>
              <a:rPr lang="en-NL" sz="1600" dirty="0"/>
              <a:t> (i==0)  </a:t>
            </a:r>
            <a:r>
              <a:rPr lang="en-NL" sz="1600" dirty="0">
                <a:solidFill>
                  <a:schemeClr val="accent6">
                    <a:lumMod val="60000"/>
                    <a:lumOff val="40000"/>
                  </a:schemeClr>
                </a:solidFill>
                <a:highlight>
                  <a:srgbClr val="00FF00"/>
                </a:highlight>
              </a:rPr>
              <a:t>this</a:t>
            </a:r>
            <a:r>
              <a:rPr lang="en-NL" sz="1600" dirty="0">
                <a:highlight>
                  <a:srgbClr val="00FF00"/>
                </a:highlight>
              </a:rPr>
              <a:t>.x  =  0</a:t>
            </a:r>
          </a:p>
          <a:p>
            <a:r>
              <a:rPr lang="en-NL" sz="1600" dirty="0"/>
              <a:t>           </a:t>
            </a:r>
            <a:r>
              <a:rPr lang="en-NL" sz="1600" b="1" dirty="0"/>
              <a:t>else</a:t>
            </a:r>
            <a:r>
              <a:rPr lang="en-NL" sz="1600" dirty="0"/>
              <a:t>        </a:t>
            </a:r>
            <a:r>
              <a:rPr lang="en-NL" sz="1600" dirty="0">
                <a:solidFill>
                  <a:schemeClr val="accent6">
                    <a:lumMod val="60000"/>
                    <a:lumOff val="40000"/>
                  </a:schemeClr>
                </a:solidFill>
                <a:highlight>
                  <a:srgbClr val="FFFF00"/>
                </a:highlight>
              </a:rPr>
              <a:t>this</a:t>
            </a:r>
            <a:r>
              <a:rPr lang="en-NL" sz="1600" dirty="0">
                <a:highlight>
                  <a:srgbClr val="FFFF00"/>
                </a:highlight>
              </a:rPr>
              <a:t>.x = 2*</a:t>
            </a:r>
            <a:r>
              <a:rPr lang="en-GB" sz="1600" dirty="0" err="1">
                <a:highlight>
                  <a:srgbClr val="FFFF00"/>
                </a:highlight>
              </a:rPr>
              <a:t>i</a:t>
            </a:r>
            <a:r>
              <a:rPr lang="en-GB" sz="1600" dirty="0">
                <a:highlight>
                  <a:srgbClr val="FFFF00"/>
                </a:highlight>
              </a:rPr>
              <a:t> </a:t>
            </a:r>
            <a:r>
              <a:rPr lang="en-NL" sz="1600" dirty="0">
                <a:highlight>
                  <a:srgbClr val="FFFF00"/>
                </a:highlight>
              </a:rPr>
              <a:t>  </a:t>
            </a:r>
          </a:p>
          <a:p>
            <a:r>
              <a:rPr lang="en-NL" sz="1600" dirty="0"/>
              <a:t>           </a:t>
            </a:r>
            <a:r>
              <a:rPr lang="en-NL" sz="1600" b="1" dirty="0"/>
              <a:t>return</a:t>
            </a:r>
            <a:r>
              <a:rPr lang="en-NL" sz="1600" dirty="0"/>
              <a:t> this.x   }</a:t>
            </a:r>
          </a:p>
          <a:p>
            <a:endParaRPr lang="en-NL" sz="1600" dirty="0"/>
          </a:p>
          <a:p>
            <a:r>
              <a:rPr lang="en-NL" sz="1600" dirty="0"/>
              <a:t>    k(i) { </a:t>
            </a:r>
          </a:p>
          <a:p>
            <a:r>
              <a:rPr lang="en-NL" sz="1600" dirty="0"/>
              <a:t>          </a:t>
            </a:r>
            <a:r>
              <a:rPr lang="en-NL" sz="1600" b="1" dirty="0"/>
              <a:t>if</a:t>
            </a:r>
            <a:r>
              <a:rPr lang="en-NL" sz="1600" dirty="0"/>
              <a:t> (</a:t>
            </a:r>
            <a:r>
              <a:rPr lang="en-NL" sz="1600" dirty="0">
                <a:solidFill>
                  <a:schemeClr val="accent6">
                    <a:lumMod val="60000"/>
                    <a:lumOff val="40000"/>
                  </a:schemeClr>
                </a:solidFill>
                <a:highlight>
                  <a:srgbClr val="00FFFF"/>
                </a:highlight>
              </a:rPr>
              <a:t>this</a:t>
            </a:r>
            <a:r>
              <a:rPr lang="en-NL" sz="1600" dirty="0">
                <a:highlight>
                  <a:srgbClr val="00FFFF"/>
                </a:highlight>
              </a:rPr>
              <a:t>.x == 0</a:t>
            </a:r>
            <a:r>
              <a:rPr lang="en-NL" sz="1600" dirty="0"/>
              <a:t>) …    </a:t>
            </a:r>
          </a:p>
          <a:p>
            <a:r>
              <a:rPr lang="en-NL" sz="1600" dirty="0"/>
              <a:t>      }  }</a:t>
            </a:r>
          </a:p>
        </p:txBody>
      </p:sp>
      <p:cxnSp>
        <p:nvCxnSpPr>
          <p:cNvPr id="15" name="Straight Arrow Connector 14">
            <a:extLst>
              <a:ext uri="{FF2B5EF4-FFF2-40B4-BE49-F238E27FC236}">
                <a16:creationId xmlns:a16="http://schemas.microsoft.com/office/drawing/2014/main" id="{BBA19E73-EBD7-BF5D-9966-C4610775F0EF}"/>
              </a:ext>
            </a:extLst>
          </p:cNvPr>
          <p:cNvCxnSpPr>
            <a:cxnSpLocks/>
          </p:cNvCxnSpPr>
          <p:nvPr/>
        </p:nvCxnSpPr>
        <p:spPr>
          <a:xfrm flipV="1">
            <a:off x="2699792" y="2060848"/>
            <a:ext cx="1728192" cy="432048"/>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6" name="Straight Arrow Connector 15">
            <a:extLst>
              <a:ext uri="{FF2B5EF4-FFF2-40B4-BE49-F238E27FC236}">
                <a16:creationId xmlns:a16="http://schemas.microsoft.com/office/drawing/2014/main" id="{1ED911CB-AAA5-7BBF-11A7-A50D1104335D}"/>
              </a:ext>
            </a:extLst>
          </p:cNvPr>
          <p:cNvCxnSpPr>
            <a:cxnSpLocks/>
          </p:cNvCxnSpPr>
          <p:nvPr/>
        </p:nvCxnSpPr>
        <p:spPr>
          <a:xfrm>
            <a:off x="2555776" y="3212976"/>
            <a:ext cx="1872208" cy="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21" name="Freeform 20">
            <a:extLst>
              <a:ext uri="{FF2B5EF4-FFF2-40B4-BE49-F238E27FC236}">
                <a16:creationId xmlns:a16="http://schemas.microsoft.com/office/drawing/2014/main" id="{53780311-2E30-4823-D3E3-1B0D69075E74}"/>
              </a:ext>
            </a:extLst>
          </p:cNvPr>
          <p:cNvSpPr/>
          <p:nvPr/>
        </p:nvSpPr>
        <p:spPr>
          <a:xfrm>
            <a:off x="1442999" y="2555411"/>
            <a:ext cx="5001209" cy="962379"/>
          </a:xfrm>
          <a:custGeom>
            <a:avLst/>
            <a:gdLst>
              <a:gd name="connsiteX0" fmla="*/ 6106602 w 6114789"/>
              <a:gd name="connsiteY0" fmla="*/ 47708 h 962379"/>
              <a:gd name="connsiteX1" fmla="*/ 6106602 w 6114789"/>
              <a:gd name="connsiteY1" fmla="*/ 159026 h 962379"/>
              <a:gd name="connsiteX2" fmla="*/ 6090699 w 6114789"/>
              <a:gd name="connsiteY2" fmla="*/ 182880 h 962379"/>
              <a:gd name="connsiteX3" fmla="*/ 6042992 w 6114789"/>
              <a:gd name="connsiteY3" fmla="*/ 214685 h 962379"/>
              <a:gd name="connsiteX4" fmla="*/ 5995284 w 6114789"/>
              <a:gd name="connsiteY4" fmla="*/ 230588 h 962379"/>
              <a:gd name="connsiteX5" fmla="*/ 5756745 w 6114789"/>
              <a:gd name="connsiteY5" fmla="*/ 222637 h 962379"/>
              <a:gd name="connsiteX6" fmla="*/ 5597718 w 6114789"/>
              <a:gd name="connsiteY6" fmla="*/ 206734 h 962379"/>
              <a:gd name="connsiteX7" fmla="*/ 5311472 w 6114789"/>
              <a:gd name="connsiteY7" fmla="*/ 214685 h 962379"/>
              <a:gd name="connsiteX8" fmla="*/ 5263764 w 6114789"/>
              <a:gd name="connsiteY8" fmla="*/ 230588 h 962379"/>
              <a:gd name="connsiteX9" fmla="*/ 5247861 w 6114789"/>
              <a:gd name="connsiteY9" fmla="*/ 254442 h 962379"/>
              <a:gd name="connsiteX10" fmla="*/ 5224007 w 6114789"/>
              <a:gd name="connsiteY10" fmla="*/ 278296 h 962379"/>
              <a:gd name="connsiteX11" fmla="*/ 5216056 w 6114789"/>
              <a:gd name="connsiteY11" fmla="*/ 302150 h 962379"/>
              <a:gd name="connsiteX12" fmla="*/ 5192202 w 6114789"/>
              <a:gd name="connsiteY12" fmla="*/ 326004 h 962379"/>
              <a:gd name="connsiteX13" fmla="*/ 5160397 w 6114789"/>
              <a:gd name="connsiteY13" fmla="*/ 373711 h 962379"/>
              <a:gd name="connsiteX14" fmla="*/ 5144494 w 6114789"/>
              <a:gd name="connsiteY14" fmla="*/ 397565 h 962379"/>
              <a:gd name="connsiteX15" fmla="*/ 5136543 w 6114789"/>
              <a:gd name="connsiteY15" fmla="*/ 421419 h 962379"/>
              <a:gd name="connsiteX16" fmla="*/ 5096786 w 6114789"/>
              <a:gd name="connsiteY16" fmla="*/ 469127 h 962379"/>
              <a:gd name="connsiteX17" fmla="*/ 5072932 w 6114789"/>
              <a:gd name="connsiteY17" fmla="*/ 485030 h 962379"/>
              <a:gd name="connsiteX18" fmla="*/ 5025225 w 6114789"/>
              <a:gd name="connsiteY18" fmla="*/ 500932 h 962379"/>
              <a:gd name="connsiteX19" fmla="*/ 4206240 w 6114789"/>
              <a:gd name="connsiteY19" fmla="*/ 492981 h 962379"/>
              <a:gd name="connsiteX20" fmla="*/ 4094922 w 6114789"/>
              <a:gd name="connsiteY20" fmla="*/ 485030 h 962379"/>
              <a:gd name="connsiteX21" fmla="*/ 4055165 w 6114789"/>
              <a:gd name="connsiteY21" fmla="*/ 477078 h 962379"/>
              <a:gd name="connsiteX22" fmla="*/ 3943847 w 6114789"/>
              <a:gd name="connsiteY22" fmla="*/ 461176 h 962379"/>
              <a:gd name="connsiteX23" fmla="*/ 3840480 w 6114789"/>
              <a:gd name="connsiteY23" fmla="*/ 453224 h 962379"/>
              <a:gd name="connsiteX24" fmla="*/ 3705308 w 6114789"/>
              <a:gd name="connsiteY24" fmla="*/ 429371 h 962379"/>
              <a:gd name="connsiteX25" fmla="*/ 3625795 w 6114789"/>
              <a:gd name="connsiteY25" fmla="*/ 413468 h 962379"/>
              <a:gd name="connsiteX26" fmla="*/ 3530379 w 6114789"/>
              <a:gd name="connsiteY26" fmla="*/ 389614 h 962379"/>
              <a:gd name="connsiteX27" fmla="*/ 3482672 w 6114789"/>
              <a:gd name="connsiteY27" fmla="*/ 381663 h 962379"/>
              <a:gd name="connsiteX28" fmla="*/ 3395207 w 6114789"/>
              <a:gd name="connsiteY28" fmla="*/ 373711 h 962379"/>
              <a:gd name="connsiteX29" fmla="*/ 3299792 w 6114789"/>
              <a:gd name="connsiteY29" fmla="*/ 357809 h 962379"/>
              <a:gd name="connsiteX30" fmla="*/ 3252084 w 6114789"/>
              <a:gd name="connsiteY30" fmla="*/ 349858 h 962379"/>
              <a:gd name="connsiteX31" fmla="*/ 3172571 w 6114789"/>
              <a:gd name="connsiteY31" fmla="*/ 333955 h 962379"/>
              <a:gd name="connsiteX32" fmla="*/ 3045350 w 6114789"/>
              <a:gd name="connsiteY32" fmla="*/ 318052 h 962379"/>
              <a:gd name="connsiteX33" fmla="*/ 2926080 w 6114789"/>
              <a:gd name="connsiteY33" fmla="*/ 302150 h 962379"/>
              <a:gd name="connsiteX34" fmla="*/ 2854518 w 6114789"/>
              <a:gd name="connsiteY34" fmla="*/ 294198 h 962379"/>
              <a:gd name="connsiteX35" fmla="*/ 2790908 w 6114789"/>
              <a:gd name="connsiteY35" fmla="*/ 278296 h 962379"/>
              <a:gd name="connsiteX36" fmla="*/ 2767054 w 6114789"/>
              <a:gd name="connsiteY36" fmla="*/ 270344 h 962379"/>
              <a:gd name="connsiteX37" fmla="*/ 2711395 w 6114789"/>
              <a:gd name="connsiteY37" fmla="*/ 262393 h 962379"/>
              <a:gd name="connsiteX38" fmla="*/ 2687541 w 6114789"/>
              <a:gd name="connsiteY38" fmla="*/ 254442 h 962379"/>
              <a:gd name="connsiteX39" fmla="*/ 2456953 w 6114789"/>
              <a:gd name="connsiteY39" fmla="*/ 230588 h 962379"/>
              <a:gd name="connsiteX40" fmla="*/ 2361538 w 6114789"/>
              <a:gd name="connsiteY40" fmla="*/ 214685 h 962379"/>
              <a:gd name="connsiteX41" fmla="*/ 2297927 w 6114789"/>
              <a:gd name="connsiteY41" fmla="*/ 206734 h 962379"/>
              <a:gd name="connsiteX42" fmla="*/ 2202512 w 6114789"/>
              <a:gd name="connsiteY42" fmla="*/ 190831 h 962379"/>
              <a:gd name="connsiteX43" fmla="*/ 2122998 w 6114789"/>
              <a:gd name="connsiteY43" fmla="*/ 174929 h 962379"/>
              <a:gd name="connsiteX44" fmla="*/ 1979875 w 6114789"/>
              <a:gd name="connsiteY44" fmla="*/ 143124 h 962379"/>
              <a:gd name="connsiteX45" fmla="*/ 1948070 w 6114789"/>
              <a:gd name="connsiteY45" fmla="*/ 135172 h 962379"/>
              <a:gd name="connsiteX46" fmla="*/ 1900362 w 6114789"/>
              <a:gd name="connsiteY46" fmla="*/ 119270 h 962379"/>
              <a:gd name="connsiteX47" fmla="*/ 1868557 w 6114789"/>
              <a:gd name="connsiteY47" fmla="*/ 95416 h 962379"/>
              <a:gd name="connsiteX48" fmla="*/ 1844703 w 6114789"/>
              <a:gd name="connsiteY48" fmla="*/ 87464 h 962379"/>
              <a:gd name="connsiteX49" fmla="*/ 1828800 w 6114789"/>
              <a:gd name="connsiteY49" fmla="*/ 63611 h 962379"/>
              <a:gd name="connsiteX50" fmla="*/ 1781092 w 6114789"/>
              <a:gd name="connsiteY50" fmla="*/ 47708 h 962379"/>
              <a:gd name="connsiteX51" fmla="*/ 1749287 w 6114789"/>
              <a:gd name="connsiteY51" fmla="*/ 55659 h 962379"/>
              <a:gd name="connsiteX52" fmla="*/ 1781092 w 6114789"/>
              <a:gd name="connsiteY52" fmla="*/ 79513 h 962379"/>
              <a:gd name="connsiteX53" fmla="*/ 1828800 w 6114789"/>
              <a:gd name="connsiteY53" fmla="*/ 103367 h 962379"/>
              <a:gd name="connsiteX54" fmla="*/ 1796995 w 6114789"/>
              <a:gd name="connsiteY54" fmla="*/ 95416 h 962379"/>
              <a:gd name="connsiteX55" fmla="*/ 1765190 w 6114789"/>
              <a:gd name="connsiteY55" fmla="*/ 79513 h 962379"/>
              <a:gd name="connsiteX56" fmla="*/ 1606164 w 6114789"/>
              <a:gd name="connsiteY56" fmla="*/ 63611 h 962379"/>
              <a:gd name="connsiteX57" fmla="*/ 1415332 w 6114789"/>
              <a:gd name="connsiteY57" fmla="*/ 55659 h 962379"/>
              <a:gd name="connsiteX58" fmla="*/ 866692 w 6114789"/>
              <a:gd name="connsiteY58" fmla="*/ 39757 h 962379"/>
              <a:gd name="connsiteX59" fmla="*/ 834887 w 6114789"/>
              <a:gd name="connsiteY59" fmla="*/ 31805 h 962379"/>
              <a:gd name="connsiteX60" fmla="*/ 779228 w 6114789"/>
              <a:gd name="connsiteY60" fmla="*/ 23854 h 962379"/>
              <a:gd name="connsiteX61" fmla="*/ 652007 w 6114789"/>
              <a:gd name="connsiteY61" fmla="*/ 15903 h 962379"/>
              <a:gd name="connsiteX62" fmla="*/ 564543 w 6114789"/>
              <a:gd name="connsiteY62" fmla="*/ 0 h 962379"/>
              <a:gd name="connsiteX63" fmla="*/ 532738 w 6114789"/>
              <a:gd name="connsiteY63" fmla="*/ 7951 h 962379"/>
              <a:gd name="connsiteX64" fmla="*/ 508884 w 6114789"/>
              <a:gd name="connsiteY64" fmla="*/ 23854 h 962379"/>
              <a:gd name="connsiteX65" fmla="*/ 485030 w 6114789"/>
              <a:gd name="connsiteY65" fmla="*/ 47708 h 962379"/>
              <a:gd name="connsiteX66" fmla="*/ 461176 w 6114789"/>
              <a:gd name="connsiteY66" fmla="*/ 55659 h 962379"/>
              <a:gd name="connsiteX67" fmla="*/ 437322 w 6114789"/>
              <a:gd name="connsiteY67" fmla="*/ 79513 h 962379"/>
              <a:gd name="connsiteX68" fmla="*/ 405517 w 6114789"/>
              <a:gd name="connsiteY68" fmla="*/ 95416 h 962379"/>
              <a:gd name="connsiteX69" fmla="*/ 357809 w 6114789"/>
              <a:gd name="connsiteY69" fmla="*/ 127221 h 962379"/>
              <a:gd name="connsiteX70" fmla="*/ 310101 w 6114789"/>
              <a:gd name="connsiteY70" fmla="*/ 159026 h 962379"/>
              <a:gd name="connsiteX71" fmla="*/ 262393 w 6114789"/>
              <a:gd name="connsiteY71" fmla="*/ 174929 h 962379"/>
              <a:gd name="connsiteX72" fmla="*/ 190832 w 6114789"/>
              <a:gd name="connsiteY72" fmla="*/ 190831 h 962379"/>
              <a:gd name="connsiteX73" fmla="*/ 143124 w 6114789"/>
              <a:gd name="connsiteY73" fmla="*/ 206734 h 962379"/>
              <a:gd name="connsiteX74" fmla="*/ 119270 w 6114789"/>
              <a:gd name="connsiteY74" fmla="*/ 214685 h 962379"/>
              <a:gd name="connsiteX75" fmla="*/ 95416 w 6114789"/>
              <a:gd name="connsiteY75" fmla="*/ 222637 h 962379"/>
              <a:gd name="connsiteX76" fmla="*/ 71562 w 6114789"/>
              <a:gd name="connsiteY76" fmla="*/ 230588 h 962379"/>
              <a:gd name="connsiteX77" fmla="*/ 47708 w 6114789"/>
              <a:gd name="connsiteY77" fmla="*/ 246491 h 962379"/>
              <a:gd name="connsiteX78" fmla="*/ 15903 w 6114789"/>
              <a:gd name="connsiteY78" fmla="*/ 318052 h 962379"/>
              <a:gd name="connsiteX79" fmla="*/ 7952 w 6114789"/>
              <a:gd name="connsiteY79" fmla="*/ 341906 h 962379"/>
              <a:gd name="connsiteX80" fmla="*/ 0 w 6114789"/>
              <a:gd name="connsiteY80" fmla="*/ 365760 h 962379"/>
              <a:gd name="connsiteX81" fmla="*/ 31805 w 6114789"/>
              <a:gd name="connsiteY81" fmla="*/ 437322 h 962379"/>
              <a:gd name="connsiteX82" fmla="*/ 39757 w 6114789"/>
              <a:gd name="connsiteY82" fmla="*/ 461176 h 962379"/>
              <a:gd name="connsiteX83" fmla="*/ 47708 w 6114789"/>
              <a:gd name="connsiteY83" fmla="*/ 492981 h 962379"/>
              <a:gd name="connsiteX84" fmla="*/ 71562 w 6114789"/>
              <a:gd name="connsiteY84" fmla="*/ 500932 h 962379"/>
              <a:gd name="connsiteX85" fmla="*/ 190832 w 6114789"/>
              <a:gd name="connsiteY85" fmla="*/ 508884 h 962379"/>
              <a:gd name="connsiteX86" fmla="*/ 302150 w 6114789"/>
              <a:gd name="connsiteY86" fmla="*/ 500932 h 962379"/>
              <a:gd name="connsiteX87" fmla="*/ 357809 w 6114789"/>
              <a:gd name="connsiteY87" fmla="*/ 492981 h 962379"/>
              <a:gd name="connsiteX88" fmla="*/ 588397 w 6114789"/>
              <a:gd name="connsiteY88" fmla="*/ 485030 h 962379"/>
              <a:gd name="connsiteX89" fmla="*/ 659958 w 6114789"/>
              <a:gd name="connsiteY89" fmla="*/ 469127 h 962379"/>
              <a:gd name="connsiteX90" fmla="*/ 803082 w 6114789"/>
              <a:gd name="connsiteY90" fmla="*/ 461176 h 962379"/>
              <a:gd name="connsiteX91" fmla="*/ 842838 w 6114789"/>
              <a:gd name="connsiteY91" fmla="*/ 453224 h 962379"/>
              <a:gd name="connsiteX92" fmla="*/ 874644 w 6114789"/>
              <a:gd name="connsiteY92" fmla="*/ 445273 h 962379"/>
              <a:gd name="connsiteX93" fmla="*/ 938254 w 6114789"/>
              <a:gd name="connsiteY93" fmla="*/ 437322 h 962379"/>
              <a:gd name="connsiteX94" fmla="*/ 1152939 w 6114789"/>
              <a:gd name="connsiteY94" fmla="*/ 421419 h 962379"/>
              <a:gd name="connsiteX95" fmla="*/ 1264258 w 6114789"/>
              <a:gd name="connsiteY95" fmla="*/ 429371 h 962379"/>
              <a:gd name="connsiteX96" fmla="*/ 1304014 w 6114789"/>
              <a:gd name="connsiteY96" fmla="*/ 469127 h 962379"/>
              <a:gd name="connsiteX97" fmla="*/ 1343771 w 6114789"/>
              <a:gd name="connsiteY97" fmla="*/ 532738 h 962379"/>
              <a:gd name="connsiteX98" fmla="*/ 1351722 w 6114789"/>
              <a:gd name="connsiteY98" fmla="*/ 556591 h 962379"/>
              <a:gd name="connsiteX99" fmla="*/ 1367625 w 6114789"/>
              <a:gd name="connsiteY99" fmla="*/ 628153 h 962379"/>
              <a:gd name="connsiteX100" fmla="*/ 1383527 w 6114789"/>
              <a:gd name="connsiteY100" fmla="*/ 739471 h 962379"/>
              <a:gd name="connsiteX101" fmla="*/ 1391478 w 6114789"/>
              <a:gd name="connsiteY101" fmla="*/ 763325 h 962379"/>
              <a:gd name="connsiteX102" fmla="*/ 1407381 w 6114789"/>
              <a:gd name="connsiteY102" fmla="*/ 787179 h 962379"/>
              <a:gd name="connsiteX103" fmla="*/ 1439186 w 6114789"/>
              <a:gd name="connsiteY103" fmla="*/ 858741 h 962379"/>
              <a:gd name="connsiteX104" fmla="*/ 1463040 w 6114789"/>
              <a:gd name="connsiteY104" fmla="*/ 874644 h 962379"/>
              <a:gd name="connsiteX105" fmla="*/ 1486894 w 6114789"/>
              <a:gd name="connsiteY105" fmla="*/ 882595 h 962379"/>
              <a:gd name="connsiteX106" fmla="*/ 1598212 w 6114789"/>
              <a:gd name="connsiteY106" fmla="*/ 874644 h 962379"/>
              <a:gd name="connsiteX107" fmla="*/ 1709531 w 6114789"/>
              <a:gd name="connsiteY107" fmla="*/ 874644 h 962379"/>
              <a:gd name="connsiteX108" fmla="*/ 1765190 w 6114789"/>
              <a:gd name="connsiteY108" fmla="*/ 890546 h 962379"/>
              <a:gd name="connsiteX109" fmla="*/ 1812898 w 6114789"/>
              <a:gd name="connsiteY109" fmla="*/ 906449 h 962379"/>
              <a:gd name="connsiteX110" fmla="*/ 1900362 w 6114789"/>
              <a:gd name="connsiteY110" fmla="*/ 898498 h 962379"/>
              <a:gd name="connsiteX111" fmla="*/ 1932167 w 6114789"/>
              <a:gd name="connsiteY111" fmla="*/ 890546 h 962379"/>
              <a:gd name="connsiteX112" fmla="*/ 2019632 w 6114789"/>
              <a:gd name="connsiteY112" fmla="*/ 882595 h 962379"/>
              <a:gd name="connsiteX113" fmla="*/ 2107096 w 6114789"/>
              <a:gd name="connsiteY113" fmla="*/ 890546 h 962379"/>
              <a:gd name="connsiteX114" fmla="*/ 2449002 w 6114789"/>
              <a:gd name="connsiteY114" fmla="*/ 874644 h 962379"/>
              <a:gd name="connsiteX115" fmla="*/ 2480807 w 6114789"/>
              <a:gd name="connsiteY115" fmla="*/ 850790 h 962379"/>
              <a:gd name="connsiteX116" fmla="*/ 2584174 w 6114789"/>
              <a:gd name="connsiteY116" fmla="*/ 850790 h 962379"/>
              <a:gd name="connsiteX117" fmla="*/ 2798859 w 6114789"/>
              <a:gd name="connsiteY117" fmla="*/ 858741 h 962379"/>
              <a:gd name="connsiteX118" fmla="*/ 2854518 w 6114789"/>
              <a:gd name="connsiteY118" fmla="*/ 866692 h 962379"/>
              <a:gd name="connsiteX119" fmla="*/ 2926080 w 6114789"/>
              <a:gd name="connsiteY119" fmla="*/ 866692 h 962379"/>
              <a:gd name="connsiteX120" fmla="*/ 2957885 w 6114789"/>
              <a:gd name="connsiteY120" fmla="*/ 882595 h 962379"/>
              <a:gd name="connsiteX121" fmla="*/ 2981739 w 6114789"/>
              <a:gd name="connsiteY121" fmla="*/ 866692 h 962379"/>
              <a:gd name="connsiteX122" fmla="*/ 2973788 w 6114789"/>
              <a:gd name="connsiteY122" fmla="*/ 882595 h 962379"/>
              <a:gd name="connsiteX123" fmla="*/ 3442915 w 6114789"/>
              <a:gd name="connsiteY123" fmla="*/ 882595 h 962379"/>
              <a:gd name="connsiteX124" fmla="*/ 3530379 w 6114789"/>
              <a:gd name="connsiteY124" fmla="*/ 858741 h 962379"/>
              <a:gd name="connsiteX125" fmla="*/ 3593990 w 6114789"/>
              <a:gd name="connsiteY125" fmla="*/ 850790 h 962379"/>
              <a:gd name="connsiteX126" fmla="*/ 3625795 w 6114789"/>
              <a:gd name="connsiteY126" fmla="*/ 842838 h 962379"/>
              <a:gd name="connsiteX127" fmla="*/ 3673503 w 6114789"/>
              <a:gd name="connsiteY127" fmla="*/ 826936 h 962379"/>
              <a:gd name="connsiteX128" fmla="*/ 3760967 w 6114789"/>
              <a:gd name="connsiteY128" fmla="*/ 818984 h 962379"/>
              <a:gd name="connsiteX129" fmla="*/ 3848432 w 6114789"/>
              <a:gd name="connsiteY129" fmla="*/ 803082 h 962379"/>
              <a:gd name="connsiteX130" fmla="*/ 3888188 w 6114789"/>
              <a:gd name="connsiteY130" fmla="*/ 795131 h 962379"/>
              <a:gd name="connsiteX131" fmla="*/ 4047214 w 6114789"/>
              <a:gd name="connsiteY131" fmla="*/ 787179 h 962379"/>
              <a:gd name="connsiteX132" fmla="*/ 4166484 w 6114789"/>
              <a:gd name="connsiteY132" fmla="*/ 771277 h 962379"/>
              <a:gd name="connsiteX133" fmla="*/ 4214192 w 6114789"/>
              <a:gd name="connsiteY133" fmla="*/ 755374 h 962379"/>
              <a:gd name="connsiteX134" fmla="*/ 4238045 w 6114789"/>
              <a:gd name="connsiteY134" fmla="*/ 747423 h 962379"/>
              <a:gd name="connsiteX135" fmla="*/ 4325510 w 6114789"/>
              <a:gd name="connsiteY135" fmla="*/ 723569 h 962379"/>
              <a:gd name="connsiteX136" fmla="*/ 4389120 w 6114789"/>
              <a:gd name="connsiteY136" fmla="*/ 707666 h 962379"/>
              <a:gd name="connsiteX137" fmla="*/ 4643562 w 6114789"/>
              <a:gd name="connsiteY137" fmla="*/ 699715 h 962379"/>
              <a:gd name="connsiteX138" fmla="*/ 4731026 w 6114789"/>
              <a:gd name="connsiteY138" fmla="*/ 683812 h 962379"/>
              <a:gd name="connsiteX139" fmla="*/ 4882101 w 6114789"/>
              <a:gd name="connsiteY139" fmla="*/ 691764 h 962379"/>
              <a:gd name="connsiteX140" fmla="*/ 4898004 w 6114789"/>
              <a:gd name="connsiteY140" fmla="*/ 874644 h 962379"/>
              <a:gd name="connsiteX141" fmla="*/ 4921858 w 6114789"/>
              <a:gd name="connsiteY141" fmla="*/ 962108 h 962379"/>
              <a:gd name="connsiteX142" fmla="*/ 4898004 w 6114789"/>
              <a:gd name="connsiteY142" fmla="*/ 954157 h 96237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Lst>
            <a:rect l="l" t="t" r="r" b="b"/>
            <a:pathLst>
              <a:path w="6114789" h="962379">
                <a:moveTo>
                  <a:pt x="6106602" y="47708"/>
                </a:moveTo>
                <a:cubicBezTo>
                  <a:pt x="6113441" y="95585"/>
                  <a:pt x="6120965" y="111149"/>
                  <a:pt x="6106602" y="159026"/>
                </a:cubicBezTo>
                <a:cubicBezTo>
                  <a:pt x="6103856" y="168179"/>
                  <a:pt x="6097891" y="176587"/>
                  <a:pt x="6090699" y="182880"/>
                </a:cubicBezTo>
                <a:cubicBezTo>
                  <a:pt x="6076316" y="195466"/>
                  <a:pt x="6061123" y="208641"/>
                  <a:pt x="6042992" y="214685"/>
                </a:cubicBezTo>
                <a:lnTo>
                  <a:pt x="5995284" y="230588"/>
                </a:lnTo>
                <a:lnTo>
                  <a:pt x="5756745" y="222637"/>
                </a:lnTo>
                <a:cubicBezTo>
                  <a:pt x="5720668" y="220877"/>
                  <a:pt x="5636651" y="211060"/>
                  <a:pt x="5597718" y="206734"/>
                </a:cubicBezTo>
                <a:cubicBezTo>
                  <a:pt x="5502303" y="209384"/>
                  <a:pt x="5406682" y="207884"/>
                  <a:pt x="5311472" y="214685"/>
                </a:cubicBezTo>
                <a:cubicBezTo>
                  <a:pt x="5294752" y="215879"/>
                  <a:pt x="5263764" y="230588"/>
                  <a:pt x="5263764" y="230588"/>
                </a:cubicBezTo>
                <a:cubicBezTo>
                  <a:pt x="5258463" y="238539"/>
                  <a:pt x="5253979" y="247101"/>
                  <a:pt x="5247861" y="254442"/>
                </a:cubicBezTo>
                <a:cubicBezTo>
                  <a:pt x="5240662" y="263081"/>
                  <a:pt x="5230244" y="268940"/>
                  <a:pt x="5224007" y="278296"/>
                </a:cubicBezTo>
                <a:cubicBezTo>
                  <a:pt x="5219358" y="285270"/>
                  <a:pt x="5220705" y="295176"/>
                  <a:pt x="5216056" y="302150"/>
                </a:cubicBezTo>
                <a:cubicBezTo>
                  <a:pt x="5209819" y="311506"/>
                  <a:pt x="5199106" y="317128"/>
                  <a:pt x="5192202" y="326004"/>
                </a:cubicBezTo>
                <a:cubicBezTo>
                  <a:pt x="5180468" y="341090"/>
                  <a:pt x="5170999" y="357809"/>
                  <a:pt x="5160397" y="373711"/>
                </a:cubicBezTo>
                <a:lnTo>
                  <a:pt x="5144494" y="397565"/>
                </a:lnTo>
                <a:cubicBezTo>
                  <a:pt x="5141844" y="405516"/>
                  <a:pt x="5140291" y="413922"/>
                  <a:pt x="5136543" y="421419"/>
                </a:cubicBezTo>
                <a:cubicBezTo>
                  <a:pt x="5127608" y="439289"/>
                  <a:pt x="5111858" y="456567"/>
                  <a:pt x="5096786" y="469127"/>
                </a:cubicBezTo>
                <a:cubicBezTo>
                  <a:pt x="5089445" y="475245"/>
                  <a:pt x="5081665" y="481149"/>
                  <a:pt x="5072932" y="485030"/>
                </a:cubicBezTo>
                <a:cubicBezTo>
                  <a:pt x="5057614" y="491838"/>
                  <a:pt x="5025225" y="500932"/>
                  <a:pt x="5025225" y="500932"/>
                </a:cubicBezTo>
                <a:lnTo>
                  <a:pt x="4206240" y="492981"/>
                </a:lnTo>
                <a:cubicBezTo>
                  <a:pt x="4169045" y="492345"/>
                  <a:pt x="4131918" y="488924"/>
                  <a:pt x="4094922" y="485030"/>
                </a:cubicBezTo>
                <a:cubicBezTo>
                  <a:pt x="4081481" y="483615"/>
                  <a:pt x="4068514" y="479186"/>
                  <a:pt x="4055165" y="477078"/>
                </a:cubicBezTo>
                <a:cubicBezTo>
                  <a:pt x="4018141" y="471232"/>
                  <a:pt x="3981219" y="464051"/>
                  <a:pt x="3943847" y="461176"/>
                </a:cubicBezTo>
                <a:lnTo>
                  <a:pt x="3840480" y="453224"/>
                </a:lnTo>
                <a:cubicBezTo>
                  <a:pt x="3777242" y="432146"/>
                  <a:pt x="3842028" y="452160"/>
                  <a:pt x="3705308" y="429371"/>
                </a:cubicBezTo>
                <a:cubicBezTo>
                  <a:pt x="3646821" y="419622"/>
                  <a:pt x="3673241" y="425329"/>
                  <a:pt x="3625795" y="413468"/>
                </a:cubicBezTo>
                <a:cubicBezTo>
                  <a:pt x="3572787" y="386963"/>
                  <a:pt x="3609520" y="400919"/>
                  <a:pt x="3530379" y="389614"/>
                </a:cubicBezTo>
                <a:cubicBezTo>
                  <a:pt x="3514419" y="387334"/>
                  <a:pt x="3498683" y="383547"/>
                  <a:pt x="3482672" y="381663"/>
                </a:cubicBezTo>
                <a:cubicBezTo>
                  <a:pt x="3453597" y="378242"/>
                  <a:pt x="3424303" y="376944"/>
                  <a:pt x="3395207" y="373711"/>
                </a:cubicBezTo>
                <a:cubicBezTo>
                  <a:pt x="3336428" y="367180"/>
                  <a:pt x="3350528" y="367033"/>
                  <a:pt x="3299792" y="357809"/>
                </a:cubicBezTo>
                <a:cubicBezTo>
                  <a:pt x="3283930" y="354925"/>
                  <a:pt x="3267987" y="352508"/>
                  <a:pt x="3252084" y="349858"/>
                </a:cubicBezTo>
                <a:cubicBezTo>
                  <a:pt x="3208700" y="335395"/>
                  <a:pt x="3240442" y="344396"/>
                  <a:pt x="3172571" y="333955"/>
                </a:cubicBezTo>
                <a:cubicBezTo>
                  <a:pt x="3061360" y="316846"/>
                  <a:pt x="3202413" y="335504"/>
                  <a:pt x="3045350" y="318052"/>
                </a:cubicBezTo>
                <a:cubicBezTo>
                  <a:pt x="2932749" y="305541"/>
                  <a:pt x="3029549" y="315084"/>
                  <a:pt x="2926080" y="302150"/>
                </a:cubicBezTo>
                <a:cubicBezTo>
                  <a:pt x="2902265" y="299173"/>
                  <a:pt x="2878372" y="296849"/>
                  <a:pt x="2854518" y="294198"/>
                </a:cubicBezTo>
                <a:cubicBezTo>
                  <a:pt x="2833315" y="288897"/>
                  <a:pt x="2811642" y="285208"/>
                  <a:pt x="2790908" y="278296"/>
                </a:cubicBezTo>
                <a:cubicBezTo>
                  <a:pt x="2782957" y="275645"/>
                  <a:pt x="2775273" y="271988"/>
                  <a:pt x="2767054" y="270344"/>
                </a:cubicBezTo>
                <a:cubicBezTo>
                  <a:pt x="2748677" y="266668"/>
                  <a:pt x="2729948" y="265043"/>
                  <a:pt x="2711395" y="262393"/>
                </a:cubicBezTo>
                <a:cubicBezTo>
                  <a:pt x="2703444" y="259743"/>
                  <a:pt x="2695795" y="255899"/>
                  <a:pt x="2687541" y="254442"/>
                </a:cubicBezTo>
                <a:cubicBezTo>
                  <a:pt x="2582925" y="235980"/>
                  <a:pt x="2564568" y="237762"/>
                  <a:pt x="2456953" y="230588"/>
                </a:cubicBezTo>
                <a:cubicBezTo>
                  <a:pt x="2425148" y="225287"/>
                  <a:pt x="2393533" y="218684"/>
                  <a:pt x="2361538" y="214685"/>
                </a:cubicBezTo>
                <a:cubicBezTo>
                  <a:pt x="2340334" y="212035"/>
                  <a:pt x="2319059" y="209904"/>
                  <a:pt x="2297927" y="206734"/>
                </a:cubicBezTo>
                <a:cubicBezTo>
                  <a:pt x="2266040" y="201951"/>
                  <a:pt x="2234130" y="197154"/>
                  <a:pt x="2202512" y="190831"/>
                </a:cubicBezTo>
                <a:cubicBezTo>
                  <a:pt x="2176007" y="185530"/>
                  <a:pt x="2149660" y="179373"/>
                  <a:pt x="2122998" y="174929"/>
                </a:cubicBezTo>
                <a:cubicBezTo>
                  <a:pt x="1973413" y="149997"/>
                  <a:pt x="2077738" y="172483"/>
                  <a:pt x="1979875" y="143124"/>
                </a:cubicBezTo>
                <a:cubicBezTo>
                  <a:pt x="1969408" y="139984"/>
                  <a:pt x="1958537" y="138312"/>
                  <a:pt x="1948070" y="135172"/>
                </a:cubicBezTo>
                <a:cubicBezTo>
                  <a:pt x="1932014" y="130355"/>
                  <a:pt x="1900362" y="119270"/>
                  <a:pt x="1900362" y="119270"/>
                </a:cubicBezTo>
                <a:cubicBezTo>
                  <a:pt x="1889760" y="111319"/>
                  <a:pt x="1880063" y="101991"/>
                  <a:pt x="1868557" y="95416"/>
                </a:cubicBezTo>
                <a:cubicBezTo>
                  <a:pt x="1861280" y="91258"/>
                  <a:pt x="1851248" y="92700"/>
                  <a:pt x="1844703" y="87464"/>
                </a:cubicBezTo>
                <a:cubicBezTo>
                  <a:pt x="1837241" y="81494"/>
                  <a:pt x="1836904" y="68676"/>
                  <a:pt x="1828800" y="63611"/>
                </a:cubicBezTo>
                <a:cubicBezTo>
                  <a:pt x="1814585" y="54727"/>
                  <a:pt x="1781092" y="47708"/>
                  <a:pt x="1781092" y="47708"/>
                </a:cubicBezTo>
                <a:cubicBezTo>
                  <a:pt x="1770490" y="50358"/>
                  <a:pt x="1749287" y="44731"/>
                  <a:pt x="1749287" y="55659"/>
                </a:cubicBezTo>
                <a:cubicBezTo>
                  <a:pt x="1749287" y="68911"/>
                  <a:pt x="1769728" y="72695"/>
                  <a:pt x="1781092" y="79513"/>
                </a:cubicBezTo>
                <a:cubicBezTo>
                  <a:pt x="1796338" y="88661"/>
                  <a:pt x="1816228" y="90795"/>
                  <a:pt x="1828800" y="103367"/>
                </a:cubicBezTo>
                <a:cubicBezTo>
                  <a:pt x="1836527" y="111094"/>
                  <a:pt x="1807597" y="98066"/>
                  <a:pt x="1796995" y="95416"/>
                </a:cubicBezTo>
                <a:cubicBezTo>
                  <a:pt x="1786393" y="90115"/>
                  <a:pt x="1776625" y="82632"/>
                  <a:pt x="1765190" y="79513"/>
                </a:cubicBezTo>
                <a:cubicBezTo>
                  <a:pt x="1735618" y="71448"/>
                  <a:pt x="1617034" y="64199"/>
                  <a:pt x="1606164" y="63611"/>
                </a:cubicBezTo>
                <a:cubicBezTo>
                  <a:pt x="1542591" y="60175"/>
                  <a:pt x="1478943" y="58310"/>
                  <a:pt x="1415332" y="55659"/>
                </a:cubicBezTo>
                <a:cubicBezTo>
                  <a:pt x="1205858" y="13765"/>
                  <a:pt x="1431314" y="56364"/>
                  <a:pt x="866692" y="39757"/>
                </a:cubicBezTo>
                <a:cubicBezTo>
                  <a:pt x="855769" y="39436"/>
                  <a:pt x="845639" y="33760"/>
                  <a:pt x="834887" y="31805"/>
                </a:cubicBezTo>
                <a:cubicBezTo>
                  <a:pt x="816448" y="28452"/>
                  <a:pt x="797899" y="25477"/>
                  <a:pt x="779228" y="23854"/>
                </a:cubicBezTo>
                <a:cubicBezTo>
                  <a:pt x="736898" y="20173"/>
                  <a:pt x="694414" y="18553"/>
                  <a:pt x="652007" y="15903"/>
                </a:cubicBezTo>
                <a:cubicBezTo>
                  <a:pt x="639075" y="13316"/>
                  <a:pt x="574723" y="0"/>
                  <a:pt x="564543" y="0"/>
                </a:cubicBezTo>
                <a:cubicBezTo>
                  <a:pt x="553615" y="0"/>
                  <a:pt x="543340" y="5301"/>
                  <a:pt x="532738" y="7951"/>
                </a:cubicBezTo>
                <a:cubicBezTo>
                  <a:pt x="524787" y="13252"/>
                  <a:pt x="516225" y="17736"/>
                  <a:pt x="508884" y="23854"/>
                </a:cubicBezTo>
                <a:cubicBezTo>
                  <a:pt x="500245" y="31053"/>
                  <a:pt x="494386" y="41471"/>
                  <a:pt x="485030" y="47708"/>
                </a:cubicBezTo>
                <a:cubicBezTo>
                  <a:pt x="478056" y="52357"/>
                  <a:pt x="469127" y="53009"/>
                  <a:pt x="461176" y="55659"/>
                </a:cubicBezTo>
                <a:cubicBezTo>
                  <a:pt x="453225" y="63610"/>
                  <a:pt x="446472" y="72977"/>
                  <a:pt x="437322" y="79513"/>
                </a:cubicBezTo>
                <a:cubicBezTo>
                  <a:pt x="427677" y="86403"/>
                  <a:pt x="415681" y="89318"/>
                  <a:pt x="405517" y="95416"/>
                </a:cubicBezTo>
                <a:cubicBezTo>
                  <a:pt x="389128" y="105249"/>
                  <a:pt x="373712" y="116619"/>
                  <a:pt x="357809" y="127221"/>
                </a:cubicBezTo>
                <a:lnTo>
                  <a:pt x="310101" y="159026"/>
                </a:lnTo>
                <a:cubicBezTo>
                  <a:pt x="294198" y="164327"/>
                  <a:pt x="278830" y="171642"/>
                  <a:pt x="262393" y="174929"/>
                </a:cubicBezTo>
                <a:cubicBezTo>
                  <a:pt x="239698" y="179468"/>
                  <a:pt x="213287" y="184094"/>
                  <a:pt x="190832" y="190831"/>
                </a:cubicBezTo>
                <a:cubicBezTo>
                  <a:pt x="174776" y="195648"/>
                  <a:pt x="159027" y="201433"/>
                  <a:pt x="143124" y="206734"/>
                </a:cubicBezTo>
                <a:lnTo>
                  <a:pt x="119270" y="214685"/>
                </a:lnTo>
                <a:lnTo>
                  <a:pt x="95416" y="222637"/>
                </a:lnTo>
                <a:lnTo>
                  <a:pt x="71562" y="230588"/>
                </a:lnTo>
                <a:cubicBezTo>
                  <a:pt x="63611" y="235889"/>
                  <a:pt x="54465" y="239734"/>
                  <a:pt x="47708" y="246491"/>
                </a:cubicBezTo>
                <a:cubicBezTo>
                  <a:pt x="28805" y="265393"/>
                  <a:pt x="23777" y="294428"/>
                  <a:pt x="15903" y="318052"/>
                </a:cubicBezTo>
                <a:lnTo>
                  <a:pt x="7952" y="341906"/>
                </a:lnTo>
                <a:lnTo>
                  <a:pt x="0" y="365760"/>
                </a:lnTo>
                <a:cubicBezTo>
                  <a:pt x="41026" y="488835"/>
                  <a:pt x="-5994" y="361723"/>
                  <a:pt x="31805" y="437322"/>
                </a:cubicBezTo>
                <a:cubicBezTo>
                  <a:pt x="35553" y="444819"/>
                  <a:pt x="37454" y="453117"/>
                  <a:pt x="39757" y="461176"/>
                </a:cubicBezTo>
                <a:cubicBezTo>
                  <a:pt x="42759" y="471683"/>
                  <a:pt x="40881" y="484448"/>
                  <a:pt x="47708" y="492981"/>
                </a:cubicBezTo>
                <a:cubicBezTo>
                  <a:pt x="52944" y="499526"/>
                  <a:pt x="63232" y="500006"/>
                  <a:pt x="71562" y="500932"/>
                </a:cubicBezTo>
                <a:cubicBezTo>
                  <a:pt x="111163" y="505332"/>
                  <a:pt x="151075" y="506233"/>
                  <a:pt x="190832" y="508884"/>
                </a:cubicBezTo>
                <a:cubicBezTo>
                  <a:pt x="227938" y="506233"/>
                  <a:pt x="265117" y="504459"/>
                  <a:pt x="302150" y="500932"/>
                </a:cubicBezTo>
                <a:cubicBezTo>
                  <a:pt x="320807" y="499155"/>
                  <a:pt x="339097" y="494021"/>
                  <a:pt x="357809" y="492981"/>
                </a:cubicBezTo>
                <a:cubicBezTo>
                  <a:pt x="434599" y="488715"/>
                  <a:pt x="511534" y="487680"/>
                  <a:pt x="588397" y="485030"/>
                </a:cubicBezTo>
                <a:cubicBezTo>
                  <a:pt x="605021" y="480874"/>
                  <a:pt x="644474" y="470473"/>
                  <a:pt x="659958" y="469127"/>
                </a:cubicBezTo>
                <a:cubicBezTo>
                  <a:pt x="707560" y="464988"/>
                  <a:pt x="755374" y="463826"/>
                  <a:pt x="803082" y="461176"/>
                </a:cubicBezTo>
                <a:cubicBezTo>
                  <a:pt x="816334" y="458525"/>
                  <a:pt x="829645" y="456156"/>
                  <a:pt x="842838" y="453224"/>
                </a:cubicBezTo>
                <a:cubicBezTo>
                  <a:pt x="853506" y="450853"/>
                  <a:pt x="863864" y="447070"/>
                  <a:pt x="874644" y="445273"/>
                </a:cubicBezTo>
                <a:cubicBezTo>
                  <a:pt x="895722" y="441760"/>
                  <a:pt x="917032" y="439819"/>
                  <a:pt x="938254" y="437322"/>
                </a:cubicBezTo>
                <a:cubicBezTo>
                  <a:pt x="1044771" y="424791"/>
                  <a:pt x="1010805" y="429316"/>
                  <a:pt x="1152939" y="421419"/>
                </a:cubicBezTo>
                <a:cubicBezTo>
                  <a:pt x="1190045" y="424070"/>
                  <a:pt x="1227623" y="422906"/>
                  <a:pt x="1264258" y="429371"/>
                </a:cubicBezTo>
                <a:cubicBezTo>
                  <a:pt x="1283623" y="432788"/>
                  <a:pt x="1295252" y="455107"/>
                  <a:pt x="1304014" y="469127"/>
                </a:cubicBezTo>
                <a:cubicBezTo>
                  <a:pt x="1351946" y="545820"/>
                  <a:pt x="1307447" y="478253"/>
                  <a:pt x="1343771" y="532738"/>
                </a:cubicBezTo>
                <a:cubicBezTo>
                  <a:pt x="1346421" y="540689"/>
                  <a:pt x="1349420" y="548532"/>
                  <a:pt x="1351722" y="556591"/>
                </a:cubicBezTo>
                <a:cubicBezTo>
                  <a:pt x="1359205" y="582783"/>
                  <a:pt x="1362161" y="600837"/>
                  <a:pt x="1367625" y="628153"/>
                </a:cubicBezTo>
                <a:cubicBezTo>
                  <a:pt x="1373961" y="691519"/>
                  <a:pt x="1370224" y="692910"/>
                  <a:pt x="1383527" y="739471"/>
                </a:cubicBezTo>
                <a:cubicBezTo>
                  <a:pt x="1385829" y="747530"/>
                  <a:pt x="1387730" y="755828"/>
                  <a:pt x="1391478" y="763325"/>
                </a:cubicBezTo>
                <a:cubicBezTo>
                  <a:pt x="1395752" y="771872"/>
                  <a:pt x="1402080" y="779228"/>
                  <a:pt x="1407381" y="787179"/>
                </a:cubicBezTo>
                <a:cubicBezTo>
                  <a:pt x="1415254" y="810796"/>
                  <a:pt x="1420287" y="839841"/>
                  <a:pt x="1439186" y="858741"/>
                </a:cubicBezTo>
                <a:cubicBezTo>
                  <a:pt x="1445943" y="865498"/>
                  <a:pt x="1454493" y="870370"/>
                  <a:pt x="1463040" y="874644"/>
                </a:cubicBezTo>
                <a:cubicBezTo>
                  <a:pt x="1470537" y="878392"/>
                  <a:pt x="1478943" y="879945"/>
                  <a:pt x="1486894" y="882595"/>
                </a:cubicBezTo>
                <a:lnTo>
                  <a:pt x="1598212" y="874644"/>
                </a:lnTo>
                <a:cubicBezTo>
                  <a:pt x="1668095" y="868291"/>
                  <a:pt x="1648083" y="860464"/>
                  <a:pt x="1709531" y="874644"/>
                </a:cubicBezTo>
                <a:cubicBezTo>
                  <a:pt x="1728332" y="878983"/>
                  <a:pt x="1746748" y="884872"/>
                  <a:pt x="1765190" y="890546"/>
                </a:cubicBezTo>
                <a:cubicBezTo>
                  <a:pt x="1781212" y="895476"/>
                  <a:pt x="1812898" y="906449"/>
                  <a:pt x="1812898" y="906449"/>
                </a:cubicBezTo>
                <a:cubicBezTo>
                  <a:pt x="1842053" y="903799"/>
                  <a:pt x="1871344" y="902367"/>
                  <a:pt x="1900362" y="898498"/>
                </a:cubicBezTo>
                <a:cubicBezTo>
                  <a:pt x="1911194" y="897054"/>
                  <a:pt x="1921335" y="891990"/>
                  <a:pt x="1932167" y="890546"/>
                </a:cubicBezTo>
                <a:cubicBezTo>
                  <a:pt x="1961185" y="886677"/>
                  <a:pt x="1990477" y="885245"/>
                  <a:pt x="2019632" y="882595"/>
                </a:cubicBezTo>
                <a:cubicBezTo>
                  <a:pt x="2086863" y="909489"/>
                  <a:pt x="2031183" y="895194"/>
                  <a:pt x="2107096" y="890546"/>
                </a:cubicBezTo>
                <a:cubicBezTo>
                  <a:pt x="2220975" y="883574"/>
                  <a:pt x="2449002" y="874644"/>
                  <a:pt x="2449002" y="874644"/>
                </a:cubicBezTo>
                <a:cubicBezTo>
                  <a:pt x="2459604" y="866693"/>
                  <a:pt x="2469301" y="857365"/>
                  <a:pt x="2480807" y="850790"/>
                </a:cubicBezTo>
                <a:cubicBezTo>
                  <a:pt x="2513264" y="832243"/>
                  <a:pt x="2549289" y="848904"/>
                  <a:pt x="2584174" y="850790"/>
                </a:cubicBezTo>
                <a:cubicBezTo>
                  <a:pt x="2655680" y="854655"/>
                  <a:pt x="2727297" y="856091"/>
                  <a:pt x="2798859" y="858741"/>
                </a:cubicBezTo>
                <a:cubicBezTo>
                  <a:pt x="2817412" y="861391"/>
                  <a:pt x="2835777" y="866692"/>
                  <a:pt x="2854518" y="866692"/>
                </a:cubicBezTo>
                <a:cubicBezTo>
                  <a:pt x="2955579" y="866692"/>
                  <a:pt x="2806177" y="842712"/>
                  <a:pt x="2926080" y="866692"/>
                </a:cubicBezTo>
                <a:cubicBezTo>
                  <a:pt x="2935168" y="893953"/>
                  <a:pt x="2927595" y="897740"/>
                  <a:pt x="2957885" y="882595"/>
                </a:cubicBezTo>
                <a:cubicBezTo>
                  <a:pt x="2966432" y="878321"/>
                  <a:pt x="2988496" y="859935"/>
                  <a:pt x="2981739" y="866692"/>
                </a:cubicBezTo>
                <a:cubicBezTo>
                  <a:pt x="2957669" y="890762"/>
                  <a:pt x="2928229" y="897781"/>
                  <a:pt x="2973788" y="882595"/>
                </a:cubicBezTo>
                <a:cubicBezTo>
                  <a:pt x="3156534" y="908701"/>
                  <a:pt x="3079669" y="900757"/>
                  <a:pt x="3442915" y="882595"/>
                </a:cubicBezTo>
                <a:cubicBezTo>
                  <a:pt x="3539446" y="877768"/>
                  <a:pt x="3476284" y="868576"/>
                  <a:pt x="3530379" y="858741"/>
                </a:cubicBezTo>
                <a:cubicBezTo>
                  <a:pt x="3551403" y="854919"/>
                  <a:pt x="3572786" y="853440"/>
                  <a:pt x="3593990" y="850790"/>
                </a:cubicBezTo>
                <a:cubicBezTo>
                  <a:pt x="3604592" y="848139"/>
                  <a:pt x="3615328" y="845978"/>
                  <a:pt x="3625795" y="842838"/>
                </a:cubicBezTo>
                <a:cubicBezTo>
                  <a:pt x="3641851" y="838021"/>
                  <a:pt x="3656809" y="828454"/>
                  <a:pt x="3673503" y="826936"/>
                </a:cubicBezTo>
                <a:lnTo>
                  <a:pt x="3760967" y="818984"/>
                </a:lnTo>
                <a:cubicBezTo>
                  <a:pt x="3822029" y="803719"/>
                  <a:pt x="3762959" y="817327"/>
                  <a:pt x="3848432" y="803082"/>
                </a:cubicBezTo>
                <a:cubicBezTo>
                  <a:pt x="3861763" y="800860"/>
                  <a:pt x="3874717" y="796209"/>
                  <a:pt x="3888188" y="795131"/>
                </a:cubicBezTo>
                <a:cubicBezTo>
                  <a:pt x="3941094" y="790898"/>
                  <a:pt x="3994205" y="789830"/>
                  <a:pt x="4047214" y="787179"/>
                </a:cubicBezTo>
                <a:cubicBezTo>
                  <a:pt x="4150145" y="761447"/>
                  <a:pt x="3953678" y="808831"/>
                  <a:pt x="4166484" y="771277"/>
                </a:cubicBezTo>
                <a:cubicBezTo>
                  <a:pt x="4182992" y="768364"/>
                  <a:pt x="4198289" y="760675"/>
                  <a:pt x="4214192" y="755374"/>
                </a:cubicBezTo>
                <a:lnTo>
                  <a:pt x="4238045" y="747423"/>
                </a:lnTo>
                <a:cubicBezTo>
                  <a:pt x="4340386" y="713309"/>
                  <a:pt x="4235605" y="746044"/>
                  <a:pt x="4325510" y="723569"/>
                </a:cubicBezTo>
                <a:cubicBezTo>
                  <a:pt x="4355618" y="716042"/>
                  <a:pt x="4351734" y="709687"/>
                  <a:pt x="4389120" y="707666"/>
                </a:cubicBezTo>
                <a:cubicBezTo>
                  <a:pt x="4473852" y="703086"/>
                  <a:pt x="4558748" y="702365"/>
                  <a:pt x="4643562" y="699715"/>
                </a:cubicBezTo>
                <a:cubicBezTo>
                  <a:pt x="4671396" y="692757"/>
                  <a:pt x="4702540" y="683812"/>
                  <a:pt x="4731026" y="683812"/>
                </a:cubicBezTo>
                <a:cubicBezTo>
                  <a:pt x="4781454" y="683812"/>
                  <a:pt x="4831743" y="689113"/>
                  <a:pt x="4882101" y="691764"/>
                </a:cubicBezTo>
                <a:cubicBezTo>
                  <a:pt x="4887402" y="752724"/>
                  <a:pt x="4890990" y="813857"/>
                  <a:pt x="4898004" y="874644"/>
                </a:cubicBezTo>
                <a:cubicBezTo>
                  <a:pt x="4899734" y="889636"/>
                  <a:pt x="4938167" y="967544"/>
                  <a:pt x="4921858" y="962108"/>
                </a:cubicBezTo>
                <a:lnTo>
                  <a:pt x="4898004" y="954157"/>
                </a:lnTo>
              </a:path>
            </a:pathLst>
          </a:custGeom>
          <a:noFill/>
          <a:ln>
            <a:solidFill>
              <a:srgbClr val="00B0F0"/>
            </a:solidFill>
            <a:prstDash val="dash"/>
            <a:headEnd type="none" w="med" len="med"/>
            <a:tailEnd type="triangl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NL"/>
          </a:p>
        </p:txBody>
      </p:sp>
      <p:graphicFrame>
        <p:nvGraphicFramePr>
          <p:cNvPr id="2" name="Table 1">
            <a:extLst>
              <a:ext uri="{FF2B5EF4-FFF2-40B4-BE49-F238E27FC236}">
                <a16:creationId xmlns:a16="http://schemas.microsoft.com/office/drawing/2014/main" id="{07C5A934-B8DE-32AB-32EF-A8BEE1AF99F6}"/>
              </a:ext>
            </a:extLst>
          </p:cNvPr>
          <p:cNvGraphicFramePr>
            <a:graphicFrameLocks noGrp="1"/>
          </p:cNvGraphicFramePr>
          <p:nvPr>
            <p:extLst>
              <p:ext uri="{D42A27DB-BD31-4B8C-83A1-F6EECF244321}">
                <p14:modId xmlns:p14="http://schemas.microsoft.com/office/powerpoint/2010/main" val="1287668239"/>
              </p:ext>
            </p:extLst>
          </p:nvPr>
        </p:nvGraphicFramePr>
        <p:xfrm>
          <a:off x="1266209" y="4602234"/>
          <a:ext cx="6624736" cy="1752600"/>
        </p:xfrm>
        <a:graphic>
          <a:graphicData uri="http://schemas.openxmlformats.org/drawingml/2006/table">
            <a:tbl>
              <a:tblPr firstRow="1" bandRow="1">
                <a:tableStyleId>{5C22544A-7EE6-4342-B048-85BDC9FD1C3A}</a:tableStyleId>
              </a:tblPr>
              <a:tblGrid>
                <a:gridCol w="1084036">
                  <a:extLst>
                    <a:ext uri="{9D8B030D-6E8A-4147-A177-3AD203B41FA5}">
                      <a16:colId xmlns:a16="http://schemas.microsoft.com/office/drawing/2014/main" val="3512171376"/>
                    </a:ext>
                  </a:extLst>
                </a:gridCol>
                <a:gridCol w="1077017">
                  <a:extLst>
                    <a:ext uri="{9D8B030D-6E8A-4147-A177-3AD203B41FA5}">
                      <a16:colId xmlns:a16="http://schemas.microsoft.com/office/drawing/2014/main" val="1925305831"/>
                    </a:ext>
                  </a:extLst>
                </a:gridCol>
                <a:gridCol w="1077017">
                  <a:extLst>
                    <a:ext uri="{9D8B030D-6E8A-4147-A177-3AD203B41FA5}">
                      <a16:colId xmlns:a16="http://schemas.microsoft.com/office/drawing/2014/main" val="2684345908"/>
                    </a:ext>
                  </a:extLst>
                </a:gridCol>
                <a:gridCol w="3386666">
                  <a:extLst>
                    <a:ext uri="{9D8B030D-6E8A-4147-A177-3AD203B41FA5}">
                      <a16:colId xmlns:a16="http://schemas.microsoft.com/office/drawing/2014/main" val="132072588"/>
                    </a:ext>
                  </a:extLst>
                </a:gridCol>
              </a:tblGrid>
              <a:tr h="370840">
                <a:tc>
                  <a:txBody>
                    <a:bodyPr/>
                    <a:lstStyle/>
                    <a:p>
                      <a:pPr algn="ctr"/>
                      <a:r>
                        <a:rPr lang="en-US" b="0" dirty="0"/>
                        <a:t>Coupling sequence</a:t>
                      </a:r>
                    </a:p>
                  </a:txBody>
                  <a:tcPr/>
                </a:tc>
                <a:tc>
                  <a:txBody>
                    <a:bodyPr/>
                    <a:lstStyle/>
                    <a:p>
                      <a:pPr algn="ctr"/>
                      <a:r>
                        <a:rPr lang="en-US" b="0" dirty="0" err="1"/>
                        <a:t>typeof</a:t>
                      </a:r>
                      <a:r>
                        <a:rPr lang="en-US" b="0" dirty="0"/>
                        <a:t>(o)</a:t>
                      </a:r>
                    </a:p>
                  </a:txBody>
                  <a:tcPr/>
                </a:tc>
                <a:tc>
                  <a:txBody>
                    <a:bodyPr/>
                    <a:lstStyle/>
                    <a:p>
                      <a:pPr algn="ctr"/>
                      <a:r>
                        <a:rPr lang="en-US" b="0" dirty="0"/>
                        <a:t>Coupling </a:t>
                      </a:r>
                      <a:r>
                        <a:rPr lang="en-US" b="0" dirty="0" err="1"/>
                        <a:t>vars</a:t>
                      </a:r>
                      <a:endParaRPr lang="en-US" b="0" dirty="0"/>
                    </a:p>
                  </a:txBody>
                  <a:tcPr/>
                </a:tc>
                <a:tc>
                  <a:txBody>
                    <a:bodyPr/>
                    <a:lstStyle/>
                    <a:p>
                      <a:r>
                        <a:rPr lang="en-US" b="0" dirty="0"/>
                        <a:t>Coupling path</a:t>
                      </a:r>
                    </a:p>
                  </a:txBody>
                  <a:tcPr/>
                </a:tc>
                <a:extLst>
                  <a:ext uri="{0D108BD9-81ED-4DB2-BD59-A6C34878D82A}">
                    <a16:rowId xmlns:a16="http://schemas.microsoft.com/office/drawing/2014/main" val="3492498366"/>
                  </a:ext>
                </a:extLst>
              </a:tr>
              <a:tr h="370840">
                <a:tc>
                  <a:txBody>
                    <a:bodyPr/>
                    <a:lstStyle/>
                    <a:p>
                      <a:pPr algn="ctr"/>
                      <a:r>
                        <a:rPr lang="en-US" dirty="0"/>
                        <a:t>2➝3</a:t>
                      </a:r>
                    </a:p>
                  </a:txBody>
                  <a:tcPr/>
                </a:tc>
                <a:tc>
                  <a:txBody>
                    <a:bodyPr/>
                    <a:lstStyle/>
                    <a:p>
                      <a:pPr algn="ctr"/>
                      <a:r>
                        <a:rPr lang="en-US" dirty="0"/>
                        <a:t>A</a:t>
                      </a:r>
                    </a:p>
                  </a:txBody>
                  <a:tcPr>
                    <a:solidFill>
                      <a:schemeClr val="accent1">
                        <a:lumMod val="20000"/>
                        <a:lumOff val="80000"/>
                      </a:schemeClr>
                    </a:solidFill>
                  </a:tcPr>
                </a:tc>
                <a:tc>
                  <a:txBody>
                    <a:bodyPr/>
                    <a:lstStyle/>
                    <a:p>
                      <a:pPr algn="ctr"/>
                      <a:r>
                        <a:rPr lang="en-US" dirty="0" err="1"/>
                        <a:t>o.x</a:t>
                      </a:r>
                      <a:r>
                        <a:rPr lang="en-US" dirty="0"/>
                        <a:t>  </a:t>
                      </a:r>
                    </a:p>
                  </a:txBody>
                  <a:tcPr>
                    <a:solidFill>
                      <a:schemeClr val="accent1">
                        <a:lumMod val="20000"/>
                        <a:lumOff val="80000"/>
                      </a:schemeClr>
                    </a:solid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𝜎 (dash-blue) , 𝜏 (not shown)</a:t>
                      </a:r>
                    </a:p>
                  </a:txBody>
                  <a:tcPr>
                    <a:solidFill>
                      <a:schemeClr val="accent1">
                        <a:lumMod val="20000"/>
                        <a:lumOff val="80000"/>
                      </a:schemeClr>
                    </a:solidFill>
                  </a:tcPr>
                </a:tc>
                <a:extLst>
                  <a:ext uri="{0D108BD9-81ED-4DB2-BD59-A6C34878D82A}">
                    <a16:rowId xmlns:a16="http://schemas.microsoft.com/office/drawing/2014/main" val="1052428733"/>
                  </a:ext>
                </a:extLst>
              </a:tr>
              <a:tr h="370840">
                <a:tc>
                  <a:txBody>
                    <a:bodyPr/>
                    <a:lstStyle/>
                    <a:p>
                      <a:pPr algn="ctr"/>
                      <a:endParaRPr lang="en-US" dirty="0">
                        <a:solidFill>
                          <a:schemeClr val="tx1"/>
                        </a:solidFill>
                      </a:endParaRPr>
                    </a:p>
                  </a:txBody>
                  <a:tcPr>
                    <a:noFill/>
                  </a:tcPr>
                </a:tc>
                <a:tc>
                  <a:txBody>
                    <a:bodyPr/>
                    <a:lstStyle/>
                    <a:p>
                      <a:pPr algn="ctr"/>
                      <a:r>
                        <a:rPr lang="en-US" dirty="0">
                          <a:solidFill>
                            <a:schemeClr val="tx1"/>
                          </a:solidFill>
                        </a:rPr>
                        <a:t>B</a:t>
                      </a:r>
                    </a:p>
                  </a:txBody>
                  <a:tcPr>
                    <a:solidFill>
                      <a:schemeClr val="accent1">
                        <a:lumMod val="40000"/>
                        <a:lumOff val="60000"/>
                      </a:schemeClr>
                    </a:solidFill>
                  </a:tcPr>
                </a:tc>
                <a:tc>
                  <a:txBody>
                    <a:bodyPr/>
                    <a:lstStyle/>
                    <a:p>
                      <a:pPr algn="ctr"/>
                      <a:r>
                        <a:rPr lang="en-US" dirty="0" err="1">
                          <a:solidFill>
                            <a:schemeClr val="tx1"/>
                          </a:solidFill>
                        </a:rPr>
                        <a:t>o.x</a:t>
                      </a:r>
                      <a:endParaRPr lang="en-US" dirty="0">
                        <a:solidFill>
                          <a:schemeClr val="tx1"/>
                        </a:solidFill>
                      </a:endParaRPr>
                    </a:p>
                  </a:txBody>
                  <a:tcPr>
                    <a:solidFill>
                      <a:schemeClr val="accent1">
                        <a:lumMod val="40000"/>
                        <a:lumOff val="60000"/>
                      </a:schemeClr>
                    </a:solid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solidFill>
                            <a:schemeClr val="tx1"/>
                          </a:solidFill>
                        </a:rPr>
                        <a:t>𝜌</a:t>
                      </a:r>
                      <a:r>
                        <a:rPr lang="en-US" baseline="-25000" dirty="0">
                          <a:solidFill>
                            <a:schemeClr val="tx1"/>
                          </a:solidFill>
                        </a:rPr>
                        <a:t>1</a:t>
                      </a:r>
                      <a:r>
                        <a:rPr lang="en-US" dirty="0">
                          <a:solidFill>
                            <a:schemeClr val="tx1"/>
                          </a:solidFill>
                        </a:rPr>
                        <a:t>, 𝜌</a:t>
                      </a:r>
                      <a:r>
                        <a:rPr lang="en-US" baseline="-25000" dirty="0">
                          <a:solidFill>
                            <a:schemeClr val="tx1"/>
                          </a:solidFill>
                        </a:rPr>
                        <a:t>2</a:t>
                      </a:r>
                      <a:r>
                        <a:rPr lang="en-US" dirty="0">
                          <a:solidFill>
                            <a:schemeClr val="tx1"/>
                          </a:solidFill>
                        </a:rPr>
                        <a:t> </a:t>
                      </a:r>
                      <a:r>
                        <a:rPr lang="en-US" dirty="0"/>
                        <a:t>  (not shown)</a:t>
                      </a:r>
                      <a:endParaRPr lang="en-US" dirty="0">
                        <a:solidFill>
                          <a:schemeClr val="tx1"/>
                        </a:solidFill>
                      </a:endParaRPr>
                    </a:p>
                  </a:txBody>
                  <a:tcPr>
                    <a:solidFill>
                      <a:schemeClr val="accent1">
                        <a:lumMod val="40000"/>
                        <a:lumOff val="60000"/>
                      </a:schemeClr>
                    </a:solidFill>
                  </a:tcPr>
                </a:tc>
                <a:extLst>
                  <a:ext uri="{0D108BD9-81ED-4DB2-BD59-A6C34878D82A}">
                    <a16:rowId xmlns:a16="http://schemas.microsoft.com/office/drawing/2014/main" val="1166286705"/>
                  </a:ext>
                </a:extLst>
              </a:tr>
              <a:tr h="370840">
                <a:tc>
                  <a:txBody>
                    <a:bodyPr/>
                    <a:lstStyle/>
                    <a:p>
                      <a:pPr algn="ctr"/>
                      <a:endParaRPr lang="en-US" dirty="0">
                        <a:solidFill>
                          <a:schemeClr val="tx1"/>
                        </a:solidFill>
                      </a:endParaRPr>
                    </a:p>
                  </a:txBody>
                  <a:tcPr>
                    <a:noFill/>
                  </a:tcPr>
                </a:tc>
                <a:tc>
                  <a:txBody>
                    <a:bodyPr/>
                    <a:lstStyle/>
                    <a:p>
                      <a:pPr algn="ctr"/>
                      <a:r>
                        <a:rPr lang="en-US" dirty="0">
                          <a:solidFill>
                            <a:schemeClr val="tx1"/>
                          </a:solidFill>
                        </a:rPr>
                        <a:t>C</a:t>
                      </a:r>
                    </a:p>
                  </a:txBody>
                  <a:tcPr>
                    <a:solidFill>
                      <a:schemeClr val="accent2">
                        <a:lumMod val="40000"/>
                        <a:lumOff val="60000"/>
                      </a:schemeClr>
                    </a:solidFill>
                  </a:tcPr>
                </a:tc>
                <a:tc>
                  <a:txBody>
                    <a:bodyPr/>
                    <a:lstStyle/>
                    <a:p>
                      <a:pPr algn="ctr"/>
                      <a:r>
                        <a:rPr lang="en-US" dirty="0" err="1">
                          <a:solidFill>
                            <a:schemeClr val="tx1"/>
                          </a:solidFill>
                        </a:rPr>
                        <a:t>o.x</a:t>
                      </a:r>
                      <a:r>
                        <a:rPr lang="en-US" dirty="0">
                          <a:solidFill>
                            <a:schemeClr val="tx1"/>
                          </a:solidFill>
                        </a:rPr>
                        <a:t>, </a:t>
                      </a:r>
                      <a:r>
                        <a:rPr lang="en-US" dirty="0" err="1">
                          <a:solidFill>
                            <a:schemeClr val="tx1"/>
                          </a:solidFill>
                        </a:rPr>
                        <a:t>o,y</a:t>
                      </a:r>
                      <a:endParaRPr lang="en-US" dirty="0">
                        <a:solidFill>
                          <a:schemeClr val="tx1"/>
                        </a:solidFill>
                      </a:endParaRPr>
                    </a:p>
                  </a:txBody>
                  <a:tcPr>
                    <a:solidFill>
                      <a:schemeClr val="accent2">
                        <a:lumMod val="40000"/>
                        <a:lumOff val="60000"/>
                      </a:schemeClr>
                    </a:solid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solidFill>
                            <a:schemeClr val="tx1"/>
                          </a:solidFill>
                        </a:rPr>
                        <a:t>𝜌</a:t>
                      </a:r>
                      <a:r>
                        <a:rPr lang="en-US" baseline="-25000" dirty="0">
                          <a:solidFill>
                            <a:schemeClr val="tx1"/>
                          </a:solidFill>
                        </a:rPr>
                        <a:t>3</a:t>
                      </a:r>
                      <a:r>
                        <a:rPr lang="en-US" dirty="0">
                          <a:solidFill>
                            <a:schemeClr val="tx1"/>
                          </a:solidFill>
                        </a:rPr>
                        <a:t> , 𝜌</a:t>
                      </a:r>
                      <a:r>
                        <a:rPr lang="en-US" baseline="-25000" dirty="0">
                          <a:solidFill>
                            <a:schemeClr val="tx1"/>
                          </a:solidFill>
                        </a:rPr>
                        <a:t>4 </a:t>
                      </a:r>
                      <a:r>
                        <a:rPr lang="en-US" dirty="0">
                          <a:solidFill>
                            <a:schemeClr val="tx1"/>
                          </a:solidFill>
                        </a:rPr>
                        <a:t> (not shown)</a:t>
                      </a:r>
                    </a:p>
                  </a:txBody>
                  <a:tcPr>
                    <a:solidFill>
                      <a:schemeClr val="accent2">
                        <a:lumMod val="40000"/>
                        <a:lumOff val="60000"/>
                      </a:schemeClr>
                    </a:solidFill>
                  </a:tcPr>
                </a:tc>
                <a:extLst>
                  <a:ext uri="{0D108BD9-81ED-4DB2-BD59-A6C34878D82A}">
                    <a16:rowId xmlns:a16="http://schemas.microsoft.com/office/drawing/2014/main" val="2898430574"/>
                  </a:ext>
                </a:extLst>
              </a:tr>
            </a:tbl>
          </a:graphicData>
        </a:graphic>
      </p:graphicFrame>
      <p:sp>
        <p:nvSpPr>
          <p:cNvPr id="9" name="Rectangle 8">
            <a:extLst>
              <a:ext uri="{FF2B5EF4-FFF2-40B4-BE49-F238E27FC236}">
                <a16:creationId xmlns:a16="http://schemas.microsoft.com/office/drawing/2014/main" id="{81897ED4-588D-AD85-973C-85FD37073BCF}"/>
              </a:ext>
            </a:extLst>
          </p:cNvPr>
          <p:cNvSpPr/>
          <p:nvPr/>
        </p:nvSpPr>
        <p:spPr>
          <a:xfrm>
            <a:off x="7677519" y="1372098"/>
            <a:ext cx="785812" cy="428625"/>
          </a:xfrm>
          <a:prstGeom prst="rect">
            <a:avLst/>
          </a:prstGeom>
          <a:solidFill>
            <a:schemeClr val="accent1">
              <a:lumMod val="20000"/>
              <a:lumOff val="80000"/>
            </a:schemeClr>
          </a:solidFill>
        </p:spPr>
        <p:style>
          <a:lnRef idx="2">
            <a:schemeClr val="accent1"/>
          </a:lnRef>
          <a:fillRef idx="1">
            <a:schemeClr val="lt1"/>
          </a:fillRef>
          <a:effectRef idx="0">
            <a:schemeClr val="accent1"/>
          </a:effectRef>
          <a:fontRef idx="minor">
            <a:schemeClr val="dk1"/>
          </a:fontRef>
        </p:style>
        <p:txBody>
          <a:bodyPr anchor="ctr"/>
          <a:lstStyle/>
          <a:p>
            <a:pPr algn="ctr">
              <a:defRPr/>
            </a:pPr>
            <a:r>
              <a:rPr lang="en-US" sz="2400" b="1" dirty="0"/>
              <a:t>A</a:t>
            </a:r>
          </a:p>
        </p:txBody>
      </p:sp>
      <p:sp>
        <p:nvSpPr>
          <p:cNvPr id="10" name="Rectangle 9">
            <a:extLst>
              <a:ext uri="{FF2B5EF4-FFF2-40B4-BE49-F238E27FC236}">
                <a16:creationId xmlns:a16="http://schemas.microsoft.com/office/drawing/2014/main" id="{0FF508DE-B892-A173-2AC0-CC127275705D}"/>
              </a:ext>
            </a:extLst>
          </p:cNvPr>
          <p:cNvSpPr/>
          <p:nvPr/>
        </p:nvSpPr>
        <p:spPr>
          <a:xfrm>
            <a:off x="7314580" y="2119578"/>
            <a:ext cx="785812" cy="428625"/>
          </a:xfrm>
          <a:prstGeom prst="rect">
            <a:avLst/>
          </a:prstGeom>
          <a:solidFill>
            <a:schemeClr val="accent1">
              <a:lumMod val="20000"/>
              <a:lumOff val="80000"/>
            </a:schemeClr>
          </a:solidFill>
        </p:spPr>
        <p:style>
          <a:lnRef idx="2">
            <a:schemeClr val="accent1"/>
          </a:lnRef>
          <a:fillRef idx="1">
            <a:schemeClr val="lt1"/>
          </a:fillRef>
          <a:effectRef idx="0">
            <a:schemeClr val="accent1"/>
          </a:effectRef>
          <a:fontRef idx="minor">
            <a:schemeClr val="dk1"/>
          </a:fontRef>
        </p:style>
        <p:txBody>
          <a:bodyPr anchor="ctr"/>
          <a:lstStyle/>
          <a:p>
            <a:pPr algn="ctr">
              <a:defRPr/>
            </a:pPr>
            <a:r>
              <a:rPr lang="en-US" sz="2400" b="1" dirty="0"/>
              <a:t>B</a:t>
            </a:r>
          </a:p>
        </p:txBody>
      </p:sp>
      <p:sp>
        <p:nvSpPr>
          <p:cNvPr id="11" name="Rectangle 10">
            <a:extLst>
              <a:ext uri="{FF2B5EF4-FFF2-40B4-BE49-F238E27FC236}">
                <a16:creationId xmlns:a16="http://schemas.microsoft.com/office/drawing/2014/main" id="{4E4EE84E-B1B0-5D60-92CB-4558D15EB966}"/>
              </a:ext>
            </a:extLst>
          </p:cNvPr>
          <p:cNvSpPr/>
          <p:nvPr/>
        </p:nvSpPr>
        <p:spPr>
          <a:xfrm>
            <a:off x="8172400" y="2136279"/>
            <a:ext cx="785812" cy="428625"/>
          </a:xfrm>
          <a:prstGeom prst="rect">
            <a:avLst/>
          </a:prstGeom>
          <a:solidFill>
            <a:schemeClr val="accent1">
              <a:lumMod val="20000"/>
              <a:lumOff val="80000"/>
            </a:schemeClr>
          </a:solidFill>
        </p:spPr>
        <p:style>
          <a:lnRef idx="2">
            <a:schemeClr val="accent1"/>
          </a:lnRef>
          <a:fillRef idx="1">
            <a:schemeClr val="lt1"/>
          </a:fillRef>
          <a:effectRef idx="0">
            <a:schemeClr val="accent1"/>
          </a:effectRef>
          <a:fontRef idx="minor">
            <a:schemeClr val="dk1"/>
          </a:fontRef>
        </p:style>
        <p:txBody>
          <a:bodyPr anchor="ctr"/>
          <a:lstStyle/>
          <a:p>
            <a:pPr algn="ctr">
              <a:defRPr/>
            </a:pPr>
            <a:r>
              <a:rPr lang="en-US" sz="2400" b="1" dirty="0"/>
              <a:t>C</a:t>
            </a:r>
          </a:p>
        </p:txBody>
      </p:sp>
      <p:sp>
        <p:nvSpPr>
          <p:cNvPr id="12" name="Isosceles Triangle 7">
            <a:extLst>
              <a:ext uri="{FF2B5EF4-FFF2-40B4-BE49-F238E27FC236}">
                <a16:creationId xmlns:a16="http://schemas.microsoft.com/office/drawing/2014/main" id="{7EFF52A7-545F-E5DA-8A6E-6FF51A756A6E}"/>
              </a:ext>
            </a:extLst>
          </p:cNvPr>
          <p:cNvSpPr/>
          <p:nvPr/>
        </p:nvSpPr>
        <p:spPr>
          <a:xfrm>
            <a:off x="7963269" y="1800723"/>
            <a:ext cx="214312" cy="142875"/>
          </a:xfrm>
          <a:prstGeom prst="triangle">
            <a:avLst/>
          </a:prstGeom>
        </p:spPr>
        <p:style>
          <a:lnRef idx="2">
            <a:schemeClr val="dk1"/>
          </a:lnRef>
          <a:fillRef idx="1">
            <a:schemeClr val="lt1"/>
          </a:fillRef>
          <a:effectRef idx="0">
            <a:schemeClr val="dk1"/>
          </a:effectRef>
          <a:fontRef idx="minor">
            <a:schemeClr val="dk1"/>
          </a:fontRef>
        </p:style>
        <p:txBody>
          <a:bodyPr anchor="ctr"/>
          <a:lstStyle/>
          <a:p>
            <a:pPr algn="ctr">
              <a:defRPr/>
            </a:pPr>
            <a:endParaRPr lang="en-US"/>
          </a:p>
        </p:txBody>
      </p:sp>
      <p:sp>
        <p:nvSpPr>
          <p:cNvPr id="19" name="TextBox 18">
            <a:extLst>
              <a:ext uri="{FF2B5EF4-FFF2-40B4-BE49-F238E27FC236}">
                <a16:creationId xmlns:a16="http://schemas.microsoft.com/office/drawing/2014/main" id="{FC2577FD-F5B9-A06C-3515-F80111D42CB4}"/>
              </a:ext>
            </a:extLst>
          </p:cNvPr>
          <p:cNvSpPr txBox="1"/>
          <p:nvPr/>
        </p:nvSpPr>
        <p:spPr>
          <a:xfrm>
            <a:off x="7239419" y="2615496"/>
            <a:ext cx="1774756" cy="461665"/>
          </a:xfrm>
          <a:prstGeom prst="rect">
            <a:avLst/>
          </a:prstGeom>
          <a:noFill/>
        </p:spPr>
        <p:txBody>
          <a:bodyPr wrap="square" rtlCol="0">
            <a:spAutoFit/>
          </a:bodyPr>
          <a:lstStyle/>
          <a:p>
            <a:pPr algn="ctr"/>
            <a:r>
              <a:rPr lang="en-NL" sz="1200" dirty="0"/>
              <a:t>Imagine A has these subclasses too</a:t>
            </a:r>
          </a:p>
        </p:txBody>
      </p:sp>
      <p:sp>
        <p:nvSpPr>
          <p:cNvPr id="20" name="TextBox 19">
            <a:extLst>
              <a:ext uri="{FF2B5EF4-FFF2-40B4-BE49-F238E27FC236}">
                <a16:creationId xmlns:a16="http://schemas.microsoft.com/office/drawing/2014/main" id="{9ABCEBCE-9E3C-AA8A-0FB3-51A854E88CCF}"/>
              </a:ext>
            </a:extLst>
          </p:cNvPr>
          <p:cNvSpPr txBox="1"/>
          <p:nvPr/>
        </p:nvSpPr>
        <p:spPr>
          <a:xfrm>
            <a:off x="1224963" y="4065542"/>
            <a:ext cx="6694074" cy="738664"/>
          </a:xfrm>
          <a:prstGeom prst="rect">
            <a:avLst/>
          </a:prstGeom>
          <a:noFill/>
        </p:spPr>
        <p:txBody>
          <a:bodyPr wrap="square" rtlCol="0">
            <a:spAutoFit/>
          </a:bodyPr>
          <a:lstStyle/>
          <a:p>
            <a:r>
              <a:rPr lang="en-NL" sz="1400" dirty="0"/>
              <a:t>Imagine a situation with these coupling vars and coupling paths for different subclasses of A, with respect to the coupling sequence </a:t>
            </a:r>
            <a:r>
              <a:rPr lang="en-US" sz="1400" dirty="0"/>
              <a:t>2➝3</a:t>
            </a:r>
          </a:p>
          <a:p>
            <a:r>
              <a:rPr lang="en-NL" sz="1400" dirty="0"/>
              <a:t> </a:t>
            </a:r>
          </a:p>
        </p:txBody>
      </p:sp>
      <p:cxnSp>
        <p:nvCxnSpPr>
          <p:cNvPr id="26" name="Elbow Connector 25">
            <a:extLst>
              <a:ext uri="{FF2B5EF4-FFF2-40B4-BE49-F238E27FC236}">
                <a16:creationId xmlns:a16="http://schemas.microsoft.com/office/drawing/2014/main" id="{ADB1E959-C37C-7002-1A95-FC45B7B5AC46}"/>
              </a:ext>
            </a:extLst>
          </p:cNvPr>
          <p:cNvCxnSpPr>
            <a:stCxn id="12" idx="3"/>
            <a:endCxn id="10" idx="0"/>
          </p:cNvCxnSpPr>
          <p:nvPr/>
        </p:nvCxnSpPr>
        <p:spPr>
          <a:xfrm rot="5400000">
            <a:off x="7800966" y="1850119"/>
            <a:ext cx="175980" cy="362939"/>
          </a:xfrm>
          <a:prstGeom prst="bentConnector3">
            <a:avLst/>
          </a:prstGeom>
        </p:spPr>
        <p:style>
          <a:lnRef idx="1">
            <a:schemeClr val="dk1"/>
          </a:lnRef>
          <a:fillRef idx="0">
            <a:schemeClr val="dk1"/>
          </a:fillRef>
          <a:effectRef idx="0">
            <a:schemeClr val="dk1"/>
          </a:effectRef>
          <a:fontRef idx="minor">
            <a:schemeClr val="tx1"/>
          </a:fontRef>
        </p:style>
      </p:cxnSp>
      <p:cxnSp>
        <p:nvCxnSpPr>
          <p:cNvPr id="28" name="Elbow Connector 27">
            <a:extLst>
              <a:ext uri="{FF2B5EF4-FFF2-40B4-BE49-F238E27FC236}">
                <a16:creationId xmlns:a16="http://schemas.microsoft.com/office/drawing/2014/main" id="{9503D62F-26DD-8AD2-619D-B74484DD4E17}"/>
              </a:ext>
            </a:extLst>
          </p:cNvPr>
          <p:cNvCxnSpPr>
            <a:cxnSpLocks/>
            <a:stCxn id="12" idx="3"/>
            <a:endCxn id="11" idx="0"/>
          </p:cNvCxnSpPr>
          <p:nvPr/>
        </p:nvCxnSpPr>
        <p:spPr>
          <a:xfrm rot="16200000" flipH="1">
            <a:off x="8221525" y="1792497"/>
            <a:ext cx="192681" cy="494881"/>
          </a:xfrm>
          <a:prstGeom prst="bentConnector3">
            <a:avLst>
              <a:gd name="adj1" fmla="val 50000"/>
            </a:avLst>
          </a:prstGeom>
        </p:spPr>
        <p:style>
          <a:lnRef idx="1">
            <a:schemeClr val="dk1"/>
          </a:lnRef>
          <a:fillRef idx="0">
            <a:schemeClr val="dk1"/>
          </a:fillRef>
          <a:effectRef idx="0">
            <a:schemeClr val="dk1"/>
          </a:effectRef>
          <a:fontRef idx="minor">
            <a:schemeClr val="tx1"/>
          </a:fontRef>
        </p:style>
      </p:cxnSp>
    </p:spTree>
    <p:extLst>
      <p:ext uri="{BB962C8B-B14F-4D97-AF65-F5344CB8AC3E}">
        <p14:creationId xmlns:p14="http://schemas.microsoft.com/office/powerpoint/2010/main" val="8907943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1"/>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1" grpId="0" animBg="1"/>
    </p:bldLst>
  </p:timing>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Slide Number Placeholder 3"/>
          <p:cNvSpPr>
            <a:spLocks noGrp="1"/>
          </p:cNvSpPr>
          <p:nvPr>
            <p:ph type="sldNum" sz="quarter" idx="12"/>
          </p:nvPr>
        </p:nvSpPr>
        <p:spPr/>
        <p:txBody>
          <a:bodyPr/>
          <a:lstStyle/>
          <a:p>
            <a:pPr>
              <a:defRPr/>
            </a:pPr>
            <a:fld id="{D117D6DD-95E4-45B2-BC9C-6C77539FC9C7}" type="slidenum">
              <a:rPr lang="en-US" smtClean="0"/>
              <a:pPr>
                <a:defRPr/>
              </a:pPr>
              <a:t>38</a:t>
            </a:fld>
            <a:endParaRPr lang="en-US"/>
          </a:p>
        </p:txBody>
      </p:sp>
      <p:pic>
        <p:nvPicPr>
          <p:cNvPr id="35843" name="Picture 2"/>
          <p:cNvPicPr>
            <a:picLocks noChangeAspect="1" noChangeArrowheads="1"/>
          </p:cNvPicPr>
          <p:nvPr/>
        </p:nvPicPr>
        <p:blipFill>
          <a:blip r:embed="rId3" cstate="print"/>
          <a:srcRect/>
          <a:stretch>
            <a:fillRect/>
          </a:stretch>
        </p:blipFill>
        <p:spPr bwMode="auto">
          <a:xfrm>
            <a:off x="857250" y="1160463"/>
            <a:ext cx="7143750" cy="5697537"/>
          </a:xfrm>
          <a:prstGeom prst="rect">
            <a:avLst/>
          </a:prstGeom>
          <a:noFill/>
          <a:ln w="9525">
            <a:noFill/>
            <a:miter lim="800000"/>
            <a:headEnd/>
            <a:tailEnd/>
          </a:ln>
        </p:spPr>
      </p:pic>
      <p:sp>
        <p:nvSpPr>
          <p:cNvPr id="35844" name="Title 1"/>
          <p:cNvSpPr>
            <a:spLocks noGrp="1"/>
          </p:cNvSpPr>
          <p:nvPr>
            <p:ph type="title"/>
          </p:nvPr>
        </p:nvSpPr>
        <p:spPr/>
        <p:txBody>
          <a:bodyPr/>
          <a:lstStyle/>
          <a:p>
            <a:r>
              <a:rPr lang="en-US" sz="3600" dirty="0"/>
              <a:t>Simplifying the exposition a bit...</a:t>
            </a:r>
          </a:p>
        </p:txBody>
      </p:sp>
      <p:sp>
        <p:nvSpPr>
          <p:cNvPr id="5" name="TextBox 4"/>
          <p:cNvSpPr txBox="1"/>
          <p:nvPr/>
        </p:nvSpPr>
        <p:spPr>
          <a:xfrm>
            <a:off x="3000375" y="6215063"/>
            <a:ext cx="5143500" cy="461962"/>
          </a:xfrm>
          <a:prstGeom prst="rect">
            <a:avLst/>
          </a:prstGeom>
          <a:noFill/>
        </p:spPr>
        <p:txBody>
          <a:bodyPr>
            <a:spAutoFit/>
          </a:bodyPr>
          <a:lstStyle/>
          <a:p>
            <a:pPr>
              <a:defRPr/>
            </a:pPr>
            <a:r>
              <a:rPr lang="en-US" sz="1200" i="1" dirty="0">
                <a:latin typeface="+mn-lt"/>
              </a:rPr>
              <a:t>Notice how different types of the context o may give different coupling variables as well as coupling paths.</a:t>
            </a:r>
          </a:p>
        </p:txBody>
      </p:sp>
      <p:pic>
        <p:nvPicPr>
          <p:cNvPr id="2" name="Picture 1">
            <a:extLst>
              <a:ext uri="{FF2B5EF4-FFF2-40B4-BE49-F238E27FC236}">
                <a16:creationId xmlns:a16="http://schemas.microsoft.com/office/drawing/2014/main" id="{DC402B67-4FFA-194E-BA87-FB432E799CB4}"/>
              </a:ext>
            </a:extLst>
          </p:cNvPr>
          <p:cNvPicPr>
            <a:picLocks noChangeAspect="1"/>
          </p:cNvPicPr>
          <p:nvPr/>
        </p:nvPicPr>
        <p:blipFill>
          <a:blip r:embed="rId4"/>
          <a:stretch>
            <a:fillRect/>
          </a:stretch>
        </p:blipFill>
        <p:spPr>
          <a:xfrm>
            <a:off x="5436096" y="2835571"/>
            <a:ext cx="2032000" cy="2032000"/>
          </a:xfrm>
          <a:prstGeom prst="rect">
            <a:avLst/>
          </a:prstGeom>
        </p:spPr>
      </p:pic>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6866" name="Title 13"/>
          <p:cNvSpPr>
            <a:spLocks noGrp="1"/>
          </p:cNvSpPr>
          <p:nvPr>
            <p:ph type="title"/>
          </p:nvPr>
        </p:nvSpPr>
        <p:spPr>
          <a:xfrm>
            <a:off x="457200" y="274638"/>
            <a:ext cx="8229600" cy="763265"/>
          </a:xfrm>
        </p:spPr>
        <p:txBody>
          <a:bodyPr/>
          <a:lstStyle/>
          <a:p>
            <a:r>
              <a:rPr lang="en-US" dirty="0"/>
              <a:t>Binding triple</a:t>
            </a:r>
          </a:p>
        </p:txBody>
      </p:sp>
      <p:sp>
        <p:nvSpPr>
          <p:cNvPr id="36867" name="Content Placeholder 14"/>
          <p:cNvSpPr>
            <a:spLocks noGrp="1"/>
          </p:cNvSpPr>
          <p:nvPr>
            <p:ph idx="1"/>
          </p:nvPr>
        </p:nvSpPr>
        <p:spPr>
          <a:xfrm>
            <a:off x="457200" y="1143640"/>
            <a:ext cx="8229600" cy="1488425"/>
          </a:xfrm>
        </p:spPr>
        <p:txBody>
          <a:bodyPr/>
          <a:lstStyle/>
          <a:p>
            <a:pPr marL="0" indent="0" algn="just">
              <a:buNone/>
            </a:pPr>
            <a:r>
              <a:rPr lang="en-US" sz="2400" dirty="0"/>
              <a:t>Each coupling sequence </a:t>
            </a:r>
            <a:r>
              <a:rPr lang="en-US" sz="2400" i="1" dirty="0"/>
              <a:t>c</a:t>
            </a:r>
            <a:r>
              <a:rPr lang="en-US" sz="2400" dirty="0"/>
              <a:t> induces one or more binding “triples”; each specifying the coupling variables for </a:t>
            </a:r>
            <a:r>
              <a:rPr lang="en-US" sz="2400" b="1" dirty="0"/>
              <a:t>various types </a:t>
            </a:r>
            <a:r>
              <a:rPr lang="en-US" sz="2400" dirty="0"/>
              <a:t>of the context-var </a:t>
            </a:r>
            <a:r>
              <a:rPr lang="en-US" sz="2400" i="1" dirty="0"/>
              <a:t>o</a:t>
            </a:r>
            <a:r>
              <a:rPr lang="en-US" sz="2400" dirty="0"/>
              <a:t>. </a:t>
            </a:r>
          </a:p>
        </p:txBody>
      </p:sp>
      <p:sp>
        <p:nvSpPr>
          <p:cNvPr id="3" name="Slide Number Placeholder 2"/>
          <p:cNvSpPr>
            <a:spLocks noGrp="1"/>
          </p:cNvSpPr>
          <p:nvPr>
            <p:ph type="sldNum" sz="quarter" idx="12"/>
          </p:nvPr>
        </p:nvSpPr>
        <p:spPr/>
        <p:txBody>
          <a:bodyPr/>
          <a:lstStyle/>
          <a:p>
            <a:pPr>
              <a:defRPr/>
            </a:pPr>
            <a:fld id="{DA1AA0B2-A162-4380-AC92-14A1319477FF}" type="slidenum">
              <a:rPr lang="en-US" smtClean="0"/>
              <a:pPr>
                <a:defRPr/>
              </a:pPr>
              <a:t>39</a:t>
            </a:fld>
            <a:endParaRPr lang="en-US" dirty="0"/>
          </a:p>
        </p:txBody>
      </p:sp>
      <p:graphicFrame>
        <p:nvGraphicFramePr>
          <p:cNvPr id="2" name="Table 1">
            <a:extLst>
              <a:ext uri="{FF2B5EF4-FFF2-40B4-BE49-F238E27FC236}">
                <a16:creationId xmlns:a16="http://schemas.microsoft.com/office/drawing/2014/main" id="{641E44AD-0457-1880-2632-5712FFEDD5C3}"/>
              </a:ext>
            </a:extLst>
          </p:cNvPr>
          <p:cNvGraphicFramePr>
            <a:graphicFrameLocks noGrp="1"/>
          </p:cNvGraphicFramePr>
          <p:nvPr>
            <p:extLst>
              <p:ext uri="{D42A27DB-BD31-4B8C-83A1-F6EECF244321}">
                <p14:modId xmlns:p14="http://schemas.microsoft.com/office/powerpoint/2010/main" val="1964985106"/>
              </p:ext>
            </p:extLst>
          </p:nvPr>
        </p:nvGraphicFramePr>
        <p:xfrm>
          <a:off x="1879480" y="2467972"/>
          <a:ext cx="7093069" cy="2865120"/>
        </p:xfrm>
        <a:graphic>
          <a:graphicData uri="http://schemas.openxmlformats.org/drawingml/2006/table">
            <a:tbl>
              <a:tblPr firstRow="1" bandRow="1">
                <a:tableStyleId>{5C22544A-7EE6-4342-B048-85BDC9FD1C3A}</a:tableStyleId>
              </a:tblPr>
              <a:tblGrid>
                <a:gridCol w="1160672">
                  <a:extLst>
                    <a:ext uri="{9D8B030D-6E8A-4147-A177-3AD203B41FA5}">
                      <a16:colId xmlns:a16="http://schemas.microsoft.com/office/drawing/2014/main" val="3512171376"/>
                    </a:ext>
                  </a:extLst>
                </a:gridCol>
                <a:gridCol w="1153156">
                  <a:extLst>
                    <a:ext uri="{9D8B030D-6E8A-4147-A177-3AD203B41FA5}">
                      <a16:colId xmlns:a16="http://schemas.microsoft.com/office/drawing/2014/main" val="1925305831"/>
                    </a:ext>
                  </a:extLst>
                </a:gridCol>
                <a:gridCol w="1153156">
                  <a:extLst>
                    <a:ext uri="{9D8B030D-6E8A-4147-A177-3AD203B41FA5}">
                      <a16:colId xmlns:a16="http://schemas.microsoft.com/office/drawing/2014/main" val="2684345908"/>
                    </a:ext>
                  </a:extLst>
                </a:gridCol>
                <a:gridCol w="3626085">
                  <a:extLst>
                    <a:ext uri="{9D8B030D-6E8A-4147-A177-3AD203B41FA5}">
                      <a16:colId xmlns:a16="http://schemas.microsoft.com/office/drawing/2014/main" val="132072588"/>
                    </a:ext>
                  </a:extLst>
                </a:gridCol>
              </a:tblGrid>
              <a:tr h="370840">
                <a:tc>
                  <a:txBody>
                    <a:bodyPr/>
                    <a:lstStyle/>
                    <a:p>
                      <a:pPr algn="ctr"/>
                      <a:r>
                        <a:rPr lang="en-US" b="0" dirty="0"/>
                        <a:t>Coupling sequence</a:t>
                      </a:r>
                    </a:p>
                  </a:txBody>
                  <a:tcPr/>
                </a:tc>
                <a:tc>
                  <a:txBody>
                    <a:bodyPr/>
                    <a:lstStyle/>
                    <a:p>
                      <a:pPr algn="ctr"/>
                      <a:r>
                        <a:rPr lang="en-US" b="0" dirty="0" err="1"/>
                        <a:t>typeof</a:t>
                      </a:r>
                      <a:r>
                        <a:rPr lang="en-US" b="0" dirty="0"/>
                        <a:t>(o)</a:t>
                      </a:r>
                    </a:p>
                  </a:txBody>
                  <a:tcPr/>
                </a:tc>
                <a:tc>
                  <a:txBody>
                    <a:bodyPr/>
                    <a:lstStyle/>
                    <a:p>
                      <a:pPr algn="ctr"/>
                      <a:r>
                        <a:rPr lang="en-US" b="0" dirty="0"/>
                        <a:t>Coupling </a:t>
                      </a:r>
                      <a:r>
                        <a:rPr lang="en-US" b="0" dirty="0" err="1"/>
                        <a:t>vars</a:t>
                      </a:r>
                      <a:endParaRPr lang="en-US" b="0" dirty="0"/>
                    </a:p>
                  </a:txBody>
                  <a:tcPr/>
                </a:tc>
                <a:tc>
                  <a:txBody>
                    <a:bodyPr/>
                    <a:lstStyle/>
                    <a:p>
                      <a:r>
                        <a:rPr lang="en-US" b="0" dirty="0"/>
                        <a:t>Coupling path</a:t>
                      </a:r>
                    </a:p>
                  </a:txBody>
                  <a:tcPr/>
                </a:tc>
                <a:extLst>
                  <a:ext uri="{0D108BD9-81ED-4DB2-BD59-A6C34878D82A}">
                    <a16:rowId xmlns:a16="http://schemas.microsoft.com/office/drawing/2014/main" val="3492498366"/>
                  </a:ext>
                </a:extLst>
              </a:tr>
              <a:tr h="370840">
                <a:tc>
                  <a:txBody>
                    <a:bodyPr/>
                    <a:lstStyle/>
                    <a:p>
                      <a:pPr algn="ctr"/>
                      <a:r>
                        <a:rPr lang="en-US" dirty="0"/>
                        <a:t>2➝3</a:t>
                      </a:r>
                    </a:p>
                  </a:txBody>
                  <a:tcPr/>
                </a:tc>
                <a:tc>
                  <a:txBody>
                    <a:bodyPr/>
                    <a:lstStyle/>
                    <a:p>
                      <a:pPr algn="ctr"/>
                      <a:r>
                        <a:rPr lang="en-US" dirty="0"/>
                        <a:t>A</a:t>
                      </a:r>
                    </a:p>
                  </a:txBody>
                  <a:tcPr>
                    <a:solidFill>
                      <a:schemeClr val="accent1">
                        <a:lumMod val="20000"/>
                        <a:lumOff val="80000"/>
                      </a:schemeClr>
                    </a:solidFill>
                  </a:tcPr>
                </a:tc>
                <a:tc>
                  <a:txBody>
                    <a:bodyPr/>
                    <a:lstStyle/>
                    <a:p>
                      <a:pPr algn="ctr"/>
                      <a:r>
                        <a:rPr lang="en-US" dirty="0" err="1"/>
                        <a:t>o.x</a:t>
                      </a:r>
                      <a:r>
                        <a:rPr lang="en-US" dirty="0"/>
                        <a:t>  </a:t>
                      </a:r>
                    </a:p>
                  </a:txBody>
                  <a:tcPr>
                    <a:solidFill>
                      <a:schemeClr val="accent1">
                        <a:lumMod val="20000"/>
                        <a:lumOff val="80000"/>
                      </a:schemeClr>
                    </a:solid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𝜎 (dash-blue) , 𝜏 (not shown)</a:t>
                      </a:r>
                    </a:p>
                  </a:txBody>
                  <a:tcPr>
                    <a:solidFill>
                      <a:schemeClr val="accent1">
                        <a:lumMod val="20000"/>
                        <a:lumOff val="80000"/>
                      </a:schemeClr>
                    </a:solidFill>
                  </a:tcPr>
                </a:tc>
                <a:extLst>
                  <a:ext uri="{0D108BD9-81ED-4DB2-BD59-A6C34878D82A}">
                    <a16:rowId xmlns:a16="http://schemas.microsoft.com/office/drawing/2014/main" val="1052428733"/>
                  </a:ext>
                </a:extLst>
              </a:tr>
              <a:tr h="370840">
                <a:tc>
                  <a:txBody>
                    <a:bodyPr/>
                    <a:lstStyle/>
                    <a:p>
                      <a:pPr algn="ctr"/>
                      <a:endParaRPr lang="en-US" dirty="0">
                        <a:solidFill>
                          <a:schemeClr val="tx1"/>
                        </a:solidFill>
                      </a:endParaRPr>
                    </a:p>
                  </a:txBody>
                  <a:tcPr>
                    <a:noFill/>
                  </a:tcPr>
                </a:tc>
                <a:tc>
                  <a:txBody>
                    <a:bodyPr/>
                    <a:lstStyle/>
                    <a:p>
                      <a:pPr algn="ctr"/>
                      <a:r>
                        <a:rPr lang="en-US" dirty="0">
                          <a:solidFill>
                            <a:schemeClr val="tx1"/>
                          </a:solidFill>
                        </a:rPr>
                        <a:t>B</a:t>
                      </a:r>
                    </a:p>
                  </a:txBody>
                  <a:tcPr>
                    <a:solidFill>
                      <a:schemeClr val="accent1">
                        <a:lumMod val="40000"/>
                        <a:lumOff val="60000"/>
                      </a:schemeClr>
                    </a:solidFill>
                  </a:tcPr>
                </a:tc>
                <a:tc>
                  <a:txBody>
                    <a:bodyPr/>
                    <a:lstStyle/>
                    <a:p>
                      <a:pPr algn="ctr"/>
                      <a:r>
                        <a:rPr lang="en-US" dirty="0" err="1">
                          <a:solidFill>
                            <a:schemeClr val="tx1"/>
                          </a:solidFill>
                        </a:rPr>
                        <a:t>o.x</a:t>
                      </a:r>
                      <a:endParaRPr lang="en-US" dirty="0">
                        <a:solidFill>
                          <a:schemeClr val="tx1"/>
                        </a:solidFill>
                      </a:endParaRPr>
                    </a:p>
                  </a:txBody>
                  <a:tcPr>
                    <a:solidFill>
                      <a:schemeClr val="accent1">
                        <a:lumMod val="40000"/>
                        <a:lumOff val="60000"/>
                      </a:schemeClr>
                    </a:solid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solidFill>
                            <a:schemeClr val="tx1"/>
                          </a:solidFill>
                        </a:rPr>
                        <a:t>𝜌</a:t>
                      </a:r>
                      <a:r>
                        <a:rPr lang="en-US" baseline="-25000" dirty="0">
                          <a:solidFill>
                            <a:schemeClr val="tx1"/>
                          </a:solidFill>
                        </a:rPr>
                        <a:t>1</a:t>
                      </a:r>
                      <a:r>
                        <a:rPr lang="en-US" dirty="0">
                          <a:solidFill>
                            <a:schemeClr val="tx1"/>
                          </a:solidFill>
                        </a:rPr>
                        <a:t>, 𝜌</a:t>
                      </a:r>
                      <a:r>
                        <a:rPr lang="en-US" baseline="-25000" dirty="0">
                          <a:solidFill>
                            <a:schemeClr val="tx1"/>
                          </a:solidFill>
                        </a:rPr>
                        <a:t>2</a:t>
                      </a:r>
                      <a:r>
                        <a:rPr lang="en-US" dirty="0"/>
                        <a:t>  (not shown)</a:t>
                      </a:r>
                      <a:endParaRPr lang="en-US" dirty="0">
                        <a:solidFill>
                          <a:schemeClr val="tx1"/>
                        </a:solidFill>
                      </a:endParaRPr>
                    </a:p>
                  </a:txBody>
                  <a:tcPr>
                    <a:solidFill>
                      <a:schemeClr val="accent1">
                        <a:lumMod val="40000"/>
                        <a:lumOff val="60000"/>
                      </a:schemeClr>
                    </a:solidFill>
                  </a:tcPr>
                </a:tc>
                <a:extLst>
                  <a:ext uri="{0D108BD9-81ED-4DB2-BD59-A6C34878D82A}">
                    <a16:rowId xmlns:a16="http://schemas.microsoft.com/office/drawing/2014/main" val="1166286705"/>
                  </a:ext>
                </a:extLst>
              </a:tr>
              <a:tr h="370840">
                <a:tc>
                  <a:txBody>
                    <a:bodyPr/>
                    <a:lstStyle/>
                    <a:p>
                      <a:pPr algn="ctr"/>
                      <a:r>
                        <a:rPr lang="en-US" dirty="0">
                          <a:solidFill>
                            <a:schemeClr val="tx1"/>
                          </a:solidFill>
                        </a:rPr>
                        <a:t>11</a:t>
                      </a:r>
                    </a:p>
                  </a:txBody>
                  <a:tcPr>
                    <a:noFill/>
                  </a:tcPr>
                </a:tc>
                <a:tc>
                  <a:txBody>
                    <a:bodyPr/>
                    <a:lstStyle/>
                    <a:p>
                      <a:pPr algn="ctr"/>
                      <a:r>
                        <a:rPr lang="en-US" dirty="0">
                          <a:solidFill>
                            <a:schemeClr val="tx1"/>
                          </a:solidFill>
                        </a:rPr>
                        <a:t>C</a:t>
                      </a:r>
                    </a:p>
                  </a:txBody>
                  <a:tcPr>
                    <a:solidFill>
                      <a:schemeClr val="accent2">
                        <a:lumMod val="40000"/>
                        <a:lumOff val="60000"/>
                      </a:schemeClr>
                    </a:solidFill>
                  </a:tcPr>
                </a:tc>
                <a:tc>
                  <a:txBody>
                    <a:bodyPr/>
                    <a:lstStyle/>
                    <a:p>
                      <a:pPr algn="ctr"/>
                      <a:r>
                        <a:rPr lang="en-US" dirty="0" err="1">
                          <a:solidFill>
                            <a:schemeClr val="tx1"/>
                          </a:solidFill>
                        </a:rPr>
                        <a:t>o.x</a:t>
                      </a:r>
                      <a:r>
                        <a:rPr lang="en-US" dirty="0">
                          <a:solidFill>
                            <a:schemeClr val="tx1"/>
                          </a:solidFill>
                        </a:rPr>
                        <a:t>, </a:t>
                      </a:r>
                      <a:r>
                        <a:rPr lang="en-US" dirty="0" err="1">
                          <a:solidFill>
                            <a:schemeClr val="tx1"/>
                          </a:solidFill>
                        </a:rPr>
                        <a:t>o.y</a:t>
                      </a:r>
                      <a:r>
                        <a:rPr lang="en-US" dirty="0">
                          <a:solidFill>
                            <a:schemeClr val="tx1"/>
                          </a:solidFill>
                        </a:rPr>
                        <a:t> </a:t>
                      </a:r>
                    </a:p>
                  </a:txBody>
                  <a:tcPr>
                    <a:solidFill>
                      <a:schemeClr val="accent2">
                        <a:lumMod val="40000"/>
                        <a:lumOff val="60000"/>
                      </a:schemeClr>
                    </a:solid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solidFill>
                            <a:schemeClr val="tx1"/>
                          </a:solidFill>
                        </a:rPr>
                        <a:t>𝜌</a:t>
                      </a:r>
                      <a:r>
                        <a:rPr lang="en-US" baseline="-25000" dirty="0">
                          <a:solidFill>
                            <a:schemeClr val="tx1"/>
                          </a:solidFill>
                        </a:rPr>
                        <a:t>3</a:t>
                      </a:r>
                      <a:r>
                        <a:rPr lang="en-US" dirty="0">
                          <a:solidFill>
                            <a:schemeClr val="tx1"/>
                          </a:solidFill>
                        </a:rPr>
                        <a:t> for </a:t>
                      </a:r>
                      <a:r>
                        <a:rPr lang="en-US" dirty="0" err="1">
                          <a:solidFill>
                            <a:schemeClr val="tx1"/>
                          </a:solidFill>
                        </a:rPr>
                        <a:t>o.x</a:t>
                      </a:r>
                      <a:r>
                        <a:rPr lang="en-US" dirty="0">
                          <a:solidFill>
                            <a:schemeClr val="tx1"/>
                          </a:solidFill>
                        </a:rPr>
                        <a:t> and 𝜌</a:t>
                      </a:r>
                      <a:r>
                        <a:rPr lang="en-US" baseline="-25000" dirty="0">
                          <a:solidFill>
                            <a:schemeClr val="tx1"/>
                          </a:solidFill>
                        </a:rPr>
                        <a:t>4</a:t>
                      </a:r>
                      <a:r>
                        <a:rPr lang="en-US" dirty="0">
                          <a:solidFill>
                            <a:schemeClr val="tx1"/>
                          </a:solidFill>
                        </a:rPr>
                        <a:t> for </a:t>
                      </a:r>
                      <a:r>
                        <a:rPr lang="en-US" dirty="0" err="1">
                          <a:solidFill>
                            <a:schemeClr val="tx1"/>
                          </a:solidFill>
                        </a:rPr>
                        <a:t>o.y</a:t>
                      </a:r>
                      <a:r>
                        <a:rPr lang="en-US" dirty="0">
                          <a:solidFill>
                            <a:schemeClr val="tx1"/>
                          </a:solidFill>
                        </a:rPr>
                        <a:t> (not shown)</a:t>
                      </a:r>
                    </a:p>
                  </a:txBody>
                  <a:tcPr>
                    <a:solidFill>
                      <a:schemeClr val="accent2">
                        <a:lumMod val="40000"/>
                        <a:lumOff val="60000"/>
                      </a:schemeClr>
                    </a:solidFill>
                  </a:tcPr>
                </a:tc>
                <a:extLst>
                  <a:ext uri="{0D108BD9-81ED-4DB2-BD59-A6C34878D82A}">
                    <a16:rowId xmlns:a16="http://schemas.microsoft.com/office/drawing/2014/main" val="2898430574"/>
                  </a:ext>
                </a:extLst>
              </a:tr>
              <a:tr h="37084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dirty="0"/>
                        <a:t>2➝7</a:t>
                      </a:r>
                    </a:p>
                  </a:txBody>
                  <a:tcPr>
                    <a:solidFill>
                      <a:schemeClr val="accent5">
                        <a:lumMod val="20000"/>
                        <a:lumOff val="80000"/>
                      </a:schemeClr>
                    </a:solidFill>
                  </a:tcPr>
                </a:tc>
                <a:tc>
                  <a:txBody>
                    <a:bodyPr/>
                    <a:lstStyle/>
                    <a:p>
                      <a:pPr algn="ctr"/>
                      <a:r>
                        <a:rPr lang="en-US" dirty="0">
                          <a:solidFill>
                            <a:schemeClr val="tx1"/>
                          </a:solidFill>
                        </a:rPr>
                        <a:t>A</a:t>
                      </a:r>
                    </a:p>
                  </a:txBody>
                  <a:tcPr>
                    <a:solidFill>
                      <a:schemeClr val="accent5">
                        <a:lumMod val="20000"/>
                        <a:lumOff val="80000"/>
                      </a:schemeClr>
                    </a:solidFill>
                  </a:tcPr>
                </a:tc>
                <a:tc>
                  <a:txBody>
                    <a:bodyPr/>
                    <a:lstStyle/>
                    <a:p>
                      <a:pPr algn="ctr"/>
                      <a:r>
                        <a:rPr lang="en-US" dirty="0">
                          <a:solidFill>
                            <a:schemeClr val="tx1"/>
                          </a:solidFill>
                        </a:rPr>
                        <a:t>...</a:t>
                      </a:r>
                    </a:p>
                  </a:txBody>
                  <a:tcPr>
                    <a:solidFill>
                      <a:schemeClr val="accent5">
                        <a:lumMod val="20000"/>
                        <a:lumOff val="80000"/>
                      </a:schemeClr>
                    </a:solid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solidFill>
                            <a:schemeClr val="tx1"/>
                          </a:solidFill>
                        </a:rPr>
                        <a:t>...</a:t>
                      </a:r>
                    </a:p>
                  </a:txBody>
                  <a:tcPr>
                    <a:solidFill>
                      <a:schemeClr val="accent5">
                        <a:lumMod val="20000"/>
                        <a:lumOff val="80000"/>
                      </a:schemeClr>
                    </a:solidFill>
                  </a:tcPr>
                </a:tc>
                <a:extLst>
                  <a:ext uri="{0D108BD9-81ED-4DB2-BD59-A6C34878D82A}">
                    <a16:rowId xmlns:a16="http://schemas.microsoft.com/office/drawing/2014/main" val="3212172814"/>
                  </a:ext>
                </a:extLst>
              </a:tr>
              <a:tr h="370840">
                <a:tc>
                  <a:txBody>
                    <a:bodyPr/>
                    <a:lstStyle/>
                    <a:p>
                      <a:pPr algn="ctr"/>
                      <a:endParaRPr lang="en-US" dirty="0">
                        <a:solidFill>
                          <a:schemeClr val="tx1"/>
                        </a:solidFill>
                      </a:endParaRPr>
                    </a:p>
                  </a:txBody>
                  <a:tcPr>
                    <a:noFill/>
                  </a:tcPr>
                </a:tc>
                <a:tc>
                  <a:txBody>
                    <a:bodyPr/>
                    <a:lstStyle/>
                    <a:p>
                      <a:pPr algn="ctr"/>
                      <a:r>
                        <a:rPr lang="en-US" dirty="0">
                          <a:solidFill>
                            <a:schemeClr val="tx1"/>
                          </a:solidFill>
                        </a:rPr>
                        <a:t>B</a:t>
                      </a:r>
                    </a:p>
                  </a:txBody>
                  <a:tcPr>
                    <a:solidFill>
                      <a:schemeClr val="accent5">
                        <a:lumMod val="40000"/>
                        <a:lumOff val="60000"/>
                      </a:schemeClr>
                    </a:solidFill>
                  </a:tcPr>
                </a:tc>
                <a:tc>
                  <a:txBody>
                    <a:bodyPr/>
                    <a:lstStyle/>
                    <a:p>
                      <a:pPr algn="ctr"/>
                      <a:r>
                        <a:rPr lang="en-US" dirty="0">
                          <a:solidFill>
                            <a:schemeClr val="tx1"/>
                          </a:solidFill>
                        </a:rPr>
                        <a:t>...</a:t>
                      </a:r>
                    </a:p>
                  </a:txBody>
                  <a:tcPr>
                    <a:solidFill>
                      <a:schemeClr val="accent5">
                        <a:lumMod val="40000"/>
                        <a:lumOff val="60000"/>
                      </a:schemeClr>
                    </a:solid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solidFill>
                            <a:schemeClr val="tx1"/>
                          </a:solidFill>
                        </a:rPr>
                        <a:t>...</a:t>
                      </a:r>
                    </a:p>
                  </a:txBody>
                  <a:tcPr>
                    <a:solidFill>
                      <a:schemeClr val="accent5">
                        <a:lumMod val="40000"/>
                        <a:lumOff val="60000"/>
                      </a:schemeClr>
                    </a:solidFill>
                  </a:tcPr>
                </a:tc>
                <a:extLst>
                  <a:ext uri="{0D108BD9-81ED-4DB2-BD59-A6C34878D82A}">
                    <a16:rowId xmlns:a16="http://schemas.microsoft.com/office/drawing/2014/main" val="407993177"/>
                  </a:ext>
                </a:extLst>
              </a:tr>
              <a:tr h="370840">
                <a:tc>
                  <a:txBody>
                    <a:bodyPr/>
                    <a:lstStyle/>
                    <a:p>
                      <a:pPr algn="ctr"/>
                      <a:endParaRPr lang="en-US" dirty="0">
                        <a:solidFill>
                          <a:schemeClr val="tx1"/>
                        </a:solidFill>
                      </a:endParaRPr>
                    </a:p>
                  </a:txBody>
                  <a:tcPr>
                    <a:noFill/>
                  </a:tcPr>
                </a:tc>
                <a:tc>
                  <a:txBody>
                    <a:bodyPr/>
                    <a:lstStyle/>
                    <a:p>
                      <a:pPr algn="ctr"/>
                      <a:r>
                        <a:rPr lang="en-US" dirty="0">
                          <a:solidFill>
                            <a:schemeClr val="tx1"/>
                          </a:solidFill>
                        </a:rPr>
                        <a:t>C</a:t>
                      </a:r>
                    </a:p>
                  </a:txBody>
                  <a:tcPr>
                    <a:solidFill>
                      <a:schemeClr val="accent5">
                        <a:lumMod val="40000"/>
                        <a:lumOff val="60000"/>
                      </a:schemeClr>
                    </a:solidFill>
                  </a:tcPr>
                </a:tc>
                <a:tc>
                  <a:txBody>
                    <a:bodyPr/>
                    <a:lstStyle/>
                    <a:p>
                      <a:pPr algn="ctr"/>
                      <a:r>
                        <a:rPr lang="en-US" dirty="0">
                          <a:solidFill>
                            <a:schemeClr val="tx1"/>
                          </a:solidFill>
                        </a:rPr>
                        <a:t>...</a:t>
                      </a:r>
                    </a:p>
                  </a:txBody>
                  <a:tcPr>
                    <a:solidFill>
                      <a:schemeClr val="accent5">
                        <a:lumMod val="40000"/>
                        <a:lumOff val="60000"/>
                      </a:schemeClr>
                    </a:solid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solidFill>
                            <a:schemeClr val="tx1"/>
                          </a:solidFill>
                        </a:rPr>
                        <a:t>...</a:t>
                      </a:r>
                    </a:p>
                  </a:txBody>
                  <a:tcPr>
                    <a:solidFill>
                      <a:schemeClr val="accent5">
                        <a:lumMod val="40000"/>
                        <a:lumOff val="60000"/>
                      </a:schemeClr>
                    </a:solidFill>
                  </a:tcPr>
                </a:tc>
                <a:extLst>
                  <a:ext uri="{0D108BD9-81ED-4DB2-BD59-A6C34878D82A}">
                    <a16:rowId xmlns:a16="http://schemas.microsoft.com/office/drawing/2014/main" val="2820952100"/>
                  </a:ext>
                </a:extLst>
              </a:tr>
            </a:tbl>
          </a:graphicData>
        </a:graphic>
      </p:graphicFrame>
      <p:sp>
        <p:nvSpPr>
          <p:cNvPr id="21" name="TextBox 20">
            <a:extLst>
              <a:ext uri="{FF2B5EF4-FFF2-40B4-BE49-F238E27FC236}">
                <a16:creationId xmlns:a16="http://schemas.microsoft.com/office/drawing/2014/main" id="{0F6F97BB-7222-CC75-8F1D-CCAF7B28DB06}"/>
              </a:ext>
            </a:extLst>
          </p:cNvPr>
          <p:cNvSpPr txBox="1"/>
          <p:nvPr/>
        </p:nvSpPr>
        <p:spPr>
          <a:xfrm>
            <a:off x="2826674" y="5853455"/>
            <a:ext cx="1859805" cy="338554"/>
          </a:xfrm>
          <a:prstGeom prst="rect">
            <a:avLst/>
          </a:prstGeom>
          <a:noFill/>
        </p:spPr>
        <p:txBody>
          <a:bodyPr wrap="none" rtlCol="0">
            <a:spAutoFit/>
          </a:bodyPr>
          <a:lstStyle/>
          <a:p>
            <a:r>
              <a:rPr lang="en-NL" sz="1600" dirty="0"/>
              <a:t>binding triples (6x)</a:t>
            </a:r>
          </a:p>
        </p:txBody>
      </p:sp>
      <p:sp>
        <p:nvSpPr>
          <p:cNvPr id="22" name="Right Brace 21">
            <a:extLst>
              <a:ext uri="{FF2B5EF4-FFF2-40B4-BE49-F238E27FC236}">
                <a16:creationId xmlns:a16="http://schemas.microsoft.com/office/drawing/2014/main" id="{72786B7E-4FF0-537C-4D72-18794883AD33}"/>
              </a:ext>
            </a:extLst>
          </p:cNvPr>
          <p:cNvSpPr/>
          <p:nvPr/>
        </p:nvSpPr>
        <p:spPr>
          <a:xfrm rot="5400000">
            <a:off x="3506901" y="4051049"/>
            <a:ext cx="463406" cy="3163770"/>
          </a:xfrm>
          <a:prstGeom prst="rightBrace">
            <a:avLst/>
          </a:prstGeom>
          <a:ln w="19050">
            <a:solidFill>
              <a:srgbClr val="FF0000"/>
            </a:solidFill>
            <a:prstDash val="dash"/>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NL"/>
          </a:p>
        </p:txBody>
      </p:sp>
      <p:sp>
        <p:nvSpPr>
          <p:cNvPr id="23" name="Right Brace 22">
            <a:extLst>
              <a:ext uri="{FF2B5EF4-FFF2-40B4-BE49-F238E27FC236}">
                <a16:creationId xmlns:a16="http://schemas.microsoft.com/office/drawing/2014/main" id="{B7B234EA-9DCA-1162-C6A6-769405426EB3}"/>
              </a:ext>
            </a:extLst>
          </p:cNvPr>
          <p:cNvSpPr/>
          <p:nvPr/>
        </p:nvSpPr>
        <p:spPr>
          <a:xfrm rot="5400000">
            <a:off x="6951246" y="3872944"/>
            <a:ext cx="463406" cy="3579200"/>
          </a:xfrm>
          <a:prstGeom prst="rightBrace">
            <a:avLst/>
          </a:prstGeom>
          <a:ln w="19050">
            <a:solidFill>
              <a:srgbClr val="FF0000"/>
            </a:solidFill>
            <a:prstDash val="dash"/>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NL"/>
          </a:p>
        </p:txBody>
      </p:sp>
      <p:sp>
        <p:nvSpPr>
          <p:cNvPr id="24" name="TextBox 23">
            <a:extLst>
              <a:ext uri="{FF2B5EF4-FFF2-40B4-BE49-F238E27FC236}">
                <a16:creationId xmlns:a16="http://schemas.microsoft.com/office/drawing/2014/main" id="{C8D287C2-6790-22B3-61BD-00E34513E054}"/>
              </a:ext>
            </a:extLst>
          </p:cNvPr>
          <p:cNvSpPr txBox="1"/>
          <p:nvPr/>
        </p:nvSpPr>
        <p:spPr>
          <a:xfrm>
            <a:off x="5247629" y="5899622"/>
            <a:ext cx="3163770" cy="584775"/>
          </a:xfrm>
          <a:prstGeom prst="rect">
            <a:avLst/>
          </a:prstGeom>
          <a:noFill/>
        </p:spPr>
        <p:txBody>
          <a:bodyPr wrap="square" rtlCol="0">
            <a:spAutoFit/>
          </a:bodyPr>
          <a:lstStyle/>
          <a:p>
            <a:pPr algn="ctr"/>
            <a:r>
              <a:rPr lang="en-NL" sz="1600" dirty="0"/>
              <a:t>coupling paths to test for each triple </a:t>
            </a:r>
          </a:p>
        </p:txBody>
      </p:sp>
      <p:sp>
        <p:nvSpPr>
          <p:cNvPr id="25" name="Rectangle 24">
            <a:extLst>
              <a:ext uri="{FF2B5EF4-FFF2-40B4-BE49-F238E27FC236}">
                <a16:creationId xmlns:a16="http://schemas.microsoft.com/office/drawing/2014/main" id="{B828C757-9233-81E9-E948-3C8A88F61CC6}"/>
              </a:ext>
            </a:extLst>
          </p:cNvPr>
          <p:cNvSpPr/>
          <p:nvPr/>
        </p:nvSpPr>
        <p:spPr>
          <a:xfrm>
            <a:off x="427894" y="2523489"/>
            <a:ext cx="785812" cy="428625"/>
          </a:xfrm>
          <a:prstGeom prst="rect">
            <a:avLst/>
          </a:prstGeom>
          <a:solidFill>
            <a:schemeClr val="accent1">
              <a:lumMod val="20000"/>
              <a:lumOff val="80000"/>
            </a:schemeClr>
          </a:solidFill>
        </p:spPr>
        <p:style>
          <a:lnRef idx="2">
            <a:schemeClr val="accent1"/>
          </a:lnRef>
          <a:fillRef idx="1">
            <a:schemeClr val="lt1"/>
          </a:fillRef>
          <a:effectRef idx="0">
            <a:schemeClr val="accent1"/>
          </a:effectRef>
          <a:fontRef idx="minor">
            <a:schemeClr val="dk1"/>
          </a:fontRef>
        </p:style>
        <p:txBody>
          <a:bodyPr anchor="ctr"/>
          <a:lstStyle/>
          <a:p>
            <a:pPr algn="ctr">
              <a:defRPr/>
            </a:pPr>
            <a:r>
              <a:rPr lang="en-US" sz="2400" b="1" dirty="0"/>
              <a:t>A</a:t>
            </a:r>
          </a:p>
        </p:txBody>
      </p:sp>
      <p:sp>
        <p:nvSpPr>
          <p:cNvPr id="26" name="Rectangle 25">
            <a:extLst>
              <a:ext uri="{FF2B5EF4-FFF2-40B4-BE49-F238E27FC236}">
                <a16:creationId xmlns:a16="http://schemas.microsoft.com/office/drawing/2014/main" id="{466B9612-58AD-1568-CE6B-E70992131AFF}"/>
              </a:ext>
            </a:extLst>
          </p:cNvPr>
          <p:cNvSpPr/>
          <p:nvPr/>
        </p:nvSpPr>
        <p:spPr>
          <a:xfrm>
            <a:off x="64955" y="3270969"/>
            <a:ext cx="785812" cy="428625"/>
          </a:xfrm>
          <a:prstGeom prst="rect">
            <a:avLst/>
          </a:prstGeom>
          <a:solidFill>
            <a:schemeClr val="accent1">
              <a:lumMod val="20000"/>
              <a:lumOff val="80000"/>
            </a:schemeClr>
          </a:solidFill>
        </p:spPr>
        <p:style>
          <a:lnRef idx="2">
            <a:schemeClr val="accent1"/>
          </a:lnRef>
          <a:fillRef idx="1">
            <a:schemeClr val="lt1"/>
          </a:fillRef>
          <a:effectRef idx="0">
            <a:schemeClr val="accent1"/>
          </a:effectRef>
          <a:fontRef idx="minor">
            <a:schemeClr val="dk1"/>
          </a:fontRef>
        </p:style>
        <p:txBody>
          <a:bodyPr anchor="ctr"/>
          <a:lstStyle/>
          <a:p>
            <a:pPr algn="ctr">
              <a:defRPr/>
            </a:pPr>
            <a:r>
              <a:rPr lang="en-US" sz="2400" b="1" dirty="0"/>
              <a:t>B</a:t>
            </a:r>
          </a:p>
        </p:txBody>
      </p:sp>
      <p:sp>
        <p:nvSpPr>
          <p:cNvPr id="27" name="Rectangle 26">
            <a:extLst>
              <a:ext uri="{FF2B5EF4-FFF2-40B4-BE49-F238E27FC236}">
                <a16:creationId xmlns:a16="http://schemas.microsoft.com/office/drawing/2014/main" id="{A1482B96-1A52-E7F5-ACC3-81BCD58817F4}"/>
              </a:ext>
            </a:extLst>
          </p:cNvPr>
          <p:cNvSpPr/>
          <p:nvPr/>
        </p:nvSpPr>
        <p:spPr>
          <a:xfrm>
            <a:off x="922775" y="3287670"/>
            <a:ext cx="785812" cy="428625"/>
          </a:xfrm>
          <a:prstGeom prst="rect">
            <a:avLst/>
          </a:prstGeom>
          <a:solidFill>
            <a:schemeClr val="accent1">
              <a:lumMod val="20000"/>
              <a:lumOff val="80000"/>
            </a:schemeClr>
          </a:solidFill>
        </p:spPr>
        <p:style>
          <a:lnRef idx="2">
            <a:schemeClr val="accent1"/>
          </a:lnRef>
          <a:fillRef idx="1">
            <a:schemeClr val="lt1"/>
          </a:fillRef>
          <a:effectRef idx="0">
            <a:schemeClr val="accent1"/>
          </a:effectRef>
          <a:fontRef idx="minor">
            <a:schemeClr val="dk1"/>
          </a:fontRef>
        </p:style>
        <p:txBody>
          <a:bodyPr anchor="ctr"/>
          <a:lstStyle/>
          <a:p>
            <a:pPr algn="ctr">
              <a:defRPr/>
            </a:pPr>
            <a:r>
              <a:rPr lang="en-US" sz="2400" b="1" dirty="0"/>
              <a:t>C</a:t>
            </a:r>
          </a:p>
        </p:txBody>
      </p:sp>
      <p:sp>
        <p:nvSpPr>
          <p:cNvPr id="28" name="Isosceles Triangle 7">
            <a:extLst>
              <a:ext uri="{FF2B5EF4-FFF2-40B4-BE49-F238E27FC236}">
                <a16:creationId xmlns:a16="http://schemas.microsoft.com/office/drawing/2014/main" id="{3A2DA41E-5D54-982B-6825-BEA85610B6A1}"/>
              </a:ext>
            </a:extLst>
          </p:cNvPr>
          <p:cNvSpPr/>
          <p:nvPr/>
        </p:nvSpPr>
        <p:spPr>
          <a:xfrm>
            <a:off x="713644" y="2952114"/>
            <a:ext cx="214312" cy="142875"/>
          </a:xfrm>
          <a:prstGeom prst="triangle">
            <a:avLst/>
          </a:prstGeom>
        </p:spPr>
        <p:style>
          <a:lnRef idx="2">
            <a:schemeClr val="dk1"/>
          </a:lnRef>
          <a:fillRef idx="1">
            <a:schemeClr val="lt1"/>
          </a:fillRef>
          <a:effectRef idx="0">
            <a:schemeClr val="dk1"/>
          </a:effectRef>
          <a:fontRef idx="minor">
            <a:schemeClr val="dk1"/>
          </a:fontRef>
        </p:style>
        <p:txBody>
          <a:bodyPr anchor="ctr"/>
          <a:lstStyle/>
          <a:p>
            <a:pPr algn="ctr">
              <a:defRPr/>
            </a:pPr>
            <a:endParaRPr lang="en-US"/>
          </a:p>
        </p:txBody>
      </p:sp>
      <p:cxnSp>
        <p:nvCxnSpPr>
          <p:cNvPr id="29" name="Elbow Connector 28">
            <a:extLst>
              <a:ext uri="{FF2B5EF4-FFF2-40B4-BE49-F238E27FC236}">
                <a16:creationId xmlns:a16="http://schemas.microsoft.com/office/drawing/2014/main" id="{4FD71340-CD51-976B-B281-0FB6227A95B9}"/>
              </a:ext>
            </a:extLst>
          </p:cNvPr>
          <p:cNvCxnSpPr>
            <a:stCxn id="28" idx="3"/>
            <a:endCxn id="26" idx="0"/>
          </p:cNvCxnSpPr>
          <p:nvPr/>
        </p:nvCxnSpPr>
        <p:spPr>
          <a:xfrm rot="5400000">
            <a:off x="551341" y="3001510"/>
            <a:ext cx="175980" cy="362939"/>
          </a:xfrm>
          <a:prstGeom prst="bentConnector3">
            <a:avLst/>
          </a:prstGeom>
        </p:spPr>
        <p:style>
          <a:lnRef idx="1">
            <a:schemeClr val="dk1"/>
          </a:lnRef>
          <a:fillRef idx="0">
            <a:schemeClr val="dk1"/>
          </a:fillRef>
          <a:effectRef idx="0">
            <a:schemeClr val="dk1"/>
          </a:effectRef>
          <a:fontRef idx="minor">
            <a:schemeClr val="tx1"/>
          </a:fontRef>
        </p:style>
      </p:cxnSp>
      <p:cxnSp>
        <p:nvCxnSpPr>
          <p:cNvPr id="30" name="Elbow Connector 29">
            <a:extLst>
              <a:ext uri="{FF2B5EF4-FFF2-40B4-BE49-F238E27FC236}">
                <a16:creationId xmlns:a16="http://schemas.microsoft.com/office/drawing/2014/main" id="{201C13FE-39E4-0BC2-937B-D4C231857B26}"/>
              </a:ext>
            </a:extLst>
          </p:cNvPr>
          <p:cNvCxnSpPr>
            <a:cxnSpLocks/>
            <a:stCxn id="28" idx="3"/>
            <a:endCxn id="27" idx="0"/>
          </p:cNvCxnSpPr>
          <p:nvPr/>
        </p:nvCxnSpPr>
        <p:spPr>
          <a:xfrm rot="16200000" flipH="1">
            <a:off x="971900" y="2943888"/>
            <a:ext cx="192681" cy="494881"/>
          </a:xfrm>
          <a:prstGeom prst="bentConnector3">
            <a:avLst>
              <a:gd name="adj1" fmla="val 50000"/>
            </a:avLst>
          </a:prstGeom>
        </p:spPr>
        <p:style>
          <a:lnRef idx="1">
            <a:schemeClr val="dk1"/>
          </a:lnRef>
          <a:fillRef idx="0">
            <a:schemeClr val="dk1"/>
          </a:fillRef>
          <a:effectRef idx="0">
            <a:schemeClr val="dk1"/>
          </a:effectRef>
          <a:fontRef idx="minor">
            <a:schemeClr val="tx1"/>
          </a:fontRef>
        </p:style>
      </p:cxn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7890" name="Title 1"/>
          <p:cNvSpPr>
            <a:spLocks noGrp="1"/>
          </p:cNvSpPr>
          <p:nvPr>
            <p:ph type="title"/>
          </p:nvPr>
        </p:nvSpPr>
        <p:spPr/>
        <p:txBody>
          <a:bodyPr/>
          <a:lstStyle/>
          <a:p>
            <a:r>
              <a:rPr lang="en-US" sz="4000" dirty="0"/>
              <a:t>Indirect coupling test coverage criteria</a:t>
            </a:r>
          </a:p>
        </p:txBody>
      </p:sp>
      <p:sp>
        <p:nvSpPr>
          <p:cNvPr id="37891" name="Content Placeholder 2"/>
          <p:cNvSpPr>
            <a:spLocks noGrp="1"/>
          </p:cNvSpPr>
          <p:nvPr>
            <p:ph idx="1"/>
          </p:nvPr>
        </p:nvSpPr>
        <p:spPr>
          <a:xfrm>
            <a:off x="457200" y="4655720"/>
            <a:ext cx="8229600" cy="1847106"/>
          </a:xfrm>
        </p:spPr>
        <p:txBody>
          <a:bodyPr/>
          <a:lstStyle/>
          <a:p>
            <a:pPr marL="0" indent="0" algn="just">
              <a:buNone/>
            </a:pPr>
            <a:r>
              <a:rPr lang="en-US" sz="2400" dirty="0"/>
              <a:t>(Def 7.53) </a:t>
            </a:r>
            <a:r>
              <a:rPr lang="en-US" sz="2400" b="1" dirty="0"/>
              <a:t>All-Coupling-Sequences</a:t>
            </a:r>
            <a:r>
              <a:rPr lang="en-US" sz="2400" dirty="0"/>
              <a:t> (ACS): </a:t>
            </a:r>
            <a:r>
              <a:rPr lang="en-US" sz="2400" b="1" dirty="0"/>
              <a:t>for every coupling sequence</a:t>
            </a:r>
            <a:r>
              <a:rPr lang="en-US" sz="2400" dirty="0"/>
              <a:t> </a:t>
            </a:r>
            <a:r>
              <a:rPr lang="en-US" sz="2400" i="1" dirty="0"/>
              <a:t>cs</a:t>
            </a:r>
            <a:r>
              <a:rPr lang="en-US" sz="2400" dirty="0"/>
              <a:t> in the coupling method  </a:t>
            </a:r>
            <a:r>
              <a:rPr lang="en-US" sz="2400" i="1" dirty="0"/>
              <a:t>f</a:t>
            </a:r>
            <a:r>
              <a:rPr lang="en-US" sz="2400" dirty="0"/>
              <a:t> , TR includes at least one coupling path of </a:t>
            </a:r>
            <a:r>
              <a:rPr lang="en-US" sz="2400" i="1" dirty="0"/>
              <a:t>cs.</a:t>
            </a:r>
            <a:r>
              <a:rPr lang="en-US" sz="2400" dirty="0"/>
              <a:t>  </a:t>
            </a:r>
            <a:r>
              <a:rPr lang="en-US" sz="2400" dirty="0">
                <a:sym typeface="Wingdings" pitchFamily="2" charset="2"/>
              </a:rPr>
              <a:t>  ignore polymorphism.</a:t>
            </a:r>
          </a:p>
          <a:p>
            <a:pPr marL="0" indent="0" algn="just">
              <a:buNone/>
            </a:pPr>
            <a:r>
              <a:rPr lang="en-US" sz="2400" dirty="0">
                <a:sym typeface="Wingdings" pitchFamily="2" charset="2"/>
              </a:rPr>
              <a:t>In the above example, the TR would consist of two paths, one for </a:t>
            </a:r>
            <a:r>
              <a:rPr lang="en-US" sz="2400" i="1" dirty="0">
                <a:sym typeface="Wingdings" pitchFamily="2" charset="2"/>
              </a:rPr>
              <a:t>cs1</a:t>
            </a:r>
            <a:r>
              <a:rPr lang="en-US" sz="2400" dirty="0">
                <a:sym typeface="Wingdings" pitchFamily="2" charset="2"/>
              </a:rPr>
              <a:t> and one for </a:t>
            </a:r>
            <a:r>
              <a:rPr lang="en-US" sz="2400" i="1" dirty="0">
                <a:sym typeface="Wingdings" pitchFamily="2" charset="2"/>
              </a:rPr>
              <a:t>cs2</a:t>
            </a:r>
            <a:r>
              <a:rPr lang="en-US" sz="2400" dirty="0">
                <a:sym typeface="Wingdings" pitchFamily="2" charset="2"/>
              </a:rPr>
              <a:t>.</a:t>
            </a:r>
          </a:p>
          <a:p>
            <a:pPr marL="0" indent="0" algn="just">
              <a:buNone/>
            </a:pPr>
            <a:endParaRPr lang="en-US" sz="2400" dirty="0">
              <a:sym typeface="Wingdings" pitchFamily="2" charset="2"/>
            </a:endParaRPr>
          </a:p>
        </p:txBody>
      </p:sp>
      <p:sp>
        <p:nvSpPr>
          <p:cNvPr id="4" name="Slide Number Placeholder 3"/>
          <p:cNvSpPr>
            <a:spLocks noGrp="1"/>
          </p:cNvSpPr>
          <p:nvPr>
            <p:ph type="sldNum" sz="quarter" idx="12"/>
          </p:nvPr>
        </p:nvSpPr>
        <p:spPr/>
        <p:txBody>
          <a:bodyPr/>
          <a:lstStyle/>
          <a:p>
            <a:pPr>
              <a:defRPr/>
            </a:pPr>
            <a:fld id="{42169E21-8D84-4F22-B2F8-0BE426A77F25}" type="slidenum">
              <a:rPr lang="en-US" smtClean="0"/>
              <a:pPr>
                <a:defRPr/>
              </a:pPr>
              <a:t>40</a:t>
            </a:fld>
            <a:endParaRPr lang="en-US"/>
          </a:p>
        </p:txBody>
      </p:sp>
      <p:sp>
        <p:nvSpPr>
          <p:cNvPr id="5" name="Rectangle 4"/>
          <p:cNvSpPr/>
          <p:nvPr/>
        </p:nvSpPr>
        <p:spPr>
          <a:xfrm>
            <a:off x="500063" y="2157610"/>
            <a:ext cx="785812" cy="428625"/>
          </a:xfrm>
          <a:prstGeom prst="rect">
            <a:avLst/>
          </a:prstGeom>
          <a:solidFill>
            <a:schemeClr val="accent1">
              <a:lumMod val="20000"/>
              <a:lumOff val="80000"/>
            </a:schemeClr>
          </a:solidFill>
        </p:spPr>
        <p:style>
          <a:lnRef idx="2">
            <a:schemeClr val="accent1"/>
          </a:lnRef>
          <a:fillRef idx="1">
            <a:schemeClr val="lt1"/>
          </a:fillRef>
          <a:effectRef idx="0">
            <a:schemeClr val="accent1"/>
          </a:effectRef>
          <a:fontRef idx="minor">
            <a:schemeClr val="dk1"/>
          </a:fontRef>
        </p:style>
        <p:txBody>
          <a:bodyPr anchor="ctr"/>
          <a:lstStyle/>
          <a:p>
            <a:pPr algn="ctr">
              <a:defRPr/>
            </a:pPr>
            <a:r>
              <a:rPr lang="en-US" sz="2400" b="1" dirty="0"/>
              <a:t>A</a:t>
            </a:r>
          </a:p>
        </p:txBody>
      </p:sp>
      <p:sp>
        <p:nvSpPr>
          <p:cNvPr id="6" name="Rectangle 5"/>
          <p:cNvSpPr/>
          <p:nvPr/>
        </p:nvSpPr>
        <p:spPr>
          <a:xfrm>
            <a:off x="500063" y="2871985"/>
            <a:ext cx="785812" cy="428625"/>
          </a:xfrm>
          <a:prstGeom prst="rect">
            <a:avLst/>
          </a:prstGeom>
          <a:solidFill>
            <a:schemeClr val="accent1">
              <a:lumMod val="20000"/>
              <a:lumOff val="80000"/>
            </a:schemeClr>
          </a:solidFill>
        </p:spPr>
        <p:style>
          <a:lnRef idx="2">
            <a:schemeClr val="accent1"/>
          </a:lnRef>
          <a:fillRef idx="1">
            <a:schemeClr val="lt1"/>
          </a:fillRef>
          <a:effectRef idx="0">
            <a:schemeClr val="accent1"/>
          </a:effectRef>
          <a:fontRef idx="minor">
            <a:schemeClr val="dk1"/>
          </a:fontRef>
        </p:style>
        <p:txBody>
          <a:bodyPr anchor="ctr"/>
          <a:lstStyle/>
          <a:p>
            <a:pPr algn="ctr">
              <a:defRPr/>
            </a:pPr>
            <a:r>
              <a:rPr lang="en-US" sz="2400" b="1" dirty="0"/>
              <a:t>B</a:t>
            </a:r>
          </a:p>
        </p:txBody>
      </p:sp>
      <p:sp>
        <p:nvSpPr>
          <p:cNvPr id="7" name="Rectangle 6"/>
          <p:cNvSpPr/>
          <p:nvPr/>
        </p:nvSpPr>
        <p:spPr>
          <a:xfrm>
            <a:off x="500063" y="3586360"/>
            <a:ext cx="785812" cy="428625"/>
          </a:xfrm>
          <a:prstGeom prst="rect">
            <a:avLst/>
          </a:prstGeom>
          <a:solidFill>
            <a:schemeClr val="accent1">
              <a:lumMod val="20000"/>
              <a:lumOff val="80000"/>
            </a:schemeClr>
          </a:solidFill>
        </p:spPr>
        <p:style>
          <a:lnRef idx="2">
            <a:schemeClr val="accent1"/>
          </a:lnRef>
          <a:fillRef idx="1">
            <a:schemeClr val="lt1"/>
          </a:fillRef>
          <a:effectRef idx="0">
            <a:schemeClr val="accent1"/>
          </a:effectRef>
          <a:fontRef idx="minor">
            <a:schemeClr val="dk1"/>
          </a:fontRef>
        </p:style>
        <p:txBody>
          <a:bodyPr anchor="ctr"/>
          <a:lstStyle/>
          <a:p>
            <a:pPr algn="ctr">
              <a:defRPr/>
            </a:pPr>
            <a:r>
              <a:rPr lang="en-US" sz="2400" b="1" dirty="0"/>
              <a:t>C</a:t>
            </a:r>
          </a:p>
        </p:txBody>
      </p:sp>
      <p:sp>
        <p:nvSpPr>
          <p:cNvPr id="8" name="Isosceles Triangle 7"/>
          <p:cNvSpPr/>
          <p:nvPr/>
        </p:nvSpPr>
        <p:spPr>
          <a:xfrm>
            <a:off x="785813" y="2586235"/>
            <a:ext cx="214312" cy="142875"/>
          </a:xfrm>
          <a:prstGeom prst="triangle">
            <a:avLst/>
          </a:prstGeom>
        </p:spPr>
        <p:style>
          <a:lnRef idx="2">
            <a:schemeClr val="dk1"/>
          </a:lnRef>
          <a:fillRef idx="1">
            <a:schemeClr val="lt1"/>
          </a:fillRef>
          <a:effectRef idx="0">
            <a:schemeClr val="dk1"/>
          </a:effectRef>
          <a:fontRef idx="minor">
            <a:schemeClr val="dk1"/>
          </a:fontRef>
        </p:style>
        <p:txBody>
          <a:bodyPr anchor="ctr"/>
          <a:lstStyle/>
          <a:p>
            <a:pPr algn="ctr">
              <a:defRPr/>
            </a:pPr>
            <a:endParaRPr lang="en-US"/>
          </a:p>
        </p:txBody>
      </p:sp>
      <p:cxnSp>
        <p:nvCxnSpPr>
          <p:cNvPr id="9" name="Straight Connector 8"/>
          <p:cNvCxnSpPr>
            <a:stCxn id="6" idx="0"/>
            <a:endCxn id="8" idx="3"/>
          </p:cNvCxnSpPr>
          <p:nvPr/>
        </p:nvCxnSpPr>
        <p:spPr>
          <a:xfrm rot="5400000" flipH="1" flipV="1">
            <a:off x="821531" y="2799754"/>
            <a:ext cx="142875" cy="1588"/>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
        <p:nvSpPr>
          <p:cNvPr id="10" name="Isosceles Triangle 9"/>
          <p:cNvSpPr/>
          <p:nvPr/>
        </p:nvSpPr>
        <p:spPr>
          <a:xfrm>
            <a:off x="785813" y="3300610"/>
            <a:ext cx="214312" cy="142875"/>
          </a:xfrm>
          <a:prstGeom prst="triangle">
            <a:avLst/>
          </a:prstGeom>
        </p:spPr>
        <p:style>
          <a:lnRef idx="2">
            <a:schemeClr val="dk1"/>
          </a:lnRef>
          <a:fillRef idx="1">
            <a:schemeClr val="lt1"/>
          </a:fillRef>
          <a:effectRef idx="0">
            <a:schemeClr val="dk1"/>
          </a:effectRef>
          <a:fontRef idx="minor">
            <a:schemeClr val="dk1"/>
          </a:fontRef>
        </p:style>
        <p:txBody>
          <a:bodyPr anchor="ctr"/>
          <a:lstStyle/>
          <a:p>
            <a:pPr algn="ctr">
              <a:defRPr/>
            </a:pPr>
            <a:endParaRPr lang="en-US"/>
          </a:p>
        </p:txBody>
      </p:sp>
      <p:cxnSp>
        <p:nvCxnSpPr>
          <p:cNvPr id="11" name="Straight Connector 10"/>
          <p:cNvCxnSpPr>
            <a:stCxn id="7" idx="0"/>
            <a:endCxn id="10" idx="3"/>
          </p:cNvCxnSpPr>
          <p:nvPr/>
        </p:nvCxnSpPr>
        <p:spPr>
          <a:xfrm rot="5400000" flipH="1" flipV="1">
            <a:off x="821531" y="3514129"/>
            <a:ext cx="142875" cy="1588"/>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graphicFrame>
        <p:nvGraphicFramePr>
          <p:cNvPr id="12" name="Table 11"/>
          <p:cNvGraphicFramePr>
            <a:graphicFrameLocks noGrp="1"/>
          </p:cNvGraphicFramePr>
          <p:nvPr>
            <p:extLst>
              <p:ext uri="{D42A27DB-BD31-4B8C-83A1-F6EECF244321}">
                <p14:modId xmlns:p14="http://schemas.microsoft.com/office/powerpoint/2010/main" val="3610870857"/>
              </p:ext>
            </p:extLst>
          </p:nvPr>
        </p:nvGraphicFramePr>
        <p:xfrm>
          <a:off x="1691680" y="2169656"/>
          <a:ext cx="6329387" cy="2123440"/>
        </p:xfrm>
        <a:graphic>
          <a:graphicData uri="http://schemas.openxmlformats.org/drawingml/2006/table">
            <a:tbl>
              <a:tblPr firstRow="1" bandRow="1">
                <a:tableStyleId>{5C22544A-7EE6-4342-B048-85BDC9FD1C3A}</a:tableStyleId>
              </a:tblPr>
              <a:tblGrid>
                <a:gridCol w="1277812">
                  <a:extLst>
                    <a:ext uri="{9D8B030D-6E8A-4147-A177-3AD203B41FA5}">
                      <a16:colId xmlns:a16="http://schemas.microsoft.com/office/drawing/2014/main" val="20000"/>
                    </a:ext>
                  </a:extLst>
                </a:gridCol>
                <a:gridCol w="1195742">
                  <a:extLst>
                    <a:ext uri="{9D8B030D-6E8A-4147-A177-3AD203B41FA5}">
                      <a16:colId xmlns:a16="http://schemas.microsoft.com/office/drawing/2014/main" val="20001"/>
                    </a:ext>
                  </a:extLst>
                </a:gridCol>
                <a:gridCol w="1414878">
                  <a:extLst>
                    <a:ext uri="{9D8B030D-6E8A-4147-A177-3AD203B41FA5}">
                      <a16:colId xmlns:a16="http://schemas.microsoft.com/office/drawing/2014/main" val="20002"/>
                    </a:ext>
                  </a:extLst>
                </a:gridCol>
                <a:gridCol w="2440955">
                  <a:extLst>
                    <a:ext uri="{9D8B030D-6E8A-4147-A177-3AD203B41FA5}">
                      <a16:colId xmlns:a16="http://schemas.microsoft.com/office/drawing/2014/main" val="20003"/>
                    </a:ext>
                  </a:extLst>
                </a:gridCol>
              </a:tblGrid>
              <a:tr h="370840">
                <a:tc>
                  <a:txBody>
                    <a:bodyPr/>
                    <a:lstStyle/>
                    <a:p>
                      <a:pPr algn="ctr"/>
                      <a:r>
                        <a:rPr lang="en-US" dirty="0"/>
                        <a:t>coupling </a:t>
                      </a:r>
                      <a:r>
                        <a:rPr lang="en-US" baseline="0" dirty="0"/>
                        <a:t>seq. in f</a:t>
                      </a:r>
                      <a:endParaRPr lang="en-US" dirty="0"/>
                    </a:p>
                  </a:txBody>
                  <a:tcPr/>
                </a:tc>
                <a:tc>
                  <a:txBody>
                    <a:bodyPr/>
                    <a:lstStyle/>
                    <a:p>
                      <a:pPr algn="ctr"/>
                      <a:r>
                        <a:rPr lang="en-US" dirty="0"/>
                        <a:t>type(o)</a:t>
                      </a:r>
                    </a:p>
                  </a:txBody>
                  <a:tcPr/>
                </a:tc>
                <a:tc>
                  <a:txBody>
                    <a:bodyPr/>
                    <a:lstStyle/>
                    <a:p>
                      <a:pPr algn="ctr"/>
                      <a:r>
                        <a:rPr lang="en-US" dirty="0"/>
                        <a:t>coupling</a:t>
                      </a:r>
                      <a:r>
                        <a:rPr lang="en-US" baseline="0" dirty="0"/>
                        <a:t> </a:t>
                      </a:r>
                      <a:r>
                        <a:rPr lang="en-US" baseline="0" dirty="0" err="1"/>
                        <a:t>vars</a:t>
                      </a:r>
                      <a:endParaRPr lang="en-US" dirty="0"/>
                    </a:p>
                  </a:txBody>
                  <a:tcPr/>
                </a:tc>
                <a:tc>
                  <a:txBody>
                    <a:bodyPr/>
                    <a:lstStyle/>
                    <a:p>
                      <a:pPr algn="ctr"/>
                      <a:r>
                        <a:rPr lang="en-US" dirty="0">
                          <a:solidFill>
                            <a:schemeClr val="tx1"/>
                          </a:solidFill>
                        </a:rPr>
                        <a:t>coupling paths</a:t>
                      </a:r>
                    </a:p>
                  </a:txBody>
                  <a:tcPr>
                    <a:solidFill>
                      <a:schemeClr val="tx2">
                        <a:lumMod val="40000"/>
                        <a:lumOff val="60000"/>
                      </a:schemeClr>
                    </a:solidFill>
                  </a:tcPr>
                </a:tc>
                <a:extLst>
                  <a:ext uri="{0D108BD9-81ED-4DB2-BD59-A6C34878D82A}">
                    <a16:rowId xmlns:a16="http://schemas.microsoft.com/office/drawing/2014/main" val="10000"/>
                  </a:ext>
                </a:extLst>
              </a:tr>
              <a:tr h="370840">
                <a:tc rowSpan="3">
                  <a:txBody>
                    <a:bodyPr/>
                    <a:lstStyle/>
                    <a:p>
                      <a:pPr algn="ctr"/>
                      <a:endParaRPr lang="en-US" dirty="0"/>
                    </a:p>
                    <a:p>
                      <a:pPr algn="ctr"/>
                      <a:r>
                        <a:rPr lang="en-US" i="1" dirty="0"/>
                        <a:t>cs1</a:t>
                      </a:r>
                    </a:p>
                  </a:txBody>
                  <a:tcPr>
                    <a:solidFill>
                      <a:schemeClr val="accent5">
                        <a:lumMod val="20000"/>
                        <a:lumOff val="80000"/>
                      </a:schemeClr>
                    </a:solidFill>
                  </a:tcPr>
                </a:tc>
                <a:tc>
                  <a:txBody>
                    <a:bodyPr/>
                    <a:lstStyle/>
                    <a:p>
                      <a:pPr algn="ctr"/>
                      <a:r>
                        <a:rPr lang="en-US" dirty="0"/>
                        <a:t>A</a:t>
                      </a:r>
                    </a:p>
                  </a:txBody>
                  <a:tcPr/>
                </a:tc>
                <a:tc>
                  <a:txBody>
                    <a:bodyPr/>
                    <a:lstStyle/>
                    <a:p>
                      <a:pPr algn="ctr"/>
                      <a:r>
                        <a:rPr lang="en-US" dirty="0"/>
                        <a:t>{ </a:t>
                      </a:r>
                      <a:r>
                        <a:rPr lang="en-US" dirty="0" err="1"/>
                        <a:t>o.v</a:t>
                      </a:r>
                      <a:r>
                        <a:rPr lang="en-US" baseline="0" dirty="0"/>
                        <a:t> }</a:t>
                      </a:r>
                      <a:endParaRPr lang="en-US" dirty="0"/>
                    </a:p>
                  </a:txBody>
                  <a:tcPr/>
                </a:tc>
                <a:tc>
                  <a:txBody>
                    <a:bodyPr/>
                    <a:lstStyle/>
                    <a:p>
                      <a:pPr algn="ctr"/>
                      <a:r>
                        <a:rPr lang="en-US" dirty="0">
                          <a:solidFill>
                            <a:schemeClr val="tx1"/>
                          </a:solidFill>
                        </a:rPr>
                        <a:t> </a:t>
                      </a:r>
                      <a:r>
                        <a:rPr lang="en-US" dirty="0" err="1">
                          <a:solidFill>
                            <a:schemeClr val="tx1"/>
                          </a:solidFill>
                        </a:rPr>
                        <a:t>o.v</a:t>
                      </a:r>
                      <a:r>
                        <a:rPr lang="en-US" dirty="0">
                          <a:solidFill>
                            <a:schemeClr val="tx1"/>
                          </a:solidFill>
                        </a:rPr>
                        <a:t> :  { 𝜎</a:t>
                      </a:r>
                      <a:r>
                        <a:rPr lang="en-US" baseline="-25000" dirty="0">
                          <a:solidFill>
                            <a:schemeClr val="tx1"/>
                          </a:solidFill>
                        </a:rPr>
                        <a:t>1</a:t>
                      </a:r>
                      <a:r>
                        <a:rPr lang="en-US" dirty="0">
                          <a:solidFill>
                            <a:schemeClr val="tx1"/>
                          </a:solidFill>
                        </a:rPr>
                        <a:t> }</a:t>
                      </a:r>
                    </a:p>
                  </a:txBody>
                  <a:tcPr>
                    <a:solidFill>
                      <a:schemeClr val="tx2">
                        <a:lumMod val="40000"/>
                        <a:lumOff val="60000"/>
                      </a:schemeClr>
                    </a:solidFill>
                  </a:tcPr>
                </a:tc>
                <a:extLst>
                  <a:ext uri="{0D108BD9-81ED-4DB2-BD59-A6C34878D82A}">
                    <a16:rowId xmlns:a16="http://schemas.microsoft.com/office/drawing/2014/main" val="10001"/>
                  </a:ext>
                </a:extLst>
              </a:tr>
              <a:tr h="370840">
                <a:tc vMerge="1">
                  <a:txBody>
                    <a:bodyPr/>
                    <a:lstStyle/>
                    <a:p>
                      <a:pPr algn="ctr"/>
                      <a:endParaRPr lang="en-US" dirty="0"/>
                    </a:p>
                  </a:txBody>
                  <a:tcPr/>
                </a:tc>
                <a:tc>
                  <a:txBody>
                    <a:bodyPr/>
                    <a:lstStyle/>
                    <a:p>
                      <a:pPr algn="ctr"/>
                      <a:r>
                        <a:rPr lang="en-US" dirty="0"/>
                        <a:t> B</a:t>
                      </a:r>
                    </a:p>
                  </a:txBody>
                  <a:tcPr/>
                </a:tc>
                <a:tc>
                  <a:txBody>
                    <a:bodyPr/>
                    <a:lstStyle/>
                    <a:p>
                      <a:pPr algn="ctr"/>
                      <a:r>
                        <a:rPr lang="en-US" dirty="0"/>
                        <a:t>{ </a:t>
                      </a:r>
                      <a:r>
                        <a:rPr lang="en-US" dirty="0" err="1"/>
                        <a:t>o.u</a:t>
                      </a:r>
                      <a:r>
                        <a:rPr lang="en-US" baseline="0" dirty="0"/>
                        <a:t> }</a:t>
                      </a:r>
                      <a:endParaRPr lang="en-US" dirty="0"/>
                    </a:p>
                  </a:txBody>
                  <a:tcPr/>
                </a:tc>
                <a:tc>
                  <a:txBody>
                    <a:bodyPr/>
                    <a:lstStyle/>
                    <a:p>
                      <a:pPr algn="ctr"/>
                      <a:r>
                        <a:rPr lang="en-US" dirty="0" err="1">
                          <a:solidFill>
                            <a:schemeClr val="tx1"/>
                          </a:solidFill>
                        </a:rPr>
                        <a:t>o.u</a:t>
                      </a:r>
                      <a:r>
                        <a:rPr lang="en-US" dirty="0">
                          <a:solidFill>
                            <a:schemeClr val="tx1"/>
                          </a:solidFill>
                        </a:rPr>
                        <a:t> : {𝜏</a:t>
                      </a:r>
                      <a:r>
                        <a:rPr lang="en-US" baseline="-25000" dirty="0">
                          <a:solidFill>
                            <a:schemeClr val="tx1"/>
                          </a:solidFill>
                        </a:rPr>
                        <a:t>1</a:t>
                      </a:r>
                      <a:r>
                        <a:rPr lang="en-US" dirty="0">
                          <a:solidFill>
                            <a:schemeClr val="tx1"/>
                          </a:solidFill>
                        </a:rPr>
                        <a:t>,</a:t>
                      </a:r>
                      <a:r>
                        <a:rPr lang="en-US" baseline="0" dirty="0">
                          <a:solidFill>
                            <a:schemeClr val="tx1"/>
                          </a:solidFill>
                        </a:rPr>
                        <a:t> </a:t>
                      </a:r>
                      <a:r>
                        <a:rPr lang="en-US" dirty="0">
                          <a:solidFill>
                            <a:schemeClr val="tx1"/>
                          </a:solidFill>
                        </a:rPr>
                        <a:t>𝜏</a:t>
                      </a:r>
                      <a:r>
                        <a:rPr lang="en-US" baseline="-25000" dirty="0">
                          <a:solidFill>
                            <a:schemeClr val="tx1"/>
                          </a:solidFill>
                        </a:rPr>
                        <a:t>2</a:t>
                      </a:r>
                      <a:r>
                        <a:rPr lang="en-US" baseline="0" dirty="0">
                          <a:solidFill>
                            <a:schemeClr val="tx1"/>
                          </a:solidFill>
                        </a:rPr>
                        <a:t> }</a:t>
                      </a:r>
                      <a:endParaRPr lang="en-US" dirty="0">
                        <a:solidFill>
                          <a:schemeClr val="tx1"/>
                        </a:solidFill>
                      </a:endParaRPr>
                    </a:p>
                  </a:txBody>
                  <a:tcPr>
                    <a:solidFill>
                      <a:schemeClr val="tx2">
                        <a:lumMod val="40000"/>
                        <a:lumOff val="60000"/>
                      </a:schemeClr>
                    </a:solidFill>
                  </a:tcPr>
                </a:tc>
                <a:extLst>
                  <a:ext uri="{0D108BD9-81ED-4DB2-BD59-A6C34878D82A}">
                    <a16:rowId xmlns:a16="http://schemas.microsoft.com/office/drawing/2014/main" val="10002"/>
                  </a:ext>
                </a:extLst>
              </a:tr>
              <a:tr h="370840">
                <a:tc vMerge="1">
                  <a:txBody>
                    <a:bodyPr/>
                    <a:lstStyle/>
                    <a:p>
                      <a:pPr algn="ctr"/>
                      <a:endParaRPr lang="en-US" dirty="0"/>
                    </a:p>
                  </a:txBody>
                  <a:tcPr/>
                </a:tc>
                <a:tc>
                  <a:txBody>
                    <a:bodyPr/>
                    <a:lstStyle/>
                    <a:p>
                      <a:pPr algn="ctr"/>
                      <a:r>
                        <a:rPr lang="en-US" dirty="0"/>
                        <a:t>C</a:t>
                      </a:r>
                    </a:p>
                  </a:txBody>
                  <a:tcPr/>
                </a:tc>
                <a:tc>
                  <a:txBody>
                    <a:bodyPr/>
                    <a:lstStyle/>
                    <a:p>
                      <a:pPr algn="ctr"/>
                      <a:r>
                        <a:rPr lang="en-US" dirty="0"/>
                        <a:t>{</a:t>
                      </a:r>
                      <a:r>
                        <a:rPr lang="en-US" baseline="0" dirty="0"/>
                        <a:t> </a:t>
                      </a:r>
                      <a:r>
                        <a:rPr lang="en-US" baseline="0" dirty="0" err="1"/>
                        <a:t>o.u</a:t>
                      </a:r>
                      <a:r>
                        <a:rPr lang="en-US" baseline="0" dirty="0"/>
                        <a:t> , </a:t>
                      </a:r>
                      <a:r>
                        <a:rPr lang="en-US" baseline="0" dirty="0" err="1"/>
                        <a:t>o.v</a:t>
                      </a:r>
                      <a:r>
                        <a:rPr lang="en-US" baseline="0" dirty="0"/>
                        <a:t> }</a:t>
                      </a:r>
                      <a:endParaRPr lang="en-US" dirty="0"/>
                    </a:p>
                  </a:txBody>
                  <a:tcPr/>
                </a:tc>
                <a:tc>
                  <a:txBody>
                    <a:bodyPr/>
                    <a:lstStyle/>
                    <a:p>
                      <a:pPr algn="ctr"/>
                      <a:r>
                        <a:rPr lang="en-US" dirty="0" err="1">
                          <a:solidFill>
                            <a:schemeClr val="tx1"/>
                          </a:solidFill>
                        </a:rPr>
                        <a:t>o.u</a:t>
                      </a:r>
                      <a:r>
                        <a:rPr lang="en-US" dirty="0">
                          <a:solidFill>
                            <a:schemeClr val="tx1"/>
                          </a:solidFill>
                        </a:rPr>
                        <a:t> : { 𝜋</a:t>
                      </a:r>
                      <a:r>
                        <a:rPr lang="en-US" baseline="-25000" dirty="0">
                          <a:solidFill>
                            <a:schemeClr val="tx1"/>
                          </a:solidFill>
                        </a:rPr>
                        <a:t>1</a:t>
                      </a:r>
                      <a:r>
                        <a:rPr lang="en-US" dirty="0">
                          <a:solidFill>
                            <a:schemeClr val="tx1"/>
                          </a:solidFill>
                        </a:rPr>
                        <a:t> } , </a:t>
                      </a:r>
                      <a:r>
                        <a:rPr lang="en-US" dirty="0" err="1">
                          <a:solidFill>
                            <a:schemeClr val="tx1"/>
                          </a:solidFill>
                        </a:rPr>
                        <a:t>o.v</a:t>
                      </a:r>
                      <a:r>
                        <a:rPr lang="en-US" dirty="0">
                          <a:solidFill>
                            <a:schemeClr val="tx1"/>
                          </a:solidFill>
                        </a:rPr>
                        <a:t> :{𝜋</a:t>
                      </a:r>
                      <a:r>
                        <a:rPr lang="en-US" baseline="-25000" dirty="0">
                          <a:solidFill>
                            <a:schemeClr val="tx1"/>
                          </a:solidFill>
                        </a:rPr>
                        <a:t>2 , </a:t>
                      </a:r>
                      <a:r>
                        <a:rPr lang="en-US" dirty="0">
                          <a:solidFill>
                            <a:schemeClr val="tx1"/>
                          </a:solidFill>
                        </a:rPr>
                        <a:t>𝜋</a:t>
                      </a:r>
                      <a:r>
                        <a:rPr lang="en-US" baseline="-25000" dirty="0">
                          <a:solidFill>
                            <a:schemeClr val="tx1"/>
                          </a:solidFill>
                        </a:rPr>
                        <a:t>3</a:t>
                      </a:r>
                      <a:r>
                        <a:rPr lang="en-US" dirty="0">
                          <a:solidFill>
                            <a:schemeClr val="tx1"/>
                          </a:solidFill>
                        </a:rPr>
                        <a:t>}</a:t>
                      </a:r>
                    </a:p>
                  </a:txBody>
                  <a:tcPr>
                    <a:solidFill>
                      <a:schemeClr val="tx2">
                        <a:lumMod val="40000"/>
                        <a:lumOff val="60000"/>
                      </a:schemeClr>
                    </a:solidFill>
                  </a:tcPr>
                </a:tc>
                <a:extLst>
                  <a:ext uri="{0D108BD9-81ED-4DB2-BD59-A6C34878D82A}">
                    <a16:rowId xmlns:a16="http://schemas.microsoft.com/office/drawing/2014/main" val="10003"/>
                  </a:ext>
                </a:extLst>
              </a:tr>
              <a:tr h="370840">
                <a:tc>
                  <a:txBody>
                    <a:bodyPr/>
                    <a:lstStyle/>
                    <a:p>
                      <a:pPr algn="ctr"/>
                      <a:r>
                        <a:rPr lang="en-US" i="1" dirty="0"/>
                        <a:t>cs2</a:t>
                      </a:r>
                    </a:p>
                  </a:txBody>
                  <a:tcPr>
                    <a:solidFill>
                      <a:schemeClr val="accent5">
                        <a:lumMod val="40000"/>
                        <a:lumOff val="60000"/>
                      </a:schemeClr>
                    </a:solidFill>
                  </a:tcPr>
                </a:tc>
                <a:tc>
                  <a:txBody>
                    <a:bodyPr/>
                    <a:lstStyle/>
                    <a:p>
                      <a:pPr algn="ctr"/>
                      <a:r>
                        <a:rPr lang="en-US" dirty="0"/>
                        <a:t>A</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dirty="0"/>
                        <a:t>{</a:t>
                      </a:r>
                      <a:r>
                        <a:rPr lang="en-US" baseline="0" dirty="0"/>
                        <a:t> </a:t>
                      </a:r>
                      <a:r>
                        <a:rPr lang="en-US" baseline="0" dirty="0" err="1"/>
                        <a:t>o.u</a:t>
                      </a:r>
                      <a:r>
                        <a:rPr lang="en-US" baseline="0" dirty="0"/>
                        <a:t> , </a:t>
                      </a:r>
                      <a:r>
                        <a:rPr lang="en-US" baseline="0" dirty="0" err="1"/>
                        <a:t>o.v</a:t>
                      </a:r>
                      <a:r>
                        <a:rPr lang="en-US" baseline="0" dirty="0"/>
                        <a:t> }</a:t>
                      </a:r>
                      <a:endParaRPr lang="en-US" dirty="0"/>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dirty="0" err="1">
                          <a:solidFill>
                            <a:schemeClr val="tx1"/>
                          </a:solidFill>
                        </a:rPr>
                        <a:t>o.u</a:t>
                      </a:r>
                      <a:r>
                        <a:rPr lang="en-US" dirty="0">
                          <a:solidFill>
                            <a:schemeClr val="tx1"/>
                          </a:solidFill>
                        </a:rPr>
                        <a:t> : { 𝜌</a:t>
                      </a:r>
                      <a:r>
                        <a:rPr lang="en-US" baseline="-25000" dirty="0">
                          <a:solidFill>
                            <a:schemeClr val="tx1"/>
                          </a:solidFill>
                        </a:rPr>
                        <a:t>1</a:t>
                      </a:r>
                      <a:r>
                        <a:rPr lang="en-US" dirty="0">
                          <a:solidFill>
                            <a:schemeClr val="tx1"/>
                          </a:solidFill>
                        </a:rPr>
                        <a:t> } , </a:t>
                      </a:r>
                      <a:r>
                        <a:rPr lang="en-US" dirty="0" err="1">
                          <a:solidFill>
                            <a:schemeClr val="tx1"/>
                          </a:solidFill>
                        </a:rPr>
                        <a:t>o.v</a:t>
                      </a:r>
                      <a:r>
                        <a:rPr lang="en-US" dirty="0">
                          <a:solidFill>
                            <a:schemeClr val="tx1"/>
                          </a:solidFill>
                        </a:rPr>
                        <a:t> :{𝜌</a:t>
                      </a:r>
                      <a:r>
                        <a:rPr lang="en-US" baseline="-25000" dirty="0">
                          <a:solidFill>
                            <a:schemeClr val="tx1"/>
                          </a:solidFill>
                        </a:rPr>
                        <a:t>2</a:t>
                      </a:r>
                      <a:r>
                        <a:rPr lang="en-US" dirty="0">
                          <a:solidFill>
                            <a:schemeClr val="tx1"/>
                          </a:solidFill>
                        </a:rPr>
                        <a:t>}</a:t>
                      </a:r>
                    </a:p>
                  </a:txBody>
                  <a:tcPr>
                    <a:solidFill>
                      <a:schemeClr val="tx2">
                        <a:lumMod val="40000"/>
                        <a:lumOff val="60000"/>
                      </a:schemeClr>
                    </a:solidFill>
                  </a:tcPr>
                </a:tc>
                <a:extLst>
                  <a:ext uri="{0D108BD9-81ED-4DB2-BD59-A6C34878D82A}">
                    <a16:rowId xmlns:a16="http://schemas.microsoft.com/office/drawing/2014/main" val="2872703372"/>
                  </a:ext>
                </a:extLst>
              </a:tr>
            </a:tbl>
          </a:graphicData>
        </a:graphic>
      </p:graphicFrame>
      <p:sp>
        <p:nvSpPr>
          <p:cNvPr id="2" name="TextBox 1">
            <a:extLst>
              <a:ext uri="{FF2B5EF4-FFF2-40B4-BE49-F238E27FC236}">
                <a16:creationId xmlns:a16="http://schemas.microsoft.com/office/drawing/2014/main" id="{5795A141-3B1C-FD47-9B9F-9FE04997D06A}"/>
              </a:ext>
            </a:extLst>
          </p:cNvPr>
          <p:cNvSpPr txBox="1"/>
          <p:nvPr/>
        </p:nvSpPr>
        <p:spPr>
          <a:xfrm>
            <a:off x="395536" y="1573966"/>
            <a:ext cx="6827510" cy="369332"/>
          </a:xfrm>
          <a:prstGeom prst="rect">
            <a:avLst/>
          </a:prstGeom>
          <a:noFill/>
        </p:spPr>
        <p:txBody>
          <a:bodyPr wrap="none" rtlCol="0">
            <a:spAutoFit/>
          </a:bodyPr>
          <a:lstStyle/>
          <a:p>
            <a:r>
              <a:rPr lang="en-US" dirty="0"/>
              <a:t>Imagine the following coupling sequences within some method f :</a:t>
            </a:r>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7890" name="Title 1"/>
          <p:cNvSpPr>
            <a:spLocks noGrp="1"/>
          </p:cNvSpPr>
          <p:nvPr>
            <p:ph type="title"/>
          </p:nvPr>
        </p:nvSpPr>
        <p:spPr/>
        <p:txBody>
          <a:bodyPr/>
          <a:lstStyle/>
          <a:p>
            <a:r>
              <a:rPr lang="en-US" sz="4000" dirty="0"/>
              <a:t>Indirect coupling test coverage criteria</a:t>
            </a:r>
          </a:p>
        </p:txBody>
      </p:sp>
      <p:sp>
        <p:nvSpPr>
          <p:cNvPr id="37891" name="Content Placeholder 2"/>
          <p:cNvSpPr>
            <a:spLocks noGrp="1"/>
          </p:cNvSpPr>
          <p:nvPr>
            <p:ph idx="1"/>
          </p:nvPr>
        </p:nvSpPr>
        <p:spPr>
          <a:xfrm>
            <a:off x="251520" y="4203709"/>
            <a:ext cx="8640960" cy="2319378"/>
          </a:xfrm>
        </p:spPr>
        <p:txBody>
          <a:bodyPr/>
          <a:lstStyle/>
          <a:p>
            <a:pPr marL="0" indent="0" algn="just">
              <a:buNone/>
            </a:pPr>
            <a:r>
              <a:rPr lang="en-US" sz="2400" dirty="0">
                <a:sym typeface="Wingdings" pitchFamily="2" charset="2"/>
              </a:rPr>
              <a:t>(Def 7.54) </a:t>
            </a:r>
            <a:r>
              <a:rPr lang="en-US" sz="2400" b="1" dirty="0">
                <a:sym typeface="Wingdings" pitchFamily="2" charset="2"/>
              </a:rPr>
              <a:t>All-Poly-Classes</a:t>
            </a:r>
            <a:r>
              <a:rPr lang="en-US" sz="2400" dirty="0">
                <a:sym typeface="Wingdings" pitchFamily="2" charset="2"/>
              </a:rPr>
              <a:t> (APC): for </a:t>
            </a:r>
            <a:r>
              <a:rPr lang="en-US" sz="2400" b="1" dirty="0">
                <a:sym typeface="Wingdings" pitchFamily="2" charset="2"/>
              </a:rPr>
              <a:t>every coupling sequence</a:t>
            </a:r>
            <a:r>
              <a:rPr lang="en-US" sz="2400" dirty="0">
                <a:sym typeface="Wingdings" pitchFamily="2" charset="2"/>
              </a:rPr>
              <a:t> cs, and </a:t>
            </a:r>
            <a:r>
              <a:rPr lang="en-US" sz="2400" b="1" dirty="0">
                <a:sym typeface="Wingdings" pitchFamily="2" charset="2"/>
              </a:rPr>
              <a:t>every possible class </a:t>
            </a:r>
            <a:r>
              <a:rPr lang="en-US" sz="2400" dirty="0">
                <a:sym typeface="Wingdings" pitchFamily="2" charset="2"/>
              </a:rPr>
              <a:t>of the coupling-var at cs</a:t>
            </a:r>
            <a:r>
              <a:rPr lang="en-US" sz="2400" b="1" dirty="0">
                <a:sym typeface="Wingdings" pitchFamily="2" charset="2"/>
              </a:rPr>
              <a:t>,</a:t>
            </a:r>
            <a:r>
              <a:rPr lang="en-US" sz="2400" dirty="0"/>
              <a:t> </a:t>
            </a:r>
            <a:r>
              <a:rPr lang="en-US" sz="2400" dirty="0">
                <a:sym typeface="Wingdings" pitchFamily="2" charset="2"/>
              </a:rPr>
              <a:t>TR includes at least one coupling path of </a:t>
            </a:r>
            <a:r>
              <a:rPr lang="en-US" sz="2400" i="1" dirty="0">
                <a:sym typeface="Wingdings" pitchFamily="2" charset="2"/>
              </a:rPr>
              <a:t>t.  </a:t>
            </a:r>
            <a:r>
              <a:rPr lang="en-US" sz="2400" dirty="0">
                <a:sym typeface="Wingdings" pitchFamily="2" charset="2"/>
              </a:rPr>
              <a:t> ignore that </a:t>
            </a:r>
            <a:r>
              <a:rPr lang="en-US" sz="2400" i="1" dirty="0">
                <a:sym typeface="Wingdings" pitchFamily="2" charset="2"/>
              </a:rPr>
              <a:t>cs </a:t>
            </a:r>
            <a:r>
              <a:rPr lang="en-US" sz="2400" dirty="0">
                <a:sym typeface="Wingdings" pitchFamily="2" charset="2"/>
              </a:rPr>
              <a:t>may have multiple coupling vars.</a:t>
            </a:r>
          </a:p>
          <a:p>
            <a:pPr marL="0" indent="0" algn="just">
              <a:buNone/>
            </a:pPr>
            <a:r>
              <a:rPr lang="en-US" sz="2400" dirty="0">
                <a:sym typeface="Wingdings" pitchFamily="2" charset="2"/>
              </a:rPr>
              <a:t>In the above example, the TR would consist of 3 paths for cs1, and 1 for cs2.</a:t>
            </a:r>
            <a:endParaRPr lang="en-US" sz="2400" dirty="0"/>
          </a:p>
        </p:txBody>
      </p:sp>
      <p:sp>
        <p:nvSpPr>
          <p:cNvPr id="4" name="Slide Number Placeholder 3"/>
          <p:cNvSpPr>
            <a:spLocks noGrp="1"/>
          </p:cNvSpPr>
          <p:nvPr>
            <p:ph type="sldNum" sz="quarter" idx="12"/>
          </p:nvPr>
        </p:nvSpPr>
        <p:spPr/>
        <p:txBody>
          <a:bodyPr/>
          <a:lstStyle/>
          <a:p>
            <a:pPr>
              <a:defRPr/>
            </a:pPr>
            <a:fld id="{42169E21-8D84-4F22-B2F8-0BE426A77F25}" type="slidenum">
              <a:rPr lang="en-US" smtClean="0"/>
              <a:pPr>
                <a:defRPr/>
              </a:pPr>
              <a:t>41</a:t>
            </a:fld>
            <a:endParaRPr lang="en-US"/>
          </a:p>
        </p:txBody>
      </p:sp>
      <p:sp>
        <p:nvSpPr>
          <p:cNvPr id="5" name="Rectangle 4"/>
          <p:cNvSpPr/>
          <p:nvPr/>
        </p:nvSpPr>
        <p:spPr>
          <a:xfrm>
            <a:off x="683568" y="1797099"/>
            <a:ext cx="785812" cy="428625"/>
          </a:xfrm>
          <a:prstGeom prst="rect">
            <a:avLst/>
          </a:prstGeom>
          <a:solidFill>
            <a:schemeClr val="accent1">
              <a:lumMod val="20000"/>
              <a:lumOff val="80000"/>
            </a:schemeClr>
          </a:solidFill>
        </p:spPr>
        <p:style>
          <a:lnRef idx="2">
            <a:schemeClr val="accent1"/>
          </a:lnRef>
          <a:fillRef idx="1">
            <a:schemeClr val="lt1"/>
          </a:fillRef>
          <a:effectRef idx="0">
            <a:schemeClr val="accent1"/>
          </a:effectRef>
          <a:fontRef idx="minor">
            <a:schemeClr val="dk1"/>
          </a:fontRef>
        </p:style>
        <p:txBody>
          <a:bodyPr anchor="ctr"/>
          <a:lstStyle/>
          <a:p>
            <a:pPr algn="ctr">
              <a:defRPr/>
            </a:pPr>
            <a:r>
              <a:rPr lang="en-US" sz="2400" b="1" dirty="0"/>
              <a:t>A</a:t>
            </a:r>
          </a:p>
        </p:txBody>
      </p:sp>
      <p:sp>
        <p:nvSpPr>
          <p:cNvPr id="6" name="Rectangle 5"/>
          <p:cNvSpPr/>
          <p:nvPr/>
        </p:nvSpPr>
        <p:spPr>
          <a:xfrm>
            <a:off x="683568" y="2511474"/>
            <a:ext cx="785812" cy="428625"/>
          </a:xfrm>
          <a:prstGeom prst="rect">
            <a:avLst/>
          </a:prstGeom>
          <a:solidFill>
            <a:schemeClr val="accent1">
              <a:lumMod val="20000"/>
              <a:lumOff val="80000"/>
            </a:schemeClr>
          </a:solidFill>
        </p:spPr>
        <p:style>
          <a:lnRef idx="2">
            <a:schemeClr val="accent1"/>
          </a:lnRef>
          <a:fillRef idx="1">
            <a:schemeClr val="lt1"/>
          </a:fillRef>
          <a:effectRef idx="0">
            <a:schemeClr val="accent1"/>
          </a:effectRef>
          <a:fontRef idx="minor">
            <a:schemeClr val="dk1"/>
          </a:fontRef>
        </p:style>
        <p:txBody>
          <a:bodyPr anchor="ctr"/>
          <a:lstStyle/>
          <a:p>
            <a:pPr algn="ctr">
              <a:defRPr/>
            </a:pPr>
            <a:r>
              <a:rPr lang="en-US" sz="2400" b="1" dirty="0"/>
              <a:t>B1</a:t>
            </a:r>
          </a:p>
        </p:txBody>
      </p:sp>
      <p:sp>
        <p:nvSpPr>
          <p:cNvPr id="7" name="Rectangle 6"/>
          <p:cNvSpPr/>
          <p:nvPr/>
        </p:nvSpPr>
        <p:spPr>
          <a:xfrm>
            <a:off x="683568" y="3225849"/>
            <a:ext cx="785812" cy="428625"/>
          </a:xfrm>
          <a:prstGeom prst="rect">
            <a:avLst/>
          </a:prstGeom>
          <a:solidFill>
            <a:schemeClr val="accent1">
              <a:lumMod val="20000"/>
              <a:lumOff val="80000"/>
            </a:schemeClr>
          </a:solidFill>
        </p:spPr>
        <p:style>
          <a:lnRef idx="2">
            <a:schemeClr val="accent1"/>
          </a:lnRef>
          <a:fillRef idx="1">
            <a:schemeClr val="lt1"/>
          </a:fillRef>
          <a:effectRef idx="0">
            <a:schemeClr val="accent1"/>
          </a:effectRef>
          <a:fontRef idx="minor">
            <a:schemeClr val="dk1"/>
          </a:fontRef>
        </p:style>
        <p:txBody>
          <a:bodyPr anchor="ctr"/>
          <a:lstStyle/>
          <a:p>
            <a:pPr algn="ctr">
              <a:defRPr/>
            </a:pPr>
            <a:r>
              <a:rPr lang="en-US" sz="2400" b="1" dirty="0"/>
              <a:t>B2</a:t>
            </a:r>
          </a:p>
        </p:txBody>
      </p:sp>
      <p:sp>
        <p:nvSpPr>
          <p:cNvPr id="8" name="Isosceles Triangle 7"/>
          <p:cNvSpPr/>
          <p:nvPr/>
        </p:nvSpPr>
        <p:spPr>
          <a:xfrm>
            <a:off x="969318" y="2225724"/>
            <a:ext cx="214312" cy="142875"/>
          </a:xfrm>
          <a:prstGeom prst="triangle">
            <a:avLst/>
          </a:prstGeom>
        </p:spPr>
        <p:style>
          <a:lnRef idx="2">
            <a:schemeClr val="dk1"/>
          </a:lnRef>
          <a:fillRef idx="1">
            <a:schemeClr val="lt1"/>
          </a:fillRef>
          <a:effectRef idx="0">
            <a:schemeClr val="dk1"/>
          </a:effectRef>
          <a:fontRef idx="minor">
            <a:schemeClr val="dk1"/>
          </a:fontRef>
        </p:style>
        <p:txBody>
          <a:bodyPr anchor="ctr"/>
          <a:lstStyle/>
          <a:p>
            <a:pPr algn="ctr">
              <a:defRPr/>
            </a:pPr>
            <a:endParaRPr lang="en-US"/>
          </a:p>
        </p:txBody>
      </p:sp>
      <p:cxnSp>
        <p:nvCxnSpPr>
          <p:cNvPr id="9" name="Straight Connector 8"/>
          <p:cNvCxnSpPr>
            <a:stCxn id="6" idx="0"/>
            <a:endCxn id="8" idx="3"/>
          </p:cNvCxnSpPr>
          <p:nvPr/>
        </p:nvCxnSpPr>
        <p:spPr>
          <a:xfrm rot="5400000" flipH="1" flipV="1">
            <a:off x="1005036" y="2439243"/>
            <a:ext cx="142875" cy="1588"/>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
        <p:nvSpPr>
          <p:cNvPr id="10" name="Isosceles Triangle 9"/>
          <p:cNvSpPr/>
          <p:nvPr/>
        </p:nvSpPr>
        <p:spPr>
          <a:xfrm>
            <a:off x="969318" y="2940099"/>
            <a:ext cx="214312" cy="142875"/>
          </a:xfrm>
          <a:prstGeom prst="triangle">
            <a:avLst/>
          </a:prstGeom>
        </p:spPr>
        <p:style>
          <a:lnRef idx="2">
            <a:schemeClr val="dk1"/>
          </a:lnRef>
          <a:fillRef idx="1">
            <a:schemeClr val="lt1"/>
          </a:fillRef>
          <a:effectRef idx="0">
            <a:schemeClr val="dk1"/>
          </a:effectRef>
          <a:fontRef idx="minor">
            <a:schemeClr val="dk1"/>
          </a:fontRef>
        </p:style>
        <p:txBody>
          <a:bodyPr anchor="ctr"/>
          <a:lstStyle/>
          <a:p>
            <a:pPr algn="ctr">
              <a:defRPr/>
            </a:pPr>
            <a:endParaRPr lang="en-US"/>
          </a:p>
        </p:txBody>
      </p:sp>
      <p:cxnSp>
        <p:nvCxnSpPr>
          <p:cNvPr id="11" name="Straight Connector 10"/>
          <p:cNvCxnSpPr>
            <a:stCxn id="7" idx="0"/>
            <a:endCxn id="10" idx="3"/>
          </p:cNvCxnSpPr>
          <p:nvPr/>
        </p:nvCxnSpPr>
        <p:spPr>
          <a:xfrm rot="5400000" flipH="1" flipV="1">
            <a:off x="1005036" y="3153618"/>
            <a:ext cx="142875" cy="1588"/>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graphicFrame>
        <p:nvGraphicFramePr>
          <p:cNvPr id="15" name="Table 14">
            <a:extLst>
              <a:ext uri="{FF2B5EF4-FFF2-40B4-BE49-F238E27FC236}">
                <a16:creationId xmlns:a16="http://schemas.microsoft.com/office/drawing/2014/main" id="{B333BAAE-0CE2-4146-9593-7657208293FE}"/>
              </a:ext>
            </a:extLst>
          </p:cNvPr>
          <p:cNvGraphicFramePr>
            <a:graphicFrameLocks noGrp="1"/>
          </p:cNvGraphicFramePr>
          <p:nvPr>
            <p:extLst>
              <p:ext uri="{D42A27DB-BD31-4B8C-83A1-F6EECF244321}">
                <p14:modId xmlns:p14="http://schemas.microsoft.com/office/powerpoint/2010/main" val="1154847103"/>
              </p:ext>
            </p:extLst>
          </p:nvPr>
        </p:nvGraphicFramePr>
        <p:xfrm>
          <a:off x="2059037" y="1700808"/>
          <a:ext cx="6627763" cy="2123440"/>
        </p:xfrm>
        <a:graphic>
          <a:graphicData uri="http://schemas.openxmlformats.org/drawingml/2006/table">
            <a:tbl>
              <a:tblPr firstRow="1" bandRow="1">
                <a:tableStyleId>{5C22544A-7EE6-4342-B048-85BDC9FD1C3A}</a:tableStyleId>
              </a:tblPr>
              <a:tblGrid>
                <a:gridCol w="1338050">
                  <a:extLst>
                    <a:ext uri="{9D8B030D-6E8A-4147-A177-3AD203B41FA5}">
                      <a16:colId xmlns:a16="http://schemas.microsoft.com/office/drawing/2014/main" val="20000"/>
                    </a:ext>
                  </a:extLst>
                </a:gridCol>
                <a:gridCol w="1252111">
                  <a:extLst>
                    <a:ext uri="{9D8B030D-6E8A-4147-A177-3AD203B41FA5}">
                      <a16:colId xmlns:a16="http://schemas.microsoft.com/office/drawing/2014/main" val="20001"/>
                    </a:ext>
                  </a:extLst>
                </a:gridCol>
                <a:gridCol w="1578986">
                  <a:extLst>
                    <a:ext uri="{9D8B030D-6E8A-4147-A177-3AD203B41FA5}">
                      <a16:colId xmlns:a16="http://schemas.microsoft.com/office/drawing/2014/main" val="20002"/>
                    </a:ext>
                  </a:extLst>
                </a:gridCol>
                <a:gridCol w="2458616">
                  <a:extLst>
                    <a:ext uri="{9D8B030D-6E8A-4147-A177-3AD203B41FA5}">
                      <a16:colId xmlns:a16="http://schemas.microsoft.com/office/drawing/2014/main" val="20003"/>
                    </a:ext>
                  </a:extLst>
                </a:gridCol>
              </a:tblGrid>
              <a:tr h="370840">
                <a:tc>
                  <a:txBody>
                    <a:bodyPr/>
                    <a:lstStyle/>
                    <a:p>
                      <a:pPr algn="ctr"/>
                      <a:r>
                        <a:rPr lang="en-US" dirty="0"/>
                        <a:t>coupling </a:t>
                      </a:r>
                      <a:r>
                        <a:rPr lang="en-US" baseline="0" dirty="0"/>
                        <a:t>seq. in f</a:t>
                      </a:r>
                      <a:endParaRPr lang="en-US" dirty="0"/>
                    </a:p>
                  </a:txBody>
                  <a:tcPr/>
                </a:tc>
                <a:tc>
                  <a:txBody>
                    <a:bodyPr/>
                    <a:lstStyle/>
                    <a:p>
                      <a:pPr algn="ctr"/>
                      <a:r>
                        <a:rPr lang="en-US" dirty="0"/>
                        <a:t>type(o)</a:t>
                      </a:r>
                    </a:p>
                  </a:txBody>
                  <a:tcPr/>
                </a:tc>
                <a:tc>
                  <a:txBody>
                    <a:bodyPr/>
                    <a:lstStyle/>
                    <a:p>
                      <a:pPr algn="ctr"/>
                      <a:r>
                        <a:rPr lang="en-US" dirty="0"/>
                        <a:t>coupling</a:t>
                      </a:r>
                      <a:r>
                        <a:rPr lang="en-US" baseline="0" dirty="0"/>
                        <a:t> </a:t>
                      </a:r>
                      <a:r>
                        <a:rPr lang="en-US" baseline="0" dirty="0" err="1"/>
                        <a:t>vars</a:t>
                      </a:r>
                      <a:endParaRPr lang="en-US" dirty="0"/>
                    </a:p>
                  </a:txBody>
                  <a:tcPr/>
                </a:tc>
                <a:tc>
                  <a:txBody>
                    <a:bodyPr/>
                    <a:lstStyle/>
                    <a:p>
                      <a:pPr algn="ctr"/>
                      <a:r>
                        <a:rPr lang="en-US" dirty="0">
                          <a:solidFill>
                            <a:schemeClr val="tx1"/>
                          </a:solidFill>
                        </a:rPr>
                        <a:t>coupling paths</a:t>
                      </a:r>
                    </a:p>
                  </a:txBody>
                  <a:tcPr>
                    <a:solidFill>
                      <a:schemeClr val="tx2">
                        <a:lumMod val="40000"/>
                        <a:lumOff val="60000"/>
                      </a:schemeClr>
                    </a:solidFill>
                  </a:tcPr>
                </a:tc>
                <a:extLst>
                  <a:ext uri="{0D108BD9-81ED-4DB2-BD59-A6C34878D82A}">
                    <a16:rowId xmlns:a16="http://schemas.microsoft.com/office/drawing/2014/main" val="10000"/>
                  </a:ext>
                </a:extLst>
              </a:tr>
              <a:tr h="370840">
                <a:tc rowSpan="3">
                  <a:txBody>
                    <a:bodyPr/>
                    <a:lstStyle/>
                    <a:p>
                      <a:pPr algn="ctr"/>
                      <a:endParaRPr lang="en-US" dirty="0"/>
                    </a:p>
                    <a:p>
                      <a:pPr algn="ctr"/>
                      <a:r>
                        <a:rPr lang="en-US" dirty="0"/>
                        <a:t>cs1</a:t>
                      </a:r>
                    </a:p>
                  </a:txBody>
                  <a:tcPr>
                    <a:solidFill>
                      <a:schemeClr val="accent5">
                        <a:lumMod val="20000"/>
                        <a:lumOff val="80000"/>
                      </a:schemeClr>
                    </a:solidFill>
                  </a:tcPr>
                </a:tc>
                <a:tc>
                  <a:txBody>
                    <a:bodyPr/>
                    <a:lstStyle/>
                    <a:p>
                      <a:pPr algn="ctr"/>
                      <a:r>
                        <a:rPr lang="en-US" dirty="0"/>
                        <a:t>A</a:t>
                      </a:r>
                    </a:p>
                  </a:txBody>
                  <a:tcPr/>
                </a:tc>
                <a:tc>
                  <a:txBody>
                    <a:bodyPr/>
                    <a:lstStyle/>
                    <a:p>
                      <a:pPr algn="ctr"/>
                      <a:r>
                        <a:rPr lang="en-US" dirty="0"/>
                        <a:t>{ </a:t>
                      </a:r>
                      <a:r>
                        <a:rPr lang="en-US" dirty="0" err="1"/>
                        <a:t>o.v</a:t>
                      </a:r>
                      <a:r>
                        <a:rPr lang="en-US" baseline="0" dirty="0"/>
                        <a:t> }</a:t>
                      </a:r>
                      <a:endParaRPr lang="en-US" dirty="0"/>
                    </a:p>
                  </a:txBody>
                  <a:tcPr/>
                </a:tc>
                <a:tc>
                  <a:txBody>
                    <a:bodyPr/>
                    <a:lstStyle/>
                    <a:p>
                      <a:pPr algn="ctr"/>
                      <a:r>
                        <a:rPr lang="en-US" dirty="0">
                          <a:solidFill>
                            <a:schemeClr val="tx1"/>
                          </a:solidFill>
                        </a:rPr>
                        <a:t> </a:t>
                      </a:r>
                      <a:r>
                        <a:rPr lang="en-US" dirty="0" err="1">
                          <a:solidFill>
                            <a:schemeClr val="tx1"/>
                          </a:solidFill>
                        </a:rPr>
                        <a:t>o.v</a:t>
                      </a:r>
                      <a:r>
                        <a:rPr lang="en-US" dirty="0">
                          <a:solidFill>
                            <a:schemeClr val="tx1"/>
                          </a:solidFill>
                        </a:rPr>
                        <a:t> :  { 𝜎</a:t>
                      </a:r>
                      <a:r>
                        <a:rPr lang="en-US" baseline="-25000" dirty="0">
                          <a:solidFill>
                            <a:schemeClr val="tx1"/>
                          </a:solidFill>
                        </a:rPr>
                        <a:t>1</a:t>
                      </a:r>
                      <a:r>
                        <a:rPr lang="en-US" dirty="0">
                          <a:solidFill>
                            <a:schemeClr val="tx1"/>
                          </a:solidFill>
                        </a:rPr>
                        <a:t> }</a:t>
                      </a:r>
                    </a:p>
                  </a:txBody>
                  <a:tcPr>
                    <a:solidFill>
                      <a:schemeClr val="tx2">
                        <a:lumMod val="40000"/>
                        <a:lumOff val="60000"/>
                      </a:schemeClr>
                    </a:solidFill>
                  </a:tcPr>
                </a:tc>
                <a:extLst>
                  <a:ext uri="{0D108BD9-81ED-4DB2-BD59-A6C34878D82A}">
                    <a16:rowId xmlns:a16="http://schemas.microsoft.com/office/drawing/2014/main" val="10001"/>
                  </a:ext>
                </a:extLst>
              </a:tr>
              <a:tr h="370840">
                <a:tc vMerge="1">
                  <a:txBody>
                    <a:bodyPr/>
                    <a:lstStyle/>
                    <a:p>
                      <a:pPr algn="ctr"/>
                      <a:endParaRPr lang="en-US" dirty="0"/>
                    </a:p>
                  </a:txBody>
                  <a:tcPr/>
                </a:tc>
                <a:tc>
                  <a:txBody>
                    <a:bodyPr/>
                    <a:lstStyle/>
                    <a:p>
                      <a:pPr algn="ctr"/>
                      <a:r>
                        <a:rPr lang="en-US" dirty="0"/>
                        <a:t> B1</a:t>
                      </a:r>
                    </a:p>
                  </a:txBody>
                  <a:tcPr/>
                </a:tc>
                <a:tc>
                  <a:txBody>
                    <a:bodyPr/>
                    <a:lstStyle/>
                    <a:p>
                      <a:pPr algn="ctr"/>
                      <a:r>
                        <a:rPr lang="en-US" dirty="0"/>
                        <a:t>{ </a:t>
                      </a:r>
                      <a:r>
                        <a:rPr lang="en-US" dirty="0" err="1"/>
                        <a:t>o.u</a:t>
                      </a:r>
                      <a:r>
                        <a:rPr lang="en-US" baseline="0" dirty="0"/>
                        <a:t> }</a:t>
                      </a:r>
                      <a:endParaRPr lang="en-US" dirty="0"/>
                    </a:p>
                  </a:txBody>
                  <a:tcPr/>
                </a:tc>
                <a:tc>
                  <a:txBody>
                    <a:bodyPr/>
                    <a:lstStyle/>
                    <a:p>
                      <a:pPr algn="ctr"/>
                      <a:r>
                        <a:rPr lang="en-US" dirty="0" err="1">
                          <a:solidFill>
                            <a:schemeClr val="tx1"/>
                          </a:solidFill>
                        </a:rPr>
                        <a:t>o.u</a:t>
                      </a:r>
                      <a:r>
                        <a:rPr lang="en-US" dirty="0">
                          <a:solidFill>
                            <a:schemeClr val="tx1"/>
                          </a:solidFill>
                        </a:rPr>
                        <a:t> : {𝜏</a:t>
                      </a:r>
                      <a:r>
                        <a:rPr lang="en-US" baseline="-25000" dirty="0">
                          <a:solidFill>
                            <a:schemeClr val="tx1"/>
                          </a:solidFill>
                        </a:rPr>
                        <a:t>1</a:t>
                      </a:r>
                      <a:r>
                        <a:rPr lang="en-US" dirty="0">
                          <a:solidFill>
                            <a:schemeClr val="tx1"/>
                          </a:solidFill>
                        </a:rPr>
                        <a:t>,</a:t>
                      </a:r>
                      <a:r>
                        <a:rPr lang="en-US" baseline="0" dirty="0">
                          <a:solidFill>
                            <a:schemeClr val="tx1"/>
                          </a:solidFill>
                        </a:rPr>
                        <a:t> </a:t>
                      </a:r>
                      <a:r>
                        <a:rPr lang="en-US" dirty="0">
                          <a:solidFill>
                            <a:schemeClr val="tx1"/>
                          </a:solidFill>
                        </a:rPr>
                        <a:t>𝜏</a:t>
                      </a:r>
                      <a:r>
                        <a:rPr lang="en-US" baseline="-25000" dirty="0">
                          <a:solidFill>
                            <a:schemeClr val="tx1"/>
                          </a:solidFill>
                        </a:rPr>
                        <a:t>2</a:t>
                      </a:r>
                      <a:r>
                        <a:rPr lang="en-US" baseline="0" dirty="0">
                          <a:solidFill>
                            <a:schemeClr val="tx1"/>
                          </a:solidFill>
                        </a:rPr>
                        <a:t> }</a:t>
                      </a:r>
                      <a:endParaRPr lang="en-US" dirty="0">
                        <a:solidFill>
                          <a:schemeClr val="tx1"/>
                        </a:solidFill>
                      </a:endParaRPr>
                    </a:p>
                  </a:txBody>
                  <a:tcPr>
                    <a:solidFill>
                      <a:schemeClr val="tx2">
                        <a:lumMod val="40000"/>
                        <a:lumOff val="60000"/>
                      </a:schemeClr>
                    </a:solidFill>
                  </a:tcPr>
                </a:tc>
                <a:extLst>
                  <a:ext uri="{0D108BD9-81ED-4DB2-BD59-A6C34878D82A}">
                    <a16:rowId xmlns:a16="http://schemas.microsoft.com/office/drawing/2014/main" val="10002"/>
                  </a:ext>
                </a:extLst>
              </a:tr>
              <a:tr h="370840">
                <a:tc vMerge="1">
                  <a:txBody>
                    <a:bodyPr/>
                    <a:lstStyle/>
                    <a:p>
                      <a:pPr algn="ctr"/>
                      <a:endParaRPr lang="en-US" dirty="0"/>
                    </a:p>
                  </a:txBody>
                  <a:tcPr/>
                </a:tc>
                <a:tc>
                  <a:txBody>
                    <a:bodyPr/>
                    <a:lstStyle/>
                    <a:p>
                      <a:pPr algn="ctr"/>
                      <a:r>
                        <a:rPr lang="en-US" dirty="0"/>
                        <a:t>B2</a:t>
                      </a:r>
                    </a:p>
                  </a:txBody>
                  <a:tcPr/>
                </a:tc>
                <a:tc>
                  <a:txBody>
                    <a:bodyPr/>
                    <a:lstStyle/>
                    <a:p>
                      <a:pPr algn="ctr"/>
                      <a:r>
                        <a:rPr lang="en-US" dirty="0"/>
                        <a:t>{</a:t>
                      </a:r>
                      <a:r>
                        <a:rPr lang="en-US" baseline="0" dirty="0"/>
                        <a:t> </a:t>
                      </a:r>
                      <a:r>
                        <a:rPr lang="en-US" baseline="0" dirty="0" err="1"/>
                        <a:t>o.u</a:t>
                      </a:r>
                      <a:r>
                        <a:rPr lang="en-US" baseline="0" dirty="0"/>
                        <a:t> , </a:t>
                      </a:r>
                      <a:r>
                        <a:rPr lang="en-US" baseline="0" dirty="0" err="1"/>
                        <a:t>o.v</a:t>
                      </a:r>
                      <a:r>
                        <a:rPr lang="en-US" baseline="0" dirty="0"/>
                        <a:t> }</a:t>
                      </a:r>
                      <a:endParaRPr lang="en-US" dirty="0"/>
                    </a:p>
                  </a:txBody>
                  <a:tcPr/>
                </a:tc>
                <a:tc>
                  <a:txBody>
                    <a:bodyPr/>
                    <a:lstStyle/>
                    <a:p>
                      <a:pPr algn="ctr"/>
                      <a:r>
                        <a:rPr lang="en-US" dirty="0" err="1">
                          <a:solidFill>
                            <a:schemeClr val="tx1"/>
                          </a:solidFill>
                        </a:rPr>
                        <a:t>o.u</a:t>
                      </a:r>
                      <a:r>
                        <a:rPr lang="en-US" dirty="0">
                          <a:solidFill>
                            <a:schemeClr val="tx1"/>
                          </a:solidFill>
                        </a:rPr>
                        <a:t> : { 𝜋</a:t>
                      </a:r>
                      <a:r>
                        <a:rPr lang="en-US" baseline="-25000" dirty="0">
                          <a:solidFill>
                            <a:schemeClr val="tx1"/>
                          </a:solidFill>
                        </a:rPr>
                        <a:t>1</a:t>
                      </a:r>
                      <a:r>
                        <a:rPr lang="en-US" dirty="0">
                          <a:solidFill>
                            <a:schemeClr val="tx1"/>
                          </a:solidFill>
                        </a:rPr>
                        <a:t> } , </a:t>
                      </a:r>
                      <a:r>
                        <a:rPr lang="en-US" dirty="0" err="1">
                          <a:solidFill>
                            <a:schemeClr val="tx1"/>
                          </a:solidFill>
                        </a:rPr>
                        <a:t>o.v</a:t>
                      </a:r>
                      <a:r>
                        <a:rPr lang="en-US" dirty="0">
                          <a:solidFill>
                            <a:schemeClr val="tx1"/>
                          </a:solidFill>
                        </a:rPr>
                        <a:t> :{𝜋</a:t>
                      </a:r>
                      <a:r>
                        <a:rPr lang="en-US" baseline="-25000" dirty="0">
                          <a:solidFill>
                            <a:schemeClr val="tx1"/>
                          </a:solidFill>
                        </a:rPr>
                        <a:t>2, </a:t>
                      </a:r>
                      <a:r>
                        <a:rPr lang="en-US" dirty="0">
                          <a:solidFill>
                            <a:schemeClr val="tx1"/>
                          </a:solidFill>
                        </a:rPr>
                        <a:t>𝜋</a:t>
                      </a:r>
                      <a:r>
                        <a:rPr lang="en-US" baseline="-25000" dirty="0">
                          <a:solidFill>
                            <a:schemeClr val="tx1"/>
                          </a:solidFill>
                        </a:rPr>
                        <a:t>3</a:t>
                      </a:r>
                      <a:r>
                        <a:rPr lang="en-US" baseline="0" dirty="0">
                          <a:solidFill>
                            <a:schemeClr val="tx1"/>
                          </a:solidFill>
                        </a:rPr>
                        <a:t> }</a:t>
                      </a:r>
                    </a:p>
                  </a:txBody>
                  <a:tcPr>
                    <a:solidFill>
                      <a:schemeClr val="tx2">
                        <a:lumMod val="40000"/>
                        <a:lumOff val="60000"/>
                      </a:schemeClr>
                    </a:solidFill>
                  </a:tcPr>
                </a:tc>
                <a:extLst>
                  <a:ext uri="{0D108BD9-81ED-4DB2-BD59-A6C34878D82A}">
                    <a16:rowId xmlns:a16="http://schemas.microsoft.com/office/drawing/2014/main" val="10003"/>
                  </a:ext>
                </a:extLst>
              </a:tr>
              <a:tr h="370840">
                <a:tc>
                  <a:txBody>
                    <a:bodyPr/>
                    <a:lstStyle/>
                    <a:p>
                      <a:pPr algn="ctr"/>
                      <a:r>
                        <a:rPr lang="en-US" dirty="0"/>
                        <a:t>cs2</a:t>
                      </a:r>
                    </a:p>
                  </a:txBody>
                  <a:tcPr>
                    <a:solidFill>
                      <a:schemeClr val="accent5">
                        <a:lumMod val="40000"/>
                        <a:lumOff val="60000"/>
                      </a:schemeClr>
                    </a:solidFill>
                  </a:tcPr>
                </a:tc>
                <a:tc>
                  <a:txBody>
                    <a:bodyPr/>
                    <a:lstStyle/>
                    <a:p>
                      <a:pPr algn="ctr"/>
                      <a:r>
                        <a:rPr lang="en-US" dirty="0"/>
                        <a:t>B2</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dirty="0"/>
                        <a:t>{</a:t>
                      </a:r>
                      <a:r>
                        <a:rPr lang="en-US" baseline="0" dirty="0"/>
                        <a:t> </a:t>
                      </a:r>
                      <a:r>
                        <a:rPr lang="en-US" baseline="0" dirty="0" err="1"/>
                        <a:t>o.u</a:t>
                      </a:r>
                      <a:r>
                        <a:rPr lang="en-US" baseline="0" dirty="0"/>
                        <a:t> , </a:t>
                      </a:r>
                      <a:r>
                        <a:rPr lang="en-US" baseline="0" dirty="0" err="1"/>
                        <a:t>o.v</a:t>
                      </a:r>
                      <a:r>
                        <a:rPr lang="en-US" baseline="0" dirty="0"/>
                        <a:t> }</a:t>
                      </a:r>
                      <a:endParaRPr lang="en-US" dirty="0"/>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dirty="0" err="1">
                          <a:solidFill>
                            <a:schemeClr val="tx1"/>
                          </a:solidFill>
                        </a:rPr>
                        <a:t>o.u</a:t>
                      </a:r>
                      <a:r>
                        <a:rPr lang="en-US" dirty="0">
                          <a:solidFill>
                            <a:schemeClr val="tx1"/>
                          </a:solidFill>
                        </a:rPr>
                        <a:t> : { 𝜌</a:t>
                      </a:r>
                      <a:r>
                        <a:rPr lang="en-US" baseline="-25000" dirty="0">
                          <a:solidFill>
                            <a:schemeClr val="tx1"/>
                          </a:solidFill>
                        </a:rPr>
                        <a:t>1</a:t>
                      </a:r>
                      <a:r>
                        <a:rPr lang="en-US" dirty="0">
                          <a:solidFill>
                            <a:schemeClr val="tx1"/>
                          </a:solidFill>
                        </a:rPr>
                        <a:t> } , </a:t>
                      </a:r>
                      <a:r>
                        <a:rPr lang="en-US" dirty="0" err="1">
                          <a:solidFill>
                            <a:schemeClr val="tx1"/>
                          </a:solidFill>
                        </a:rPr>
                        <a:t>o.v</a:t>
                      </a:r>
                      <a:r>
                        <a:rPr lang="en-US" dirty="0">
                          <a:solidFill>
                            <a:schemeClr val="tx1"/>
                          </a:solidFill>
                        </a:rPr>
                        <a:t> :{𝜌</a:t>
                      </a:r>
                      <a:r>
                        <a:rPr lang="en-US" baseline="-25000" dirty="0">
                          <a:solidFill>
                            <a:schemeClr val="tx1"/>
                          </a:solidFill>
                        </a:rPr>
                        <a:t>2</a:t>
                      </a:r>
                      <a:r>
                        <a:rPr lang="en-US" dirty="0">
                          <a:solidFill>
                            <a:schemeClr val="tx1"/>
                          </a:solidFill>
                        </a:rPr>
                        <a:t>}</a:t>
                      </a:r>
                    </a:p>
                  </a:txBody>
                  <a:tcPr>
                    <a:solidFill>
                      <a:schemeClr val="tx2">
                        <a:lumMod val="40000"/>
                        <a:lumOff val="60000"/>
                      </a:schemeClr>
                    </a:solidFill>
                  </a:tcPr>
                </a:tc>
                <a:extLst>
                  <a:ext uri="{0D108BD9-81ED-4DB2-BD59-A6C34878D82A}">
                    <a16:rowId xmlns:a16="http://schemas.microsoft.com/office/drawing/2014/main" val="2872703372"/>
                  </a:ext>
                </a:extLst>
              </a:tr>
            </a:tbl>
          </a:graphicData>
        </a:graphic>
      </p:graphicFrame>
    </p:spTree>
    <p:extLst>
      <p:ext uri="{BB962C8B-B14F-4D97-AF65-F5344CB8AC3E}">
        <p14:creationId xmlns:p14="http://schemas.microsoft.com/office/powerpoint/2010/main" val="2393902144"/>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8914" name="Title 1"/>
          <p:cNvSpPr>
            <a:spLocks noGrp="1"/>
          </p:cNvSpPr>
          <p:nvPr>
            <p:ph type="title"/>
          </p:nvPr>
        </p:nvSpPr>
        <p:spPr/>
        <p:txBody>
          <a:bodyPr/>
          <a:lstStyle/>
          <a:p>
            <a:r>
              <a:rPr lang="en-US" sz="4000" dirty="0"/>
              <a:t>Indirect coupling test coverage criteria</a:t>
            </a:r>
          </a:p>
        </p:txBody>
      </p:sp>
      <p:sp>
        <p:nvSpPr>
          <p:cNvPr id="38915" name="Content Placeholder 2"/>
          <p:cNvSpPr>
            <a:spLocks noGrp="1"/>
          </p:cNvSpPr>
          <p:nvPr>
            <p:ph idx="1"/>
          </p:nvPr>
        </p:nvSpPr>
        <p:spPr>
          <a:xfrm>
            <a:off x="457200" y="3963402"/>
            <a:ext cx="8229600" cy="2751723"/>
          </a:xfrm>
        </p:spPr>
        <p:txBody>
          <a:bodyPr/>
          <a:lstStyle/>
          <a:p>
            <a:r>
              <a:rPr lang="en-US" sz="2400" dirty="0">
                <a:sym typeface="Wingdings" pitchFamily="2" charset="2"/>
              </a:rPr>
              <a:t>(Def 7.55) </a:t>
            </a:r>
            <a:r>
              <a:rPr lang="en-US" sz="2400" b="1" dirty="0">
                <a:sym typeface="Wingdings" pitchFamily="2" charset="2"/>
              </a:rPr>
              <a:t>All-Coupling-</a:t>
            </a:r>
            <a:r>
              <a:rPr lang="en-US" sz="2400" b="1" dirty="0" err="1">
                <a:sym typeface="Wingdings" pitchFamily="2" charset="2"/>
              </a:rPr>
              <a:t>Defs</a:t>
            </a:r>
            <a:r>
              <a:rPr lang="en-US" sz="2400" b="1" dirty="0">
                <a:sym typeface="Wingdings" pitchFamily="2" charset="2"/>
              </a:rPr>
              <a:t>-Uses</a:t>
            </a:r>
            <a:r>
              <a:rPr lang="en-US" sz="2400" dirty="0">
                <a:sym typeface="Wingdings" pitchFamily="2" charset="2"/>
              </a:rPr>
              <a:t> (ACDU): for </a:t>
            </a:r>
            <a:r>
              <a:rPr lang="en-US" sz="2400" b="1" dirty="0">
                <a:sym typeface="Wingdings" pitchFamily="2" charset="2"/>
              </a:rPr>
              <a:t>every coupling sequence</a:t>
            </a:r>
            <a:r>
              <a:rPr lang="en-US" sz="2400" dirty="0">
                <a:sym typeface="Wingdings" pitchFamily="2" charset="2"/>
              </a:rPr>
              <a:t> cs and </a:t>
            </a:r>
            <a:r>
              <a:rPr lang="en-US" sz="2400" b="1" dirty="0">
                <a:sym typeface="Wingdings" pitchFamily="2" charset="2"/>
              </a:rPr>
              <a:t>every coupling var </a:t>
            </a:r>
            <a:r>
              <a:rPr lang="en-US" sz="2400" b="1" i="1" dirty="0">
                <a:sym typeface="Wingdings" pitchFamily="2" charset="2"/>
              </a:rPr>
              <a:t>v</a:t>
            </a:r>
            <a:r>
              <a:rPr lang="en-US" sz="2400" dirty="0">
                <a:sym typeface="Wingdings" pitchFamily="2" charset="2"/>
              </a:rPr>
              <a:t> of </a:t>
            </a:r>
            <a:r>
              <a:rPr lang="en-US" sz="2400" i="1" dirty="0">
                <a:sym typeface="Wingdings" pitchFamily="2" charset="2"/>
              </a:rPr>
              <a:t>cs</a:t>
            </a:r>
            <a:r>
              <a:rPr lang="en-US" sz="2400" dirty="0">
                <a:sym typeface="Wingdings" pitchFamily="2" charset="2"/>
              </a:rPr>
              <a:t>, TR includes at least one of </a:t>
            </a:r>
            <a:r>
              <a:rPr lang="en-US" sz="2400" i="1" dirty="0">
                <a:sym typeface="Wingdings" pitchFamily="2" charset="2"/>
              </a:rPr>
              <a:t>v’s</a:t>
            </a:r>
            <a:r>
              <a:rPr lang="en-US" sz="2400" dirty="0">
                <a:sym typeface="Wingdings" pitchFamily="2" charset="2"/>
              </a:rPr>
              <a:t> coupling path.</a:t>
            </a:r>
          </a:p>
          <a:p>
            <a:r>
              <a:rPr lang="en-US" sz="2400" dirty="0">
                <a:sym typeface="Wingdings" pitchFamily="2" charset="2"/>
              </a:rPr>
              <a:t>(Def 7.56) </a:t>
            </a:r>
            <a:r>
              <a:rPr lang="en-US" sz="2400" b="1" dirty="0">
                <a:sym typeface="Wingdings" pitchFamily="2" charset="2"/>
              </a:rPr>
              <a:t>All-Poly-Coupling-</a:t>
            </a:r>
            <a:r>
              <a:rPr lang="en-US" sz="2400" b="1" dirty="0" err="1">
                <a:sym typeface="Wingdings" pitchFamily="2" charset="2"/>
              </a:rPr>
              <a:t>Defs</a:t>
            </a:r>
            <a:r>
              <a:rPr lang="en-US" sz="2400" b="1" dirty="0">
                <a:sym typeface="Wingdings" pitchFamily="2" charset="2"/>
              </a:rPr>
              <a:t>-Uses </a:t>
            </a:r>
            <a:r>
              <a:rPr lang="en-US" sz="2400" dirty="0">
                <a:sym typeface="Wingdings" pitchFamily="2" charset="2"/>
              </a:rPr>
              <a:t>(APCDU): for </a:t>
            </a:r>
            <a:r>
              <a:rPr lang="en-US" sz="2400" b="1" dirty="0">
                <a:sym typeface="Wingdings" pitchFamily="2" charset="2"/>
              </a:rPr>
              <a:t>every coupling sequence</a:t>
            </a:r>
            <a:r>
              <a:rPr lang="en-US" sz="2400" dirty="0">
                <a:sym typeface="Wingdings" pitchFamily="2" charset="2"/>
              </a:rPr>
              <a:t> cs and </a:t>
            </a:r>
            <a:r>
              <a:rPr lang="en-US" sz="2400" b="1" dirty="0">
                <a:sym typeface="Wingdings" pitchFamily="2" charset="2"/>
              </a:rPr>
              <a:t>every coupling var </a:t>
            </a:r>
            <a:r>
              <a:rPr lang="en-US" sz="2400" i="1" dirty="0">
                <a:sym typeface="Wingdings" pitchFamily="2" charset="2"/>
              </a:rPr>
              <a:t>v</a:t>
            </a:r>
            <a:r>
              <a:rPr lang="en-US" sz="2400" dirty="0">
                <a:sym typeface="Wingdings" pitchFamily="2" charset="2"/>
              </a:rPr>
              <a:t> of </a:t>
            </a:r>
            <a:r>
              <a:rPr lang="en-US" sz="2400" b="1" dirty="0">
                <a:sym typeface="Wingdings" pitchFamily="2" charset="2"/>
              </a:rPr>
              <a:t>every binding triple</a:t>
            </a:r>
            <a:r>
              <a:rPr lang="en-US" sz="2400" dirty="0">
                <a:sym typeface="Wingdings" pitchFamily="2" charset="2"/>
              </a:rPr>
              <a:t> of </a:t>
            </a:r>
            <a:r>
              <a:rPr lang="en-US" sz="2400" i="1" dirty="0">
                <a:sym typeface="Wingdings" pitchFamily="2" charset="2"/>
              </a:rPr>
              <a:t>cs, </a:t>
            </a:r>
            <a:r>
              <a:rPr lang="en-US" sz="2400" dirty="0">
                <a:sym typeface="Wingdings" pitchFamily="2" charset="2"/>
              </a:rPr>
              <a:t>TR includes at least one of </a:t>
            </a:r>
            <a:r>
              <a:rPr lang="en-US" sz="2400" i="1" dirty="0">
                <a:sym typeface="Wingdings" pitchFamily="2" charset="2"/>
              </a:rPr>
              <a:t>v’s</a:t>
            </a:r>
            <a:r>
              <a:rPr lang="en-US" sz="2400" dirty="0">
                <a:sym typeface="Wingdings" pitchFamily="2" charset="2"/>
              </a:rPr>
              <a:t> coupling path.</a:t>
            </a:r>
            <a:endParaRPr lang="en-US" sz="2400" dirty="0"/>
          </a:p>
        </p:txBody>
      </p:sp>
      <p:sp>
        <p:nvSpPr>
          <p:cNvPr id="4" name="Slide Number Placeholder 3"/>
          <p:cNvSpPr>
            <a:spLocks noGrp="1"/>
          </p:cNvSpPr>
          <p:nvPr>
            <p:ph type="sldNum" sz="quarter" idx="12"/>
          </p:nvPr>
        </p:nvSpPr>
        <p:spPr/>
        <p:txBody>
          <a:bodyPr/>
          <a:lstStyle/>
          <a:p>
            <a:pPr>
              <a:defRPr/>
            </a:pPr>
            <a:fld id="{B011B990-D7A5-42C8-82F6-BE26CEC71704}" type="slidenum">
              <a:rPr lang="en-US" smtClean="0"/>
              <a:pPr>
                <a:defRPr/>
              </a:pPr>
              <a:t>42</a:t>
            </a:fld>
            <a:endParaRPr lang="en-US"/>
          </a:p>
        </p:txBody>
      </p:sp>
      <p:sp>
        <p:nvSpPr>
          <p:cNvPr id="13" name="Rectangle 12"/>
          <p:cNvSpPr/>
          <p:nvPr/>
        </p:nvSpPr>
        <p:spPr>
          <a:xfrm>
            <a:off x="827584" y="1714500"/>
            <a:ext cx="785812" cy="428625"/>
          </a:xfrm>
          <a:prstGeom prst="rect">
            <a:avLst/>
          </a:prstGeom>
          <a:solidFill>
            <a:schemeClr val="accent1">
              <a:lumMod val="20000"/>
              <a:lumOff val="80000"/>
            </a:schemeClr>
          </a:solidFill>
        </p:spPr>
        <p:style>
          <a:lnRef idx="2">
            <a:schemeClr val="accent1"/>
          </a:lnRef>
          <a:fillRef idx="1">
            <a:schemeClr val="lt1"/>
          </a:fillRef>
          <a:effectRef idx="0">
            <a:schemeClr val="accent1"/>
          </a:effectRef>
          <a:fontRef idx="minor">
            <a:schemeClr val="dk1"/>
          </a:fontRef>
        </p:style>
        <p:txBody>
          <a:bodyPr anchor="ctr"/>
          <a:lstStyle/>
          <a:p>
            <a:pPr algn="ctr">
              <a:defRPr/>
            </a:pPr>
            <a:r>
              <a:rPr lang="en-US" sz="2400" b="1" dirty="0"/>
              <a:t>A</a:t>
            </a:r>
          </a:p>
        </p:txBody>
      </p:sp>
      <p:sp>
        <p:nvSpPr>
          <p:cNvPr id="14" name="Rectangle 13"/>
          <p:cNvSpPr/>
          <p:nvPr/>
        </p:nvSpPr>
        <p:spPr>
          <a:xfrm>
            <a:off x="827584" y="2428875"/>
            <a:ext cx="785812" cy="428625"/>
          </a:xfrm>
          <a:prstGeom prst="rect">
            <a:avLst/>
          </a:prstGeom>
          <a:solidFill>
            <a:schemeClr val="accent1">
              <a:lumMod val="20000"/>
              <a:lumOff val="80000"/>
            </a:schemeClr>
          </a:solidFill>
        </p:spPr>
        <p:style>
          <a:lnRef idx="2">
            <a:schemeClr val="accent1"/>
          </a:lnRef>
          <a:fillRef idx="1">
            <a:schemeClr val="lt1"/>
          </a:fillRef>
          <a:effectRef idx="0">
            <a:schemeClr val="accent1"/>
          </a:effectRef>
          <a:fontRef idx="minor">
            <a:schemeClr val="dk1"/>
          </a:fontRef>
        </p:style>
        <p:txBody>
          <a:bodyPr anchor="ctr"/>
          <a:lstStyle/>
          <a:p>
            <a:pPr algn="ctr">
              <a:defRPr/>
            </a:pPr>
            <a:r>
              <a:rPr lang="en-US" sz="2400" b="1" dirty="0"/>
              <a:t>B1</a:t>
            </a:r>
          </a:p>
        </p:txBody>
      </p:sp>
      <p:sp>
        <p:nvSpPr>
          <p:cNvPr id="15" name="Rectangle 14"/>
          <p:cNvSpPr/>
          <p:nvPr/>
        </p:nvSpPr>
        <p:spPr>
          <a:xfrm>
            <a:off x="827584" y="3143250"/>
            <a:ext cx="785812" cy="428625"/>
          </a:xfrm>
          <a:prstGeom prst="rect">
            <a:avLst/>
          </a:prstGeom>
          <a:solidFill>
            <a:schemeClr val="accent1">
              <a:lumMod val="20000"/>
              <a:lumOff val="80000"/>
            </a:schemeClr>
          </a:solidFill>
        </p:spPr>
        <p:style>
          <a:lnRef idx="2">
            <a:schemeClr val="accent1"/>
          </a:lnRef>
          <a:fillRef idx="1">
            <a:schemeClr val="lt1"/>
          </a:fillRef>
          <a:effectRef idx="0">
            <a:schemeClr val="accent1"/>
          </a:effectRef>
          <a:fontRef idx="minor">
            <a:schemeClr val="dk1"/>
          </a:fontRef>
        </p:style>
        <p:txBody>
          <a:bodyPr anchor="ctr"/>
          <a:lstStyle/>
          <a:p>
            <a:pPr algn="ctr">
              <a:defRPr/>
            </a:pPr>
            <a:r>
              <a:rPr lang="en-US" sz="2400" b="1" dirty="0"/>
              <a:t>B2</a:t>
            </a:r>
          </a:p>
        </p:txBody>
      </p:sp>
      <p:sp>
        <p:nvSpPr>
          <p:cNvPr id="16" name="Isosceles Triangle 15"/>
          <p:cNvSpPr/>
          <p:nvPr/>
        </p:nvSpPr>
        <p:spPr>
          <a:xfrm>
            <a:off x="1113334" y="2143125"/>
            <a:ext cx="214312" cy="142875"/>
          </a:xfrm>
          <a:prstGeom prst="triangle">
            <a:avLst/>
          </a:prstGeom>
        </p:spPr>
        <p:style>
          <a:lnRef idx="2">
            <a:schemeClr val="dk1"/>
          </a:lnRef>
          <a:fillRef idx="1">
            <a:schemeClr val="lt1"/>
          </a:fillRef>
          <a:effectRef idx="0">
            <a:schemeClr val="dk1"/>
          </a:effectRef>
          <a:fontRef idx="minor">
            <a:schemeClr val="dk1"/>
          </a:fontRef>
        </p:style>
        <p:txBody>
          <a:bodyPr anchor="ctr"/>
          <a:lstStyle/>
          <a:p>
            <a:pPr algn="ctr">
              <a:defRPr/>
            </a:pPr>
            <a:endParaRPr lang="en-US"/>
          </a:p>
        </p:txBody>
      </p:sp>
      <p:cxnSp>
        <p:nvCxnSpPr>
          <p:cNvPr id="17" name="Straight Connector 16"/>
          <p:cNvCxnSpPr>
            <a:stCxn id="14" idx="0"/>
            <a:endCxn id="16" idx="3"/>
          </p:cNvCxnSpPr>
          <p:nvPr/>
        </p:nvCxnSpPr>
        <p:spPr>
          <a:xfrm rot="5400000" flipH="1" flipV="1">
            <a:off x="1149052" y="2356644"/>
            <a:ext cx="142875" cy="1588"/>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
        <p:nvSpPr>
          <p:cNvPr id="18" name="Isosceles Triangle 17"/>
          <p:cNvSpPr/>
          <p:nvPr/>
        </p:nvSpPr>
        <p:spPr>
          <a:xfrm>
            <a:off x="1113334" y="2857500"/>
            <a:ext cx="214312" cy="142875"/>
          </a:xfrm>
          <a:prstGeom prst="triangle">
            <a:avLst/>
          </a:prstGeom>
        </p:spPr>
        <p:style>
          <a:lnRef idx="2">
            <a:schemeClr val="dk1"/>
          </a:lnRef>
          <a:fillRef idx="1">
            <a:schemeClr val="lt1"/>
          </a:fillRef>
          <a:effectRef idx="0">
            <a:schemeClr val="dk1"/>
          </a:effectRef>
          <a:fontRef idx="minor">
            <a:schemeClr val="dk1"/>
          </a:fontRef>
        </p:style>
        <p:txBody>
          <a:bodyPr anchor="ctr"/>
          <a:lstStyle/>
          <a:p>
            <a:pPr algn="ctr">
              <a:defRPr/>
            </a:pPr>
            <a:endParaRPr lang="en-US"/>
          </a:p>
        </p:txBody>
      </p:sp>
      <p:cxnSp>
        <p:nvCxnSpPr>
          <p:cNvPr id="19" name="Straight Connector 18"/>
          <p:cNvCxnSpPr>
            <a:stCxn id="15" idx="0"/>
            <a:endCxn id="18" idx="3"/>
          </p:cNvCxnSpPr>
          <p:nvPr/>
        </p:nvCxnSpPr>
        <p:spPr>
          <a:xfrm rot="5400000" flipH="1" flipV="1">
            <a:off x="1149052" y="3071019"/>
            <a:ext cx="142875" cy="1588"/>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graphicFrame>
        <p:nvGraphicFramePr>
          <p:cNvPr id="20" name="Table 19">
            <a:extLst>
              <a:ext uri="{FF2B5EF4-FFF2-40B4-BE49-F238E27FC236}">
                <a16:creationId xmlns:a16="http://schemas.microsoft.com/office/drawing/2014/main" id="{231B9A9D-A06F-0D46-BC2D-B3FE6EF9C582}"/>
              </a:ext>
            </a:extLst>
          </p:cNvPr>
          <p:cNvGraphicFramePr>
            <a:graphicFrameLocks noGrp="1"/>
          </p:cNvGraphicFramePr>
          <p:nvPr>
            <p:extLst>
              <p:ext uri="{D42A27DB-BD31-4B8C-83A1-F6EECF244321}">
                <p14:modId xmlns:p14="http://schemas.microsoft.com/office/powerpoint/2010/main" val="207919563"/>
              </p:ext>
            </p:extLst>
          </p:nvPr>
        </p:nvGraphicFramePr>
        <p:xfrm>
          <a:off x="2059037" y="1628800"/>
          <a:ext cx="6329387" cy="2123440"/>
        </p:xfrm>
        <a:graphic>
          <a:graphicData uri="http://schemas.openxmlformats.org/drawingml/2006/table">
            <a:tbl>
              <a:tblPr firstRow="1" bandRow="1">
                <a:tableStyleId>{5C22544A-7EE6-4342-B048-85BDC9FD1C3A}</a:tableStyleId>
              </a:tblPr>
              <a:tblGrid>
                <a:gridCol w="1277812">
                  <a:extLst>
                    <a:ext uri="{9D8B030D-6E8A-4147-A177-3AD203B41FA5}">
                      <a16:colId xmlns:a16="http://schemas.microsoft.com/office/drawing/2014/main" val="20000"/>
                    </a:ext>
                  </a:extLst>
                </a:gridCol>
                <a:gridCol w="1195742">
                  <a:extLst>
                    <a:ext uri="{9D8B030D-6E8A-4147-A177-3AD203B41FA5}">
                      <a16:colId xmlns:a16="http://schemas.microsoft.com/office/drawing/2014/main" val="20001"/>
                    </a:ext>
                  </a:extLst>
                </a:gridCol>
                <a:gridCol w="1407561">
                  <a:extLst>
                    <a:ext uri="{9D8B030D-6E8A-4147-A177-3AD203B41FA5}">
                      <a16:colId xmlns:a16="http://schemas.microsoft.com/office/drawing/2014/main" val="20002"/>
                    </a:ext>
                  </a:extLst>
                </a:gridCol>
                <a:gridCol w="2448272">
                  <a:extLst>
                    <a:ext uri="{9D8B030D-6E8A-4147-A177-3AD203B41FA5}">
                      <a16:colId xmlns:a16="http://schemas.microsoft.com/office/drawing/2014/main" val="20003"/>
                    </a:ext>
                  </a:extLst>
                </a:gridCol>
              </a:tblGrid>
              <a:tr h="370840">
                <a:tc>
                  <a:txBody>
                    <a:bodyPr/>
                    <a:lstStyle/>
                    <a:p>
                      <a:pPr algn="ctr"/>
                      <a:r>
                        <a:rPr lang="en-US" dirty="0"/>
                        <a:t>coupling </a:t>
                      </a:r>
                      <a:r>
                        <a:rPr lang="en-US" baseline="0" dirty="0"/>
                        <a:t>seq. in f</a:t>
                      </a:r>
                      <a:endParaRPr lang="en-US" dirty="0"/>
                    </a:p>
                  </a:txBody>
                  <a:tcPr/>
                </a:tc>
                <a:tc>
                  <a:txBody>
                    <a:bodyPr/>
                    <a:lstStyle/>
                    <a:p>
                      <a:pPr algn="ctr"/>
                      <a:r>
                        <a:rPr lang="en-US" dirty="0"/>
                        <a:t>type(o)</a:t>
                      </a:r>
                    </a:p>
                  </a:txBody>
                  <a:tcPr/>
                </a:tc>
                <a:tc>
                  <a:txBody>
                    <a:bodyPr/>
                    <a:lstStyle/>
                    <a:p>
                      <a:pPr algn="ctr"/>
                      <a:r>
                        <a:rPr lang="en-US" dirty="0"/>
                        <a:t>coupling</a:t>
                      </a:r>
                      <a:r>
                        <a:rPr lang="en-US" baseline="0" dirty="0"/>
                        <a:t> </a:t>
                      </a:r>
                      <a:r>
                        <a:rPr lang="en-US" baseline="0" dirty="0" err="1"/>
                        <a:t>vars</a:t>
                      </a:r>
                      <a:endParaRPr lang="en-US" dirty="0"/>
                    </a:p>
                  </a:txBody>
                  <a:tcPr/>
                </a:tc>
                <a:tc>
                  <a:txBody>
                    <a:bodyPr/>
                    <a:lstStyle/>
                    <a:p>
                      <a:pPr algn="ctr"/>
                      <a:r>
                        <a:rPr lang="en-US" dirty="0">
                          <a:solidFill>
                            <a:schemeClr val="tx1"/>
                          </a:solidFill>
                        </a:rPr>
                        <a:t>coupling paths</a:t>
                      </a:r>
                    </a:p>
                  </a:txBody>
                  <a:tcPr>
                    <a:solidFill>
                      <a:schemeClr val="tx2">
                        <a:lumMod val="40000"/>
                        <a:lumOff val="60000"/>
                      </a:schemeClr>
                    </a:solidFill>
                  </a:tcPr>
                </a:tc>
                <a:extLst>
                  <a:ext uri="{0D108BD9-81ED-4DB2-BD59-A6C34878D82A}">
                    <a16:rowId xmlns:a16="http://schemas.microsoft.com/office/drawing/2014/main" val="10000"/>
                  </a:ext>
                </a:extLst>
              </a:tr>
              <a:tr h="370840">
                <a:tc rowSpan="3">
                  <a:txBody>
                    <a:bodyPr/>
                    <a:lstStyle/>
                    <a:p>
                      <a:pPr algn="ctr"/>
                      <a:endParaRPr lang="en-US" dirty="0"/>
                    </a:p>
                    <a:p>
                      <a:pPr algn="ctr"/>
                      <a:r>
                        <a:rPr lang="en-US" dirty="0"/>
                        <a:t>cs1</a:t>
                      </a:r>
                    </a:p>
                  </a:txBody>
                  <a:tcPr>
                    <a:solidFill>
                      <a:schemeClr val="accent5">
                        <a:lumMod val="20000"/>
                        <a:lumOff val="80000"/>
                      </a:schemeClr>
                    </a:solidFill>
                  </a:tcPr>
                </a:tc>
                <a:tc>
                  <a:txBody>
                    <a:bodyPr/>
                    <a:lstStyle/>
                    <a:p>
                      <a:pPr algn="ctr"/>
                      <a:r>
                        <a:rPr lang="en-US" dirty="0"/>
                        <a:t>A</a:t>
                      </a:r>
                    </a:p>
                  </a:txBody>
                  <a:tcPr/>
                </a:tc>
                <a:tc>
                  <a:txBody>
                    <a:bodyPr/>
                    <a:lstStyle/>
                    <a:p>
                      <a:pPr algn="ctr"/>
                      <a:r>
                        <a:rPr lang="en-US" dirty="0"/>
                        <a:t>{ </a:t>
                      </a:r>
                      <a:r>
                        <a:rPr lang="en-US" dirty="0" err="1"/>
                        <a:t>o.v</a:t>
                      </a:r>
                      <a:r>
                        <a:rPr lang="en-US" baseline="0" dirty="0"/>
                        <a:t> }</a:t>
                      </a:r>
                      <a:endParaRPr lang="en-US" dirty="0"/>
                    </a:p>
                  </a:txBody>
                  <a:tcPr/>
                </a:tc>
                <a:tc>
                  <a:txBody>
                    <a:bodyPr/>
                    <a:lstStyle/>
                    <a:p>
                      <a:pPr algn="ctr"/>
                      <a:r>
                        <a:rPr lang="en-US" dirty="0">
                          <a:solidFill>
                            <a:schemeClr val="tx1"/>
                          </a:solidFill>
                        </a:rPr>
                        <a:t> </a:t>
                      </a:r>
                      <a:r>
                        <a:rPr lang="en-US" dirty="0" err="1">
                          <a:solidFill>
                            <a:schemeClr val="tx1"/>
                          </a:solidFill>
                        </a:rPr>
                        <a:t>o.v</a:t>
                      </a:r>
                      <a:r>
                        <a:rPr lang="en-US" dirty="0">
                          <a:solidFill>
                            <a:schemeClr val="tx1"/>
                          </a:solidFill>
                        </a:rPr>
                        <a:t> :  { 𝜎</a:t>
                      </a:r>
                      <a:r>
                        <a:rPr lang="en-US" baseline="-25000" dirty="0">
                          <a:solidFill>
                            <a:schemeClr val="tx1"/>
                          </a:solidFill>
                        </a:rPr>
                        <a:t>1</a:t>
                      </a:r>
                      <a:r>
                        <a:rPr lang="en-US" dirty="0">
                          <a:solidFill>
                            <a:schemeClr val="tx1"/>
                          </a:solidFill>
                        </a:rPr>
                        <a:t> }</a:t>
                      </a:r>
                    </a:p>
                  </a:txBody>
                  <a:tcPr>
                    <a:solidFill>
                      <a:schemeClr val="tx2">
                        <a:lumMod val="40000"/>
                        <a:lumOff val="60000"/>
                      </a:schemeClr>
                    </a:solidFill>
                  </a:tcPr>
                </a:tc>
                <a:extLst>
                  <a:ext uri="{0D108BD9-81ED-4DB2-BD59-A6C34878D82A}">
                    <a16:rowId xmlns:a16="http://schemas.microsoft.com/office/drawing/2014/main" val="10001"/>
                  </a:ext>
                </a:extLst>
              </a:tr>
              <a:tr h="370840">
                <a:tc vMerge="1">
                  <a:txBody>
                    <a:bodyPr/>
                    <a:lstStyle/>
                    <a:p>
                      <a:pPr algn="ctr"/>
                      <a:endParaRPr lang="en-US" dirty="0"/>
                    </a:p>
                  </a:txBody>
                  <a:tcPr/>
                </a:tc>
                <a:tc>
                  <a:txBody>
                    <a:bodyPr/>
                    <a:lstStyle/>
                    <a:p>
                      <a:pPr algn="ctr"/>
                      <a:r>
                        <a:rPr lang="en-US" dirty="0"/>
                        <a:t> B1</a:t>
                      </a:r>
                    </a:p>
                  </a:txBody>
                  <a:tcPr/>
                </a:tc>
                <a:tc>
                  <a:txBody>
                    <a:bodyPr/>
                    <a:lstStyle/>
                    <a:p>
                      <a:pPr algn="ctr"/>
                      <a:r>
                        <a:rPr lang="en-US" dirty="0"/>
                        <a:t>{ </a:t>
                      </a:r>
                      <a:r>
                        <a:rPr lang="en-US" dirty="0" err="1"/>
                        <a:t>o.u</a:t>
                      </a:r>
                      <a:r>
                        <a:rPr lang="en-US" baseline="0" dirty="0"/>
                        <a:t> }</a:t>
                      </a:r>
                      <a:endParaRPr lang="en-US" dirty="0"/>
                    </a:p>
                  </a:txBody>
                  <a:tcPr/>
                </a:tc>
                <a:tc>
                  <a:txBody>
                    <a:bodyPr/>
                    <a:lstStyle/>
                    <a:p>
                      <a:pPr algn="ctr"/>
                      <a:r>
                        <a:rPr lang="en-US" dirty="0" err="1">
                          <a:solidFill>
                            <a:schemeClr val="tx1"/>
                          </a:solidFill>
                        </a:rPr>
                        <a:t>o.u</a:t>
                      </a:r>
                      <a:r>
                        <a:rPr lang="en-US" dirty="0">
                          <a:solidFill>
                            <a:schemeClr val="tx1"/>
                          </a:solidFill>
                        </a:rPr>
                        <a:t> : {𝜏</a:t>
                      </a:r>
                      <a:r>
                        <a:rPr lang="en-US" baseline="-25000" dirty="0">
                          <a:solidFill>
                            <a:schemeClr val="tx1"/>
                          </a:solidFill>
                        </a:rPr>
                        <a:t>1</a:t>
                      </a:r>
                      <a:r>
                        <a:rPr lang="en-US" dirty="0">
                          <a:solidFill>
                            <a:schemeClr val="tx1"/>
                          </a:solidFill>
                        </a:rPr>
                        <a:t>,</a:t>
                      </a:r>
                      <a:r>
                        <a:rPr lang="en-US" baseline="0" dirty="0">
                          <a:solidFill>
                            <a:schemeClr val="tx1"/>
                          </a:solidFill>
                        </a:rPr>
                        <a:t> </a:t>
                      </a:r>
                      <a:r>
                        <a:rPr lang="en-US" dirty="0">
                          <a:solidFill>
                            <a:schemeClr val="tx1"/>
                          </a:solidFill>
                        </a:rPr>
                        <a:t>𝜏</a:t>
                      </a:r>
                      <a:r>
                        <a:rPr lang="en-US" baseline="-25000" dirty="0">
                          <a:solidFill>
                            <a:schemeClr val="tx1"/>
                          </a:solidFill>
                        </a:rPr>
                        <a:t>2</a:t>
                      </a:r>
                      <a:r>
                        <a:rPr lang="en-US" baseline="0" dirty="0">
                          <a:solidFill>
                            <a:schemeClr val="tx1"/>
                          </a:solidFill>
                        </a:rPr>
                        <a:t> }</a:t>
                      </a:r>
                      <a:endParaRPr lang="en-US" dirty="0">
                        <a:solidFill>
                          <a:schemeClr val="tx1"/>
                        </a:solidFill>
                      </a:endParaRPr>
                    </a:p>
                  </a:txBody>
                  <a:tcPr>
                    <a:solidFill>
                      <a:schemeClr val="tx2">
                        <a:lumMod val="40000"/>
                        <a:lumOff val="60000"/>
                      </a:schemeClr>
                    </a:solidFill>
                  </a:tcPr>
                </a:tc>
                <a:extLst>
                  <a:ext uri="{0D108BD9-81ED-4DB2-BD59-A6C34878D82A}">
                    <a16:rowId xmlns:a16="http://schemas.microsoft.com/office/drawing/2014/main" val="10002"/>
                  </a:ext>
                </a:extLst>
              </a:tr>
              <a:tr h="370840">
                <a:tc vMerge="1">
                  <a:txBody>
                    <a:bodyPr/>
                    <a:lstStyle/>
                    <a:p>
                      <a:pPr algn="ctr"/>
                      <a:endParaRPr lang="en-US" dirty="0"/>
                    </a:p>
                  </a:txBody>
                  <a:tcPr/>
                </a:tc>
                <a:tc>
                  <a:txBody>
                    <a:bodyPr/>
                    <a:lstStyle/>
                    <a:p>
                      <a:pPr algn="ctr"/>
                      <a:r>
                        <a:rPr lang="en-US" dirty="0"/>
                        <a:t>B2</a:t>
                      </a:r>
                    </a:p>
                  </a:txBody>
                  <a:tcPr/>
                </a:tc>
                <a:tc>
                  <a:txBody>
                    <a:bodyPr/>
                    <a:lstStyle/>
                    <a:p>
                      <a:pPr algn="ctr"/>
                      <a:r>
                        <a:rPr lang="en-US" dirty="0"/>
                        <a:t>{</a:t>
                      </a:r>
                      <a:r>
                        <a:rPr lang="en-US" baseline="0" dirty="0"/>
                        <a:t> </a:t>
                      </a:r>
                      <a:r>
                        <a:rPr lang="en-US" baseline="0" dirty="0" err="1"/>
                        <a:t>o.u</a:t>
                      </a:r>
                      <a:r>
                        <a:rPr lang="en-US" baseline="0" dirty="0"/>
                        <a:t> , </a:t>
                      </a:r>
                      <a:r>
                        <a:rPr lang="en-US" baseline="0" dirty="0" err="1"/>
                        <a:t>o.v</a:t>
                      </a:r>
                      <a:r>
                        <a:rPr lang="en-US" baseline="0" dirty="0"/>
                        <a:t> }</a:t>
                      </a:r>
                      <a:endParaRPr lang="en-US" dirty="0"/>
                    </a:p>
                  </a:txBody>
                  <a:tcPr/>
                </a:tc>
                <a:tc>
                  <a:txBody>
                    <a:bodyPr/>
                    <a:lstStyle/>
                    <a:p>
                      <a:pPr algn="ctr"/>
                      <a:r>
                        <a:rPr lang="en-US" dirty="0" err="1">
                          <a:solidFill>
                            <a:schemeClr val="tx1"/>
                          </a:solidFill>
                        </a:rPr>
                        <a:t>o.u</a:t>
                      </a:r>
                      <a:r>
                        <a:rPr lang="en-US" dirty="0">
                          <a:solidFill>
                            <a:schemeClr val="tx1"/>
                          </a:solidFill>
                        </a:rPr>
                        <a:t> : { 𝜋</a:t>
                      </a:r>
                      <a:r>
                        <a:rPr lang="en-US" baseline="-25000" dirty="0">
                          <a:solidFill>
                            <a:schemeClr val="tx1"/>
                          </a:solidFill>
                        </a:rPr>
                        <a:t>1</a:t>
                      </a:r>
                      <a:r>
                        <a:rPr lang="en-US" dirty="0">
                          <a:solidFill>
                            <a:schemeClr val="tx1"/>
                          </a:solidFill>
                        </a:rPr>
                        <a:t> } , </a:t>
                      </a:r>
                      <a:r>
                        <a:rPr lang="en-US" dirty="0" err="1">
                          <a:solidFill>
                            <a:schemeClr val="tx1"/>
                          </a:solidFill>
                        </a:rPr>
                        <a:t>o.v</a:t>
                      </a:r>
                      <a:r>
                        <a:rPr lang="en-US" dirty="0">
                          <a:solidFill>
                            <a:schemeClr val="tx1"/>
                          </a:solidFill>
                        </a:rPr>
                        <a:t> :{𝜋</a:t>
                      </a:r>
                      <a:r>
                        <a:rPr lang="en-US" baseline="-25000" dirty="0">
                          <a:solidFill>
                            <a:schemeClr val="tx1"/>
                          </a:solidFill>
                        </a:rPr>
                        <a:t>2 , </a:t>
                      </a:r>
                      <a:r>
                        <a:rPr lang="en-US" dirty="0">
                          <a:solidFill>
                            <a:schemeClr val="tx1"/>
                          </a:solidFill>
                        </a:rPr>
                        <a:t>𝜋</a:t>
                      </a:r>
                      <a:r>
                        <a:rPr lang="en-US" baseline="-25000" dirty="0">
                          <a:solidFill>
                            <a:schemeClr val="tx1"/>
                          </a:solidFill>
                        </a:rPr>
                        <a:t>3</a:t>
                      </a:r>
                      <a:r>
                        <a:rPr lang="en-US" dirty="0">
                          <a:solidFill>
                            <a:schemeClr val="tx1"/>
                          </a:solidFill>
                        </a:rPr>
                        <a:t>}</a:t>
                      </a:r>
                    </a:p>
                  </a:txBody>
                  <a:tcPr>
                    <a:solidFill>
                      <a:schemeClr val="tx2">
                        <a:lumMod val="40000"/>
                        <a:lumOff val="60000"/>
                      </a:schemeClr>
                    </a:solidFill>
                  </a:tcPr>
                </a:tc>
                <a:extLst>
                  <a:ext uri="{0D108BD9-81ED-4DB2-BD59-A6C34878D82A}">
                    <a16:rowId xmlns:a16="http://schemas.microsoft.com/office/drawing/2014/main" val="10003"/>
                  </a:ext>
                </a:extLst>
              </a:tr>
              <a:tr h="370840">
                <a:tc>
                  <a:txBody>
                    <a:bodyPr/>
                    <a:lstStyle/>
                    <a:p>
                      <a:pPr algn="ctr"/>
                      <a:r>
                        <a:rPr lang="en-US" dirty="0"/>
                        <a:t>cs2</a:t>
                      </a:r>
                    </a:p>
                  </a:txBody>
                  <a:tcPr>
                    <a:solidFill>
                      <a:schemeClr val="accent5">
                        <a:lumMod val="40000"/>
                        <a:lumOff val="60000"/>
                      </a:schemeClr>
                    </a:solidFill>
                  </a:tcPr>
                </a:tc>
                <a:tc>
                  <a:txBody>
                    <a:bodyPr/>
                    <a:lstStyle/>
                    <a:p>
                      <a:pPr algn="ctr"/>
                      <a:r>
                        <a:rPr lang="en-US" dirty="0"/>
                        <a:t>B2</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dirty="0"/>
                        <a:t>{</a:t>
                      </a:r>
                      <a:r>
                        <a:rPr lang="en-US" baseline="0" dirty="0"/>
                        <a:t> </a:t>
                      </a:r>
                      <a:r>
                        <a:rPr lang="en-US" baseline="0" dirty="0" err="1"/>
                        <a:t>o.u</a:t>
                      </a:r>
                      <a:r>
                        <a:rPr lang="en-US" baseline="0" dirty="0"/>
                        <a:t> , </a:t>
                      </a:r>
                      <a:r>
                        <a:rPr lang="en-US" baseline="0" dirty="0" err="1"/>
                        <a:t>o.v</a:t>
                      </a:r>
                      <a:r>
                        <a:rPr lang="en-US" baseline="0" dirty="0"/>
                        <a:t> }</a:t>
                      </a:r>
                      <a:endParaRPr lang="en-US" dirty="0"/>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dirty="0" err="1">
                          <a:solidFill>
                            <a:schemeClr val="tx1"/>
                          </a:solidFill>
                        </a:rPr>
                        <a:t>o.u</a:t>
                      </a:r>
                      <a:r>
                        <a:rPr lang="en-US" dirty="0">
                          <a:solidFill>
                            <a:schemeClr val="tx1"/>
                          </a:solidFill>
                        </a:rPr>
                        <a:t> : { 𝜌</a:t>
                      </a:r>
                      <a:r>
                        <a:rPr lang="en-US" baseline="-25000" dirty="0">
                          <a:solidFill>
                            <a:schemeClr val="tx1"/>
                          </a:solidFill>
                        </a:rPr>
                        <a:t>1</a:t>
                      </a:r>
                      <a:r>
                        <a:rPr lang="en-US" dirty="0">
                          <a:solidFill>
                            <a:schemeClr val="tx1"/>
                          </a:solidFill>
                        </a:rPr>
                        <a:t> } , </a:t>
                      </a:r>
                      <a:r>
                        <a:rPr lang="en-US" dirty="0" err="1">
                          <a:solidFill>
                            <a:schemeClr val="tx1"/>
                          </a:solidFill>
                        </a:rPr>
                        <a:t>o.v</a:t>
                      </a:r>
                      <a:r>
                        <a:rPr lang="en-US" dirty="0">
                          <a:solidFill>
                            <a:schemeClr val="tx1"/>
                          </a:solidFill>
                        </a:rPr>
                        <a:t> :{𝜌</a:t>
                      </a:r>
                      <a:r>
                        <a:rPr lang="en-US" baseline="-25000" dirty="0">
                          <a:solidFill>
                            <a:schemeClr val="tx1"/>
                          </a:solidFill>
                        </a:rPr>
                        <a:t>2</a:t>
                      </a:r>
                      <a:r>
                        <a:rPr lang="en-US" dirty="0">
                          <a:solidFill>
                            <a:schemeClr val="tx1"/>
                          </a:solidFill>
                        </a:rPr>
                        <a:t>}</a:t>
                      </a:r>
                    </a:p>
                  </a:txBody>
                  <a:tcPr>
                    <a:solidFill>
                      <a:schemeClr val="tx2">
                        <a:lumMod val="40000"/>
                        <a:lumOff val="60000"/>
                      </a:schemeClr>
                    </a:solidFill>
                  </a:tcPr>
                </a:tc>
                <a:extLst>
                  <a:ext uri="{0D108BD9-81ED-4DB2-BD59-A6C34878D82A}">
                    <a16:rowId xmlns:a16="http://schemas.microsoft.com/office/drawing/2014/main" val="2872703372"/>
                  </a:ext>
                </a:extLst>
              </a:tr>
            </a:tbl>
          </a:graphicData>
        </a:graphic>
      </p:graphicFrame>
    </p:spTree>
  </p:cSld>
  <p:clrMapOvr>
    <a:masterClrMapping/>
  </p:clrMapOvr>
</p:sld>
</file>

<file path=ppt/theme/theme1.xml><?xml version="1.0" encoding="utf-8"?>
<a:theme xmlns:a="http://schemas.openxmlformats.org/drawingml/2006/main" name="organization">
  <a:themeElements>
    <a:clrScheme name="Verve">
      <a:dk1>
        <a:sysClr val="windowText" lastClr="000000"/>
      </a:dk1>
      <a:lt1>
        <a:sysClr val="window" lastClr="FFFFFF"/>
      </a:lt1>
      <a:dk2>
        <a:srgbClr val="666666"/>
      </a:dk2>
      <a:lt2>
        <a:srgbClr val="D2D2D2"/>
      </a:lt2>
      <a:accent1>
        <a:srgbClr val="FF388C"/>
      </a:accent1>
      <a:accent2>
        <a:srgbClr val="E40059"/>
      </a:accent2>
      <a:accent3>
        <a:srgbClr val="9C007F"/>
      </a:accent3>
      <a:accent4>
        <a:srgbClr val="68007F"/>
      </a:accent4>
      <a:accent5>
        <a:srgbClr val="005BD3"/>
      </a:accent5>
      <a:accent6>
        <a:srgbClr val="00349E"/>
      </a:accent6>
      <a:hlink>
        <a:srgbClr val="17BBFD"/>
      </a:hlink>
      <a:folHlink>
        <a:srgbClr val="FF79C2"/>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Technic">
      <a:fillStyleLst>
        <a:solidFill>
          <a:schemeClr val="phClr"/>
        </a:solidFill>
        <a:gradFill rotWithShape="1">
          <a:gsLst>
            <a:gs pos="0">
              <a:schemeClr val="phClr">
                <a:tint val="1000"/>
              </a:schemeClr>
            </a:gs>
            <a:gs pos="68000">
              <a:schemeClr val="phClr">
                <a:tint val="77000"/>
              </a:schemeClr>
            </a:gs>
            <a:gs pos="81000">
              <a:schemeClr val="phClr">
                <a:tint val="79000"/>
              </a:schemeClr>
            </a:gs>
            <a:gs pos="86000">
              <a:schemeClr val="phClr">
                <a:tint val="73000"/>
              </a:schemeClr>
            </a:gs>
            <a:gs pos="100000">
              <a:schemeClr val="phClr">
                <a:tint val="35000"/>
              </a:schemeClr>
            </a:gs>
          </a:gsLst>
          <a:lin ang="5400000" scaled="1"/>
        </a:gradFill>
        <a:gradFill rotWithShape="1">
          <a:gsLst>
            <a:gs pos="0">
              <a:schemeClr val="phClr">
                <a:tint val="73000"/>
                <a:satMod val="150000"/>
              </a:schemeClr>
            </a:gs>
            <a:gs pos="25000">
              <a:schemeClr val="phClr">
                <a:tint val="96000"/>
                <a:shade val="80000"/>
                <a:satMod val="105000"/>
              </a:schemeClr>
            </a:gs>
            <a:gs pos="38000">
              <a:schemeClr val="phClr">
                <a:tint val="96000"/>
                <a:shade val="59000"/>
                <a:satMod val="120000"/>
              </a:schemeClr>
            </a:gs>
            <a:gs pos="55000">
              <a:schemeClr val="phClr">
                <a:shade val="57000"/>
                <a:satMod val="120000"/>
              </a:schemeClr>
            </a:gs>
            <a:gs pos="80000">
              <a:schemeClr val="phClr">
                <a:shade val="56000"/>
                <a:satMod val="145000"/>
              </a:schemeClr>
            </a:gs>
            <a:gs pos="88000">
              <a:schemeClr val="phClr">
                <a:shade val="63000"/>
                <a:satMod val="160000"/>
              </a:schemeClr>
            </a:gs>
            <a:gs pos="100000">
              <a:schemeClr val="phClr">
                <a:tint val="99555"/>
                <a:satMod val="155000"/>
              </a:schemeClr>
            </a:gs>
          </a:gsLst>
          <a:lin ang="5400000" scaled="1"/>
        </a:gradFill>
      </a:fillStyleLst>
      <a:lnStyleLst>
        <a:ln w="9525" cap="flat" cmpd="sng" algn="ctr">
          <a:solidFill>
            <a:schemeClr val="phClr">
              <a:shade val="60000"/>
              <a:satMod val="300000"/>
            </a:schemeClr>
          </a:solidFill>
          <a:prstDash val="solid"/>
        </a:ln>
        <a:ln w="19050" cap="flat" cmpd="sng" algn="ctr">
          <a:solidFill>
            <a:schemeClr val="phClr"/>
          </a:solidFill>
          <a:prstDash val="solid"/>
        </a:ln>
        <a:ln w="19050" cap="flat" cmpd="sng" algn="ctr">
          <a:solidFill>
            <a:schemeClr val="phClr"/>
          </a:solidFill>
          <a:prstDash val="solid"/>
        </a:ln>
      </a:lnStyleLst>
      <a:effectStyleLst>
        <a:effectStyle>
          <a:effectLst>
            <a:glow rad="63500">
              <a:schemeClr val="phClr">
                <a:tint val="30000"/>
                <a:shade val="95000"/>
                <a:satMod val="300000"/>
                <a:alpha val="50000"/>
              </a:schemeClr>
            </a:glow>
          </a:effectLst>
        </a:effectStyle>
        <a:effectStyle>
          <a:effectLst>
            <a:glow rad="70000">
              <a:schemeClr val="phClr">
                <a:tint val="30000"/>
                <a:shade val="95000"/>
                <a:satMod val="300000"/>
                <a:alpha val="50000"/>
              </a:schemeClr>
            </a:glow>
          </a:effectLst>
        </a:effectStyle>
        <a:effectStyle>
          <a:effectLst>
            <a:glow rad="76200">
              <a:schemeClr val="phClr">
                <a:tint val="30000"/>
                <a:shade val="95000"/>
                <a:satMod val="300000"/>
                <a:alpha val="50000"/>
              </a:schemeClr>
            </a:glow>
          </a:effectLst>
          <a:scene3d>
            <a:camera prst="orthographicFront" fov="0">
              <a:rot lat="0" lon="0" rev="0"/>
            </a:camera>
            <a:lightRig rig="harsh" dir="t">
              <a:rot lat="6000000" lon="6000000" rev="0"/>
            </a:lightRig>
          </a:scene3d>
          <a:sp3d contourW="10000" prstMaterial="metal">
            <a:bevelT w="20000" h="9000" prst="softRound"/>
            <a:contourClr>
              <a:schemeClr val="phClr">
                <a:shade val="30000"/>
                <a:satMod val="200000"/>
              </a:schemeClr>
            </a:contourClr>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emplate>organization</Template>
  <TotalTime>19675</TotalTime>
  <Words>5823</Words>
  <Application>Microsoft Macintosh PowerPoint</Application>
  <PresentationFormat>On-screen Show (4:3)</PresentationFormat>
  <Paragraphs>689</Paragraphs>
  <Slides>42</Slides>
  <Notes>23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42</vt:i4>
      </vt:variant>
    </vt:vector>
  </HeadingPairs>
  <TitlesOfParts>
    <vt:vector size="45" baseType="lpstr">
      <vt:lpstr>Arial</vt:lpstr>
      <vt:lpstr>Calibri</vt:lpstr>
      <vt:lpstr>organization</vt:lpstr>
      <vt:lpstr>Data-flow Based Testing (A&amp;O Ch. 2.2.2, 2.4.2, 7.1) (2nd Ed. Ch 7.2.3, 7.4.2. Unfortunately, there is no equivalent of 7.1 in the 2nd Ed.)</vt:lpstr>
      <vt:lpstr>Plan</vt:lpstr>
      <vt:lpstr>Basic idea</vt:lpstr>
      <vt:lpstr>Data-flow based approach (sec. 2.2.2/ 2nd Ed: 7.2.3)</vt:lpstr>
      <vt:lpstr>Terminologies</vt:lpstr>
      <vt:lpstr>Block’s granularity</vt:lpstr>
      <vt:lpstr>Data-flow based coverage (Rapps-Weyuker 1985, Frankl-Weyuker 1988)</vt:lpstr>
      <vt:lpstr>Data-flow based coverage</vt:lpstr>
      <vt:lpstr>Example AUC vs PPC</vt:lpstr>
      <vt:lpstr>Overview of subsumption relations</vt:lpstr>
      <vt:lpstr>Summary</vt:lpstr>
      <vt:lpstr>Integration Test</vt:lpstr>
      <vt:lpstr>Integration Test, example</vt:lpstr>
      <vt:lpstr>Data flow approach to Integration Test (2.4.2/2nd Ed. 7.4.2)</vt:lpstr>
      <vt:lpstr>Terminology</vt:lpstr>
      <vt:lpstr>Coupling du-path (Jin-Offutt, 1998)</vt:lpstr>
      <vt:lpstr>Note on the first use at the callee</vt:lpstr>
      <vt:lpstr>Integration Test-Requirement</vt:lpstr>
      <vt:lpstr>The next slides are based on A&amp;O Ch 7.1. Unfortunately, this chapter does not appear in the 2nd Ed.</vt:lpstr>
      <vt:lpstr>OO is powerful, but also comes new sources of concerns</vt:lpstr>
      <vt:lpstr>Inheritance-related error prone programming patterns</vt:lpstr>
      <vt:lpstr>Inconsistent Type Use (ITU) anomaly</vt:lpstr>
      <vt:lpstr>State Definition Anomaly (SDA)</vt:lpstr>
      <vt:lpstr>State definition inconsistency due to state variable hiding (SDIH)</vt:lpstr>
      <vt:lpstr>State Visibility Anomaly (SVA)</vt:lpstr>
      <vt:lpstr>Anomalous Construction Behavior 1 (ACB1)</vt:lpstr>
      <vt:lpstr>Check the remaining anomalies yourself</vt:lpstr>
      <vt:lpstr>Error prone situations due to inheritance</vt:lpstr>
      <vt:lpstr>The call graph of d() in A,B,C, exemplifying Yoyo behavior</vt:lpstr>
      <vt:lpstr>Testing OO programs </vt:lpstr>
      <vt:lpstr>Testing Direct Coupling</vt:lpstr>
      <vt:lpstr>Indirect coupling</vt:lpstr>
      <vt:lpstr>Testing Direct and Indirect Coupling</vt:lpstr>
      <vt:lpstr>Terminology</vt:lpstr>
      <vt:lpstr>Terminology</vt:lpstr>
      <vt:lpstr>Coupling Sequence, example</vt:lpstr>
      <vt:lpstr>Coupling Sequence, example</vt:lpstr>
      <vt:lpstr>Simplifying the exposition a bit...</vt:lpstr>
      <vt:lpstr>Binding triple</vt:lpstr>
      <vt:lpstr>Indirect coupling test coverage criteria</vt:lpstr>
      <vt:lpstr>Indirect coupling test coverage criteria</vt:lpstr>
      <vt:lpstr>Indirect coupling test coverage criteria</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Basic Concepts of Software Testing</dc:title>
  <dc:creator>underdark</dc:creator>
  <cp:lastModifiedBy>Prasetya, S.W.B. (Wishnu)</cp:lastModifiedBy>
  <cp:revision>581</cp:revision>
  <cp:lastPrinted>2018-05-06T20:32:47Z</cp:lastPrinted>
  <dcterms:created xsi:type="dcterms:W3CDTF">2012-03-04T10:04:20Z</dcterms:created>
  <dcterms:modified xsi:type="dcterms:W3CDTF">2026-04-16T15:53:17Z</dcterms:modified>
</cp:coreProperties>
</file>